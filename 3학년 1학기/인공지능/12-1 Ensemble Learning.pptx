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8" r:id="rId8"/>
    <p:sldId id="262" r:id="rId9"/>
    <p:sldId id="279" r:id="rId10"/>
    <p:sldId id="286" r:id="rId11"/>
    <p:sldId id="263" r:id="rId12"/>
    <p:sldId id="266" r:id="rId13"/>
    <p:sldId id="285" r:id="rId14"/>
    <p:sldId id="265" r:id="rId15"/>
    <p:sldId id="267" r:id="rId16"/>
    <p:sldId id="268" r:id="rId17"/>
    <p:sldId id="269" r:id="rId18"/>
    <p:sldId id="271" r:id="rId19"/>
    <p:sldId id="272" r:id="rId20"/>
    <p:sldId id="273" r:id="rId21"/>
    <p:sldId id="274" r:id="rId22"/>
    <p:sldId id="276" r:id="rId23"/>
    <p:sldId id="277" r:id="rId24"/>
    <p:sldId id="287" r:id="rId25"/>
    <p:sldId id="280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1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8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02A5F-6604-460F-921B-99D38E24E1E2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314E6-19EF-43BA-901E-C1315114E2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4668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02A5F-6604-460F-921B-99D38E24E1E2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314E6-19EF-43BA-901E-C1315114E2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974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02A5F-6604-460F-921B-99D38E24E1E2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314E6-19EF-43BA-901E-C1315114E2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627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02A5F-6604-460F-921B-99D38E24E1E2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314E6-19EF-43BA-901E-C1315114E2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219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02A5F-6604-460F-921B-99D38E24E1E2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314E6-19EF-43BA-901E-C1315114E2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465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02A5F-6604-460F-921B-99D38E24E1E2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314E6-19EF-43BA-901E-C1315114E2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935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02A5F-6604-460F-921B-99D38E24E1E2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314E6-19EF-43BA-901E-C1315114E2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805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02A5F-6604-460F-921B-99D38E24E1E2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314E6-19EF-43BA-901E-C1315114E2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024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02A5F-6604-460F-921B-99D38E24E1E2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314E6-19EF-43BA-901E-C1315114E2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945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02A5F-6604-460F-921B-99D38E24E1E2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314E6-19EF-43BA-901E-C1315114E2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343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02A5F-6604-460F-921B-99D38E24E1E2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314E6-19EF-43BA-901E-C1315114E2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099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02A5F-6604-460F-921B-99D38E24E1E2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314E6-19EF-43BA-901E-C1315114E2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716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Ensemble Learning and </a:t>
            </a:r>
            <a:r>
              <a:rPr lang="en-US" altLang="ko-KR" b="1" dirty="0" smtClean="0"/>
              <a:t>Random Forests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1916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What is </a:t>
            </a:r>
            <a:r>
              <a:rPr lang="en-US" altLang="ko-KR" b="1" dirty="0"/>
              <a:t>Ensemble </a:t>
            </a:r>
            <a:r>
              <a:rPr lang="en-US" altLang="ko-KR" b="1" dirty="0" smtClean="0"/>
              <a:t>Learning?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ko-KR" dirty="0"/>
              <a:t>"</a:t>
            </a:r>
            <a:r>
              <a:rPr lang="ko-KR" altLang="en-US" dirty="0"/>
              <a:t>군중의 지혜</a:t>
            </a:r>
            <a:r>
              <a:rPr lang="en-US" altLang="ko-KR" dirty="0"/>
              <a:t>"</a:t>
            </a:r>
            <a:r>
              <a:rPr lang="ko-KR" altLang="en-US" dirty="0"/>
              <a:t>를 </a:t>
            </a:r>
            <a:r>
              <a:rPr lang="ko-KR" altLang="en-US" dirty="0" smtClean="0"/>
              <a:t>컨셉으로</a:t>
            </a:r>
            <a:endParaRPr lang="en-US" altLang="ko-KR" i="1" dirty="0" smtClean="0"/>
          </a:p>
          <a:p>
            <a:pPr lvl="1"/>
            <a:r>
              <a:rPr lang="ko-KR" altLang="en-US" dirty="0"/>
              <a:t>수천 명의 무작위 사람들에게 복잡한 질문을 한 다음 그 답을 모았다고 </a:t>
            </a:r>
            <a:r>
              <a:rPr lang="ko-KR" altLang="en-US" dirty="0" smtClean="0"/>
              <a:t>가정</a:t>
            </a:r>
            <a:r>
              <a:rPr lang="en-US" altLang="ko-KR" dirty="0" smtClean="0"/>
              <a:t> </a:t>
            </a:r>
          </a:p>
          <a:p>
            <a:pPr lvl="1"/>
            <a:r>
              <a:rPr lang="ko-KR" altLang="en-US" dirty="0"/>
              <a:t>대부분의 경우이 </a:t>
            </a:r>
            <a:r>
              <a:rPr lang="ko-KR" altLang="en-US" dirty="0" smtClean="0"/>
              <a:t>집계된 </a:t>
            </a:r>
            <a:r>
              <a:rPr lang="ko-KR" altLang="en-US" dirty="0"/>
              <a:t>답변이 전문가의 답변보다 </a:t>
            </a:r>
            <a:r>
              <a:rPr lang="ko-KR" altLang="en-US" dirty="0" err="1" smtClean="0"/>
              <a:t>낫음</a:t>
            </a:r>
            <a:endParaRPr lang="en-US" altLang="ko-KR" dirty="0" smtClean="0"/>
          </a:p>
          <a:p>
            <a:r>
              <a:rPr lang="ko-KR" altLang="en-US" dirty="0" smtClean="0"/>
              <a:t>예측에 대해서도 동일하게 적용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이를 앙상블 학습</a:t>
            </a:r>
            <a:r>
              <a:rPr lang="en-US" altLang="ko-KR" dirty="0" smtClean="0"/>
              <a:t> (</a:t>
            </a:r>
            <a:r>
              <a:rPr lang="en-US" altLang="ko-KR" i="1" dirty="0" smtClean="0"/>
              <a:t>Ensemble Learning)</a:t>
            </a:r>
            <a:r>
              <a:rPr lang="ko-KR" altLang="en-US" i="1" dirty="0" smtClean="0"/>
              <a:t>이라 함</a:t>
            </a:r>
            <a:endParaRPr lang="en-US" altLang="ko-KR" i="1" dirty="0" smtClean="0"/>
          </a:p>
          <a:p>
            <a:pPr lvl="1"/>
            <a:r>
              <a:rPr lang="ko-KR" altLang="en-US" dirty="0" smtClean="0"/>
              <a:t>여러 </a:t>
            </a:r>
            <a:r>
              <a:rPr lang="ko-KR" altLang="en-US" dirty="0" err="1" smtClean="0"/>
              <a:t>예측기의</a:t>
            </a:r>
            <a:r>
              <a:rPr lang="ko-KR" altLang="en-US" dirty="0" smtClean="0"/>
              <a:t> </a:t>
            </a:r>
            <a:r>
              <a:rPr lang="ko-KR" altLang="en-US" dirty="0"/>
              <a:t>예측을 집계하면 최상의 개별 </a:t>
            </a:r>
            <a:r>
              <a:rPr lang="ko-KR" altLang="en-US" dirty="0" err="1" smtClean="0"/>
              <a:t>예측기보다</a:t>
            </a:r>
            <a:r>
              <a:rPr lang="ko-KR" altLang="en-US" dirty="0" smtClean="0"/>
              <a:t> </a:t>
            </a:r>
            <a:r>
              <a:rPr lang="ko-KR" altLang="en-US" dirty="0"/>
              <a:t>더 나은 예측을 얻을 수 </a:t>
            </a:r>
            <a:r>
              <a:rPr lang="ko-KR" altLang="en-US" dirty="0" smtClean="0"/>
              <a:t>있음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여러 </a:t>
            </a:r>
            <a:r>
              <a:rPr lang="ko-KR" altLang="en-US" dirty="0" err="1" smtClean="0"/>
              <a:t>예측기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즉 </a:t>
            </a:r>
            <a:r>
              <a:rPr lang="ko-KR" altLang="en-US" dirty="0" err="1" smtClean="0"/>
              <a:t>예측기</a:t>
            </a:r>
            <a:r>
              <a:rPr lang="ko-KR" altLang="en-US" dirty="0" smtClean="0"/>
              <a:t> 그룹을 앙상블이라고 함</a:t>
            </a:r>
            <a:endParaRPr lang="en-US" altLang="ko-KR" dirty="0" smtClean="0"/>
          </a:p>
          <a:p>
            <a:r>
              <a:rPr lang="ko-KR" altLang="en-US" dirty="0"/>
              <a:t>의사 결정 트리의 앙상블을 </a:t>
            </a:r>
            <a:r>
              <a:rPr lang="en-US" altLang="ko-KR" dirty="0"/>
              <a:t>Random Forest</a:t>
            </a:r>
            <a:r>
              <a:rPr lang="ko-KR" altLang="en-US" dirty="0" smtClean="0"/>
              <a:t>라고 함</a:t>
            </a:r>
            <a:endParaRPr lang="en-US" altLang="ko-KR" i="1" dirty="0" smtClean="0"/>
          </a:p>
          <a:p>
            <a:pPr lvl="1"/>
            <a:r>
              <a:rPr lang="ko-KR" altLang="en-US" dirty="0" err="1"/>
              <a:t>단순함에도</a:t>
            </a:r>
            <a:r>
              <a:rPr lang="ko-KR" altLang="en-US" dirty="0"/>
              <a:t> 불구하고 </a:t>
            </a:r>
            <a:r>
              <a:rPr lang="ko-KR" altLang="en-US" dirty="0" smtClean="0"/>
              <a:t>오늘날 </a:t>
            </a:r>
            <a:r>
              <a:rPr lang="ko-KR" altLang="en-US" dirty="0"/>
              <a:t>사용 가능한 </a:t>
            </a:r>
            <a:r>
              <a:rPr lang="ko-KR" altLang="en-US" dirty="0" smtClean="0"/>
              <a:t>강력한 </a:t>
            </a:r>
            <a:r>
              <a:rPr lang="ko-KR" altLang="en-US" dirty="0"/>
              <a:t>기계 학습 알고리즘 중 하나</a:t>
            </a:r>
          </a:p>
        </p:txBody>
      </p:sp>
    </p:spTree>
    <p:extLst>
      <p:ext uri="{BB962C8B-B14F-4D97-AF65-F5344CB8AC3E}">
        <p14:creationId xmlns:p14="http://schemas.microsoft.com/office/powerpoint/2010/main" val="273915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Voting Classifiers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더 나은 </a:t>
            </a:r>
            <a:r>
              <a:rPr lang="ko-KR" altLang="en-US" dirty="0" err="1"/>
              <a:t>분류기를</a:t>
            </a:r>
            <a:r>
              <a:rPr lang="ko-KR" altLang="en-US" dirty="0"/>
              <a:t> 얻는 매우 간단한 방법은 각 분류기의 예측을 집계하고 가장 많은 표를 얻은 </a:t>
            </a:r>
            <a:r>
              <a:rPr lang="ko-KR" altLang="en-US" dirty="0" smtClean="0"/>
              <a:t>클래스로 </a:t>
            </a:r>
            <a:r>
              <a:rPr lang="ko-KR" altLang="en-US" dirty="0"/>
              <a:t>예측하는 </a:t>
            </a:r>
            <a:r>
              <a:rPr lang="ko-KR" altLang="en-US" dirty="0" smtClean="0"/>
              <a:t>것</a:t>
            </a:r>
            <a:r>
              <a:rPr lang="en-US" altLang="ko-KR" dirty="0" smtClean="0"/>
              <a:t> </a:t>
            </a:r>
          </a:p>
          <a:p>
            <a:pPr lvl="1"/>
            <a:r>
              <a:rPr lang="ko-KR" altLang="en-US" dirty="0" smtClean="0"/>
              <a:t>이 </a:t>
            </a:r>
            <a:r>
              <a:rPr lang="ko-KR" altLang="en-US" dirty="0" err="1" smtClean="0"/>
              <a:t>다수표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분류기를</a:t>
            </a:r>
            <a:r>
              <a:rPr lang="ko-KR" altLang="en-US" dirty="0"/>
              <a:t> 하드 </a:t>
            </a:r>
            <a:r>
              <a:rPr lang="ko-KR" altLang="en-US" dirty="0" err="1" smtClean="0"/>
              <a:t>보팅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en-US" altLang="ko-KR" i="1" dirty="0" smtClean="0"/>
              <a:t>hard voting) </a:t>
            </a:r>
            <a:r>
              <a:rPr lang="ko-KR" altLang="en-US" dirty="0" err="1" smtClean="0"/>
              <a:t>분류기라</a:t>
            </a:r>
            <a:r>
              <a:rPr lang="ko-KR" altLang="en-US" dirty="0" smtClean="0"/>
              <a:t> 함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842" y="3499562"/>
            <a:ext cx="678180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84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Voting Classifiers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91" y="1787007"/>
            <a:ext cx="6791325" cy="3638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99176" y="1787007"/>
            <a:ext cx="448802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종종 앙상블에서 최고의 </a:t>
            </a:r>
            <a:r>
              <a:rPr lang="ko-KR" altLang="en-US" dirty="0" err="1"/>
              <a:t>분류기보다</a:t>
            </a:r>
            <a:r>
              <a:rPr lang="ko-KR" altLang="en-US" dirty="0"/>
              <a:t> 높은 정확도를 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99176" y="3312368"/>
            <a:ext cx="4488024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각 분류 기가 약한 </a:t>
            </a:r>
            <a:r>
              <a:rPr lang="ko-KR" altLang="en-US" dirty="0" err="1" smtClean="0"/>
              <a:t>학습기</a:t>
            </a:r>
            <a:r>
              <a:rPr lang="ko-KR" altLang="en-US" dirty="0" smtClean="0"/>
              <a:t> </a:t>
            </a:r>
            <a:r>
              <a:rPr lang="en-US" altLang="ko-KR" dirty="0"/>
              <a:t>(</a:t>
            </a:r>
            <a:r>
              <a:rPr lang="ko-KR" altLang="en-US" dirty="0"/>
              <a:t>무작위 추측보다 약간 더 낫다는 의미</a:t>
            </a:r>
            <a:r>
              <a:rPr lang="en-US" altLang="ko-KR" dirty="0"/>
              <a:t>) </a:t>
            </a:r>
            <a:r>
              <a:rPr lang="ko-KR" altLang="en-US" dirty="0"/>
              <a:t>인 경우에도 약한 </a:t>
            </a:r>
            <a:r>
              <a:rPr lang="ko-KR" altLang="en-US" dirty="0" err="1" smtClean="0"/>
              <a:t>학습기의</a:t>
            </a:r>
            <a:r>
              <a:rPr lang="ko-KR" altLang="en-US" dirty="0" smtClean="0"/>
              <a:t> </a:t>
            </a:r>
            <a:r>
              <a:rPr lang="ko-KR" altLang="en-US" dirty="0"/>
              <a:t>수가 충분하고 충분히 다양하다면 앙상블은 여전히 강력한 </a:t>
            </a:r>
            <a:r>
              <a:rPr lang="ko-KR" altLang="en-US" dirty="0" err="1" smtClean="0"/>
              <a:t>학습기가</a:t>
            </a:r>
            <a:r>
              <a:rPr lang="ko-KR" altLang="en-US" dirty="0" smtClean="0"/>
              <a:t> </a:t>
            </a:r>
            <a:r>
              <a:rPr lang="ko-KR" altLang="en-US" dirty="0"/>
              <a:t>될 수 </a:t>
            </a:r>
            <a:r>
              <a:rPr lang="ko-KR" altLang="en-US" dirty="0" smtClean="0"/>
              <a:t>있음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4867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Voting Classifiers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38200" y="1690688"/>
            <a:ext cx="10238893" cy="42473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from </a:t>
            </a:r>
            <a:r>
              <a:rPr lang="en-US" altLang="ko-KR" b="1" dirty="0" err="1"/>
              <a:t>sklearn.ensemble</a:t>
            </a:r>
            <a:r>
              <a:rPr lang="en-US" altLang="ko-KR" b="1" dirty="0"/>
              <a:t> import </a:t>
            </a:r>
            <a:r>
              <a:rPr lang="en-US" altLang="ko-KR" dirty="0" err="1"/>
              <a:t>RandomForestClassifier</a:t>
            </a:r>
            <a:endParaRPr lang="en-US" altLang="ko-KR" dirty="0"/>
          </a:p>
          <a:p>
            <a:r>
              <a:rPr lang="en-US" altLang="ko-KR" b="1" dirty="0"/>
              <a:t>from </a:t>
            </a:r>
            <a:r>
              <a:rPr lang="en-US" altLang="ko-KR" b="1" dirty="0" err="1"/>
              <a:t>sklearn.ensemble</a:t>
            </a:r>
            <a:r>
              <a:rPr lang="en-US" altLang="ko-KR" b="1" dirty="0"/>
              <a:t> import </a:t>
            </a:r>
            <a:r>
              <a:rPr lang="en-US" altLang="ko-KR" dirty="0" err="1"/>
              <a:t>VotingClassifier</a:t>
            </a:r>
            <a:endParaRPr lang="en-US" altLang="ko-KR" dirty="0"/>
          </a:p>
          <a:p>
            <a:r>
              <a:rPr lang="en-US" altLang="ko-KR" b="1" dirty="0"/>
              <a:t>from </a:t>
            </a:r>
            <a:r>
              <a:rPr lang="en-US" altLang="ko-KR" b="1" dirty="0" err="1"/>
              <a:t>sklearn.linear_model</a:t>
            </a:r>
            <a:r>
              <a:rPr lang="en-US" altLang="ko-KR" b="1" dirty="0"/>
              <a:t> import </a:t>
            </a:r>
            <a:r>
              <a:rPr lang="en-US" altLang="ko-KR" dirty="0" err="1"/>
              <a:t>LogisticRegression</a:t>
            </a:r>
            <a:endParaRPr lang="en-US" altLang="ko-KR" dirty="0"/>
          </a:p>
          <a:p>
            <a:r>
              <a:rPr lang="en-US" altLang="ko-KR" b="1" dirty="0"/>
              <a:t>from </a:t>
            </a:r>
            <a:r>
              <a:rPr lang="en-US" altLang="ko-KR" b="1" dirty="0" err="1"/>
              <a:t>sklearn.svm</a:t>
            </a:r>
            <a:r>
              <a:rPr lang="en-US" altLang="ko-KR" b="1" dirty="0"/>
              <a:t> import </a:t>
            </a:r>
            <a:r>
              <a:rPr lang="en-US" altLang="ko-KR" dirty="0" smtClean="0"/>
              <a:t>SVC</a:t>
            </a:r>
          </a:p>
          <a:p>
            <a:r>
              <a:rPr lang="en-US" altLang="ko-KR" b="1" dirty="0"/>
              <a:t>from </a:t>
            </a:r>
            <a:r>
              <a:rPr lang="en-US" altLang="ko-KR" b="1" dirty="0" err="1"/>
              <a:t>sklearn.metrics</a:t>
            </a:r>
            <a:r>
              <a:rPr lang="en-US" altLang="ko-KR" b="1" dirty="0"/>
              <a:t> import </a:t>
            </a:r>
            <a:r>
              <a:rPr lang="en-US" altLang="ko-KR" dirty="0" err="1"/>
              <a:t>accuracy_score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err="1"/>
              <a:t>log_clf</a:t>
            </a:r>
            <a:r>
              <a:rPr lang="en-US" altLang="ko-KR" dirty="0"/>
              <a:t> = </a:t>
            </a:r>
            <a:r>
              <a:rPr lang="en-US" altLang="ko-KR" dirty="0" err="1"/>
              <a:t>LogisticRegression</a:t>
            </a:r>
            <a:r>
              <a:rPr lang="en-US" altLang="ko-KR" dirty="0"/>
              <a:t>()</a:t>
            </a:r>
          </a:p>
          <a:p>
            <a:r>
              <a:rPr lang="en-US" altLang="ko-KR" dirty="0" err="1"/>
              <a:t>rnd_clf</a:t>
            </a:r>
            <a:r>
              <a:rPr lang="en-US" altLang="ko-KR" dirty="0"/>
              <a:t> = </a:t>
            </a:r>
            <a:r>
              <a:rPr lang="en-US" altLang="ko-KR" dirty="0" err="1"/>
              <a:t>RandomForestClassifier</a:t>
            </a:r>
            <a:r>
              <a:rPr lang="en-US" altLang="ko-KR" dirty="0"/>
              <a:t>()</a:t>
            </a:r>
          </a:p>
          <a:p>
            <a:r>
              <a:rPr lang="en-US" altLang="ko-KR" dirty="0" err="1"/>
              <a:t>svm_clf</a:t>
            </a:r>
            <a:r>
              <a:rPr lang="en-US" altLang="ko-KR" dirty="0"/>
              <a:t> = SVC()</a:t>
            </a:r>
          </a:p>
          <a:p>
            <a:r>
              <a:rPr lang="en-US" altLang="ko-KR" dirty="0" err="1"/>
              <a:t>voting_clf</a:t>
            </a:r>
            <a:r>
              <a:rPr lang="en-US" altLang="ko-KR" dirty="0"/>
              <a:t> = </a:t>
            </a:r>
            <a:r>
              <a:rPr lang="en-US" altLang="ko-KR" dirty="0" err="1" smtClean="0"/>
              <a:t>VotingClassifier</a:t>
            </a:r>
            <a:r>
              <a:rPr lang="en-US" altLang="ko-KR" dirty="0" smtClean="0"/>
              <a:t>(estimators</a:t>
            </a:r>
            <a:r>
              <a:rPr lang="en-US" altLang="ko-KR" dirty="0"/>
              <a:t>=[('</a:t>
            </a:r>
            <a:r>
              <a:rPr lang="en-US" altLang="ko-KR" dirty="0" err="1"/>
              <a:t>lr</a:t>
            </a:r>
            <a:r>
              <a:rPr lang="en-US" altLang="ko-KR" dirty="0"/>
              <a:t>', </a:t>
            </a:r>
            <a:r>
              <a:rPr lang="en-US" altLang="ko-KR" dirty="0" err="1"/>
              <a:t>log_clf</a:t>
            </a:r>
            <a:r>
              <a:rPr lang="en-US" altLang="ko-KR" dirty="0"/>
              <a:t>), ('</a:t>
            </a:r>
            <a:r>
              <a:rPr lang="en-US" altLang="ko-KR" dirty="0" err="1"/>
              <a:t>rf</a:t>
            </a:r>
            <a:r>
              <a:rPr lang="en-US" altLang="ko-KR" dirty="0"/>
              <a:t>', </a:t>
            </a:r>
            <a:r>
              <a:rPr lang="en-US" altLang="ko-KR" dirty="0" err="1"/>
              <a:t>rnd_clf</a:t>
            </a:r>
            <a:r>
              <a:rPr lang="en-US" altLang="ko-KR" dirty="0"/>
              <a:t>), ('svc', </a:t>
            </a:r>
            <a:r>
              <a:rPr lang="en-US" altLang="ko-KR" dirty="0" err="1"/>
              <a:t>svm_clf</a:t>
            </a:r>
            <a:r>
              <a:rPr lang="en-US" altLang="ko-KR" dirty="0" smtClean="0"/>
              <a:t>)],voting</a:t>
            </a:r>
            <a:r>
              <a:rPr lang="en-US" altLang="ko-KR" dirty="0"/>
              <a:t>='hard</a:t>
            </a:r>
            <a:r>
              <a:rPr lang="en-US" altLang="ko-KR" dirty="0" smtClean="0"/>
              <a:t>')</a:t>
            </a:r>
          </a:p>
          <a:p>
            <a:endParaRPr lang="en-US" altLang="ko-KR" dirty="0"/>
          </a:p>
          <a:p>
            <a:r>
              <a:rPr lang="en-US" altLang="ko-KR" b="1" dirty="0"/>
              <a:t>for </a:t>
            </a:r>
            <a:r>
              <a:rPr lang="en-US" altLang="ko-KR" dirty="0" err="1"/>
              <a:t>clf</a:t>
            </a:r>
            <a:r>
              <a:rPr lang="en-US" altLang="ko-KR" dirty="0"/>
              <a:t> </a:t>
            </a:r>
            <a:r>
              <a:rPr lang="en-US" altLang="ko-KR" b="1" dirty="0"/>
              <a:t>in </a:t>
            </a:r>
            <a:r>
              <a:rPr lang="en-US" altLang="ko-KR" dirty="0"/>
              <a:t>(</a:t>
            </a:r>
            <a:r>
              <a:rPr lang="en-US" altLang="ko-KR" dirty="0" err="1"/>
              <a:t>log_clf</a:t>
            </a:r>
            <a:r>
              <a:rPr lang="en-US" altLang="ko-KR" dirty="0"/>
              <a:t>, </a:t>
            </a:r>
            <a:r>
              <a:rPr lang="en-US" altLang="ko-KR" dirty="0" err="1"/>
              <a:t>rnd_clf</a:t>
            </a:r>
            <a:r>
              <a:rPr lang="en-US" altLang="ko-KR" dirty="0"/>
              <a:t>, </a:t>
            </a:r>
            <a:r>
              <a:rPr lang="en-US" altLang="ko-KR" dirty="0" err="1"/>
              <a:t>svm_clf</a:t>
            </a:r>
            <a:r>
              <a:rPr lang="en-US" altLang="ko-KR" dirty="0"/>
              <a:t>, </a:t>
            </a:r>
            <a:r>
              <a:rPr lang="en-US" altLang="ko-KR" dirty="0" err="1"/>
              <a:t>voting_clf</a:t>
            </a:r>
            <a:r>
              <a:rPr lang="en-US" altLang="ko-KR" dirty="0"/>
              <a:t>):</a:t>
            </a:r>
          </a:p>
          <a:p>
            <a:pPr lvl="1"/>
            <a:r>
              <a:rPr lang="en-US" altLang="ko-KR" dirty="0" err="1" smtClean="0"/>
              <a:t>clf.fit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X_train</a:t>
            </a:r>
            <a:r>
              <a:rPr lang="en-US" altLang="ko-KR" dirty="0"/>
              <a:t>, </a:t>
            </a:r>
            <a:r>
              <a:rPr lang="en-US" altLang="ko-KR" dirty="0" err="1"/>
              <a:t>y_train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 err="1" smtClean="0"/>
              <a:t>y_pred</a:t>
            </a:r>
            <a:r>
              <a:rPr lang="en-US" altLang="ko-KR" dirty="0" smtClean="0"/>
              <a:t> </a:t>
            </a:r>
            <a:r>
              <a:rPr lang="en-US" altLang="ko-KR" dirty="0"/>
              <a:t>= </a:t>
            </a:r>
            <a:r>
              <a:rPr lang="en-US" altLang="ko-KR" dirty="0" err="1"/>
              <a:t>clf.predict</a:t>
            </a:r>
            <a:r>
              <a:rPr lang="en-US" altLang="ko-KR" dirty="0"/>
              <a:t>(</a:t>
            </a:r>
            <a:r>
              <a:rPr lang="en-US" altLang="ko-KR" dirty="0" err="1"/>
              <a:t>X_test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b="1" dirty="0" smtClean="0"/>
              <a:t>print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clf</a:t>
            </a:r>
            <a:r>
              <a:rPr lang="en-US" altLang="ko-KR" dirty="0"/>
              <a:t>.__</a:t>
            </a:r>
            <a:r>
              <a:rPr lang="en-US" altLang="ko-KR" dirty="0" err="1"/>
              <a:t>class__.__name</a:t>
            </a:r>
            <a:r>
              <a:rPr lang="en-US" altLang="ko-KR" dirty="0"/>
              <a:t>__, </a:t>
            </a:r>
            <a:r>
              <a:rPr lang="en-US" altLang="ko-KR" dirty="0" err="1"/>
              <a:t>accuracy_score</a:t>
            </a:r>
            <a:r>
              <a:rPr lang="en-US" altLang="ko-KR" dirty="0"/>
              <a:t>(</a:t>
            </a:r>
            <a:r>
              <a:rPr lang="en-US" altLang="ko-KR" dirty="0" err="1"/>
              <a:t>y_test</a:t>
            </a:r>
            <a:r>
              <a:rPr lang="en-US" altLang="ko-KR" dirty="0"/>
              <a:t>, </a:t>
            </a:r>
            <a:r>
              <a:rPr lang="en-US" altLang="ko-KR" dirty="0" err="1"/>
              <a:t>y_pred</a:t>
            </a:r>
            <a:r>
              <a:rPr lang="en-US" altLang="ko-KR" dirty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77658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Voting Classifiers</a:t>
            </a:r>
            <a:endParaRPr lang="ko-KR" altLang="en-US" dirty="0"/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ko-KR" altLang="en-US" dirty="0" smtClean="0"/>
              <a:t>소프트 </a:t>
            </a:r>
            <a:r>
              <a:rPr lang="ko-KR" altLang="en-US" dirty="0" err="1" smtClean="0"/>
              <a:t>보팅</a:t>
            </a:r>
            <a:r>
              <a:rPr lang="ko-KR" altLang="en-US" dirty="0" smtClean="0"/>
              <a:t> </a:t>
            </a:r>
            <a:r>
              <a:rPr lang="en-US" altLang="ko-KR" dirty="0" smtClean="0"/>
              <a:t>(Soft Voting)</a:t>
            </a:r>
          </a:p>
          <a:p>
            <a:pPr lvl="1">
              <a:lnSpc>
                <a:spcPct val="130000"/>
              </a:lnSpc>
            </a:pPr>
            <a:r>
              <a:rPr lang="ko-KR" altLang="en-US" dirty="0"/>
              <a:t>모든 </a:t>
            </a:r>
            <a:r>
              <a:rPr lang="ko-KR" altLang="en-US" dirty="0" err="1" smtClean="0"/>
              <a:t>분류기가</a:t>
            </a:r>
            <a:r>
              <a:rPr lang="ko-KR" altLang="en-US" dirty="0" smtClean="0"/>
              <a:t> </a:t>
            </a:r>
            <a:r>
              <a:rPr lang="ko-KR" altLang="en-US" dirty="0"/>
              <a:t>클래스 확률을 추정 할 </a:t>
            </a:r>
            <a:r>
              <a:rPr lang="ko-KR" altLang="en-US" dirty="0" smtClean="0"/>
              <a:t>수 있는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즉</a:t>
            </a:r>
            <a:r>
              <a:rPr lang="en-US" altLang="ko-KR" dirty="0"/>
              <a:t>, </a:t>
            </a:r>
            <a:r>
              <a:rPr lang="en-US" altLang="ko-KR" dirty="0" err="1"/>
              <a:t>predict_proba</a:t>
            </a:r>
            <a:r>
              <a:rPr lang="en-US" altLang="ko-KR" dirty="0"/>
              <a:t> () </a:t>
            </a:r>
            <a:r>
              <a:rPr lang="ko-KR" altLang="en-US" dirty="0" err="1"/>
              <a:t>메서드가있는</a:t>
            </a:r>
            <a:r>
              <a:rPr lang="ko-KR" altLang="en-US" dirty="0"/>
              <a:t> </a:t>
            </a:r>
            <a:r>
              <a:rPr lang="ko-KR" altLang="en-US" dirty="0" smtClean="0"/>
              <a:t>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</a:t>
            </a:r>
            <a:r>
              <a:rPr lang="ko-KR" altLang="en-US" dirty="0" err="1" smtClean="0"/>
              <a:t>분류기가</a:t>
            </a:r>
            <a:r>
              <a:rPr lang="ko-KR" altLang="en-US" dirty="0"/>
              <a:t> 클래스 확률이 가장 높은 클래스를 </a:t>
            </a:r>
            <a:r>
              <a:rPr lang="ko-KR" altLang="en-US" dirty="0" smtClean="0"/>
              <a:t>예측하고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분류기의 결과를 평균하여 </a:t>
            </a:r>
            <a:r>
              <a:rPr lang="ko-KR" altLang="en-US" dirty="0"/>
              <a:t>최종적으로 </a:t>
            </a:r>
            <a:r>
              <a:rPr lang="ko-KR" altLang="en-US" dirty="0" smtClean="0"/>
              <a:t>판단</a:t>
            </a:r>
            <a:endParaRPr lang="en-US" altLang="ko-KR" dirty="0" smtClean="0"/>
          </a:p>
          <a:p>
            <a:pPr lvl="1">
              <a:lnSpc>
                <a:spcPct val="130000"/>
              </a:lnSpc>
            </a:pPr>
            <a:r>
              <a:rPr lang="ko-KR" altLang="en-US" dirty="0"/>
              <a:t>신뢰도가 높은 투표에 더 많은 가중치를 부여하기 때문에 종종 하드 투표보다 더 높은 성능을 달성 </a:t>
            </a:r>
            <a:endParaRPr lang="en-US" altLang="ko-KR" dirty="0" smtClean="0"/>
          </a:p>
          <a:p>
            <a:pPr lvl="1">
              <a:lnSpc>
                <a:spcPct val="130000"/>
              </a:lnSpc>
            </a:pPr>
            <a:r>
              <a:rPr lang="en-US" altLang="ko-KR" dirty="0"/>
              <a:t>voting = "hard“</a:t>
            </a:r>
            <a:r>
              <a:rPr lang="ko-KR" altLang="en-US" dirty="0"/>
              <a:t>를 </a:t>
            </a:r>
            <a:r>
              <a:rPr lang="en-US" altLang="ko-KR" dirty="0"/>
              <a:t>voting ="soft "</a:t>
            </a:r>
            <a:r>
              <a:rPr lang="ko-KR" altLang="en-US" dirty="0"/>
              <a:t>로 바꾸고 모든 </a:t>
            </a:r>
            <a:r>
              <a:rPr lang="ko-KR" altLang="en-US" dirty="0" err="1"/>
              <a:t>분류자가</a:t>
            </a:r>
            <a:r>
              <a:rPr lang="ko-KR" altLang="en-US" dirty="0"/>
              <a:t> 클래스 확률을 추정 할 수 있는지 확인하기 </a:t>
            </a:r>
            <a:r>
              <a:rPr lang="ko-KR" altLang="en-US" dirty="0" smtClean="0"/>
              <a:t>만하면 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8410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Bagging and Pasting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79120"/>
          </a:xfrm>
        </p:spPr>
        <p:txBody>
          <a:bodyPr/>
          <a:lstStyle/>
          <a:p>
            <a:r>
              <a:rPr lang="en-US" altLang="ko-KR" dirty="0" smtClean="0"/>
              <a:t>Bootstrapping</a:t>
            </a:r>
          </a:p>
          <a:p>
            <a:pPr lvl="1"/>
            <a:r>
              <a:rPr lang="ko-KR" altLang="en-US" dirty="0"/>
              <a:t>부트 </a:t>
            </a:r>
            <a:r>
              <a:rPr lang="ko-KR" altLang="en-US" dirty="0" err="1"/>
              <a:t>스트래핑</a:t>
            </a:r>
            <a:r>
              <a:rPr lang="ko-KR" altLang="en-US" dirty="0"/>
              <a:t> 샘플이라고하는 다른 더 작은 데이터 세트를 형성하기 위해 </a:t>
            </a:r>
            <a:r>
              <a:rPr lang="ko-KR" altLang="en-US" dirty="0" smtClean="0"/>
              <a:t>원</a:t>
            </a:r>
            <a:r>
              <a:rPr lang="en-US" altLang="ko-KR" dirty="0" smtClean="0"/>
              <a:t> </a:t>
            </a:r>
            <a:r>
              <a:rPr lang="ko-KR" altLang="en-US" dirty="0" smtClean="0"/>
              <a:t>데이터에서 </a:t>
            </a:r>
            <a:r>
              <a:rPr lang="ko-KR" altLang="en-US" dirty="0"/>
              <a:t>반복적으로 </a:t>
            </a:r>
            <a:r>
              <a:rPr lang="ko-KR" altLang="en-US" dirty="0" smtClean="0"/>
              <a:t>교체 형태로 </a:t>
            </a:r>
            <a:r>
              <a:rPr lang="en-US" altLang="ko-KR" dirty="0" smtClean="0"/>
              <a:t>(with replacement)</a:t>
            </a:r>
            <a:r>
              <a:rPr lang="ko-KR" altLang="en-US" dirty="0" smtClean="0"/>
              <a:t>뽑아 샘플을 구성하는 </a:t>
            </a:r>
            <a:r>
              <a:rPr lang="ko-KR" altLang="en-US" dirty="0" err="1" smtClean="0"/>
              <a:t>리샘플링</a:t>
            </a:r>
            <a:r>
              <a:rPr lang="ko-KR" altLang="en-US" dirty="0" smtClean="0"/>
              <a:t> </a:t>
            </a:r>
            <a:r>
              <a:rPr lang="en-US" altLang="ko-KR" dirty="0" smtClean="0"/>
              <a:t>(resampling)</a:t>
            </a:r>
            <a:r>
              <a:rPr lang="ko-KR" altLang="en-US" dirty="0" smtClean="0"/>
              <a:t>하는 방법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예제 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796310" y="3890083"/>
            <a:ext cx="9333186" cy="46166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2400" dirty="0" smtClean="0">
                <a:solidFill>
                  <a:srgbClr val="292929"/>
                </a:solidFill>
                <a:latin typeface="charter"/>
              </a:rPr>
              <a:t>원 데이터 </a:t>
            </a:r>
            <a:r>
              <a:rPr lang="en-US" altLang="ko-KR" sz="2400" dirty="0" smtClean="0">
                <a:solidFill>
                  <a:srgbClr val="292929"/>
                </a:solidFill>
                <a:latin typeface="charter"/>
              </a:rPr>
              <a:t>: [</a:t>
            </a:r>
            <a:r>
              <a:rPr lang="en-US" altLang="ko-KR" sz="2400" dirty="0">
                <a:solidFill>
                  <a:srgbClr val="292929"/>
                </a:solidFill>
                <a:latin typeface="charter"/>
              </a:rPr>
              <a:t>2, 4, 32, 8, 16]</a:t>
            </a:r>
            <a:endParaRPr lang="ko-KR" altLang="en-US" sz="2400" dirty="0"/>
          </a:p>
        </p:txBody>
      </p:sp>
      <p:sp>
        <p:nvSpPr>
          <p:cNvPr id="5" name="직사각형 4"/>
          <p:cNvSpPr/>
          <p:nvPr/>
        </p:nvSpPr>
        <p:spPr>
          <a:xfrm>
            <a:off x="1796310" y="4486945"/>
            <a:ext cx="9333186" cy="46166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altLang="ko-KR" sz="2400" i="1" dirty="0">
                <a:solidFill>
                  <a:srgbClr val="292929"/>
                </a:solidFill>
                <a:latin typeface="charter"/>
              </a:rPr>
              <a:t>n</a:t>
            </a:r>
            <a:r>
              <a:rPr lang="pt-BR" altLang="ko-KR" sz="2400" dirty="0">
                <a:solidFill>
                  <a:srgbClr val="292929"/>
                </a:solidFill>
                <a:latin typeface="charter"/>
              </a:rPr>
              <a:t>=3: [32, 4, 4], [8, 16, 2], [2, 2, 2]…</a:t>
            </a:r>
            <a:endParaRPr lang="pt-BR" altLang="ko-KR" sz="2400" b="0" i="0" dirty="0">
              <a:solidFill>
                <a:srgbClr val="292929"/>
              </a:solidFill>
              <a:effectLst/>
              <a:latin typeface="charter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796310" y="5083807"/>
            <a:ext cx="9333186" cy="46166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altLang="ko-KR" sz="2400" i="1" dirty="0">
                <a:solidFill>
                  <a:srgbClr val="292929"/>
                </a:solidFill>
                <a:latin typeface="charter"/>
              </a:rPr>
              <a:t>n</a:t>
            </a:r>
            <a:r>
              <a:rPr lang="pt-BR" altLang="ko-KR" sz="2400" dirty="0">
                <a:solidFill>
                  <a:srgbClr val="292929"/>
                </a:solidFill>
                <a:latin typeface="charter"/>
              </a:rPr>
              <a:t>=4: [2, 32, 4, 16], [2, 4, 2, 8], [8, 32, 4, 2]…</a:t>
            </a:r>
            <a:endParaRPr lang="pt-BR" altLang="ko-KR" sz="2400" b="0" i="0" dirty="0">
              <a:solidFill>
                <a:srgbClr val="292929"/>
              </a:solidFill>
              <a:effectLst/>
              <a:latin typeface="charter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796310" y="5891076"/>
            <a:ext cx="93331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교체 형식으로 </a:t>
            </a:r>
            <a:r>
              <a:rPr lang="ko-KR" altLang="en-US" dirty="0"/>
              <a:t>데이터를 </a:t>
            </a:r>
            <a:r>
              <a:rPr lang="ko-KR" altLang="en-US" dirty="0" smtClean="0"/>
              <a:t>뽑기 </a:t>
            </a:r>
            <a:r>
              <a:rPr lang="ko-KR" altLang="en-US" dirty="0"/>
              <a:t>때문에 </a:t>
            </a:r>
            <a:r>
              <a:rPr lang="ko-KR" altLang="en-US" dirty="0" smtClean="0"/>
              <a:t>한 항복은 </a:t>
            </a:r>
            <a:r>
              <a:rPr lang="ko-KR" altLang="en-US" dirty="0"/>
              <a:t>단일 샘플에서 두 번 이상 나타날 수 </a:t>
            </a:r>
            <a:r>
              <a:rPr lang="ko-KR" altLang="en-US" dirty="0" smtClean="0"/>
              <a:t>있음</a:t>
            </a:r>
            <a:r>
              <a:rPr lang="en-US" altLang="ko-KR" dirty="0" smtClean="0"/>
              <a:t>. </a:t>
            </a:r>
            <a:r>
              <a:rPr lang="ko-KR" altLang="en-US" dirty="0" smtClean="0"/>
              <a:t>당연히 같은 항목이 여러 샘플에 거쳐 나타날 수 있음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1595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Bagging and Pasting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16295"/>
            <a:ext cx="10515600" cy="4351338"/>
          </a:xfrm>
        </p:spPr>
        <p:txBody>
          <a:bodyPr/>
          <a:lstStyle/>
          <a:p>
            <a:r>
              <a:rPr lang="ko-KR" altLang="en-US" dirty="0"/>
              <a:t>모든 </a:t>
            </a:r>
            <a:r>
              <a:rPr lang="ko-KR" altLang="en-US" dirty="0" err="1" smtClean="0"/>
              <a:t>예측기에</a:t>
            </a:r>
            <a:r>
              <a:rPr lang="ko-KR" altLang="en-US" dirty="0" smtClean="0"/>
              <a:t> </a:t>
            </a:r>
            <a:r>
              <a:rPr lang="ko-KR" altLang="en-US" dirty="0"/>
              <a:t>대해 동일한 훈련 알고리즘을 사용하지만 훈련 </a:t>
            </a:r>
            <a:r>
              <a:rPr lang="ko-KR" altLang="en-US" dirty="0" smtClean="0"/>
              <a:t>세트의 </a:t>
            </a:r>
            <a:r>
              <a:rPr lang="ko-KR" altLang="en-US" dirty="0"/>
              <a:t>서로 다른 무작위 하위 집합에서 </a:t>
            </a:r>
            <a:r>
              <a:rPr lang="ko-KR" altLang="en-US" dirty="0" smtClean="0"/>
              <a:t>훈련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배깅</a:t>
            </a:r>
            <a:r>
              <a:rPr lang="ko-KR" altLang="en-US" dirty="0" smtClean="0"/>
              <a:t> </a:t>
            </a:r>
            <a:r>
              <a:rPr lang="en-US" altLang="ko-KR" dirty="0" smtClean="0"/>
              <a:t>(Bagging) : </a:t>
            </a:r>
            <a:r>
              <a:rPr lang="ko-KR" altLang="en-US" dirty="0" smtClean="0"/>
              <a:t>교체 형식으로 샘플링 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패스팅</a:t>
            </a:r>
            <a:r>
              <a:rPr lang="ko-KR" altLang="en-US" dirty="0" smtClean="0"/>
              <a:t> </a:t>
            </a:r>
            <a:r>
              <a:rPr lang="en-US" altLang="ko-KR" dirty="0" smtClean="0"/>
              <a:t>(Pasting) : </a:t>
            </a:r>
            <a:r>
              <a:rPr lang="ko-KR" altLang="en-US" dirty="0" err="1" smtClean="0"/>
              <a:t>비교체</a:t>
            </a:r>
            <a:r>
              <a:rPr lang="ko-KR" altLang="en-US" dirty="0" smtClean="0"/>
              <a:t> </a:t>
            </a:r>
            <a:r>
              <a:rPr lang="ko-KR" altLang="en-US" dirty="0"/>
              <a:t>형식으로 </a:t>
            </a:r>
            <a:r>
              <a:rPr lang="ko-KR" altLang="en-US" dirty="0" smtClean="0"/>
              <a:t>샘플링</a:t>
            </a:r>
            <a:endParaRPr lang="en-US" altLang="ko-KR" dirty="0" smtClean="0"/>
          </a:p>
          <a:p>
            <a:r>
              <a:rPr lang="ko-KR" altLang="en-US" dirty="0" err="1" smtClean="0"/>
              <a:t>배깅이나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패이스팅</a:t>
            </a:r>
            <a:r>
              <a:rPr lang="ko-KR" altLang="en-US" dirty="0" smtClean="0"/>
              <a:t> 모두 여러 </a:t>
            </a:r>
            <a:r>
              <a:rPr lang="ko-KR" altLang="en-US" dirty="0" smtClean="0"/>
              <a:t>샘플 세트에 </a:t>
            </a:r>
            <a:r>
              <a:rPr lang="ko-KR" altLang="en-US" dirty="0" smtClean="0"/>
              <a:t>걸쳐 동일 학습 인스턴스가 발생할 수 있음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즉 다른 </a:t>
            </a:r>
            <a:r>
              <a:rPr lang="ko-KR" altLang="en-US" dirty="0" err="1" smtClean="0"/>
              <a:t>예측기의</a:t>
            </a:r>
            <a:r>
              <a:rPr lang="ko-KR" altLang="en-US" dirty="0" smtClean="0"/>
              <a:t> 학습 세트에 </a:t>
            </a:r>
            <a:r>
              <a:rPr lang="ko-KR" altLang="en-US" dirty="0"/>
              <a:t>동일한 학습 인스턴스가 발생할 수 </a:t>
            </a:r>
            <a:r>
              <a:rPr lang="ko-KR" altLang="en-US" dirty="0" smtClean="0"/>
              <a:t>있음</a:t>
            </a:r>
            <a:endParaRPr lang="en-US" altLang="ko-KR" dirty="0" smtClean="0"/>
          </a:p>
          <a:p>
            <a:r>
              <a:rPr lang="ko-KR" altLang="en-US" dirty="0" err="1" smtClean="0"/>
              <a:t>배깅은</a:t>
            </a:r>
            <a:r>
              <a:rPr lang="ko-KR" altLang="en-US" dirty="0" smtClean="0"/>
              <a:t> 동일 샘플 </a:t>
            </a:r>
            <a:r>
              <a:rPr lang="ko-KR" altLang="en-US" dirty="0" smtClean="0"/>
              <a:t>세트 내에</a:t>
            </a:r>
            <a:r>
              <a:rPr lang="en-US" altLang="ko-KR" dirty="0" smtClean="0"/>
              <a:t>, </a:t>
            </a:r>
            <a:r>
              <a:rPr lang="ko-KR" altLang="en-US" dirty="0" smtClean="0"/>
              <a:t>즉 한 </a:t>
            </a:r>
            <a:r>
              <a:rPr lang="ko-KR" altLang="en-US" dirty="0" err="1" smtClean="0"/>
              <a:t>예측기의</a:t>
            </a:r>
            <a:r>
              <a:rPr lang="ko-KR" altLang="en-US" dirty="0" smtClean="0"/>
              <a:t> 학습 세트 </a:t>
            </a:r>
            <a:r>
              <a:rPr lang="ko-KR" altLang="en-US" dirty="0"/>
              <a:t>내에 동일한 학습 인스턴스가 </a:t>
            </a:r>
            <a:r>
              <a:rPr lang="ko-KR" altLang="en-US" dirty="0" smtClean="0"/>
              <a:t>여러 번 발생할 </a:t>
            </a:r>
            <a:r>
              <a:rPr lang="ko-KR" altLang="en-US" dirty="0"/>
              <a:t>수 </a:t>
            </a:r>
            <a:r>
              <a:rPr lang="ko-KR" altLang="en-US" dirty="0" smtClean="0"/>
              <a:t>있음</a:t>
            </a:r>
            <a:r>
              <a:rPr lang="en-US" altLang="ko-KR" dirty="0" smtClean="0"/>
              <a:t>. </a:t>
            </a:r>
            <a:r>
              <a:rPr lang="ko-KR" altLang="en-US" dirty="0" smtClean="0"/>
              <a:t>하지만 </a:t>
            </a:r>
            <a:r>
              <a:rPr lang="ko-KR" altLang="en-US" dirty="0" err="1" smtClean="0"/>
              <a:t>패이스팅은</a:t>
            </a:r>
            <a:r>
              <a:rPr lang="ko-KR" altLang="en-US" dirty="0" smtClean="0"/>
              <a:t> 그렇지 않음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1813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Bagging and Pasting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86" y="2007976"/>
            <a:ext cx="6534539" cy="3408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34642" y="2007976"/>
            <a:ext cx="396395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모든 </a:t>
            </a:r>
            <a:r>
              <a:rPr lang="ko-KR" altLang="en-US" dirty="0" err="1" smtClean="0"/>
              <a:t>예측기의</a:t>
            </a:r>
            <a:r>
              <a:rPr lang="ko-KR" altLang="en-US" dirty="0" smtClean="0"/>
              <a:t> </a:t>
            </a:r>
            <a:r>
              <a:rPr lang="ko-KR" altLang="en-US" dirty="0"/>
              <a:t>예측을 단순히 집계하여 예측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34642" y="3428546"/>
            <a:ext cx="4197999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집계 함수는 일반적으로 </a:t>
            </a:r>
            <a:r>
              <a:rPr lang="ko-KR" altLang="en-US" dirty="0" smtClean="0"/>
              <a:t>분류인 경우는 </a:t>
            </a:r>
            <a:r>
              <a:rPr lang="ko-KR" altLang="en-US" dirty="0"/>
              <a:t>통계 </a:t>
            </a:r>
            <a:r>
              <a:rPr lang="ko-KR" altLang="en-US" dirty="0" smtClean="0"/>
              <a:t>형태 </a:t>
            </a:r>
            <a:r>
              <a:rPr lang="en-US" altLang="ko-KR" dirty="0"/>
              <a:t>(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하드 투표 </a:t>
            </a:r>
            <a:r>
              <a:rPr lang="ko-KR" altLang="en-US" dirty="0" err="1" smtClean="0"/>
              <a:t>분류기에서</a:t>
            </a:r>
            <a:r>
              <a:rPr lang="ko-KR" altLang="en-US" dirty="0" smtClean="0"/>
              <a:t> 사용하는 방법 같은 것</a:t>
            </a:r>
            <a:r>
              <a:rPr lang="en-US" altLang="ko-KR" dirty="0" smtClean="0"/>
              <a:t>)</a:t>
            </a:r>
            <a:r>
              <a:rPr lang="ko-KR" altLang="en-US" dirty="0" smtClean="0"/>
              <a:t>이며 회귀인 경우는 평균하는 형태임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2478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Bagging and Pasting</a:t>
            </a:r>
            <a:endParaRPr lang="ko-KR" altLang="en-US" dirty="0"/>
          </a:p>
        </p:txBody>
      </p:sp>
      <p:pic>
        <p:nvPicPr>
          <p:cNvPr id="4" name="Picture 2" descr="https://miro.medium.com/max/1815/1*zAMhmZ78a6V9W878zfk5eA@2x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52" y="2041689"/>
            <a:ext cx="9711559" cy="4093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3971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Bagging and Pasting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25689"/>
          </a:xfrm>
        </p:spPr>
        <p:txBody>
          <a:bodyPr/>
          <a:lstStyle/>
          <a:p>
            <a:r>
              <a:rPr lang="en-US" altLang="ko-KR" b="1" dirty="0"/>
              <a:t>Bagging and Pasting in </a:t>
            </a:r>
            <a:r>
              <a:rPr lang="en-US" altLang="ko-KR" b="1" dirty="0" err="1"/>
              <a:t>Scikit</a:t>
            </a:r>
            <a:r>
              <a:rPr lang="en-US" altLang="ko-KR" b="1" dirty="0"/>
              <a:t>-Learn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110343" y="2575249"/>
            <a:ext cx="106555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from </a:t>
            </a:r>
            <a:r>
              <a:rPr lang="en-US" altLang="ko-KR" b="1" dirty="0" err="1"/>
              <a:t>sklearn.ensemble</a:t>
            </a:r>
            <a:r>
              <a:rPr lang="en-US" altLang="ko-KR" b="1" dirty="0"/>
              <a:t> import </a:t>
            </a:r>
            <a:r>
              <a:rPr lang="en-US" altLang="ko-KR" dirty="0" err="1"/>
              <a:t>BaggingClassifier</a:t>
            </a:r>
            <a:endParaRPr lang="en-US" altLang="ko-KR" dirty="0"/>
          </a:p>
          <a:p>
            <a:r>
              <a:rPr lang="en-US" altLang="ko-KR" b="1" dirty="0"/>
              <a:t>from </a:t>
            </a:r>
            <a:r>
              <a:rPr lang="en-US" altLang="ko-KR" b="1" dirty="0" err="1"/>
              <a:t>sklearn.tree</a:t>
            </a:r>
            <a:r>
              <a:rPr lang="en-US" altLang="ko-KR" b="1" dirty="0"/>
              <a:t> import </a:t>
            </a:r>
            <a:r>
              <a:rPr lang="en-US" altLang="ko-KR" dirty="0" err="1" smtClean="0"/>
              <a:t>DecisionTreeClassifier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err="1"/>
              <a:t>bag_clf</a:t>
            </a:r>
            <a:r>
              <a:rPr lang="en-US" altLang="ko-KR" dirty="0"/>
              <a:t> = </a:t>
            </a:r>
            <a:r>
              <a:rPr lang="en-US" altLang="ko-KR" dirty="0" err="1"/>
              <a:t>BaggingClassifier</a:t>
            </a:r>
            <a:r>
              <a:rPr lang="en-US" altLang="ko-KR" dirty="0"/>
              <a:t>(</a:t>
            </a:r>
          </a:p>
          <a:p>
            <a:pPr lvl="1"/>
            <a:r>
              <a:rPr lang="en-US" altLang="ko-KR" dirty="0" err="1"/>
              <a:t>DecisionTreeClassifier</a:t>
            </a:r>
            <a:r>
              <a:rPr lang="en-US" altLang="ko-KR" dirty="0"/>
              <a:t>(), </a:t>
            </a:r>
            <a:r>
              <a:rPr lang="en-US" altLang="ko-KR" dirty="0" err="1"/>
              <a:t>n_estimators</a:t>
            </a:r>
            <a:r>
              <a:rPr lang="en-US" altLang="ko-KR" dirty="0"/>
              <a:t>=500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max_samples</a:t>
            </a:r>
            <a:r>
              <a:rPr lang="en-US" altLang="ko-KR" dirty="0" smtClean="0"/>
              <a:t>=100</a:t>
            </a:r>
            <a:r>
              <a:rPr lang="en-US" altLang="ko-KR" dirty="0"/>
              <a:t>, bootstrap=True, </a:t>
            </a:r>
            <a:r>
              <a:rPr lang="en-US" altLang="ko-KR" dirty="0" err="1"/>
              <a:t>n_jobs</a:t>
            </a:r>
            <a:r>
              <a:rPr lang="en-US" altLang="ko-KR" dirty="0"/>
              <a:t>=-</a:t>
            </a:r>
            <a:r>
              <a:rPr lang="en-US" altLang="ko-KR" dirty="0" smtClean="0"/>
              <a:t>1)</a:t>
            </a:r>
            <a:endParaRPr lang="en-US" altLang="ko-KR" dirty="0"/>
          </a:p>
          <a:p>
            <a:r>
              <a:rPr lang="en-US" altLang="ko-KR" dirty="0" err="1"/>
              <a:t>bag_clf.fit</a:t>
            </a:r>
            <a:r>
              <a:rPr lang="en-US" altLang="ko-KR" dirty="0"/>
              <a:t>(</a:t>
            </a:r>
            <a:r>
              <a:rPr lang="en-US" altLang="ko-KR" dirty="0" err="1"/>
              <a:t>X_train</a:t>
            </a:r>
            <a:r>
              <a:rPr lang="en-US" altLang="ko-KR" dirty="0"/>
              <a:t>, </a:t>
            </a:r>
            <a:r>
              <a:rPr lang="en-US" altLang="ko-KR" dirty="0" err="1"/>
              <a:t>y_train</a:t>
            </a:r>
            <a:r>
              <a:rPr lang="en-US" altLang="ko-KR" dirty="0"/>
              <a:t>)</a:t>
            </a:r>
          </a:p>
          <a:p>
            <a:r>
              <a:rPr lang="en-US" altLang="ko-KR" dirty="0" err="1"/>
              <a:t>y_pred</a:t>
            </a:r>
            <a:r>
              <a:rPr lang="en-US" altLang="ko-KR" dirty="0"/>
              <a:t> = </a:t>
            </a:r>
            <a:r>
              <a:rPr lang="en-US" altLang="ko-KR" dirty="0" err="1"/>
              <a:t>bag_clf.predict</a:t>
            </a:r>
            <a:r>
              <a:rPr lang="en-US" altLang="ko-KR" dirty="0"/>
              <a:t>(</a:t>
            </a:r>
            <a:r>
              <a:rPr lang="en-US" altLang="ko-KR" dirty="0" err="1"/>
              <a:t>X_test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102766" y="2731121"/>
            <a:ext cx="466313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if you want to use pasting instead, just set</a:t>
            </a:r>
          </a:p>
          <a:p>
            <a:r>
              <a:rPr lang="en-US" altLang="ko-KR" dirty="0"/>
              <a:t>bootstrap=False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5408644" y="4230344"/>
            <a:ext cx="6096000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altLang="ko-KR" sz="1400" b="1" i="0" u="none" strike="noStrike" baseline="0" dirty="0" err="1" smtClean="0">
                <a:latin typeface="LiberationMono"/>
              </a:rPr>
              <a:t>n_jobs</a:t>
            </a:r>
            <a:r>
              <a:rPr lang="en-US" altLang="ko-KR" sz="1400" b="0" i="0" u="none" strike="noStrike" baseline="0" dirty="0" smtClean="0">
                <a:latin typeface="LiberationMono"/>
              </a:rPr>
              <a:t> </a:t>
            </a:r>
            <a:r>
              <a:rPr lang="en-US" altLang="ko-KR" b="0" i="0" u="none" strike="noStrike" baseline="0" dirty="0" smtClean="0">
                <a:latin typeface="LiberationSerif"/>
              </a:rPr>
              <a:t>: the number of CPU cores to use for training</a:t>
            </a:r>
          </a:p>
          <a:p>
            <a:r>
              <a:rPr lang="en-US" altLang="ko-KR" b="0" i="0" u="none" strike="noStrike" baseline="0" dirty="0" smtClean="0">
                <a:latin typeface="LiberationSerif"/>
              </a:rPr>
              <a:t>and predictions (–1 tells </a:t>
            </a:r>
            <a:r>
              <a:rPr lang="en-US" altLang="ko-KR" b="0" i="0" u="none" strike="noStrike" baseline="0" dirty="0" err="1" smtClean="0">
                <a:latin typeface="LiberationSerif"/>
              </a:rPr>
              <a:t>Scikit</a:t>
            </a:r>
            <a:r>
              <a:rPr lang="en-US" altLang="ko-KR" b="0" i="0" u="none" strike="noStrike" baseline="0" dirty="0" smtClean="0">
                <a:latin typeface="LiberationSerif"/>
              </a:rPr>
              <a:t>-Learn to use all available cores)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1122006" y="5332243"/>
            <a:ext cx="10243457" cy="1015663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baseline="0" dirty="0" smtClean="0">
                <a:solidFill>
                  <a:srgbClr val="737373"/>
                </a:solidFill>
                <a:latin typeface="LiberationSerif-Bold"/>
              </a:rPr>
              <a:t>NOTE : </a:t>
            </a:r>
            <a:r>
              <a:rPr lang="en-US" altLang="ko-KR" dirty="0" err="1">
                <a:solidFill>
                  <a:srgbClr val="000000"/>
                </a:solidFill>
                <a:latin typeface="LiberationSerif"/>
              </a:rPr>
              <a:t>BaggingClassifier</a:t>
            </a:r>
            <a:r>
              <a:rPr lang="ko-KR" altLang="en-US" dirty="0">
                <a:solidFill>
                  <a:srgbClr val="000000"/>
                </a:solidFill>
                <a:latin typeface="LiberationSerif"/>
              </a:rPr>
              <a:t>는 기본 </a:t>
            </a:r>
            <a:r>
              <a:rPr lang="ko-KR" altLang="en-US" dirty="0" err="1" smtClean="0">
                <a:solidFill>
                  <a:srgbClr val="000000"/>
                </a:solidFill>
                <a:latin typeface="LiberationSerif"/>
              </a:rPr>
              <a:t>분류기가</a:t>
            </a:r>
            <a:r>
              <a:rPr lang="ko-KR" altLang="en-US" dirty="0" smtClean="0">
                <a:solidFill>
                  <a:srgbClr val="000000"/>
                </a:solidFill>
                <a:latin typeface="LiberationSeri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LiberationSerif"/>
              </a:rPr>
              <a:t>클래스 확률을 추정 할 </a:t>
            </a:r>
            <a:r>
              <a:rPr lang="ko-KR" altLang="en-US" dirty="0" smtClean="0">
                <a:solidFill>
                  <a:srgbClr val="000000"/>
                </a:solidFill>
                <a:latin typeface="LiberationSerif"/>
              </a:rPr>
              <a:t>수 있는 </a:t>
            </a:r>
            <a:r>
              <a:rPr lang="ko-KR" altLang="en-US" dirty="0">
                <a:solidFill>
                  <a:srgbClr val="000000"/>
                </a:solidFill>
                <a:latin typeface="LiberationSerif"/>
              </a:rPr>
              <a:t>경우 </a:t>
            </a:r>
            <a:r>
              <a:rPr lang="en-US" altLang="ko-KR" dirty="0">
                <a:solidFill>
                  <a:srgbClr val="000000"/>
                </a:solidFill>
                <a:latin typeface="LiberationSerif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LiberationSerif"/>
              </a:rPr>
              <a:t>예 </a:t>
            </a:r>
            <a:r>
              <a:rPr lang="en-US" altLang="ko-KR" dirty="0">
                <a:solidFill>
                  <a:srgbClr val="000000"/>
                </a:solidFill>
                <a:latin typeface="LiberationSerif"/>
              </a:rPr>
              <a:t>: </a:t>
            </a:r>
            <a:r>
              <a:rPr lang="en-US" altLang="ko-KR" dirty="0" err="1">
                <a:solidFill>
                  <a:srgbClr val="000000"/>
                </a:solidFill>
                <a:latin typeface="LiberationSerif"/>
              </a:rPr>
              <a:t>predict_proba</a:t>
            </a:r>
            <a:r>
              <a:rPr lang="en-US" altLang="ko-KR" dirty="0">
                <a:solidFill>
                  <a:srgbClr val="000000"/>
                </a:solidFill>
                <a:latin typeface="LiberationSerif"/>
              </a:rPr>
              <a:t> () </a:t>
            </a:r>
            <a:r>
              <a:rPr lang="ko-KR" altLang="en-US" dirty="0" err="1">
                <a:solidFill>
                  <a:srgbClr val="000000"/>
                </a:solidFill>
                <a:latin typeface="LiberationSerif"/>
              </a:rPr>
              <a:t>메서드가있는</a:t>
            </a:r>
            <a:r>
              <a:rPr lang="ko-KR" altLang="en-US" dirty="0">
                <a:solidFill>
                  <a:srgbClr val="000000"/>
                </a:solidFill>
                <a:latin typeface="LiberationSerif"/>
              </a:rPr>
              <a:t> 경우</a:t>
            </a:r>
            <a:r>
              <a:rPr lang="en-US" altLang="ko-KR" dirty="0">
                <a:solidFill>
                  <a:srgbClr val="000000"/>
                </a:solidFill>
                <a:latin typeface="LiberationSerif"/>
              </a:rPr>
              <a:t>) </a:t>
            </a:r>
            <a:r>
              <a:rPr lang="ko-KR" altLang="en-US" dirty="0">
                <a:solidFill>
                  <a:srgbClr val="000000"/>
                </a:solidFill>
                <a:latin typeface="LiberationSerif"/>
              </a:rPr>
              <a:t>하드 </a:t>
            </a:r>
            <a:r>
              <a:rPr lang="ko-KR" altLang="en-US" dirty="0" err="1" smtClean="0">
                <a:solidFill>
                  <a:srgbClr val="000000"/>
                </a:solidFill>
                <a:latin typeface="LiberationSerif"/>
              </a:rPr>
              <a:t>보팅</a:t>
            </a:r>
            <a:r>
              <a:rPr lang="ko-KR" altLang="en-US" dirty="0" smtClean="0">
                <a:solidFill>
                  <a:srgbClr val="000000"/>
                </a:solidFill>
                <a:latin typeface="LiberationSeri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LiberationSerif"/>
              </a:rPr>
              <a:t>대신 소프트 </a:t>
            </a:r>
            <a:r>
              <a:rPr lang="ko-KR" altLang="en-US" dirty="0" err="1" smtClean="0">
                <a:solidFill>
                  <a:srgbClr val="000000"/>
                </a:solidFill>
                <a:latin typeface="LiberationSerif"/>
              </a:rPr>
              <a:t>보팅을</a:t>
            </a:r>
            <a:r>
              <a:rPr lang="ko-KR" altLang="en-US" dirty="0" smtClean="0">
                <a:solidFill>
                  <a:srgbClr val="000000"/>
                </a:solidFill>
                <a:latin typeface="LiberationSeri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LiberationSerif"/>
              </a:rPr>
              <a:t>자동으로 </a:t>
            </a:r>
            <a:r>
              <a:rPr lang="ko-KR" altLang="en-US" dirty="0" smtClean="0">
                <a:solidFill>
                  <a:srgbClr val="000000"/>
                </a:solidFill>
                <a:latin typeface="LiberationSerif"/>
              </a:rPr>
              <a:t>수행함</a:t>
            </a:r>
            <a:r>
              <a:rPr lang="en-US" altLang="ko-KR" dirty="0" smtClean="0">
                <a:solidFill>
                  <a:srgbClr val="000000"/>
                </a:solidFill>
                <a:latin typeface="LiberationSerif"/>
              </a:rPr>
              <a:t>. </a:t>
            </a:r>
            <a:r>
              <a:rPr lang="ko-KR" altLang="en-US" dirty="0" smtClean="0">
                <a:solidFill>
                  <a:srgbClr val="000000"/>
                </a:solidFill>
                <a:latin typeface="LiberationSerif"/>
              </a:rPr>
              <a:t>의사 </a:t>
            </a:r>
            <a:r>
              <a:rPr lang="ko-KR" altLang="en-US" dirty="0">
                <a:solidFill>
                  <a:srgbClr val="000000"/>
                </a:solidFill>
                <a:latin typeface="LiberationSerif"/>
              </a:rPr>
              <a:t>결정 트리 분류기의 </a:t>
            </a:r>
            <a:r>
              <a:rPr lang="ko-KR" altLang="en-US" dirty="0" smtClean="0">
                <a:solidFill>
                  <a:srgbClr val="000000"/>
                </a:solidFill>
                <a:latin typeface="LiberationSerif"/>
              </a:rPr>
              <a:t>경우도 그러함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9540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Bagging and Pasting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63413"/>
            <a:ext cx="8905875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122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Random Forests</a:t>
            </a:r>
            <a:endParaRPr lang="ko-KR" altLang="en-US" dirty="0"/>
          </a:p>
        </p:txBody>
      </p:sp>
      <p:pic>
        <p:nvPicPr>
          <p:cNvPr id="7" name="Picture 2" descr="https://miro.medium.com/max/1815/1*_B5HX2whbTs3DS8M6YBD_w@2x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82" y="2738885"/>
            <a:ext cx="9436161" cy="397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838200" y="1413323"/>
            <a:ext cx="10515600" cy="1676717"/>
          </a:xfrm>
        </p:spPr>
        <p:txBody>
          <a:bodyPr>
            <a:normAutofit/>
          </a:bodyPr>
          <a:lstStyle/>
          <a:p>
            <a:r>
              <a:rPr lang="ko-KR" altLang="en-US" dirty="0"/>
              <a:t>일반적으로 </a:t>
            </a:r>
            <a:r>
              <a:rPr lang="ko-KR" altLang="en-US" dirty="0" err="1"/>
              <a:t>배깅</a:t>
            </a:r>
            <a:r>
              <a:rPr lang="ko-KR" altLang="en-US" dirty="0"/>
              <a:t> 방법 </a:t>
            </a:r>
            <a:r>
              <a:rPr lang="en-US" altLang="ko-KR" dirty="0"/>
              <a:t>(</a:t>
            </a:r>
            <a:r>
              <a:rPr lang="ko-KR" altLang="en-US" dirty="0"/>
              <a:t>또는 때로는 </a:t>
            </a:r>
            <a:r>
              <a:rPr lang="ko-KR" altLang="en-US" dirty="0" err="1" smtClean="0"/>
              <a:t>패이스팅</a:t>
            </a:r>
            <a:r>
              <a:rPr lang="en-US" altLang="ko-KR" dirty="0" smtClean="0"/>
              <a:t>)</a:t>
            </a:r>
            <a:r>
              <a:rPr lang="ko-KR" altLang="en-US" dirty="0"/>
              <a:t>을 통해 훈련 된 의사 결정 트리의 앙상블</a:t>
            </a:r>
            <a:r>
              <a:rPr lang="en-US" altLang="ko-KR" dirty="0"/>
              <a:t>, </a:t>
            </a:r>
            <a:r>
              <a:rPr lang="ko-KR" altLang="en-US" dirty="0"/>
              <a:t>일반적으로 </a:t>
            </a:r>
            <a:r>
              <a:rPr lang="en-US" altLang="ko-KR" dirty="0" err="1"/>
              <a:t>max_samples</a:t>
            </a:r>
            <a:r>
              <a:rPr lang="ko-KR" altLang="en-US" dirty="0"/>
              <a:t>를 훈련 세트의 크기로 </a:t>
            </a:r>
            <a:r>
              <a:rPr lang="ko-KR" altLang="en-US" dirty="0" smtClean="0"/>
              <a:t>설정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특징에 대해서도 샘플링이 이루어짐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347038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Random </a:t>
            </a:r>
            <a:r>
              <a:rPr lang="en-US" altLang="ko-KR" b="1" dirty="0" smtClean="0"/>
              <a:t>Forests in</a:t>
            </a:r>
            <a:r>
              <a:rPr lang="ko-KR" altLang="en-US" b="1" dirty="0" smtClean="0"/>
              <a:t> </a:t>
            </a:r>
            <a:r>
              <a:rPr lang="en-US" altLang="ko-KR" b="1" dirty="0" err="1" smtClean="0"/>
              <a:t>sklearn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644306"/>
          </a:xfrm>
        </p:spPr>
        <p:txBody>
          <a:bodyPr/>
          <a:lstStyle/>
          <a:p>
            <a:r>
              <a:rPr lang="en-US" altLang="ko-KR" dirty="0" err="1" smtClean="0"/>
              <a:t>RandomForestClassifier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클래스 이용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060579" y="2694081"/>
            <a:ext cx="10070841" cy="14773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from 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sklearn.ensemble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 import 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RandomForestClassifier</a:t>
            </a:r>
            <a:endParaRPr lang="en-US" altLang="ko-KR" b="1" dirty="0">
              <a:solidFill>
                <a:srgbClr val="00669A"/>
              </a:solidFill>
              <a:latin typeface="LiberationMono-Bold"/>
            </a:endParaRPr>
          </a:p>
          <a:p>
            <a:endParaRPr lang="en-US" altLang="ko-KR" b="1" dirty="0">
              <a:solidFill>
                <a:srgbClr val="00669A"/>
              </a:solidFill>
              <a:latin typeface="LiberationMono-Bold"/>
            </a:endParaRPr>
          </a:p>
          <a:p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rnd_clf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 = 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RandomForestClassifier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(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n_estimators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=500, 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max_leaf_nodes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=16, 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n_jobs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=-1)</a:t>
            </a:r>
          </a:p>
          <a:p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rnd_clf.fit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(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X_train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, 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y_train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)</a:t>
            </a:r>
          </a:p>
          <a:p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y_pred_rf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 = 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rnd_clf.predict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(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X_test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)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060578" y="4676763"/>
            <a:ext cx="10070841" cy="923330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roughly equivalent</a:t>
            </a:r>
          </a:p>
          <a:p>
            <a:r>
              <a:rPr lang="en-US" altLang="ko-KR" dirty="0" err="1"/>
              <a:t>bag_clf</a:t>
            </a:r>
            <a:r>
              <a:rPr lang="en-US" altLang="ko-KR" dirty="0"/>
              <a:t> = </a:t>
            </a:r>
            <a:r>
              <a:rPr lang="en-US" altLang="ko-KR" dirty="0" err="1"/>
              <a:t>BaggingClassifier</a:t>
            </a:r>
            <a:r>
              <a:rPr lang="en-US" altLang="ko-KR" dirty="0"/>
              <a:t>( </a:t>
            </a:r>
            <a:r>
              <a:rPr lang="en-US" altLang="ko-KR" dirty="0" err="1"/>
              <a:t>DecisionTreeClassifier</a:t>
            </a:r>
            <a:r>
              <a:rPr lang="en-US" altLang="ko-KR" dirty="0"/>
              <a:t>(splitter="random", </a:t>
            </a:r>
            <a:r>
              <a:rPr lang="en-US" altLang="ko-KR" dirty="0" err="1"/>
              <a:t>max_leaf_nodes</a:t>
            </a:r>
            <a:r>
              <a:rPr lang="en-US" altLang="ko-KR" dirty="0"/>
              <a:t>=16),</a:t>
            </a:r>
          </a:p>
          <a:p>
            <a:r>
              <a:rPr lang="en-US" altLang="ko-KR" dirty="0" err="1"/>
              <a:t>n_estimators</a:t>
            </a:r>
            <a:r>
              <a:rPr lang="en-US" altLang="ko-KR" dirty="0"/>
              <a:t>=500, </a:t>
            </a:r>
            <a:r>
              <a:rPr lang="en-US" altLang="ko-KR" dirty="0" err="1"/>
              <a:t>max_samples</a:t>
            </a:r>
            <a:r>
              <a:rPr lang="en-US" altLang="ko-KR" dirty="0"/>
              <a:t>=1.0, bootstrap=True, </a:t>
            </a:r>
            <a:r>
              <a:rPr lang="en-US" altLang="ko-KR" dirty="0" err="1"/>
              <a:t>n_jobs</a:t>
            </a:r>
            <a:r>
              <a:rPr lang="en-US" altLang="ko-KR" dirty="0"/>
              <a:t>=-1)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4500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Random Forests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87959"/>
          </a:xfrm>
        </p:spPr>
        <p:txBody>
          <a:bodyPr/>
          <a:lstStyle/>
          <a:p>
            <a:r>
              <a:rPr lang="en-US" altLang="ko-KR" b="1" dirty="0" smtClean="0"/>
              <a:t>Feature Importance</a:t>
            </a:r>
          </a:p>
          <a:p>
            <a:pPr lvl="1"/>
            <a:r>
              <a:rPr lang="en-US" altLang="ko-KR" dirty="0"/>
              <a:t>using the </a:t>
            </a:r>
            <a:r>
              <a:rPr lang="en-US" altLang="ko-KR" dirty="0" err="1"/>
              <a:t>feature_importances</a:t>
            </a:r>
            <a:r>
              <a:rPr lang="en-US" altLang="ko-KR" dirty="0"/>
              <a:t>_ variable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321836" y="2844006"/>
            <a:ext cx="8895183" cy="230832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endParaRPr lang="en-US" altLang="ko-KR" b="1" dirty="0">
              <a:solidFill>
                <a:srgbClr val="00669A"/>
              </a:solidFill>
              <a:latin typeface="LiberationMono-Bold"/>
            </a:endParaRPr>
          </a:p>
          <a:p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from 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sklearn.datasets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 import 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load_iris</a:t>
            </a:r>
            <a:endParaRPr lang="en-US" altLang="ko-KR" b="1" dirty="0">
              <a:solidFill>
                <a:srgbClr val="00669A"/>
              </a:solidFill>
              <a:latin typeface="LiberationMono-Bold"/>
            </a:endParaRPr>
          </a:p>
          <a:p>
            <a:endParaRPr lang="en-US" altLang="ko-KR" b="1" dirty="0">
              <a:solidFill>
                <a:srgbClr val="00669A"/>
              </a:solidFill>
              <a:latin typeface="LiberationMono-Bold"/>
            </a:endParaRPr>
          </a:p>
          <a:p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iris = 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load_iris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()</a:t>
            </a:r>
          </a:p>
          <a:p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rnd_clf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 = 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RandomForestClassifier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(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n_estimators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=500, 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n_jobs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=-1)</a:t>
            </a:r>
          </a:p>
          <a:p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rnd_clf.fit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(iris["data"], iris["target"])</a:t>
            </a:r>
          </a:p>
          <a:p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for name, score in zip(iris["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feature_names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"], 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rnd_clf.feature_importances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_):</a:t>
            </a:r>
          </a:p>
          <a:p>
            <a:r>
              <a:rPr lang="en-US" altLang="ko-KR" b="1" dirty="0" smtClean="0">
                <a:solidFill>
                  <a:srgbClr val="00669A"/>
                </a:solidFill>
                <a:latin typeface="LiberationMono-Bold"/>
              </a:rPr>
              <a:t>	print(name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, score)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1321836" y="5217473"/>
            <a:ext cx="6096000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altLang="ko-KR" b="0" i="0" u="none" strike="noStrike" baseline="0" dirty="0" smtClean="0">
                <a:latin typeface="LiberationMono"/>
              </a:rPr>
              <a:t>sepal length (cm) 0.112492250999</a:t>
            </a:r>
          </a:p>
          <a:p>
            <a:r>
              <a:rPr lang="en-US" altLang="ko-KR" b="0" i="0" u="none" strike="noStrike" baseline="0" dirty="0" smtClean="0">
                <a:latin typeface="LiberationMono"/>
              </a:rPr>
              <a:t>sepal width (cm) 0.0231192882825</a:t>
            </a:r>
          </a:p>
          <a:p>
            <a:r>
              <a:rPr lang="en-US" altLang="ko-KR" b="0" i="0" u="none" strike="noStrike" baseline="0" dirty="0" smtClean="0">
                <a:latin typeface="LiberationMono"/>
              </a:rPr>
              <a:t>petal length (cm) 0.441030464364</a:t>
            </a:r>
          </a:p>
          <a:p>
            <a:r>
              <a:rPr lang="en-US" altLang="ko-KR" b="0" i="0" u="none" strike="noStrike" baseline="0" dirty="0" smtClean="0">
                <a:latin typeface="LiberationMono"/>
              </a:rPr>
              <a:t>petal width (cm) 0.423357996355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0201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Boosting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10314"/>
            <a:ext cx="10933386" cy="1632278"/>
          </a:xfrm>
        </p:spPr>
        <p:txBody>
          <a:bodyPr/>
          <a:lstStyle/>
          <a:p>
            <a:r>
              <a:rPr lang="ko-KR" altLang="en-US" dirty="0"/>
              <a:t>여러 약한 학습자를 강한 학습자로 결합 할 </a:t>
            </a:r>
            <a:r>
              <a:rPr lang="ko-KR" altLang="en-US" dirty="0" smtClean="0"/>
              <a:t>수 있는 앙상블</a:t>
            </a:r>
            <a:r>
              <a:rPr lang="en-US" altLang="ko-KR" dirty="0" smtClean="0"/>
              <a:t> </a:t>
            </a:r>
            <a:r>
              <a:rPr lang="ko-KR" altLang="en-US" dirty="0" smtClean="0"/>
              <a:t>방법</a:t>
            </a:r>
            <a:endParaRPr lang="en-US" altLang="ko-KR" dirty="0" smtClean="0"/>
          </a:p>
          <a:p>
            <a:pPr lvl="1"/>
            <a:r>
              <a:rPr lang="ko-KR" altLang="en-US" dirty="0"/>
              <a:t>대부분의 </a:t>
            </a:r>
            <a:r>
              <a:rPr lang="ko-KR" altLang="en-US" dirty="0" err="1"/>
              <a:t>부스팅</a:t>
            </a:r>
            <a:r>
              <a:rPr lang="ko-KR" altLang="en-US" dirty="0"/>
              <a:t> 방법은 </a:t>
            </a:r>
            <a:r>
              <a:rPr lang="ko-KR" altLang="en-US" dirty="0" err="1" smtClean="0"/>
              <a:t>예측기를</a:t>
            </a:r>
            <a:r>
              <a:rPr lang="ko-KR" altLang="en-US" dirty="0" smtClean="0"/>
              <a:t> </a:t>
            </a:r>
            <a:r>
              <a:rPr lang="ko-KR" altLang="en-US" dirty="0"/>
              <a:t>순차적으로 </a:t>
            </a:r>
            <a:r>
              <a:rPr lang="ko-KR" altLang="en-US" dirty="0" smtClean="0"/>
              <a:t>훈련시키며</a:t>
            </a:r>
            <a:r>
              <a:rPr lang="en-US" altLang="ko-KR" dirty="0"/>
              <a:t>, </a:t>
            </a:r>
            <a:r>
              <a:rPr lang="ko-KR" altLang="en-US" dirty="0"/>
              <a:t>각각은 </a:t>
            </a:r>
            <a:r>
              <a:rPr lang="ko-KR" altLang="en-US" dirty="0" smtClean="0"/>
              <a:t>선행 </a:t>
            </a:r>
            <a:r>
              <a:rPr lang="ko-KR" altLang="en-US" dirty="0" err="1" smtClean="0"/>
              <a:t>예측기의</a:t>
            </a:r>
            <a:r>
              <a:rPr lang="ko-KR" altLang="en-US" dirty="0" smtClean="0"/>
              <a:t> 오류를 수정하려고 함</a:t>
            </a:r>
            <a:endParaRPr lang="en-US" altLang="ko-KR" dirty="0" smtClean="0"/>
          </a:p>
          <a:p>
            <a:pPr lvl="1"/>
            <a:r>
              <a:rPr lang="en-US" altLang="ko-KR" i="1" dirty="0" err="1" smtClean="0"/>
              <a:t>AdaBoost</a:t>
            </a:r>
            <a:r>
              <a:rPr lang="en-US" altLang="ko-KR" dirty="0" smtClean="0"/>
              <a:t> </a:t>
            </a:r>
            <a:r>
              <a:rPr lang="en-US" altLang="ko-KR" dirty="0"/>
              <a:t>(short for </a:t>
            </a:r>
            <a:r>
              <a:rPr lang="en-US" altLang="ko-KR" i="1" dirty="0"/>
              <a:t>Adaptive Boosting</a:t>
            </a:r>
            <a:r>
              <a:rPr lang="en-US" altLang="ko-KR" dirty="0"/>
              <a:t>) </a:t>
            </a:r>
            <a:r>
              <a:rPr lang="ko-KR" altLang="en-US" dirty="0" smtClean="0"/>
              <a:t>와</a:t>
            </a:r>
            <a:r>
              <a:rPr lang="en-US" altLang="ko-KR" dirty="0" smtClean="0"/>
              <a:t> </a:t>
            </a:r>
            <a:r>
              <a:rPr lang="en-US" altLang="ko-KR" i="1" dirty="0"/>
              <a:t>Gradient </a:t>
            </a:r>
            <a:r>
              <a:rPr lang="en-US" altLang="ko-KR" i="1" dirty="0" smtClean="0"/>
              <a:t>Boosting </a:t>
            </a:r>
            <a:r>
              <a:rPr lang="ko-KR" altLang="en-US" i="1" dirty="0" smtClean="0"/>
              <a:t>등이 있음</a:t>
            </a:r>
            <a:endParaRPr lang="ko-KR" altLang="en-US" dirty="0"/>
          </a:p>
        </p:txBody>
      </p:sp>
      <p:pic>
        <p:nvPicPr>
          <p:cNvPr id="4" name="Picture 2" descr="https://miro.medium.com/max/1815/1*VGSoqefx3Rz5Pws6qpLwOQ@2x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965" y="3243756"/>
            <a:ext cx="7975491" cy="348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155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AdaBoost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ko-KR" altLang="en-US" dirty="0" smtClean="0"/>
              <a:t>이전 </a:t>
            </a:r>
            <a:r>
              <a:rPr lang="ko-KR" altLang="en-US" dirty="0" err="1" smtClean="0"/>
              <a:t>예측기의</a:t>
            </a:r>
            <a:r>
              <a:rPr lang="ko-KR" altLang="en-US" dirty="0" smtClean="0"/>
              <a:t> 성능이 좋지 않는 훈련 </a:t>
            </a:r>
            <a:r>
              <a:rPr lang="ko-KR" altLang="en-US" dirty="0"/>
              <a:t>인스턴스에 좀 </a:t>
            </a:r>
            <a:r>
              <a:rPr lang="ko-KR" altLang="en-US" dirty="0" smtClean="0"/>
              <a:t>더 주의를 기울여 학습하는 방법을 사용</a:t>
            </a:r>
            <a:endParaRPr lang="en-US" altLang="ko-KR" dirty="0" smtClean="0"/>
          </a:p>
          <a:p>
            <a:pPr lvl="1">
              <a:lnSpc>
                <a:spcPct val="130000"/>
              </a:lnSpc>
            </a:pPr>
            <a:r>
              <a:rPr lang="ko-KR" altLang="en-US" dirty="0"/>
              <a:t>첫 번째 기본 분류기 </a:t>
            </a:r>
            <a:r>
              <a:rPr lang="en-US" altLang="ko-KR" dirty="0"/>
              <a:t>(</a:t>
            </a:r>
            <a:r>
              <a:rPr lang="ko-KR" altLang="en-US" dirty="0"/>
              <a:t>예 </a:t>
            </a:r>
            <a:r>
              <a:rPr lang="en-US" altLang="ko-KR" dirty="0"/>
              <a:t>: </a:t>
            </a:r>
            <a:r>
              <a:rPr lang="ko-KR" altLang="en-US" dirty="0"/>
              <a:t>의사 결정 트리</a:t>
            </a:r>
            <a:r>
              <a:rPr lang="en-US" altLang="ko-KR" dirty="0"/>
              <a:t>)</a:t>
            </a:r>
            <a:r>
              <a:rPr lang="ko-KR" altLang="en-US" dirty="0"/>
              <a:t>가 훈련되고 훈련 세트에 대한 예측을 </a:t>
            </a:r>
            <a:r>
              <a:rPr lang="ko-KR" altLang="en-US" dirty="0" smtClean="0"/>
              <a:t>수행</a:t>
            </a:r>
            <a:endParaRPr lang="en-US" altLang="ko-KR" dirty="0" smtClean="0"/>
          </a:p>
          <a:p>
            <a:pPr lvl="1">
              <a:lnSpc>
                <a:spcPct val="130000"/>
              </a:lnSpc>
            </a:pPr>
            <a:r>
              <a:rPr lang="ko-KR" altLang="en-US" dirty="0" smtClean="0"/>
              <a:t>그런 다음 잘못 분류된 </a:t>
            </a:r>
            <a:r>
              <a:rPr lang="ko-KR" altLang="en-US" dirty="0"/>
              <a:t>훈련 인스턴스의 상대적 </a:t>
            </a:r>
            <a:r>
              <a:rPr lang="ko-KR" altLang="en-US" dirty="0" smtClean="0"/>
              <a:t>가중치를 증가</a:t>
            </a:r>
            <a:endParaRPr lang="en-US" altLang="ko-KR" dirty="0" smtClean="0"/>
          </a:p>
          <a:p>
            <a:pPr lvl="1">
              <a:lnSpc>
                <a:spcPct val="130000"/>
              </a:lnSpc>
            </a:pPr>
            <a:r>
              <a:rPr lang="ko-KR" altLang="en-US" dirty="0"/>
              <a:t>두 번째 </a:t>
            </a:r>
            <a:r>
              <a:rPr lang="ko-KR" altLang="en-US" dirty="0" err="1"/>
              <a:t>분류기는</a:t>
            </a:r>
            <a:r>
              <a:rPr lang="ko-KR" altLang="en-US" dirty="0"/>
              <a:t> 업데이트 된 </a:t>
            </a:r>
            <a:r>
              <a:rPr lang="ko-KR" altLang="en-US" dirty="0" smtClean="0"/>
              <a:t>학습 인스턴스 가중치를 </a:t>
            </a:r>
            <a:r>
              <a:rPr lang="ko-KR" altLang="en-US" dirty="0"/>
              <a:t>사용하여 훈련되고 다시 훈련 세트에 대한 예측을 수행하고 학습 인스턴스 </a:t>
            </a:r>
            <a:r>
              <a:rPr lang="ko-KR" altLang="en-US" dirty="0" smtClean="0"/>
              <a:t>가중치가 업데이트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3189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AdaBoost</a:t>
            </a:r>
            <a:endParaRPr lang="ko-KR" altLang="en-US" dirty="0"/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92853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AdaBoost</a:t>
            </a:r>
            <a:r>
              <a:rPr lang="en-US" altLang="ko-KR" dirty="0"/>
              <a:t> </a:t>
            </a:r>
            <a:r>
              <a:rPr lang="ko-KR" altLang="en-US" dirty="0" smtClean="0"/>
              <a:t>알고리즘</a:t>
            </a:r>
            <a:endParaRPr lang="en-US" altLang="ko-KR" dirty="0" smtClean="0"/>
          </a:p>
          <a:p>
            <a:pPr lvl="1"/>
            <a:r>
              <a:rPr lang="ko-KR" altLang="en-US" dirty="0"/>
              <a:t>각 인스턴스 가중치 </a:t>
            </a:r>
            <a:r>
              <a:rPr lang="en-US" altLang="ko-KR" dirty="0"/>
              <a:t>w (</a:t>
            </a:r>
            <a:r>
              <a:rPr lang="en-US" altLang="ko-KR" dirty="0" err="1"/>
              <a:t>i</a:t>
            </a:r>
            <a:r>
              <a:rPr lang="en-US" altLang="ko-KR" dirty="0"/>
              <a:t>)</a:t>
            </a:r>
            <a:r>
              <a:rPr lang="ko-KR" altLang="en-US" dirty="0"/>
              <a:t>는 처음에 </a:t>
            </a:r>
            <a:r>
              <a:rPr lang="en-US" altLang="ko-KR" dirty="0"/>
              <a:t>1 / m</a:t>
            </a:r>
            <a:r>
              <a:rPr lang="ko-KR" altLang="en-US" dirty="0"/>
              <a:t>로 </a:t>
            </a:r>
            <a:r>
              <a:rPr lang="ko-KR" altLang="en-US" dirty="0" smtClean="0"/>
              <a:t>설정</a:t>
            </a:r>
            <a:endParaRPr lang="en-US" altLang="ko-KR" dirty="0" smtClean="0"/>
          </a:p>
          <a:p>
            <a:pPr lvl="1"/>
            <a:r>
              <a:rPr lang="ko-KR" altLang="en-US" dirty="0"/>
              <a:t>최소 가중 </a:t>
            </a:r>
            <a:r>
              <a:rPr lang="ko-KR" altLang="en-US" dirty="0" err="1"/>
              <a:t>오류율</a:t>
            </a:r>
            <a:r>
              <a:rPr lang="ko-KR" altLang="en-US" dirty="0"/>
              <a:t> </a:t>
            </a:r>
            <a:r>
              <a:rPr lang="en-US" altLang="ko-KR" dirty="0" err="1"/>
              <a:t>rj</a:t>
            </a:r>
            <a:r>
              <a:rPr lang="ko-KR" altLang="en-US" dirty="0"/>
              <a:t>를 갖는 약한 </a:t>
            </a:r>
            <a:r>
              <a:rPr lang="ko-KR" altLang="en-US" dirty="0" err="1"/>
              <a:t>분류기를</a:t>
            </a:r>
            <a:r>
              <a:rPr lang="ko-KR" altLang="en-US" dirty="0"/>
              <a:t> </a:t>
            </a:r>
            <a:r>
              <a:rPr lang="ko-KR" altLang="en-US" dirty="0" smtClean="0"/>
              <a:t>찾음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987" y="3218478"/>
            <a:ext cx="7811979" cy="1428750"/>
          </a:xfrm>
          <a:prstGeom prst="rect">
            <a:avLst/>
          </a:prstGeom>
        </p:spPr>
      </p:pic>
      <p:sp>
        <p:nvSpPr>
          <p:cNvPr id="6" name="내용 개체 틀 2"/>
          <p:cNvSpPr txBox="1">
            <a:spLocks/>
          </p:cNvSpPr>
          <p:nvPr/>
        </p:nvSpPr>
        <p:spPr>
          <a:xfrm>
            <a:off x="915955" y="4749217"/>
            <a:ext cx="10515600" cy="49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ko-KR" altLang="en-US" dirty="0"/>
              <a:t>약한 </a:t>
            </a:r>
            <a:r>
              <a:rPr lang="ko-KR" altLang="en-US" dirty="0" smtClean="0"/>
              <a:t>분류기의 </a:t>
            </a:r>
            <a:r>
              <a:rPr lang="ko-KR" altLang="en-US" dirty="0"/>
              <a:t>가중치 </a:t>
            </a:r>
            <a:r>
              <a:rPr lang="el-GR" altLang="ko-KR" i="1" dirty="0" smtClean="0"/>
              <a:t>α</a:t>
            </a:r>
            <a:r>
              <a:rPr lang="en-US" altLang="ko-KR" i="1" dirty="0" smtClean="0"/>
              <a:t>j</a:t>
            </a:r>
            <a:r>
              <a:rPr lang="ko-KR" altLang="en-US" i="1" dirty="0" smtClean="0"/>
              <a:t>를 계산</a:t>
            </a:r>
            <a:endParaRPr lang="en-US" altLang="ko-KR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4987" y="5243805"/>
            <a:ext cx="2822997" cy="931728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4695252" y="5525003"/>
            <a:ext cx="31373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LiberationSerif"/>
              </a:rPr>
              <a:t>where </a:t>
            </a:r>
            <a:r>
              <a:rPr lang="en-US" altLang="ko-KR" i="1" dirty="0">
                <a:latin typeface="LiberationSerif-Italic"/>
              </a:rPr>
              <a:t>η </a:t>
            </a:r>
            <a:r>
              <a:rPr lang="en-US" altLang="ko-KR" dirty="0">
                <a:latin typeface="LiberationSerif"/>
              </a:rPr>
              <a:t>is the learning rate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417062" y="3782496"/>
                <a:ext cx="6406207" cy="47961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ko-KR" altLang="en-US" dirty="0" smtClean="0"/>
                  <a:t>는 </a:t>
                </a:r>
                <a:r>
                  <a:rPr lang="en-US" altLang="ko-KR" dirty="0" err="1" smtClean="0"/>
                  <a:t>i</a:t>
                </a:r>
                <a:r>
                  <a:rPr lang="ko-KR" altLang="en-US" dirty="0" smtClean="0"/>
                  <a:t>번째 학습 인스턴스에 대한 </a:t>
                </a:r>
                <a:r>
                  <a:rPr lang="en-US" altLang="ko-KR" dirty="0" smtClean="0"/>
                  <a:t>j</a:t>
                </a:r>
                <a:r>
                  <a:rPr lang="ko-KR" altLang="en-US" dirty="0" smtClean="0"/>
                  <a:t>번째 </a:t>
                </a:r>
                <a:r>
                  <a:rPr lang="ko-KR" altLang="en-US" dirty="0" err="1" smtClean="0"/>
                  <a:t>예측기의</a:t>
                </a:r>
                <a:r>
                  <a:rPr lang="ko-KR" altLang="en-US" dirty="0" smtClean="0"/>
                  <a:t> 예측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062" y="3782496"/>
                <a:ext cx="6406207" cy="479618"/>
              </a:xfrm>
              <a:prstGeom prst="rect">
                <a:avLst/>
              </a:prstGeom>
              <a:blipFill>
                <a:blip r:embed="rId4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6435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9060"/>
          </a:xfrm>
        </p:spPr>
        <p:txBody>
          <a:bodyPr/>
          <a:lstStyle/>
          <a:p>
            <a:r>
              <a:rPr lang="en-US" altLang="ko-KR" b="1" dirty="0" err="1"/>
              <a:t>AdaBoost</a:t>
            </a:r>
            <a:endParaRPr lang="ko-KR" altLang="en-US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943947" y="1567479"/>
            <a:ext cx="10515600" cy="49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ko-KR" altLang="en-US" dirty="0" smtClean="0"/>
              <a:t>학습 인스턴스 </a:t>
            </a:r>
            <a:r>
              <a:rPr lang="en-US" altLang="ko-KR" i="1" dirty="0" smtClean="0"/>
              <a:t>w</a:t>
            </a:r>
            <a:r>
              <a:rPr lang="en-US" altLang="ko-KR" i="1" baseline="30000" dirty="0" smtClean="0"/>
              <a:t>(</a:t>
            </a:r>
            <a:r>
              <a:rPr lang="en-US" altLang="ko-KR" i="1" baseline="30000" dirty="0" err="1" smtClean="0"/>
              <a:t>i</a:t>
            </a:r>
            <a:r>
              <a:rPr lang="en-US" altLang="ko-KR" i="1" baseline="30000" dirty="0" smtClean="0"/>
              <a:t>)</a:t>
            </a:r>
            <a:r>
              <a:rPr lang="en-US" altLang="ko-KR" i="1" dirty="0" smtClean="0"/>
              <a:t> for </a:t>
            </a:r>
            <a:r>
              <a:rPr lang="en-US" altLang="ko-KR" i="1" dirty="0" err="1" smtClean="0"/>
              <a:t>i</a:t>
            </a:r>
            <a:r>
              <a:rPr lang="en-US" altLang="ko-KR" i="1" dirty="0" smtClean="0"/>
              <a:t>=1, 2, …, m </a:t>
            </a:r>
            <a:r>
              <a:rPr lang="ko-KR" altLang="en-US" i="1" dirty="0" smtClean="0"/>
              <a:t>의 가중치를 업데이트</a:t>
            </a:r>
            <a:endParaRPr lang="en-US" altLang="ko-KR" i="1" baseline="30000" dirty="0" smtClean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818" y="2145361"/>
            <a:ext cx="4915114" cy="1375679"/>
          </a:xfrm>
          <a:prstGeom prst="rect">
            <a:avLst/>
          </a:prstGeom>
        </p:spPr>
      </p:pic>
      <p:sp>
        <p:nvSpPr>
          <p:cNvPr id="10" name="내용 개체 틀 2"/>
          <p:cNvSpPr txBox="1">
            <a:spLocks/>
          </p:cNvSpPr>
          <p:nvPr/>
        </p:nvSpPr>
        <p:spPr>
          <a:xfrm>
            <a:off x="943947" y="3604335"/>
            <a:ext cx="10515600" cy="1247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ko-KR" altLang="en-US" dirty="0" smtClean="0"/>
              <a:t>업데이트 된 학습 인스턴스 가중치를 이용하여 새로운 </a:t>
            </a:r>
            <a:r>
              <a:rPr lang="ko-KR" altLang="en-US" dirty="0" err="1" smtClean="0"/>
              <a:t>예측기를</a:t>
            </a:r>
            <a:r>
              <a:rPr lang="ko-KR" altLang="en-US" dirty="0" smtClean="0"/>
              <a:t> 학습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원하는 개수 만큼의 약한 </a:t>
            </a:r>
            <a:r>
              <a:rPr lang="ko-KR" altLang="en-US" dirty="0" err="1" smtClean="0"/>
              <a:t>분류기를</a:t>
            </a:r>
            <a:r>
              <a:rPr lang="ko-KR" altLang="en-US" dirty="0" smtClean="0"/>
              <a:t> 얻거나 완벽한 </a:t>
            </a:r>
            <a:r>
              <a:rPr lang="ko-KR" altLang="en-US" dirty="0" err="1" smtClean="0"/>
              <a:t>예측기가</a:t>
            </a:r>
            <a:r>
              <a:rPr lang="ko-KR" altLang="en-US" dirty="0" smtClean="0"/>
              <a:t> 얻어질 때까지 위의 과정을 반복</a:t>
            </a:r>
            <a:endParaRPr lang="en-US" altLang="ko-KR" i="1" baseline="30000" dirty="0" smtClean="0"/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943947" y="4816380"/>
            <a:ext cx="10515600" cy="530061"/>
          </a:xfrm>
        </p:spPr>
        <p:txBody>
          <a:bodyPr>
            <a:normAutofit/>
          </a:bodyPr>
          <a:lstStyle/>
          <a:p>
            <a:r>
              <a:rPr lang="en-US" altLang="ko-KR" dirty="0" err="1" smtClean="0"/>
              <a:t>AdaBoost</a:t>
            </a:r>
            <a:r>
              <a:rPr lang="en-US" altLang="ko-KR" dirty="0" smtClean="0"/>
              <a:t> </a:t>
            </a:r>
            <a:r>
              <a:rPr lang="ko-KR" altLang="en-US" dirty="0" smtClean="0"/>
              <a:t>예측</a:t>
            </a:r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108" y="5260712"/>
            <a:ext cx="6791325" cy="11334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44538" y="5912155"/>
            <a:ext cx="8255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N</a:t>
            </a:r>
            <a:r>
              <a:rPr lang="ko-KR" altLang="en-US" dirty="0" smtClean="0"/>
              <a:t>개의 약한 분류기의 예측 클래스들에 대해 그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클래스로 판단한 </a:t>
            </a:r>
            <a:r>
              <a:rPr lang="ko-KR" altLang="en-US" dirty="0" err="1" smtClean="0"/>
              <a:t>분류기들의</a:t>
            </a:r>
            <a:r>
              <a:rPr lang="ko-KR" altLang="en-US" dirty="0" smtClean="0"/>
              <a:t> 가중치 합을 구하고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 중 합이 가장 큰 클래스로 판단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6190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9060"/>
          </a:xfrm>
        </p:spPr>
        <p:txBody>
          <a:bodyPr/>
          <a:lstStyle/>
          <a:p>
            <a:r>
              <a:rPr lang="en-US" altLang="ko-KR" b="1" dirty="0" err="1" smtClean="0"/>
              <a:t>AdaBoost</a:t>
            </a:r>
            <a:r>
              <a:rPr lang="en-US" altLang="ko-KR" b="1" dirty="0" smtClean="0"/>
              <a:t> in </a:t>
            </a:r>
            <a:r>
              <a:rPr lang="en-US" altLang="ko-KR" b="1" dirty="0" err="1" smtClean="0"/>
              <a:t>sklearn</a:t>
            </a:r>
            <a:endParaRPr lang="ko-KR" altLang="en-US" dirty="0"/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838200" y="1484186"/>
            <a:ext cx="10515600" cy="1837512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Scikit</a:t>
            </a:r>
            <a:r>
              <a:rPr lang="en-US" altLang="ko-KR" dirty="0"/>
              <a:t>-Learn</a:t>
            </a:r>
            <a:r>
              <a:rPr lang="ko-KR" altLang="en-US" dirty="0"/>
              <a:t>은 실제로 </a:t>
            </a:r>
            <a:r>
              <a:rPr lang="en-US" altLang="ko-KR" dirty="0"/>
              <a:t>SAMME</a:t>
            </a:r>
            <a:r>
              <a:rPr lang="ko-KR" altLang="en-US" dirty="0"/>
              <a:t>라는 </a:t>
            </a:r>
            <a:r>
              <a:rPr lang="en-US" altLang="ko-KR" dirty="0" err="1"/>
              <a:t>AdaBoost</a:t>
            </a:r>
            <a:r>
              <a:rPr lang="ko-KR" altLang="en-US" dirty="0"/>
              <a:t>의 다중 클래스 버전을 사용 </a:t>
            </a:r>
            <a:r>
              <a:rPr lang="en-US" altLang="ko-KR" dirty="0" smtClean="0"/>
              <a:t> </a:t>
            </a:r>
          </a:p>
          <a:p>
            <a:pPr lvl="1"/>
            <a:r>
              <a:rPr lang="en-US" altLang="ko-KR" i="1" dirty="0"/>
              <a:t>SAMME.R (R</a:t>
            </a:r>
            <a:r>
              <a:rPr lang="ko-KR" altLang="en-US" i="1" dirty="0"/>
              <a:t>은 </a:t>
            </a:r>
            <a:r>
              <a:rPr lang="en-US" altLang="ko-KR" i="1" dirty="0"/>
              <a:t>"</a:t>
            </a:r>
            <a:r>
              <a:rPr lang="ko-KR" altLang="en-US" i="1" dirty="0"/>
              <a:t>실수</a:t>
            </a:r>
            <a:r>
              <a:rPr lang="en-US" altLang="ko-KR" i="1" dirty="0"/>
              <a:t>"</a:t>
            </a:r>
            <a:r>
              <a:rPr lang="ko-KR" altLang="en-US" i="1" dirty="0"/>
              <a:t>를 나타냄</a:t>
            </a:r>
            <a:r>
              <a:rPr lang="en-US" altLang="ko-KR" i="1" dirty="0"/>
              <a:t>), </a:t>
            </a:r>
            <a:r>
              <a:rPr lang="ko-KR" altLang="en-US" i="1" dirty="0"/>
              <a:t>예측보다는 클래스 확률에 의존하고 일반적으로 더 나은 성능을 </a:t>
            </a:r>
            <a:r>
              <a:rPr lang="ko-KR" altLang="en-US" i="1" dirty="0" smtClean="0"/>
              <a:t>발휘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1265852" y="3425095"/>
            <a:ext cx="10201469" cy="203132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from 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sklearn.ensemble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 import 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AdaBoostClassifier</a:t>
            </a:r>
            <a:endParaRPr lang="en-US" altLang="ko-KR" b="1" dirty="0">
              <a:solidFill>
                <a:srgbClr val="00669A"/>
              </a:solidFill>
              <a:latin typeface="LiberationMono-Bold"/>
            </a:endParaRPr>
          </a:p>
          <a:p>
            <a:endParaRPr lang="en-US" altLang="ko-KR" b="1" dirty="0">
              <a:solidFill>
                <a:srgbClr val="00669A"/>
              </a:solidFill>
              <a:latin typeface="LiberationMono-Bold"/>
            </a:endParaRPr>
          </a:p>
          <a:p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ada_clf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 = 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AdaBoostClassifier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(</a:t>
            </a:r>
          </a:p>
          <a:p>
            <a:r>
              <a:rPr lang="en-US" altLang="ko-KR" b="1" dirty="0" smtClean="0">
                <a:solidFill>
                  <a:srgbClr val="00669A"/>
                </a:solidFill>
                <a:latin typeface="LiberationMono-Bold"/>
              </a:rPr>
              <a:t>	</a:t>
            </a:r>
            <a:r>
              <a:rPr lang="en-US" altLang="ko-KR" b="1" dirty="0" err="1" smtClean="0">
                <a:solidFill>
                  <a:srgbClr val="00669A"/>
                </a:solidFill>
                <a:latin typeface="LiberationMono-Bold"/>
              </a:rPr>
              <a:t>DecisionTreeClassifier</a:t>
            </a:r>
            <a:r>
              <a:rPr lang="en-US" altLang="ko-KR" b="1" dirty="0" smtClean="0">
                <a:solidFill>
                  <a:srgbClr val="00669A"/>
                </a:solidFill>
                <a:latin typeface="LiberationMono-Bold"/>
              </a:rPr>
              <a:t>(</a:t>
            </a:r>
            <a:r>
              <a:rPr lang="en-US" altLang="ko-KR" b="1" dirty="0" err="1" smtClean="0">
                <a:solidFill>
                  <a:srgbClr val="00669A"/>
                </a:solidFill>
                <a:latin typeface="LiberationMono-Bold"/>
              </a:rPr>
              <a:t>max_depth</a:t>
            </a:r>
            <a:r>
              <a:rPr lang="en-US" altLang="ko-KR" b="1" dirty="0" smtClean="0">
                <a:solidFill>
                  <a:srgbClr val="00669A"/>
                </a:solidFill>
                <a:latin typeface="LiberationMono-Bold"/>
              </a:rPr>
              <a:t>=1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), 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n_estimators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=200,</a:t>
            </a:r>
          </a:p>
          <a:p>
            <a:r>
              <a:rPr lang="en-US" altLang="ko-KR" b="1" dirty="0" smtClean="0">
                <a:solidFill>
                  <a:srgbClr val="00669A"/>
                </a:solidFill>
                <a:latin typeface="LiberationMono-Bold"/>
              </a:rPr>
              <a:t>	algorithm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="SAMME.R", 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learning_rate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=0.5</a:t>
            </a:r>
          </a:p>
          <a:p>
            <a:r>
              <a:rPr lang="en-US" altLang="ko-KR" b="1" dirty="0" smtClean="0">
                <a:solidFill>
                  <a:srgbClr val="00669A"/>
                </a:solidFill>
                <a:latin typeface="LiberationMono-Bold"/>
              </a:rPr>
              <a:t>	)</a:t>
            </a:r>
            <a:endParaRPr lang="en-US" altLang="ko-KR" b="1" dirty="0">
              <a:solidFill>
                <a:srgbClr val="00669A"/>
              </a:solidFill>
              <a:latin typeface="LiberationMono-Bold"/>
            </a:endParaRPr>
          </a:p>
          <a:p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ada_clf.fit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(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X_train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, </a:t>
            </a:r>
            <a:r>
              <a:rPr lang="en-US" altLang="ko-KR" b="1" dirty="0" err="1">
                <a:solidFill>
                  <a:srgbClr val="00669A"/>
                </a:solidFill>
                <a:latin typeface="LiberationMono-Bold"/>
              </a:rPr>
              <a:t>y_train</a:t>
            </a:r>
            <a:r>
              <a:rPr lang="en-US" altLang="ko-KR" b="1" dirty="0">
                <a:solidFill>
                  <a:srgbClr val="00669A"/>
                </a:solidFill>
                <a:latin typeface="LiberationMono-Bold"/>
              </a:rPr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3995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Stacking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6006737" cy="4692741"/>
          </a:xfrm>
        </p:spPr>
        <p:txBody>
          <a:bodyPr>
            <a:normAutofit/>
          </a:bodyPr>
          <a:lstStyle/>
          <a:p>
            <a:r>
              <a:rPr lang="ko-KR" altLang="en-US" dirty="0"/>
              <a:t>앙상블의 모든 </a:t>
            </a:r>
            <a:r>
              <a:rPr lang="ko-KR" altLang="en-US" dirty="0" err="1" smtClean="0"/>
              <a:t>예측기에</a:t>
            </a:r>
            <a:r>
              <a:rPr lang="ko-KR" altLang="en-US" dirty="0" smtClean="0"/>
              <a:t> </a:t>
            </a:r>
            <a:r>
              <a:rPr lang="ko-KR" altLang="en-US" dirty="0"/>
              <a:t>대한 예측을 집계하기 위해 사소한 </a:t>
            </a:r>
            <a:r>
              <a:rPr lang="ko-KR" altLang="en-US" dirty="0" smtClean="0"/>
              <a:t>함수 </a:t>
            </a:r>
            <a:r>
              <a:rPr lang="en-US" altLang="ko-KR" dirty="0"/>
              <a:t>(</a:t>
            </a:r>
            <a:r>
              <a:rPr lang="ko-KR" altLang="en-US" dirty="0"/>
              <a:t>예 </a:t>
            </a:r>
            <a:r>
              <a:rPr lang="en-US" altLang="ko-KR" dirty="0"/>
              <a:t>: </a:t>
            </a:r>
            <a:r>
              <a:rPr lang="ko-KR" altLang="en-US" dirty="0"/>
              <a:t>하드 </a:t>
            </a:r>
            <a:r>
              <a:rPr lang="ko-KR" altLang="en-US" dirty="0" err="1" smtClean="0"/>
              <a:t>보팅</a:t>
            </a:r>
            <a:r>
              <a:rPr lang="en-US" altLang="ko-KR" dirty="0" smtClean="0"/>
              <a:t>)</a:t>
            </a:r>
            <a:r>
              <a:rPr lang="ko-KR" altLang="en-US" dirty="0"/>
              <a:t>을 사용하는 </a:t>
            </a:r>
            <a:r>
              <a:rPr lang="ko-KR" altLang="en-US" dirty="0" smtClean="0"/>
              <a:t>대신 이 </a:t>
            </a:r>
            <a:r>
              <a:rPr lang="ko-KR" altLang="en-US" dirty="0"/>
              <a:t>집계를 수행하는 </a:t>
            </a:r>
            <a:r>
              <a:rPr lang="ko-KR" altLang="en-US" dirty="0" smtClean="0"/>
              <a:t>모델을 학습</a:t>
            </a:r>
            <a:endParaRPr lang="en-US" altLang="ko-KR" dirty="0" smtClean="0"/>
          </a:p>
          <a:p>
            <a:pPr lvl="1"/>
            <a:r>
              <a:rPr lang="ko-KR" altLang="en-US" dirty="0"/>
              <a:t>하위 세 가지 </a:t>
            </a:r>
            <a:r>
              <a:rPr lang="ko-KR" altLang="en-US" dirty="0" err="1" smtClean="0"/>
              <a:t>예측기는</a:t>
            </a:r>
            <a:r>
              <a:rPr lang="ko-KR" altLang="en-US" dirty="0" smtClean="0"/>
              <a:t> </a:t>
            </a:r>
            <a:r>
              <a:rPr lang="ko-KR" altLang="en-US" dirty="0"/>
              <a:t>각각 다른 값 </a:t>
            </a:r>
            <a:r>
              <a:rPr lang="en-US" altLang="ko-KR" dirty="0"/>
              <a:t>(3.1, 2.7 </a:t>
            </a:r>
            <a:r>
              <a:rPr lang="ko-KR" altLang="en-US" dirty="0"/>
              <a:t>및 </a:t>
            </a:r>
            <a:r>
              <a:rPr lang="en-US" altLang="ko-KR" dirty="0"/>
              <a:t>2.9)</a:t>
            </a:r>
            <a:r>
              <a:rPr lang="ko-KR" altLang="en-US" dirty="0"/>
              <a:t>을 예측 한 다음 최종 </a:t>
            </a:r>
            <a:r>
              <a:rPr lang="ko-KR" altLang="en-US" dirty="0" err="1" smtClean="0"/>
              <a:t>예측기</a:t>
            </a:r>
            <a:r>
              <a:rPr lang="ko-KR" altLang="en-US" dirty="0" smtClean="0"/>
              <a:t> </a:t>
            </a:r>
            <a:r>
              <a:rPr lang="en-US" altLang="ko-KR" dirty="0"/>
              <a:t>(</a:t>
            </a:r>
            <a:r>
              <a:rPr lang="ko-KR" altLang="en-US" dirty="0" err="1"/>
              <a:t>블렌더</a:t>
            </a:r>
            <a:r>
              <a:rPr lang="ko-KR" altLang="en-US" dirty="0"/>
              <a:t> 또는 메타 </a:t>
            </a:r>
            <a:r>
              <a:rPr lang="ko-KR" altLang="en-US" dirty="0" err="1"/>
              <a:t>학습기라고</a:t>
            </a:r>
            <a:r>
              <a:rPr lang="ko-KR" altLang="en-US" dirty="0"/>
              <a:t> 함</a:t>
            </a:r>
            <a:r>
              <a:rPr lang="en-US" altLang="ko-KR" dirty="0"/>
              <a:t>)</a:t>
            </a:r>
            <a:r>
              <a:rPr lang="ko-KR" altLang="en-US" dirty="0"/>
              <a:t>는 이러한 예측을 입력으로 받아 최종 예측 </a:t>
            </a:r>
            <a:r>
              <a:rPr lang="en-US" altLang="ko-KR" dirty="0"/>
              <a:t>(3.0)</a:t>
            </a:r>
            <a:r>
              <a:rPr lang="ko-KR" altLang="en-US" dirty="0" smtClean="0"/>
              <a:t>을 함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756" y="1450429"/>
            <a:ext cx="4926836" cy="446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487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Stacking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636131"/>
            <a:ext cx="10515600" cy="859196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블렌더를</a:t>
            </a:r>
            <a:r>
              <a:rPr lang="ko-KR" altLang="en-US" dirty="0"/>
              <a:t> 훈련하기 위해 </a:t>
            </a:r>
            <a:r>
              <a:rPr lang="ko-KR" altLang="en-US" dirty="0" smtClean="0"/>
              <a:t>홀드 아웃 </a:t>
            </a:r>
            <a:r>
              <a:rPr lang="en-US" altLang="ko-KR" dirty="0"/>
              <a:t>(</a:t>
            </a:r>
            <a:r>
              <a:rPr lang="en-US" altLang="ko-KR" dirty="0" smtClean="0"/>
              <a:t>hold-out)</a:t>
            </a:r>
            <a:r>
              <a:rPr lang="ko-KR" altLang="en-US" dirty="0" smtClean="0"/>
              <a:t> </a:t>
            </a:r>
            <a:r>
              <a:rPr lang="ko-KR" altLang="en-US" dirty="0"/>
              <a:t>세트를 </a:t>
            </a:r>
            <a:r>
              <a:rPr lang="ko-KR" altLang="en-US" dirty="0" smtClean="0"/>
              <a:t>사용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243" y="2940211"/>
            <a:ext cx="5721048" cy="3768499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096000" y="2495327"/>
            <a:ext cx="5060301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 smtClean="0">
                <a:latin typeface="LiberationSerif"/>
              </a:rPr>
              <a:t>먼저</a:t>
            </a:r>
            <a:r>
              <a:rPr lang="en-US" altLang="ko-KR" dirty="0" smtClean="0">
                <a:latin typeface="LiberationSerif"/>
              </a:rPr>
              <a:t>, </a:t>
            </a:r>
            <a:r>
              <a:rPr lang="ko-KR" altLang="en-US" dirty="0">
                <a:latin typeface="LiberationSerif"/>
              </a:rPr>
              <a:t>훈련 </a:t>
            </a:r>
            <a:r>
              <a:rPr lang="ko-KR" altLang="en-US" dirty="0" smtClean="0">
                <a:latin typeface="LiberationSerif"/>
              </a:rPr>
              <a:t>세트를 </a:t>
            </a:r>
            <a:r>
              <a:rPr lang="ko-KR" altLang="en-US" dirty="0">
                <a:latin typeface="LiberationSerif"/>
              </a:rPr>
              <a:t>두 개의 하위 </a:t>
            </a:r>
            <a:r>
              <a:rPr lang="ko-KR" altLang="en-US" dirty="0" smtClean="0">
                <a:latin typeface="LiberationSerif"/>
              </a:rPr>
              <a:t>집합으로 나눔</a:t>
            </a:r>
            <a:r>
              <a:rPr lang="en-US" altLang="ko-KR" dirty="0" smtClean="0">
                <a:latin typeface="LiberationSerif"/>
              </a:rPr>
              <a:t>.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6096000" y="3452034"/>
            <a:ext cx="5735216" cy="6463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>
                <a:latin typeface="LiberationSerif"/>
              </a:rPr>
              <a:t>첫 번째 부분 집합은 첫 번째 계층에서 </a:t>
            </a:r>
            <a:r>
              <a:rPr lang="ko-KR" altLang="en-US" dirty="0" err="1" smtClean="0">
                <a:latin typeface="LiberationSerif"/>
              </a:rPr>
              <a:t>예측기를</a:t>
            </a:r>
            <a:r>
              <a:rPr lang="ko-KR" altLang="en-US" dirty="0" smtClean="0">
                <a:latin typeface="LiberationSerif"/>
              </a:rPr>
              <a:t> </a:t>
            </a:r>
            <a:r>
              <a:rPr lang="ko-KR" altLang="en-US" dirty="0">
                <a:latin typeface="LiberationSerif"/>
              </a:rPr>
              <a:t>훈련하는 데 사용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6096000" y="5256520"/>
            <a:ext cx="5809861" cy="6463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 smtClean="0">
                <a:latin typeface="LiberationSerif"/>
              </a:rPr>
              <a:t>두 번째 부분집합 </a:t>
            </a:r>
            <a:r>
              <a:rPr lang="en-US" altLang="ko-KR" dirty="0" smtClean="0">
                <a:latin typeface="LiberationSerif"/>
              </a:rPr>
              <a:t>(</a:t>
            </a:r>
            <a:r>
              <a:rPr lang="en-US" altLang="ko-KR" dirty="0" smtClean="0"/>
              <a:t>hold-out</a:t>
            </a:r>
            <a:r>
              <a:rPr lang="en-US" altLang="ko-KR" dirty="0" smtClean="0">
                <a:latin typeface="LiberationSerif"/>
              </a:rPr>
              <a:t> </a:t>
            </a:r>
            <a:r>
              <a:rPr lang="ko-KR" altLang="en-US" dirty="0" smtClean="0">
                <a:latin typeface="LiberationSerif"/>
              </a:rPr>
              <a:t>집합</a:t>
            </a:r>
            <a:r>
              <a:rPr lang="en-US" altLang="ko-KR" dirty="0" smtClean="0">
                <a:latin typeface="LiberationSerif"/>
              </a:rPr>
              <a:t>)</a:t>
            </a:r>
            <a:r>
              <a:rPr lang="ko-KR" altLang="en-US" dirty="0" smtClean="0">
                <a:latin typeface="LiberationSerif"/>
              </a:rPr>
              <a:t>에 </a:t>
            </a:r>
            <a:r>
              <a:rPr lang="ko-KR" altLang="en-US" dirty="0">
                <a:latin typeface="LiberationSerif"/>
              </a:rPr>
              <a:t>대한 첫 번째 레이어 </a:t>
            </a:r>
            <a:r>
              <a:rPr lang="ko-KR" altLang="en-US" dirty="0" err="1">
                <a:latin typeface="LiberationSerif"/>
              </a:rPr>
              <a:t>예측기들의</a:t>
            </a:r>
            <a:r>
              <a:rPr lang="ko-KR" altLang="en-US" dirty="0">
                <a:latin typeface="LiberationSerif"/>
              </a:rPr>
              <a:t> </a:t>
            </a:r>
            <a:r>
              <a:rPr lang="ko-KR" altLang="en-US" dirty="0" err="1" smtClean="0">
                <a:latin typeface="LiberationSerif"/>
              </a:rPr>
              <a:t>예측값을</a:t>
            </a:r>
            <a:r>
              <a:rPr lang="ko-KR" altLang="en-US" dirty="0" smtClean="0">
                <a:latin typeface="LiberationSerif"/>
              </a:rPr>
              <a:t> 생성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11406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Stacking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716" y="1756003"/>
            <a:ext cx="4955132" cy="49063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31294" y="1756003"/>
            <a:ext cx="582385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hold-out</a:t>
            </a:r>
            <a:r>
              <a:rPr lang="en-US" altLang="ko-KR" dirty="0">
                <a:latin typeface="LiberationSerif"/>
              </a:rPr>
              <a:t> </a:t>
            </a:r>
            <a:r>
              <a:rPr lang="ko-KR" altLang="en-US" dirty="0" smtClean="0">
                <a:latin typeface="LiberationSerif"/>
              </a:rPr>
              <a:t>집합에 대한 첫 번째 층 </a:t>
            </a:r>
            <a:r>
              <a:rPr lang="ko-KR" altLang="en-US" dirty="0" err="1" smtClean="0">
                <a:latin typeface="LiberationSerif"/>
              </a:rPr>
              <a:t>예측기들의</a:t>
            </a:r>
            <a:r>
              <a:rPr lang="ko-KR" altLang="en-US" dirty="0" smtClean="0">
                <a:latin typeface="LiberationSerif"/>
              </a:rPr>
              <a:t> </a:t>
            </a:r>
            <a:r>
              <a:rPr lang="ko-KR" altLang="en-US" dirty="0" err="1" smtClean="0">
                <a:latin typeface="LiberationSerif"/>
              </a:rPr>
              <a:t>출력값이</a:t>
            </a:r>
            <a:r>
              <a:rPr lang="ko-KR" altLang="en-US" dirty="0" smtClean="0">
                <a:latin typeface="LiberationSerif"/>
              </a:rPr>
              <a:t> </a:t>
            </a:r>
            <a:r>
              <a:rPr lang="ko-KR" altLang="en-US" dirty="0" err="1" smtClean="0">
                <a:latin typeface="LiberationSerif"/>
              </a:rPr>
              <a:t>블렌더의</a:t>
            </a:r>
            <a:r>
              <a:rPr lang="ko-KR" altLang="en-US" dirty="0" smtClean="0">
                <a:latin typeface="LiberationSerif"/>
              </a:rPr>
              <a:t> 학습 </a:t>
            </a:r>
            <a:r>
              <a:rPr lang="ko-KR" altLang="en-US" dirty="0" err="1" smtClean="0">
                <a:latin typeface="LiberationSerif"/>
              </a:rPr>
              <a:t>입력값이</a:t>
            </a:r>
            <a:r>
              <a:rPr lang="ko-KR" altLang="en-US" dirty="0" smtClean="0">
                <a:latin typeface="LiberationSerif"/>
              </a:rPr>
              <a:t> 됨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6231294" y="3029730"/>
            <a:ext cx="5801588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ko-KR" altLang="en-US" dirty="0" err="1" smtClean="0">
                <a:latin typeface="LiberationSerif"/>
              </a:rPr>
              <a:t>블렌더는</a:t>
            </a:r>
            <a:r>
              <a:rPr lang="ko-KR" altLang="en-US" dirty="0" smtClean="0">
                <a:latin typeface="LiberationSerif"/>
              </a:rPr>
              <a:t> 바로 이 새로운 학습 데이터를 이용하여 학습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50947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Stacking in </a:t>
            </a:r>
            <a:r>
              <a:rPr lang="en-US" altLang="ko-KR" dirty="0" err="1" smtClean="0"/>
              <a:t>sklearn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434375"/>
            <a:ext cx="10515600" cy="512626"/>
          </a:xfrm>
        </p:spPr>
        <p:txBody>
          <a:bodyPr/>
          <a:lstStyle/>
          <a:p>
            <a:r>
              <a:rPr lang="en-US" altLang="ko-KR" dirty="0" err="1" smtClean="0"/>
              <a:t>sklearn.ensemble.StackingClassifier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클래스 사용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023257" y="2055177"/>
            <a:ext cx="10550434" cy="452431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 err="1"/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sklearn.datasets</a:t>
            </a:r>
            <a:r>
              <a:rPr lang="ko-KR" altLang="en-US" dirty="0"/>
              <a:t> </a:t>
            </a:r>
            <a:r>
              <a:rPr lang="ko-KR" altLang="en-US" dirty="0" err="1"/>
              <a:t>import</a:t>
            </a:r>
            <a:r>
              <a:rPr lang="ko-KR" altLang="en-US" dirty="0"/>
              <a:t> </a:t>
            </a:r>
            <a:r>
              <a:rPr lang="ko-KR" altLang="en-US" dirty="0" err="1"/>
              <a:t>load_iris</a:t>
            </a:r>
            <a:endParaRPr lang="ko-KR" altLang="en-US" dirty="0"/>
          </a:p>
          <a:p>
            <a:r>
              <a:rPr lang="ko-KR" altLang="en-US" dirty="0" err="1"/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sklearn.ensemble</a:t>
            </a:r>
            <a:r>
              <a:rPr lang="ko-KR" altLang="en-US" dirty="0"/>
              <a:t> </a:t>
            </a:r>
            <a:r>
              <a:rPr lang="ko-KR" altLang="en-US" dirty="0" err="1"/>
              <a:t>import</a:t>
            </a:r>
            <a:r>
              <a:rPr lang="ko-KR" altLang="en-US" dirty="0"/>
              <a:t> </a:t>
            </a:r>
            <a:r>
              <a:rPr lang="ko-KR" altLang="en-US" dirty="0" err="1"/>
              <a:t>RandomForestClassifier</a:t>
            </a:r>
            <a:endParaRPr lang="ko-KR" altLang="en-US" dirty="0"/>
          </a:p>
          <a:p>
            <a:r>
              <a:rPr lang="ko-KR" altLang="en-US" dirty="0" err="1"/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sklearn.svm</a:t>
            </a:r>
            <a:r>
              <a:rPr lang="ko-KR" altLang="en-US" dirty="0"/>
              <a:t> </a:t>
            </a:r>
            <a:r>
              <a:rPr lang="ko-KR" altLang="en-US" dirty="0" err="1"/>
              <a:t>import</a:t>
            </a:r>
            <a:r>
              <a:rPr lang="ko-KR" altLang="en-US" dirty="0"/>
              <a:t> </a:t>
            </a:r>
            <a:r>
              <a:rPr lang="ko-KR" altLang="en-US" dirty="0" err="1"/>
              <a:t>LinearSVC</a:t>
            </a:r>
            <a:endParaRPr lang="ko-KR" altLang="en-US" dirty="0"/>
          </a:p>
          <a:p>
            <a:r>
              <a:rPr lang="ko-KR" altLang="en-US" dirty="0" err="1"/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sklearn.linear_model</a:t>
            </a:r>
            <a:r>
              <a:rPr lang="ko-KR" altLang="en-US" dirty="0"/>
              <a:t> </a:t>
            </a:r>
            <a:r>
              <a:rPr lang="ko-KR" altLang="en-US" dirty="0" err="1"/>
              <a:t>import</a:t>
            </a:r>
            <a:r>
              <a:rPr lang="ko-KR" altLang="en-US" dirty="0"/>
              <a:t> </a:t>
            </a:r>
            <a:r>
              <a:rPr lang="ko-KR" altLang="en-US" dirty="0" err="1"/>
              <a:t>LogisticRegression</a:t>
            </a:r>
            <a:endParaRPr lang="ko-KR" altLang="en-US" dirty="0"/>
          </a:p>
          <a:p>
            <a:r>
              <a:rPr lang="ko-KR" altLang="en-US" dirty="0" err="1"/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sklearn.preprocessing</a:t>
            </a:r>
            <a:r>
              <a:rPr lang="ko-KR" altLang="en-US" dirty="0"/>
              <a:t> </a:t>
            </a:r>
            <a:r>
              <a:rPr lang="ko-KR" altLang="en-US" dirty="0" err="1"/>
              <a:t>import</a:t>
            </a:r>
            <a:r>
              <a:rPr lang="ko-KR" altLang="en-US" dirty="0"/>
              <a:t> </a:t>
            </a:r>
            <a:r>
              <a:rPr lang="ko-KR" altLang="en-US" dirty="0" err="1"/>
              <a:t>StandardScaler</a:t>
            </a:r>
            <a:endParaRPr lang="ko-KR" altLang="en-US" dirty="0"/>
          </a:p>
          <a:p>
            <a:r>
              <a:rPr lang="ko-KR" altLang="en-US" dirty="0" err="1"/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sklearn.pipeline</a:t>
            </a:r>
            <a:r>
              <a:rPr lang="ko-KR" altLang="en-US" dirty="0"/>
              <a:t> </a:t>
            </a:r>
            <a:r>
              <a:rPr lang="ko-KR" altLang="en-US" dirty="0" err="1"/>
              <a:t>import</a:t>
            </a:r>
            <a:r>
              <a:rPr lang="ko-KR" altLang="en-US" dirty="0"/>
              <a:t> </a:t>
            </a:r>
            <a:r>
              <a:rPr lang="ko-KR" altLang="en-US" dirty="0" err="1"/>
              <a:t>make_pipeline</a:t>
            </a:r>
            <a:endParaRPr lang="ko-KR" altLang="en-US" dirty="0"/>
          </a:p>
          <a:p>
            <a:r>
              <a:rPr lang="ko-KR" altLang="en-US" dirty="0" err="1"/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sklearn.ensemble</a:t>
            </a:r>
            <a:r>
              <a:rPr lang="ko-KR" altLang="en-US" dirty="0"/>
              <a:t> </a:t>
            </a:r>
            <a:r>
              <a:rPr lang="ko-KR" altLang="en-US" dirty="0" err="1"/>
              <a:t>import</a:t>
            </a:r>
            <a:r>
              <a:rPr lang="ko-KR" altLang="en-US" dirty="0"/>
              <a:t> </a:t>
            </a:r>
            <a:r>
              <a:rPr lang="ko-KR" altLang="en-US" dirty="0" err="1"/>
              <a:t>StackingClassifier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 err="1"/>
              <a:t>X</a:t>
            </a:r>
            <a:r>
              <a:rPr lang="ko-KR" altLang="en-US" dirty="0"/>
              <a:t>, </a:t>
            </a:r>
            <a:r>
              <a:rPr lang="ko-KR" altLang="en-US" dirty="0" err="1"/>
              <a:t>y</a:t>
            </a:r>
            <a:r>
              <a:rPr lang="ko-KR" altLang="en-US" dirty="0"/>
              <a:t> = </a:t>
            </a:r>
            <a:r>
              <a:rPr lang="ko-KR" altLang="en-US" dirty="0" err="1"/>
              <a:t>load_iris</a:t>
            </a:r>
            <a:r>
              <a:rPr lang="ko-KR" altLang="en-US" dirty="0"/>
              <a:t>(</a:t>
            </a:r>
            <a:r>
              <a:rPr lang="ko-KR" altLang="en-US" dirty="0" err="1"/>
              <a:t>return_X_y</a:t>
            </a:r>
            <a:r>
              <a:rPr lang="ko-KR" altLang="en-US" dirty="0"/>
              <a:t>=</a:t>
            </a:r>
            <a:r>
              <a:rPr lang="ko-KR" altLang="en-US" dirty="0" err="1"/>
              <a:t>True</a:t>
            </a:r>
            <a:r>
              <a:rPr lang="ko-KR" altLang="en-US" dirty="0"/>
              <a:t>)</a:t>
            </a:r>
          </a:p>
          <a:p>
            <a:r>
              <a:rPr lang="ko-KR" altLang="en-US" dirty="0" err="1"/>
              <a:t>estimators</a:t>
            </a:r>
            <a:r>
              <a:rPr lang="ko-KR" altLang="en-US" dirty="0"/>
              <a:t> = [('</a:t>
            </a:r>
            <a:r>
              <a:rPr lang="ko-KR" altLang="en-US" dirty="0" err="1"/>
              <a:t>rf</a:t>
            </a:r>
            <a:r>
              <a:rPr lang="ko-KR" altLang="en-US" dirty="0"/>
              <a:t>', </a:t>
            </a:r>
            <a:r>
              <a:rPr lang="ko-KR" altLang="en-US" dirty="0" err="1"/>
              <a:t>RandomForestClassifier</a:t>
            </a:r>
            <a:r>
              <a:rPr lang="ko-KR" altLang="en-US" dirty="0"/>
              <a:t>(</a:t>
            </a:r>
            <a:r>
              <a:rPr lang="ko-KR" altLang="en-US" dirty="0" err="1"/>
              <a:t>n_estimators</a:t>
            </a:r>
            <a:r>
              <a:rPr lang="ko-KR" altLang="en-US" dirty="0"/>
              <a:t>=10, </a:t>
            </a:r>
            <a:r>
              <a:rPr lang="ko-KR" altLang="en-US" dirty="0" err="1"/>
              <a:t>random_state</a:t>
            </a:r>
            <a:r>
              <a:rPr lang="ko-KR" altLang="en-US" dirty="0"/>
              <a:t>=42)),</a:t>
            </a:r>
          </a:p>
          <a:p>
            <a:r>
              <a:rPr lang="ko-KR" altLang="en-US" dirty="0"/>
              <a:t>     ('</a:t>
            </a:r>
            <a:r>
              <a:rPr lang="ko-KR" altLang="en-US" dirty="0" err="1"/>
              <a:t>svr</a:t>
            </a:r>
            <a:r>
              <a:rPr lang="ko-KR" altLang="en-US" dirty="0"/>
              <a:t>', </a:t>
            </a:r>
            <a:r>
              <a:rPr lang="ko-KR" altLang="en-US" dirty="0" err="1"/>
              <a:t>make_pipeline</a:t>
            </a:r>
            <a:r>
              <a:rPr lang="ko-KR" altLang="en-US" dirty="0"/>
              <a:t>(</a:t>
            </a:r>
            <a:r>
              <a:rPr lang="ko-KR" altLang="en-US" dirty="0" err="1"/>
              <a:t>StandardScaler</a:t>
            </a:r>
            <a:r>
              <a:rPr lang="ko-KR" altLang="en-US" dirty="0"/>
              <a:t>(), </a:t>
            </a:r>
            <a:r>
              <a:rPr lang="ko-KR" altLang="en-US" dirty="0" err="1"/>
              <a:t>LinearSVC</a:t>
            </a:r>
            <a:r>
              <a:rPr lang="ko-KR" altLang="en-US" dirty="0"/>
              <a:t>(</a:t>
            </a:r>
            <a:r>
              <a:rPr lang="ko-KR" altLang="en-US" dirty="0" err="1"/>
              <a:t>random_state</a:t>
            </a:r>
            <a:r>
              <a:rPr lang="ko-KR" altLang="en-US" dirty="0"/>
              <a:t>=42)))]</a:t>
            </a:r>
          </a:p>
          <a:p>
            <a:r>
              <a:rPr lang="ko-KR" altLang="en-US" dirty="0" err="1"/>
              <a:t>clf</a:t>
            </a:r>
            <a:r>
              <a:rPr lang="ko-KR" altLang="en-US" dirty="0"/>
              <a:t> = </a:t>
            </a:r>
            <a:r>
              <a:rPr lang="ko-KR" altLang="en-US" dirty="0" err="1"/>
              <a:t>StackingClassifier</a:t>
            </a:r>
            <a:r>
              <a:rPr lang="ko-KR" altLang="en-US" dirty="0"/>
              <a:t>(</a:t>
            </a:r>
            <a:r>
              <a:rPr lang="ko-KR" altLang="en-US" dirty="0" err="1"/>
              <a:t>estimators</a:t>
            </a:r>
            <a:r>
              <a:rPr lang="ko-KR" altLang="en-US" dirty="0"/>
              <a:t>=</a:t>
            </a:r>
            <a:r>
              <a:rPr lang="ko-KR" altLang="en-US" dirty="0" err="1"/>
              <a:t>estimators</a:t>
            </a:r>
            <a:r>
              <a:rPr lang="ko-KR" altLang="en-US" dirty="0"/>
              <a:t>, </a:t>
            </a:r>
            <a:r>
              <a:rPr lang="ko-KR" altLang="en-US" dirty="0" err="1"/>
              <a:t>final_estimator</a:t>
            </a:r>
            <a:r>
              <a:rPr lang="ko-KR" altLang="en-US" dirty="0"/>
              <a:t>=</a:t>
            </a:r>
            <a:r>
              <a:rPr lang="ko-KR" altLang="en-US" dirty="0" err="1"/>
              <a:t>LogisticRegression</a:t>
            </a:r>
            <a:r>
              <a:rPr lang="ko-KR" altLang="en-US" dirty="0"/>
              <a:t>())</a:t>
            </a:r>
          </a:p>
          <a:p>
            <a:endParaRPr lang="ko-KR" altLang="en-US" dirty="0"/>
          </a:p>
          <a:p>
            <a:r>
              <a:rPr lang="ko-KR" altLang="en-US" dirty="0" err="1"/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sklearn.model_selection</a:t>
            </a:r>
            <a:r>
              <a:rPr lang="ko-KR" altLang="en-US" dirty="0"/>
              <a:t> </a:t>
            </a:r>
            <a:r>
              <a:rPr lang="ko-KR" altLang="en-US" dirty="0" err="1"/>
              <a:t>import</a:t>
            </a:r>
            <a:r>
              <a:rPr lang="ko-KR" altLang="en-US" dirty="0"/>
              <a:t> </a:t>
            </a:r>
            <a:r>
              <a:rPr lang="ko-KR" altLang="en-US" dirty="0" err="1"/>
              <a:t>train_test_split</a:t>
            </a:r>
            <a:endParaRPr lang="ko-KR" altLang="en-US" dirty="0"/>
          </a:p>
          <a:p>
            <a:r>
              <a:rPr lang="ko-KR" altLang="en-US" dirty="0" err="1"/>
              <a:t>X_train</a:t>
            </a:r>
            <a:r>
              <a:rPr lang="ko-KR" altLang="en-US" dirty="0"/>
              <a:t>, </a:t>
            </a:r>
            <a:r>
              <a:rPr lang="ko-KR" altLang="en-US" dirty="0" err="1"/>
              <a:t>X_test</a:t>
            </a:r>
            <a:r>
              <a:rPr lang="ko-KR" altLang="en-US" dirty="0"/>
              <a:t>, </a:t>
            </a:r>
            <a:r>
              <a:rPr lang="ko-KR" altLang="en-US" dirty="0" err="1"/>
              <a:t>y_train</a:t>
            </a:r>
            <a:r>
              <a:rPr lang="ko-KR" altLang="en-US" dirty="0"/>
              <a:t>, </a:t>
            </a:r>
            <a:r>
              <a:rPr lang="ko-KR" altLang="en-US" dirty="0" err="1"/>
              <a:t>y_test</a:t>
            </a:r>
            <a:r>
              <a:rPr lang="ko-KR" altLang="en-US" dirty="0"/>
              <a:t> = </a:t>
            </a:r>
            <a:r>
              <a:rPr lang="ko-KR" altLang="en-US" dirty="0" err="1"/>
              <a:t>train_test_split</a:t>
            </a:r>
            <a:r>
              <a:rPr lang="ko-KR" altLang="en-US" dirty="0"/>
              <a:t>(</a:t>
            </a:r>
            <a:r>
              <a:rPr lang="ko-KR" altLang="en-US" dirty="0" err="1"/>
              <a:t>X</a:t>
            </a:r>
            <a:r>
              <a:rPr lang="ko-KR" altLang="en-US" dirty="0"/>
              <a:t>, </a:t>
            </a:r>
            <a:r>
              <a:rPr lang="ko-KR" altLang="en-US" dirty="0" err="1"/>
              <a:t>y</a:t>
            </a:r>
            <a:r>
              <a:rPr lang="ko-KR" altLang="en-US" dirty="0"/>
              <a:t>, </a:t>
            </a:r>
            <a:r>
              <a:rPr lang="ko-KR" altLang="en-US" dirty="0" err="1"/>
              <a:t>stratify</a:t>
            </a:r>
            <a:r>
              <a:rPr lang="ko-KR" altLang="en-US" dirty="0"/>
              <a:t>=</a:t>
            </a:r>
            <a:r>
              <a:rPr lang="ko-KR" altLang="en-US" dirty="0" err="1"/>
              <a:t>y</a:t>
            </a:r>
            <a:r>
              <a:rPr lang="ko-KR" altLang="en-US" dirty="0"/>
              <a:t>, </a:t>
            </a:r>
            <a:r>
              <a:rPr lang="ko-KR" altLang="en-US" dirty="0" err="1"/>
              <a:t>random_state</a:t>
            </a:r>
            <a:r>
              <a:rPr lang="ko-KR" altLang="en-US" dirty="0"/>
              <a:t>=42)</a:t>
            </a:r>
          </a:p>
          <a:p>
            <a:r>
              <a:rPr lang="ko-KR" altLang="en-US" dirty="0" err="1"/>
              <a:t>print</a:t>
            </a:r>
            <a:r>
              <a:rPr lang="ko-KR" altLang="en-US" dirty="0"/>
              <a:t>(</a:t>
            </a:r>
            <a:r>
              <a:rPr lang="ko-KR" altLang="en-US" dirty="0" err="1"/>
              <a:t>clf.fit</a:t>
            </a:r>
            <a:r>
              <a:rPr lang="ko-KR" altLang="en-US" dirty="0"/>
              <a:t>(</a:t>
            </a:r>
            <a:r>
              <a:rPr lang="ko-KR" altLang="en-US" dirty="0" err="1"/>
              <a:t>X_train</a:t>
            </a:r>
            <a:r>
              <a:rPr lang="ko-KR" altLang="en-US" dirty="0"/>
              <a:t>, </a:t>
            </a:r>
            <a:r>
              <a:rPr lang="ko-KR" altLang="en-US" dirty="0" err="1"/>
              <a:t>y_train</a:t>
            </a:r>
            <a:r>
              <a:rPr lang="ko-KR" altLang="en-US" dirty="0"/>
              <a:t>).</a:t>
            </a:r>
            <a:r>
              <a:rPr lang="ko-KR" altLang="en-US" dirty="0" err="1"/>
              <a:t>score</a:t>
            </a:r>
            <a:r>
              <a:rPr lang="ko-KR" altLang="en-US" dirty="0"/>
              <a:t>(</a:t>
            </a:r>
            <a:r>
              <a:rPr lang="ko-KR" altLang="en-US" dirty="0" err="1"/>
              <a:t>X_test</a:t>
            </a:r>
            <a:r>
              <a:rPr lang="ko-KR" altLang="en-US" dirty="0"/>
              <a:t>, </a:t>
            </a:r>
            <a:r>
              <a:rPr lang="ko-KR" altLang="en-US" dirty="0" err="1"/>
              <a:t>y_test</a:t>
            </a:r>
            <a:r>
              <a:rPr lang="ko-KR" altLang="en-US" dirty="0"/>
              <a:t>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1691" y="2575034"/>
            <a:ext cx="4444075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로지스틱</a:t>
            </a:r>
            <a:r>
              <a:rPr lang="ko-KR" altLang="en-US" b="1" dirty="0"/>
              <a:t> 회귀</a:t>
            </a:r>
            <a:r>
              <a:rPr lang="en-US" altLang="ko-KR" b="1" dirty="0"/>
              <a:t>(Logistic Regression)</a:t>
            </a:r>
            <a:r>
              <a:rPr lang="ko-KR" altLang="en-US" dirty="0"/>
              <a:t>는 회귀를 사용하여 데이터가 어떤 범주에 속할 확률을 </a:t>
            </a:r>
            <a:r>
              <a:rPr lang="en-US" altLang="ko-KR" dirty="0"/>
              <a:t>0</a:t>
            </a:r>
            <a:r>
              <a:rPr lang="ko-KR" altLang="en-US" dirty="0"/>
              <a:t>에서 </a:t>
            </a:r>
            <a:r>
              <a:rPr lang="en-US" altLang="ko-KR" dirty="0"/>
              <a:t>1 </a:t>
            </a:r>
            <a:r>
              <a:rPr lang="ko-KR" altLang="en-US" dirty="0"/>
              <a:t>사이의 값으로 예측하고 그 확률에 따라 가능성이 더 높은 범주에 속하는 것으로 분류해주는 지도 학습 알고리즘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0675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Bagging vs boosting vs </a:t>
            </a:r>
            <a:r>
              <a:rPr lang="en-US" altLang="ko-KR" b="1" dirty="0"/>
              <a:t>stacking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배깅</a:t>
            </a:r>
            <a:r>
              <a:rPr lang="en-US" altLang="ko-KR" dirty="0" smtClean="0"/>
              <a:t> : </a:t>
            </a:r>
            <a:r>
              <a:rPr lang="ko-KR" altLang="en-US" dirty="0" err="1" smtClean="0"/>
              <a:t>학습기들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ko-KR" altLang="en-US" dirty="0" smtClean="0"/>
              <a:t>보통 </a:t>
            </a:r>
            <a:r>
              <a:rPr lang="ko-KR" altLang="en-US" dirty="0"/>
              <a:t>동질적인 약한 </a:t>
            </a:r>
            <a:r>
              <a:rPr lang="ko-KR" altLang="en-US" dirty="0" err="1" smtClean="0"/>
              <a:t>학습기</a:t>
            </a:r>
            <a:r>
              <a:rPr lang="en-US" altLang="ko-KR" dirty="0" smtClean="0"/>
              <a:t>)</a:t>
            </a:r>
            <a:r>
              <a:rPr lang="ko-KR" altLang="en-US" dirty="0" smtClean="0"/>
              <a:t>을 서로 </a:t>
            </a:r>
            <a:r>
              <a:rPr lang="ko-KR" altLang="en-US" dirty="0"/>
              <a:t>독립적으로 학습하고 </a:t>
            </a:r>
            <a:r>
              <a:rPr lang="ko-KR" altLang="en-US" dirty="0" smtClean="0"/>
              <a:t>결정 시 일종의 </a:t>
            </a:r>
            <a:r>
              <a:rPr lang="ko-KR" altLang="en-US" dirty="0" smtClean="0"/>
              <a:t>평균화 </a:t>
            </a:r>
            <a:r>
              <a:rPr lang="ko-KR" altLang="en-US" dirty="0"/>
              <a:t>과정에 따라 </a:t>
            </a:r>
            <a:r>
              <a:rPr lang="ko-KR" altLang="en-US" dirty="0" smtClean="0"/>
              <a:t>결과를 결합</a:t>
            </a:r>
            <a:endParaRPr lang="en-US" altLang="ko-KR" dirty="0" smtClean="0"/>
          </a:p>
          <a:p>
            <a:r>
              <a:rPr lang="ko-KR" altLang="en-US" dirty="0" err="1" smtClean="0"/>
              <a:t>부스팅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학습기들</a:t>
            </a:r>
            <a:r>
              <a:rPr lang="ko-KR" altLang="en-US" dirty="0" smtClean="0"/>
              <a:t> </a:t>
            </a:r>
            <a:r>
              <a:rPr lang="en-US" altLang="ko-KR" dirty="0"/>
              <a:t>(</a:t>
            </a:r>
            <a:r>
              <a:rPr lang="ko-KR" altLang="en-US" dirty="0"/>
              <a:t>보통 동질적인 약한 </a:t>
            </a:r>
            <a:r>
              <a:rPr lang="ko-KR" altLang="en-US" dirty="0" err="1"/>
              <a:t>학습기</a:t>
            </a:r>
            <a:r>
              <a:rPr lang="en-US" altLang="ko-KR" dirty="0" smtClean="0"/>
              <a:t>)</a:t>
            </a:r>
            <a:r>
              <a:rPr lang="ko-KR" altLang="en-US" dirty="0" smtClean="0"/>
              <a:t>을 매우 </a:t>
            </a:r>
            <a:r>
              <a:rPr lang="ko-KR" altLang="en-US" dirty="0"/>
              <a:t>적응적인 방식으로 순차적으로 학습하고 </a:t>
            </a:r>
            <a:r>
              <a:rPr lang="en-US" altLang="ko-KR" dirty="0"/>
              <a:t>(</a:t>
            </a:r>
            <a:r>
              <a:rPr lang="ko-KR" altLang="en-US" dirty="0"/>
              <a:t>기본 모델은 이전 모델에 따라 다름</a:t>
            </a:r>
            <a:r>
              <a:rPr lang="en-US" altLang="ko-KR" dirty="0"/>
              <a:t>) </a:t>
            </a:r>
            <a:r>
              <a:rPr lang="ko-KR" altLang="en-US" dirty="0" smtClean="0"/>
              <a:t>정해진 전략에 </a:t>
            </a:r>
            <a:r>
              <a:rPr lang="ko-KR" altLang="en-US" dirty="0"/>
              <a:t>따라 </a:t>
            </a:r>
            <a:r>
              <a:rPr lang="ko-KR" altLang="en-US" dirty="0" smtClean="0"/>
              <a:t>결합</a:t>
            </a:r>
            <a:endParaRPr lang="en-US" altLang="ko-KR" dirty="0" smtClean="0"/>
          </a:p>
          <a:p>
            <a:r>
              <a:rPr lang="ko-KR" altLang="en-US" dirty="0" err="1" smtClean="0"/>
              <a:t>스택킹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학습기들</a:t>
            </a:r>
            <a:r>
              <a:rPr lang="ko-KR" altLang="en-US" dirty="0" smtClean="0"/>
              <a:t> </a:t>
            </a:r>
            <a:r>
              <a:rPr lang="en-US" altLang="ko-KR" dirty="0"/>
              <a:t>(</a:t>
            </a:r>
            <a:r>
              <a:rPr lang="ko-KR" altLang="en-US" dirty="0"/>
              <a:t>보통 </a:t>
            </a:r>
            <a:r>
              <a:rPr lang="ko-KR" altLang="en-US" dirty="0" smtClean="0"/>
              <a:t>이질적인 </a:t>
            </a:r>
            <a:r>
              <a:rPr lang="ko-KR" altLang="en-US" dirty="0"/>
              <a:t>약한 </a:t>
            </a:r>
            <a:r>
              <a:rPr lang="ko-KR" altLang="en-US" dirty="0" err="1"/>
              <a:t>학습기</a:t>
            </a:r>
            <a:r>
              <a:rPr lang="en-US" altLang="ko-KR" dirty="0" smtClean="0"/>
              <a:t>)</a:t>
            </a:r>
            <a:r>
              <a:rPr lang="ko-KR" altLang="en-US" dirty="0" smtClean="0"/>
              <a:t>을 병렬로 </a:t>
            </a:r>
            <a:r>
              <a:rPr lang="ko-KR" altLang="en-US" dirty="0"/>
              <a:t>학습하고 </a:t>
            </a:r>
            <a:r>
              <a:rPr lang="ko-KR" altLang="en-US" dirty="0" smtClean="0"/>
              <a:t>이 </a:t>
            </a:r>
            <a:r>
              <a:rPr lang="ko-KR" altLang="en-US" dirty="0" err="1" smtClean="0"/>
              <a:t>학습기들의</a:t>
            </a:r>
            <a:r>
              <a:rPr lang="ko-KR" altLang="en-US" dirty="0" smtClean="0"/>
              <a:t> 예측을 </a:t>
            </a:r>
            <a:r>
              <a:rPr lang="ko-KR" altLang="en-US" dirty="0"/>
              <a:t>기반으로 </a:t>
            </a:r>
            <a:r>
              <a:rPr lang="ko-KR" altLang="en-US" dirty="0" smtClean="0"/>
              <a:t>최종 예측을 </a:t>
            </a:r>
            <a:r>
              <a:rPr lang="ko-KR" altLang="en-US" dirty="0"/>
              <a:t>출력하기 위해 메타 모델을 훈련하여 결합</a:t>
            </a:r>
          </a:p>
        </p:txBody>
      </p:sp>
    </p:spTree>
    <p:extLst>
      <p:ext uri="{BB962C8B-B14F-4D97-AF65-F5344CB8AC3E}">
        <p14:creationId xmlns:p14="http://schemas.microsoft.com/office/powerpoint/2010/main" val="2865980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</TotalTime>
  <Words>1440</Words>
  <Application>Microsoft Office PowerPoint</Application>
  <PresentationFormat>와이드스크린</PresentationFormat>
  <Paragraphs>164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5" baseType="lpstr">
      <vt:lpstr>charter</vt:lpstr>
      <vt:lpstr>LiberationSerif-Bold</vt:lpstr>
      <vt:lpstr>LiberationSerif-Italic</vt:lpstr>
      <vt:lpstr>맑은 고딕</vt:lpstr>
      <vt:lpstr>Arial</vt:lpstr>
      <vt:lpstr>Cambria Math</vt:lpstr>
      <vt:lpstr>LiberationMono</vt:lpstr>
      <vt:lpstr>LiberationMono-Bold</vt:lpstr>
      <vt:lpstr>LiberationSerif</vt:lpstr>
      <vt:lpstr>Office 테마</vt:lpstr>
      <vt:lpstr>Ensemble Learning and Random Forests</vt:lpstr>
      <vt:lpstr>What is Ensemble Learning?</vt:lpstr>
      <vt:lpstr>Voting Classifiers</vt:lpstr>
      <vt:lpstr>Voting Classifiers</vt:lpstr>
      <vt:lpstr>Voting Classifiers</vt:lpstr>
      <vt:lpstr>Voting Classifiers</vt:lpstr>
      <vt:lpstr>Bagging and Pasting</vt:lpstr>
      <vt:lpstr>Bagging and Pasting</vt:lpstr>
      <vt:lpstr>Bagging and Pasting</vt:lpstr>
      <vt:lpstr>Bagging and Pasting</vt:lpstr>
      <vt:lpstr>Bagging and Pasting</vt:lpstr>
      <vt:lpstr>Bagging and Pasting</vt:lpstr>
      <vt:lpstr>Random Forests</vt:lpstr>
      <vt:lpstr>Random Forests in sklearn</vt:lpstr>
      <vt:lpstr>Random Forests</vt:lpstr>
      <vt:lpstr>Boosting</vt:lpstr>
      <vt:lpstr>AdaBoost</vt:lpstr>
      <vt:lpstr>AdaBoost</vt:lpstr>
      <vt:lpstr>AdaBoost</vt:lpstr>
      <vt:lpstr>AdaBoost in sklearn</vt:lpstr>
      <vt:lpstr>Stacking</vt:lpstr>
      <vt:lpstr>Stacking</vt:lpstr>
      <vt:lpstr>Stacking</vt:lpstr>
      <vt:lpstr>Stacking in sklearn</vt:lpstr>
      <vt:lpstr>Bagging vs boosting vs stacking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Ensemble Learning and Random Forests</dc:title>
  <dc:creator>bmKim</dc:creator>
  <cp:lastModifiedBy>user</cp:lastModifiedBy>
  <cp:revision>48</cp:revision>
  <dcterms:created xsi:type="dcterms:W3CDTF">2018-02-21T02:38:36Z</dcterms:created>
  <dcterms:modified xsi:type="dcterms:W3CDTF">2021-05-24T00:59:47Z</dcterms:modified>
</cp:coreProperties>
</file>