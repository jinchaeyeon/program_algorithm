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24"/>
  </p:notesMasterIdLst>
  <p:sldIdLst>
    <p:sldId id="25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7" r:id="rId22"/>
    <p:sldId id="29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0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DE0D54-3651-43CB-8FCE-347D86268705}" type="datetimeFigureOut">
              <a:rPr lang="ko-KR" altLang="en-US" smtClean="0"/>
              <a:t>2021-04-12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ECF9BD-2985-48A4-A26D-58633D082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244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fld id="{7B4D4A1F-C554-4834-8D0B-17DCD99FA969}" type="slidenum">
              <a:rPr lang="ko-KR" altLang="ko-KR" b="0">
                <a:solidFill>
                  <a:schemeClr val="tx1"/>
                </a:solidFill>
              </a:rPr>
              <a:pPr/>
              <a:t>3</a:t>
            </a:fld>
            <a:endParaRPr lang="ko-KR" altLang="ko-KR" b="0">
              <a:solidFill>
                <a:schemeClr val="tx1"/>
              </a:solidFill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112984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fld id="{CD30D495-98B3-4175-8602-77289A60B9B7}" type="slidenum">
              <a:rPr lang="en-US" altLang="ko-KR" b="0">
                <a:solidFill>
                  <a:schemeClr val="tx1"/>
                </a:solidFill>
              </a:rPr>
              <a:pPr/>
              <a:t>5</a:t>
            </a:fld>
            <a:endParaRPr lang="en-US" altLang="ko-KR" b="0">
              <a:solidFill>
                <a:schemeClr val="tx1"/>
              </a:solidFill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 smtClean="0"/>
          </a:p>
        </p:txBody>
      </p:sp>
    </p:spTree>
    <p:extLst>
      <p:ext uri="{BB962C8B-B14F-4D97-AF65-F5344CB8AC3E}">
        <p14:creationId xmlns:p14="http://schemas.microsoft.com/office/powerpoint/2010/main" val="1627420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fld id="{D8D6031D-B654-4A62-A3EF-EFF53F6DC98D}" type="slidenum">
              <a:rPr lang="en-US" altLang="ko-KR" b="0">
                <a:solidFill>
                  <a:schemeClr val="tx1"/>
                </a:solidFill>
              </a:rPr>
              <a:pPr/>
              <a:t>6</a:t>
            </a:fld>
            <a:endParaRPr lang="en-US" altLang="ko-KR" b="0">
              <a:solidFill>
                <a:schemeClr val="tx1"/>
              </a:solidFill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6238" y="687388"/>
            <a:ext cx="6105525" cy="3435350"/>
          </a:xfrm>
          <a:ln cap="flat"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9750"/>
            <a:ext cx="5029200" cy="41132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0" tIns="63500" rIns="127000" bIns="63500"/>
          <a:lstStyle/>
          <a:p>
            <a:pPr defTabSz="1914525"/>
            <a:endParaRPr lang="ko-KR" altLang="ko-KR" smtClean="0"/>
          </a:p>
        </p:txBody>
      </p:sp>
    </p:spTree>
    <p:extLst>
      <p:ext uri="{BB962C8B-B14F-4D97-AF65-F5344CB8AC3E}">
        <p14:creationId xmlns:p14="http://schemas.microsoft.com/office/powerpoint/2010/main" val="3548675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fld id="{62B658BF-5128-4007-86B6-99214BDF9B21}" type="slidenum">
              <a:rPr lang="ko-KR" altLang="en-US" b="0">
                <a:solidFill>
                  <a:schemeClr val="tx1"/>
                </a:solidFill>
              </a:rPr>
              <a:pPr/>
              <a:t>11</a:t>
            </a:fld>
            <a:endParaRPr lang="en-US" altLang="ko-KR" b="0">
              <a:solidFill>
                <a:schemeClr val="tx1"/>
              </a:solidFill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3956391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fld id="{7CE8F2CD-5BAF-4078-B4AE-6CC1F29ACC51}" type="slidenum">
              <a:rPr lang="ko-KR" altLang="en-US" b="0">
                <a:solidFill>
                  <a:schemeClr val="tx1"/>
                </a:solidFill>
              </a:rPr>
              <a:pPr/>
              <a:t>12</a:t>
            </a:fld>
            <a:endParaRPr lang="en-US" altLang="ko-KR" b="0">
              <a:solidFill>
                <a:schemeClr val="tx1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12340985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fld id="{75F85359-5B3A-45DC-B355-2AFD7B8983F3}" type="slidenum">
              <a:rPr lang="ko-KR" altLang="en-US" b="0">
                <a:solidFill>
                  <a:schemeClr val="tx1"/>
                </a:solidFill>
              </a:rPr>
              <a:pPr/>
              <a:t>13</a:t>
            </a:fld>
            <a:endParaRPr lang="en-US" altLang="ko-KR" b="0">
              <a:solidFill>
                <a:schemeClr val="tx1"/>
              </a:solidFill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2985512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fld id="{A1C6FEC0-A607-4FBE-9210-8EC2650F7FAC}" type="slidenum">
              <a:rPr lang="ko-KR" altLang="en-US" b="0">
                <a:solidFill>
                  <a:schemeClr val="tx1"/>
                </a:solidFill>
              </a:rPr>
              <a:pPr/>
              <a:t>14</a:t>
            </a:fld>
            <a:endParaRPr lang="en-US" altLang="ko-KR" b="0">
              <a:solidFill>
                <a:schemeClr val="tx1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23168003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fld id="{8BDF751F-4A8B-4924-8328-5F628AD484C6}" type="slidenum">
              <a:rPr lang="ko-KR" altLang="en-US" b="0">
                <a:solidFill>
                  <a:schemeClr val="tx1"/>
                </a:solidFill>
              </a:rPr>
              <a:pPr/>
              <a:t>15</a:t>
            </a:fld>
            <a:endParaRPr lang="en-US" altLang="ko-KR" b="0">
              <a:solidFill>
                <a:schemeClr val="tx1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9423629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fld id="{42F1C74A-8F87-48A4-BD6C-EEBD8FC47ED3}" type="slidenum">
              <a:rPr lang="ko-KR" altLang="en-US" b="0">
                <a:solidFill>
                  <a:schemeClr val="tx1"/>
                </a:solidFill>
              </a:rPr>
              <a:pPr/>
              <a:t>16</a:t>
            </a:fld>
            <a:endParaRPr lang="en-US" altLang="ko-KR" b="0">
              <a:solidFill>
                <a:schemeClr val="tx1"/>
              </a:solidFill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40425552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fld id="{6D4E5C9A-7573-4D0E-AF2B-BD1E18D83622}" type="slidenum">
              <a:rPr lang="ko-KR" altLang="en-US" b="0">
                <a:solidFill>
                  <a:schemeClr val="tx1"/>
                </a:solidFill>
              </a:rPr>
              <a:pPr/>
              <a:t>17</a:t>
            </a:fld>
            <a:endParaRPr lang="en-US" altLang="ko-KR" b="0">
              <a:solidFill>
                <a:schemeClr val="tx1"/>
              </a:solidFill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25413053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fld id="{48AB6B8A-FBCD-48FA-BB09-3000B4A682A3}" type="slidenum">
              <a:rPr lang="ko-KR" altLang="en-US" b="0">
                <a:solidFill>
                  <a:schemeClr val="tx1"/>
                </a:solidFill>
              </a:rPr>
              <a:pPr/>
              <a:t>18</a:t>
            </a:fld>
            <a:endParaRPr lang="en-US" altLang="ko-KR" b="0">
              <a:solidFill>
                <a:schemeClr val="tx1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343400"/>
            <a:ext cx="50260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ko-KR" smtClean="0"/>
          </a:p>
        </p:txBody>
      </p:sp>
    </p:spTree>
    <p:extLst>
      <p:ext uri="{BB962C8B-B14F-4D97-AF65-F5344CB8AC3E}">
        <p14:creationId xmlns:p14="http://schemas.microsoft.com/office/powerpoint/2010/main" val="1077115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fld id="{AA9DA6C2-1CD7-42BB-AA68-24E72CC5AEC2}" type="slidenum">
              <a:rPr lang="ko-KR" altLang="en-US" b="0">
                <a:solidFill>
                  <a:schemeClr val="tx1"/>
                </a:solidFill>
              </a:rPr>
              <a:pPr/>
              <a:t>19</a:t>
            </a:fld>
            <a:endParaRPr lang="en-US" altLang="ko-KR" b="0">
              <a:solidFill>
                <a:schemeClr val="tx1"/>
              </a:solidFill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23919308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fld id="{CE0F14A1-EE5F-462B-A3B5-8D1449E98B68}" type="slidenum">
              <a:rPr lang="ko-KR" altLang="en-US" b="0">
                <a:solidFill>
                  <a:schemeClr val="tx1"/>
                </a:solidFill>
              </a:rPr>
              <a:pPr/>
              <a:t>20</a:t>
            </a:fld>
            <a:endParaRPr lang="en-US" altLang="ko-KR" b="0">
              <a:solidFill>
                <a:schemeClr val="tx1"/>
              </a:solidFill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4135084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4/12/2021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813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4/12/2021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995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4/12/2021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030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4/12/2021</a:t>
            </a:fld>
            <a:endParaRPr 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515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4/12/2021</a:t>
            </a:fld>
            <a:endParaRPr 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273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4/12/2021</a:t>
            </a:fld>
            <a:endParaRPr 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466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4/12/2021</a:t>
            </a:fld>
            <a:endParaRPr 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471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4/12/2021</a:t>
            </a:fld>
            <a:endParaRPr 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382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4/12/2021</a:t>
            </a:fld>
            <a:endParaRPr 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966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4/12/2021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833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4/12/2021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227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4/12/2021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006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hyperlink" Target="http://www.eurimage.com/gallery/webfiles/thms/ers_oil_2.jpg" TargetMode="External"/><Relationship Id="rId5" Type="http://schemas.openxmlformats.org/officeDocument/2006/relationships/image" Target="../media/image5.jpeg"/><Relationship Id="rId4" Type="http://schemas.openxmlformats.org/officeDocument/2006/relationships/hyperlink" Target="http://earth.esa.int/ers/ers_action/tm_northsea256.jpg" TargetMode="External"/><Relationship Id="rId9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avanir.org/latin/Power-Industry-in-Iran/images/132kv-power-station.jp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clipseaviation.com/images/progress/Engine%20Fuel%20Pump_1.jp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Data Mining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5537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657600" y="304800"/>
            <a:ext cx="66294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ko-KR" altLang="en-US" smtClean="0"/>
              <a:t>의사결정을 위한 정보 추출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2971800"/>
            <a:ext cx="2209800" cy="3124200"/>
          </a:xfrm>
        </p:spPr>
        <p:txBody>
          <a:bodyPr/>
          <a:lstStyle/>
          <a:p>
            <a:pPr eaLnBrk="1" hangingPunct="1"/>
            <a:r>
              <a:rPr lang="ko-KR" altLang="en-US" sz="1600" dirty="0">
                <a:latin typeface="굴림" panose="020B0600000101010101" pitchFamily="50" charset="-127"/>
              </a:rPr>
              <a:t>인구통계</a:t>
            </a:r>
          </a:p>
          <a:p>
            <a:pPr eaLnBrk="1" hangingPunct="1"/>
            <a:r>
              <a:rPr lang="en-US" altLang="ko-KR" sz="1600" dirty="0">
                <a:latin typeface="굴림" panose="020B0600000101010101" pitchFamily="50" charset="-127"/>
              </a:rPr>
              <a:t>Point of Sale</a:t>
            </a:r>
          </a:p>
          <a:p>
            <a:pPr eaLnBrk="1" hangingPunct="1"/>
            <a:r>
              <a:rPr lang="en-US" altLang="ko-KR" sz="1600" dirty="0">
                <a:latin typeface="굴림" panose="020B0600000101010101" pitchFamily="50" charset="-127"/>
              </a:rPr>
              <a:t>ATM</a:t>
            </a:r>
          </a:p>
          <a:p>
            <a:pPr eaLnBrk="1" hangingPunct="1"/>
            <a:r>
              <a:rPr lang="ko-KR" altLang="en-US" sz="1600" dirty="0">
                <a:latin typeface="굴림" panose="020B0600000101010101" pitchFamily="50" charset="-127"/>
              </a:rPr>
              <a:t>금융통계</a:t>
            </a:r>
          </a:p>
          <a:p>
            <a:pPr eaLnBrk="1" hangingPunct="1"/>
            <a:r>
              <a:rPr lang="ko-KR" altLang="en-US" sz="1600" dirty="0">
                <a:latin typeface="굴림" panose="020B0600000101010101" pitchFamily="50" charset="-127"/>
              </a:rPr>
              <a:t>신용정보</a:t>
            </a:r>
          </a:p>
          <a:p>
            <a:pPr eaLnBrk="1" hangingPunct="1"/>
            <a:r>
              <a:rPr lang="ko-KR" altLang="en-US" sz="1600" dirty="0">
                <a:latin typeface="굴림" panose="020B0600000101010101" pitchFamily="50" charset="-127"/>
              </a:rPr>
              <a:t>문헌</a:t>
            </a:r>
          </a:p>
          <a:p>
            <a:pPr eaLnBrk="1" hangingPunct="1"/>
            <a:r>
              <a:rPr lang="ko-KR" altLang="en-US" sz="1600" dirty="0">
                <a:latin typeface="굴림" panose="020B0600000101010101" pitchFamily="50" charset="-127"/>
              </a:rPr>
              <a:t>첩보자료</a:t>
            </a:r>
          </a:p>
          <a:p>
            <a:pPr eaLnBrk="1" hangingPunct="1"/>
            <a:r>
              <a:rPr lang="ko-KR" altLang="en-US" sz="1600" dirty="0">
                <a:latin typeface="굴림" panose="020B0600000101010101" pitchFamily="50" charset="-127"/>
              </a:rPr>
              <a:t>진료기록</a:t>
            </a:r>
          </a:p>
          <a:p>
            <a:pPr eaLnBrk="1" hangingPunct="1"/>
            <a:r>
              <a:rPr lang="ko-KR" altLang="en-US" sz="1600" dirty="0">
                <a:latin typeface="굴림" panose="020B0600000101010101" pitchFamily="50" charset="-127"/>
              </a:rPr>
              <a:t>신체검사기록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2651125" y="2025651"/>
            <a:ext cx="1250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/>
            <a:r>
              <a:rPr kumimoji="1" lang="ko-KR" altLang="en-US" sz="2800" dirty="0" err="1">
                <a:solidFill>
                  <a:schemeClr val="tx1"/>
                </a:solidFill>
              </a:rPr>
              <a:t>데이타</a:t>
            </a:r>
            <a:endParaRPr kumimoji="1" lang="ko-KR" altLang="en-US" sz="2400" dirty="0">
              <a:solidFill>
                <a:schemeClr val="tx1"/>
              </a:solidFill>
            </a:endParaRP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5775325" y="2078038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/>
            <a:r>
              <a:rPr kumimoji="1" lang="ko-KR" altLang="en-US" sz="2400" dirty="0">
                <a:solidFill>
                  <a:schemeClr val="tx1"/>
                </a:solidFill>
              </a:rPr>
              <a:t>정보</a:t>
            </a: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8366125" y="2025651"/>
            <a:ext cx="1606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/>
            <a:r>
              <a:rPr kumimoji="1" lang="ko-KR" altLang="en-US" sz="2800" dirty="0">
                <a:solidFill>
                  <a:schemeClr val="tx1"/>
                </a:solidFill>
              </a:rPr>
              <a:t>의사결정</a:t>
            </a:r>
            <a:endParaRPr kumimoji="1" lang="ko-KR" altLang="en-US" sz="2400" dirty="0">
              <a:solidFill>
                <a:schemeClr val="tx1"/>
              </a:solidFill>
            </a:endParaRPr>
          </a:p>
        </p:txBody>
      </p:sp>
      <p:sp>
        <p:nvSpPr>
          <p:cNvPr id="10247" name="AutoShape 7"/>
          <p:cNvSpPr>
            <a:spLocks noChangeArrowheads="1"/>
          </p:cNvSpPr>
          <p:nvPr/>
        </p:nvSpPr>
        <p:spPr bwMode="auto">
          <a:xfrm>
            <a:off x="4267200" y="2133600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chemeClr val="accent1"/>
          </a:solidFill>
          <a:ln w="12700" cap="sq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0248" name="AutoShape 8"/>
          <p:cNvSpPr>
            <a:spLocks noChangeArrowheads="1"/>
          </p:cNvSpPr>
          <p:nvPr/>
        </p:nvSpPr>
        <p:spPr bwMode="auto">
          <a:xfrm>
            <a:off x="7162800" y="2133600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chemeClr val="accent1"/>
          </a:solidFill>
          <a:ln w="12700" cap="sq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4953000" y="3048000"/>
            <a:ext cx="22098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>
              <a:spcBef>
                <a:spcPct val="20000"/>
              </a:spcBef>
              <a:buClr>
                <a:srgbClr val="339966"/>
              </a:buClr>
              <a:buSzPct val="85000"/>
              <a:buFont typeface="Wingdings" panose="05000000000000000000" pitchFamily="2" charset="2"/>
              <a:buChar char="u"/>
            </a:pPr>
            <a:r>
              <a:rPr kumimoji="1" lang="en-US" altLang="ko-KR" sz="1600" b="0">
                <a:solidFill>
                  <a:srgbClr val="000099"/>
                </a:solidFill>
                <a:latin typeface="굴림" panose="020B0600000101010101" pitchFamily="50" charset="-127"/>
              </a:rPr>
              <a:t>A</a:t>
            </a:r>
            <a:r>
              <a:rPr kumimoji="1" lang="ko-KR" altLang="en-US" sz="1600" b="0">
                <a:solidFill>
                  <a:srgbClr val="000099"/>
                </a:solidFill>
                <a:latin typeface="굴림" panose="020B0600000101010101" pitchFamily="50" charset="-127"/>
              </a:rPr>
              <a:t>상품 구매자의 80%가 </a:t>
            </a:r>
            <a:r>
              <a:rPr kumimoji="1" lang="en-US" altLang="ko-KR" sz="1600" b="0">
                <a:solidFill>
                  <a:srgbClr val="000099"/>
                </a:solidFill>
                <a:latin typeface="굴림" panose="020B0600000101010101" pitchFamily="50" charset="-127"/>
              </a:rPr>
              <a:t>B</a:t>
            </a:r>
            <a:r>
              <a:rPr kumimoji="1" lang="ko-KR" altLang="en-US" sz="1600" b="0">
                <a:solidFill>
                  <a:srgbClr val="000099"/>
                </a:solidFill>
                <a:latin typeface="굴림" panose="020B0600000101010101" pitchFamily="50" charset="-127"/>
              </a:rPr>
              <a:t>상품도 구매한다</a:t>
            </a:r>
          </a:p>
          <a:p>
            <a:pPr algn="l" eaLnBrk="1" latinLnBrk="1" hangingPunct="1">
              <a:spcBef>
                <a:spcPct val="20000"/>
              </a:spcBef>
              <a:buClr>
                <a:srgbClr val="339966"/>
              </a:buClr>
              <a:buSzPct val="85000"/>
              <a:buFont typeface="Wingdings" panose="05000000000000000000" pitchFamily="2" charset="2"/>
              <a:buChar char="u"/>
            </a:pPr>
            <a:r>
              <a:rPr kumimoji="1" lang="ko-KR" altLang="en-US" sz="1600" b="0">
                <a:solidFill>
                  <a:srgbClr val="000099"/>
                </a:solidFill>
                <a:latin typeface="굴림" panose="020B0600000101010101" pitchFamily="50" charset="-127"/>
              </a:rPr>
              <a:t>미국시장의 자동차 구매력이 6개월간 감소</a:t>
            </a:r>
          </a:p>
          <a:p>
            <a:pPr algn="l" eaLnBrk="1" latinLnBrk="1" hangingPunct="1">
              <a:spcBef>
                <a:spcPct val="20000"/>
              </a:spcBef>
              <a:buClr>
                <a:srgbClr val="339966"/>
              </a:buClr>
              <a:buSzPct val="85000"/>
              <a:buFont typeface="Wingdings" panose="05000000000000000000" pitchFamily="2" charset="2"/>
              <a:buChar char="u"/>
            </a:pPr>
            <a:r>
              <a:rPr kumimoji="1" lang="en-US" altLang="ko-KR" sz="1600" b="0">
                <a:solidFill>
                  <a:srgbClr val="000099"/>
                </a:solidFill>
                <a:latin typeface="굴림" panose="020B0600000101010101" pitchFamily="50" charset="-127"/>
              </a:rPr>
              <a:t>A</a:t>
            </a:r>
            <a:r>
              <a:rPr kumimoji="1" lang="ko-KR" altLang="en-US" sz="1600" b="0">
                <a:solidFill>
                  <a:srgbClr val="000099"/>
                </a:solidFill>
                <a:latin typeface="굴림" panose="020B0600000101010101" pitchFamily="50" charset="-127"/>
              </a:rPr>
              <a:t>상품의 매출 중가가 </a:t>
            </a:r>
            <a:r>
              <a:rPr kumimoji="1" lang="en-US" altLang="ko-KR" sz="1600" b="0">
                <a:solidFill>
                  <a:srgbClr val="000099"/>
                </a:solidFill>
                <a:latin typeface="굴림" panose="020B0600000101010101" pitchFamily="50" charset="-127"/>
              </a:rPr>
              <a:t>B</a:t>
            </a:r>
            <a:r>
              <a:rPr kumimoji="1" lang="ko-KR" altLang="en-US" sz="1600" b="0">
                <a:solidFill>
                  <a:srgbClr val="000099"/>
                </a:solidFill>
                <a:latin typeface="굴림" panose="020B0600000101010101" pitchFamily="50" charset="-127"/>
              </a:rPr>
              <a:t>상품의 2배</a:t>
            </a:r>
          </a:p>
          <a:p>
            <a:pPr algn="l" eaLnBrk="1" latinLnBrk="1" hangingPunct="1">
              <a:spcBef>
                <a:spcPct val="20000"/>
              </a:spcBef>
              <a:buClr>
                <a:srgbClr val="339966"/>
              </a:buClr>
              <a:buSzPct val="85000"/>
              <a:buFont typeface="Wingdings" panose="05000000000000000000" pitchFamily="2" charset="2"/>
              <a:buChar char="u"/>
            </a:pPr>
            <a:r>
              <a:rPr kumimoji="1" lang="ko-KR" altLang="en-US" sz="1600" b="0">
                <a:solidFill>
                  <a:srgbClr val="000099"/>
                </a:solidFill>
                <a:latin typeface="굴림" panose="020B0600000101010101" pitchFamily="50" charset="-127"/>
              </a:rPr>
              <a:t>탈수 증상을 보이면 위험</a:t>
            </a:r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7924800" y="3124200"/>
            <a:ext cx="22098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>
              <a:spcBef>
                <a:spcPct val="20000"/>
              </a:spcBef>
              <a:buClr>
                <a:srgbClr val="339966"/>
              </a:buClr>
              <a:buSzPct val="85000"/>
              <a:buFont typeface="Wingdings" panose="05000000000000000000" pitchFamily="2" charset="2"/>
              <a:buChar char="u"/>
            </a:pPr>
            <a:r>
              <a:rPr kumimoji="1" lang="ko-KR" altLang="en-US" sz="1600" b="0">
                <a:solidFill>
                  <a:srgbClr val="000099"/>
                </a:solidFill>
                <a:latin typeface="굴림" panose="020B0600000101010101" pitchFamily="50" charset="-127"/>
              </a:rPr>
              <a:t>광고전략은 ?</a:t>
            </a:r>
          </a:p>
          <a:p>
            <a:pPr algn="l" eaLnBrk="1" latinLnBrk="1" hangingPunct="1">
              <a:spcBef>
                <a:spcPct val="20000"/>
              </a:spcBef>
              <a:buClr>
                <a:srgbClr val="339966"/>
              </a:buClr>
              <a:buSzPct val="85000"/>
              <a:buFont typeface="Wingdings" panose="05000000000000000000" pitchFamily="2" charset="2"/>
              <a:buChar char="u"/>
            </a:pPr>
            <a:r>
              <a:rPr kumimoji="1" lang="ko-KR" altLang="en-US" sz="1600" b="0">
                <a:solidFill>
                  <a:srgbClr val="000099"/>
                </a:solidFill>
                <a:latin typeface="굴림" panose="020B0600000101010101" pitchFamily="50" charset="-127"/>
              </a:rPr>
              <a:t>상품의 진열</a:t>
            </a:r>
          </a:p>
          <a:p>
            <a:pPr algn="l" eaLnBrk="1" latinLnBrk="1" hangingPunct="1">
              <a:spcBef>
                <a:spcPct val="20000"/>
              </a:spcBef>
              <a:buClr>
                <a:srgbClr val="339966"/>
              </a:buClr>
              <a:buSzPct val="85000"/>
              <a:buFont typeface="Wingdings" panose="05000000000000000000" pitchFamily="2" charset="2"/>
              <a:buChar char="u"/>
            </a:pPr>
            <a:r>
              <a:rPr kumimoji="1" lang="ko-KR" altLang="en-US" sz="1600" b="0">
                <a:solidFill>
                  <a:srgbClr val="000099"/>
                </a:solidFill>
                <a:latin typeface="굴림" panose="020B0600000101010101" pitchFamily="50" charset="-127"/>
              </a:rPr>
              <a:t>최적의 예산 할당은 ?</a:t>
            </a:r>
          </a:p>
          <a:p>
            <a:pPr algn="l" eaLnBrk="1" latinLnBrk="1" hangingPunct="1">
              <a:spcBef>
                <a:spcPct val="20000"/>
              </a:spcBef>
              <a:buClr>
                <a:srgbClr val="339966"/>
              </a:buClr>
              <a:buSzPct val="85000"/>
              <a:buFont typeface="Wingdings" panose="05000000000000000000" pitchFamily="2" charset="2"/>
              <a:buChar char="u"/>
            </a:pPr>
            <a:r>
              <a:rPr kumimoji="1" lang="ko-KR" altLang="en-US" sz="1600" b="0">
                <a:solidFill>
                  <a:srgbClr val="000099"/>
                </a:solidFill>
                <a:latin typeface="굴림" panose="020B0600000101010101" pitchFamily="50" charset="-127"/>
              </a:rPr>
              <a:t>시장점유의 확대방안은 ?</a:t>
            </a:r>
          </a:p>
          <a:p>
            <a:pPr algn="l" eaLnBrk="1" latinLnBrk="1" hangingPunct="1">
              <a:spcBef>
                <a:spcPct val="20000"/>
              </a:spcBef>
              <a:buClr>
                <a:srgbClr val="339966"/>
              </a:buClr>
              <a:buSzPct val="85000"/>
              <a:buFont typeface="Wingdings" panose="05000000000000000000" pitchFamily="2" charset="2"/>
              <a:buChar char="u"/>
            </a:pPr>
            <a:r>
              <a:rPr kumimoji="1" lang="ko-KR" altLang="en-US" sz="1600" b="0">
                <a:solidFill>
                  <a:srgbClr val="000099"/>
                </a:solidFill>
                <a:latin typeface="굴림" panose="020B0600000101010101" pitchFamily="50" charset="-127"/>
              </a:rPr>
              <a:t>고객의 이탈 방지책은 ?</a:t>
            </a:r>
          </a:p>
          <a:p>
            <a:pPr algn="l" eaLnBrk="1" latinLnBrk="1" hangingPunct="1">
              <a:spcBef>
                <a:spcPct val="20000"/>
              </a:spcBef>
              <a:buClr>
                <a:srgbClr val="339966"/>
              </a:buClr>
              <a:buSzPct val="85000"/>
              <a:buFont typeface="Wingdings" panose="05000000000000000000" pitchFamily="2" charset="2"/>
              <a:buChar char="u"/>
            </a:pPr>
            <a:r>
              <a:rPr kumimoji="1" lang="ko-KR" altLang="en-US" sz="1600" b="0">
                <a:solidFill>
                  <a:srgbClr val="000099"/>
                </a:solidFill>
                <a:latin typeface="굴림" panose="020B0600000101010101" pitchFamily="50" charset="-127"/>
              </a:rPr>
              <a:t>처방은 ?</a:t>
            </a:r>
          </a:p>
        </p:txBody>
      </p:sp>
    </p:spTree>
    <p:extLst>
      <p:ext uri="{BB962C8B-B14F-4D97-AF65-F5344CB8AC3E}">
        <p14:creationId xmlns:p14="http://schemas.microsoft.com/office/powerpoint/2010/main" val="121038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470275" y="268288"/>
            <a:ext cx="6858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mtClean="0"/>
              <a:t>Data Mining </a:t>
            </a:r>
            <a:r>
              <a:rPr lang="ko-KR" altLang="en-US" smtClean="0"/>
              <a:t>이란 ?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5875" y="1793875"/>
            <a:ext cx="9639299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dirty="0" smtClean="0"/>
              <a:t>대량의 데이터로부터</a:t>
            </a:r>
          </a:p>
          <a:p>
            <a:pPr eaLnBrk="1" hangingPunct="1"/>
            <a:r>
              <a:rPr lang="ko-KR" altLang="en-US" dirty="0" smtClean="0"/>
              <a:t>유용한 정보를 </a:t>
            </a:r>
            <a:r>
              <a:rPr lang="ko-KR" altLang="en-US" dirty="0" smtClean="0">
                <a:solidFill>
                  <a:srgbClr val="008000"/>
                </a:solidFill>
              </a:rPr>
              <a:t>추출</a:t>
            </a:r>
            <a:r>
              <a:rPr lang="ko-KR" altLang="en-US" dirty="0" smtClean="0"/>
              <a:t>하여</a:t>
            </a:r>
          </a:p>
          <a:p>
            <a:pPr eaLnBrk="1" hangingPunct="1"/>
            <a:r>
              <a:rPr lang="ko-KR" altLang="en-US" dirty="0" smtClean="0"/>
              <a:t>이해하기 쉬운 형태로 </a:t>
            </a:r>
            <a:r>
              <a:rPr lang="ko-KR" altLang="en-US" dirty="0" smtClean="0">
                <a:solidFill>
                  <a:srgbClr val="008000"/>
                </a:solidFill>
              </a:rPr>
              <a:t>변환</a:t>
            </a:r>
            <a:r>
              <a:rPr lang="ko-KR" altLang="en-US" dirty="0" smtClean="0"/>
              <a:t>하여 </a:t>
            </a:r>
          </a:p>
          <a:p>
            <a:pPr eaLnBrk="1" hangingPunct="1"/>
            <a:r>
              <a:rPr lang="ko-KR" altLang="en-US" dirty="0" smtClean="0"/>
              <a:t>실제의 </a:t>
            </a:r>
            <a:r>
              <a:rPr lang="ko-KR" altLang="en-US" dirty="0" smtClean="0">
                <a:solidFill>
                  <a:srgbClr val="008000"/>
                </a:solidFill>
              </a:rPr>
              <a:t>의사결정과정에 적용</a:t>
            </a:r>
            <a:r>
              <a:rPr lang="ko-KR" altLang="en-US" dirty="0" smtClean="0"/>
              <a:t>하는 </a:t>
            </a:r>
            <a:r>
              <a:rPr lang="ko-KR" altLang="en-US" dirty="0" err="1" smtClean="0"/>
              <a:t>전과정</a:t>
            </a:r>
            <a:endParaRPr lang="ko-KR" altLang="en-US" dirty="0" smtClean="0"/>
          </a:p>
          <a:p>
            <a:pPr eaLnBrk="1" hangingPunct="1"/>
            <a:r>
              <a:rPr lang="ko-KR" altLang="en-US" dirty="0" smtClean="0"/>
              <a:t>저장된 데이터에서 정보, 지식, 규칙, 패턴,특성을 추출함</a:t>
            </a:r>
          </a:p>
        </p:txBody>
      </p:sp>
    </p:spTree>
    <p:extLst>
      <p:ext uri="{BB962C8B-B14F-4D97-AF65-F5344CB8AC3E}">
        <p14:creationId xmlns:p14="http://schemas.microsoft.com/office/powerpoint/2010/main" val="2199285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695701" y="419100"/>
            <a:ext cx="4930775" cy="11430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mtClean="0"/>
              <a:t>배     경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5038" y="1736725"/>
            <a:ext cx="7772400" cy="4114800"/>
          </a:xfrm>
        </p:spPr>
        <p:txBody>
          <a:bodyPr/>
          <a:lstStyle/>
          <a:p>
            <a:pPr eaLnBrk="1" hangingPunct="1"/>
            <a:r>
              <a:rPr lang="ko-KR" altLang="en-US" dirty="0" smtClean="0"/>
              <a:t>저장되는 데이터 양의 폭발적 증가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ko-KR" altLang="en-US" dirty="0" err="1" smtClean="0"/>
              <a:t>데이타베이스</a:t>
            </a:r>
            <a:r>
              <a:rPr lang="ko-KR" altLang="en-US" dirty="0" smtClean="0"/>
              <a:t> 시스템의 사용 증가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ko-KR" altLang="en-US" dirty="0" smtClean="0"/>
              <a:t>데이터 수집의 자동화</a:t>
            </a:r>
          </a:p>
          <a:p>
            <a:pPr eaLnBrk="1" hangingPunct="1"/>
            <a:r>
              <a:rPr lang="ko-KR" altLang="en-US" dirty="0" smtClean="0"/>
              <a:t>정보, 지식의 부족 (언제나)</a:t>
            </a:r>
          </a:p>
          <a:p>
            <a:pPr eaLnBrk="1" hangingPunct="1"/>
            <a:r>
              <a:rPr lang="ko-KR" altLang="en-US" dirty="0" smtClean="0"/>
              <a:t>인지적 처리의 한계 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ko-KR" altLang="en-US" dirty="0" smtClean="0"/>
              <a:t>자동처리의 요구 증대</a:t>
            </a:r>
          </a:p>
          <a:p>
            <a:pPr eaLnBrk="1" hangingPunct="1"/>
            <a:r>
              <a:rPr lang="ko-KR" altLang="en-US" dirty="0" smtClean="0"/>
              <a:t>인공지능</a:t>
            </a:r>
            <a:r>
              <a:rPr lang="ko-KR" altLang="en-US" b="0" dirty="0" smtClean="0"/>
              <a:t>(</a:t>
            </a:r>
            <a:r>
              <a:rPr lang="en-US" altLang="ko-KR" b="0" dirty="0" smtClean="0"/>
              <a:t>Machine Learning)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기술의 발전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en-US" altLang="ko-KR" b="0" dirty="0" smtClean="0"/>
              <a:t>Machine Learning, Data/Pattern Analysis</a:t>
            </a:r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60293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번호 개체 틀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181600" y="6553200"/>
            <a:ext cx="93345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fld id="{5E7BF4D0-8482-4753-BB9A-7675568D1365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490538"/>
            <a:ext cx="7162800" cy="652462"/>
          </a:xfrm>
        </p:spPr>
        <p:txBody>
          <a:bodyPr anchor="b">
            <a:normAutofit fontScale="90000"/>
          </a:bodyPr>
          <a:lstStyle/>
          <a:p>
            <a:pPr>
              <a:defRPr/>
            </a:pPr>
            <a:r>
              <a:rPr lang="ko-KR" altLang="en-US" dirty="0" smtClean="0"/>
              <a:t>용어의 역사</a:t>
            </a:r>
            <a:endParaRPr lang="en-US" altLang="ko-KR" dirty="0"/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3575" y="1628775"/>
            <a:ext cx="8305800" cy="4495800"/>
          </a:xfrm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ko-KR" dirty="0" smtClean="0"/>
              <a:t>Data Fishing, Data Dredging: 1960-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ko-KR" dirty="0" smtClean="0">
                <a:ea typeface="굴림" panose="020B0600000101010101" pitchFamily="50" charset="-127"/>
              </a:rPr>
              <a:t>used by Statistician  (as bad name)</a:t>
            </a:r>
          </a:p>
          <a:p>
            <a:pPr>
              <a:lnSpc>
                <a:spcPct val="80000"/>
              </a:lnSpc>
            </a:pPr>
            <a:r>
              <a:rPr lang="en-US" altLang="ko-KR" dirty="0" smtClean="0"/>
              <a:t>Data Mining :1990  -- 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ko-KR" dirty="0" smtClean="0">
                <a:ea typeface="굴림" panose="020B0600000101010101" pitchFamily="50" charset="-127"/>
              </a:rPr>
              <a:t>used DB, business 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ko-KR" dirty="0" smtClean="0">
                <a:ea typeface="굴림" panose="020B0600000101010101" pitchFamily="50" charset="-127"/>
              </a:rPr>
              <a:t>in 2003 – bad image because of </a:t>
            </a:r>
            <a:r>
              <a:rPr lang="en-US" altLang="ko-KR" dirty="0">
                <a:ea typeface="굴림" panose="020B0600000101010101" pitchFamily="50" charset="-127"/>
              </a:rPr>
              <a:t>TIA(Total Information Awareness </a:t>
            </a:r>
            <a:r>
              <a:rPr lang="en-US" altLang="ko-KR" dirty="0" smtClean="0">
                <a:ea typeface="굴림" panose="020B0600000101010101" pitchFamily="50" charset="-127"/>
              </a:rPr>
              <a:t>Program)</a:t>
            </a:r>
            <a:endParaRPr lang="en-US" altLang="ko-KR" dirty="0" smtClean="0">
              <a:ea typeface="굴림" panose="020B0600000101010101" pitchFamily="50" charset="-127"/>
            </a:endParaRPr>
          </a:p>
          <a:p>
            <a:pPr>
              <a:lnSpc>
                <a:spcPct val="80000"/>
              </a:lnSpc>
            </a:pPr>
            <a:r>
              <a:rPr lang="en-US" altLang="ko-KR" dirty="0" smtClean="0"/>
              <a:t>Knowledge Discovery in Databases (1989-)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ko-KR" dirty="0" smtClean="0">
                <a:ea typeface="굴림" panose="020B0600000101010101" pitchFamily="50" charset="-127"/>
              </a:rPr>
              <a:t>used by AI, Machine Learning Community</a:t>
            </a:r>
          </a:p>
          <a:p>
            <a:pPr>
              <a:lnSpc>
                <a:spcPct val="80000"/>
              </a:lnSpc>
            </a:pPr>
            <a:r>
              <a:rPr lang="en-US" altLang="ko-KR" sz="2400" dirty="0"/>
              <a:t>also Data </a:t>
            </a:r>
            <a:r>
              <a:rPr lang="en-US" altLang="ko-KR" sz="2400" dirty="0" smtClean="0"/>
              <a:t>Archeology</a:t>
            </a:r>
            <a:r>
              <a:rPr lang="en-US" altLang="ko-KR" sz="2400" dirty="0"/>
              <a:t>, Information Harvesting, Information Discovery, Knowledge Extraction, ... </a:t>
            </a:r>
          </a:p>
        </p:txBody>
      </p:sp>
      <p:sp>
        <p:nvSpPr>
          <p:cNvPr id="234500" name="Rectangle 4"/>
          <p:cNvSpPr>
            <a:spLocks noChangeArrowheads="1"/>
          </p:cNvSpPr>
          <p:nvPr/>
        </p:nvSpPr>
        <p:spPr bwMode="auto">
          <a:xfrm>
            <a:off x="1828799" y="5254626"/>
            <a:ext cx="9220201" cy="36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Currently: Data Mining and Knowledge </a:t>
            </a:r>
            <a:r>
              <a:rPr lang="en-US" altLang="ko-KR" dirty="0" smtClean="0">
                <a:solidFill>
                  <a:srgbClr val="FF0000"/>
                </a:solidFill>
                <a:latin typeface="Arial" panose="020B0604020202020204" pitchFamily="34" charset="0"/>
              </a:rPr>
              <a:t>Discovery are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used interchangeably </a:t>
            </a:r>
          </a:p>
        </p:txBody>
      </p:sp>
      <p:pic>
        <p:nvPicPr>
          <p:cNvPr id="13318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1930400"/>
            <a:ext cx="2224088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71036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0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번호 개체 틀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181600" y="6553200"/>
            <a:ext cx="93345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fld id="{AE29E48B-E45C-4074-957D-B19B1FCC5E4D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14339" name="Oval 2"/>
          <p:cNvSpPr>
            <a:spLocks noChangeArrowheads="1"/>
          </p:cNvSpPr>
          <p:nvPr/>
        </p:nvSpPr>
        <p:spPr bwMode="auto">
          <a:xfrm>
            <a:off x="6096000" y="3810000"/>
            <a:ext cx="3200400" cy="2438400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4340" name="Oval 3"/>
          <p:cNvSpPr>
            <a:spLocks noChangeArrowheads="1"/>
          </p:cNvSpPr>
          <p:nvPr/>
        </p:nvSpPr>
        <p:spPr bwMode="auto">
          <a:xfrm>
            <a:off x="2438400" y="3810000"/>
            <a:ext cx="3200400" cy="2438400"/>
          </a:xfrm>
          <a:prstGeom prst="ellipse">
            <a:avLst/>
          </a:prstGeom>
          <a:solidFill>
            <a:srgbClr val="FF99CC">
              <a:alpha val="50195"/>
            </a:srgbClr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4341" name="Oval 4"/>
          <p:cNvSpPr>
            <a:spLocks noChangeArrowheads="1"/>
          </p:cNvSpPr>
          <p:nvPr/>
        </p:nvSpPr>
        <p:spPr bwMode="auto">
          <a:xfrm>
            <a:off x="5943600" y="1143000"/>
            <a:ext cx="3200400" cy="2438400"/>
          </a:xfrm>
          <a:prstGeom prst="ellipse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4342" name="Oval 5"/>
          <p:cNvSpPr>
            <a:spLocks noChangeArrowheads="1"/>
          </p:cNvSpPr>
          <p:nvPr/>
        </p:nvSpPr>
        <p:spPr bwMode="auto">
          <a:xfrm>
            <a:off x="2209800" y="1219200"/>
            <a:ext cx="3200400" cy="2438400"/>
          </a:xfrm>
          <a:prstGeom prst="ellipse">
            <a:avLst/>
          </a:prstGeom>
          <a:solidFill>
            <a:srgbClr val="99CC00">
              <a:alpha val="50195"/>
            </a:srgbClr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4343" name="AutoShape 6"/>
          <p:cNvSpPr>
            <a:spLocks noChangeArrowheads="1"/>
          </p:cNvSpPr>
          <p:nvPr/>
        </p:nvSpPr>
        <p:spPr bwMode="auto">
          <a:xfrm>
            <a:off x="3886200" y="2667000"/>
            <a:ext cx="3810000" cy="1371600"/>
          </a:xfrm>
          <a:prstGeom prst="beve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23040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smtClean="0"/>
              <a:t>관련 분야</a:t>
            </a:r>
            <a:endParaRPr lang="en-US" altLang="ko-KR" dirty="0"/>
          </a:p>
        </p:txBody>
      </p:sp>
      <p:sp>
        <p:nvSpPr>
          <p:cNvPr id="14345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2895600" y="2286000"/>
            <a:ext cx="7162800" cy="4114800"/>
          </a:xfrm>
          <a:noFill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mtClean="0"/>
              <a:t>  </a:t>
            </a:r>
          </a:p>
        </p:txBody>
      </p:sp>
      <p:sp>
        <p:nvSpPr>
          <p:cNvPr id="14346" name="Rectangle 9"/>
          <p:cNvSpPr>
            <a:spLocks noChangeArrowheads="1"/>
          </p:cNvSpPr>
          <p:nvPr/>
        </p:nvSpPr>
        <p:spPr bwMode="auto">
          <a:xfrm>
            <a:off x="3124201" y="4495801"/>
            <a:ext cx="1758495" cy="536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marL="2857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ko-KR" sz="3200" dirty="0">
                <a:solidFill>
                  <a:schemeClr val="tx1"/>
                </a:solidFill>
              </a:rPr>
              <a:t>Statistics</a:t>
            </a:r>
          </a:p>
        </p:txBody>
      </p:sp>
      <p:sp>
        <p:nvSpPr>
          <p:cNvPr id="14347" name="Rectangle 10"/>
          <p:cNvSpPr>
            <a:spLocks noChangeArrowheads="1"/>
          </p:cNvSpPr>
          <p:nvPr/>
        </p:nvSpPr>
        <p:spPr bwMode="auto">
          <a:xfrm>
            <a:off x="2819400" y="1905001"/>
            <a:ext cx="2362200" cy="702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marL="2857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40000"/>
              </a:lnSpc>
              <a:spcBef>
                <a:spcPct val="30000"/>
              </a:spcBef>
            </a:pPr>
            <a:r>
              <a:rPr lang="en-US" altLang="ko-KR" sz="3600" dirty="0">
                <a:solidFill>
                  <a:schemeClr val="tx1"/>
                </a:solidFill>
              </a:rPr>
              <a:t>Machine</a:t>
            </a:r>
          </a:p>
          <a:p>
            <a:pPr>
              <a:lnSpc>
                <a:spcPct val="40000"/>
              </a:lnSpc>
              <a:spcBef>
                <a:spcPct val="30000"/>
              </a:spcBef>
            </a:pPr>
            <a:r>
              <a:rPr lang="en-US" altLang="ko-KR" sz="3600" dirty="0">
                <a:solidFill>
                  <a:schemeClr val="tx1"/>
                </a:solidFill>
              </a:rPr>
              <a:t>Learning</a:t>
            </a:r>
          </a:p>
        </p:txBody>
      </p:sp>
      <p:sp>
        <p:nvSpPr>
          <p:cNvPr id="14348" name="Rectangle 11"/>
          <p:cNvSpPr>
            <a:spLocks noChangeArrowheads="1"/>
          </p:cNvSpPr>
          <p:nvPr/>
        </p:nvSpPr>
        <p:spPr bwMode="auto">
          <a:xfrm>
            <a:off x="6781800" y="4572001"/>
            <a:ext cx="1965282" cy="536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marL="2857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ko-KR" sz="3200" dirty="0">
                <a:solidFill>
                  <a:schemeClr val="tx1"/>
                </a:solidFill>
              </a:rPr>
              <a:t>Databases</a:t>
            </a:r>
          </a:p>
        </p:txBody>
      </p:sp>
      <p:sp>
        <p:nvSpPr>
          <p:cNvPr id="14349" name="Rectangle 12"/>
          <p:cNvSpPr>
            <a:spLocks noChangeArrowheads="1"/>
          </p:cNvSpPr>
          <p:nvPr/>
        </p:nvSpPr>
        <p:spPr bwMode="auto">
          <a:xfrm>
            <a:off x="6400800" y="1905001"/>
            <a:ext cx="2472600" cy="536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marL="2857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ko-KR" sz="3200" dirty="0">
                <a:solidFill>
                  <a:schemeClr val="tx1"/>
                </a:solidFill>
              </a:rPr>
              <a:t>Visualization</a:t>
            </a:r>
          </a:p>
        </p:txBody>
      </p:sp>
      <p:sp>
        <p:nvSpPr>
          <p:cNvPr id="14350" name="Rectangle 13"/>
          <p:cNvSpPr>
            <a:spLocks noChangeArrowheads="1"/>
          </p:cNvSpPr>
          <p:nvPr/>
        </p:nvSpPr>
        <p:spPr bwMode="auto">
          <a:xfrm>
            <a:off x="4114801" y="2895600"/>
            <a:ext cx="34702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2800"/>
              <a:t>Data Mining and </a:t>
            </a:r>
          </a:p>
          <a:p>
            <a:r>
              <a:rPr lang="en-US" altLang="ko-KR" sz="2800"/>
              <a:t>Knowledge Discovery</a:t>
            </a:r>
          </a:p>
        </p:txBody>
      </p:sp>
    </p:spTree>
    <p:extLst>
      <p:ext uri="{BB962C8B-B14F-4D97-AF65-F5344CB8AC3E}">
        <p14:creationId xmlns:p14="http://schemas.microsoft.com/office/powerpoint/2010/main" val="11986705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번호 개체 틀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181600" y="6553200"/>
            <a:ext cx="93345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fld id="{4FAE03EA-09FE-4BA9-8456-D7A7F82E87D1}" type="slidenum">
              <a:rPr lang="en-US" altLang="ko-KR"/>
              <a:pPr/>
              <a:t>7</a:t>
            </a:fld>
            <a:endParaRPr lang="en-US" altLang="ko-KR"/>
          </a:p>
        </p:txBody>
      </p:sp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smtClean="0"/>
              <a:t>통계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기계학습</a:t>
            </a:r>
            <a:r>
              <a:rPr lang="en-US" altLang="ko-KR" dirty="0" smtClean="0"/>
              <a:t>, </a:t>
            </a:r>
            <a:r>
              <a:rPr lang="ko-KR" altLang="en-US" dirty="0" smtClean="0"/>
              <a:t>데이터 </a:t>
            </a:r>
            <a:r>
              <a:rPr lang="ko-KR" altLang="en-US" dirty="0" err="1" smtClean="0"/>
              <a:t>마이닝</a:t>
            </a:r>
            <a:endParaRPr lang="en-US" altLang="ko-KR" dirty="0"/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27263" y="2051050"/>
            <a:ext cx="8229600" cy="4114800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80000"/>
              </a:lnSpc>
            </a:pPr>
            <a:r>
              <a:rPr lang="en-US" altLang="ko-KR" sz="2400" dirty="0"/>
              <a:t>Statistics: </a:t>
            </a:r>
          </a:p>
          <a:p>
            <a:pPr marL="1028700" lvl="1" indent="-457200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ko-KR" dirty="0" smtClean="0">
                <a:ea typeface="굴림" panose="020B0600000101010101" pitchFamily="50" charset="-127"/>
              </a:rPr>
              <a:t>more theory-based</a:t>
            </a:r>
          </a:p>
          <a:p>
            <a:pPr marL="1028700" lvl="1" indent="-457200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ko-KR" dirty="0" smtClean="0">
                <a:ea typeface="굴림" panose="020B0600000101010101" pitchFamily="50" charset="-127"/>
              </a:rPr>
              <a:t>more focused on testing hypotheses</a:t>
            </a:r>
          </a:p>
          <a:p>
            <a:pPr marL="457200" indent="-457200">
              <a:lnSpc>
                <a:spcPct val="80000"/>
              </a:lnSpc>
            </a:pPr>
            <a:r>
              <a:rPr lang="en-US" altLang="ko-KR" sz="2400" dirty="0"/>
              <a:t>Machine learning</a:t>
            </a:r>
          </a:p>
          <a:p>
            <a:pPr marL="1028700" lvl="1" indent="-457200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ko-KR" dirty="0" smtClean="0">
                <a:ea typeface="굴림" panose="020B0600000101010101" pitchFamily="50" charset="-127"/>
              </a:rPr>
              <a:t>more heuristic</a:t>
            </a:r>
          </a:p>
          <a:p>
            <a:pPr marL="1028700" lvl="1" indent="-457200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ko-KR" dirty="0" smtClean="0">
                <a:ea typeface="굴림" panose="020B0600000101010101" pitchFamily="50" charset="-127"/>
              </a:rPr>
              <a:t>focused on improving performance of a learning agent</a:t>
            </a:r>
          </a:p>
          <a:p>
            <a:pPr marL="457200" indent="-457200">
              <a:lnSpc>
                <a:spcPct val="80000"/>
              </a:lnSpc>
            </a:pPr>
            <a:r>
              <a:rPr lang="en-US" altLang="ko-KR" sz="2400" dirty="0"/>
              <a:t>Data Mining and Knowledge Discovery</a:t>
            </a:r>
          </a:p>
          <a:p>
            <a:pPr marL="1028700" lvl="1" indent="-457200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ko-KR" dirty="0" smtClean="0">
                <a:ea typeface="굴림" panose="020B0600000101010101" pitchFamily="50" charset="-127"/>
              </a:rPr>
              <a:t>integrates theory and heuristics</a:t>
            </a:r>
          </a:p>
          <a:p>
            <a:pPr marL="1028700" lvl="1" indent="-457200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ko-KR" dirty="0" smtClean="0">
                <a:ea typeface="굴림" panose="020B0600000101010101" pitchFamily="50" charset="-127"/>
              </a:rPr>
              <a:t>focus on the entire process of knowledge discovery, including data cleaning, learning, and integration and visualization of results</a:t>
            </a:r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2057401" y="6583364"/>
            <a:ext cx="98937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200"/>
              <a:t>witten&amp;eibe</a:t>
            </a:r>
          </a:p>
        </p:txBody>
      </p:sp>
    </p:spTree>
    <p:extLst>
      <p:ext uri="{BB962C8B-B14F-4D97-AF65-F5344CB8AC3E}">
        <p14:creationId xmlns:p14="http://schemas.microsoft.com/office/powerpoint/2010/main" val="1082518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008313" y="512763"/>
            <a:ext cx="6858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mtClean="0"/>
              <a:t>Data Mining </a:t>
            </a:r>
            <a:r>
              <a:rPr lang="ko-KR" altLang="en-US" smtClean="0"/>
              <a:t>과정</a:t>
            </a:r>
          </a:p>
        </p:txBody>
      </p:sp>
      <p:sp>
        <p:nvSpPr>
          <p:cNvPr id="163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224088" y="1693863"/>
            <a:ext cx="7772400" cy="411480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dirty="0" smtClean="0"/>
              <a:t>1) 데이터 선택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2400" dirty="0"/>
              <a:t>		- 사용될 데이터 유형 선택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dirty="0" smtClean="0"/>
              <a:t>2) 데이터 변환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2400" dirty="0"/>
              <a:t>		- 정보 추출 유형에 따른 자료 변환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2400" dirty="0"/>
              <a:t>		- </a:t>
            </a:r>
            <a:r>
              <a:rPr lang="ko-KR" altLang="en-US" sz="2400" dirty="0" smtClean="0"/>
              <a:t>이산화, </a:t>
            </a:r>
            <a:r>
              <a:rPr lang="ko-KR" altLang="en-US" sz="2400" dirty="0"/>
              <a:t>정규화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dirty="0" smtClean="0"/>
              <a:t>3) 정보 추출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dirty="0" smtClean="0"/>
              <a:t>4) 결과 해석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2400" dirty="0"/>
              <a:t>		- 가시화 (도표), 선택 제시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2400" dirty="0"/>
              <a:t>		- 평가, 피드백</a:t>
            </a:r>
          </a:p>
        </p:txBody>
      </p:sp>
    </p:spTree>
    <p:extLst>
      <p:ext uri="{BB962C8B-B14F-4D97-AF65-F5344CB8AC3E}">
        <p14:creationId xmlns:p14="http://schemas.microsoft.com/office/powerpoint/2010/main" val="1914861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693988" y="269875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mtClean="0"/>
              <a:t>Data Mining </a:t>
            </a:r>
            <a:r>
              <a:rPr lang="ko-KR" altLang="en-US" smtClean="0"/>
              <a:t>과정</a:t>
            </a:r>
          </a:p>
        </p:txBody>
      </p:sp>
      <p:graphicFrame>
        <p:nvGraphicFramePr>
          <p:cNvPr id="1026" name="Object 1024"/>
          <p:cNvGraphicFramePr>
            <a:graphicFrameLocks noChangeAspect="1"/>
          </p:cNvGraphicFramePr>
          <p:nvPr/>
        </p:nvGraphicFramePr>
        <p:xfrm>
          <a:off x="9220200" y="3429000"/>
          <a:ext cx="9144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클립" r:id="rId3" imgW="3709440" imgH="2963520" progId="MS_ClipArt_Gallery.2">
                  <p:embed/>
                </p:oleObj>
              </mc:Choice>
              <mc:Fallback>
                <p:oleObj name="클립" r:id="rId3" imgW="3709440" imgH="296352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0200" y="3429000"/>
                        <a:ext cx="914400" cy="7302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AutoShape 11"/>
          <p:cNvSpPr>
            <a:spLocks noChangeArrowheads="1"/>
          </p:cNvSpPr>
          <p:nvPr/>
        </p:nvSpPr>
        <p:spPr bwMode="auto">
          <a:xfrm>
            <a:off x="2057400" y="2971800"/>
            <a:ext cx="914400" cy="1524000"/>
          </a:xfrm>
          <a:prstGeom prst="flowChartMagneticDisk">
            <a:avLst/>
          </a:prstGeom>
          <a:solidFill>
            <a:schemeClr val="accent1"/>
          </a:solidFill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kumimoji="1" lang="en-US" altLang="ko-KR" sz="1200"/>
              <a:t>DATABASE</a:t>
            </a:r>
            <a:endParaRPr kumimoji="1" lang="en-US" altLang="ko-KR" sz="2400"/>
          </a:p>
        </p:txBody>
      </p:sp>
      <p:sp>
        <p:nvSpPr>
          <p:cNvPr id="1029" name="AutoShape 12"/>
          <p:cNvSpPr>
            <a:spLocks noChangeArrowheads="1"/>
          </p:cNvSpPr>
          <p:nvPr/>
        </p:nvSpPr>
        <p:spPr bwMode="auto">
          <a:xfrm>
            <a:off x="3962400" y="3276600"/>
            <a:ext cx="914400" cy="1066800"/>
          </a:xfrm>
          <a:prstGeom prst="flowChartMagneticDisk">
            <a:avLst/>
          </a:prstGeom>
          <a:solidFill>
            <a:schemeClr val="folHlink"/>
          </a:solidFill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kumimoji="1" lang="ko-KR" altLang="en-US" sz="1200"/>
              <a:t>추출된 </a:t>
            </a:r>
          </a:p>
          <a:p>
            <a:pPr eaLnBrk="1" latinLnBrk="1" hangingPunct="1"/>
            <a:r>
              <a:rPr kumimoji="1" lang="ko-KR" altLang="en-US" sz="1200"/>
              <a:t>데이타</a:t>
            </a:r>
            <a:endParaRPr kumimoji="1" lang="ko-KR" altLang="en-US" sz="1200">
              <a:solidFill>
                <a:schemeClr val="tx1"/>
              </a:solidFill>
            </a:endParaRPr>
          </a:p>
        </p:txBody>
      </p:sp>
      <p:sp>
        <p:nvSpPr>
          <p:cNvPr id="1030" name="Text Box 16"/>
          <p:cNvSpPr txBox="1">
            <a:spLocks noChangeArrowheads="1"/>
          </p:cNvSpPr>
          <p:nvPr/>
        </p:nvSpPr>
        <p:spPr bwMode="auto">
          <a:xfrm>
            <a:off x="2743200" y="2286001"/>
            <a:ext cx="1098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/>
            <a:r>
              <a:rPr kumimoji="1" lang="ko-KR" altLang="en-US">
                <a:solidFill>
                  <a:srgbClr val="3366CC"/>
                </a:solidFill>
              </a:rPr>
              <a:t>자료선택</a:t>
            </a:r>
          </a:p>
        </p:txBody>
      </p:sp>
      <p:sp>
        <p:nvSpPr>
          <p:cNvPr id="1031" name="Text Box 17"/>
          <p:cNvSpPr txBox="1">
            <a:spLocks noChangeArrowheads="1"/>
          </p:cNvSpPr>
          <p:nvPr/>
        </p:nvSpPr>
        <p:spPr bwMode="auto">
          <a:xfrm>
            <a:off x="4572000" y="2286001"/>
            <a:ext cx="1098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/>
            <a:r>
              <a:rPr kumimoji="1" lang="ko-KR" altLang="en-US">
                <a:solidFill>
                  <a:srgbClr val="3366CC"/>
                </a:solidFill>
              </a:rPr>
              <a:t>자료변환</a:t>
            </a:r>
          </a:p>
        </p:txBody>
      </p:sp>
      <p:sp>
        <p:nvSpPr>
          <p:cNvPr id="1032" name="Text Box 18"/>
          <p:cNvSpPr txBox="1">
            <a:spLocks noChangeArrowheads="1"/>
          </p:cNvSpPr>
          <p:nvPr/>
        </p:nvSpPr>
        <p:spPr bwMode="auto">
          <a:xfrm>
            <a:off x="5791200" y="2286001"/>
            <a:ext cx="1098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/>
            <a:r>
              <a:rPr kumimoji="1" lang="ko-KR" altLang="en-US">
                <a:solidFill>
                  <a:srgbClr val="3366CC"/>
                </a:solidFill>
              </a:rPr>
              <a:t>정보추출</a:t>
            </a:r>
          </a:p>
        </p:txBody>
      </p:sp>
      <p:sp>
        <p:nvSpPr>
          <p:cNvPr id="1033" name="Text Box 19"/>
          <p:cNvSpPr txBox="1">
            <a:spLocks noChangeArrowheads="1"/>
          </p:cNvSpPr>
          <p:nvPr/>
        </p:nvSpPr>
        <p:spPr bwMode="auto">
          <a:xfrm>
            <a:off x="8077200" y="2286001"/>
            <a:ext cx="1441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/>
            <a:r>
              <a:rPr kumimoji="1" lang="ko-KR" altLang="en-US">
                <a:solidFill>
                  <a:srgbClr val="3366CC"/>
                </a:solidFill>
              </a:rPr>
              <a:t>해석 및 취합</a:t>
            </a:r>
          </a:p>
        </p:txBody>
      </p:sp>
      <p:sp>
        <p:nvSpPr>
          <p:cNvPr id="1034" name="Rectangle 20" descr="격자 울타리"/>
          <p:cNvSpPr>
            <a:spLocks noChangeArrowheads="1"/>
          </p:cNvSpPr>
          <p:nvPr/>
        </p:nvSpPr>
        <p:spPr bwMode="auto">
          <a:xfrm>
            <a:off x="5867400" y="2895600"/>
            <a:ext cx="152400" cy="1828800"/>
          </a:xfrm>
          <a:prstGeom prst="rect">
            <a:avLst/>
          </a:prstGeom>
          <a:pattFill prst="trellis">
            <a:fgClr>
              <a:srgbClr val="339966"/>
            </a:fgClr>
            <a:bgClr>
              <a:srgbClr val="FFFFFF"/>
            </a:bgClr>
          </a:pattFill>
          <a:ln w="12700" cap="sq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035" name="Rectangle 21" descr="격자 울타리"/>
          <p:cNvSpPr>
            <a:spLocks noChangeArrowheads="1"/>
          </p:cNvSpPr>
          <p:nvPr/>
        </p:nvSpPr>
        <p:spPr bwMode="auto">
          <a:xfrm>
            <a:off x="5943600" y="3048000"/>
            <a:ext cx="152400" cy="1828800"/>
          </a:xfrm>
          <a:prstGeom prst="rect">
            <a:avLst/>
          </a:prstGeom>
          <a:pattFill prst="trellis">
            <a:fgClr>
              <a:srgbClr val="339966"/>
            </a:fgClr>
            <a:bgClr>
              <a:srgbClr val="FFFFFF"/>
            </a:bgClr>
          </a:pattFill>
          <a:ln w="12700" cap="sq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036" name="Rectangle 22" descr="격자 울타리"/>
          <p:cNvSpPr>
            <a:spLocks noChangeArrowheads="1"/>
          </p:cNvSpPr>
          <p:nvPr/>
        </p:nvSpPr>
        <p:spPr bwMode="auto">
          <a:xfrm>
            <a:off x="6019800" y="3276600"/>
            <a:ext cx="152400" cy="1828800"/>
          </a:xfrm>
          <a:prstGeom prst="rect">
            <a:avLst/>
          </a:prstGeom>
          <a:pattFill prst="trellis">
            <a:fgClr>
              <a:srgbClr val="339966"/>
            </a:fgClr>
            <a:bgClr>
              <a:srgbClr val="FFFFFF"/>
            </a:bgClr>
          </a:pattFill>
          <a:ln w="12700" cap="sq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037" name="Freeform 25"/>
          <p:cNvSpPr>
            <a:spLocks/>
          </p:cNvSpPr>
          <p:nvPr/>
        </p:nvSpPr>
        <p:spPr bwMode="auto">
          <a:xfrm rot="1781304">
            <a:off x="7496175" y="3489325"/>
            <a:ext cx="452438" cy="368300"/>
          </a:xfrm>
          <a:custGeom>
            <a:avLst/>
            <a:gdLst>
              <a:gd name="T0" fmla="*/ 0 w 1427"/>
              <a:gd name="T1" fmla="*/ 2147483647 h 1158"/>
              <a:gd name="T2" fmla="*/ 2147483647 w 1427"/>
              <a:gd name="T3" fmla="*/ 0 h 1158"/>
              <a:gd name="T4" fmla="*/ 2147483647 w 1427"/>
              <a:gd name="T5" fmla="*/ 2147483647 h 1158"/>
              <a:gd name="T6" fmla="*/ 2147483647 w 1427"/>
              <a:gd name="T7" fmla="*/ 2147483647 h 1158"/>
              <a:gd name="T8" fmla="*/ 2147483647 w 1427"/>
              <a:gd name="T9" fmla="*/ 2147483647 h 1158"/>
              <a:gd name="T10" fmla="*/ 2147483647 w 1427"/>
              <a:gd name="T11" fmla="*/ 2147483647 h 1158"/>
              <a:gd name="T12" fmla="*/ 2147483647 w 1427"/>
              <a:gd name="T13" fmla="*/ 2147483647 h 1158"/>
              <a:gd name="T14" fmla="*/ 2147483647 w 1427"/>
              <a:gd name="T15" fmla="*/ 2147483647 h 1158"/>
              <a:gd name="T16" fmla="*/ 2147483647 w 1427"/>
              <a:gd name="T17" fmla="*/ 2147483647 h 1158"/>
              <a:gd name="T18" fmla="*/ 2147483647 w 1427"/>
              <a:gd name="T19" fmla="*/ 2147483647 h 1158"/>
              <a:gd name="T20" fmla="*/ 2147483647 w 1427"/>
              <a:gd name="T21" fmla="*/ 2147483647 h 1158"/>
              <a:gd name="T22" fmla="*/ 2147483647 w 1427"/>
              <a:gd name="T23" fmla="*/ 2147483647 h 1158"/>
              <a:gd name="T24" fmla="*/ 2147483647 w 1427"/>
              <a:gd name="T25" fmla="*/ 2147483647 h 1158"/>
              <a:gd name="T26" fmla="*/ 2147483647 w 1427"/>
              <a:gd name="T27" fmla="*/ 2147483647 h 1158"/>
              <a:gd name="T28" fmla="*/ 2147483647 w 1427"/>
              <a:gd name="T29" fmla="*/ 2147483647 h 1158"/>
              <a:gd name="T30" fmla="*/ 2147483647 w 1427"/>
              <a:gd name="T31" fmla="*/ 2147483647 h 1158"/>
              <a:gd name="T32" fmla="*/ 2147483647 w 1427"/>
              <a:gd name="T33" fmla="*/ 2147483647 h 1158"/>
              <a:gd name="T34" fmla="*/ 2147483647 w 1427"/>
              <a:gd name="T35" fmla="*/ 2147483647 h 1158"/>
              <a:gd name="T36" fmla="*/ 2147483647 w 1427"/>
              <a:gd name="T37" fmla="*/ 2147483647 h 1158"/>
              <a:gd name="T38" fmla="*/ 2147483647 w 1427"/>
              <a:gd name="T39" fmla="*/ 2147483647 h 1158"/>
              <a:gd name="T40" fmla="*/ 2147483647 w 1427"/>
              <a:gd name="T41" fmla="*/ 2147483647 h 1158"/>
              <a:gd name="T42" fmla="*/ 2147483647 w 1427"/>
              <a:gd name="T43" fmla="*/ 2147483647 h 1158"/>
              <a:gd name="T44" fmla="*/ 2147483647 w 1427"/>
              <a:gd name="T45" fmla="*/ 2147483647 h 1158"/>
              <a:gd name="T46" fmla="*/ 2147483647 w 1427"/>
              <a:gd name="T47" fmla="*/ 2147483647 h 1158"/>
              <a:gd name="T48" fmla="*/ 2147483647 w 1427"/>
              <a:gd name="T49" fmla="*/ 2147483647 h 1158"/>
              <a:gd name="T50" fmla="*/ 2147483647 w 1427"/>
              <a:gd name="T51" fmla="*/ 2147483647 h 1158"/>
              <a:gd name="T52" fmla="*/ 2147483647 w 1427"/>
              <a:gd name="T53" fmla="*/ 2147483647 h 1158"/>
              <a:gd name="T54" fmla="*/ 2147483647 w 1427"/>
              <a:gd name="T55" fmla="*/ 2147483647 h 1158"/>
              <a:gd name="T56" fmla="*/ 2147483647 w 1427"/>
              <a:gd name="T57" fmla="*/ 2147483647 h 1158"/>
              <a:gd name="T58" fmla="*/ 2147483647 w 1427"/>
              <a:gd name="T59" fmla="*/ 2147483647 h 1158"/>
              <a:gd name="T60" fmla="*/ 2147483647 w 1427"/>
              <a:gd name="T61" fmla="*/ 2147483647 h 1158"/>
              <a:gd name="T62" fmla="*/ 2147483647 w 1427"/>
              <a:gd name="T63" fmla="*/ 2147483647 h 1158"/>
              <a:gd name="T64" fmla="*/ 2147483647 w 1427"/>
              <a:gd name="T65" fmla="*/ 2147483647 h 1158"/>
              <a:gd name="T66" fmla="*/ 2147483647 w 1427"/>
              <a:gd name="T67" fmla="*/ 2147483647 h 1158"/>
              <a:gd name="T68" fmla="*/ 2147483647 w 1427"/>
              <a:gd name="T69" fmla="*/ 2147483647 h 1158"/>
              <a:gd name="T70" fmla="*/ 2147483647 w 1427"/>
              <a:gd name="T71" fmla="*/ 2147483647 h 1158"/>
              <a:gd name="T72" fmla="*/ 2147483647 w 1427"/>
              <a:gd name="T73" fmla="*/ 2147483647 h 1158"/>
              <a:gd name="T74" fmla="*/ 2147483647 w 1427"/>
              <a:gd name="T75" fmla="*/ 2147483647 h 1158"/>
              <a:gd name="T76" fmla="*/ 2147483647 w 1427"/>
              <a:gd name="T77" fmla="*/ 2147483647 h 1158"/>
              <a:gd name="T78" fmla="*/ 2147483647 w 1427"/>
              <a:gd name="T79" fmla="*/ 2147483647 h 1158"/>
              <a:gd name="T80" fmla="*/ 2147483647 w 1427"/>
              <a:gd name="T81" fmla="*/ 2147483647 h 1158"/>
              <a:gd name="T82" fmla="*/ 2147483647 w 1427"/>
              <a:gd name="T83" fmla="*/ 2147483647 h 1158"/>
              <a:gd name="T84" fmla="*/ 2147483647 w 1427"/>
              <a:gd name="T85" fmla="*/ 2147483647 h 1158"/>
              <a:gd name="T86" fmla="*/ 2147483647 w 1427"/>
              <a:gd name="T87" fmla="*/ 2147483647 h 1158"/>
              <a:gd name="T88" fmla="*/ 2147483647 w 1427"/>
              <a:gd name="T89" fmla="*/ 2147483647 h 1158"/>
              <a:gd name="T90" fmla="*/ 2147483647 w 1427"/>
              <a:gd name="T91" fmla="*/ 2147483647 h 1158"/>
              <a:gd name="T92" fmla="*/ 2147483647 w 1427"/>
              <a:gd name="T93" fmla="*/ 2147483647 h 1158"/>
              <a:gd name="T94" fmla="*/ 2147483647 w 1427"/>
              <a:gd name="T95" fmla="*/ 2147483647 h 1158"/>
              <a:gd name="T96" fmla="*/ 2147483647 w 1427"/>
              <a:gd name="T97" fmla="*/ 2147483647 h 1158"/>
              <a:gd name="T98" fmla="*/ 2147483647 w 1427"/>
              <a:gd name="T99" fmla="*/ 2147483647 h 1158"/>
              <a:gd name="T100" fmla="*/ 2147483647 w 1427"/>
              <a:gd name="T101" fmla="*/ 2147483647 h 1158"/>
              <a:gd name="T102" fmla="*/ 2147483647 w 1427"/>
              <a:gd name="T103" fmla="*/ 2147483647 h 1158"/>
              <a:gd name="T104" fmla="*/ 2147483647 w 1427"/>
              <a:gd name="T105" fmla="*/ 2147483647 h 1158"/>
              <a:gd name="T106" fmla="*/ 2147483647 w 1427"/>
              <a:gd name="T107" fmla="*/ 2147483647 h 1158"/>
              <a:gd name="T108" fmla="*/ 2147483647 w 1427"/>
              <a:gd name="T109" fmla="*/ 2147483647 h 115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427"/>
              <a:gd name="T166" fmla="*/ 0 h 1158"/>
              <a:gd name="T167" fmla="*/ 1427 w 1427"/>
              <a:gd name="T168" fmla="*/ 1158 h 1158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427" h="1158">
                <a:moveTo>
                  <a:pt x="0" y="915"/>
                </a:moveTo>
                <a:lnTo>
                  <a:pt x="0" y="1158"/>
                </a:lnTo>
                <a:lnTo>
                  <a:pt x="1427" y="1158"/>
                </a:lnTo>
                <a:lnTo>
                  <a:pt x="1425" y="0"/>
                </a:lnTo>
                <a:lnTo>
                  <a:pt x="1298" y="0"/>
                </a:lnTo>
                <a:lnTo>
                  <a:pt x="1292" y="22"/>
                </a:lnTo>
                <a:lnTo>
                  <a:pt x="1292" y="38"/>
                </a:lnTo>
                <a:lnTo>
                  <a:pt x="1296" y="60"/>
                </a:lnTo>
                <a:lnTo>
                  <a:pt x="1303" y="84"/>
                </a:lnTo>
                <a:lnTo>
                  <a:pt x="1311" y="112"/>
                </a:lnTo>
                <a:lnTo>
                  <a:pt x="1314" y="134"/>
                </a:lnTo>
                <a:lnTo>
                  <a:pt x="1314" y="154"/>
                </a:lnTo>
                <a:lnTo>
                  <a:pt x="1312" y="176"/>
                </a:lnTo>
                <a:lnTo>
                  <a:pt x="1306" y="197"/>
                </a:lnTo>
                <a:lnTo>
                  <a:pt x="1292" y="217"/>
                </a:lnTo>
                <a:lnTo>
                  <a:pt x="1276" y="234"/>
                </a:lnTo>
                <a:lnTo>
                  <a:pt x="1259" y="250"/>
                </a:lnTo>
                <a:lnTo>
                  <a:pt x="1239" y="261"/>
                </a:lnTo>
                <a:lnTo>
                  <a:pt x="1216" y="270"/>
                </a:lnTo>
                <a:lnTo>
                  <a:pt x="1195" y="275"/>
                </a:lnTo>
                <a:lnTo>
                  <a:pt x="1165" y="276"/>
                </a:lnTo>
                <a:lnTo>
                  <a:pt x="1131" y="274"/>
                </a:lnTo>
                <a:lnTo>
                  <a:pt x="1109" y="270"/>
                </a:lnTo>
                <a:lnTo>
                  <a:pt x="1089" y="265"/>
                </a:lnTo>
                <a:lnTo>
                  <a:pt x="1070" y="254"/>
                </a:lnTo>
                <a:lnTo>
                  <a:pt x="1047" y="235"/>
                </a:lnTo>
                <a:lnTo>
                  <a:pt x="1032" y="218"/>
                </a:lnTo>
                <a:lnTo>
                  <a:pt x="1019" y="200"/>
                </a:lnTo>
                <a:lnTo>
                  <a:pt x="1011" y="180"/>
                </a:lnTo>
                <a:lnTo>
                  <a:pt x="1006" y="162"/>
                </a:lnTo>
                <a:lnTo>
                  <a:pt x="1006" y="141"/>
                </a:lnTo>
                <a:lnTo>
                  <a:pt x="1009" y="120"/>
                </a:lnTo>
                <a:lnTo>
                  <a:pt x="1014" y="100"/>
                </a:lnTo>
                <a:lnTo>
                  <a:pt x="1019" y="81"/>
                </a:lnTo>
                <a:lnTo>
                  <a:pt x="1025" y="62"/>
                </a:lnTo>
                <a:lnTo>
                  <a:pt x="1029" y="42"/>
                </a:lnTo>
                <a:lnTo>
                  <a:pt x="1029" y="25"/>
                </a:lnTo>
                <a:lnTo>
                  <a:pt x="1024" y="5"/>
                </a:lnTo>
                <a:lnTo>
                  <a:pt x="785" y="5"/>
                </a:lnTo>
                <a:lnTo>
                  <a:pt x="787" y="46"/>
                </a:lnTo>
                <a:lnTo>
                  <a:pt x="785" y="74"/>
                </a:lnTo>
                <a:lnTo>
                  <a:pt x="783" y="97"/>
                </a:lnTo>
                <a:lnTo>
                  <a:pt x="783" y="118"/>
                </a:lnTo>
                <a:lnTo>
                  <a:pt x="781" y="141"/>
                </a:lnTo>
                <a:lnTo>
                  <a:pt x="776" y="163"/>
                </a:lnTo>
                <a:lnTo>
                  <a:pt x="770" y="178"/>
                </a:lnTo>
                <a:lnTo>
                  <a:pt x="761" y="191"/>
                </a:lnTo>
                <a:lnTo>
                  <a:pt x="749" y="202"/>
                </a:lnTo>
                <a:lnTo>
                  <a:pt x="735" y="211"/>
                </a:lnTo>
                <a:lnTo>
                  <a:pt x="719" y="216"/>
                </a:lnTo>
                <a:lnTo>
                  <a:pt x="702" y="218"/>
                </a:lnTo>
                <a:lnTo>
                  <a:pt x="686" y="219"/>
                </a:lnTo>
                <a:lnTo>
                  <a:pt x="665" y="219"/>
                </a:lnTo>
                <a:lnTo>
                  <a:pt x="645" y="217"/>
                </a:lnTo>
                <a:lnTo>
                  <a:pt x="629" y="216"/>
                </a:lnTo>
                <a:lnTo>
                  <a:pt x="608" y="214"/>
                </a:lnTo>
                <a:lnTo>
                  <a:pt x="586" y="212"/>
                </a:lnTo>
                <a:lnTo>
                  <a:pt x="561" y="212"/>
                </a:lnTo>
                <a:lnTo>
                  <a:pt x="541" y="214"/>
                </a:lnTo>
                <a:lnTo>
                  <a:pt x="520" y="217"/>
                </a:lnTo>
                <a:lnTo>
                  <a:pt x="497" y="223"/>
                </a:lnTo>
                <a:lnTo>
                  <a:pt x="481" y="232"/>
                </a:lnTo>
                <a:lnTo>
                  <a:pt x="464" y="243"/>
                </a:lnTo>
                <a:lnTo>
                  <a:pt x="453" y="258"/>
                </a:lnTo>
                <a:lnTo>
                  <a:pt x="442" y="274"/>
                </a:lnTo>
                <a:lnTo>
                  <a:pt x="437" y="290"/>
                </a:lnTo>
                <a:lnTo>
                  <a:pt x="435" y="308"/>
                </a:lnTo>
                <a:lnTo>
                  <a:pt x="437" y="327"/>
                </a:lnTo>
                <a:lnTo>
                  <a:pt x="438" y="346"/>
                </a:lnTo>
                <a:lnTo>
                  <a:pt x="437" y="367"/>
                </a:lnTo>
                <a:lnTo>
                  <a:pt x="433" y="383"/>
                </a:lnTo>
                <a:lnTo>
                  <a:pt x="428" y="400"/>
                </a:lnTo>
                <a:lnTo>
                  <a:pt x="421" y="417"/>
                </a:lnTo>
                <a:lnTo>
                  <a:pt x="411" y="428"/>
                </a:lnTo>
                <a:lnTo>
                  <a:pt x="395" y="439"/>
                </a:lnTo>
                <a:lnTo>
                  <a:pt x="375" y="446"/>
                </a:lnTo>
                <a:lnTo>
                  <a:pt x="356" y="452"/>
                </a:lnTo>
                <a:lnTo>
                  <a:pt x="337" y="457"/>
                </a:lnTo>
                <a:lnTo>
                  <a:pt x="317" y="462"/>
                </a:lnTo>
                <a:lnTo>
                  <a:pt x="292" y="467"/>
                </a:lnTo>
                <a:lnTo>
                  <a:pt x="272" y="471"/>
                </a:lnTo>
                <a:lnTo>
                  <a:pt x="251" y="477"/>
                </a:lnTo>
                <a:lnTo>
                  <a:pt x="234" y="483"/>
                </a:lnTo>
                <a:lnTo>
                  <a:pt x="216" y="490"/>
                </a:lnTo>
                <a:lnTo>
                  <a:pt x="203" y="500"/>
                </a:lnTo>
                <a:lnTo>
                  <a:pt x="191" y="510"/>
                </a:lnTo>
                <a:lnTo>
                  <a:pt x="177" y="526"/>
                </a:lnTo>
                <a:lnTo>
                  <a:pt x="168" y="541"/>
                </a:lnTo>
                <a:lnTo>
                  <a:pt x="161" y="558"/>
                </a:lnTo>
                <a:lnTo>
                  <a:pt x="157" y="579"/>
                </a:lnTo>
                <a:lnTo>
                  <a:pt x="160" y="599"/>
                </a:lnTo>
                <a:lnTo>
                  <a:pt x="162" y="619"/>
                </a:lnTo>
                <a:lnTo>
                  <a:pt x="168" y="642"/>
                </a:lnTo>
                <a:lnTo>
                  <a:pt x="175" y="668"/>
                </a:lnTo>
                <a:lnTo>
                  <a:pt x="179" y="691"/>
                </a:lnTo>
                <a:lnTo>
                  <a:pt x="182" y="710"/>
                </a:lnTo>
                <a:lnTo>
                  <a:pt x="182" y="727"/>
                </a:lnTo>
                <a:lnTo>
                  <a:pt x="179" y="750"/>
                </a:lnTo>
                <a:lnTo>
                  <a:pt x="173" y="770"/>
                </a:lnTo>
                <a:lnTo>
                  <a:pt x="168" y="787"/>
                </a:lnTo>
                <a:lnTo>
                  <a:pt x="161" y="803"/>
                </a:lnTo>
                <a:lnTo>
                  <a:pt x="151" y="824"/>
                </a:lnTo>
                <a:lnTo>
                  <a:pt x="138" y="848"/>
                </a:lnTo>
                <a:lnTo>
                  <a:pt x="123" y="865"/>
                </a:lnTo>
                <a:lnTo>
                  <a:pt x="108" y="878"/>
                </a:lnTo>
                <a:lnTo>
                  <a:pt x="94" y="891"/>
                </a:lnTo>
                <a:lnTo>
                  <a:pt x="80" y="901"/>
                </a:lnTo>
                <a:lnTo>
                  <a:pt x="65" y="907"/>
                </a:lnTo>
                <a:lnTo>
                  <a:pt x="44" y="912"/>
                </a:lnTo>
                <a:lnTo>
                  <a:pt x="20" y="915"/>
                </a:lnTo>
                <a:lnTo>
                  <a:pt x="0" y="915"/>
                </a:lnTo>
                <a:close/>
              </a:path>
            </a:pathLst>
          </a:custGeom>
          <a:solidFill>
            <a:srgbClr val="0000FF"/>
          </a:solidFill>
          <a:ln w="3175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8" name="Freeform 26"/>
          <p:cNvSpPr>
            <a:spLocks/>
          </p:cNvSpPr>
          <p:nvPr/>
        </p:nvSpPr>
        <p:spPr bwMode="auto">
          <a:xfrm>
            <a:off x="6929438" y="3586164"/>
            <a:ext cx="450850" cy="439737"/>
          </a:xfrm>
          <a:custGeom>
            <a:avLst/>
            <a:gdLst>
              <a:gd name="T0" fmla="*/ 2147483647 w 1421"/>
              <a:gd name="T1" fmla="*/ 2147483647 h 1382"/>
              <a:gd name="T2" fmla="*/ 0 w 1421"/>
              <a:gd name="T3" fmla="*/ 2147483647 h 1382"/>
              <a:gd name="T4" fmla="*/ 2147483647 w 1421"/>
              <a:gd name="T5" fmla="*/ 2147483647 h 1382"/>
              <a:gd name="T6" fmla="*/ 2147483647 w 1421"/>
              <a:gd name="T7" fmla="*/ 2147483647 h 1382"/>
              <a:gd name="T8" fmla="*/ 2147483647 w 1421"/>
              <a:gd name="T9" fmla="*/ 2147483647 h 1382"/>
              <a:gd name="T10" fmla="*/ 2147483647 w 1421"/>
              <a:gd name="T11" fmla="*/ 2147483647 h 1382"/>
              <a:gd name="T12" fmla="*/ 2147483647 w 1421"/>
              <a:gd name="T13" fmla="*/ 2147483647 h 1382"/>
              <a:gd name="T14" fmla="*/ 2147483647 w 1421"/>
              <a:gd name="T15" fmla="*/ 2147483647 h 1382"/>
              <a:gd name="T16" fmla="*/ 2147483647 w 1421"/>
              <a:gd name="T17" fmla="*/ 2147483647 h 1382"/>
              <a:gd name="T18" fmla="*/ 2147483647 w 1421"/>
              <a:gd name="T19" fmla="*/ 2147483647 h 1382"/>
              <a:gd name="T20" fmla="*/ 2147483647 w 1421"/>
              <a:gd name="T21" fmla="*/ 2147483647 h 1382"/>
              <a:gd name="T22" fmla="*/ 2147483647 w 1421"/>
              <a:gd name="T23" fmla="*/ 2147483647 h 1382"/>
              <a:gd name="T24" fmla="*/ 2147483647 w 1421"/>
              <a:gd name="T25" fmla="*/ 2147483647 h 1382"/>
              <a:gd name="T26" fmla="*/ 2147483647 w 1421"/>
              <a:gd name="T27" fmla="*/ 0 h 1382"/>
              <a:gd name="T28" fmla="*/ 2147483647 w 1421"/>
              <a:gd name="T29" fmla="*/ 2147483647 h 1382"/>
              <a:gd name="T30" fmla="*/ 2147483647 w 1421"/>
              <a:gd name="T31" fmla="*/ 2147483647 h 1382"/>
              <a:gd name="T32" fmla="*/ 2147483647 w 1421"/>
              <a:gd name="T33" fmla="*/ 2147483647 h 1382"/>
              <a:gd name="T34" fmla="*/ 2147483647 w 1421"/>
              <a:gd name="T35" fmla="*/ 2147483647 h 1382"/>
              <a:gd name="T36" fmla="*/ 2147483647 w 1421"/>
              <a:gd name="T37" fmla="*/ 2147483647 h 1382"/>
              <a:gd name="T38" fmla="*/ 2147483647 w 1421"/>
              <a:gd name="T39" fmla="*/ 2147483647 h 1382"/>
              <a:gd name="T40" fmla="*/ 2147483647 w 1421"/>
              <a:gd name="T41" fmla="*/ 2147483647 h 1382"/>
              <a:gd name="T42" fmla="*/ 2147483647 w 1421"/>
              <a:gd name="T43" fmla="*/ 2147483647 h 1382"/>
              <a:gd name="T44" fmla="*/ 2147483647 w 1421"/>
              <a:gd name="T45" fmla="*/ 2147483647 h 1382"/>
              <a:gd name="T46" fmla="*/ 2147483647 w 1421"/>
              <a:gd name="T47" fmla="*/ 2147483647 h 1382"/>
              <a:gd name="T48" fmla="*/ 2147483647 w 1421"/>
              <a:gd name="T49" fmla="*/ 2147483647 h 1382"/>
              <a:gd name="T50" fmla="*/ 2147483647 w 1421"/>
              <a:gd name="T51" fmla="*/ 2147483647 h 1382"/>
              <a:gd name="T52" fmla="*/ 2147483647 w 1421"/>
              <a:gd name="T53" fmla="*/ 2147483647 h 1382"/>
              <a:gd name="T54" fmla="*/ 2147483647 w 1421"/>
              <a:gd name="T55" fmla="*/ 2147483647 h 1382"/>
              <a:gd name="T56" fmla="*/ 2147483647 w 1421"/>
              <a:gd name="T57" fmla="*/ 2147483647 h 1382"/>
              <a:gd name="T58" fmla="*/ 2147483647 w 1421"/>
              <a:gd name="T59" fmla="*/ 2147483647 h 1382"/>
              <a:gd name="T60" fmla="*/ 2147483647 w 1421"/>
              <a:gd name="T61" fmla="*/ 2147483647 h 1382"/>
              <a:gd name="T62" fmla="*/ 2147483647 w 1421"/>
              <a:gd name="T63" fmla="*/ 2147483647 h 1382"/>
              <a:gd name="T64" fmla="*/ 2147483647 w 1421"/>
              <a:gd name="T65" fmla="*/ 2147483647 h 1382"/>
              <a:gd name="T66" fmla="*/ 2147483647 w 1421"/>
              <a:gd name="T67" fmla="*/ 2147483647 h 1382"/>
              <a:gd name="T68" fmla="*/ 2147483647 w 1421"/>
              <a:gd name="T69" fmla="*/ 2147483647 h 1382"/>
              <a:gd name="T70" fmla="*/ 2147483647 w 1421"/>
              <a:gd name="T71" fmla="*/ 2147483647 h 1382"/>
              <a:gd name="T72" fmla="*/ 2147483647 w 1421"/>
              <a:gd name="T73" fmla="*/ 2147483647 h 1382"/>
              <a:gd name="T74" fmla="*/ 2147483647 w 1421"/>
              <a:gd name="T75" fmla="*/ 2147483647 h 1382"/>
              <a:gd name="T76" fmla="*/ 2147483647 w 1421"/>
              <a:gd name="T77" fmla="*/ 2147483647 h 1382"/>
              <a:gd name="T78" fmla="*/ 2147483647 w 1421"/>
              <a:gd name="T79" fmla="*/ 2147483647 h 1382"/>
              <a:gd name="T80" fmla="*/ 2147483647 w 1421"/>
              <a:gd name="T81" fmla="*/ 2147483647 h 1382"/>
              <a:gd name="T82" fmla="*/ 2147483647 w 1421"/>
              <a:gd name="T83" fmla="*/ 2147483647 h 1382"/>
              <a:gd name="T84" fmla="*/ 2147483647 w 1421"/>
              <a:gd name="T85" fmla="*/ 2147483647 h 1382"/>
              <a:gd name="T86" fmla="*/ 2147483647 w 1421"/>
              <a:gd name="T87" fmla="*/ 2147483647 h 1382"/>
              <a:gd name="T88" fmla="*/ 2147483647 w 1421"/>
              <a:gd name="T89" fmla="*/ 2147483647 h 1382"/>
              <a:gd name="T90" fmla="*/ 2147483647 w 1421"/>
              <a:gd name="T91" fmla="*/ 2147483647 h 1382"/>
              <a:gd name="T92" fmla="*/ 2147483647 w 1421"/>
              <a:gd name="T93" fmla="*/ 2147483647 h 1382"/>
              <a:gd name="T94" fmla="*/ 2147483647 w 1421"/>
              <a:gd name="T95" fmla="*/ 2147483647 h 1382"/>
              <a:gd name="T96" fmla="*/ 2147483647 w 1421"/>
              <a:gd name="T97" fmla="*/ 2147483647 h 1382"/>
              <a:gd name="T98" fmla="*/ 2147483647 w 1421"/>
              <a:gd name="T99" fmla="*/ 2147483647 h 1382"/>
              <a:gd name="T100" fmla="*/ 2147483647 w 1421"/>
              <a:gd name="T101" fmla="*/ 2147483647 h 1382"/>
              <a:gd name="T102" fmla="*/ 2147483647 w 1421"/>
              <a:gd name="T103" fmla="*/ 2147483647 h 1382"/>
              <a:gd name="T104" fmla="*/ 2147483647 w 1421"/>
              <a:gd name="T105" fmla="*/ 2147483647 h 1382"/>
              <a:gd name="T106" fmla="*/ 2147483647 w 1421"/>
              <a:gd name="T107" fmla="*/ 2147483647 h 1382"/>
              <a:gd name="T108" fmla="*/ 2147483647 w 1421"/>
              <a:gd name="T109" fmla="*/ 2147483647 h 1382"/>
              <a:gd name="T110" fmla="*/ 2147483647 w 1421"/>
              <a:gd name="T111" fmla="*/ 2147483647 h 1382"/>
              <a:gd name="T112" fmla="*/ 2147483647 w 1421"/>
              <a:gd name="T113" fmla="*/ 2147483647 h 1382"/>
              <a:gd name="T114" fmla="*/ 2147483647 w 1421"/>
              <a:gd name="T115" fmla="*/ 2147483647 h 1382"/>
              <a:gd name="T116" fmla="*/ 2147483647 w 1421"/>
              <a:gd name="T117" fmla="*/ 2147483647 h 1382"/>
              <a:gd name="T118" fmla="*/ 2147483647 w 1421"/>
              <a:gd name="T119" fmla="*/ 2147483647 h 1382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1421"/>
              <a:gd name="T181" fmla="*/ 0 h 1382"/>
              <a:gd name="T182" fmla="*/ 1421 w 1421"/>
              <a:gd name="T183" fmla="*/ 1382 h 1382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1421" h="1382">
                <a:moveTo>
                  <a:pt x="1421" y="1138"/>
                </a:moveTo>
                <a:lnTo>
                  <a:pt x="1421" y="1382"/>
                </a:lnTo>
                <a:lnTo>
                  <a:pt x="1" y="1382"/>
                </a:lnTo>
                <a:lnTo>
                  <a:pt x="0" y="278"/>
                </a:lnTo>
                <a:lnTo>
                  <a:pt x="123" y="278"/>
                </a:lnTo>
                <a:lnTo>
                  <a:pt x="128" y="268"/>
                </a:lnTo>
                <a:lnTo>
                  <a:pt x="131" y="255"/>
                </a:lnTo>
                <a:lnTo>
                  <a:pt x="131" y="244"/>
                </a:lnTo>
                <a:lnTo>
                  <a:pt x="130" y="230"/>
                </a:lnTo>
                <a:lnTo>
                  <a:pt x="125" y="213"/>
                </a:lnTo>
                <a:lnTo>
                  <a:pt x="120" y="191"/>
                </a:lnTo>
                <a:lnTo>
                  <a:pt x="115" y="176"/>
                </a:lnTo>
                <a:lnTo>
                  <a:pt x="111" y="158"/>
                </a:lnTo>
                <a:lnTo>
                  <a:pt x="109" y="140"/>
                </a:lnTo>
                <a:lnTo>
                  <a:pt x="109" y="123"/>
                </a:lnTo>
                <a:lnTo>
                  <a:pt x="111" y="107"/>
                </a:lnTo>
                <a:lnTo>
                  <a:pt x="115" y="90"/>
                </a:lnTo>
                <a:lnTo>
                  <a:pt x="122" y="74"/>
                </a:lnTo>
                <a:lnTo>
                  <a:pt x="131" y="62"/>
                </a:lnTo>
                <a:lnTo>
                  <a:pt x="145" y="47"/>
                </a:lnTo>
                <a:lnTo>
                  <a:pt x="157" y="36"/>
                </a:lnTo>
                <a:lnTo>
                  <a:pt x="171" y="25"/>
                </a:lnTo>
                <a:lnTo>
                  <a:pt x="186" y="16"/>
                </a:lnTo>
                <a:lnTo>
                  <a:pt x="203" y="9"/>
                </a:lnTo>
                <a:lnTo>
                  <a:pt x="223" y="4"/>
                </a:lnTo>
                <a:lnTo>
                  <a:pt x="244" y="1"/>
                </a:lnTo>
                <a:lnTo>
                  <a:pt x="261" y="0"/>
                </a:lnTo>
                <a:lnTo>
                  <a:pt x="279" y="0"/>
                </a:lnTo>
                <a:lnTo>
                  <a:pt x="297" y="1"/>
                </a:lnTo>
                <a:lnTo>
                  <a:pt x="310" y="4"/>
                </a:lnTo>
                <a:lnTo>
                  <a:pt x="326" y="9"/>
                </a:lnTo>
                <a:lnTo>
                  <a:pt x="342" y="13"/>
                </a:lnTo>
                <a:lnTo>
                  <a:pt x="355" y="21"/>
                </a:lnTo>
                <a:lnTo>
                  <a:pt x="368" y="31"/>
                </a:lnTo>
                <a:lnTo>
                  <a:pt x="380" y="43"/>
                </a:lnTo>
                <a:lnTo>
                  <a:pt x="393" y="57"/>
                </a:lnTo>
                <a:lnTo>
                  <a:pt x="404" y="70"/>
                </a:lnTo>
                <a:lnTo>
                  <a:pt x="412" y="85"/>
                </a:lnTo>
                <a:lnTo>
                  <a:pt x="419" y="103"/>
                </a:lnTo>
                <a:lnTo>
                  <a:pt x="424" y="124"/>
                </a:lnTo>
                <a:lnTo>
                  <a:pt x="424" y="144"/>
                </a:lnTo>
                <a:lnTo>
                  <a:pt x="419" y="164"/>
                </a:lnTo>
                <a:lnTo>
                  <a:pt x="414" y="183"/>
                </a:lnTo>
                <a:lnTo>
                  <a:pt x="409" y="203"/>
                </a:lnTo>
                <a:lnTo>
                  <a:pt x="403" y="225"/>
                </a:lnTo>
                <a:lnTo>
                  <a:pt x="399" y="243"/>
                </a:lnTo>
                <a:lnTo>
                  <a:pt x="399" y="252"/>
                </a:lnTo>
                <a:lnTo>
                  <a:pt x="401" y="261"/>
                </a:lnTo>
                <a:lnTo>
                  <a:pt x="405" y="271"/>
                </a:lnTo>
                <a:lnTo>
                  <a:pt x="640" y="271"/>
                </a:lnTo>
                <a:lnTo>
                  <a:pt x="636" y="317"/>
                </a:lnTo>
                <a:lnTo>
                  <a:pt x="634" y="344"/>
                </a:lnTo>
                <a:lnTo>
                  <a:pt x="636" y="366"/>
                </a:lnTo>
                <a:lnTo>
                  <a:pt x="637" y="387"/>
                </a:lnTo>
                <a:lnTo>
                  <a:pt x="639" y="409"/>
                </a:lnTo>
                <a:lnTo>
                  <a:pt x="643" y="431"/>
                </a:lnTo>
                <a:lnTo>
                  <a:pt x="650" y="446"/>
                </a:lnTo>
                <a:lnTo>
                  <a:pt x="659" y="458"/>
                </a:lnTo>
                <a:lnTo>
                  <a:pt x="670" y="469"/>
                </a:lnTo>
                <a:lnTo>
                  <a:pt x="685" y="478"/>
                </a:lnTo>
                <a:lnTo>
                  <a:pt x="701" y="484"/>
                </a:lnTo>
                <a:lnTo>
                  <a:pt x="717" y="487"/>
                </a:lnTo>
                <a:lnTo>
                  <a:pt x="734" y="488"/>
                </a:lnTo>
                <a:lnTo>
                  <a:pt x="754" y="488"/>
                </a:lnTo>
                <a:lnTo>
                  <a:pt x="775" y="485"/>
                </a:lnTo>
                <a:lnTo>
                  <a:pt x="790" y="484"/>
                </a:lnTo>
                <a:lnTo>
                  <a:pt x="812" y="482"/>
                </a:lnTo>
                <a:lnTo>
                  <a:pt x="834" y="479"/>
                </a:lnTo>
                <a:lnTo>
                  <a:pt x="859" y="479"/>
                </a:lnTo>
                <a:lnTo>
                  <a:pt x="880" y="482"/>
                </a:lnTo>
                <a:lnTo>
                  <a:pt x="900" y="485"/>
                </a:lnTo>
                <a:lnTo>
                  <a:pt x="921" y="493"/>
                </a:lnTo>
                <a:lnTo>
                  <a:pt x="939" y="500"/>
                </a:lnTo>
                <a:lnTo>
                  <a:pt x="956" y="512"/>
                </a:lnTo>
                <a:lnTo>
                  <a:pt x="967" y="526"/>
                </a:lnTo>
                <a:lnTo>
                  <a:pt x="977" y="542"/>
                </a:lnTo>
                <a:lnTo>
                  <a:pt x="983" y="559"/>
                </a:lnTo>
                <a:lnTo>
                  <a:pt x="986" y="576"/>
                </a:lnTo>
                <a:lnTo>
                  <a:pt x="983" y="596"/>
                </a:lnTo>
                <a:lnTo>
                  <a:pt x="982" y="616"/>
                </a:lnTo>
                <a:lnTo>
                  <a:pt x="983" y="636"/>
                </a:lnTo>
                <a:lnTo>
                  <a:pt x="986" y="653"/>
                </a:lnTo>
                <a:lnTo>
                  <a:pt x="992" y="669"/>
                </a:lnTo>
                <a:lnTo>
                  <a:pt x="999" y="685"/>
                </a:lnTo>
                <a:lnTo>
                  <a:pt x="1009" y="696"/>
                </a:lnTo>
                <a:lnTo>
                  <a:pt x="1024" y="707"/>
                </a:lnTo>
                <a:lnTo>
                  <a:pt x="1043" y="714"/>
                </a:lnTo>
                <a:lnTo>
                  <a:pt x="1064" y="721"/>
                </a:lnTo>
                <a:lnTo>
                  <a:pt x="1082" y="726"/>
                </a:lnTo>
                <a:lnTo>
                  <a:pt x="1103" y="730"/>
                </a:lnTo>
                <a:lnTo>
                  <a:pt x="1127" y="735"/>
                </a:lnTo>
                <a:lnTo>
                  <a:pt x="1148" y="739"/>
                </a:lnTo>
                <a:lnTo>
                  <a:pt x="1169" y="745"/>
                </a:lnTo>
                <a:lnTo>
                  <a:pt x="1186" y="751"/>
                </a:lnTo>
                <a:lnTo>
                  <a:pt x="1204" y="759"/>
                </a:lnTo>
                <a:lnTo>
                  <a:pt x="1217" y="769"/>
                </a:lnTo>
                <a:lnTo>
                  <a:pt x="1228" y="778"/>
                </a:lnTo>
                <a:lnTo>
                  <a:pt x="1243" y="795"/>
                </a:lnTo>
                <a:lnTo>
                  <a:pt x="1252" y="809"/>
                </a:lnTo>
                <a:lnTo>
                  <a:pt x="1259" y="825"/>
                </a:lnTo>
                <a:lnTo>
                  <a:pt x="1263" y="847"/>
                </a:lnTo>
                <a:lnTo>
                  <a:pt x="1260" y="868"/>
                </a:lnTo>
                <a:lnTo>
                  <a:pt x="1257" y="887"/>
                </a:lnTo>
                <a:lnTo>
                  <a:pt x="1252" y="910"/>
                </a:lnTo>
                <a:lnTo>
                  <a:pt x="1246" y="936"/>
                </a:lnTo>
                <a:lnTo>
                  <a:pt x="1239" y="960"/>
                </a:lnTo>
                <a:lnTo>
                  <a:pt x="1237" y="979"/>
                </a:lnTo>
                <a:lnTo>
                  <a:pt x="1237" y="995"/>
                </a:lnTo>
                <a:lnTo>
                  <a:pt x="1241" y="1019"/>
                </a:lnTo>
                <a:lnTo>
                  <a:pt x="1246" y="1038"/>
                </a:lnTo>
                <a:lnTo>
                  <a:pt x="1253" y="1053"/>
                </a:lnTo>
                <a:lnTo>
                  <a:pt x="1262" y="1068"/>
                </a:lnTo>
                <a:lnTo>
                  <a:pt x="1274" y="1084"/>
                </a:lnTo>
                <a:lnTo>
                  <a:pt x="1287" y="1100"/>
                </a:lnTo>
                <a:lnTo>
                  <a:pt x="1303" y="1114"/>
                </a:lnTo>
                <a:lnTo>
                  <a:pt x="1322" y="1125"/>
                </a:lnTo>
                <a:lnTo>
                  <a:pt x="1339" y="1131"/>
                </a:lnTo>
                <a:lnTo>
                  <a:pt x="1358" y="1136"/>
                </a:lnTo>
                <a:lnTo>
                  <a:pt x="1376" y="1138"/>
                </a:lnTo>
                <a:lnTo>
                  <a:pt x="1398" y="1139"/>
                </a:lnTo>
                <a:lnTo>
                  <a:pt x="1421" y="1138"/>
                </a:lnTo>
                <a:close/>
              </a:path>
            </a:pathLst>
          </a:custGeom>
          <a:solidFill>
            <a:srgbClr val="00FF00"/>
          </a:solidFill>
          <a:ln w="3175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9" name="Freeform 27"/>
          <p:cNvSpPr>
            <a:spLocks/>
          </p:cNvSpPr>
          <p:nvPr/>
        </p:nvSpPr>
        <p:spPr bwMode="auto">
          <a:xfrm rot="7578993">
            <a:off x="6864350" y="3030538"/>
            <a:ext cx="452438" cy="366712"/>
          </a:xfrm>
          <a:custGeom>
            <a:avLst/>
            <a:gdLst>
              <a:gd name="T0" fmla="*/ 2147483647 w 1427"/>
              <a:gd name="T1" fmla="*/ 0 h 1158"/>
              <a:gd name="T2" fmla="*/ 2147483647 w 1427"/>
              <a:gd name="T3" fmla="*/ 2147483647 h 1158"/>
              <a:gd name="T4" fmla="*/ 2147483647 w 1427"/>
              <a:gd name="T5" fmla="*/ 2147483647 h 1158"/>
              <a:gd name="T6" fmla="*/ 2147483647 w 1427"/>
              <a:gd name="T7" fmla="*/ 2147483647 h 1158"/>
              <a:gd name="T8" fmla="*/ 2147483647 w 1427"/>
              <a:gd name="T9" fmla="*/ 2147483647 h 1158"/>
              <a:gd name="T10" fmla="*/ 2147483647 w 1427"/>
              <a:gd name="T11" fmla="*/ 2147483647 h 1158"/>
              <a:gd name="T12" fmla="*/ 2147483647 w 1427"/>
              <a:gd name="T13" fmla="*/ 2147483647 h 1158"/>
              <a:gd name="T14" fmla="*/ 2147483647 w 1427"/>
              <a:gd name="T15" fmla="*/ 2147483647 h 1158"/>
              <a:gd name="T16" fmla="*/ 2147483647 w 1427"/>
              <a:gd name="T17" fmla="*/ 2147483647 h 1158"/>
              <a:gd name="T18" fmla="*/ 2147483647 w 1427"/>
              <a:gd name="T19" fmla="*/ 2147483647 h 1158"/>
              <a:gd name="T20" fmla="*/ 2147483647 w 1427"/>
              <a:gd name="T21" fmla="*/ 2147483647 h 1158"/>
              <a:gd name="T22" fmla="*/ 2147483647 w 1427"/>
              <a:gd name="T23" fmla="*/ 2147483647 h 1158"/>
              <a:gd name="T24" fmla="*/ 2147483647 w 1427"/>
              <a:gd name="T25" fmla="*/ 2147483647 h 1158"/>
              <a:gd name="T26" fmla="*/ 2147483647 w 1427"/>
              <a:gd name="T27" fmla="*/ 2147483647 h 1158"/>
              <a:gd name="T28" fmla="*/ 2147483647 w 1427"/>
              <a:gd name="T29" fmla="*/ 2147483647 h 1158"/>
              <a:gd name="T30" fmla="*/ 2147483647 w 1427"/>
              <a:gd name="T31" fmla="*/ 2147483647 h 1158"/>
              <a:gd name="T32" fmla="*/ 2147483647 w 1427"/>
              <a:gd name="T33" fmla="*/ 2147483647 h 1158"/>
              <a:gd name="T34" fmla="*/ 2147483647 w 1427"/>
              <a:gd name="T35" fmla="*/ 2147483647 h 1158"/>
              <a:gd name="T36" fmla="*/ 2147483647 w 1427"/>
              <a:gd name="T37" fmla="*/ 2147483647 h 1158"/>
              <a:gd name="T38" fmla="*/ 2147483647 w 1427"/>
              <a:gd name="T39" fmla="*/ 2147483647 h 1158"/>
              <a:gd name="T40" fmla="*/ 2147483647 w 1427"/>
              <a:gd name="T41" fmla="*/ 2147483647 h 1158"/>
              <a:gd name="T42" fmla="*/ 2147483647 w 1427"/>
              <a:gd name="T43" fmla="*/ 2147483647 h 1158"/>
              <a:gd name="T44" fmla="*/ 2147483647 w 1427"/>
              <a:gd name="T45" fmla="*/ 2147483647 h 1158"/>
              <a:gd name="T46" fmla="*/ 2147483647 w 1427"/>
              <a:gd name="T47" fmla="*/ 2147483647 h 1158"/>
              <a:gd name="T48" fmla="*/ 2147483647 w 1427"/>
              <a:gd name="T49" fmla="*/ 2147483647 h 1158"/>
              <a:gd name="T50" fmla="*/ 2147483647 w 1427"/>
              <a:gd name="T51" fmla="*/ 2147483647 h 1158"/>
              <a:gd name="T52" fmla="*/ 2147483647 w 1427"/>
              <a:gd name="T53" fmla="*/ 2147483647 h 1158"/>
              <a:gd name="T54" fmla="*/ 2147483647 w 1427"/>
              <a:gd name="T55" fmla="*/ 2147483647 h 1158"/>
              <a:gd name="T56" fmla="*/ 2147483647 w 1427"/>
              <a:gd name="T57" fmla="*/ 2147483647 h 1158"/>
              <a:gd name="T58" fmla="*/ 2147483647 w 1427"/>
              <a:gd name="T59" fmla="*/ 2147483647 h 1158"/>
              <a:gd name="T60" fmla="*/ 2147483647 w 1427"/>
              <a:gd name="T61" fmla="*/ 2147483647 h 1158"/>
              <a:gd name="T62" fmla="*/ 2147483647 w 1427"/>
              <a:gd name="T63" fmla="*/ 2147483647 h 1158"/>
              <a:gd name="T64" fmla="*/ 2147483647 w 1427"/>
              <a:gd name="T65" fmla="*/ 2147483647 h 1158"/>
              <a:gd name="T66" fmla="*/ 2147483647 w 1427"/>
              <a:gd name="T67" fmla="*/ 2147483647 h 1158"/>
              <a:gd name="T68" fmla="*/ 2147483647 w 1427"/>
              <a:gd name="T69" fmla="*/ 2147483647 h 1158"/>
              <a:gd name="T70" fmla="*/ 2147483647 w 1427"/>
              <a:gd name="T71" fmla="*/ 2147483647 h 1158"/>
              <a:gd name="T72" fmla="*/ 2147483647 w 1427"/>
              <a:gd name="T73" fmla="*/ 2147483647 h 1158"/>
              <a:gd name="T74" fmla="*/ 2147483647 w 1427"/>
              <a:gd name="T75" fmla="*/ 2147483647 h 1158"/>
              <a:gd name="T76" fmla="*/ 2147483647 w 1427"/>
              <a:gd name="T77" fmla="*/ 2147483647 h 1158"/>
              <a:gd name="T78" fmla="*/ 2147483647 w 1427"/>
              <a:gd name="T79" fmla="*/ 2147483647 h 1158"/>
              <a:gd name="T80" fmla="*/ 2147483647 w 1427"/>
              <a:gd name="T81" fmla="*/ 2147483647 h 1158"/>
              <a:gd name="T82" fmla="*/ 2147483647 w 1427"/>
              <a:gd name="T83" fmla="*/ 2147483647 h 1158"/>
              <a:gd name="T84" fmla="*/ 2147483647 w 1427"/>
              <a:gd name="T85" fmla="*/ 2147483647 h 1158"/>
              <a:gd name="T86" fmla="*/ 2147483647 w 1427"/>
              <a:gd name="T87" fmla="*/ 2147483647 h 1158"/>
              <a:gd name="T88" fmla="*/ 2147483647 w 1427"/>
              <a:gd name="T89" fmla="*/ 2147483647 h 1158"/>
              <a:gd name="T90" fmla="*/ 2147483647 w 1427"/>
              <a:gd name="T91" fmla="*/ 2147483647 h 1158"/>
              <a:gd name="T92" fmla="*/ 2147483647 w 1427"/>
              <a:gd name="T93" fmla="*/ 2147483647 h 1158"/>
              <a:gd name="T94" fmla="*/ 2147483647 w 1427"/>
              <a:gd name="T95" fmla="*/ 2147483647 h 1158"/>
              <a:gd name="T96" fmla="*/ 2147483647 w 1427"/>
              <a:gd name="T97" fmla="*/ 2147483647 h 1158"/>
              <a:gd name="T98" fmla="*/ 2147483647 w 1427"/>
              <a:gd name="T99" fmla="*/ 2147483647 h 1158"/>
              <a:gd name="T100" fmla="*/ 2147483647 w 1427"/>
              <a:gd name="T101" fmla="*/ 2147483647 h 1158"/>
              <a:gd name="T102" fmla="*/ 2147483647 w 1427"/>
              <a:gd name="T103" fmla="*/ 2147483647 h 1158"/>
              <a:gd name="T104" fmla="*/ 2147483647 w 1427"/>
              <a:gd name="T105" fmla="*/ 2147483647 h 1158"/>
              <a:gd name="T106" fmla="*/ 2147483647 w 1427"/>
              <a:gd name="T107" fmla="*/ 2147483647 h 1158"/>
              <a:gd name="T108" fmla="*/ 2147483647 w 1427"/>
              <a:gd name="T109" fmla="*/ 2147483647 h 115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427"/>
              <a:gd name="T166" fmla="*/ 0 h 1158"/>
              <a:gd name="T167" fmla="*/ 1427 w 1427"/>
              <a:gd name="T168" fmla="*/ 1158 h 1158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427" h="1158">
                <a:moveTo>
                  <a:pt x="1427" y="288"/>
                </a:moveTo>
                <a:lnTo>
                  <a:pt x="1427" y="0"/>
                </a:lnTo>
                <a:lnTo>
                  <a:pt x="0" y="0"/>
                </a:lnTo>
                <a:lnTo>
                  <a:pt x="1" y="1158"/>
                </a:lnTo>
                <a:lnTo>
                  <a:pt x="128" y="1158"/>
                </a:lnTo>
                <a:lnTo>
                  <a:pt x="134" y="1135"/>
                </a:lnTo>
                <a:lnTo>
                  <a:pt x="134" y="1119"/>
                </a:lnTo>
                <a:lnTo>
                  <a:pt x="130" y="1097"/>
                </a:lnTo>
                <a:lnTo>
                  <a:pt x="123" y="1074"/>
                </a:lnTo>
                <a:lnTo>
                  <a:pt x="115" y="1045"/>
                </a:lnTo>
                <a:lnTo>
                  <a:pt x="112" y="1023"/>
                </a:lnTo>
                <a:lnTo>
                  <a:pt x="111" y="1004"/>
                </a:lnTo>
                <a:lnTo>
                  <a:pt x="114" y="981"/>
                </a:lnTo>
                <a:lnTo>
                  <a:pt x="120" y="960"/>
                </a:lnTo>
                <a:lnTo>
                  <a:pt x="134" y="940"/>
                </a:lnTo>
                <a:lnTo>
                  <a:pt x="150" y="923"/>
                </a:lnTo>
                <a:lnTo>
                  <a:pt x="167" y="907"/>
                </a:lnTo>
                <a:lnTo>
                  <a:pt x="187" y="896"/>
                </a:lnTo>
                <a:lnTo>
                  <a:pt x="210" y="887"/>
                </a:lnTo>
                <a:lnTo>
                  <a:pt x="231" y="883"/>
                </a:lnTo>
                <a:lnTo>
                  <a:pt x="261" y="882"/>
                </a:lnTo>
                <a:lnTo>
                  <a:pt x="295" y="884"/>
                </a:lnTo>
                <a:lnTo>
                  <a:pt x="318" y="887"/>
                </a:lnTo>
                <a:lnTo>
                  <a:pt x="337" y="893"/>
                </a:lnTo>
                <a:lnTo>
                  <a:pt x="356" y="904"/>
                </a:lnTo>
                <a:lnTo>
                  <a:pt x="379" y="922"/>
                </a:lnTo>
                <a:lnTo>
                  <a:pt x="394" y="940"/>
                </a:lnTo>
                <a:lnTo>
                  <a:pt x="408" y="958"/>
                </a:lnTo>
                <a:lnTo>
                  <a:pt x="415" y="978"/>
                </a:lnTo>
                <a:lnTo>
                  <a:pt x="420" y="996"/>
                </a:lnTo>
                <a:lnTo>
                  <a:pt x="420" y="1017"/>
                </a:lnTo>
                <a:lnTo>
                  <a:pt x="417" y="1038"/>
                </a:lnTo>
                <a:lnTo>
                  <a:pt x="412" y="1058"/>
                </a:lnTo>
                <a:lnTo>
                  <a:pt x="408" y="1076"/>
                </a:lnTo>
                <a:lnTo>
                  <a:pt x="401" y="1096"/>
                </a:lnTo>
                <a:lnTo>
                  <a:pt x="398" y="1116"/>
                </a:lnTo>
                <a:lnTo>
                  <a:pt x="398" y="1133"/>
                </a:lnTo>
                <a:lnTo>
                  <a:pt x="403" y="1153"/>
                </a:lnTo>
                <a:lnTo>
                  <a:pt x="642" y="1153"/>
                </a:lnTo>
                <a:lnTo>
                  <a:pt x="639" y="1112"/>
                </a:lnTo>
                <a:lnTo>
                  <a:pt x="642" y="1082"/>
                </a:lnTo>
                <a:lnTo>
                  <a:pt x="642" y="1060"/>
                </a:lnTo>
                <a:lnTo>
                  <a:pt x="643" y="1039"/>
                </a:lnTo>
                <a:lnTo>
                  <a:pt x="645" y="1017"/>
                </a:lnTo>
                <a:lnTo>
                  <a:pt x="650" y="995"/>
                </a:lnTo>
                <a:lnTo>
                  <a:pt x="656" y="980"/>
                </a:lnTo>
                <a:lnTo>
                  <a:pt x="665" y="967"/>
                </a:lnTo>
                <a:lnTo>
                  <a:pt x="677" y="956"/>
                </a:lnTo>
                <a:lnTo>
                  <a:pt x="691" y="947"/>
                </a:lnTo>
                <a:lnTo>
                  <a:pt x="707" y="942"/>
                </a:lnTo>
                <a:lnTo>
                  <a:pt x="724" y="940"/>
                </a:lnTo>
                <a:lnTo>
                  <a:pt x="740" y="938"/>
                </a:lnTo>
                <a:lnTo>
                  <a:pt x="761" y="938"/>
                </a:lnTo>
                <a:lnTo>
                  <a:pt x="781" y="940"/>
                </a:lnTo>
                <a:lnTo>
                  <a:pt x="797" y="942"/>
                </a:lnTo>
                <a:lnTo>
                  <a:pt x="818" y="943"/>
                </a:lnTo>
                <a:lnTo>
                  <a:pt x="840" y="946"/>
                </a:lnTo>
                <a:lnTo>
                  <a:pt x="865" y="946"/>
                </a:lnTo>
                <a:lnTo>
                  <a:pt x="886" y="943"/>
                </a:lnTo>
                <a:lnTo>
                  <a:pt x="907" y="940"/>
                </a:lnTo>
                <a:lnTo>
                  <a:pt x="929" y="935"/>
                </a:lnTo>
                <a:lnTo>
                  <a:pt x="945" y="926"/>
                </a:lnTo>
                <a:lnTo>
                  <a:pt x="962" y="915"/>
                </a:lnTo>
                <a:lnTo>
                  <a:pt x="973" y="900"/>
                </a:lnTo>
                <a:lnTo>
                  <a:pt x="984" y="884"/>
                </a:lnTo>
                <a:lnTo>
                  <a:pt x="989" y="868"/>
                </a:lnTo>
                <a:lnTo>
                  <a:pt x="992" y="850"/>
                </a:lnTo>
                <a:lnTo>
                  <a:pt x="989" y="831"/>
                </a:lnTo>
                <a:lnTo>
                  <a:pt x="988" y="811"/>
                </a:lnTo>
                <a:lnTo>
                  <a:pt x="989" y="790"/>
                </a:lnTo>
                <a:lnTo>
                  <a:pt x="993" y="774"/>
                </a:lnTo>
                <a:lnTo>
                  <a:pt x="998" y="757"/>
                </a:lnTo>
                <a:lnTo>
                  <a:pt x="1005" y="741"/>
                </a:lnTo>
                <a:lnTo>
                  <a:pt x="1015" y="730"/>
                </a:lnTo>
                <a:lnTo>
                  <a:pt x="1031" y="719"/>
                </a:lnTo>
                <a:lnTo>
                  <a:pt x="1051" y="712"/>
                </a:lnTo>
                <a:lnTo>
                  <a:pt x="1071" y="705"/>
                </a:lnTo>
                <a:lnTo>
                  <a:pt x="1089" y="701"/>
                </a:lnTo>
                <a:lnTo>
                  <a:pt x="1109" y="696"/>
                </a:lnTo>
                <a:lnTo>
                  <a:pt x="1135" y="691"/>
                </a:lnTo>
                <a:lnTo>
                  <a:pt x="1154" y="687"/>
                </a:lnTo>
                <a:lnTo>
                  <a:pt x="1175" y="681"/>
                </a:lnTo>
                <a:lnTo>
                  <a:pt x="1193" y="675"/>
                </a:lnTo>
                <a:lnTo>
                  <a:pt x="1210" y="667"/>
                </a:lnTo>
                <a:lnTo>
                  <a:pt x="1223" y="657"/>
                </a:lnTo>
                <a:lnTo>
                  <a:pt x="1236" y="648"/>
                </a:lnTo>
                <a:lnTo>
                  <a:pt x="1249" y="632"/>
                </a:lnTo>
                <a:lnTo>
                  <a:pt x="1258" y="617"/>
                </a:lnTo>
                <a:lnTo>
                  <a:pt x="1265" y="599"/>
                </a:lnTo>
                <a:lnTo>
                  <a:pt x="1269" y="577"/>
                </a:lnTo>
                <a:lnTo>
                  <a:pt x="1266" y="559"/>
                </a:lnTo>
                <a:lnTo>
                  <a:pt x="1264" y="539"/>
                </a:lnTo>
                <a:lnTo>
                  <a:pt x="1258" y="516"/>
                </a:lnTo>
                <a:lnTo>
                  <a:pt x="1252" y="490"/>
                </a:lnTo>
                <a:lnTo>
                  <a:pt x="1246" y="466"/>
                </a:lnTo>
                <a:lnTo>
                  <a:pt x="1244" y="448"/>
                </a:lnTo>
                <a:lnTo>
                  <a:pt x="1244" y="431"/>
                </a:lnTo>
                <a:lnTo>
                  <a:pt x="1247" y="407"/>
                </a:lnTo>
                <a:lnTo>
                  <a:pt x="1253" y="388"/>
                </a:lnTo>
                <a:lnTo>
                  <a:pt x="1259" y="373"/>
                </a:lnTo>
                <a:lnTo>
                  <a:pt x="1268" y="358"/>
                </a:lnTo>
                <a:lnTo>
                  <a:pt x="1280" y="342"/>
                </a:lnTo>
                <a:lnTo>
                  <a:pt x="1294" y="326"/>
                </a:lnTo>
                <a:lnTo>
                  <a:pt x="1311" y="312"/>
                </a:lnTo>
                <a:lnTo>
                  <a:pt x="1329" y="301"/>
                </a:lnTo>
                <a:lnTo>
                  <a:pt x="1347" y="295"/>
                </a:lnTo>
                <a:lnTo>
                  <a:pt x="1364" y="290"/>
                </a:lnTo>
                <a:lnTo>
                  <a:pt x="1382" y="288"/>
                </a:lnTo>
                <a:lnTo>
                  <a:pt x="1405" y="288"/>
                </a:lnTo>
                <a:lnTo>
                  <a:pt x="1427" y="288"/>
                </a:lnTo>
                <a:close/>
              </a:path>
            </a:pathLst>
          </a:custGeom>
          <a:solidFill>
            <a:srgbClr val="008080"/>
          </a:solidFill>
          <a:ln w="3175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0" name="Freeform 28"/>
          <p:cNvSpPr>
            <a:spLocks/>
          </p:cNvSpPr>
          <p:nvPr/>
        </p:nvSpPr>
        <p:spPr bwMode="auto">
          <a:xfrm rot="1652220">
            <a:off x="7158038" y="3052763"/>
            <a:ext cx="501650" cy="550862"/>
          </a:xfrm>
          <a:custGeom>
            <a:avLst/>
            <a:gdLst>
              <a:gd name="T0" fmla="*/ 2147483647 w 1583"/>
              <a:gd name="T1" fmla="*/ 2147483647 h 1734"/>
              <a:gd name="T2" fmla="*/ 2147483647 w 1583"/>
              <a:gd name="T3" fmla="*/ 2147483647 h 1734"/>
              <a:gd name="T4" fmla="*/ 2147483647 w 1583"/>
              <a:gd name="T5" fmla="*/ 2147483647 h 1734"/>
              <a:gd name="T6" fmla="*/ 2147483647 w 1583"/>
              <a:gd name="T7" fmla="*/ 2147483647 h 1734"/>
              <a:gd name="T8" fmla="*/ 2147483647 w 1583"/>
              <a:gd name="T9" fmla="*/ 2147483647 h 1734"/>
              <a:gd name="T10" fmla="*/ 2147483647 w 1583"/>
              <a:gd name="T11" fmla="*/ 2147483647 h 1734"/>
              <a:gd name="T12" fmla="*/ 2147483647 w 1583"/>
              <a:gd name="T13" fmla="*/ 2147483647 h 1734"/>
              <a:gd name="T14" fmla="*/ 2147483647 w 1583"/>
              <a:gd name="T15" fmla="*/ 2147483647 h 1734"/>
              <a:gd name="T16" fmla="*/ 2147483647 w 1583"/>
              <a:gd name="T17" fmla="*/ 2147483647 h 1734"/>
              <a:gd name="T18" fmla="*/ 2147483647 w 1583"/>
              <a:gd name="T19" fmla="*/ 2147483647 h 1734"/>
              <a:gd name="T20" fmla="*/ 2147483647 w 1583"/>
              <a:gd name="T21" fmla="*/ 2147483647 h 1734"/>
              <a:gd name="T22" fmla="*/ 2147483647 w 1583"/>
              <a:gd name="T23" fmla="*/ 2147483647 h 1734"/>
              <a:gd name="T24" fmla="*/ 2147483647 w 1583"/>
              <a:gd name="T25" fmla="*/ 2147483647 h 1734"/>
              <a:gd name="T26" fmla="*/ 2147483647 w 1583"/>
              <a:gd name="T27" fmla="*/ 2147483647 h 1734"/>
              <a:gd name="T28" fmla="*/ 2147483647 w 1583"/>
              <a:gd name="T29" fmla="*/ 2147483647 h 1734"/>
              <a:gd name="T30" fmla="*/ 2147483647 w 1583"/>
              <a:gd name="T31" fmla="*/ 2147483647 h 1734"/>
              <a:gd name="T32" fmla="*/ 2147483647 w 1583"/>
              <a:gd name="T33" fmla="*/ 2147483647 h 1734"/>
              <a:gd name="T34" fmla="*/ 2147483647 w 1583"/>
              <a:gd name="T35" fmla="*/ 2147483647 h 1734"/>
              <a:gd name="T36" fmla="*/ 2147483647 w 1583"/>
              <a:gd name="T37" fmla="*/ 2147483647 h 1734"/>
              <a:gd name="T38" fmla="*/ 2147483647 w 1583"/>
              <a:gd name="T39" fmla="*/ 2147483647 h 1734"/>
              <a:gd name="T40" fmla="*/ 2147483647 w 1583"/>
              <a:gd name="T41" fmla="*/ 2147483647 h 1734"/>
              <a:gd name="T42" fmla="*/ 2147483647 w 1583"/>
              <a:gd name="T43" fmla="*/ 2147483647 h 1734"/>
              <a:gd name="T44" fmla="*/ 2147483647 w 1583"/>
              <a:gd name="T45" fmla="*/ 2147483647 h 1734"/>
              <a:gd name="T46" fmla="*/ 2147483647 w 1583"/>
              <a:gd name="T47" fmla="*/ 2147483647 h 1734"/>
              <a:gd name="T48" fmla="*/ 2147483647 w 1583"/>
              <a:gd name="T49" fmla="*/ 2147483647 h 1734"/>
              <a:gd name="T50" fmla="*/ 2147483647 w 1583"/>
              <a:gd name="T51" fmla="*/ 2147483647 h 1734"/>
              <a:gd name="T52" fmla="*/ 2147483647 w 1583"/>
              <a:gd name="T53" fmla="*/ 2147483647 h 1734"/>
              <a:gd name="T54" fmla="*/ 2147483647 w 1583"/>
              <a:gd name="T55" fmla="*/ 2147483647 h 1734"/>
              <a:gd name="T56" fmla="*/ 2147483647 w 1583"/>
              <a:gd name="T57" fmla="*/ 2147483647 h 1734"/>
              <a:gd name="T58" fmla="*/ 2147483647 w 1583"/>
              <a:gd name="T59" fmla="*/ 2147483647 h 1734"/>
              <a:gd name="T60" fmla="*/ 2147483647 w 1583"/>
              <a:gd name="T61" fmla="*/ 2147483647 h 1734"/>
              <a:gd name="T62" fmla="*/ 2147483647 w 1583"/>
              <a:gd name="T63" fmla="*/ 2147483647 h 1734"/>
              <a:gd name="T64" fmla="*/ 2147483647 w 1583"/>
              <a:gd name="T65" fmla="*/ 2147483647 h 1734"/>
              <a:gd name="T66" fmla="*/ 2147483647 w 1583"/>
              <a:gd name="T67" fmla="*/ 2147483647 h 1734"/>
              <a:gd name="T68" fmla="*/ 2147483647 w 1583"/>
              <a:gd name="T69" fmla="*/ 2147483647 h 1734"/>
              <a:gd name="T70" fmla="*/ 2147483647 w 1583"/>
              <a:gd name="T71" fmla="*/ 2147483647 h 1734"/>
              <a:gd name="T72" fmla="*/ 2147483647 w 1583"/>
              <a:gd name="T73" fmla="*/ 2147483647 h 1734"/>
              <a:gd name="T74" fmla="*/ 2147483647 w 1583"/>
              <a:gd name="T75" fmla="*/ 2147483647 h 1734"/>
              <a:gd name="T76" fmla="*/ 2147483647 w 1583"/>
              <a:gd name="T77" fmla="*/ 2147483647 h 1734"/>
              <a:gd name="T78" fmla="*/ 2147483647 w 1583"/>
              <a:gd name="T79" fmla="*/ 2147483647 h 1734"/>
              <a:gd name="T80" fmla="*/ 2147483647 w 1583"/>
              <a:gd name="T81" fmla="*/ 2147483647 h 1734"/>
              <a:gd name="T82" fmla="*/ 2147483647 w 1583"/>
              <a:gd name="T83" fmla="*/ 2147483647 h 1734"/>
              <a:gd name="T84" fmla="*/ 2147483647 w 1583"/>
              <a:gd name="T85" fmla="*/ 2147483647 h 1734"/>
              <a:gd name="T86" fmla="*/ 2147483647 w 1583"/>
              <a:gd name="T87" fmla="*/ 2147483647 h 1734"/>
              <a:gd name="T88" fmla="*/ 2147483647 w 1583"/>
              <a:gd name="T89" fmla="*/ 2147483647 h 1734"/>
              <a:gd name="T90" fmla="*/ 2147483647 w 1583"/>
              <a:gd name="T91" fmla="*/ 2147483647 h 1734"/>
              <a:gd name="T92" fmla="*/ 2147483647 w 1583"/>
              <a:gd name="T93" fmla="*/ 2147483647 h 1734"/>
              <a:gd name="T94" fmla="*/ 2147483647 w 1583"/>
              <a:gd name="T95" fmla="*/ 2147483647 h 1734"/>
              <a:gd name="T96" fmla="*/ 2147483647 w 1583"/>
              <a:gd name="T97" fmla="*/ 2147483647 h 1734"/>
              <a:gd name="T98" fmla="*/ 2147483647 w 1583"/>
              <a:gd name="T99" fmla="*/ 2147483647 h 1734"/>
              <a:gd name="T100" fmla="*/ 2147483647 w 1583"/>
              <a:gd name="T101" fmla="*/ 2147483647 h 1734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w 1583"/>
              <a:gd name="T154" fmla="*/ 0 h 1734"/>
              <a:gd name="T155" fmla="*/ 1583 w 1583"/>
              <a:gd name="T156" fmla="*/ 1734 h 1734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T153" t="T154" r="T155" b="T156"/>
            <a:pathLst>
              <a:path w="1583" h="1734">
                <a:moveTo>
                  <a:pt x="603" y="363"/>
                </a:moveTo>
                <a:lnTo>
                  <a:pt x="619" y="343"/>
                </a:lnTo>
                <a:lnTo>
                  <a:pt x="630" y="324"/>
                </a:lnTo>
                <a:lnTo>
                  <a:pt x="636" y="303"/>
                </a:lnTo>
                <a:lnTo>
                  <a:pt x="636" y="276"/>
                </a:lnTo>
                <a:lnTo>
                  <a:pt x="629" y="246"/>
                </a:lnTo>
                <a:lnTo>
                  <a:pt x="623" y="220"/>
                </a:lnTo>
                <a:lnTo>
                  <a:pt x="614" y="188"/>
                </a:lnTo>
                <a:lnTo>
                  <a:pt x="610" y="153"/>
                </a:lnTo>
                <a:lnTo>
                  <a:pt x="614" y="132"/>
                </a:lnTo>
                <a:lnTo>
                  <a:pt x="620" y="106"/>
                </a:lnTo>
                <a:lnTo>
                  <a:pt x="633" y="79"/>
                </a:lnTo>
                <a:lnTo>
                  <a:pt x="650" y="53"/>
                </a:lnTo>
                <a:lnTo>
                  <a:pt x="672" y="32"/>
                </a:lnTo>
                <a:lnTo>
                  <a:pt x="692" y="16"/>
                </a:lnTo>
                <a:lnTo>
                  <a:pt x="719" y="7"/>
                </a:lnTo>
                <a:lnTo>
                  <a:pt x="751" y="2"/>
                </a:lnTo>
                <a:lnTo>
                  <a:pt x="785" y="0"/>
                </a:lnTo>
                <a:lnTo>
                  <a:pt x="832" y="0"/>
                </a:lnTo>
                <a:lnTo>
                  <a:pt x="869" y="4"/>
                </a:lnTo>
                <a:lnTo>
                  <a:pt x="890" y="11"/>
                </a:lnTo>
                <a:lnTo>
                  <a:pt x="906" y="21"/>
                </a:lnTo>
                <a:lnTo>
                  <a:pt x="923" y="32"/>
                </a:lnTo>
                <a:lnTo>
                  <a:pt x="941" y="50"/>
                </a:lnTo>
                <a:lnTo>
                  <a:pt x="957" y="72"/>
                </a:lnTo>
                <a:lnTo>
                  <a:pt x="969" y="92"/>
                </a:lnTo>
                <a:lnTo>
                  <a:pt x="975" y="109"/>
                </a:lnTo>
                <a:lnTo>
                  <a:pt x="980" y="138"/>
                </a:lnTo>
                <a:lnTo>
                  <a:pt x="980" y="164"/>
                </a:lnTo>
                <a:lnTo>
                  <a:pt x="976" y="190"/>
                </a:lnTo>
                <a:lnTo>
                  <a:pt x="971" y="210"/>
                </a:lnTo>
                <a:lnTo>
                  <a:pt x="965" y="242"/>
                </a:lnTo>
                <a:lnTo>
                  <a:pt x="957" y="275"/>
                </a:lnTo>
                <a:lnTo>
                  <a:pt x="953" y="296"/>
                </a:lnTo>
                <a:lnTo>
                  <a:pt x="959" y="317"/>
                </a:lnTo>
                <a:lnTo>
                  <a:pt x="967" y="332"/>
                </a:lnTo>
                <a:lnTo>
                  <a:pt x="980" y="351"/>
                </a:lnTo>
                <a:lnTo>
                  <a:pt x="1000" y="367"/>
                </a:lnTo>
                <a:lnTo>
                  <a:pt x="1018" y="381"/>
                </a:lnTo>
                <a:lnTo>
                  <a:pt x="1045" y="392"/>
                </a:lnTo>
                <a:lnTo>
                  <a:pt x="1073" y="400"/>
                </a:lnTo>
                <a:lnTo>
                  <a:pt x="1098" y="406"/>
                </a:lnTo>
                <a:lnTo>
                  <a:pt x="1125" y="409"/>
                </a:lnTo>
                <a:lnTo>
                  <a:pt x="1154" y="417"/>
                </a:lnTo>
                <a:lnTo>
                  <a:pt x="1176" y="424"/>
                </a:lnTo>
                <a:lnTo>
                  <a:pt x="1193" y="433"/>
                </a:lnTo>
                <a:lnTo>
                  <a:pt x="1207" y="443"/>
                </a:lnTo>
                <a:lnTo>
                  <a:pt x="1217" y="454"/>
                </a:lnTo>
                <a:lnTo>
                  <a:pt x="1224" y="467"/>
                </a:lnTo>
                <a:lnTo>
                  <a:pt x="1230" y="483"/>
                </a:lnTo>
                <a:lnTo>
                  <a:pt x="1233" y="498"/>
                </a:lnTo>
                <a:lnTo>
                  <a:pt x="1235" y="512"/>
                </a:lnTo>
                <a:lnTo>
                  <a:pt x="1235" y="530"/>
                </a:lnTo>
                <a:lnTo>
                  <a:pt x="1233" y="551"/>
                </a:lnTo>
                <a:lnTo>
                  <a:pt x="1233" y="567"/>
                </a:lnTo>
                <a:lnTo>
                  <a:pt x="1236" y="587"/>
                </a:lnTo>
                <a:lnTo>
                  <a:pt x="1245" y="604"/>
                </a:lnTo>
                <a:lnTo>
                  <a:pt x="1255" y="619"/>
                </a:lnTo>
                <a:lnTo>
                  <a:pt x="1267" y="630"/>
                </a:lnTo>
                <a:lnTo>
                  <a:pt x="1283" y="642"/>
                </a:lnTo>
                <a:lnTo>
                  <a:pt x="1299" y="650"/>
                </a:lnTo>
                <a:lnTo>
                  <a:pt x="1324" y="655"/>
                </a:lnTo>
                <a:lnTo>
                  <a:pt x="1345" y="657"/>
                </a:lnTo>
                <a:lnTo>
                  <a:pt x="1365" y="658"/>
                </a:lnTo>
                <a:lnTo>
                  <a:pt x="1387" y="657"/>
                </a:lnTo>
                <a:lnTo>
                  <a:pt x="1414" y="655"/>
                </a:lnTo>
                <a:lnTo>
                  <a:pt x="1435" y="653"/>
                </a:lnTo>
                <a:lnTo>
                  <a:pt x="1456" y="651"/>
                </a:lnTo>
                <a:lnTo>
                  <a:pt x="1475" y="650"/>
                </a:lnTo>
                <a:lnTo>
                  <a:pt x="1499" y="651"/>
                </a:lnTo>
                <a:lnTo>
                  <a:pt x="1511" y="653"/>
                </a:lnTo>
                <a:lnTo>
                  <a:pt x="1526" y="657"/>
                </a:lnTo>
                <a:lnTo>
                  <a:pt x="1540" y="664"/>
                </a:lnTo>
                <a:lnTo>
                  <a:pt x="1554" y="675"/>
                </a:lnTo>
                <a:lnTo>
                  <a:pt x="1565" y="688"/>
                </a:lnTo>
                <a:lnTo>
                  <a:pt x="1574" y="706"/>
                </a:lnTo>
                <a:lnTo>
                  <a:pt x="1578" y="722"/>
                </a:lnTo>
                <a:lnTo>
                  <a:pt x="1580" y="742"/>
                </a:lnTo>
                <a:lnTo>
                  <a:pt x="1583" y="778"/>
                </a:lnTo>
                <a:lnTo>
                  <a:pt x="1581" y="820"/>
                </a:lnTo>
                <a:lnTo>
                  <a:pt x="1583" y="864"/>
                </a:lnTo>
                <a:lnTo>
                  <a:pt x="1579" y="916"/>
                </a:lnTo>
                <a:lnTo>
                  <a:pt x="1575" y="951"/>
                </a:lnTo>
                <a:lnTo>
                  <a:pt x="1572" y="980"/>
                </a:lnTo>
                <a:lnTo>
                  <a:pt x="1565" y="996"/>
                </a:lnTo>
                <a:lnTo>
                  <a:pt x="1556" y="1011"/>
                </a:lnTo>
                <a:lnTo>
                  <a:pt x="1544" y="1020"/>
                </a:lnTo>
                <a:lnTo>
                  <a:pt x="1530" y="1029"/>
                </a:lnTo>
                <a:lnTo>
                  <a:pt x="1512" y="1034"/>
                </a:lnTo>
                <a:lnTo>
                  <a:pt x="1498" y="1038"/>
                </a:lnTo>
                <a:lnTo>
                  <a:pt x="1467" y="1039"/>
                </a:lnTo>
                <a:lnTo>
                  <a:pt x="1440" y="1038"/>
                </a:lnTo>
                <a:lnTo>
                  <a:pt x="1418" y="1034"/>
                </a:lnTo>
                <a:lnTo>
                  <a:pt x="1398" y="1033"/>
                </a:lnTo>
                <a:lnTo>
                  <a:pt x="1376" y="1031"/>
                </a:lnTo>
                <a:lnTo>
                  <a:pt x="1356" y="1031"/>
                </a:lnTo>
                <a:lnTo>
                  <a:pt x="1339" y="1033"/>
                </a:lnTo>
                <a:lnTo>
                  <a:pt x="1320" y="1034"/>
                </a:lnTo>
                <a:lnTo>
                  <a:pt x="1298" y="1040"/>
                </a:lnTo>
                <a:lnTo>
                  <a:pt x="1286" y="1045"/>
                </a:lnTo>
                <a:lnTo>
                  <a:pt x="1275" y="1050"/>
                </a:lnTo>
                <a:lnTo>
                  <a:pt x="1260" y="1060"/>
                </a:lnTo>
                <a:lnTo>
                  <a:pt x="1250" y="1072"/>
                </a:lnTo>
                <a:lnTo>
                  <a:pt x="1243" y="1083"/>
                </a:lnTo>
                <a:lnTo>
                  <a:pt x="1235" y="1097"/>
                </a:lnTo>
                <a:lnTo>
                  <a:pt x="1231" y="1110"/>
                </a:lnTo>
                <a:lnTo>
                  <a:pt x="1230" y="1125"/>
                </a:lnTo>
                <a:lnTo>
                  <a:pt x="1231" y="1141"/>
                </a:lnTo>
                <a:lnTo>
                  <a:pt x="1231" y="1168"/>
                </a:lnTo>
                <a:lnTo>
                  <a:pt x="1230" y="1197"/>
                </a:lnTo>
                <a:lnTo>
                  <a:pt x="1223" y="1217"/>
                </a:lnTo>
                <a:lnTo>
                  <a:pt x="1215" y="1235"/>
                </a:lnTo>
                <a:lnTo>
                  <a:pt x="1204" y="1247"/>
                </a:lnTo>
                <a:lnTo>
                  <a:pt x="1188" y="1257"/>
                </a:lnTo>
                <a:lnTo>
                  <a:pt x="1172" y="1266"/>
                </a:lnTo>
                <a:lnTo>
                  <a:pt x="1154" y="1270"/>
                </a:lnTo>
                <a:lnTo>
                  <a:pt x="1130" y="1275"/>
                </a:lnTo>
                <a:lnTo>
                  <a:pt x="1111" y="1282"/>
                </a:lnTo>
                <a:lnTo>
                  <a:pt x="1087" y="1285"/>
                </a:lnTo>
                <a:lnTo>
                  <a:pt x="1068" y="1289"/>
                </a:lnTo>
                <a:lnTo>
                  <a:pt x="1045" y="1294"/>
                </a:lnTo>
                <a:lnTo>
                  <a:pt x="1028" y="1302"/>
                </a:lnTo>
                <a:lnTo>
                  <a:pt x="1008" y="1311"/>
                </a:lnTo>
                <a:lnTo>
                  <a:pt x="990" y="1322"/>
                </a:lnTo>
                <a:lnTo>
                  <a:pt x="976" y="1337"/>
                </a:lnTo>
                <a:lnTo>
                  <a:pt x="964" y="1354"/>
                </a:lnTo>
                <a:lnTo>
                  <a:pt x="954" y="1375"/>
                </a:lnTo>
                <a:lnTo>
                  <a:pt x="952" y="1394"/>
                </a:lnTo>
                <a:lnTo>
                  <a:pt x="953" y="1415"/>
                </a:lnTo>
                <a:lnTo>
                  <a:pt x="957" y="1434"/>
                </a:lnTo>
                <a:lnTo>
                  <a:pt x="963" y="1455"/>
                </a:lnTo>
                <a:lnTo>
                  <a:pt x="968" y="1479"/>
                </a:lnTo>
                <a:lnTo>
                  <a:pt x="971" y="1500"/>
                </a:lnTo>
                <a:lnTo>
                  <a:pt x="976" y="1527"/>
                </a:lnTo>
                <a:lnTo>
                  <a:pt x="976" y="1554"/>
                </a:lnTo>
                <a:lnTo>
                  <a:pt x="970" y="1581"/>
                </a:lnTo>
                <a:lnTo>
                  <a:pt x="964" y="1602"/>
                </a:lnTo>
                <a:lnTo>
                  <a:pt x="957" y="1623"/>
                </a:lnTo>
                <a:lnTo>
                  <a:pt x="947" y="1643"/>
                </a:lnTo>
                <a:lnTo>
                  <a:pt x="933" y="1667"/>
                </a:lnTo>
                <a:lnTo>
                  <a:pt x="918" y="1683"/>
                </a:lnTo>
                <a:lnTo>
                  <a:pt x="906" y="1694"/>
                </a:lnTo>
                <a:lnTo>
                  <a:pt x="890" y="1708"/>
                </a:lnTo>
                <a:lnTo>
                  <a:pt x="873" y="1720"/>
                </a:lnTo>
                <a:lnTo>
                  <a:pt x="857" y="1726"/>
                </a:lnTo>
                <a:lnTo>
                  <a:pt x="842" y="1730"/>
                </a:lnTo>
                <a:lnTo>
                  <a:pt x="817" y="1732"/>
                </a:lnTo>
                <a:lnTo>
                  <a:pt x="789" y="1734"/>
                </a:lnTo>
                <a:lnTo>
                  <a:pt x="755" y="1732"/>
                </a:lnTo>
                <a:lnTo>
                  <a:pt x="739" y="1732"/>
                </a:lnTo>
                <a:lnTo>
                  <a:pt x="718" y="1729"/>
                </a:lnTo>
                <a:lnTo>
                  <a:pt x="695" y="1723"/>
                </a:lnTo>
                <a:lnTo>
                  <a:pt x="676" y="1711"/>
                </a:lnTo>
                <a:lnTo>
                  <a:pt x="663" y="1702"/>
                </a:lnTo>
                <a:lnTo>
                  <a:pt x="650" y="1688"/>
                </a:lnTo>
                <a:lnTo>
                  <a:pt x="639" y="1676"/>
                </a:lnTo>
                <a:lnTo>
                  <a:pt x="628" y="1660"/>
                </a:lnTo>
                <a:lnTo>
                  <a:pt x="619" y="1644"/>
                </a:lnTo>
                <a:lnTo>
                  <a:pt x="612" y="1624"/>
                </a:lnTo>
                <a:lnTo>
                  <a:pt x="608" y="1603"/>
                </a:lnTo>
                <a:lnTo>
                  <a:pt x="607" y="1587"/>
                </a:lnTo>
                <a:lnTo>
                  <a:pt x="607" y="1565"/>
                </a:lnTo>
                <a:lnTo>
                  <a:pt x="608" y="1546"/>
                </a:lnTo>
                <a:lnTo>
                  <a:pt x="614" y="1527"/>
                </a:lnTo>
                <a:lnTo>
                  <a:pt x="619" y="1503"/>
                </a:lnTo>
                <a:lnTo>
                  <a:pt x="625" y="1481"/>
                </a:lnTo>
                <a:lnTo>
                  <a:pt x="629" y="1461"/>
                </a:lnTo>
                <a:lnTo>
                  <a:pt x="630" y="1443"/>
                </a:lnTo>
                <a:lnTo>
                  <a:pt x="629" y="1428"/>
                </a:lnTo>
                <a:lnTo>
                  <a:pt x="625" y="1413"/>
                </a:lnTo>
                <a:lnTo>
                  <a:pt x="615" y="1395"/>
                </a:lnTo>
                <a:lnTo>
                  <a:pt x="605" y="1383"/>
                </a:lnTo>
                <a:lnTo>
                  <a:pt x="593" y="1369"/>
                </a:lnTo>
                <a:lnTo>
                  <a:pt x="580" y="1359"/>
                </a:lnTo>
                <a:lnTo>
                  <a:pt x="566" y="1349"/>
                </a:lnTo>
                <a:lnTo>
                  <a:pt x="546" y="1342"/>
                </a:lnTo>
                <a:lnTo>
                  <a:pt x="529" y="1337"/>
                </a:lnTo>
                <a:lnTo>
                  <a:pt x="507" y="1332"/>
                </a:lnTo>
                <a:lnTo>
                  <a:pt x="487" y="1330"/>
                </a:lnTo>
                <a:lnTo>
                  <a:pt x="469" y="1325"/>
                </a:lnTo>
                <a:lnTo>
                  <a:pt x="446" y="1320"/>
                </a:lnTo>
                <a:lnTo>
                  <a:pt x="428" y="1312"/>
                </a:lnTo>
                <a:lnTo>
                  <a:pt x="406" y="1306"/>
                </a:lnTo>
                <a:lnTo>
                  <a:pt x="389" y="1299"/>
                </a:lnTo>
                <a:lnTo>
                  <a:pt x="375" y="1288"/>
                </a:lnTo>
                <a:lnTo>
                  <a:pt x="364" y="1273"/>
                </a:lnTo>
                <a:lnTo>
                  <a:pt x="357" y="1254"/>
                </a:lnTo>
                <a:lnTo>
                  <a:pt x="350" y="1230"/>
                </a:lnTo>
                <a:lnTo>
                  <a:pt x="349" y="1210"/>
                </a:lnTo>
                <a:lnTo>
                  <a:pt x="350" y="1188"/>
                </a:lnTo>
                <a:lnTo>
                  <a:pt x="353" y="1171"/>
                </a:lnTo>
                <a:lnTo>
                  <a:pt x="350" y="1150"/>
                </a:lnTo>
                <a:lnTo>
                  <a:pt x="344" y="1134"/>
                </a:lnTo>
                <a:lnTo>
                  <a:pt x="333" y="1116"/>
                </a:lnTo>
                <a:lnTo>
                  <a:pt x="322" y="1105"/>
                </a:lnTo>
                <a:lnTo>
                  <a:pt x="308" y="1094"/>
                </a:lnTo>
                <a:lnTo>
                  <a:pt x="290" y="1087"/>
                </a:lnTo>
                <a:lnTo>
                  <a:pt x="269" y="1080"/>
                </a:lnTo>
                <a:lnTo>
                  <a:pt x="247" y="1077"/>
                </a:lnTo>
                <a:lnTo>
                  <a:pt x="228" y="1075"/>
                </a:lnTo>
                <a:lnTo>
                  <a:pt x="207" y="1075"/>
                </a:lnTo>
                <a:lnTo>
                  <a:pt x="189" y="1077"/>
                </a:lnTo>
                <a:lnTo>
                  <a:pt x="170" y="1078"/>
                </a:lnTo>
                <a:lnTo>
                  <a:pt x="152" y="1081"/>
                </a:lnTo>
                <a:lnTo>
                  <a:pt x="133" y="1083"/>
                </a:lnTo>
                <a:lnTo>
                  <a:pt x="103" y="1083"/>
                </a:lnTo>
                <a:lnTo>
                  <a:pt x="83" y="1082"/>
                </a:lnTo>
                <a:lnTo>
                  <a:pt x="62" y="1077"/>
                </a:lnTo>
                <a:lnTo>
                  <a:pt x="47" y="1070"/>
                </a:lnTo>
                <a:lnTo>
                  <a:pt x="31" y="1057"/>
                </a:lnTo>
                <a:lnTo>
                  <a:pt x="20" y="1044"/>
                </a:lnTo>
                <a:lnTo>
                  <a:pt x="13" y="1029"/>
                </a:lnTo>
                <a:lnTo>
                  <a:pt x="4" y="1001"/>
                </a:lnTo>
                <a:lnTo>
                  <a:pt x="3" y="971"/>
                </a:lnTo>
                <a:lnTo>
                  <a:pt x="2" y="942"/>
                </a:lnTo>
                <a:lnTo>
                  <a:pt x="0" y="905"/>
                </a:lnTo>
                <a:lnTo>
                  <a:pt x="3" y="873"/>
                </a:lnTo>
                <a:lnTo>
                  <a:pt x="4" y="838"/>
                </a:lnTo>
                <a:lnTo>
                  <a:pt x="5" y="807"/>
                </a:lnTo>
                <a:lnTo>
                  <a:pt x="8" y="775"/>
                </a:lnTo>
                <a:lnTo>
                  <a:pt x="11" y="751"/>
                </a:lnTo>
                <a:lnTo>
                  <a:pt x="15" y="723"/>
                </a:lnTo>
                <a:lnTo>
                  <a:pt x="20" y="703"/>
                </a:lnTo>
                <a:lnTo>
                  <a:pt x="27" y="689"/>
                </a:lnTo>
                <a:lnTo>
                  <a:pt x="39" y="675"/>
                </a:lnTo>
                <a:lnTo>
                  <a:pt x="50" y="667"/>
                </a:lnTo>
                <a:lnTo>
                  <a:pt x="64" y="657"/>
                </a:lnTo>
                <a:lnTo>
                  <a:pt x="78" y="655"/>
                </a:lnTo>
                <a:lnTo>
                  <a:pt x="95" y="651"/>
                </a:lnTo>
                <a:lnTo>
                  <a:pt x="117" y="650"/>
                </a:lnTo>
                <a:lnTo>
                  <a:pt x="137" y="651"/>
                </a:lnTo>
                <a:lnTo>
                  <a:pt x="164" y="655"/>
                </a:lnTo>
                <a:lnTo>
                  <a:pt x="188" y="656"/>
                </a:lnTo>
                <a:lnTo>
                  <a:pt x="207" y="657"/>
                </a:lnTo>
                <a:lnTo>
                  <a:pt x="235" y="658"/>
                </a:lnTo>
                <a:lnTo>
                  <a:pt x="263" y="655"/>
                </a:lnTo>
                <a:lnTo>
                  <a:pt x="286" y="650"/>
                </a:lnTo>
                <a:lnTo>
                  <a:pt x="308" y="641"/>
                </a:lnTo>
                <a:lnTo>
                  <a:pt x="323" y="632"/>
                </a:lnTo>
                <a:lnTo>
                  <a:pt x="338" y="619"/>
                </a:lnTo>
                <a:lnTo>
                  <a:pt x="349" y="602"/>
                </a:lnTo>
                <a:lnTo>
                  <a:pt x="357" y="584"/>
                </a:lnTo>
                <a:lnTo>
                  <a:pt x="359" y="566"/>
                </a:lnTo>
                <a:lnTo>
                  <a:pt x="358" y="552"/>
                </a:lnTo>
                <a:lnTo>
                  <a:pt x="357" y="526"/>
                </a:lnTo>
                <a:lnTo>
                  <a:pt x="358" y="501"/>
                </a:lnTo>
                <a:lnTo>
                  <a:pt x="363" y="481"/>
                </a:lnTo>
                <a:lnTo>
                  <a:pt x="369" y="462"/>
                </a:lnTo>
                <a:lnTo>
                  <a:pt x="377" y="449"/>
                </a:lnTo>
                <a:lnTo>
                  <a:pt x="395" y="435"/>
                </a:lnTo>
                <a:lnTo>
                  <a:pt x="413" y="425"/>
                </a:lnTo>
                <a:lnTo>
                  <a:pt x="437" y="418"/>
                </a:lnTo>
                <a:lnTo>
                  <a:pt x="460" y="412"/>
                </a:lnTo>
                <a:lnTo>
                  <a:pt x="480" y="407"/>
                </a:lnTo>
                <a:lnTo>
                  <a:pt x="504" y="403"/>
                </a:lnTo>
                <a:lnTo>
                  <a:pt x="528" y="398"/>
                </a:lnTo>
                <a:lnTo>
                  <a:pt x="555" y="391"/>
                </a:lnTo>
                <a:lnTo>
                  <a:pt x="581" y="380"/>
                </a:lnTo>
                <a:lnTo>
                  <a:pt x="603" y="363"/>
                </a:lnTo>
                <a:close/>
              </a:path>
            </a:pathLst>
          </a:custGeom>
          <a:solidFill>
            <a:srgbClr val="FFFF00"/>
          </a:solidFill>
          <a:ln w="3175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1" name="Freeform 29"/>
          <p:cNvSpPr>
            <a:spLocks/>
          </p:cNvSpPr>
          <p:nvPr/>
        </p:nvSpPr>
        <p:spPr bwMode="auto">
          <a:xfrm rot="-3210052">
            <a:off x="7569994" y="3145631"/>
            <a:ext cx="450850" cy="439738"/>
          </a:xfrm>
          <a:custGeom>
            <a:avLst/>
            <a:gdLst>
              <a:gd name="T0" fmla="*/ 2147483647 w 1421"/>
              <a:gd name="T1" fmla="*/ 2147483647 h 1382"/>
              <a:gd name="T2" fmla="*/ 0 w 1421"/>
              <a:gd name="T3" fmla="*/ 2147483647 h 1382"/>
              <a:gd name="T4" fmla="*/ 2147483647 w 1421"/>
              <a:gd name="T5" fmla="*/ 2147483647 h 1382"/>
              <a:gd name="T6" fmla="*/ 2147483647 w 1421"/>
              <a:gd name="T7" fmla="*/ 2147483647 h 1382"/>
              <a:gd name="T8" fmla="*/ 2147483647 w 1421"/>
              <a:gd name="T9" fmla="*/ 2147483647 h 1382"/>
              <a:gd name="T10" fmla="*/ 2147483647 w 1421"/>
              <a:gd name="T11" fmla="*/ 2147483647 h 1382"/>
              <a:gd name="T12" fmla="*/ 2147483647 w 1421"/>
              <a:gd name="T13" fmla="*/ 2147483647 h 1382"/>
              <a:gd name="T14" fmla="*/ 2147483647 w 1421"/>
              <a:gd name="T15" fmla="*/ 2147483647 h 1382"/>
              <a:gd name="T16" fmla="*/ 2147483647 w 1421"/>
              <a:gd name="T17" fmla="*/ 2147483647 h 1382"/>
              <a:gd name="T18" fmla="*/ 2147483647 w 1421"/>
              <a:gd name="T19" fmla="*/ 2147483647 h 1382"/>
              <a:gd name="T20" fmla="*/ 2147483647 w 1421"/>
              <a:gd name="T21" fmla="*/ 2147483647 h 1382"/>
              <a:gd name="T22" fmla="*/ 2147483647 w 1421"/>
              <a:gd name="T23" fmla="*/ 2147483647 h 1382"/>
              <a:gd name="T24" fmla="*/ 2147483647 w 1421"/>
              <a:gd name="T25" fmla="*/ 2147483647 h 1382"/>
              <a:gd name="T26" fmla="*/ 2147483647 w 1421"/>
              <a:gd name="T27" fmla="*/ 0 h 1382"/>
              <a:gd name="T28" fmla="*/ 2147483647 w 1421"/>
              <a:gd name="T29" fmla="*/ 2147483647 h 1382"/>
              <a:gd name="T30" fmla="*/ 2147483647 w 1421"/>
              <a:gd name="T31" fmla="*/ 2147483647 h 1382"/>
              <a:gd name="T32" fmla="*/ 2147483647 w 1421"/>
              <a:gd name="T33" fmla="*/ 2147483647 h 1382"/>
              <a:gd name="T34" fmla="*/ 2147483647 w 1421"/>
              <a:gd name="T35" fmla="*/ 2147483647 h 1382"/>
              <a:gd name="T36" fmla="*/ 2147483647 w 1421"/>
              <a:gd name="T37" fmla="*/ 2147483647 h 1382"/>
              <a:gd name="T38" fmla="*/ 2147483647 w 1421"/>
              <a:gd name="T39" fmla="*/ 2147483647 h 1382"/>
              <a:gd name="T40" fmla="*/ 2147483647 w 1421"/>
              <a:gd name="T41" fmla="*/ 2147483647 h 1382"/>
              <a:gd name="T42" fmla="*/ 2147483647 w 1421"/>
              <a:gd name="T43" fmla="*/ 2147483647 h 1382"/>
              <a:gd name="T44" fmla="*/ 2147483647 w 1421"/>
              <a:gd name="T45" fmla="*/ 2147483647 h 1382"/>
              <a:gd name="T46" fmla="*/ 2147483647 w 1421"/>
              <a:gd name="T47" fmla="*/ 2147483647 h 1382"/>
              <a:gd name="T48" fmla="*/ 2147483647 w 1421"/>
              <a:gd name="T49" fmla="*/ 2147483647 h 1382"/>
              <a:gd name="T50" fmla="*/ 2147483647 w 1421"/>
              <a:gd name="T51" fmla="*/ 2147483647 h 1382"/>
              <a:gd name="T52" fmla="*/ 2147483647 w 1421"/>
              <a:gd name="T53" fmla="*/ 2147483647 h 1382"/>
              <a:gd name="T54" fmla="*/ 2147483647 w 1421"/>
              <a:gd name="T55" fmla="*/ 2147483647 h 1382"/>
              <a:gd name="T56" fmla="*/ 2147483647 w 1421"/>
              <a:gd name="T57" fmla="*/ 2147483647 h 1382"/>
              <a:gd name="T58" fmla="*/ 2147483647 w 1421"/>
              <a:gd name="T59" fmla="*/ 2147483647 h 1382"/>
              <a:gd name="T60" fmla="*/ 2147483647 w 1421"/>
              <a:gd name="T61" fmla="*/ 2147483647 h 1382"/>
              <a:gd name="T62" fmla="*/ 2147483647 w 1421"/>
              <a:gd name="T63" fmla="*/ 2147483647 h 1382"/>
              <a:gd name="T64" fmla="*/ 2147483647 w 1421"/>
              <a:gd name="T65" fmla="*/ 2147483647 h 1382"/>
              <a:gd name="T66" fmla="*/ 2147483647 w 1421"/>
              <a:gd name="T67" fmla="*/ 2147483647 h 1382"/>
              <a:gd name="T68" fmla="*/ 2147483647 w 1421"/>
              <a:gd name="T69" fmla="*/ 2147483647 h 1382"/>
              <a:gd name="T70" fmla="*/ 2147483647 w 1421"/>
              <a:gd name="T71" fmla="*/ 2147483647 h 1382"/>
              <a:gd name="T72" fmla="*/ 2147483647 w 1421"/>
              <a:gd name="T73" fmla="*/ 2147483647 h 1382"/>
              <a:gd name="T74" fmla="*/ 2147483647 w 1421"/>
              <a:gd name="T75" fmla="*/ 2147483647 h 1382"/>
              <a:gd name="T76" fmla="*/ 2147483647 w 1421"/>
              <a:gd name="T77" fmla="*/ 2147483647 h 1382"/>
              <a:gd name="T78" fmla="*/ 2147483647 w 1421"/>
              <a:gd name="T79" fmla="*/ 2147483647 h 1382"/>
              <a:gd name="T80" fmla="*/ 2147483647 w 1421"/>
              <a:gd name="T81" fmla="*/ 2147483647 h 1382"/>
              <a:gd name="T82" fmla="*/ 2147483647 w 1421"/>
              <a:gd name="T83" fmla="*/ 2147483647 h 1382"/>
              <a:gd name="T84" fmla="*/ 2147483647 w 1421"/>
              <a:gd name="T85" fmla="*/ 2147483647 h 1382"/>
              <a:gd name="T86" fmla="*/ 2147483647 w 1421"/>
              <a:gd name="T87" fmla="*/ 2147483647 h 1382"/>
              <a:gd name="T88" fmla="*/ 2147483647 w 1421"/>
              <a:gd name="T89" fmla="*/ 2147483647 h 1382"/>
              <a:gd name="T90" fmla="*/ 2147483647 w 1421"/>
              <a:gd name="T91" fmla="*/ 2147483647 h 1382"/>
              <a:gd name="T92" fmla="*/ 2147483647 w 1421"/>
              <a:gd name="T93" fmla="*/ 2147483647 h 1382"/>
              <a:gd name="T94" fmla="*/ 2147483647 w 1421"/>
              <a:gd name="T95" fmla="*/ 2147483647 h 1382"/>
              <a:gd name="T96" fmla="*/ 2147483647 w 1421"/>
              <a:gd name="T97" fmla="*/ 2147483647 h 1382"/>
              <a:gd name="T98" fmla="*/ 2147483647 w 1421"/>
              <a:gd name="T99" fmla="*/ 2147483647 h 1382"/>
              <a:gd name="T100" fmla="*/ 2147483647 w 1421"/>
              <a:gd name="T101" fmla="*/ 2147483647 h 1382"/>
              <a:gd name="T102" fmla="*/ 2147483647 w 1421"/>
              <a:gd name="T103" fmla="*/ 2147483647 h 1382"/>
              <a:gd name="T104" fmla="*/ 2147483647 w 1421"/>
              <a:gd name="T105" fmla="*/ 2147483647 h 1382"/>
              <a:gd name="T106" fmla="*/ 2147483647 w 1421"/>
              <a:gd name="T107" fmla="*/ 2147483647 h 1382"/>
              <a:gd name="T108" fmla="*/ 2147483647 w 1421"/>
              <a:gd name="T109" fmla="*/ 2147483647 h 1382"/>
              <a:gd name="T110" fmla="*/ 2147483647 w 1421"/>
              <a:gd name="T111" fmla="*/ 2147483647 h 1382"/>
              <a:gd name="T112" fmla="*/ 2147483647 w 1421"/>
              <a:gd name="T113" fmla="*/ 2147483647 h 1382"/>
              <a:gd name="T114" fmla="*/ 2147483647 w 1421"/>
              <a:gd name="T115" fmla="*/ 2147483647 h 1382"/>
              <a:gd name="T116" fmla="*/ 2147483647 w 1421"/>
              <a:gd name="T117" fmla="*/ 2147483647 h 1382"/>
              <a:gd name="T118" fmla="*/ 2147483647 w 1421"/>
              <a:gd name="T119" fmla="*/ 2147483647 h 1382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1421"/>
              <a:gd name="T181" fmla="*/ 0 h 1382"/>
              <a:gd name="T182" fmla="*/ 1421 w 1421"/>
              <a:gd name="T183" fmla="*/ 1382 h 1382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1421" h="1382">
                <a:moveTo>
                  <a:pt x="1421" y="1138"/>
                </a:moveTo>
                <a:lnTo>
                  <a:pt x="1421" y="1382"/>
                </a:lnTo>
                <a:lnTo>
                  <a:pt x="1" y="1382"/>
                </a:lnTo>
                <a:lnTo>
                  <a:pt x="0" y="278"/>
                </a:lnTo>
                <a:lnTo>
                  <a:pt x="123" y="278"/>
                </a:lnTo>
                <a:lnTo>
                  <a:pt x="128" y="268"/>
                </a:lnTo>
                <a:lnTo>
                  <a:pt x="131" y="255"/>
                </a:lnTo>
                <a:lnTo>
                  <a:pt x="131" y="244"/>
                </a:lnTo>
                <a:lnTo>
                  <a:pt x="130" y="230"/>
                </a:lnTo>
                <a:lnTo>
                  <a:pt x="125" y="213"/>
                </a:lnTo>
                <a:lnTo>
                  <a:pt x="120" y="191"/>
                </a:lnTo>
                <a:lnTo>
                  <a:pt x="115" y="176"/>
                </a:lnTo>
                <a:lnTo>
                  <a:pt x="111" y="158"/>
                </a:lnTo>
                <a:lnTo>
                  <a:pt x="109" y="140"/>
                </a:lnTo>
                <a:lnTo>
                  <a:pt x="109" y="123"/>
                </a:lnTo>
                <a:lnTo>
                  <a:pt x="111" y="107"/>
                </a:lnTo>
                <a:lnTo>
                  <a:pt x="115" y="90"/>
                </a:lnTo>
                <a:lnTo>
                  <a:pt x="122" y="74"/>
                </a:lnTo>
                <a:lnTo>
                  <a:pt x="131" y="62"/>
                </a:lnTo>
                <a:lnTo>
                  <a:pt x="145" y="47"/>
                </a:lnTo>
                <a:lnTo>
                  <a:pt x="157" y="36"/>
                </a:lnTo>
                <a:lnTo>
                  <a:pt x="171" y="25"/>
                </a:lnTo>
                <a:lnTo>
                  <a:pt x="186" y="16"/>
                </a:lnTo>
                <a:lnTo>
                  <a:pt x="203" y="9"/>
                </a:lnTo>
                <a:lnTo>
                  <a:pt x="223" y="4"/>
                </a:lnTo>
                <a:lnTo>
                  <a:pt x="244" y="1"/>
                </a:lnTo>
                <a:lnTo>
                  <a:pt x="261" y="0"/>
                </a:lnTo>
                <a:lnTo>
                  <a:pt x="279" y="0"/>
                </a:lnTo>
                <a:lnTo>
                  <a:pt x="297" y="1"/>
                </a:lnTo>
                <a:lnTo>
                  <a:pt x="310" y="4"/>
                </a:lnTo>
                <a:lnTo>
                  <a:pt x="326" y="9"/>
                </a:lnTo>
                <a:lnTo>
                  <a:pt x="342" y="13"/>
                </a:lnTo>
                <a:lnTo>
                  <a:pt x="355" y="21"/>
                </a:lnTo>
                <a:lnTo>
                  <a:pt x="368" y="31"/>
                </a:lnTo>
                <a:lnTo>
                  <a:pt x="380" y="43"/>
                </a:lnTo>
                <a:lnTo>
                  <a:pt x="393" y="57"/>
                </a:lnTo>
                <a:lnTo>
                  <a:pt x="404" y="70"/>
                </a:lnTo>
                <a:lnTo>
                  <a:pt x="412" y="85"/>
                </a:lnTo>
                <a:lnTo>
                  <a:pt x="419" y="103"/>
                </a:lnTo>
                <a:lnTo>
                  <a:pt x="424" y="124"/>
                </a:lnTo>
                <a:lnTo>
                  <a:pt x="424" y="144"/>
                </a:lnTo>
                <a:lnTo>
                  <a:pt x="419" y="164"/>
                </a:lnTo>
                <a:lnTo>
                  <a:pt x="414" y="183"/>
                </a:lnTo>
                <a:lnTo>
                  <a:pt x="409" y="203"/>
                </a:lnTo>
                <a:lnTo>
                  <a:pt x="403" y="225"/>
                </a:lnTo>
                <a:lnTo>
                  <a:pt x="399" y="243"/>
                </a:lnTo>
                <a:lnTo>
                  <a:pt x="399" y="252"/>
                </a:lnTo>
                <a:lnTo>
                  <a:pt x="401" y="261"/>
                </a:lnTo>
                <a:lnTo>
                  <a:pt x="405" y="271"/>
                </a:lnTo>
                <a:lnTo>
                  <a:pt x="640" y="271"/>
                </a:lnTo>
                <a:lnTo>
                  <a:pt x="636" y="317"/>
                </a:lnTo>
                <a:lnTo>
                  <a:pt x="634" y="344"/>
                </a:lnTo>
                <a:lnTo>
                  <a:pt x="636" y="366"/>
                </a:lnTo>
                <a:lnTo>
                  <a:pt x="637" y="387"/>
                </a:lnTo>
                <a:lnTo>
                  <a:pt x="639" y="409"/>
                </a:lnTo>
                <a:lnTo>
                  <a:pt x="643" y="431"/>
                </a:lnTo>
                <a:lnTo>
                  <a:pt x="650" y="446"/>
                </a:lnTo>
                <a:lnTo>
                  <a:pt x="659" y="458"/>
                </a:lnTo>
                <a:lnTo>
                  <a:pt x="670" y="469"/>
                </a:lnTo>
                <a:lnTo>
                  <a:pt x="685" y="478"/>
                </a:lnTo>
                <a:lnTo>
                  <a:pt x="701" y="484"/>
                </a:lnTo>
                <a:lnTo>
                  <a:pt x="717" y="487"/>
                </a:lnTo>
                <a:lnTo>
                  <a:pt x="734" y="488"/>
                </a:lnTo>
                <a:lnTo>
                  <a:pt x="754" y="488"/>
                </a:lnTo>
                <a:lnTo>
                  <a:pt x="775" y="485"/>
                </a:lnTo>
                <a:lnTo>
                  <a:pt x="790" y="484"/>
                </a:lnTo>
                <a:lnTo>
                  <a:pt x="812" y="482"/>
                </a:lnTo>
                <a:lnTo>
                  <a:pt x="834" y="479"/>
                </a:lnTo>
                <a:lnTo>
                  <a:pt x="859" y="479"/>
                </a:lnTo>
                <a:lnTo>
                  <a:pt x="880" y="482"/>
                </a:lnTo>
                <a:lnTo>
                  <a:pt x="900" y="485"/>
                </a:lnTo>
                <a:lnTo>
                  <a:pt x="921" y="493"/>
                </a:lnTo>
                <a:lnTo>
                  <a:pt x="939" y="500"/>
                </a:lnTo>
                <a:lnTo>
                  <a:pt x="956" y="512"/>
                </a:lnTo>
                <a:lnTo>
                  <a:pt x="967" y="526"/>
                </a:lnTo>
                <a:lnTo>
                  <a:pt x="977" y="542"/>
                </a:lnTo>
                <a:lnTo>
                  <a:pt x="983" y="559"/>
                </a:lnTo>
                <a:lnTo>
                  <a:pt x="986" y="576"/>
                </a:lnTo>
                <a:lnTo>
                  <a:pt x="983" y="596"/>
                </a:lnTo>
                <a:lnTo>
                  <a:pt x="982" y="616"/>
                </a:lnTo>
                <a:lnTo>
                  <a:pt x="983" y="636"/>
                </a:lnTo>
                <a:lnTo>
                  <a:pt x="986" y="653"/>
                </a:lnTo>
                <a:lnTo>
                  <a:pt x="992" y="669"/>
                </a:lnTo>
                <a:lnTo>
                  <a:pt x="999" y="685"/>
                </a:lnTo>
                <a:lnTo>
                  <a:pt x="1009" y="696"/>
                </a:lnTo>
                <a:lnTo>
                  <a:pt x="1024" y="707"/>
                </a:lnTo>
                <a:lnTo>
                  <a:pt x="1043" y="714"/>
                </a:lnTo>
                <a:lnTo>
                  <a:pt x="1064" y="721"/>
                </a:lnTo>
                <a:lnTo>
                  <a:pt x="1082" y="726"/>
                </a:lnTo>
                <a:lnTo>
                  <a:pt x="1103" y="730"/>
                </a:lnTo>
                <a:lnTo>
                  <a:pt x="1127" y="735"/>
                </a:lnTo>
                <a:lnTo>
                  <a:pt x="1148" y="739"/>
                </a:lnTo>
                <a:lnTo>
                  <a:pt x="1169" y="745"/>
                </a:lnTo>
                <a:lnTo>
                  <a:pt x="1186" y="751"/>
                </a:lnTo>
                <a:lnTo>
                  <a:pt x="1204" y="759"/>
                </a:lnTo>
                <a:lnTo>
                  <a:pt x="1217" y="769"/>
                </a:lnTo>
                <a:lnTo>
                  <a:pt x="1228" y="778"/>
                </a:lnTo>
                <a:lnTo>
                  <a:pt x="1243" y="795"/>
                </a:lnTo>
                <a:lnTo>
                  <a:pt x="1252" y="809"/>
                </a:lnTo>
                <a:lnTo>
                  <a:pt x="1259" y="825"/>
                </a:lnTo>
                <a:lnTo>
                  <a:pt x="1263" y="847"/>
                </a:lnTo>
                <a:lnTo>
                  <a:pt x="1260" y="868"/>
                </a:lnTo>
                <a:lnTo>
                  <a:pt x="1257" y="887"/>
                </a:lnTo>
                <a:lnTo>
                  <a:pt x="1252" y="910"/>
                </a:lnTo>
                <a:lnTo>
                  <a:pt x="1246" y="936"/>
                </a:lnTo>
                <a:lnTo>
                  <a:pt x="1239" y="960"/>
                </a:lnTo>
                <a:lnTo>
                  <a:pt x="1237" y="979"/>
                </a:lnTo>
                <a:lnTo>
                  <a:pt x="1237" y="995"/>
                </a:lnTo>
                <a:lnTo>
                  <a:pt x="1241" y="1019"/>
                </a:lnTo>
                <a:lnTo>
                  <a:pt x="1246" y="1038"/>
                </a:lnTo>
                <a:lnTo>
                  <a:pt x="1253" y="1053"/>
                </a:lnTo>
                <a:lnTo>
                  <a:pt x="1262" y="1068"/>
                </a:lnTo>
                <a:lnTo>
                  <a:pt x="1274" y="1084"/>
                </a:lnTo>
                <a:lnTo>
                  <a:pt x="1287" y="1100"/>
                </a:lnTo>
                <a:lnTo>
                  <a:pt x="1303" y="1114"/>
                </a:lnTo>
                <a:lnTo>
                  <a:pt x="1322" y="1125"/>
                </a:lnTo>
                <a:lnTo>
                  <a:pt x="1339" y="1131"/>
                </a:lnTo>
                <a:lnTo>
                  <a:pt x="1358" y="1136"/>
                </a:lnTo>
                <a:lnTo>
                  <a:pt x="1376" y="1138"/>
                </a:lnTo>
                <a:lnTo>
                  <a:pt x="1398" y="1139"/>
                </a:lnTo>
                <a:lnTo>
                  <a:pt x="1421" y="1138"/>
                </a:lnTo>
                <a:close/>
              </a:path>
            </a:pathLst>
          </a:custGeom>
          <a:solidFill>
            <a:srgbClr val="00FF00"/>
          </a:solidFill>
          <a:ln w="3175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2" name="Text Box 33"/>
          <p:cNvSpPr txBox="1">
            <a:spLocks noChangeArrowheads="1"/>
          </p:cNvSpPr>
          <p:nvPr/>
        </p:nvSpPr>
        <p:spPr bwMode="auto">
          <a:xfrm>
            <a:off x="2895601" y="1676400"/>
            <a:ext cx="944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/>
            <a:r>
              <a:rPr kumimoji="1" lang="en-US" altLang="ko-KR" sz="2400">
                <a:solidFill>
                  <a:srgbClr val="000099"/>
                </a:solidFill>
              </a:rPr>
              <a:t>Select</a:t>
            </a:r>
          </a:p>
        </p:txBody>
      </p:sp>
      <p:sp>
        <p:nvSpPr>
          <p:cNvPr id="1043" name="Text Box 35"/>
          <p:cNvSpPr txBox="1">
            <a:spLocks noChangeArrowheads="1"/>
          </p:cNvSpPr>
          <p:nvPr/>
        </p:nvSpPr>
        <p:spPr bwMode="auto">
          <a:xfrm>
            <a:off x="4114800" y="1676400"/>
            <a:ext cx="160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/>
            <a:r>
              <a:rPr kumimoji="1" lang="en-US" altLang="ko-KR" sz="2400">
                <a:solidFill>
                  <a:srgbClr val="000099"/>
                </a:solidFill>
              </a:rPr>
              <a:t>Transform</a:t>
            </a:r>
          </a:p>
        </p:txBody>
      </p:sp>
      <p:sp>
        <p:nvSpPr>
          <p:cNvPr id="1044" name="Text Box 36"/>
          <p:cNvSpPr txBox="1">
            <a:spLocks noChangeArrowheads="1"/>
          </p:cNvSpPr>
          <p:nvPr/>
        </p:nvSpPr>
        <p:spPr bwMode="auto">
          <a:xfrm>
            <a:off x="5943601" y="1676400"/>
            <a:ext cx="860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/>
            <a:r>
              <a:rPr kumimoji="1" lang="en-US" altLang="ko-KR" sz="2400">
                <a:solidFill>
                  <a:srgbClr val="000099"/>
                </a:solidFill>
              </a:rPr>
              <a:t>Mine</a:t>
            </a:r>
          </a:p>
        </p:txBody>
      </p:sp>
      <p:sp>
        <p:nvSpPr>
          <p:cNvPr id="1045" name="Text Box 37"/>
          <p:cNvSpPr txBox="1">
            <a:spLocks noChangeArrowheads="1"/>
          </p:cNvSpPr>
          <p:nvPr/>
        </p:nvSpPr>
        <p:spPr bwMode="auto">
          <a:xfrm>
            <a:off x="8001000" y="1676400"/>
            <a:ext cx="153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/>
            <a:r>
              <a:rPr kumimoji="1" lang="en-US" altLang="ko-KR" sz="2400">
                <a:solidFill>
                  <a:srgbClr val="000099"/>
                </a:solidFill>
              </a:rPr>
              <a:t>Assimilate</a:t>
            </a:r>
          </a:p>
        </p:txBody>
      </p:sp>
      <p:sp>
        <p:nvSpPr>
          <p:cNvPr id="1046" name="Text Box 38"/>
          <p:cNvSpPr txBox="1">
            <a:spLocks noChangeArrowheads="1"/>
          </p:cNvSpPr>
          <p:nvPr/>
        </p:nvSpPr>
        <p:spPr bwMode="auto">
          <a:xfrm>
            <a:off x="3810001" y="4572001"/>
            <a:ext cx="12602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kumimoji="1" lang="en-US" altLang="ko-KR" sz="2400">
                <a:solidFill>
                  <a:srgbClr val="FF3300"/>
                </a:solidFill>
              </a:rPr>
              <a:t>Selected</a:t>
            </a:r>
          </a:p>
          <a:p>
            <a:pPr eaLnBrk="1" latinLnBrk="1" hangingPunct="1"/>
            <a:r>
              <a:rPr kumimoji="1" lang="en-US" altLang="ko-KR" sz="2400">
                <a:solidFill>
                  <a:srgbClr val="FF3300"/>
                </a:solidFill>
              </a:rPr>
              <a:t>Data</a:t>
            </a:r>
          </a:p>
        </p:txBody>
      </p:sp>
      <p:sp>
        <p:nvSpPr>
          <p:cNvPr id="1047" name="Text Box 39"/>
          <p:cNvSpPr txBox="1">
            <a:spLocks noChangeArrowheads="1"/>
          </p:cNvSpPr>
          <p:nvPr/>
        </p:nvSpPr>
        <p:spPr bwMode="auto">
          <a:xfrm>
            <a:off x="5181600" y="5257801"/>
            <a:ext cx="190590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kumimoji="1" lang="en-US" altLang="ko-KR" sz="2400">
                <a:solidFill>
                  <a:schemeClr val="hlink"/>
                </a:solidFill>
              </a:rPr>
              <a:t>Transformed</a:t>
            </a:r>
            <a:endParaRPr kumimoji="1" lang="en-US" altLang="ko-KR" sz="2400">
              <a:solidFill>
                <a:schemeClr val="tx1"/>
              </a:solidFill>
            </a:endParaRPr>
          </a:p>
          <a:p>
            <a:pPr eaLnBrk="1" latinLnBrk="1" hangingPunct="1"/>
            <a:r>
              <a:rPr kumimoji="1" lang="en-US" altLang="ko-KR" sz="2400">
                <a:solidFill>
                  <a:schemeClr val="hlink"/>
                </a:solidFill>
              </a:rPr>
              <a:t>Data</a:t>
            </a:r>
            <a:endParaRPr kumimoji="1" lang="en-US" altLang="ko-KR" sz="2400">
              <a:solidFill>
                <a:schemeClr val="tx1"/>
              </a:solidFill>
            </a:endParaRPr>
          </a:p>
        </p:txBody>
      </p:sp>
      <p:sp>
        <p:nvSpPr>
          <p:cNvPr id="1048" name="Text Box 40"/>
          <p:cNvSpPr txBox="1">
            <a:spLocks noChangeArrowheads="1"/>
          </p:cNvSpPr>
          <p:nvPr/>
        </p:nvSpPr>
        <p:spPr bwMode="auto">
          <a:xfrm>
            <a:off x="6858000" y="4495801"/>
            <a:ext cx="148309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kumimoji="1" lang="en-US" altLang="ko-KR" sz="2400">
                <a:solidFill>
                  <a:srgbClr val="FF3300"/>
                </a:solidFill>
              </a:rPr>
              <a:t>Extracted</a:t>
            </a:r>
          </a:p>
          <a:p>
            <a:pPr eaLnBrk="1" latinLnBrk="1" hangingPunct="1"/>
            <a:r>
              <a:rPr kumimoji="1" lang="en-US" altLang="ko-KR" sz="2400">
                <a:solidFill>
                  <a:srgbClr val="FF3300"/>
                </a:solidFill>
              </a:rPr>
              <a:t>Data</a:t>
            </a:r>
          </a:p>
        </p:txBody>
      </p:sp>
      <p:sp>
        <p:nvSpPr>
          <p:cNvPr id="1049" name="Text Box 41"/>
          <p:cNvSpPr txBox="1">
            <a:spLocks noChangeArrowheads="1"/>
          </p:cNvSpPr>
          <p:nvPr/>
        </p:nvSpPr>
        <p:spPr bwMode="auto">
          <a:xfrm>
            <a:off x="8959851" y="4953001"/>
            <a:ext cx="17235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kumimoji="1" lang="en-US" altLang="ko-KR" sz="2400">
                <a:solidFill>
                  <a:srgbClr val="FF3300"/>
                </a:solidFill>
              </a:rPr>
              <a:t>Assimilated</a:t>
            </a:r>
          </a:p>
          <a:p>
            <a:pPr eaLnBrk="1" latinLnBrk="1" hangingPunct="1"/>
            <a:r>
              <a:rPr kumimoji="1" lang="en-US" altLang="ko-KR" sz="2400">
                <a:solidFill>
                  <a:srgbClr val="FF3300"/>
                </a:solidFill>
              </a:rPr>
              <a:t>data</a:t>
            </a:r>
          </a:p>
        </p:txBody>
      </p:sp>
      <p:sp>
        <p:nvSpPr>
          <p:cNvPr id="1050" name="AutoShape 43"/>
          <p:cNvSpPr>
            <a:spLocks noChangeArrowheads="1"/>
          </p:cNvSpPr>
          <p:nvPr/>
        </p:nvSpPr>
        <p:spPr bwMode="auto">
          <a:xfrm>
            <a:off x="3200400" y="37719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39966"/>
          </a:solidFill>
          <a:ln w="12700" cap="sq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051" name="Text Box 47"/>
          <p:cNvSpPr txBox="1">
            <a:spLocks noChangeArrowheads="1"/>
          </p:cNvSpPr>
          <p:nvPr/>
        </p:nvSpPr>
        <p:spPr bwMode="auto">
          <a:xfrm>
            <a:off x="7772400" y="5562600"/>
            <a:ext cx="1893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kumimoji="1" lang="en-US" altLang="ko-KR" sz="2400">
                <a:solidFill>
                  <a:srgbClr val="000099"/>
                </a:solidFill>
              </a:rPr>
              <a:t>Visualization</a:t>
            </a:r>
            <a:endParaRPr kumimoji="1" lang="en-US" altLang="ko-KR" sz="2400">
              <a:solidFill>
                <a:schemeClr val="tx1"/>
              </a:solidFill>
            </a:endParaRPr>
          </a:p>
        </p:txBody>
      </p:sp>
      <p:sp>
        <p:nvSpPr>
          <p:cNvPr id="1052" name="AutoShape 48"/>
          <p:cNvSpPr>
            <a:spLocks noChangeArrowheads="1"/>
          </p:cNvSpPr>
          <p:nvPr/>
        </p:nvSpPr>
        <p:spPr bwMode="auto">
          <a:xfrm>
            <a:off x="3352800" y="2705100"/>
            <a:ext cx="152400" cy="990600"/>
          </a:xfrm>
          <a:prstGeom prst="downArrow">
            <a:avLst>
              <a:gd name="adj1" fmla="val 50000"/>
              <a:gd name="adj2" fmla="val 162500"/>
            </a:avLst>
          </a:prstGeom>
          <a:solidFill>
            <a:srgbClr val="FFFF99"/>
          </a:solidFill>
          <a:ln w="12700" cap="sq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053" name="AutoShape 49"/>
          <p:cNvSpPr>
            <a:spLocks noChangeArrowheads="1"/>
          </p:cNvSpPr>
          <p:nvPr/>
        </p:nvSpPr>
        <p:spPr bwMode="auto">
          <a:xfrm flipV="1">
            <a:off x="8534400" y="4267200"/>
            <a:ext cx="152400" cy="1371600"/>
          </a:xfrm>
          <a:prstGeom prst="downArrow">
            <a:avLst>
              <a:gd name="adj1" fmla="val 50000"/>
              <a:gd name="adj2" fmla="val 225000"/>
            </a:avLst>
          </a:prstGeom>
          <a:solidFill>
            <a:srgbClr val="FFFF99"/>
          </a:solidFill>
          <a:ln w="12700" cap="sq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054" name="AutoShape 50"/>
          <p:cNvSpPr>
            <a:spLocks noChangeArrowheads="1"/>
          </p:cNvSpPr>
          <p:nvPr/>
        </p:nvSpPr>
        <p:spPr bwMode="auto">
          <a:xfrm>
            <a:off x="5257800" y="2705100"/>
            <a:ext cx="152400" cy="990600"/>
          </a:xfrm>
          <a:prstGeom prst="downArrow">
            <a:avLst>
              <a:gd name="adj1" fmla="val 50000"/>
              <a:gd name="adj2" fmla="val 162500"/>
            </a:avLst>
          </a:prstGeom>
          <a:solidFill>
            <a:srgbClr val="FFFF99"/>
          </a:solidFill>
          <a:ln w="12700" cap="sq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055" name="AutoShape 51"/>
          <p:cNvSpPr>
            <a:spLocks noChangeArrowheads="1"/>
          </p:cNvSpPr>
          <p:nvPr/>
        </p:nvSpPr>
        <p:spPr bwMode="auto">
          <a:xfrm>
            <a:off x="6324600" y="2705100"/>
            <a:ext cx="152400" cy="990600"/>
          </a:xfrm>
          <a:prstGeom prst="downArrow">
            <a:avLst>
              <a:gd name="adj1" fmla="val 50000"/>
              <a:gd name="adj2" fmla="val 162500"/>
            </a:avLst>
          </a:prstGeom>
          <a:solidFill>
            <a:srgbClr val="FFFF99"/>
          </a:solidFill>
          <a:ln w="12700" cap="sq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056" name="AutoShape 52"/>
          <p:cNvSpPr>
            <a:spLocks noChangeArrowheads="1"/>
          </p:cNvSpPr>
          <p:nvPr/>
        </p:nvSpPr>
        <p:spPr bwMode="auto">
          <a:xfrm>
            <a:off x="8534400" y="2705100"/>
            <a:ext cx="152400" cy="990600"/>
          </a:xfrm>
          <a:prstGeom prst="downArrow">
            <a:avLst>
              <a:gd name="adj1" fmla="val 50000"/>
              <a:gd name="adj2" fmla="val 162500"/>
            </a:avLst>
          </a:prstGeom>
          <a:solidFill>
            <a:srgbClr val="FFFF99"/>
          </a:solidFill>
          <a:ln w="12700" cap="sq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057" name="AutoShape 53"/>
          <p:cNvSpPr>
            <a:spLocks noChangeArrowheads="1"/>
          </p:cNvSpPr>
          <p:nvPr/>
        </p:nvSpPr>
        <p:spPr bwMode="auto">
          <a:xfrm>
            <a:off x="8382000" y="37719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39966"/>
          </a:solidFill>
          <a:ln w="12700" cap="sq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058" name="AutoShape 54"/>
          <p:cNvSpPr>
            <a:spLocks noChangeArrowheads="1"/>
          </p:cNvSpPr>
          <p:nvPr/>
        </p:nvSpPr>
        <p:spPr bwMode="auto">
          <a:xfrm>
            <a:off x="6248400" y="37719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39966"/>
          </a:solidFill>
          <a:ln w="12700" cap="sq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059" name="AutoShape 55"/>
          <p:cNvSpPr>
            <a:spLocks noChangeArrowheads="1"/>
          </p:cNvSpPr>
          <p:nvPr/>
        </p:nvSpPr>
        <p:spPr bwMode="auto">
          <a:xfrm>
            <a:off x="5029200" y="37719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39966"/>
          </a:solidFill>
          <a:ln w="12700" cap="sq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060" name="Freeform 24"/>
          <p:cNvSpPr>
            <a:spLocks/>
          </p:cNvSpPr>
          <p:nvPr/>
        </p:nvSpPr>
        <p:spPr bwMode="auto">
          <a:xfrm rot="-2424365">
            <a:off x="7219950" y="3819525"/>
            <a:ext cx="450850" cy="438150"/>
          </a:xfrm>
          <a:custGeom>
            <a:avLst/>
            <a:gdLst>
              <a:gd name="T0" fmla="*/ 0 w 1421"/>
              <a:gd name="T1" fmla="*/ 0 h 1382"/>
              <a:gd name="T2" fmla="*/ 2147483647 w 1421"/>
              <a:gd name="T3" fmla="*/ 2147483647 h 1382"/>
              <a:gd name="T4" fmla="*/ 2147483647 w 1421"/>
              <a:gd name="T5" fmla="*/ 2147483647 h 1382"/>
              <a:gd name="T6" fmla="*/ 2147483647 w 1421"/>
              <a:gd name="T7" fmla="*/ 2147483647 h 1382"/>
              <a:gd name="T8" fmla="*/ 2147483647 w 1421"/>
              <a:gd name="T9" fmla="*/ 2147483647 h 1382"/>
              <a:gd name="T10" fmla="*/ 2147483647 w 1421"/>
              <a:gd name="T11" fmla="*/ 2147483647 h 1382"/>
              <a:gd name="T12" fmla="*/ 2147483647 w 1421"/>
              <a:gd name="T13" fmla="*/ 2147483647 h 1382"/>
              <a:gd name="T14" fmla="*/ 2147483647 w 1421"/>
              <a:gd name="T15" fmla="*/ 2147483647 h 1382"/>
              <a:gd name="T16" fmla="*/ 2147483647 w 1421"/>
              <a:gd name="T17" fmla="*/ 2147483647 h 1382"/>
              <a:gd name="T18" fmla="*/ 2147483647 w 1421"/>
              <a:gd name="T19" fmla="*/ 2147483647 h 1382"/>
              <a:gd name="T20" fmla="*/ 2147483647 w 1421"/>
              <a:gd name="T21" fmla="*/ 2147483647 h 1382"/>
              <a:gd name="T22" fmla="*/ 2147483647 w 1421"/>
              <a:gd name="T23" fmla="*/ 2147483647 h 1382"/>
              <a:gd name="T24" fmla="*/ 2147483647 w 1421"/>
              <a:gd name="T25" fmla="*/ 2147483647 h 1382"/>
              <a:gd name="T26" fmla="*/ 2147483647 w 1421"/>
              <a:gd name="T27" fmla="*/ 2147483647 h 1382"/>
              <a:gd name="T28" fmla="*/ 2147483647 w 1421"/>
              <a:gd name="T29" fmla="*/ 2147483647 h 1382"/>
              <a:gd name="T30" fmla="*/ 2147483647 w 1421"/>
              <a:gd name="T31" fmla="*/ 2147483647 h 1382"/>
              <a:gd name="T32" fmla="*/ 2147483647 w 1421"/>
              <a:gd name="T33" fmla="*/ 2147483647 h 1382"/>
              <a:gd name="T34" fmla="*/ 2147483647 w 1421"/>
              <a:gd name="T35" fmla="*/ 2147483647 h 1382"/>
              <a:gd name="T36" fmla="*/ 2147483647 w 1421"/>
              <a:gd name="T37" fmla="*/ 2147483647 h 1382"/>
              <a:gd name="T38" fmla="*/ 2147483647 w 1421"/>
              <a:gd name="T39" fmla="*/ 2147483647 h 1382"/>
              <a:gd name="T40" fmla="*/ 2147483647 w 1421"/>
              <a:gd name="T41" fmla="*/ 2147483647 h 1382"/>
              <a:gd name="T42" fmla="*/ 2147483647 w 1421"/>
              <a:gd name="T43" fmla="*/ 2147483647 h 1382"/>
              <a:gd name="T44" fmla="*/ 2147483647 w 1421"/>
              <a:gd name="T45" fmla="*/ 2147483647 h 1382"/>
              <a:gd name="T46" fmla="*/ 2147483647 w 1421"/>
              <a:gd name="T47" fmla="*/ 2147483647 h 1382"/>
              <a:gd name="T48" fmla="*/ 2147483647 w 1421"/>
              <a:gd name="T49" fmla="*/ 2147483647 h 1382"/>
              <a:gd name="T50" fmla="*/ 2147483647 w 1421"/>
              <a:gd name="T51" fmla="*/ 2147483647 h 1382"/>
              <a:gd name="T52" fmla="*/ 2147483647 w 1421"/>
              <a:gd name="T53" fmla="*/ 2147483647 h 1382"/>
              <a:gd name="T54" fmla="*/ 2147483647 w 1421"/>
              <a:gd name="T55" fmla="*/ 2147483647 h 1382"/>
              <a:gd name="T56" fmla="*/ 2147483647 w 1421"/>
              <a:gd name="T57" fmla="*/ 2147483647 h 1382"/>
              <a:gd name="T58" fmla="*/ 2147483647 w 1421"/>
              <a:gd name="T59" fmla="*/ 2147483647 h 1382"/>
              <a:gd name="T60" fmla="*/ 2147483647 w 1421"/>
              <a:gd name="T61" fmla="*/ 2147483647 h 1382"/>
              <a:gd name="T62" fmla="*/ 2147483647 w 1421"/>
              <a:gd name="T63" fmla="*/ 2147483647 h 1382"/>
              <a:gd name="T64" fmla="*/ 2147483647 w 1421"/>
              <a:gd name="T65" fmla="*/ 2147483647 h 1382"/>
              <a:gd name="T66" fmla="*/ 2147483647 w 1421"/>
              <a:gd name="T67" fmla="*/ 2147483647 h 1382"/>
              <a:gd name="T68" fmla="*/ 2147483647 w 1421"/>
              <a:gd name="T69" fmla="*/ 2147483647 h 1382"/>
              <a:gd name="T70" fmla="*/ 2147483647 w 1421"/>
              <a:gd name="T71" fmla="*/ 2147483647 h 1382"/>
              <a:gd name="T72" fmla="*/ 2147483647 w 1421"/>
              <a:gd name="T73" fmla="*/ 2147483647 h 1382"/>
              <a:gd name="T74" fmla="*/ 2147483647 w 1421"/>
              <a:gd name="T75" fmla="*/ 2147483647 h 1382"/>
              <a:gd name="T76" fmla="*/ 2147483647 w 1421"/>
              <a:gd name="T77" fmla="*/ 2147483647 h 1382"/>
              <a:gd name="T78" fmla="*/ 2147483647 w 1421"/>
              <a:gd name="T79" fmla="*/ 2147483647 h 1382"/>
              <a:gd name="T80" fmla="*/ 2147483647 w 1421"/>
              <a:gd name="T81" fmla="*/ 2147483647 h 1382"/>
              <a:gd name="T82" fmla="*/ 2147483647 w 1421"/>
              <a:gd name="T83" fmla="*/ 2147483647 h 1382"/>
              <a:gd name="T84" fmla="*/ 2147483647 w 1421"/>
              <a:gd name="T85" fmla="*/ 2147483647 h 1382"/>
              <a:gd name="T86" fmla="*/ 2147483647 w 1421"/>
              <a:gd name="T87" fmla="*/ 2147483647 h 1382"/>
              <a:gd name="T88" fmla="*/ 2147483647 w 1421"/>
              <a:gd name="T89" fmla="*/ 2147483647 h 1382"/>
              <a:gd name="T90" fmla="*/ 2147483647 w 1421"/>
              <a:gd name="T91" fmla="*/ 2147483647 h 1382"/>
              <a:gd name="T92" fmla="*/ 2147483647 w 1421"/>
              <a:gd name="T93" fmla="*/ 2147483647 h 1382"/>
              <a:gd name="T94" fmla="*/ 2147483647 w 1421"/>
              <a:gd name="T95" fmla="*/ 2147483647 h 1382"/>
              <a:gd name="T96" fmla="*/ 2147483647 w 1421"/>
              <a:gd name="T97" fmla="*/ 2147483647 h 1382"/>
              <a:gd name="T98" fmla="*/ 2147483647 w 1421"/>
              <a:gd name="T99" fmla="*/ 2147483647 h 1382"/>
              <a:gd name="T100" fmla="*/ 2147483647 w 1421"/>
              <a:gd name="T101" fmla="*/ 2147483647 h 1382"/>
              <a:gd name="T102" fmla="*/ 2147483647 w 1421"/>
              <a:gd name="T103" fmla="*/ 2147483647 h 1382"/>
              <a:gd name="T104" fmla="*/ 2147483647 w 1421"/>
              <a:gd name="T105" fmla="*/ 2147483647 h 1382"/>
              <a:gd name="T106" fmla="*/ 2147483647 w 1421"/>
              <a:gd name="T107" fmla="*/ 2147483647 h 1382"/>
              <a:gd name="T108" fmla="*/ 2147483647 w 1421"/>
              <a:gd name="T109" fmla="*/ 2147483647 h 1382"/>
              <a:gd name="T110" fmla="*/ 2147483647 w 1421"/>
              <a:gd name="T111" fmla="*/ 2147483647 h 1382"/>
              <a:gd name="T112" fmla="*/ 2147483647 w 1421"/>
              <a:gd name="T113" fmla="*/ 2147483647 h 1382"/>
              <a:gd name="T114" fmla="*/ 2147483647 w 1421"/>
              <a:gd name="T115" fmla="*/ 2147483647 h 1382"/>
              <a:gd name="T116" fmla="*/ 2147483647 w 1421"/>
              <a:gd name="T117" fmla="*/ 2147483647 h 1382"/>
              <a:gd name="T118" fmla="*/ 2147483647 w 1421"/>
              <a:gd name="T119" fmla="*/ 2147483647 h 1382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1421"/>
              <a:gd name="T181" fmla="*/ 0 h 1382"/>
              <a:gd name="T182" fmla="*/ 1421 w 1421"/>
              <a:gd name="T183" fmla="*/ 1382 h 1382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1421" h="1382">
                <a:moveTo>
                  <a:pt x="0" y="288"/>
                </a:moveTo>
                <a:lnTo>
                  <a:pt x="0" y="0"/>
                </a:lnTo>
                <a:lnTo>
                  <a:pt x="1419" y="0"/>
                </a:lnTo>
                <a:lnTo>
                  <a:pt x="1421" y="1103"/>
                </a:lnTo>
                <a:lnTo>
                  <a:pt x="1297" y="1103"/>
                </a:lnTo>
                <a:lnTo>
                  <a:pt x="1292" y="1113"/>
                </a:lnTo>
                <a:lnTo>
                  <a:pt x="1289" y="1127"/>
                </a:lnTo>
                <a:lnTo>
                  <a:pt x="1289" y="1138"/>
                </a:lnTo>
                <a:lnTo>
                  <a:pt x="1290" y="1151"/>
                </a:lnTo>
                <a:lnTo>
                  <a:pt x="1295" y="1169"/>
                </a:lnTo>
                <a:lnTo>
                  <a:pt x="1300" y="1191"/>
                </a:lnTo>
                <a:lnTo>
                  <a:pt x="1305" y="1206"/>
                </a:lnTo>
                <a:lnTo>
                  <a:pt x="1308" y="1224"/>
                </a:lnTo>
                <a:lnTo>
                  <a:pt x="1311" y="1241"/>
                </a:lnTo>
                <a:lnTo>
                  <a:pt x="1311" y="1259"/>
                </a:lnTo>
                <a:lnTo>
                  <a:pt x="1308" y="1275"/>
                </a:lnTo>
                <a:lnTo>
                  <a:pt x="1305" y="1292"/>
                </a:lnTo>
                <a:lnTo>
                  <a:pt x="1299" y="1308"/>
                </a:lnTo>
                <a:lnTo>
                  <a:pt x="1289" y="1320"/>
                </a:lnTo>
                <a:lnTo>
                  <a:pt x="1275" y="1335"/>
                </a:lnTo>
                <a:lnTo>
                  <a:pt x="1262" y="1346"/>
                </a:lnTo>
                <a:lnTo>
                  <a:pt x="1249" y="1357"/>
                </a:lnTo>
                <a:lnTo>
                  <a:pt x="1235" y="1366"/>
                </a:lnTo>
                <a:lnTo>
                  <a:pt x="1217" y="1372"/>
                </a:lnTo>
                <a:lnTo>
                  <a:pt x="1196" y="1378"/>
                </a:lnTo>
                <a:lnTo>
                  <a:pt x="1177" y="1381"/>
                </a:lnTo>
                <a:lnTo>
                  <a:pt x="1159" y="1382"/>
                </a:lnTo>
                <a:lnTo>
                  <a:pt x="1141" y="1382"/>
                </a:lnTo>
                <a:lnTo>
                  <a:pt x="1124" y="1381"/>
                </a:lnTo>
                <a:lnTo>
                  <a:pt x="1110" y="1378"/>
                </a:lnTo>
                <a:lnTo>
                  <a:pt x="1094" y="1373"/>
                </a:lnTo>
                <a:lnTo>
                  <a:pt x="1078" y="1368"/>
                </a:lnTo>
                <a:lnTo>
                  <a:pt x="1066" y="1361"/>
                </a:lnTo>
                <a:lnTo>
                  <a:pt x="1052" y="1351"/>
                </a:lnTo>
                <a:lnTo>
                  <a:pt x="1040" y="1339"/>
                </a:lnTo>
                <a:lnTo>
                  <a:pt x="1027" y="1325"/>
                </a:lnTo>
                <a:lnTo>
                  <a:pt x="1016" y="1312"/>
                </a:lnTo>
                <a:lnTo>
                  <a:pt x="1008" y="1297"/>
                </a:lnTo>
                <a:lnTo>
                  <a:pt x="1002" y="1278"/>
                </a:lnTo>
                <a:lnTo>
                  <a:pt x="997" y="1257"/>
                </a:lnTo>
                <a:lnTo>
                  <a:pt x="997" y="1238"/>
                </a:lnTo>
                <a:lnTo>
                  <a:pt x="1002" y="1218"/>
                </a:lnTo>
                <a:lnTo>
                  <a:pt x="1007" y="1198"/>
                </a:lnTo>
                <a:lnTo>
                  <a:pt x="1011" y="1179"/>
                </a:lnTo>
                <a:lnTo>
                  <a:pt x="1018" y="1156"/>
                </a:lnTo>
                <a:lnTo>
                  <a:pt x="1020" y="1139"/>
                </a:lnTo>
                <a:lnTo>
                  <a:pt x="1020" y="1129"/>
                </a:lnTo>
                <a:lnTo>
                  <a:pt x="1019" y="1121"/>
                </a:lnTo>
                <a:lnTo>
                  <a:pt x="1015" y="1111"/>
                </a:lnTo>
                <a:lnTo>
                  <a:pt x="779" y="1111"/>
                </a:lnTo>
                <a:lnTo>
                  <a:pt x="782" y="1069"/>
                </a:lnTo>
                <a:lnTo>
                  <a:pt x="781" y="1045"/>
                </a:lnTo>
                <a:lnTo>
                  <a:pt x="779" y="1023"/>
                </a:lnTo>
                <a:lnTo>
                  <a:pt x="776" y="1002"/>
                </a:lnTo>
                <a:lnTo>
                  <a:pt x="772" y="989"/>
                </a:lnTo>
                <a:lnTo>
                  <a:pt x="766" y="976"/>
                </a:lnTo>
                <a:lnTo>
                  <a:pt x="759" y="965"/>
                </a:lnTo>
                <a:lnTo>
                  <a:pt x="746" y="956"/>
                </a:lnTo>
                <a:lnTo>
                  <a:pt x="733" y="947"/>
                </a:lnTo>
                <a:lnTo>
                  <a:pt x="719" y="942"/>
                </a:lnTo>
                <a:lnTo>
                  <a:pt x="707" y="940"/>
                </a:lnTo>
                <a:lnTo>
                  <a:pt x="686" y="938"/>
                </a:lnTo>
                <a:lnTo>
                  <a:pt x="661" y="938"/>
                </a:lnTo>
                <a:lnTo>
                  <a:pt x="638" y="941"/>
                </a:lnTo>
                <a:lnTo>
                  <a:pt x="612" y="942"/>
                </a:lnTo>
                <a:lnTo>
                  <a:pt x="592" y="944"/>
                </a:lnTo>
                <a:lnTo>
                  <a:pt x="567" y="946"/>
                </a:lnTo>
                <a:lnTo>
                  <a:pt x="546" y="944"/>
                </a:lnTo>
                <a:lnTo>
                  <a:pt x="527" y="942"/>
                </a:lnTo>
                <a:lnTo>
                  <a:pt x="499" y="936"/>
                </a:lnTo>
                <a:lnTo>
                  <a:pt x="480" y="927"/>
                </a:lnTo>
                <a:lnTo>
                  <a:pt x="463" y="915"/>
                </a:lnTo>
                <a:lnTo>
                  <a:pt x="452" y="901"/>
                </a:lnTo>
                <a:lnTo>
                  <a:pt x="442" y="887"/>
                </a:lnTo>
                <a:lnTo>
                  <a:pt x="435" y="868"/>
                </a:lnTo>
                <a:lnTo>
                  <a:pt x="433" y="848"/>
                </a:lnTo>
                <a:lnTo>
                  <a:pt x="433" y="824"/>
                </a:lnTo>
                <a:lnTo>
                  <a:pt x="435" y="805"/>
                </a:lnTo>
                <a:lnTo>
                  <a:pt x="433" y="787"/>
                </a:lnTo>
                <a:lnTo>
                  <a:pt x="429" y="766"/>
                </a:lnTo>
                <a:lnTo>
                  <a:pt x="425" y="753"/>
                </a:lnTo>
                <a:lnTo>
                  <a:pt x="419" y="741"/>
                </a:lnTo>
                <a:lnTo>
                  <a:pt x="411" y="733"/>
                </a:lnTo>
                <a:lnTo>
                  <a:pt x="404" y="725"/>
                </a:lnTo>
                <a:lnTo>
                  <a:pt x="388" y="718"/>
                </a:lnTo>
                <a:lnTo>
                  <a:pt x="369" y="709"/>
                </a:lnTo>
                <a:lnTo>
                  <a:pt x="348" y="703"/>
                </a:lnTo>
                <a:lnTo>
                  <a:pt x="324" y="697"/>
                </a:lnTo>
                <a:lnTo>
                  <a:pt x="299" y="692"/>
                </a:lnTo>
                <a:lnTo>
                  <a:pt x="273" y="688"/>
                </a:lnTo>
                <a:lnTo>
                  <a:pt x="255" y="682"/>
                </a:lnTo>
                <a:lnTo>
                  <a:pt x="235" y="676"/>
                </a:lnTo>
                <a:lnTo>
                  <a:pt x="215" y="668"/>
                </a:lnTo>
                <a:lnTo>
                  <a:pt x="202" y="657"/>
                </a:lnTo>
                <a:lnTo>
                  <a:pt x="186" y="644"/>
                </a:lnTo>
                <a:lnTo>
                  <a:pt x="175" y="632"/>
                </a:lnTo>
                <a:lnTo>
                  <a:pt x="165" y="617"/>
                </a:lnTo>
                <a:lnTo>
                  <a:pt x="157" y="599"/>
                </a:lnTo>
                <a:lnTo>
                  <a:pt x="155" y="581"/>
                </a:lnTo>
                <a:lnTo>
                  <a:pt x="155" y="564"/>
                </a:lnTo>
                <a:lnTo>
                  <a:pt x="159" y="548"/>
                </a:lnTo>
                <a:lnTo>
                  <a:pt x="165" y="524"/>
                </a:lnTo>
                <a:lnTo>
                  <a:pt x="171" y="501"/>
                </a:lnTo>
                <a:lnTo>
                  <a:pt x="173" y="480"/>
                </a:lnTo>
                <a:lnTo>
                  <a:pt x="178" y="459"/>
                </a:lnTo>
                <a:lnTo>
                  <a:pt x="181" y="438"/>
                </a:lnTo>
                <a:lnTo>
                  <a:pt x="178" y="416"/>
                </a:lnTo>
                <a:lnTo>
                  <a:pt x="173" y="396"/>
                </a:lnTo>
                <a:lnTo>
                  <a:pt x="166" y="377"/>
                </a:lnTo>
                <a:lnTo>
                  <a:pt x="156" y="358"/>
                </a:lnTo>
                <a:lnTo>
                  <a:pt x="145" y="343"/>
                </a:lnTo>
                <a:lnTo>
                  <a:pt x="139" y="335"/>
                </a:lnTo>
                <a:lnTo>
                  <a:pt x="128" y="324"/>
                </a:lnTo>
                <a:lnTo>
                  <a:pt x="117" y="314"/>
                </a:lnTo>
                <a:lnTo>
                  <a:pt x="106" y="306"/>
                </a:lnTo>
                <a:lnTo>
                  <a:pt x="91" y="299"/>
                </a:lnTo>
                <a:lnTo>
                  <a:pt x="76" y="294"/>
                </a:lnTo>
                <a:lnTo>
                  <a:pt x="58" y="289"/>
                </a:lnTo>
                <a:lnTo>
                  <a:pt x="37" y="288"/>
                </a:lnTo>
                <a:lnTo>
                  <a:pt x="18" y="288"/>
                </a:lnTo>
                <a:lnTo>
                  <a:pt x="0" y="288"/>
                </a:lnTo>
                <a:close/>
              </a:path>
            </a:pathLst>
          </a:custGeom>
          <a:solidFill>
            <a:srgbClr val="FF00FF"/>
          </a:solidFill>
          <a:ln w="3175">
            <a:solidFill>
              <a:schemeClr val="bg2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1" name="Text Box 56"/>
          <p:cNvSpPr txBox="1">
            <a:spLocks noChangeArrowheads="1"/>
          </p:cNvSpPr>
          <p:nvPr/>
        </p:nvSpPr>
        <p:spPr bwMode="auto">
          <a:xfrm>
            <a:off x="7877175" y="5986464"/>
            <a:ext cx="946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latinLnBrk="1" hangingPunct="1"/>
            <a:r>
              <a:rPr kumimoji="1" lang="ko-KR" altLang="en-US" sz="2000">
                <a:solidFill>
                  <a:schemeClr val="bg1"/>
                </a:solidFill>
              </a:rPr>
              <a:t>가시화</a:t>
            </a:r>
            <a:endParaRPr kumimoji="1"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096046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401888" y="528638"/>
            <a:ext cx="6858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mtClean="0"/>
              <a:t>고 객 관 리</a:t>
            </a:r>
          </a:p>
        </p:txBody>
      </p:sp>
      <p:sp>
        <p:nvSpPr>
          <p:cNvPr id="17411" name="AutoShape 4"/>
          <p:cNvSpPr>
            <a:spLocks noChangeArrowheads="1"/>
          </p:cNvSpPr>
          <p:nvPr/>
        </p:nvSpPr>
        <p:spPr bwMode="auto">
          <a:xfrm>
            <a:off x="2209800" y="2590800"/>
            <a:ext cx="914400" cy="1143000"/>
          </a:xfrm>
          <a:prstGeom prst="flowChartMagneticDisk">
            <a:avLst/>
          </a:prstGeom>
          <a:solidFill>
            <a:schemeClr val="accent1"/>
          </a:solidFill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7412" name="AutoShape 5"/>
          <p:cNvSpPr>
            <a:spLocks noChangeArrowheads="1"/>
          </p:cNvSpPr>
          <p:nvPr/>
        </p:nvSpPr>
        <p:spPr bwMode="auto">
          <a:xfrm>
            <a:off x="3962400" y="2667000"/>
            <a:ext cx="914400" cy="762000"/>
          </a:xfrm>
          <a:prstGeom prst="flowChartMagneticDisk">
            <a:avLst/>
          </a:prstGeom>
          <a:solidFill>
            <a:schemeClr val="folHlink"/>
          </a:solidFill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7413" name="Rectangle 6" descr="격자 울타리"/>
          <p:cNvSpPr>
            <a:spLocks noChangeArrowheads="1"/>
          </p:cNvSpPr>
          <p:nvPr/>
        </p:nvSpPr>
        <p:spPr bwMode="auto">
          <a:xfrm>
            <a:off x="5943600" y="2438400"/>
            <a:ext cx="152400" cy="1828800"/>
          </a:xfrm>
          <a:prstGeom prst="rect">
            <a:avLst/>
          </a:prstGeom>
          <a:pattFill prst="trellis">
            <a:fgClr>
              <a:srgbClr val="339966"/>
            </a:fgClr>
            <a:bgClr>
              <a:srgbClr val="FFFFFF"/>
            </a:bgClr>
          </a:pattFill>
          <a:ln w="12700" cap="sq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7414" name="Freeform 7"/>
          <p:cNvSpPr>
            <a:spLocks/>
          </p:cNvSpPr>
          <p:nvPr/>
        </p:nvSpPr>
        <p:spPr bwMode="auto">
          <a:xfrm rot="-2424365">
            <a:off x="7391400" y="3886200"/>
            <a:ext cx="450850" cy="438150"/>
          </a:xfrm>
          <a:custGeom>
            <a:avLst/>
            <a:gdLst>
              <a:gd name="T0" fmla="*/ 0 w 1421"/>
              <a:gd name="T1" fmla="*/ 0 h 1382"/>
              <a:gd name="T2" fmla="*/ 2147483647 w 1421"/>
              <a:gd name="T3" fmla="*/ 2147483647 h 1382"/>
              <a:gd name="T4" fmla="*/ 2147483647 w 1421"/>
              <a:gd name="T5" fmla="*/ 2147483647 h 1382"/>
              <a:gd name="T6" fmla="*/ 2147483647 w 1421"/>
              <a:gd name="T7" fmla="*/ 2147483647 h 1382"/>
              <a:gd name="T8" fmla="*/ 2147483647 w 1421"/>
              <a:gd name="T9" fmla="*/ 2147483647 h 1382"/>
              <a:gd name="T10" fmla="*/ 2147483647 w 1421"/>
              <a:gd name="T11" fmla="*/ 2147483647 h 1382"/>
              <a:gd name="T12" fmla="*/ 2147483647 w 1421"/>
              <a:gd name="T13" fmla="*/ 2147483647 h 1382"/>
              <a:gd name="T14" fmla="*/ 2147483647 w 1421"/>
              <a:gd name="T15" fmla="*/ 2147483647 h 1382"/>
              <a:gd name="T16" fmla="*/ 2147483647 w 1421"/>
              <a:gd name="T17" fmla="*/ 2147483647 h 1382"/>
              <a:gd name="T18" fmla="*/ 2147483647 w 1421"/>
              <a:gd name="T19" fmla="*/ 2147483647 h 1382"/>
              <a:gd name="T20" fmla="*/ 2147483647 w 1421"/>
              <a:gd name="T21" fmla="*/ 2147483647 h 1382"/>
              <a:gd name="T22" fmla="*/ 2147483647 w 1421"/>
              <a:gd name="T23" fmla="*/ 2147483647 h 1382"/>
              <a:gd name="T24" fmla="*/ 2147483647 w 1421"/>
              <a:gd name="T25" fmla="*/ 2147483647 h 1382"/>
              <a:gd name="T26" fmla="*/ 2147483647 w 1421"/>
              <a:gd name="T27" fmla="*/ 2147483647 h 1382"/>
              <a:gd name="T28" fmla="*/ 2147483647 w 1421"/>
              <a:gd name="T29" fmla="*/ 2147483647 h 1382"/>
              <a:gd name="T30" fmla="*/ 2147483647 w 1421"/>
              <a:gd name="T31" fmla="*/ 2147483647 h 1382"/>
              <a:gd name="T32" fmla="*/ 2147483647 w 1421"/>
              <a:gd name="T33" fmla="*/ 2147483647 h 1382"/>
              <a:gd name="T34" fmla="*/ 2147483647 w 1421"/>
              <a:gd name="T35" fmla="*/ 2147483647 h 1382"/>
              <a:gd name="T36" fmla="*/ 2147483647 w 1421"/>
              <a:gd name="T37" fmla="*/ 2147483647 h 1382"/>
              <a:gd name="T38" fmla="*/ 2147483647 w 1421"/>
              <a:gd name="T39" fmla="*/ 2147483647 h 1382"/>
              <a:gd name="T40" fmla="*/ 2147483647 w 1421"/>
              <a:gd name="T41" fmla="*/ 2147483647 h 1382"/>
              <a:gd name="T42" fmla="*/ 2147483647 w 1421"/>
              <a:gd name="T43" fmla="*/ 2147483647 h 1382"/>
              <a:gd name="T44" fmla="*/ 2147483647 w 1421"/>
              <a:gd name="T45" fmla="*/ 2147483647 h 1382"/>
              <a:gd name="T46" fmla="*/ 2147483647 w 1421"/>
              <a:gd name="T47" fmla="*/ 2147483647 h 1382"/>
              <a:gd name="T48" fmla="*/ 2147483647 w 1421"/>
              <a:gd name="T49" fmla="*/ 2147483647 h 1382"/>
              <a:gd name="T50" fmla="*/ 2147483647 w 1421"/>
              <a:gd name="T51" fmla="*/ 2147483647 h 1382"/>
              <a:gd name="T52" fmla="*/ 2147483647 w 1421"/>
              <a:gd name="T53" fmla="*/ 2147483647 h 1382"/>
              <a:gd name="T54" fmla="*/ 2147483647 w 1421"/>
              <a:gd name="T55" fmla="*/ 2147483647 h 1382"/>
              <a:gd name="T56" fmla="*/ 2147483647 w 1421"/>
              <a:gd name="T57" fmla="*/ 2147483647 h 1382"/>
              <a:gd name="T58" fmla="*/ 2147483647 w 1421"/>
              <a:gd name="T59" fmla="*/ 2147483647 h 1382"/>
              <a:gd name="T60" fmla="*/ 2147483647 w 1421"/>
              <a:gd name="T61" fmla="*/ 2147483647 h 1382"/>
              <a:gd name="T62" fmla="*/ 2147483647 w 1421"/>
              <a:gd name="T63" fmla="*/ 2147483647 h 1382"/>
              <a:gd name="T64" fmla="*/ 2147483647 w 1421"/>
              <a:gd name="T65" fmla="*/ 2147483647 h 1382"/>
              <a:gd name="T66" fmla="*/ 2147483647 w 1421"/>
              <a:gd name="T67" fmla="*/ 2147483647 h 1382"/>
              <a:gd name="T68" fmla="*/ 2147483647 w 1421"/>
              <a:gd name="T69" fmla="*/ 2147483647 h 1382"/>
              <a:gd name="T70" fmla="*/ 2147483647 w 1421"/>
              <a:gd name="T71" fmla="*/ 2147483647 h 1382"/>
              <a:gd name="T72" fmla="*/ 2147483647 w 1421"/>
              <a:gd name="T73" fmla="*/ 2147483647 h 1382"/>
              <a:gd name="T74" fmla="*/ 2147483647 w 1421"/>
              <a:gd name="T75" fmla="*/ 2147483647 h 1382"/>
              <a:gd name="T76" fmla="*/ 2147483647 w 1421"/>
              <a:gd name="T77" fmla="*/ 2147483647 h 1382"/>
              <a:gd name="T78" fmla="*/ 2147483647 w 1421"/>
              <a:gd name="T79" fmla="*/ 2147483647 h 1382"/>
              <a:gd name="T80" fmla="*/ 2147483647 w 1421"/>
              <a:gd name="T81" fmla="*/ 2147483647 h 1382"/>
              <a:gd name="T82" fmla="*/ 2147483647 w 1421"/>
              <a:gd name="T83" fmla="*/ 2147483647 h 1382"/>
              <a:gd name="T84" fmla="*/ 2147483647 w 1421"/>
              <a:gd name="T85" fmla="*/ 2147483647 h 1382"/>
              <a:gd name="T86" fmla="*/ 2147483647 w 1421"/>
              <a:gd name="T87" fmla="*/ 2147483647 h 1382"/>
              <a:gd name="T88" fmla="*/ 2147483647 w 1421"/>
              <a:gd name="T89" fmla="*/ 2147483647 h 1382"/>
              <a:gd name="T90" fmla="*/ 2147483647 w 1421"/>
              <a:gd name="T91" fmla="*/ 2147483647 h 1382"/>
              <a:gd name="T92" fmla="*/ 2147483647 w 1421"/>
              <a:gd name="T93" fmla="*/ 2147483647 h 1382"/>
              <a:gd name="T94" fmla="*/ 2147483647 w 1421"/>
              <a:gd name="T95" fmla="*/ 2147483647 h 1382"/>
              <a:gd name="T96" fmla="*/ 2147483647 w 1421"/>
              <a:gd name="T97" fmla="*/ 2147483647 h 1382"/>
              <a:gd name="T98" fmla="*/ 2147483647 w 1421"/>
              <a:gd name="T99" fmla="*/ 2147483647 h 1382"/>
              <a:gd name="T100" fmla="*/ 2147483647 w 1421"/>
              <a:gd name="T101" fmla="*/ 2147483647 h 1382"/>
              <a:gd name="T102" fmla="*/ 2147483647 w 1421"/>
              <a:gd name="T103" fmla="*/ 2147483647 h 1382"/>
              <a:gd name="T104" fmla="*/ 2147483647 w 1421"/>
              <a:gd name="T105" fmla="*/ 2147483647 h 1382"/>
              <a:gd name="T106" fmla="*/ 2147483647 w 1421"/>
              <a:gd name="T107" fmla="*/ 2147483647 h 1382"/>
              <a:gd name="T108" fmla="*/ 2147483647 w 1421"/>
              <a:gd name="T109" fmla="*/ 2147483647 h 1382"/>
              <a:gd name="T110" fmla="*/ 2147483647 w 1421"/>
              <a:gd name="T111" fmla="*/ 2147483647 h 1382"/>
              <a:gd name="T112" fmla="*/ 2147483647 w 1421"/>
              <a:gd name="T113" fmla="*/ 2147483647 h 1382"/>
              <a:gd name="T114" fmla="*/ 2147483647 w 1421"/>
              <a:gd name="T115" fmla="*/ 2147483647 h 1382"/>
              <a:gd name="T116" fmla="*/ 2147483647 w 1421"/>
              <a:gd name="T117" fmla="*/ 2147483647 h 1382"/>
              <a:gd name="T118" fmla="*/ 2147483647 w 1421"/>
              <a:gd name="T119" fmla="*/ 2147483647 h 1382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1421"/>
              <a:gd name="T181" fmla="*/ 0 h 1382"/>
              <a:gd name="T182" fmla="*/ 1421 w 1421"/>
              <a:gd name="T183" fmla="*/ 1382 h 1382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1421" h="1382">
                <a:moveTo>
                  <a:pt x="0" y="288"/>
                </a:moveTo>
                <a:lnTo>
                  <a:pt x="0" y="0"/>
                </a:lnTo>
                <a:lnTo>
                  <a:pt x="1419" y="0"/>
                </a:lnTo>
                <a:lnTo>
                  <a:pt x="1421" y="1103"/>
                </a:lnTo>
                <a:lnTo>
                  <a:pt x="1297" y="1103"/>
                </a:lnTo>
                <a:lnTo>
                  <a:pt x="1292" y="1113"/>
                </a:lnTo>
                <a:lnTo>
                  <a:pt x="1289" y="1127"/>
                </a:lnTo>
                <a:lnTo>
                  <a:pt x="1289" y="1138"/>
                </a:lnTo>
                <a:lnTo>
                  <a:pt x="1290" y="1151"/>
                </a:lnTo>
                <a:lnTo>
                  <a:pt x="1295" y="1169"/>
                </a:lnTo>
                <a:lnTo>
                  <a:pt x="1300" y="1191"/>
                </a:lnTo>
                <a:lnTo>
                  <a:pt x="1305" y="1206"/>
                </a:lnTo>
                <a:lnTo>
                  <a:pt x="1308" y="1224"/>
                </a:lnTo>
                <a:lnTo>
                  <a:pt x="1311" y="1241"/>
                </a:lnTo>
                <a:lnTo>
                  <a:pt x="1311" y="1259"/>
                </a:lnTo>
                <a:lnTo>
                  <a:pt x="1308" y="1275"/>
                </a:lnTo>
                <a:lnTo>
                  <a:pt x="1305" y="1292"/>
                </a:lnTo>
                <a:lnTo>
                  <a:pt x="1299" y="1308"/>
                </a:lnTo>
                <a:lnTo>
                  <a:pt x="1289" y="1320"/>
                </a:lnTo>
                <a:lnTo>
                  <a:pt x="1275" y="1335"/>
                </a:lnTo>
                <a:lnTo>
                  <a:pt x="1262" y="1346"/>
                </a:lnTo>
                <a:lnTo>
                  <a:pt x="1249" y="1357"/>
                </a:lnTo>
                <a:lnTo>
                  <a:pt x="1235" y="1366"/>
                </a:lnTo>
                <a:lnTo>
                  <a:pt x="1217" y="1372"/>
                </a:lnTo>
                <a:lnTo>
                  <a:pt x="1196" y="1378"/>
                </a:lnTo>
                <a:lnTo>
                  <a:pt x="1177" y="1381"/>
                </a:lnTo>
                <a:lnTo>
                  <a:pt x="1159" y="1382"/>
                </a:lnTo>
                <a:lnTo>
                  <a:pt x="1141" y="1382"/>
                </a:lnTo>
                <a:lnTo>
                  <a:pt x="1124" y="1381"/>
                </a:lnTo>
                <a:lnTo>
                  <a:pt x="1110" y="1378"/>
                </a:lnTo>
                <a:lnTo>
                  <a:pt x="1094" y="1373"/>
                </a:lnTo>
                <a:lnTo>
                  <a:pt x="1078" y="1368"/>
                </a:lnTo>
                <a:lnTo>
                  <a:pt x="1066" y="1361"/>
                </a:lnTo>
                <a:lnTo>
                  <a:pt x="1052" y="1351"/>
                </a:lnTo>
                <a:lnTo>
                  <a:pt x="1040" y="1339"/>
                </a:lnTo>
                <a:lnTo>
                  <a:pt x="1027" y="1325"/>
                </a:lnTo>
                <a:lnTo>
                  <a:pt x="1016" y="1312"/>
                </a:lnTo>
                <a:lnTo>
                  <a:pt x="1008" y="1297"/>
                </a:lnTo>
                <a:lnTo>
                  <a:pt x="1002" y="1278"/>
                </a:lnTo>
                <a:lnTo>
                  <a:pt x="997" y="1257"/>
                </a:lnTo>
                <a:lnTo>
                  <a:pt x="997" y="1238"/>
                </a:lnTo>
                <a:lnTo>
                  <a:pt x="1002" y="1218"/>
                </a:lnTo>
                <a:lnTo>
                  <a:pt x="1007" y="1198"/>
                </a:lnTo>
                <a:lnTo>
                  <a:pt x="1011" y="1179"/>
                </a:lnTo>
                <a:lnTo>
                  <a:pt x="1018" y="1156"/>
                </a:lnTo>
                <a:lnTo>
                  <a:pt x="1020" y="1139"/>
                </a:lnTo>
                <a:lnTo>
                  <a:pt x="1020" y="1129"/>
                </a:lnTo>
                <a:lnTo>
                  <a:pt x="1019" y="1121"/>
                </a:lnTo>
                <a:lnTo>
                  <a:pt x="1015" y="1111"/>
                </a:lnTo>
                <a:lnTo>
                  <a:pt x="779" y="1111"/>
                </a:lnTo>
                <a:lnTo>
                  <a:pt x="782" y="1069"/>
                </a:lnTo>
                <a:lnTo>
                  <a:pt x="781" y="1045"/>
                </a:lnTo>
                <a:lnTo>
                  <a:pt x="779" y="1023"/>
                </a:lnTo>
                <a:lnTo>
                  <a:pt x="776" y="1002"/>
                </a:lnTo>
                <a:lnTo>
                  <a:pt x="772" y="989"/>
                </a:lnTo>
                <a:lnTo>
                  <a:pt x="766" y="976"/>
                </a:lnTo>
                <a:lnTo>
                  <a:pt x="759" y="965"/>
                </a:lnTo>
                <a:lnTo>
                  <a:pt x="746" y="956"/>
                </a:lnTo>
                <a:lnTo>
                  <a:pt x="733" y="947"/>
                </a:lnTo>
                <a:lnTo>
                  <a:pt x="719" y="942"/>
                </a:lnTo>
                <a:lnTo>
                  <a:pt x="707" y="940"/>
                </a:lnTo>
                <a:lnTo>
                  <a:pt x="686" y="938"/>
                </a:lnTo>
                <a:lnTo>
                  <a:pt x="661" y="938"/>
                </a:lnTo>
                <a:lnTo>
                  <a:pt x="638" y="941"/>
                </a:lnTo>
                <a:lnTo>
                  <a:pt x="612" y="942"/>
                </a:lnTo>
                <a:lnTo>
                  <a:pt x="592" y="944"/>
                </a:lnTo>
                <a:lnTo>
                  <a:pt x="567" y="946"/>
                </a:lnTo>
                <a:lnTo>
                  <a:pt x="546" y="944"/>
                </a:lnTo>
                <a:lnTo>
                  <a:pt x="527" y="942"/>
                </a:lnTo>
                <a:lnTo>
                  <a:pt x="499" y="936"/>
                </a:lnTo>
                <a:lnTo>
                  <a:pt x="480" y="927"/>
                </a:lnTo>
                <a:lnTo>
                  <a:pt x="463" y="915"/>
                </a:lnTo>
                <a:lnTo>
                  <a:pt x="452" y="901"/>
                </a:lnTo>
                <a:lnTo>
                  <a:pt x="442" y="887"/>
                </a:lnTo>
                <a:lnTo>
                  <a:pt x="435" y="868"/>
                </a:lnTo>
                <a:lnTo>
                  <a:pt x="433" y="848"/>
                </a:lnTo>
                <a:lnTo>
                  <a:pt x="433" y="824"/>
                </a:lnTo>
                <a:lnTo>
                  <a:pt x="435" y="805"/>
                </a:lnTo>
                <a:lnTo>
                  <a:pt x="433" y="787"/>
                </a:lnTo>
                <a:lnTo>
                  <a:pt x="429" y="766"/>
                </a:lnTo>
                <a:lnTo>
                  <a:pt x="425" y="753"/>
                </a:lnTo>
                <a:lnTo>
                  <a:pt x="419" y="741"/>
                </a:lnTo>
                <a:lnTo>
                  <a:pt x="411" y="733"/>
                </a:lnTo>
                <a:lnTo>
                  <a:pt x="404" y="725"/>
                </a:lnTo>
                <a:lnTo>
                  <a:pt x="388" y="718"/>
                </a:lnTo>
                <a:lnTo>
                  <a:pt x="369" y="709"/>
                </a:lnTo>
                <a:lnTo>
                  <a:pt x="348" y="703"/>
                </a:lnTo>
                <a:lnTo>
                  <a:pt x="324" y="697"/>
                </a:lnTo>
                <a:lnTo>
                  <a:pt x="299" y="692"/>
                </a:lnTo>
                <a:lnTo>
                  <a:pt x="273" y="688"/>
                </a:lnTo>
                <a:lnTo>
                  <a:pt x="255" y="682"/>
                </a:lnTo>
                <a:lnTo>
                  <a:pt x="235" y="676"/>
                </a:lnTo>
                <a:lnTo>
                  <a:pt x="215" y="668"/>
                </a:lnTo>
                <a:lnTo>
                  <a:pt x="202" y="657"/>
                </a:lnTo>
                <a:lnTo>
                  <a:pt x="186" y="644"/>
                </a:lnTo>
                <a:lnTo>
                  <a:pt x="175" y="632"/>
                </a:lnTo>
                <a:lnTo>
                  <a:pt x="165" y="617"/>
                </a:lnTo>
                <a:lnTo>
                  <a:pt x="157" y="599"/>
                </a:lnTo>
                <a:lnTo>
                  <a:pt x="155" y="581"/>
                </a:lnTo>
                <a:lnTo>
                  <a:pt x="155" y="564"/>
                </a:lnTo>
                <a:lnTo>
                  <a:pt x="159" y="548"/>
                </a:lnTo>
                <a:lnTo>
                  <a:pt x="165" y="524"/>
                </a:lnTo>
                <a:lnTo>
                  <a:pt x="171" y="501"/>
                </a:lnTo>
                <a:lnTo>
                  <a:pt x="173" y="480"/>
                </a:lnTo>
                <a:lnTo>
                  <a:pt x="178" y="459"/>
                </a:lnTo>
                <a:lnTo>
                  <a:pt x="181" y="438"/>
                </a:lnTo>
                <a:lnTo>
                  <a:pt x="178" y="416"/>
                </a:lnTo>
                <a:lnTo>
                  <a:pt x="173" y="396"/>
                </a:lnTo>
                <a:lnTo>
                  <a:pt x="166" y="377"/>
                </a:lnTo>
                <a:lnTo>
                  <a:pt x="156" y="358"/>
                </a:lnTo>
                <a:lnTo>
                  <a:pt x="145" y="343"/>
                </a:lnTo>
                <a:lnTo>
                  <a:pt x="139" y="335"/>
                </a:lnTo>
                <a:lnTo>
                  <a:pt x="128" y="324"/>
                </a:lnTo>
                <a:lnTo>
                  <a:pt x="117" y="314"/>
                </a:lnTo>
                <a:lnTo>
                  <a:pt x="106" y="306"/>
                </a:lnTo>
                <a:lnTo>
                  <a:pt x="91" y="299"/>
                </a:lnTo>
                <a:lnTo>
                  <a:pt x="76" y="294"/>
                </a:lnTo>
                <a:lnTo>
                  <a:pt x="58" y="289"/>
                </a:lnTo>
                <a:lnTo>
                  <a:pt x="37" y="288"/>
                </a:lnTo>
                <a:lnTo>
                  <a:pt x="18" y="288"/>
                </a:lnTo>
                <a:lnTo>
                  <a:pt x="0" y="288"/>
                </a:lnTo>
                <a:close/>
              </a:path>
            </a:pathLst>
          </a:custGeom>
          <a:solidFill>
            <a:srgbClr val="FF00FF"/>
          </a:solidFill>
          <a:ln w="31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15" name="Freeform 8"/>
          <p:cNvSpPr>
            <a:spLocks/>
          </p:cNvSpPr>
          <p:nvPr/>
        </p:nvSpPr>
        <p:spPr bwMode="auto">
          <a:xfrm rot="1781304">
            <a:off x="7696200" y="3352800"/>
            <a:ext cx="452438" cy="368300"/>
          </a:xfrm>
          <a:custGeom>
            <a:avLst/>
            <a:gdLst>
              <a:gd name="T0" fmla="*/ 0 w 1427"/>
              <a:gd name="T1" fmla="*/ 2147483647 h 1158"/>
              <a:gd name="T2" fmla="*/ 2147483647 w 1427"/>
              <a:gd name="T3" fmla="*/ 0 h 1158"/>
              <a:gd name="T4" fmla="*/ 2147483647 w 1427"/>
              <a:gd name="T5" fmla="*/ 2147483647 h 1158"/>
              <a:gd name="T6" fmla="*/ 2147483647 w 1427"/>
              <a:gd name="T7" fmla="*/ 2147483647 h 1158"/>
              <a:gd name="T8" fmla="*/ 2147483647 w 1427"/>
              <a:gd name="T9" fmla="*/ 2147483647 h 1158"/>
              <a:gd name="T10" fmla="*/ 2147483647 w 1427"/>
              <a:gd name="T11" fmla="*/ 2147483647 h 1158"/>
              <a:gd name="T12" fmla="*/ 2147483647 w 1427"/>
              <a:gd name="T13" fmla="*/ 2147483647 h 1158"/>
              <a:gd name="T14" fmla="*/ 2147483647 w 1427"/>
              <a:gd name="T15" fmla="*/ 2147483647 h 1158"/>
              <a:gd name="T16" fmla="*/ 2147483647 w 1427"/>
              <a:gd name="T17" fmla="*/ 2147483647 h 1158"/>
              <a:gd name="T18" fmla="*/ 2147483647 w 1427"/>
              <a:gd name="T19" fmla="*/ 2147483647 h 1158"/>
              <a:gd name="T20" fmla="*/ 2147483647 w 1427"/>
              <a:gd name="T21" fmla="*/ 2147483647 h 1158"/>
              <a:gd name="T22" fmla="*/ 2147483647 w 1427"/>
              <a:gd name="T23" fmla="*/ 2147483647 h 1158"/>
              <a:gd name="T24" fmla="*/ 2147483647 w 1427"/>
              <a:gd name="T25" fmla="*/ 2147483647 h 1158"/>
              <a:gd name="T26" fmla="*/ 2147483647 w 1427"/>
              <a:gd name="T27" fmla="*/ 2147483647 h 1158"/>
              <a:gd name="T28" fmla="*/ 2147483647 w 1427"/>
              <a:gd name="T29" fmla="*/ 2147483647 h 1158"/>
              <a:gd name="T30" fmla="*/ 2147483647 w 1427"/>
              <a:gd name="T31" fmla="*/ 2147483647 h 1158"/>
              <a:gd name="T32" fmla="*/ 2147483647 w 1427"/>
              <a:gd name="T33" fmla="*/ 2147483647 h 1158"/>
              <a:gd name="T34" fmla="*/ 2147483647 w 1427"/>
              <a:gd name="T35" fmla="*/ 2147483647 h 1158"/>
              <a:gd name="T36" fmla="*/ 2147483647 w 1427"/>
              <a:gd name="T37" fmla="*/ 2147483647 h 1158"/>
              <a:gd name="T38" fmla="*/ 2147483647 w 1427"/>
              <a:gd name="T39" fmla="*/ 2147483647 h 1158"/>
              <a:gd name="T40" fmla="*/ 2147483647 w 1427"/>
              <a:gd name="T41" fmla="*/ 2147483647 h 1158"/>
              <a:gd name="T42" fmla="*/ 2147483647 w 1427"/>
              <a:gd name="T43" fmla="*/ 2147483647 h 1158"/>
              <a:gd name="T44" fmla="*/ 2147483647 w 1427"/>
              <a:gd name="T45" fmla="*/ 2147483647 h 1158"/>
              <a:gd name="T46" fmla="*/ 2147483647 w 1427"/>
              <a:gd name="T47" fmla="*/ 2147483647 h 1158"/>
              <a:gd name="T48" fmla="*/ 2147483647 w 1427"/>
              <a:gd name="T49" fmla="*/ 2147483647 h 1158"/>
              <a:gd name="T50" fmla="*/ 2147483647 w 1427"/>
              <a:gd name="T51" fmla="*/ 2147483647 h 1158"/>
              <a:gd name="T52" fmla="*/ 2147483647 w 1427"/>
              <a:gd name="T53" fmla="*/ 2147483647 h 1158"/>
              <a:gd name="T54" fmla="*/ 2147483647 w 1427"/>
              <a:gd name="T55" fmla="*/ 2147483647 h 1158"/>
              <a:gd name="T56" fmla="*/ 2147483647 w 1427"/>
              <a:gd name="T57" fmla="*/ 2147483647 h 1158"/>
              <a:gd name="T58" fmla="*/ 2147483647 w 1427"/>
              <a:gd name="T59" fmla="*/ 2147483647 h 1158"/>
              <a:gd name="T60" fmla="*/ 2147483647 w 1427"/>
              <a:gd name="T61" fmla="*/ 2147483647 h 1158"/>
              <a:gd name="T62" fmla="*/ 2147483647 w 1427"/>
              <a:gd name="T63" fmla="*/ 2147483647 h 1158"/>
              <a:gd name="T64" fmla="*/ 2147483647 w 1427"/>
              <a:gd name="T65" fmla="*/ 2147483647 h 1158"/>
              <a:gd name="T66" fmla="*/ 2147483647 w 1427"/>
              <a:gd name="T67" fmla="*/ 2147483647 h 1158"/>
              <a:gd name="T68" fmla="*/ 2147483647 w 1427"/>
              <a:gd name="T69" fmla="*/ 2147483647 h 1158"/>
              <a:gd name="T70" fmla="*/ 2147483647 w 1427"/>
              <a:gd name="T71" fmla="*/ 2147483647 h 1158"/>
              <a:gd name="T72" fmla="*/ 2147483647 w 1427"/>
              <a:gd name="T73" fmla="*/ 2147483647 h 1158"/>
              <a:gd name="T74" fmla="*/ 2147483647 w 1427"/>
              <a:gd name="T75" fmla="*/ 2147483647 h 1158"/>
              <a:gd name="T76" fmla="*/ 2147483647 w 1427"/>
              <a:gd name="T77" fmla="*/ 2147483647 h 1158"/>
              <a:gd name="T78" fmla="*/ 2147483647 w 1427"/>
              <a:gd name="T79" fmla="*/ 2147483647 h 1158"/>
              <a:gd name="T80" fmla="*/ 2147483647 w 1427"/>
              <a:gd name="T81" fmla="*/ 2147483647 h 1158"/>
              <a:gd name="T82" fmla="*/ 2147483647 w 1427"/>
              <a:gd name="T83" fmla="*/ 2147483647 h 1158"/>
              <a:gd name="T84" fmla="*/ 2147483647 w 1427"/>
              <a:gd name="T85" fmla="*/ 2147483647 h 1158"/>
              <a:gd name="T86" fmla="*/ 2147483647 w 1427"/>
              <a:gd name="T87" fmla="*/ 2147483647 h 1158"/>
              <a:gd name="T88" fmla="*/ 2147483647 w 1427"/>
              <a:gd name="T89" fmla="*/ 2147483647 h 1158"/>
              <a:gd name="T90" fmla="*/ 2147483647 w 1427"/>
              <a:gd name="T91" fmla="*/ 2147483647 h 1158"/>
              <a:gd name="T92" fmla="*/ 2147483647 w 1427"/>
              <a:gd name="T93" fmla="*/ 2147483647 h 1158"/>
              <a:gd name="T94" fmla="*/ 2147483647 w 1427"/>
              <a:gd name="T95" fmla="*/ 2147483647 h 1158"/>
              <a:gd name="T96" fmla="*/ 2147483647 w 1427"/>
              <a:gd name="T97" fmla="*/ 2147483647 h 1158"/>
              <a:gd name="T98" fmla="*/ 2147483647 w 1427"/>
              <a:gd name="T99" fmla="*/ 2147483647 h 1158"/>
              <a:gd name="T100" fmla="*/ 2147483647 w 1427"/>
              <a:gd name="T101" fmla="*/ 2147483647 h 1158"/>
              <a:gd name="T102" fmla="*/ 2147483647 w 1427"/>
              <a:gd name="T103" fmla="*/ 2147483647 h 1158"/>
              <a:gd name="T104" fmla="*/ 2147483647 w 1427"/>
              <a:gd name="T105" fmla="*/ 2147483647 h 1158"/>
              <a:gd name="T106" fmla="*/ 2147483647 w 1427"/>
              <a:gd name="T107" fmla="*/ 2147483647 h 1158"/>
              <a:gd name="T108" fmla="*/ 2147483647 w 1427"/>
              <a:gd name="T109" fmla="*/ 2147483647 h 115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427"/>
              <a:gd name="T166" fmla="*/ 0 h 1158"/>
              <a:gd name="T167" fmla="*/ 1427 w 1427"/>
              <a:gd name="T168" fmla="*/ 1158 h 1158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427" h="1158">
                <a:moveTo>
                  <a:pt x="0" y="915"/>
                </a:moveTo>
                <a:lnTo>
                  <a:pt x="0" y="1158"/>
                </a:lnTo>
                <a:lnTo>
                  <a:pt x="1427" y="1158"/>
                </a:lnTo>
                <a:lnTo>
                  <a:pt x="1425" y="0"/>
                </a:lnTo>
                <a:lnTo>
                  <a:pt x="1298" y="0"/>
                </a:lnTo>
                <a:lnTo>
                  <a:pt x="1292" y="22"/>
                </a:lnTo>
                <a:lnTo>
                  <a:pt x="1292" y="38"/>
                </a:lnTo>
                <a:lnTo>
                  <a:pt x="1296" y="60"/>
                </a:lnTo>
                <a:lnTo>
                  <a:pt x="1303" y="84"/>
                </a:lnTo>
                <a:lnTo>
                  <a:pt x="1311" y="112"/>
                </a:lnTo>
                <a:lnTo>
                  <a:pt x="1314" y="134"/>
                </a:lnTo>
                <a:lnTo>
                  <a:pt x="1314" y="154"/>
                </a:lnTo>
                <a:lnTo>
                  <a:pt x="1312" y="176"/>
                </a:lnTo>
                <a:lnTo>
                  <a:pt x="1306" y="197"/>
                </a:lnTo>
                <a:lnTo>
                  <a:pt x="1292" y="217"/>
                </a:lnTo>
                <a:lnTo>
                  <a:pt x="1276" y="234"/>
                </a:lnTo>
                <a:lnTo>
                  <a:pt x="1259" y="250"/>
                </a:lnTo>
                <a:lnTo>
                  <a:pt x="1239" y="261"/>
                </a:lnTo>
                <a:lnTo>
                  <a:pt x="1216" y="270"/>
                </a:lnTo>
                <a:lnTo>
                  <a:pt x="1195" y="275"/>
                </a:lnTo>
                <a:lnTo>
                  <a:pt x="1165" y="276"/>
                </a:lnTo>
                <a:lnTo>
                  <a:pt x="1131" y="274"/>
                </a:lnTo>
                <a:lnTo>
                  <a:pt x="1109" y="270"/>
                </a:lnTo>
                <a:lnTo>
                  <a:pt x="1089" y="265"/>
                </a:lnTo>
                <a:lnTo>
                  <a:pt x="1070" y="254"/>
                </a:lnTo>
                <a:lnTo>
                  <a:pt x="1047" y="235"/>
                </a:lnTo>
                <a:lnTo>
                  <a:pt x="1032" y="218"/>
                </a:lnTo>
                <a:lnTo>
                  <a:pt x="1019" y="200"/>
                </a:lnTo>
                <a:lnTo>
                  <a:pt x="1011" y="180"/>
                </a:lnTo>
                <a:lnTo>
                  <a:pt x="1006" y="162"/>
                </a:lnTo>
                <a:lnTo>
                  <a:pt x="1006" y="141"/>
                </a:lnTo>
                <a:lnTo>
                  <a:pt x="1009" y="120"/>
                </a:lnTo>
                <a:lnTo>
                  <a:pt x="1014" y="100"/>
                </a:lnTo>
                <a:lnTo>
                  <a:pt x="1019" y="81"/>
                </a:lnTo>
                <a:lnTo>
                  <a:pt x="1025" y="62"/>
                </a:lnTo>
                <a:lnTo>
                  <a:pt x="1029" y="42"/>
                </a:lnTo>
                <a:lnTo>
                  <a:pt x="1029" y="25"/>
                </a:lnTo>
                <a:lnTo>
                  <a:pt x="1024" y="5"/>
                </a:lnTo>
                <a:lnTo>
                  <a:pt x="785" y="5"/>
                </a:lnTo>
                <a:lnTo>
                  <a:pt x="787" y="46"/>
                </a:lnTo>
                <a:lnTo>
                  <a:pt x="785" y="74"/>
                </a:lnTo>
                <a:lnTo>
                  <a:pt x="783" y="97"/>
                </a:lnTo>
                <a:lnTo>
                  <a:pt x="783" y="118"/>
                </a:lnTo>
                <a:lnTo>
                  <a:pt x="781" y="141"/>
                </a:lnTo>
                <a:lnTo>
                  <a:pt x="776" y="163"/>
                </a:lnTo>
                <a:lnTo>
                  <a:pt x="770" y="178"/>
                </a:lnTo>
                <a:lnTo>
                  <a:pt x="761" y="191"/>
                </a:lnTo>
                <a:lnTo>
                  <a:pt x="749" y="202"/>
                </a:lnTo>
                <a:lnTo>
                  <a:pt x="735" y="211"/>
                </a:lnTo>
                <a:lnTo>
                  <a:pt x="719" y="216"/>
                </a:lnTo>
                <a:lnTo>
                  <a:pt x="702" y="218"/>
                </a:lnTo>
                <a:lnTo>
                  <a:pt x="686" y="219"/>
                </a:lnTo>
                <a:lnTo>
                  <a:pt x="665" y="219"/>
                </a:lnTo>
                <a:lnTo>
                  <a:pt x="645" y="217"/>
                </a:lnTo>
                <a:lnTo>
                  <a:pt x="629" y="216"/>
                </a:lnTo>
                <a:lnTo>
                  <a:pt x="608" y="214"/>
                </a:lnTo>
                <a:lnTo>
                  <a:pt x="586" y="212"/>
                </a:lnTo>
                <a:lnTo>
                  <a:pt x="561" y="212"/>
                </a:lnTo>
                <a:lnTo>
                  <a:pt x="541" y="214"/>
                </a:lnTo>
                <a:lnTo>
                  <a:pt x="520" y="217"/>
                </a:lnTo>
                <a:lnTo>
                  <a:pt x="497" y="223"/>
                </a:lnTo>
                <a:lnTo>
                  <a:pt x="481" y="232"/>
                </a:lnTo>
                <a:lnTo>
                  <a:pt x="464" y="243"/>
                </a:lnTo>
                <a:lnTo>
                  <a:pt x="453" y="258"/>
                </a:lnTo>
                <a:lnTo>
                  <a:pt x="442" y="274"/>
                </a:lnTo>
                <a:lnTo>
                  <a:pt x="437" y="290"/>
                </a:lnTo>
                <a:lnTo>
                  <a:pt x="435" y="308"/>
                </a:lnTo>
                <a:lnTo>
                  <a:pt x="437" y="327"/>
                </a:lnTo>
                <a:lnTo>
                  <a:pt x="438" y="346"/>
                </a:lnTo>
                <a:lnTo>
                  <a:pt x="437" y="367"/>
                </a:lnTo>
                <a:lnTo>
                  <a:pt x="433" y="383"/>
                </a:lnTo>
                <a:lnTo>
                  <a:pt x="428" y="400"/>
                </a:lnTo>
                <a:lnTo>
                  <a:pt x="421" y="417"/>
                </a:lnTo>
                <a:lnTo>
                  <a:pt x="411" y="428"/>
                </a:lnTo>
                <a:lnTo>
                  <a:pt x="395" y="439"/>
                </a:lnTo>
                <a:lnTo>
                  <a:pt x="375" y="446"/>
                </a:lnTo>
                <a:lnTo>
                  <a:pt x="356" y="452"/>
                </a:lnTo>
                <a:lnTo>
                  <a:pt x="337" y="457"/>
                </a:lnTo>
                <a:lnTo>
                  <a:pt x="317" y="462"/>
                </a:lnTo>
                <a:lnTo>
                  <a:pt x="292" y="467"/>
                </a:lnTo>
                <a:lnTo>
                  <a:pt x="272" y="471"/>
                </a:lnTo>
                <a:lnTo>
                  <a:pt x="251" y="477"/>
                </a:lnTo>
                <a:lnTo>
                  <a:pt x="234" y="483"/>
                </a:lnTo>
                <a:lnTo>
                  <a:pt x="216" y="490"/>
                </a:lnTo>
                <a:lnTo>
                  <a:pt x="203" y="500"/>
                </a:lnTo>
                <a:lnTo>
                  <a:pt x="191" y="510"/>
                </a:lnTo>
                <a:lnTo>
                  <a:pt x="177" y="526"/>
                </a:lnTo>
                <a:lnTo>
                  <a:pt x="168" y="541"/>
                </a:lnTo>
                <a:lnTo>
                  <a:pt x="161" y="558"/>
                </a:lnTo>
                <a:lnTo>
                  <a:pt x="157" y="579"/>
                </a:lnTo>
                <a:lnTo>
                  <a:pt x="160" y="599"/>
                </a:lnTo>
                <a:lnTo>
                  <a:pt x="162" y="619"/>
                </a:lnTo>
                <a:lnTo>
                  <a:pt x="168" y="642"/>
                </a:lnTo>
                <a:lnTo>
                  <a:pt x="175" y="668"/>
                </a:lnTo>
                <a:lnTo>
                  <a:pt x="179" y="691"/>
                </a:lnTo>
                <a:lnTo>
                  <a:pt x="182" y="710"/>
                </a:lnTo>
                <a:lnTo>
                  <a:pt x="182" y="727"/>
                </a:lnTo>
                <a:lnTo>
                  <a:pt x="179" y="750"/>
                </a:lnTo>
                <a:lnTo>
                  <a:pt x="173" y="770"/>
                </a:lnTo>
                <a:lnTo>
                  <a:pt x="168" y="787"/>
                </a:lnTo>
                <a:lnTo>
                  <a:pt x="161" y="803"/>
                </a:lnTo>
                <a:lnTo>
                  <a:pt x="151" y="824"/>
                </a:lnTo>
                <a:lnTo>
                  <a:pt x="138" y="848"/>
                </a:lnTo>
                <a:lnTo>
                  <a:pt x="123" y="865"/>
                </a:lnTo>
                <a:lnTo>
                  <a:pt x="108" y="878"/>
                </a:lnTo>
                <a:lnTo>
                  <a:pt x="94" y="891"/>
                </a:lnTo>
                <a:lnTo>
                  <a:pt x="80" y="901"/>
                </a:lnTo>
                <a:lnTo>
                  <a:pt x="65" y="907"/>
                </a:lnTo>
                <a:lnTo>
                  <a:pt x="44" y="912"/>
                </a:lnTo>
                <a:lnTo>
                  <a:pt x="20" y="915"/>
                </a:lnTo>
                <a:lnTo>
                  <a:pt x="0" y="915"/>
                </a:lnTo>
                <a:close/>
              </a:path>
            </a:pathLst>
          </a:custGeom>
          <a:solidFill>
            <a:srgbClr val="0000FF"/>
          </a:solidFill>
          <a:ln w="31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16" name="Freeform 9"/>
          <p:cNvSpPr>
            <a:spLocks/>
          </p:cNvSpPr>
          <p:nvPr/>
        </p:nvSpPr>
        <p:spPr bwMode="auto">
          <a:xfrm>
            <a:off x="7086600" y="3276600"/>
            <a:ext cx="450850" cy="439738"/>
          </a:xfrm>
          <a:custGeom>
            <a:avLst/>
            <a:gdLst>
              <a:gd name="T0" fmla="*/ 2147483647 w 1421"/>
              <a:gd name="T1" fmla="*/ 2147483647 h 1382"/>
              <a:gd name="T2" fmla="*/ 0 w 1421"/>
              <a:gd name="T3" fmla="*/ 2147483647 h 1382"/>
              <a:gd name="T4" fmla="*/ 2147483647 w 1421"/>
              <a:gd name="T5" fmla="*/ 2147483647 h 1382"/>
              <a:gd name="T6" fmla="*/ 2147483647 w 1421"/>
              <a:gd name="T7" fmla="*/ 2147483647 h 1382"/>
              <a:gd name="T8" fmla="*/ 2147483647 w 1421"/>
              <a:gd name="T9" fmla="*/ 2147483647 h 1382"/>
              <a:gd name="T10" fmla="*/ 2147483647 w 1421"/>
              <a:gd name="T11" fmla="*/ 2147483647 h 1382"/>
              <a:gd name="T12" fmla="*/ 2147483647 w 1421"/>
              <a:gd name="T13" fmla="*/ 2147483647 h 1382"/>
              <a:gd name="T14" fmla="*/ 2147483647 w 1421"/>
              <a:gd name="T15" fmla="*/ 2147483647 h 1382"/>
              <a:gd name="T16" fmla="*/ 2147483647 w 1421"/>
              <a:gd name="T17" fmla="*/ 2147483647 h 1382"/>
              <a:gd name="T18" fmla="*/ 2147483647 w 1421"/>
              <a:gd name="T19" fmla="*/ 2147483647 h 1382"/>
              <a:gd name="T20" fmla="*/ 2147483647 w 1421"/>
              <a:gd name="T21" fmla="*/ 2147483647 h 1382"/>
              <a:gd name="T22" fmla="*/ 2147483647 w 1421"/>
              <a:gd name="T23" fmla="*/ 2147483647 h 1382"/>
              <a:gd name="T24" fmla="*/ 2147483647 w 1421"/>
              <a:gd name="T25" fmla="*/ 2147483647 h 1382"/>
              <a:gd name="T26" fmla="*/ 2147483647 w 1421"/>
              <a:gd name="T27" fmla="*/ 0 h 1382"/>
              <a:gd name="T28" fmla="*/ 2147483647 w 1421"/>
              <a:gd name="T29" fmla="*/ 2147483647 h 1382"/>
              <a:gd name="T30" fmla="*/ 2147483647 w 1421"/>
              <a:gd name="T31" fmla="*/ 2147483647 h 1382"/>
              <a:gd name="T32" fmla="*/ 2147483647 w 1421"/>
              <a:gd name="T33" fmla="*/ 2147483647 h 1382"/>
              <a:gd name="T34" fmla="*/ 2147483647 w 1421"/>
              <a:gd name="T35" fmla="*/ 2147483647 h 1382"/>
              <a:gd name="T36" fmla="*/ 2147483647 w 1421"/>
              <a:gd name="T37" fmla="*/ 2147483647 h 1382"/>
              <a:gd name="T38" fmla="*/ 2147483647 w 1421"/>
              <a:gd name="T39" fmla="*/ 2147483647 h 1382"/>
              <a:gd name="T40" fmla="*/ 2147483647 w 1421"/>
              <a:gd name="T41" fmla="*/ 2147483647 h 1382"/>
              <a:gd name="T42" fmla="*/ 2147483647 w 1421"/>
              <a:gd name="T43" fmla="*/ 2147483647 h 1382"/>
              <a:gd name="T44" fmla="*/ 2147483647 w 1421"/>
              <a:gd name="T45" fmla="*/ 2147483647 h 1382"/>
              <a:gd name="T46" fmla="*/ 2147483647 w 1421"/>
              <a:gd name="T47" fmla="*/ 2147483647 h 1382"/>
              <a:gd name="T48" fmla="*/ 2147483647 w 1421"/>
              <a:gd name="T49" fmla="*/ 2147483647 h 1382"/>
              <a:gd name="T50" fmla="*/ 2147483647 w 1421"/>
              <a:gd name="T51" fmla="*/ 2147483647 h 1382"/>
              <a:gd name="T52" fmla="*/ 2147483647 w 1421"/>
              <a:gd name="T53" fmla="*/ 2147483647 h 1382"/>
              <a:gd name="T54" fmla="*/ 2147483647 w 1421"/>
              <a:gd name="T55" fmla="*/ 2147483647 h 1382"/>
              <a:gd name="T56" fmla="*/ 2147483647 w 1421"/>
              <a:gd name="T57" fmla="*/ 2147483647 h 1382"/>
              <a:gd name="T58" fmla="*/ 2147483647 w 1421"/>
              <a:gd name="T59" fmla="*/ 2147483647 h 1382"/>
              <a:gd name="T60" fmla="*/ 2147483647 w 1421"/>
              <a:gd name="T61" fmla="*/ 2147483647 h 1382"/>
              <a:gd name="T62" fmla="*/ 2147483647 w 1421"/>
              <a:gd name="T63" fmla="*/ 2147483647 h 1382"/>
              <a:gd name="T64" fmla="*/ 2147483647 w 1421"/>
              <a:gd name="T65" fmla="*/ 2147483647 h 1382"/>
              <a:gd name="T66" fmla="*/ 2147483647 w 1421"/>
              <a:gd name="T67" fmla="*/ 2147483647 h 1382"/>
              <a:gd name="T68" fmla="*/ 2147483647 w 1421"/>
              <a:gd name="T69" fmla="*/ 2147483647 h 1382"/>
              <a:gd name="T70" fmla="*/ 2147483647 w 1421"/>
              <a:gd name="T71" fmla="*/ 2147483647 h 1382"/>
              <a:gd name="T72" fmla="*/ 2147483647 w 1421"/>
              <a:gd name="T73" fmla="*/ 2147483647 h 1382"/>
              <a:gd name="T74" fmla="*/ 2147483647 w 1421"/>
              <a:gd name="T75" fmla="*/ 2147483647 h 1382"/>
              <a:gd name="T76" fmla="*/ 2147483647 w 1421"/>
              <a:gd name="T77" fmla="*/ 2147483647 h 1382"/>
              <a:gd name="T78" fmla="*/ 2147483647 w 1421"/>
              <a:gd name="T79" fmla="*/ 2147483647 h 1382"/>
              <a:gd name="T80" fmla="*/ 2147483647 w 1421"/>
              <a:gd name="T81" fmla="*/ 2147483647 h 1382"/>
              <a:gd name="T82" fmla="*/ 2147483647 w 1421"/>
              <a:gd name="T83" fmla="*/ 2147483647 h 1382"/>
              <a:gd name="T84" fmla="*/ 2147483647 w 1421"/>
              <a:gd name="T85" fmla="*/ 2147483647 h 1382"/>
              <a:gd name="T86" fmla="*/ 2147483647 w 1421"/>
              <a:gd name="T87" fmla="*/ 2147483647 h 1382"/>
              <a:gd name="T88" fmla="*/ 2147483647 w 1421"/>
              <a:gd name="T89" fmla="*/ 2147483647 h 1382"/>
              <a:gd name="T90" fmla="*/ 2147483647 w 1421"/>
              <a:gd name="T91" fmla="*/ 2147483647 h 1382"/>
              <a:gd name="T92" fmla="*/ 2147483647 w 1421"/>
              <a:gd name="T93" fmla="*/ 2147483647 h 1382"/>
              <a:gd name="T94" fmla="*/ 2147483647 w 1421"/>
              <a:gd name="T95" fmla="*/ 2147483647 h 1382"/>
              <a:gd name="T96" fmla="*/ 2147483647 w 1421"/>
              <a:gd name="T97" fmla="*/ 2147483647 h 1382"/>
              <a:gd name="T98" fmla="*/ 2147483647 w 1421"/>
              <a:gd name="T99" fmla="*/ 2147483647 h 1382"/>
              <a:gd name="T100" fmla="*/ 2147483647 w 1421"/>
              <a:gd name="T101" fmla="*/ 2147483647 h 1382"/>
              <a:gd name="T102" fmla="*/ 2147483647 w 1421"/>
              <a:gd name="T103" fmla="*/ 2147483647 h 1382"/>
              <a:gd name="T104" fmla="*/ 2147483647 w 1421"/>
              <a:gd name="T105" fmla="*/ 2147483647 h 1382"/>
              <a:gd name="T106" fmla="*/ 2147483647 w 1421"/>
              <a:gd name="T107" fmla="*/ 2147483647 h 1382"/>
              <a:gd name="T108" fmla="*/ 2147483647 w 1421"/>
              <a:gd name="T109" fmla="*/ 2147483647 h 1382"/>
              <a:gd name="T110" fmla="*/ 2147483647 w 1421"/>
              <a:gd name="T111" fmla="*/ 2147483647 h 1382"/>
              <a:gd name="T112" fmla="*/ 2147483647 w 1421"/>
              <a:gd name="T113" fmla="*/ 2147483647 h 1382"/>
              <a:gd name="T114" fmla="*/ 2147483647 w 1421"/>
              <a:gd name="T115" fmla="*/ 2147483647 h 1382"/>
              <a:gd name="T116" fmla="*/ 2147483647 w 1421"/>
              <a:gd name="T117" fmla="*/ 2147483647 h 1382"/>
              <a:gd name="T118" fmla="*/ 2147483647 w 1421"/>
              <a:gd name="T119" fmla="*/ 2147483647 h 1382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1421"/>
              <a:gd name="T181" fmla="*/ 0 h 1382"/>
              <a:gd name="T182" fmla="*/ 1421 w 1421"/>
              <a:gd name="T183" fmla="*/ 1382 h 1382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1421" h="1382">
                <a:moveTo>
                  <a:pt x="1421" y="1138"/>
                </a:moveTo>
                <a:lnTo>
                  <a:pt x="1421" y="1382"/>
                </a:lnTo>
                <a:lnTo>
                  <a:pt x="1" y="1382"/>
                </a:lnTo>
                <a:lnTo>
                  <a:pt x="0" y="278"/>
                </a:lnTo>
                <a:lnTo>
                  <a:pt x="123" y="278"/>
                </a:lnTo>
                <a:lnTo>
                  <a:pt x="128" y="268"/>
                </a:lnTo>
                <a:lnTo>
                  <a:pt x="131" y="255"/>
                </a:lnTo>
                <a:lnTo>
                  <a:pt x="131" y="244"/>
                </a:lnTo>
                <a:lnTo>
                  <a:pt x="130" y="230"/>
                </a:lnTo>
                <a:lnTo>
                  <a:pt x="125" y="213"/>
                </a:lnTo>
                <a:lnTo>
                  <a:pt x="120" y="191"/>
                </a:lnTo>
                <a:lnTo>
                  <a:pt x="115" y="176"/>
                </a:lnTo>
                <a:lnTo>
                  <a:pt x="111" y="158"/>
                </a:lnTo>
                <a:lnTo>
                  <a:pt x="109" y="140"/>
                </a:lnTo>
                <a:lnTo>
                  <a:pt x="109" y="123"/>
                </a:lnTo>
                <a:lnTo>
                  <a:pt x="111" y="107"/>
                </a:lnTo>
                <a:lnTo>
                  <a:pt x="115" y="90"/>
                </a:lnTo>
                <a:lnTo>
                  <a:pt x="122" y="74"/>
                </a:lnTo>
                <a:lnTo>
                  <a:pt x="131" y="62"/>
                </a:lnTo>
                <a:lnTo>
                  <a:pt x="145" y="47"/>
                </a:lnTo>
                <a:lnTo>
                  <a:pt x="157" y="36"/>
                </a:lnTo>
                <a:lnTo>
                  <a:pt x="171" y="25"/>
                </a:lnTo>
                <a:lnTo>
                  <a:pt x="186" y="16"/>
                </a:lnTo>
                <a:lnTo>
                  <a:pt x="203" y="9"/>
                </a:lnTo>
                <a:lnTo>
                  <a:pt x="223" y="4"/>
                </a:lnTo>
                <a:lnTo>
                  <a:pt x="244" y="1"/>
                </a:lnTo>
                <a:lnTo>
                  <a:pt x="261" y="0"/>
                </a:lnTo>
                <a:lnTo>
                  <a:pt x="279" y="0"/>
                </a:lnTo>
                <a:lnTo>
                  <a:pt x="297" y="1"/>
                </a:lnTo>
                <a:lnTo>
                  <a:pt x="310" y="4"/>
                </a:lnTo>
                <a:lnTo>
                  <a:pt x="326" y="9"/>
                </a:lnTo>
                <a:lnTo>
                  <a:pt x="342" y="13"/>
                </a:lnTo>
                <a:lnTo>
                  <a:pt x="355" y="21"/>
                </a:lnTo>
                <a:lnTo>
                  <a:pt x="368" y="31"/>
                </a:lnTo>
                <a:lnTo>
                  <a:pt x="380" y="43"/>
                </a:lnTo>
                <a:lnTo>
                  <a:pt x="393" y="57"/>
                </a:lnTo>
                <a:lnTo>
                  <a:pt x="404" y="70"/>
                </a:lnTo>
                <a:lnTo>
                  <a:pt x="412" y="85"/>
                </a:lnTo>
                <a:lnTo>
                  <a:pt x="419" y="103"/>
                </a:lnTo>
                <a:lnTo>
                  <a:pt x="424" y="124"/>
                </a:lnTo>
                <a:lnTo>
                  <a:pt x="424" y="144"/>
                </a:lnTo>
                <a:lnTo>
                  <a:pt x="419" y="164"/>
                </a:lnTo>
                <a:lnTo>
                  <a:pt x="414" y="183"/>
                </a:lnTo>
                <a:lnTo>
                  <a:pt x="409" y="203"/>
                </a:lnTo>
                <a:lnTo>
                  <a:pt x="403" y="225"/>
                </a:lnTo>
                <a:lnTo>
                  <a:pt x="399" y="243"/>
                </a:lnTo>
                <a:lnTo>
                  <a:pt x="399" y="252"/>
                </a:lnTo>
                <a:lnTo>
                  <a:pt x="401" y="261"/>
                </a:lnTo>
                <a:lnTo>
                  <a:pt x="405" y="271"/>
                </a:lnTo>
                <a:lnTo>
                  <a:pt x="640" y="271"/>
                </a:lnTo>
                <a:lnTo>
                  <a:pt x="636" y="317"/>
                </a:lnTo>
                <a:lnTo>
                  <a:pt x="634" y="344"/>
                </a:lnTo>
                <a:lnTo>
                  <a:pt x="636" y="366"/>
                </a:lnTo>
                <a:lnTo>
                  <a:pt x="637" y="387"/>
                </a:lnTo>
                <a:lnTo>
                  <a:pt x="639" y="409"/>
                </a:lnTo>
                <a:lnTo>
                  <a:pt x="643" y="431"/>
                </a:lnTo>
                <a:lnTo>
                  <a:pt x="650" y="446"/>
                </a:lnTo>
                <a:lnTo>
                  <a:pt x="659" y="458"/>
                </a:lnTo>
                <a:lnTo>
                  <a:pt x="670" y="469"/>
                </a:lnTo>
                <a:lnTo>
                  <a:pt x="685" y="478"/>
                </a:lnTo>
                <a:lnTo>
                  <a:pt x="701" y="484"/>
                </a:lnTo>
                <a:lnTo>
                  <a:pt x="717" y="487"/>
                </a:lnTo>
                <a:lnTo>
                  <a:pt x="734" y="488"/>
                </a:lnTo>
                <a:lnTo>
                  <a:pt x="754" y="488"/>
                </a:lnTo>
                <a:lnTo>
                  <a:pt x="775" y="485"/>
                </a:lnTo>
                <a:lnTo>
                  <a:pt x="790" y="484"/>
                </a:lnTo>
                <a:lnTo>
                  <a:pt x="812" y="482"/>
                </a:lnTo>
                <a:lnTo>
                  <a:pt x="834" y="479"/>
                </a:lnTo>
                <a:lnTo>
                  <a:pt x="859" y="479"/>
                </a:lnTo>
                <a:lnTo>
                  <a:pt x="880" y="482"/>
                </a:lnTo>
                <a:lnTo>
                  <a:pt x="900" y="485"/>
                </a:lnTo>
                <a:lnTo>
                  <a:pt x="921" y="493"/>
                </a:lnTo>
                <a:lnTo>
                  <a:pt x="939" y="500"/>
                </a:lnTo>
                <a:lnTo>
                  <a:pt x="956" y="512"/>
                </a:lnTo>
                <a:lnTo>
                  <a:pt x="967" y="526"/>
                </a:lnTo>
                <a:lnTo>
                  <a:pt x="977" y="542"/>
                </a:lnTo>
                <a:lnTo>
                  <a:pt x="983" y="559"/>
                </a:lnTo>
                <a:lnTo>
                  <a:pt x="986" y="576"/>
                </a:lnTo>
                <a:lnTo>
                  <a:pt x="983" y="596"/>
                </a:lnTo>
                <a:lnTo>
                  <a:pt x="982" y="616"/>
                </a:lnTo>
                <a:lnTo>
                  <a:pt x="983" y="636"/>
                </a:lnTo>
                <a:lnTo>
                  <a:pt x="986" y="653"/>
                </a:lnTo>
                <a:lnTo>
                  <a:pt x="992" y="669"/>
                </a:lnTo>
                <a:lnTo>
                  <a:pt x="999" y="685"/>
                </a:lnTo>
                <a:lnTo>
                  <a:pt x="1009" y="696"/>
                </a:lnTo>
                <a:lnTo>
                  <a:pt x="1024" y="707"/>
                </a:lnTo>
                <a:lnTo>
                  <a:pt x="1043" y="714"/>
                </a:lnTo>
                <a:lnTo>
                  <a:pt x="1064" y="721"/>
                </a:lnTo>
                <a:lnTo>
                  <a:pt x="1082" y="726"/>
                </a:lnTo>
                <a:lnTo>
                  <a:pt x="1103" y="730"/>
                </a:lnTo>
                <a:lnTo>
                  <a:pt x="1127" y="735"/>
                </a:lnTo>
                <a:lnTo>
                  <a:pt x="1148" y="739"/>
                </a:lnTo>
                <a:lnTo>
                  <a:pt x="1169" y="745"/>
                </a:lnTo>
                <a:lnTo>
                  <a:pt x="1186" y="751"/>
                </a:lnTo>
                <a:lnTo>
                  <a:pt x="1204" y="759"/>
                </a:lnTo>
                <a:lnTo>
                  <a:pt x="1217" y="769"/>
                </a:lnTo>
                <a:lnTo>
                  <a:pt x="1228" y="778"/>
                </a:lnTo>
                <a:lnTo>
                  <a:pt x="1243" y="795"/>
                </a:lnTo>
                <a:lnTo>
                  <a:pt x="1252" y="809"/>
                </a:lnTo>
                <a:lnTo>
                  <a:pt x="1259" y="825"/>
                </a:lnTo>
                <a:lnTo>
                  <a:pt x="1263" y="847"/>
                </a:lnTo>
                <a:lnTo>
                  <a:pt x="1260" y="868"/>
                </a:lnTo>
                <a:lnTo>
                  <a:pt x="1257" y="887"/>
                </a:lnTo>
                <a:lnTo>
                  <a:pt x="1252" y="910"/>
                </a:lnTo>
                <a:lnTo>
                  <a:pt x="1246" y="936"/>
                </a:lnTo>
                <a:lnTo>
                  <a:pt x="1239" y="960"/>
                </a:lnTo>
                <a:lnTo>
                  <a:pt x="1237" y="979"/>
                </a:lnTo>
                <a:lnTo>
                  <a:pt x="1237" y="995"/>
                </a:lnTo>
                <a:lnTo>
                  <a:pt x="1241" y="1019"/>
                </a:lnTo>
                <a:lnTo>
                  <a:pt x="1246" y="1038"/>
                </a:lnTo>
                <a:lnTo>
                  <a:pt x="1253" y="1053"/>
                </a:lnTo>
                <a:lnTo>
                  <a:pt x="1262" y="1068"/>
                </a:lnTo>
                <a:lnTo>
                  <a:pt x="1274" y="1084"/>
                </a:lnTo>
                <a:lnTo>
                  <a:pt x="1287" y="1100"/>
                </a:lnTo>
                <a:lnTo>
                  <a:pt x="1303" y="1114"/>
                </a:lnTo>
                <a:lnTo>
                  <a:pt x="1322" y="1125"/>
                </a:lnTo>
                <a:lnTo>
                  <a:pt x="1339" y="1131"/>
                </a:lnTo>
                <a:lnTo>
                  <a:pt x="1358" y="1136"/>
                </a:lnTo>
                <a:lnTo>
                  <a:pt x="1376" y="1138"/>
                </a:lnTo>
                <a:lnTo>
                  <a:pt x="1398" y="1139"/>
                </a:lnTo>
                <a:lnTo>
                  <a:pt x="1421" y="1138"/>
                </a:lnTo>
                <a:close/>
              </a:path>
            </a:pathLst>
          </a:custGeom>
          <a:solidFill>
            <a:srgbClr val="00FF00"/>
          </a:solidFill>
          <a:ln w="31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17" name="Freeform 10"/>
          <p:cNvSpPr>
            <a:spLocks/>
          </p:cNvSpPr>
          <p:nvPr/>
        </p:nvSpPr>
        <p:spPr bwMode="auto">
          <a:xfrm rot="7578993">
            <a:off x="6934201" y="2590801"/>
            <a:ext cx="452437" cy="366712"/>
          </a:xfrm>
          <a:custGeom>
            <a:avLst/>
            <a:gdLst>
              <a:gd name="T0" fmla="*/ 2147483647 w 1427"/>
              <a:gd name="T1" fmla="*/ 0 h 1158"/>
              <a:gd name="T2" fmla="*/ 2147483647 w 1427"/>
              <a:gd name="T3" fmla="*/ 2147483647 h 1158"/>
              <a:gd name="T4" fmla="*/ 2147483647 w 1427"/>
              <a:gd name="T5" fmla="*/ 2147483647 h 1158"/>
              <a:gd name="T6" fmla="*/ 2147483647 w 1427"/>
              <a:gd name="T7" fmla="*/ 2147483647 h 1158"/>
              <a:gd name="T8" fmla="*/ 2147483647 w 1427"/>
              <a:gd name="T9" fmla="*/ 2147483647 h 1158"/>
              <a:gd name="T10" fmla="*/ 2147483647 w 1427"/>
              <a:gd name="T11" fmla="*/ 2147483647 h 1158"/>
              <a:gd name="T12" fmla="*/ 2147483647 w 1427"/>
              <a:gd name="T13" fmla="*/ 2147483647 h 1158"/>
              <a:gd name="T14" fmla="*/ 2147483647 w 1427"/>
              <a:gd name="T15" fmla="*/ 2147483647 h 1158"/>
              <a:gd name="T16" fmla="*/ 2147483647 w 1427"/>
              <a:gd name="T17" fmla="*/ 2147483647 h 1158"/>
              <a:gd name="T18" fmla="*/ 2147483647 w 1427"/>
              <a:gd name="T19" fmla="*/ 2147483647 h 1158"/>
              <a:gd name="T20" fmla="*/ 2147483647 w 1427"/>
              <a:gd name="T21" fmla="*/ 2147483647 h 1158"/>
              <a:gd name="T22" fmla="*/ 2147483647 w 1427"/>
              <a:gd name="T23" fmla="*/ 2147483647 h 1158"/>
              <a:gd name="T24" fmla="*/ 2147483647 w 1427"/>
              <a:gd name="T25" fmla="*/ 2147483647 h 1158"/>
              <a:gd name="T26" fmla="*/ 2147483647 w 1427"/>
              <a:gd name="T27" fmla="*/ 2147483647 h 1158"/>
              <a:gd name="T28" fmla="*/ 2147483647 w 1427"/>
              <a:gd name="T29" fmla="*/ 2147483647 h 1158"/>
              <a:gd name="T30" fmla="*/ 2147483647 w 1427"/>
              <a:gd name="T31" fmla="*/ 2147483647 h 1158"/>
              <a:gd name="T32" fmla="*/ 2147483647 w 1427"/>
              <a:gd name="T33" fmla="*/ 2147483647 h 1158"/>
              <a:gd name="T34" fmla="*/ 2147483647 w 1427"/>
              <a:gd name="T35" fmla="*/ 2147483647 h 1158"/>
              <a:gd name="T36" fmla="*/ 2147483647 w 1427"/>
              <a:gd name="T37" fmla="*/ 2147483647 h 1158"/>
              <a:gd name="T38" fmla="*/ 2147483647 w 1427"/>
              <a:gd name="T39" fmla="*/ 2147483647 h 1158"/>
              <a:gd name="T40" fmla="*/ 2147483647 w 1427"/>
              <a:gd name="T41" fmla="*/ 2147483647 h 1158"/>
              <a:gd name="T42" fmla="*/ 2147483647 w 1427"/>
              <a:gd name="T43" fmla="*/ 2147483647 h 1158"/>
              <a:gd name="T44" fmla="*/ 2147483647 w 1427"/>
              <a:gd name="T45" fmla="*/ 2147483647 h 1158"/>
              <a:gd name="T46" fmla="*/ 2147483647 w 1427"/>
              <a:gd name="T47" fmla="*/ 2147483647 h 1158"/>
              <a:gd name="T48" fmla="*/ 2147483647 w 1427"/>
              <a:gd name="T49" fmla="*/ 2147483647 h 1158"/>
              <a:gd name="T50" fmla="*/ 2147483647 w 1427"/>
              <a:gd name="T51" fmla="*/ 2147483647 h 1158"/>
              <a:gd name="T52" fmla="*/ 2147483647 w 1427"/>
              <a:gd name="T53" fmla="*/ 2147483647 h 1158"/>
              <a:gd name="T54" fmla="*/ 2147483647 w 1427"/>
              <a:gd name="T55" fmla="*/ 2147483647 h 1158"/>
              <a:gd name="T56" fmla="*/ 2147483647 w 1427"/>
              <a:gd name="T57" fmla="*/ 2147483647 h 1158"/>
              <a:gd name="T58" fmla="*/ 2147483647 w 1427"/>
              <a:gd name="T59" fmla="*/ 2147483647 h 1158"/>
              <a:gd name="T60" fmla="*/ 2147483647 w 1427"/>
              <a:gd name="T61" fmla="*/ 2147483647 h 1158"/>
              <a:gd name="T62" fmla="*/ 2147483647 w 1427"/>
              <a:gd name="T63" fmla="*/ 2147483647 h 1158"/>
              <a:gd name="T64" fmla="*/ 2147483647 w 1427"/>
              <a:gd name="T65" fmla="*/ 2147483647 h 1158"/>
              <a:gd name="T66" fmla="*/ 2147483647 w 1427"/>
              <a:gd name="T67" fmla="*/ 2147483647 h 1158"/>
              <a:gd name="T68" fmla="*/ 2147483647 w 1427"/>
              <a:gd name="T69" fmla="*/ 2147483647 h 1158"/>
              <a:gd name="T70" fmla="*/ 2147483647 w 1427"/>
              <a:gd name="T71" fmla="*/ 2147483647 h 1158"/>
              <a:gd name="T72" fmla="*/ 2147483647 w 1427"/>
              <a:gd name="T73" fmla="*/ 2147483647 h 1158"/>
              <a:gd name="T74" fmla="*/ 2147483647 w 1427"/>
              <a:gd name="T75" fmla="*/ 2147483647 h 1158"/>
              <a:gd name="T76" fmla="*/ 2147483647 w 1427"/>
              <a:gd name="T77" fmla="*/ 2147483647 h 1158"/>
              <a:gd name="T78" fmla="*/ 2147483647 w 1427"/>
              <a:gd name="T79" fmla="*/ 2147483647 h 1158"/>
              <a:gd name="T80" fmla="*/ 2147483647 w 1427"/>
              <a:gd name="T81" fmla="*/ 2147483647 h 1158"/>
              <a:gd name="T82" fmla="*/ 2147483647 w 1427"/>
              <a:gd name="T83" fmla="*/ 2147483647 h 1158"/>
              <a:gd name="T84" fmla="*/ 2147483647 w 1427"/>
              <a:gd name="T85" fmla="*/ 2147483647 h 1158"/>
              <a:gd name="T86" fmla="*/ 2147483647 w 1427"/>
              <a:gd name="T87" fmla="*/ 2147483647 h 1158"/>
              <a:gd name="T88" fmla="*/ 2147483647 w 1427"/>
              <a:gd name="T89" fmla="*/ 2147483647 h 1158"/>
              <a:gd name="T90" fmla="*/ 2147483647 w 1427"/>
              <a:gd name="T91" fmla="*/ 2147483647 h 1158"/>
              <a:gd name="T92" fmla="*/ 2147483647 w 1427"/>
              <a:gd name="T93" fmla="*/ 2147483647 h 1158"/>
              <a:gd name="T94" fmla="*/ 2147483647 w 1427"/>
              <a:gd name="T95" fmla="*/ 2147483647 h 1158"/>
              <a:gd name="T96" fmla="*/ 2147483647 w 1427"/>
              <a:gd name="T97" fmla="*/ 2147483647 h 1158"/>
              <a:gd name="T98" fmla="*/ 2147483647 w 1427"/>
              <a:gd name="T99" fmla="*/ 2147483647 h 1158"/>
              <a:gd name="T100" fmla="*/ 2147483647 w 1427"/>
              <a:gd name="T101" fmla="*/ 2147483647 h 1158"/>
              <a:gd name="T102" fmla="*/ 2147483647 w 1427"/>
              <a:gd name="T103" fmla="*/ 2147483647 h 1158"/>
              <a:gd name="T104" fmla="*/ 2147483647 w 1427"/>
              <a:gd name="T105" fmla="*/ 2147483647 h 1158"/>
              <a:gd name="T106" fmla="*/ 2147483647 w 1427"/>
              <a:gd name="T107" fmla="*/ 2147483647 h 1158"/>
              <a:gd name="T108" fmla="*/ 2147483647 w 1427"/>
              <a:gd name="T109" fmla="*/ 2147483647 h 115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427"/>
              <a:gd name="T166" fmla="*/ 0 h 1158"/>
              <a:gd name="T167" fmla="*/ 1427 w 1427"/>
              <a:gd name="T168" fmla="*/ 1158 h 1158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427" h="1158">
                <a:moveTo>
                  <a:pt x="1427" y="288"/>
                </a:moveTo>
                <a:lnTo>
                  <a:pt x="1427" y="0"/>
                </a:lnTo>
                <a:lnTo>
                  <a:pt x="0" y="0"/>
                </a:lnTo>
                <a:lnTo>
                  <a:pt x="1" y="1158"/>
                </a:lnTo>
                <a:lnTo>
                  <a:pt x="128" y="1158"/>
                </a:lnTo>
                <a:lnTo>
                  <a:pt x="134" y="1135"/>
                </a:lnTo>
                <a:lnTo>
                  <a:pt x="134" y="1119"/>
                </a:lnTo>
                <a:lnTo>
                  <a:pt x="130" y="1097"/>
                </a:lnTo>
                <a:lnTo>
                  <a:pt x="123" y="1074"/>
                </a:lnTo>
                <a:lnTo>
                  <a:pt x="115" y="1045"/>
                </a:lnTo>
                <a:lnTo>
                  <a:pt x="112" y="1023"/>
                </a:lnTo>
                <a:lnTo>
                  <a:pt x="111" y="1004"/>
                </a:lnTo>
                <a:lnTo>
                  <a:pt x="114" y="981"/>
                </a:lnTo>
                <a:lnTo>
                  <a:pt x="120" y="960"/>
                </a:lnTo>
                <a:lnTo>
                  <a:pt x="134" y="940"/>
                </a:lnTo>
                <a:lnTo>
                  <a:pt x="150" y="923"/>
                </a:lnTo>
                <a:lnTo>
                  <a:pt x="167" y="907"/>
                </a:lnTo>
                <a:lnTo>
                  <a:pt x="187" y="896"/>
                </a:lnTo>
                <a:lnTo>
                  <a:pt x="210" y="887"/>
                </a:lnTo>
                <a:lnTo>
                  <a:pt x="231" y="883"/>
                </a:lnTo>
                <a:lnTo>
                  <a:pt x="261" y="882"/>
                </a:lnTo>
                <a:lnTo>
                  <a:pt x="295" y="884"/>
                </a:lnTo>
                <a:lnTo>
                  <a:pt x="318" y="887"/>
                </a:lnTo>
                <a:lnTo>
                  <a:pt x="337" y="893"/>
                </a:lnTo>
                <a:lnTo>
                  <a:pt x="356" y="904"/>
                </a:lnTo>
                <a:lnTo>
                  <a:pt x="379" y="922"/>
                </a:lnTo>
                <a:lnTo>
                  <a:pt x="394" y="940"/>
                </a:lnTo>
                <a:lnTo>
                  <a:pt x="408" y="958"/>
                </a:lnTo>
                <a:lnTo>
                  <a:pt x="415" y="978"/>
                </a:lnTo>
                <a:lnTo>
                  <a:pt x="420" y="996"/>
                </a:lnTo>
                <a:lnTo>
                  <a:pt x="420" y="1017"/>
                </a:lnTo>
                <a:lnTo>
                  <a:pt x="417" y="1038"/>
                </a:lnTo>
                <a:lnTo>
                  <a:pt x="412" y="1058"/>
                </a:lnTo>
                <a:lnTo>
                  <a:pt x="408" y="1076"/>
                </a:lnTo>
                <a:lnTo>
                  <a:pt x="401" y="1096"/>
                </a:lnTo>
                <a:lnTo>
                  <a:pt x="398" y="1116"/>
                </a:lnTo>
                <a:lnTo>
                  <a:pt x="398" y="1133"/>
                </a:lnTo>
                <a:lnTo>
                  <a:pt x="403" y="1153"/>
                </a:lnTo>
                <a:lnTo>
                  <a:pt x="642" y="1153"/>
                </a:lnTo>
                <a:lnTo>
                  <a:pt x="639" y="1112"/>
                </a:lnTo>
                <a:lnTo>
                  <a:pt x="642" y="1082"/>
                </a:lnTo>
                <a:lnTo>
                  <a:pt x="642" y="1060"/>
                </a:lnTo>
                <a:lnTo>
                  <a:pt x="643" y="1039"/>
                </a:lnTo>
                <a:lnTo>
                  <a:pt x="645" y="1017"/>
                </a:lnTo>
                <a:lnTo>
                  <a:pt x="650" y="995"/>
                </a:lnTo>
                <a:lnTo>
                  <a:pt x="656" y="980"/>
                </a:lnTo>
                <a:lnTo>
                  <a:pt x="665" y="967"/>
                </a:lnTo>
                <a:lnTo>
                  <a:pt x="677" y="956"/>
                </a:lnTo>
                <a:lnTo>
                  <a:pt x="691" y="947"/>
                </a:lnTo>
                <a:lnTo>
                  <a:pt x="707" y="942"/>
                </a:lnTo>
                <a:lnTo>
                  <a:pt x="724" y="940"/>
                </a:lnTo>
                <a:lnTo>
                  <a:pt x="740" y="938"/>
                </a:lnTo>
                <a:lnTo>
                  <a:pt x="761" y="938"/>
                </a:lnTo>
                <a:lnTo>
                  <a:pt x="781" y="940"/>
                </a:lnTo>
                <a:lnTo>
                  <a:pt x="797" y="942"/>
                </a:lnTo>
                <a:lnTo>
                  <a:pt x="818" y="943"/>
                </a:lnTo>
                <a:lnTo>
                  <a:pt x="840" y="946"/>
                </a:lnTo>
                <a:lnTo>
                  <a:pt x="865" y="946"/>
                </a:lnTo>
                <a:lnTo>
                  <a:pt x="886" y="943"/>
                </a:lnTo>
                <a:lnTo>
                  <a:pt x="907" y="940"/>
                </a:lnTo>
                <a:lnTo>
                  <a:pt x="929" y="935"/>
                </a:lnTo>
                <a:lnTo>
                  <a:pt x="945" y="926"/>
                </a:lnTo>
                <a:lnTo>
                  <a:pt x="962" y="915"/>
                </a:lnTo>
                <a:lnTo>
                  <a:pt x="973" y="900"/>
                </a:lnTo>
                <a:lnTo>
                  <a:pt x="984" y="884"/>
                </a:lnTo>
                <a:lnTo>
                  <a:pt x="989" y="868"/>
                </a:lnTo>
                <a:lnTo>
                  <a:pt x="992" y="850"/>
                </a:lnTo>
                <a:lnTo>
                  <a:pt x="989" y="831"/>
                </a:lnTo>
                <a:lnTo>
                  <a:pt x="988" y="811"/>
                </a:lnTo>
                <a:lnTo>
                  <a:pt x="989" y="790"/>
                </a:lnTo>
                <a:lnTo>
                  <a:pt x="993" y="774"/>
                </a:lnTo>
                <a:lnTo>
                  <a:pt x="998" y="757"/>
                </a:lnTo>
                <a:lnTo>
                  <a:pt x="1005" y="741"/>
                </a:lnTo>
                <a:lnTo>
                  <a:pt x="1015" y="730"/>
                </a:lnTo>
                <a:lnTo>
                  <a:pt x="1031" y="719"/>
                </a:lnTo>
                <a:lnTo>
                  <a:pt x="1051" y="712"/>
                </a:lnTo>
                <a:lnTo>
                  <a:pt x="1071" y="705"/>
                </a:lnTo>
                <a:lnTo>
                  <a:pt x="1089" y="701"/>
                </a:lnTo>
                <a:lnTo>
                  <a:pt x="1109" y="696"/>
                </a:lnTo>
                <a:lnTo>
                  <a:pt x="1135" y="691"/>
                </a:lnTo>
                <a:lnTo>
                  <a:pt x="1154" y="687"/>
                </a:lnTo>
                <a:lnTo>
                  <a:pt x="1175" y="681"/>
                </a:lnTo>
                <a:lnTo>
                  <a:pt x="1193" y="675"/>
                </a:lnTo>
                <a:lnTo>
                  <a:pt x="1210" y="667"/>
                </a:lnTo>
                <a:lnTo>
                  <a:pt x="1223" y="657"/>
                </a:lnTo>
                <a:lnTo>
                  <a:pt x="1236" y="648"/>
                </a:lnTo>
                <a:lnTo>
                  <a:pt x="1249" y="632"/>
                </a:lnTo>
                <a:lnTo>
                  <a:pt x="1258" y="617"/>
                </a:lnTo>
                <a:lnTo>
                  <a:pt x="1265" y="599"/>
                </a:lnTo>
                <a:lnTo>
                  <a:pt x="1269" y="577"/>
                </a:lnTo>
                <a:lnTo>
                  <a:pt x="1266" y="559"/>
                </a:lnTo>
                <a:lnTo>
                  <a:pt x="1264" y="539"/>
                </a:lnTo>
                <a:lnTo>
                  <a:pt x="1258" y="516"/>
                </a:lnTo>
                <a:lnTo>
                  <a:pt x="1252" y="490"/>
                </a:lnTo>
                <a:lnTo>
                  <a:pt x="1246" y="466"/>
                </a:lnTo>
                <a:lnTo>
                  <a:pt x="1244" y="448"/>
                </a:lnTo>
                <a:lnTo>
                  <a:pt x="1244" y="431"/>
                </a:lnTo>
                <a:lnTo>
                  <a:pt x="1247" y="407"/>
                </a:lnTo>
                <a:lnTo>
                  <a:pt x="1253" y="388"/>
                </a:lnTo>
                <a:lnTo>
                  <a:pt x="1259" y="373"/>
                </a:lnTo>
                <a:lnTo>
                  <a:pt x="1268" y="358"/>
                </a:lnTo>
                <a:lnTo>
                  <a:pt x="1280" y="342"/>
                </a:lnTo>
                <a:lnTo>
                  <a:pt x="1294" y="326"/>
                </a:lnTo>
                <a:lnTo>
                  <a:pt x="1311" y="312"/>
                </a:lnTo>
                <a:lnTo>
                  <a:pt x="1329" y="301"/>
                </a:lnTo>
                <a:lnTo>
                  <a:pt x="1347" y="295"/>
                </a:lnTo>
                <a:lnTo>
                  <a:pt x="1364" y="290"/>
                </a:lnTo>
                <a:lnTo>
                  <a:pt x="1382" y="288"/>
                </a:lnTo>
                <a:lnTo>
                  <a:pt x="1405" y="288"/>
                </a:lnTo>
                <a:lnTo>
                  <a:pt x="1427" y="288"/>
                </a:lnTo>
                <a:close/>
              </a:path>
            </a:pathLst>
          </a:custGeom>
          <a:solidFill>
            <a:srgbClr val="008080"/>
          </a:solidFill>
          <a:ln w="31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18" name="Freeform 11"/>
          <p:cNvSpPr>
            <a:spLocks/>
          </p:cNvSpPr>
          <p:nvPr/>
        </p:nvSpPr>
        <p:spPr bwMode="auto">
          <a:xfrm rot="1652220">
            <a:off x="7315200" y="2743201"/>
            <a:ext cx="501650" cy="550863"/>
          </a:xfrm>
          <a:custGeom>
            <a:avLst/>
            <a:gdLst>
              <a:gd name="T0" fmla="*/ 2147483647 w 1583"/>
              <a:gd name="T1" fmla="*/ 2147483647 h 1734"/>
              <a:gd name="T2" fmla="*/ 2147483647 w 1583"/>
              <a:gd name="T3" fmla="*/ 2147483647 h 1734"/>
              <a:gd name="T4" fmla="*/ 2147483647 w 1583"/>
              <a:gd name="T5" fmla="*/ 2147483647 h 1734"/>
              <a:gd name="T6" fmla="*/ 2147483647 w 1583"/>
              <a:gd name="T7" fmla="*/ 2147483647 h 1734"/>
              <a:gd name="T8" fmla="*/ 2147483647 w 1583"/>
              <a:gd name="T9" fmla="*/ 2147483647 h 1734"/>
              <a:gd name="T10" fmla="*/ 2147483647 w 1583"/>
              <a:gd name="T11" fmla="*/ 2147483647 h 1734"/>
              <a:gd name="T12" fmla="*/ 2147483647 w 1583"/>
              <a:gd name="T13" fmla="*/ 2147483647 h 1734"/>
              <a:gd name="T14" fmla="*/ 2147483647 w 1583"/>
              <a:gd name="T15" fmla="*/ 2147483647 h 1734"/>
              <a:gd name="T16" fmla="*/ 2147483647 w 1583"/>
              <a:gd name="T17" fmla="*/ 2147483647 h 1734"/>
              <a:gd name="T18" fmla="*/ 2147483647 w 1583"/>
              <a:gd name="T19" fmla="*/ 2147483647 h 1734"/>
              <a:gd name="T20" fmla="*/ 2147483647 w 1583"/>
              <a:gd name="T21" fmla="*/ 2147483647 h 1734"/>
              <a:gd name="T22" fmla="*/ 2147483647 w 1583"/>
              <a:gd name="T23" fmla="*/ 2147483647 h 1734"/>
              <a:gd name="T24" fmla="*/ 2147483647 w 1583"/>
              <a:gd name="T25" fmla="*/ 2147483647 h 1734"/>
              <a:gd name="T26" fmla="*/ 2147483647 w 1583"/>
              <a:gd name="T27" fmla="*/ 2147483647 h 1734"/>
              <a:gd name="T28" fmla="*/ 2147483647 w 1583"/>
              <a:gd name="T29" fmla="*/ 2147483647 h 1734"/>
              <a:gd name="T30" fmla="*/ 2147483647 w 1583"/>
              <a:gd name="T31" fmla="*/ 2147483647 h 1734"/>
              <a:gd name="T32" fmla="*/ 2147483647 w 1583"/>
              <a:gd name="T33" fmla="*/ 2147483647 h 1734"/>
              <a:gd name="T34" fmla="*/ 2147483647 w 1583"/>
              <a:gd name="T35" fmla="*/ 2147483647 h 1734"/>
              <a:gd name="T36" fmla="*/ 2147483647 w 1583"/>
              <a:gd name="T37" fmla="*/ 2147483647 h 1734"/>
              <a:gd name="T38" fmla="*/ 2147483647 w 1583"/>
              <a:gd name="T39" fmla="*/ 2147483647 h 1734"/>
              <a:gd name="T40" fmla="*/ 2147483647 w 1583"/>
              <a:gd name="T41" fmla="*/ 2147483647 h 1734"/>
              <a:gd name="T42" fmla="*/ 2147483647 w 1583"/>
              <a:gd name="T43" fmla="*/ 2147483647 h 1734"/>
              <a:gd name="T44" fmla="*/ 2147483647 w 1583"/>
              <a:gd name="T45" fmla="*/ 2147483647 h 1734"/>
              <a:gd name="T46" fmla="*/ 2147483647 w 1583"/>
              <a:gd name="T47" fmla="*/ 2147483647 h 1734"/>
              <a:gd name="T48" fmla="*/ 2147483647 w 1583"/>
              <a:gd name="T49" fmla="*/ 2147483647 h 1734"/>
              <a:gd name="T50" fmla="*/ 2147483647 w 1583"/>
              <a:gd name="T51" fmla="*/ 2147483647 h 1734"/>
              <a:gd name="T52" fmla="*/ 2147483647 w 1583"/>
              <a:gd name="T53" fmla="*/ 2147483647 h 1734"/>
              <a:gd name="T54" fmla="*/ 2147483647 w 1583"/>
              <a:gd name="T55" fmla="*/ 2147483647 h 1734"/>
              <a:gd name="T56" fmla="*/ 2147483647 w 1583"/>
              <a:gd name="T57" fmla="*/ 2147483647 h 1734"/>
              <a:gd name="T58" fmla="*/ 2147483647 w 1583"/>
              <a:gd name="T59" fmla="*/ 2147483647 h 1734"/>
              <a:gd name="T60" fmla="*/ 2147483647 w 1583"/>
              <a:gd name="T61" fmla="*/ 2147483647 h 1734"/>
              <a:gd name="T62" fmla="*/ 2147483647 w 1583"/>
              <a:gd name="T63" fmla="*/ 2147483647 h 1734"/>
              <a:gd name="T64" fmla="*/ 2147483647 w 1583"/>
              <a:gd name="T65" fmla="*/ 2147483647 h 1734"/>
              <a:gd name="T66" fmla="*/ 2147483647 w 1583"/>
              <a:gd name="T67" fmla="*/ 2147483647 h 1734"/>
              <a:gd name="T68" fmla="*/ 2147483647 w 1583"/>
              <a:gd name="T69" fmla="*/ 2147483647 h 1734"/>
              <a:gd name="T70" fmla="*/ 2147483647 w 1583"/>
              <a:gd name="T71" fmla="*/ 2147483647 h 1734"/>
              <a:gd name="T72" fmla="*/ 2147483647 w 1583"/>
              <a:gd name="T73" fmla="*/ 2147483647 h 1734"/>
              <a:gd name="T74" fmla="*/ 2147483647 w 1583"/>
              <a:gd name="T75" fmla="*/ 2147483647 h 1734"/>
              <a:gd name="T76" fmla="*/ 2147483647 w 1583"/>
              <a:gd name="T77" fmla="*/ 2147483647 h 1734"/>
              <a:gd name="T78" fmla="*/ 2147483647 w 1583"/>
              <a:gd name="T79" fmla="*/ 2147483647 h 1734"/>
              <a:gd name="T80" fmla="*/ 2147483647 w 1583"/>
              <a:gd name="T81" fmla="*/ 2147483647 h 1734"/>
              <a:gd name="T82" fmla="*/ 2147483647 w 1583"/>
              <a:gd name="T83" fmla="*/ 2147483647 h 1734"/>
              <a:gd name="T84" fmla="*/ 2147483647 w 1583"/>
              <a:gd name="T85" fmla="*/ 2147483647 h 1734"/>
              <a:gd name="T86" fmla="*/ 2147483647 w 1583"/>
              <a:gd name="T87" fmla="*/ 2147483647 h 1734"/>
              <a:gd name="T88" fmla="*/ 2147483647 w 1583"/>
              <a:gd name="T89" fmla="*/ 2147483647 h 1734"/>
              <a:gd name="T90" fmla="*/ 2147483647 w 1583"/>
              <a:gd name="T91" fmla="*/ 2147483647 h 1734"/>
              <a:gd name="T92" fmla="*/ 2147483647 w 1583"/>
              <a:gd name="T93" fmla="*/ 2147483647 h 1734"/>
              <a:gd name="T94" fmla="*/ 2147483647 w 1583"/>
              <a:gd name="T95" fmla="*/ 2147483647 h 1734"/>
              <a:gd name="T96" fmla="*/ 2147483647 w 1583"/>
              <a:gd name="T97" fmla="*/ 2147483647 h 1734"/>
              <a:gd name="T98" fmla="*/ 2147483647 w 1583"/>
              <a:gd name="T99" fmla="*/ 2147483647 h 1734"/>
              <a:gd name="T100" fmla="*/ 2147483647 w 1583"/>
              <a:gd name="T101" fmla="*/ 2147483647 h 1734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w 1583"/>
              <a:gd name="T154" fmla="*/ 0 h 1734"/>
              <a:gd name="T155" fmla="*/ 1583 w 1583"/>
              <a:gd name="T156" fmla="*/ 1734 h 1734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T153" t="T154" r="T155" b="T156"/>
            <a:pathLst>
              <a:path w="1583" h="1734">
                <a:moveTo>
                  <a:pt x="603" y="363"/>
                </a:moveTo>
                <a:lnTo>
                  <a:pt x="619" y="343"/>
                </a:lnTo>
                <a:lnTo>
                  <a:pt x="630" y="324"/>
                </a:lnTo>
                <a:lnTo>
                  <a:pt x="636" y="303"/>
                </a:lnTo>
                <a:lnTo>
                  <a:pt x="636" y="276"/>
                </a:lnTo>
                <a:lnTo>
                  <a:pt x="629" y="246"/>
                </a:lnTo>
                <a:lnTo>
                  <a:pt x="623" y="220"/>
                </a:lnTo>
                <a:lnTo>
                  <a:pt x="614" y="188"/>
                </a:lnTo>
                <a:lnTo>
                  <a:pt x="610" y="153"/>
                </a:lnTo>
                <a:lnTo>
                  <a:pt x="614" y="132"/>
                </a:lnTo>
                <a:lnTo>
                  <a:pt x="620" y="106"/>
                </a:lnTo>
                <a:lnTo>
                  <a:pt x="633" y="79"/>
                </a:lnTo>
                <a:lnTo>
                  <a:pt x="650" y="53"/>
                </a:lnTo>
                <a:lnTo>
                  <a:pt x="672" y="32"/>
                </a:lnTo>
                <a:lnTo>
                  <a:pt x="692" y="16"/>
                </a:lnTo>
                <a:lnTo>
                  <a:pt x="719" y="7"/>
                </a:lnTo>
                <a:lnTo>
                  <a:pt x="751" y="2"/>
                </a:lnTo>
                <a:lnTo>
                  <a:pt x="785" y="0"/>
                </a:lnTo>
                <a:lnTo>
                  <a:pt x="832" y="0"/>
                </a:lnTo>
                <a:lnTo>
                  <a:pt x="869" y="4"/>
                </a:lnTo>
                <a:lnTo>
                  <a:pt x="890" y="11"/>
                </a:lnTo>
                <a:lnTo>
                  <a:pt x="906" y="21"/>
                </a:lnTo>
                <a:lnTo>
                  <a:pt x="923" y="32"/>
                </a:lnTo>
                <a:lnTo>
                  <a:pt x="941" y="50"/>
                </a:lnTo>
                <a:lnTo>
                  <a:pt x="957" y="72"/>
                </a:lnTo>
                <a:lnTo>
                  <a:pt x="969" y="92"/>
                </a:lnTo>
                <a:lnTo>
                  <a:pt x="975" y="109"/>
                </a:lnTo>
                <a:lnTo>
                  <a:pt x="980" y="138"/>
                </a:lnTo>
                <a:lnTo>
                  <a:pt x="980" y="164"/>
                </a:lnTo>
                <a:lnTo>
                  <a:pt x="976" y="190"/>
                </a:lnTo>
                <a:lnTo>
                  <a:pt x="971" y="210"/>
                </a:lnTo>
                <a:lnTo>
                  <a:pt x="965" y="242"/>
                </a:lnTo>
                <a:lnTo>
                  <a:pt x="957" y="275"/>
                </a:lnTo>
                <a:lnTo>
                  <a:pt x="953" y="296"/>
                </a:lnTo>
                <a:lnTo>
                  <a:pt x="959" y="317"/>
                </a:lnTo>
                <a:lnTo>
                  <a:pt x="967" y="332"/>
                </a:lnTo>
                <a:lnTo>
                  <a:pt x="980" y="351"/>
                </a:lnTo>
                <a:lnTo>
                  <a:pt x="1000" y="367"/>
                </a:lnTo>
                <a:lnTo>
                  <a:pt x="1018" y="381"/>
                </a:lnTo>
                <a:lnTo>
                  <a:pt x="1045" y="392"/>
                </a:lnTo>
                <a:lnTo>
                  <a:pt x="1073" y="400"/>
                </a:lnTo>
                <a:lnTo>
                  <a:pt x="1098" y="406"/>
                </a:lnTo>
                <a:lnTo>
                  <a:pt x="1125" y="409"/>
                </a:lnTo>
                <a:lnTo>
                  <a:pt x="1154" y="417"/>
                </a:lnTo>
                <a:lnTo>
                  <a:pt x="1176" y="424"/>
                </a:lnTo>
                <a:lnTo>
                  <a:pt x="1193" y="433"/>
                </a:lnTo>
                <a:lnTo>
                  <a:pt x="1207" y="443"/>
                </a:lnTo>
                <a:lnTo>
                  <a:pt x="1217" y="454"/>
                </a:lnTo>
                <a:lnTo>
                  <a:pt x="1224" y="467"/>
                </a:lnTo>
                <a:lnTo>
                  <a:pt x="1230" y="483"/>
                </a:lnTo>
                <a:lnTo>
                  <a:pt x="1233" y="498"/>
                </a:lnTo>
                <a:lnTo>
                  <a:pt x="1235" y="512"/>
                </a:lnTo>
                <a:lnTo>
                  <a:pt x="1235" y="530"/>
                </a:lnTo>
                <a:lnTo>
                  <a:pt x="1233" y="551"/>
                </a:lnTo>
                <a:lnTo>
                  <a:pt x="1233" y="567"/>
                </a:lnTo>
                <a:lnTo>
                  <a:pt x="1236" y="587"/>
                </a:lnTo>
                <a:lnTo>
                  <a:pt x="1245" y="604"/>
                </a:lnTo>
                <a:lnTo>
                  <a:pt x="1255" y="619"/>
                </a:lnTo>
                <a:lnTo>
                  <a:pt x="1267" y="630"/>
                </a:lnTo>
                <a:lnTo>
                  <a:pt x="1283" y="642"/>
                </a:lnTo>
                <a:lnTo>
                  <a:pt x="1299" y="650"/>
                </a:lnTo>
                <a:lnTo>
                  <a:pt x="1324" y="655"/>
                </a:lnTo>
                <a:lnTo>
                  <a:pt x="1345" y="657"/>
                </a:lnTo>
                <a:lnTo>
                  <a:pt x="1365" y="658"/>
                </a:lnTo>
                <a:lnTo>
                  <a:pt x="1387" y="657"/>
                </a:lnTo>
                <a:lnTo>
                  <a:pt x="1414" y="655"/>
                </a:lnTo>
                <a:lnTo>
                  <a:pt x="1435" y="653"/>
                </a:lnTo>
                <a:lnTo>
                  <a:pt x="1456" y="651"/>
                </a:lnTo>
                <a:lnTo>
                  <a:pt x="1475" y="650"/>
                </a:lnTo>
                <a:lnTo>
                  <a:pt x="1499" y="651"/>
                </a:lnTo>
                <a:lnTo>
                  <a:pt x="1511" y="653"/>
                </a:lnTo>
                <a:lnTo>
                  <a:pt x="1526" y="657"/>
                </a:lnTo>
                <a:lnTo>
                  <a:pt x="1540" y="664"/>
                </a:lnTo>
                <a:lnTo>
                  <a:pt x="1554" y="675"/>
                </a:lnTo>
                <a:lnTo>
                  <a:pt x="1565" y="688"/>
                </a:lnTo>
                <a:lnTo>
                  <a:pt x="1574" y="706"/>
                </a:lnTo>
                <a:lnTo>
                  <a:pt x="1578" y="722"/>
                </a:lnTo>
                <a:lnTo>
                  <a:pt x="1580" y="742"/>
                </a:lnTo>
                <a:lnTo>
                  <a:pt x="1583" y="778"/>
                </a:lnTo>
                <a:lnTo>
                  <a:pt x="1581" y="820"/>
                </a:lnTo>
                <a:lnTo>
                  <a:pt x="1583" y="864"/>
                </a:lnTo>
                <a:lnTo>
                  <a:pt x="1579" y="916"/>
                </a:lnTo>
                <a:lnTo>
                  <a:pt x="1575" y="951"/>
                </a:lnTo>
                <a:lnTo>
                  <a:pt x="1572" y="980"/>
                </a:lnTo>
                <a:lnTo>
                  <a:pt x="1565" y="996"/>
                </a:lnTo>
                <a:lnTo>
                  <a:pt x="1556" y="1011"/>
                </a:lnTo>
                <a:lnTo>
                  <a:pt x="1544" y="1020"/>
                </a:lnTo>
                <a:lnTo>
                  <a:pt x="1530" y="1029"/>
                </a:lnTo>
                <a:lnTo>
                  <a:pt x="1512" y="1034"/>
                </a:lnTo>
                <a:lnTo>
                  <a:pt x="1498" y="1038"/>
                </a:lnTo>
                <a:lnTo>
                  <a:pt x="1467" y="1039"/>
                </a:lnTo>
                <a:lnTo>
                  <a:pt x="1440" y="1038"/>
                </a:lnTo>
                <a:lnTo>
                  <a:pt x="1418" y="1034"/>
                </a:lnTo>
                <a:lnTo>
                  <a:pt x="1398" y="1033"/>
                </a:lnTo>
                <a:lnTo>
                  <a:pt x="1376" y="1031"/>
                </a:lnTo>
                <a:lnTo>
                  <a:pt x="1356" y="1031"/>
                </a:lnTo>
                <a:lnTo>
                  <a:pt x="1339" y="1033"/>
                </a:lnTo>
                <a:lnTo>
                  <a:pt x="1320" y="1034"/>
                </a:lnTo>
                <a:lnTo>
                  <a:pt x="1298" y="1040"/>
                </a:lnTo>
                <a:lnTo>
                  <a:pt x="1286" y="1045"/>
                </a:lnTo>
                <a:lnTo>
                  <a:pt x="1275" y="1050"/>
                </a:lnTo>
                <a:lnTo>
                  <a:pt x="1260" y="1060"/>
                </a:lnTo>
                <a:lnTo>
                  <a:pt x="1250" y="1072"/>
                </a:lnTo>
                <a:lnTo>
                  <a:pt x="1243" y="1083"/>
                </a:lnTo>
                <a:lnTo>
                  <a:pt x="1235" y="1097"/>
                </a:lnTo>
                <a:lnTo>
                  <a:pt x="1231" y="1110"/>
                </a:lnTo>
                <a:lnTo>
                  <a:pt x="1230" y="1125"/>
                </a:lnTo>
                <a:lnTo>
                  <a:pt x="1231" y="1141"/>
                </a:lnTo>
                <a:lnTo>
                  <a:pt x="1231" y="1168"/>
                </a:lnTo>
                <a:lnTo>
                  <a:pt x="1230" y="1197"/>
                </a:lnTo>
                <a:lnTo>
                  <a:pt x="1223" y="1217"/>
                </a:lnTo>
                <a:lnTo>
                  <a:pt x="1215" y="1235"/>
                </a:lnTo>
                <a:lnTo>
                  <a:pt x="1204" y="1247"/>
                </a:lnTo>
                <a:lnTo>
                  <a:pt x="1188" y="1257"/>
                </a:lnTo>
                <a:lnTo>
                  <a:pt x="1172" y="1266"/>
                </a:lnTo>
                <a:lnTo>
                  <a:pt x="1154" y="1270"/>
                </a:lnTo>
                <a:lnTo>
                  <a:pt x="1130" y="1275"/>
                </a:lnTo>
                <a:lnTo>
                  <a:pt x="1111" y="1282"/>
                </a:lnTo>
                <a:lnTo>
                  <a:pt x="1087" y="1285"/>
                </a:lnTo>
                <a:lnTo>
                  <a:pt x="1068" y="1289"/>
                </a:lnTo>
                <a:lnTo>
                  <a:pt x="1045" y="1294"/>
                </a:lnTo>
                <a:lnTo>
                  <a:pt x="1028" y="1302"/>
                </a:lnTo>
                <a:lnTo>
                  <a:pt x="1008" y="1311"/>
                </a:lnTo>
                <a:lnTo>
                  <a:pt x="990" y="1322"/>
                </a:lnTo>
                <a:lnTo>
                  <a:pt x="976" y="1337"/>
                </a:lnTo>
                <a:lnTo>
                  <a:pt x="964" y="1354"/>
                </a:lnTo>
                <a:lnTo>
                  <a:pt x="954" y="1375"/>
                </a:lnTo>
                <a:lnTo>
                  <a:pt x="952" y="1394"/>
                </a:lnTo>
                <a:lnTo>
                  <a:pt x="953" y="1415"/>
                </a:lnTo>
                <a:lnTo>
                  <a:pt x="957" y="1434"/>
                </a:lnTo>
                <a:lnTo>
                  <a:pt x="963" y="1455"/>
                </a:lnTo>
                <a:lnTo>
                  <a:pt x="968" y="1479"/>
                </a:lnTo>
                <a:lnTo>
                  <a:pt x="971" y="1500"/>
                </a:lnTo>
                <a:lnTo>
                  <a:pt x="976" y="1527"/>
                </a:lnTo>
                <a:lnTo>
                  <a:pt x="976" y="1554"/>
                </a:lnTo>
                <a:lnTo>
                  <a:pt x="970" y="1581"/>
                </a:lnTo>
                <a:lnTo>
                  <a:pt x="964" y="1602"/>
                </a:lnTo>
                <a:lnTo>
                  <a:pt x="957" y="1623"/>
                </a:lnTo>
                <a:lnTo>
                  <a:pt x="947" y="1643"/>
                </a:lnTo>
                <a:lnTo>
                  <a:pt x="933" y="1667"/>
                </a:lnTo>
                <a:lnTo>
                  <a:pt x="918" y="1683"/>
                </a:lnTo>
                <a:lnTo>
                  <a:pt x="906" y="1694"/>
                </a:lnTo>
                <a:lnTo>
                  <a:pt x="890" y="1708"/>
                </a:lnTo>
                <a:lnTo>
                  <a:pt x="873" y="1720"/>
                </a:lnTo>
                <a:lnTo>
                  <a:pt x="857" y="1726"/>
                </a:lnTo>
                <a:lnTo>
                  <a:pt x="842" y="1730"/>
                </a:lnTo>
                <a:lnTo>
                  <a:pt x="817" y="1732"/>
                </a:lnTo>
                <a:lnTo>
                  <a:pt x="789" y="1734"/>
                </a:lnTo>
                <a:lnTo>
                  <a:pt x="755" y="1732"/>
                </a:lnTo>
                <a:lnTo>
                  <a:pt x="739" y="1732"/>
                </a:lnTo>
                <a:lnTo>
                  <a:pt x="718" y="1729"/>
                </a:lnTo>
                <a:lnTo>
                  <a:pt x="695" y="1723"/>
                </a:lnTo>
                <a:lnTo>
                  <a:pt x="676" y="1711"/>
                </a:lnTo>
                <a:lnTo>
                  <a:pt x="663" y="1702"/>
                </a:lnTo>
                <a:lnTo>
                  <a:pt x="650" y="1688"/>
                </a:lnTo>
                <a:lnTo>
                  <a:pt x="639" y="1676"/>
                </a:lnTo>
                <a:lnTo>
                  <a:pt x="628" y="1660"/>
                </a:lnTo>
                <a:lnTo>
                  <a:pt x="619" y="1644"/>
                </a:lnTo>
                <a:lnTo>
                  <a:pt x="612" y="1624"/>
                </a:lnTo>
                <a:lnTo>
                  <a:pt x="608" y="1603"/>
                </a:lnTo>
                <a:lnTo>
                  <a:pt x="607" y="1587"/>
                </a:lnTo>
                <a:lnTo>
                  <a:pt x="607" y="1565"/>
                </a:lnTo>
                <a:lnTo>
                  <a:pt x="608" y="1546"/>
                </a:lnTo>
                <a:lnTo>
                  <a:pt x="614" y="1527"/>
                </a:lnTo>
                <a:lnTo>
                  <a:pt x="619" y="1503"/>
                </a:lnTo>
                <a:lnTo>
                  <a:pt x="625" y="1481"/>
                </a:lnTo>
                <a:lnTo>
                  <a:pt x="629" y="1461"/>
                </a:lnTo>
                <a:lnTo>
                  <a:pt x="630" y="1443"/>
                </a:lnTo>
                <a:lnTo>
                  <a:pt x="629" y="1428"/>
                </a:lnTo>
                <a:lnTo>
                  <a:pt x="625" y="1413"/>
                </a:lnTo>
                <a:lnTo>
                  <a:pt x="615" y="1395"/>
                </a:lnTo>
                <a:lnTo>
                  <a:pt x="605" y="1383"/>
                </a:lnTo>
                <a:lnTo>
                  <a:pt x="593" y="1369"/>
                </a:lnTo>
                <a:lnTo>
                  <a:pt x="580" y="1359"/>
                </a:lnTo>
                <a:lnTo>
                  <a:pt x="566" y="1349"/>
                </a:lnTo>
                <a:lnTo>
                  <a:pt x="546" y="1342"/>
                </a:lnTo>
                <a:lnTo>
                  <a:pt x="529" y="1337"/>
                </a:lnTo>
                <a:lnTo>
                  <a:pt x="507" y="1332"/>
                </a:lnTo>
                <a:lnTo>
                  <a:pt x="487" y="1330"/>
                </a:lnTo>
                <a:lnTo>
                  <a:pt x="469" y="1325"/>
                </a:lnTo>
                <a:lnTo>
                  <a:pt x="446" y="1320"/>
                </a:lnTo>
                <a:lnTo>
                  <a:pt x="428" y="1312"/>
                </a:lnTo>
                <a:lnTo>
                  <a:pt x="406" y="1306"/>
                </a:lnTo>
                <a:lnTo>
                  <a:pt x="389" y="1299"/>
                </a:lnTo>
                <a:lnTo>
                  <a:pt x="375" y="1288"/>
                </a:lnTo>
                <a:lnTo>
                  <a:pt x="364" y="1273"/>
                </a:lnTo>
                <a:lnTo>
                  <a:pt x="357" y="1254"/>
                </a:lnTo>
                <a:lnTo>
                  <a:pt x="350" y="1230"/>
                </a:lnTo>
                <a:lnTo>
                  <a:pt x="349" y="1210"/>
                </a:lnTo>
                <a:lnTo>
                  <a:pt x="350" y="1188"/>
                </a:lnTo>
                <a:lnTo>
                  <a:pt x="353" y="1171"/>
                </a:lnTo>
                <a:lnTo>
                  <a:pt x="350" y="1150"/>
                </a:lnTo>
                <a:lnTo>
                  <a:pt x="344" y="1134"/>
                </a:lnTo>
                <a:lnTo>
                  <a:pt x="333" y="1116"/>
                </a:lnTo>
                <a:lnTo>
                  <a:pt x="322" y="1105"/>
                </a:lnTo>
                <a:lnTo>
                  <a:pt x="308" y="1094"/>
                </a:lnTo>
                <a:lnTo>
                  <a:pt x="290" y="1087"/>
                </a:lnTo>
                <a:lnTo>
                  <a:pt x="269" y="1080"/>
                </a:lnTo>
                <a:lnTo>
                  <a:pt x="247" y="1077"/>
                </a:lnTo>
                <a:lnTo>
                  <a:pt x="228" y="1075"/>
                </a:lnTo>
                <a:lnTo>
                  <a:pt x="207" y="1075"/>
                </a:lnTo>
                <a:lnTo>
                  <a:pt x="189" y="1077"/>
                </a:lnTo>
                <a:lnTo>
                  <a:pt x="170" y="1078"/>
                </a:lnTo>
                <a:lnTo>
                  <a:pt x="152" y="1081"/>
                </a:lnTo>
                <a:lnTo>
                  <a:pt x="133" y="1083"/>
                </a:lnTo>
                <a:lnTo>
                  <a:pt x="103" y="1083"/>
                </a:lnTo>
                <a:lnTo>
                  <a:pt x="83" y="1082"/>
                </a:lnTo>
                <a:lnTo>
                  <a:pt x="62" y="1077"/>
                </a:lnTo>
                <a:lnTo>
                  <a:pt x="47" y="1070"/>
                </a:lnTo>
                <a:lnTo>
                  <a:pt x="31" y="1057"/>
                </a:lnTo>
                <a:lnTo>
                  <a:pt x="20" y="1044"/>
                </a:lnTo>
                <a:lnTo>
                  <a:pt x="13" y="1029"/>
                </a:lnTo>
                <a:lnTo>
                  <a:pt x="4" y="1001"/>
                </a:lnTo>
                <a:lnTo>
                  <a:pt x="3" y="971"/>
                </a:lnTo>
                <a:lnTo>
                  <a:pt x="2" y="942"/>
                </a:lnTo>
                <a:lnTo>
                  <a:pt x="0" y="905"/>
                </a:lnTo>
                <a:lnTo>
                  <a:pt x="3" y="873"/>
                </a:lnTo>
                <a:lnTo>
                  <a:pt x="4" y="838"/>
                </a:lnTo>
                <a:lnTo>
                  <a:pt x="5" y="807"/>
                </a:lnTo>
                <a:lnTo>
                  <a:pt x="8" y="775"/>
                </a:lnTo>
                <a:lnTo>
                  <a:pt x="11" y="751"/>
                </a:lnTo>
                <a:lnTo>
                  <a:pt x="15" y="723"/>
                </a:lnTo>
                <a:lnTo>
                  <a:pt x="20" y="703"/>
                </a:lnTo>
                <a:lnTo>
                  <a:pt x="27" y="689"/>
                </a:lnTo>
                <a:lnTo>
                  <a:pt x="39" y="675"/>
                </a:lnTo>
                <a:lnTo>
                  <a:pt x="50" y="667"/>
                </a:lnTo>
                <a:lnTo>
                  <a:pt x="64" y="657"/>
                </a:lnTo>
                <a:lnTo>
                  <a:pt x="78" y="655"/>
                </a:lnTo>
                <a:lnTo>
                  <a:pt x="95" y="651"/>
                </a:lnTo>
                <a:lnTo>
                  <a:pt x="117" y="650"/>
                </a:lnTo>
                <a:lnTo>
                  <a:pt x="137" y="651"/>
                </a:lnTo>
                <a:lnTo>
                  <a:pt x="164" y="655"/>
                </a:lnTo>
                <a:lnTo>
                  <a:pt x="188" y="656"/>
                </a:lnTo>
                <a:lnTo>
                  <a:pt x="207" y="657"/>
                </a:lnTo>
                <a:lnTo>
                  <a:pt x="235" y="658"/>
                </a:lnTo>
                <a:lnTo>
                  <a:pt x="263" y="655"/>
                </a:lnTo>
                <a:lnTo>
                  <a:pt x="286" y="650"/>
                </a:lnTo>
                <a:lnTo>
                  <a:pt x="308" y="641"/>
                </a:lnTo>
                <a:lnTo>
                  <a:pt x="323" y="632"/>
                </a:lnTo>
                <a:lnTo>
                  <a:pt x="338" y="619"/>
                </a:lnTo>
                <a:lnTo>
                  <a:pt x="349" y="602"/>
                </a:lnTo>
                <a:lnTo>
                  <a:pt x="357" y="584"/>
                </a:lnTo>
                <a:lnTo>
                  <a:pt x="359" y="566"/>
                </a:lnTo>
                <a:lnTo>
                  <a:pt x="358" y="552"/>
                </a:lnTo>
                <a:lnTo>
                  <a:pt x="357" y="526"/>
                </a:lnTo>
                <a:lnTo>
                  <a:pt x="358" y="501"/>
                </a:lnTo>
                <a:lnTo>
                  <a:pt x="363" y="481"/>
                </a:lnTo>
                <a:lnTo>
                  <a:pt x="369" y="462"/>
                </a:lnTo>
                <a:lnTo>
                  <a:pt x="377" y="449"/>
                </a:lnTo>
                <a:lnTo>
                  <a:pt x="395" y="435"/>
                </a:lnTo>
                <a:lnTo>
                  <a:pt x="413" y="425"/>
                </a:lnTo>
                <a:lnTo>
                  <a:pt x="437" y="418"/>
                </a:lnTo>
                <a:lnTo>
                  <a:pt x="460" y="412"/>
                </a:lnTo>
                <a:lnTo>
                  <a:pt x="480" y="407"/>
                </a:lnTo>
                <a:lnTo>
                  <a:pt x="504" y="403"/>
                </a:lnTo>
                <a:lnTo>
                  <a:pt x="528" y="398"/>
                </a:lnTo>
                <a:lnTo>
                  <a:pt x="555" y="391"/>
                </a:lnTo>
                <a:lnTo>
                  <a:pt x="581" y="380"/>
                </a:lnTo>
                <a:lnTo>
                  <a:pt x="603" y="363"/>
                </a:lnTo>
                <a:close/>
              </a:path>
            </a:pathLst>
          </a:custGeom>
          <a:solidFill>
            <a:srgbClr val="FFFF00"/>
          </a:solidFill>
          <a:ln w="31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19" name="Freeform 12"/>
          <p:cNvSpPr>
            <a:spLocks/>
          </p:cNvSpPr>
          <p:nvPr/>
        </p:nvSpPr>
        <p:spPr bwMode="auto">
          <a:xfrm rot="-3210052">
            <a:off x="8000207" y="2591595"/>
            <a:ext cx="450850" cy="439737"/>
          </a:xfrm>
          <a:custGeom>
            <a:avLst/>
            <a:gdLst>
              <a:gd name="T0" fmla="*/ 2147483647 w 1421"/>
              <a:gd name="T1" fmla="*/ 2147483647 h 1382"/>
              <a:gd name="T2" fmla="*/ 0 w 1421"/>
              <a:gd name="T3" fmla="*/ 2147483647 h 1382"/>
              <a:gd name="T4" fmla="*/ 2147483647 w 1421"/>
              <a:gd name="T5" fmla="*/ 2147483647 h 1382"/>
              <a:gd name="T6" fmla="*/ 2147483647 w 1421"/>
              <a:gd name="T7" fmla="*/ 2147483647 h 1382"/>
              <a:gd name="T8" fmla="*/ 2147483647 w 1421"/>
              <a:gd name="T9" fmla="*/ 2147483647 h 1382"/>
              <a:gd name="T10" fmla="*/ 2147483647 w 1421"/>
              <a:gd name="T11" fmla="*/ 2147483647 h 1382"/>
              <a:gd name="T12" fmla="*/ 2147483647 w 1421"/>
              <a:gd name="T13" fmla="*/ 2147483647 h 1382"/>
              <a:gd name="T14" fmla="*/ 2147483647 w 1421"/>
              <a:gd name="T15" fmla="*/ 2147483647 h 1382"/>
              <a:gd name="T16" fmla="*/ 2147483647 w 1421"/>
              <a:gd name="T17" fmla="*/ 2147483647 h 1382"/>
              <a:gd name="T18" fmla="*/ 2147483647 w 1421"/>
              <a:gd name="T19" fmla="*/ 2147483647 h 1382"/>
              <a:gd name="T20" fmla="*/ 2147483647 w 1421"/>
              <a:gd name="T21" fmla="*/ 2147483647 h 1382"/>
              <a:gd name="T22" fmla="*/ 2147483647 w 1421"/>
              <a:gd name="T23" fmla="*/ 2147483647 h 1382"/>
              <a:gd name="T24" fmla="*/ 2147483647 w 1421"/>
              <a:gd name="T25" fmla="*/ 2147483647 h 1382"/>
              <a:gd name="T26" fmla="*/ 2147483647 w 1421"/>
              <a:gd name="T27" fmla="*/ 0 h 1382"/>
              <a:gd name="T28" fmla="*/ 2147483647 w 1421"/>
              <a:gd name="T29" fmla="*/ 2147483647 h 1382"/>
              <a:gd name="T30" fmla="*/ 2147483647 w 1421"/>
              <a:gd name="T31" fmla="*/ 2147483647 h 1382"/>
              <a:gd name="T32" fmla="*/ 2147483647 w 1421"/>
              <a:gd name="T33" fmla="*/ 2147483647 h 1382"/>
              <a:gd name="T34" fmla="*/ 2147483647 w 1421"/>
              <a:gd name="T35" fmla="*/ 2147483647 h 1382"/>
              <a:gd name="T36" fmla="*/ 2147483647 w 1421"/>
              <a:gd name="T37" fmla="*/ 2147483647 h 1382"/>
              <a:gd name="T38" fmla="*/ 2147483647 w 1421"/>
              <a:gd name="T39" fmla="*/ 2147483647 h 1382"/>
              <a:gd name="T40" fmla="*/ 2147483647 w 1421"/>
              <a:gd name="T41" fmla="*/ 2147483647 h 1382"/>
              <a:gd name="T42" fmla="*/ 2147483647 w 1421"/>
              <a:gd name="T43" fmla="*/ 2147483647 h 1382"/>
              <a:gd name="T44" fmla="*/ 2147483647 w 1421"/>
              <a:gd name="T45" fmla="*/ 2147483647 h 1382"/>
              <a:gd name="T46" fmla="*/ 2147483647 w 1421"/>
              <a:gd name="T47" fmla="*/ 2147483647 h 1382"/>
              <a:gd name="T48" fmla="*/ 2147483647 w 1421"/>
              <a:gd name="T49" fmla="*/ 2147483647 h 1382"/>
              <a:gd name="T50" fmla="*/ 2147483647 w 1421"/>
              <a:gd name="T51" fmla="*/ 2147483647 h 1382"/>
              <a:gd name="T52" fmla="*/ 2147483647 w 1421"/>
              <a:gd name="T53" fmla="*/ 2147483647 h 1382"/>
              <a:gd name="T54" fmla="*/ 2147483647 w 1421"/>
              <a:gd name="T55" fmla="*/ 2147483647 h 1382"/>
              <a:gd name="T56" fmla="*/ 2147483647 w 1421"/>
              <a:gd name="T57" fmla="*/ 2147483647 h 1382"/>
              <a:gd name="T58" fmla="*/ 2147483647 w 1421"/>
              <a:gd name="T59" fmla="*/ 2147483647 h 1382"/>
              <a:gd name="T60" fmla="*/ 2147483647 w 1421"/>
              <a:gd name="T61" fmla="*/ 2147483647 h 1382"/>
              <a:gd name="T62" fmla="*/ 2147483647 w 1421"/>
              <a:gd name="T63" fmla="*/ 2147483647 h 1382"/>
              <a:gd name="T64" fmla="*/ 2147483647 w 1421"/>
              <a:gd name="T65" fmla="*/ 2147483647 h 1382"/>
              <a:gd name="T66" fmla="*/ 2147483647 w 1421"/>
              <a:gd name="T67" fmla="*/ 2147483647 h 1382"/>
              <a:gd name="T68" fmla="*/ 2147483647 w 1421"/>
              <a:gd name="T69" fmla="*/ 2147483647 h 1382"/>
              <a:gd name="T70" fmla="*/ 2147483647 w 1421"/>
              <a:gd name="T71" fmla="*/ 2147483647 h 1382"/>
              <a:gd name="T72" fmla="*/ 2147483647 w 1421"/>
              <a:gd name="T73" fmla="*/ 2147483647 h 1382"/>
              <a:gd name="T74" fmla="*/ 2147483647 w 1421"/>
              <a:gd name="T75" fmla="*/ 2147483647 h 1382"/>
              <a:gd name="T76" fmla="*/ 2147483647 w 1421"/>
              <a:gd name="T77" fmla="*/ 2147483647 h 1382"/>
              <a:gd name="T78" fmla="*/ 2147483647 w 1421"/>
              <a:gd name="T79" fmla="*/ 2147483647 h 1382"/>
              <a:gd name="T80" fmla="*/ 2147483647 w 1421"/>
              <a:gd name="T81" fmla="*/ 2147483647 h 1382"/>
              <a:gd name="T82" fmla="*/ 2147483647 w 1421"/>
              <a:gd name="T83" fmla="*/ 2147483647 h 1382"/>
              <a:gd name="T84" fmla="*/ 2147483647 w 1421"/>
              <a:gd name="T85" fmla="*/ 2147483647 h 1382"/>
              <a:gd name="T86" fmla="*/ 2147483647 w 1421"/>
              <a:gd name="T87" fmla="*/ 2147483647 h 1382"/>
              <a:gd name="T88" fmla="*/ 2147483647 w 1421"/>
              <a:gd name="T89" fmla="*/ 2147483647 h 1382"/>
              <a:gd name="T90" fmla="*/ 2147483647 w 1421"/>
              <a:gd name="T91" fmla="*/ 2147483647 h 1382"/>
              <a:gd name="T92" fmla="*/ 2147483647 w 1421"/>
              <a:gd name="T93" fmla="*/ 2147483647 h 1382"/>
              <a:gd name="T94" fmla="*/ 2147483647 w 1421"/>
              <a:gd name="T95" fmla="*/ 2147483647 h 1382"/>
              <a:gd name="T96" fmla="*/ 2147483647 w 1421"/>
              <a:gd name="T97" fmla="*/ 2147483647 h 1382"/>
              <a:gd name="T98" fmla="*/ 2147483647 w 1421"/>
              <a:gd name="T99" fmla="*/ 2147483647 h 1382"/>
              <a:gd name="T100" fmla="*/ 2147483647 w 1421"/>
              <a:gd name="T101" fmla="*/ 2147483647 h 1382"/>
              <a:gd name="T102" fmla="*/ 2147483647 w 1421"/>
              <a:gd name="T103" fmla="*/ 2147483647 h 1382"/>
              <a:gd name="T104" fmla="*/ 2147483647 w 1421"/>
              <a:gd name="T105" fmla="*/ 2147483647 h 1382"/>
              <a:gd name="T106" fmla="*/ 2147483647 w 1421"/>
              <a:gd name="T107" fmla="*/ 2147483647 h 1382"/>
              <a:gd name="T108" fmla="*/ 2147483647 w 1421"/>
              <a:gd name="T109" fmla="*/ 2147483647 h 1382"/>
              <a:gd name="T110" fmla="*/ 2147483647 w 1421"/>
              <a:gd name="T111" fmla="*/ 2147483647 h 1382"/>
              <a:gd name="T112" fmla="*/ 2147483647 w 1421"/>
              <a:gd name="T113" fmla="*/ 2147483647 h 1382"/>
              <a:gd name="T114" fmla="*/ 2147483647 w 1421"/>
              <a:gd name="T115" fmla="*/ 2147483647 h 1382"/>
              <a:gd name="T116" fmla="*/ 2147483647 w 1421"/>
              <a:gd name="T117" fmla="*/ 2147483647 h 1382"/>
              <a:gd name="T118" fmla="*/ 2147483647 w 1421"/>
              <a:gd name="T119" fmla="*/ 2147483647 h 1382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1421"/>
              <a:gd name="T181" fmla="*/ 0 h 1382"/>
              <a:gd name="T182" fmla="*/ 1421 w 1421"/>
              <a:gd name="T183" fmla="*/ 1382 h 1382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1421" h="1382">
                <a:moveTo>
                  <a:pt x="1421" y="1138"/>
                </a:moveTo>
                <a:lnTo>
                  <a:pt x="1421" y="1382"/>
                </a:lnTo>
                <a:lnTo>
                  <a:pt x="1" y="1382"/>
                </a:lnTo>
                <a:lnTo>
                  <a:pt x="0" y="278"/>
                </a:lnTo>
                <a:lnTo>
                  <a:pt x="123" y="278"/>
                </a:lnTo>
                <a:lnTo>
                  <a:pt x="128" y="268"/>
                </a:lnTo>
                <a:lnTo>
                  <a:pt x="131" y="255"/>
                </a:lnTo>
                <a:lnTo>
                  <a:pt x="131" y="244"/>
                </a:lnTo>
                <a:lnTo>
                  <a:pt x="130" y="230"/>
                </a:lnTo>
                <a:lnTo>
                  <a:pt x="125" y="213"/>
                </a:lnTo>
                <a:lnTo>
                  <a:pt x="120" y="191"/>
                </a:lnTo>
                <a:lnTo>
                  <a:pt x="115" y="176"/>
                </a:lnTo>
                <a:lnTo>
                  <a:pt x="111" y="158"/>
                </a:lnTo>
                <a:lnTo>
                  <a:pt x="109" y="140"/>
                </a:lnTo>
                <a:lnTo>
                  <a:pt x="109" y="123"/>
                </a:lnTo>
                <a:lnTo>
                  <a:pt x="111" y="107"/>
                </a:lnTo>
                <a:lnTo>
                  <a:pt x="115" y="90"/>
                </a:lnTo>
                <a:lnTo>
                  <a:pt x="122" y="74"/>
                </a:lnTo>
                <a:lnTo>
                  <a:pt x="131" y="62"/>
                </a:lnTo>
                <a:lnTo>
                  <a:pt x="145" y="47"/>
                </a:lnTo>
                <a:lnTo>
                  <a:pt x="157" y="36"/>
                </a:lnTo>
                <a:lnTo>
                  <a:pt x="171" y="25"/>
                </a:lnTo>
                <a:lnTo>
                  <a:pt x="186" y="16"/>
                </a:lnTo>
                <a:lnTo>
                  <a:pt x="203" y="9"/>
                </a:lnTo>
                <a:lnTo>
                  <a:pt x="223" y="4"/>
                </a:lnTo>
                <a:lnTo>
                  <a:pt x="244" y="1"/>
                </a:lnTo>
                <a:lnTo>
                  <a:pt x="261" y="0"/>
                </a:lnTo>
                <a:lnTo>
                  <a:pt x="279" y="0"/>
                </a:lnTo>
                <a:lnTo>
                  <a:pt x="297" y="1"/>
                </a:lnTo>
                <a:lnTo>
                  <a:pt x="310" y="4"/>
                </a:lnTo>
                <a:lnTo>
                  <a:pt x="326" y="9"/>
                </a:lnTo>
                <a:lnTo>
                  <a:pt x="342" y="13"/>
                </a:lnTo>
                <a:lnTo>
                  <a:pt x="355" y="21"/>
                </a:lnTo>
                <a:lnTo>
                  <a:pt x="368" y="31"/>
                </a:lnTo>
                <a:lnTo>
                  <a:pt x="380" y="43"/>
                </a:lnTo>
                <a:lnTo>
                  <a:pt x="393" y="57"/>
                </a:lnTo>
                <a:lnTo>
                  <a:pt x="404" y="70"/>
                </a:lnTo>
                <a:lnTo>
                  <a:pt x="412" y="85"/>
                </a:lnTo>
                <a:lnTo>
                  <a:pt x="419" y="103"/>
                </a:lnTo>
                <a:lnTo>
                  <a:pt x="424" y="124"/>
                </a:lnTo>
                <a:lnTo>
                  <a:pt x="424" y="144"/>
                </a:lnTo>
                <a:lnTo>
                  <a:pt x="419" y="164"/>
                </a:lnTo>
                <a:lnTo>
                  <a:pt x="414" y="183"/>
                </a:lnTo>
                <a:lnTo>
                  <a:pt x="409" y="203"/>
                </a:lnTo>
                <a:lnTo>
                  <a:pt x="403" y="225"/>
                </a:lnTo>
                <a:lnTo>
                  <a:pt x="399" y="243"/>
                </a:lnTo>
                <a:lnTo>
                  <a:pt x="399" y="252"/>
                </a:lnTo>
                <a:lnTo>
                  <a:pt x="401" y="261"/>
                </a:lnTo>
                <a:lnTo>
                  <a:pt x="405" y="271"/>
                </a:lnTo>
                <a:lnTo>
                  <a:pt x="640" y="271"/>
                </a:lnTo>
                <a:lnTo>
                  <a:pt x="636" y="317"/>
                </a:lnTo>
                <a:lnTo>
                  <a:pt x="634" y="344"/>
                </a:lnTo>
                <a:lnTo>
                  <a:pt x="636" y="366"/>
                </a:lnTo>
                <a:lnTo>
                  <a:pt x="637" y="387"/>
                </a:lnTo>
                <a:lnTo>
                  <a:pt x="639" y="409"/>
                </a:lnTo>
                <a:lnTo>
                  <a:pt x="643" y="431"/>
                </a:lnTo>
                <a:lnTo>
                  <a:pt x="650" y="446"/>
                </a:lnTo>
                <a:lnTo>
                  <a:pt x="659" y="458"/>
                </a:lnTo>
                <a:lnTo>
                  <a:pt x="670" y="469"/>
                </a:lnTo>
                <a:lnTo>
                  <a:pt x="685" y="478"/>
                </a:lnTo>
                <a:lnTo>
                  <a:pt x="701" y="484"/>
                </a:lnTo>
                <a:lnTo>
                  <a:pt x="717" y="487"/>
                </a:lnTo>
                <a:lnTo>
                  <a:pt x="734" y="488"/>
                </a:lnTo>
                <a:lnTo>
                  <a:pt x="754" y="488"/>
                </a:lnTo>
                <a:lnTo>
                  <a:pt x="775" y="485"/>
                </a:lnTo>
                <a:lnTo>
                  <a:pt x="790" y="484"/>
                </a:lnTo>
                <a:lnTo>
                  <a:pt x="812" y="482"/>
                </a:lnTo>
                <a:lnTo>
                  <a:pt x="834" y="479"/>
                </a:lnTo>
                <a:lnTo>
                  <a:pt x="859" y="479"/>
                </a:lnTo>
                <a:lnTo>
                  <a:pt x="880" y="482"/>
                </a:lnTo>
                <a:lnTo>
                  <a:pt x="900" y="485"/>
                </a:lnTo>
                <a:lnTo>
                  <a:pt x="921" y="493"/>
                </a:lnTo>
                <a:lnTo>
                  <a:pt x="939" y="500"/>
                </a:lnTo>
                <a:lnTo>
                  <a:pt x="956" y="512"/>
                </a:lnTo>
                <a:lnTo>
                  <a:pt x="967" y="526"/>
                </a:lnTo>
                <a:lnTo>
                  <a:pt x="977" y="542"/>
                </a:lnTo>
                <a:lnTo>
                  <a:pt x="983" y="559"/>
                </a:lnTo>
                <a:lnTo>
                  <a:pt x="986" y="576"/>
                </a:lnTo>
                <a:lnTo>
                  <a:pt x="983" y="596"/>
                </a:lnTo>
                <a:lnTo>
                  <a:pt x="982" y="616"/>
                </a:lnTo>
                <a:lnTo>
                  <a:pt x="983" y="636"/>
                </a:lnTo>
                <a:lnTo>
                  <a:pt x="986" y="653"/>
                </a:lnTo>
                <a:lnTo>
                  <a:pt x="992" y="669"/>
                </a:lnTo>
                <a:lnTo>
                  <a:pt x="999" y="685"/>
                </a:lnTo>
                <a:lnTo>
                  <a:pt x="1009" y="696"/>
                </a:lnTo>
                <a:lnTo>
                  <a:pt x="1024" y="707"/>
                </a:lnTo>
                <a:lnTo>
                  <a:pt x="1043" y="714"/>
                </a:lnTo>
                <a:lnTo>
                  <a:pt x="1064" y="721"/>
                </a:lnTo>
                <a:lnTo>
                  <a:pt x="1082" y="726"/>
                </a:lnTo>
                <a:lnTo>
                  <a:pt x="1103" y="730"/>
                </a:lnTo>
                <a:lnTo>
                  <a:pt x="1127" y="735"/>
                </a:lnTo>
                <a:lnTo>
                  <a:pt x="1148" y="739"/>
                </a:lnTo>
                <a:lnTo>
                  <a:pt x="1169" y="745"/>
                </a:lnTo>
                <a:lnTo>
                  <a:pt x="1186" y="751"/>
                </a:lnTo>
                <a:lnTo>
                  <a:pt x="1204" y="759"/>
                </a:lnTo>
                <a:lnTo>
                  <a:pt x="1217" y="769"/>
                </a:lnTo>
                <a:lnTo>
                  <a:pt x="1228" y="778"/>
                </a:lnTo>
                <a:lnTo>
                  <a:pt x="1243" y="795"/>
                </a:lnTo>
                <a:lnTo>
                  <a:pt x="1252" y="809"/>
                </a:lnTo>
                <a:lnTo>
                  <a:pt x="1259" y="825"/>
                </a:lnTo>
                <a:lnTo>
                  <a:pt x="1263" y="847"/>
                </a:lnTo>
                <a:lnTo>
                  <a:pt x="1260" y="868"/>
                </a:lnTo>
                <a:lnTo>
                  <a:pt x="1257" y="887"/>
                </a:lnTo>
                <a:lnTo>
                  <a:pt x="1252" y="910"/>
                </a:lnTo>
                <a:lnTo>
                  <a:pt x="1246" y="936"/>
                </a:lnTo>
                <a:lnTo>
                  <a:pt x="1239" y="960"/>
                </a:lnTo>
                <a:lnTo>
                  <a:pt x="1237" y="979"/>
                </a:lnTo>
                <a:lnTo>
                  <a:pt x="1237" y="995"/>
                </a:lnTo>
                <a:lnTo>
                  <a:pt x="1241" y="1019"/>
                </a:lnTo>
                <a:lnTo>
                  <a:pt x="1246" y="1038"/>
                </a:lnTo>
                <a:lnTo>
                  <a:pt x="1253" y="1053"/>
                </a:lnTo>
                <a:lnTo>
                  <a:pt x="1262" y="1068"/>
                </a:lnTo>
                <a:lnTo>
                  <a:pt x="1274" y="1084"/>
                </a:lnTo>
                <a:lnTo>
                  <a:pt x="1287" y="1100"/>
                </a:lnTo>
                <a:lnTo>
                  <a:pt x="1303" y="1114"/>
                </a:lnTo>
                <a:lnTo>
                  <a:pt x="1322" y="1125"/>
                </a:lnTo>
                <a:lnTo>
                  <a:pt x="1339" y="1131"/>
                </a:lnTo>
                <a:lnTo>
                  <a:pt x="1358" y="1136"/>
                </a:lnTo>
                <a:lnTo>
                  <a:pt x="1376" y="1138"/>
                </a:lnTo>
                <a:lnTo>
                  <a:pt x="1398" y="1139"/>
                </a:lnTo>
                <a:lnTo>
                  <a:pt x="1421" y="1138"/>
                </a:lnTo>
                <a:close/>
              </a:path>
            </a:pathLst>
          </a:custGeom>
          <a:solidFill>
            <a:srgbClr val="00FF00"/>
          </a:solidFill>
          <a:ln w="31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20" name="Freeform 25"/>
          <p:cNvSpPr>
            <a:spLocks/>
          </p:cNvSpPr>
          <p:nvPr/>
        </p:nvSpPr>
        <p:spPr bwMode="auto">
          <a:xfrm>
            <a:off x="9675813" y="2747963"/>
            <a:ext cx="450850" cy="438150"/>
          </a:xfrm>
          <a:custGeom>
            <a:avLst/>
            <a:gdLst>
              <a:gd name="T0" fmla="*/ 0 w 1421"/>
              <a:gd name="T1" fmla="*/ 0 h 1382"/>
              <a:gd name="T2" fmla="*/ 2147483647 w 1421"/>
              <a:gd name="T3" fmla="*/ 2147483647 h 1382"/>
              <a:gd name="T4" fmla="*/ 2147483647 w 1421"/>
              <a:gd name="T5" fmla="*/ 2147483647 h 1382"/>
              <a:gd name="T6" fmla="*/ 2147483647 w 1421"/>
              <a:gd name="T7" fmla="*/ 2147483647 h 1382"/>
              <a:gd name="T8" fmla="*/ 2147483647 w 1421"/>
              <a:gd name="T9" fmla="*/ 2147483647 h 1382"/>
              <a:gd name="T10" fmla="*/ 2147483647 w 1421"/>
              <a:gd name="T11" fmla="*/ 2147483647 h 1382"/>
              <a:gd name="T12" fmla="*/ 2147483647 w 1421"/>
              <a:gd name="T13" fmla="*/ 2147483647 h 1382"/>
              <a:gd name="T14" fmla="*/ 2147483647 w 1421"/>
              <a:gd name="T15" fmla="*/ 2147483647 h 1382"/>
              <a:gd name="T16" fmla="*/ 2147483647 w 1421"/>
              <a:gd name="T17" fmla="*/ 2147483647 h 1382"/>
              <a:gd name="T18" fmla="*/ 2147483647 w 1421"/>
              <a:gd name="T19" fmla="*/ 2147483647 h 1382"/>
              <a:gd name="T20" fmla="*/ 2147483647 w 1421"/>
              <a:gd name="T21" fmla="*/ 2147483647 h 1382"/>
              <a:gd name="T22" fmla="*/ 2147483647 w 1421"/>
              <a:gd name="T23" fmla="*/ 2147483647 h 1382"/>
              <a:gd name="T24" fmla="*/ 2147483647 w 1421"/>
              <a:gd name="T25" fmla="*/ 2147483647 h 1382"/>
              <a:gd name="T26" fmla="*/ 2147483647 w 1421"/>
              <a:gd name="T27" fmla="*/ 2147483647 h 1382"/>
              <a:gd name="T28" fmla="*/ 2147483647 w 1421"/>
              <a:gd name="T29" fmla="*/ 2147483647 h 1382"/>
              <a:gd name="T30" fmla="*/ 2147483647 w 1421"/>
              <a:gd name="T31" fmla="*/ 2147483647 h 1382"/>
              <a:gd name="T32" fmla="*/ 2147483647 w 1421"/>
              <a:gd name="T33" fmla="*/ 2147483647 h 1382"/>
              <a:gd name="T34" fmla="*/ 2147483647 w 1421"/>
              <a:gd name="T35" fmla="*/ 2147483647 h 1382"/>
              <a:gd name="T36" fmla="*/ 2147483647 w 1421"/>
              <a:gd name="T37" fmla="*/ 2147483647 h 1382"/>
              <a:gd name="T38" fmla="*/ 2147483647 w 1421"/>
              <a:gd name="T39" fmla="*/ 2147483647 h 1382"/>
              <a:gd name="T40" fmla="*/ 2147483647 w 1421"/>
              <a:gd name="T41" fmla="*/ 2147483647 h 1382"/>
              <a:gd name="T42" fmla="*/ 2147483647 w 1421"/>
              <a:gd name="T43" fmla="*/ 2147483647 h 1382"/>
              <a:gd name="T44" fmla="*/ 2147483647 w 1421"/>
              <a:gd name="T45" fmla="*/ 2147483647 h 1382"/>
              <a:gd name="T46" fmla="*/ 2147483647 w 1421"/>
              <a:gd name="T47" fmla="*/ 2147483647 h 1382"/>
              <a:gd name="T48" fmla="*/ 2147483647 w 1421"/>
              <a:gd name="T49" fmla="*/ 2147483647 h 1382"/>
              <a:gd name="T50" fmla="*/ 2147483647 w 1421"/>
              <a:gd name="T51" fmla="*/ 2147483647 h 1382"/>
              <a:gd name="T52" fmla="*/ 2147483647 w 1421"/>
              <a:gd name="T53" fmla="*/ 2147483647 h 1382"/>
              <a:gd name="T54" fmla="*/ 2147483647 w 1421"/>
              <a:gd name="T55" fmla="*/ 2147483647 h 1382"/>
              <a:gd name="T56" fmla="*/ 2147483647 w 1421"/>
              <a:gd name="T57" fmla="*/ 2147483647 h 1382"/>
              <a:gd name="T58" fmla="*/ 2147483647 w 1421"/>
              <a:gd name="T59" fmla="*/ 2147483647 h 1382"/>
              <a:gd name="T60" fmla="*/ 2147483647 w 1421"/>
              <a:gd name="T61" fmla="*/ 2147483647 h 1382"/>
              <a:gd name="T62" fmla="*/ 2147483647 w 1421"/>
              <a:gd name="T63" fmla="*/ 2147483647 h 1382"/>
              <a:gd name="T64" fmla="*/ 2147483647 w 1421"/>
              <a:gd name="T65" fmla="*/ 2147483647 h 1382"/>
              <a:gd name="T66" fmla="*/ 2147483647 w 1421"/>
              <a:gd name="T67" fmla="*/ 2147483647 h 1382"/>
              <a:gd name="T68" fmla="*/ 2147483647 w 1421"/>
              <a:gd name="T69" fmla="*/ 2147483647 h 1382"/>
              <a:gd name="T70" fmla="*/ 2147483647 w 1421"/>
              <a:gd name="T71" fmla="*/ 2147483647 h 1382"/>
              <a:gd name="T72" fmla="*/ 2147483647 w 1421"/>
              <a:gd name="T73" fmla="*/ 2147483647 h 1382"/>
              <a:gd name="T74" fmla="*/ 2147483647 w 1421"/>
              <a:gd name="T75" fmla="*/ 2147483647 h 1382"/>
              <a:gd name="T76" fmla="*/ 2147483647 w 1421"/>
              <a:gd name="T77" fmla="*/ 2147483647 h 1382"/>
              <a:gd name="T78" fmla="*/ 2147483647 w 1421"/>
              <a:gd name="T79" fmla="*/ 2147483647 h 1382"/>
              <a:gd name="T80" fmla="*/ 2147483647 w 1421"/>
              <a:gd name="T81" fmla="*/ 2147483647 h 1382"/>
              <a:gd name="T82" fmla="*/ 2147483647 w 1421"/>
              <a:gd name="T83" fmla="*/ 2147483647 h 1382"/>
              <a:gd name="T84" fmla="*/ 2147483647 w 1421"/>
              <a:gd name="T85" fmla="*/ 2147483647 h 1382"/>
              <a:gd name="T86" fmla="*/ 2147483647 w 1421"/>
              <a:gd name="T87" fmla="*/ 2147483647 h 1382"/>
              <a:gd name="T88" fmla="*/ 2147483647 w 1421"/>
              <a:gd name="T89" fmla="*/ 2147483647 h 1382"/>
              <a:gd name="T90" fmla="*/ 2147483647 w 1421"/>
              <a:gd name="T91" fmla="*/ 2147483647 h 1382"/>
              <a:gd name="T92" fmla="*/ 2147483647 w 1421"/>
              <a:gd name="T93" fmla="*/ 2147483647 h 1382"/>
              <a:gd name="T94" fmla="*/ 2147483647 w 1421"/>
              <a:gd name="T95" fmla="*/ 2147483647 h 1382"/>
              <a:gd name="T96" fmla="*/ 2147483647 w 1421"/>
              <a:gd name="T97" fmla="*/ 2147483647 h 1382"/>
              <a:gd name="T98" fmla="*/ 2147483647 w 1421"/>
              <a:gd name="T99" fmla="*/ 2147483647 h 1382"/>
              <a:gd name="T100" fmla="*/ 2147483647 w 1421"/>
              <a:gd name="T101" fmla="*/ 2147483647 h 1382"/>
              <a:gd name="T102" fmla="*/ 2147483647 w 1421"/>
              <a:gd name="T103" fmla="*/ 2147483647 h 1382"/>
              <a:gd name="T104" fmla="*/ 2147483647 w 1421"/>
              <a:gd name="T105" fmla="*/ 2147483647 h 1382"/>
              <a:gd name="T106" fmla="*/ 2147483647 w 1421"/>
              <a:gd name="T107" fmla="*/ 2147483647 h 1382"/>
              <a:gd name="T108" fmla="*/ 2147483647 w 1421"/>
              <a:gd name="T109" fmla="*/ 2147483647 h 1382"/>
              <a:gd name="T110" fmla="*/ 2147483647 w 1421"/>
              <a:gd name="T111" fmla="*/ 2147483647 h 1382"/>
              <a:gd name="T112" fmla="*/ 2147483647 w 1421"/>
              <a:gd name="T113" fmla="*/ 2147483647 h 1382"/>
              <a:gd name="T114" fmla="*/ 2147483647 w 1421"/>
              <a:gd name="T115" fmla="*/ 2147483647 h 1382"/>
              <a:gd name="T116" fmla="*/ 2147483647 w 1421"/>
              <a:gd name="T117" fmla="*/ 2147483647 h 1382"/>
              <a:gd name="T118" fmla="*/ 2147483647 w 1421"/>
              <a:gd name="T119" fmla="*/ 2147483647 h 1382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1421"/>
              <a:gd name="T181" fmla="*/ 0 h 1382"/>
              <a:gd name="T182" fmla="*/ 1421 w 1421"/>
              <a:gd name="T183" fmla="*/ 1382 h 1382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1421" h="1382">
                <a:moveTo>
                  <a:pt x="0" y="288"/>
                </a:moveTo>
                <a:lnTo>
                  <a:pt x="0" y="0"/>
                </a:lnTo>
                <a:lnTo>
                  <a:pt x="1419" y="0"/>
                </a:lnTo>
                <a:lnTo>
                  <a:pt x="1421" y="1103"/>
                </a:lnTo>
                <a:lnTo>
                  <a:pt x="1297" y="1103"/>
                </a:lnTo>
                <a:lnTo>
                  <a:pt x="1292" y="1113"/>
                </a:lnTo>
                <a:lnTo>
                  <a:pt x="1289" y="1127"/>
                </a:lnTo>
                <a:lnTo>
                  <a:pt x="1289" y="1138"/>
                </a:lnTo>
                <a:lnTo>
                  <a:pt x="1290" y="1151"/>
                </a:lnTo>
                <a:lnTo>
                  <a:pt x="1295" y="1169"/>
                </a:lnTo>
                <a:lnTo>
                  <a:pt x="1300" y="1191"/>
                </a:lnTo>
                <a:lnTo>
                  <a:pt x="1305" y="1206"/>
                </a:lnTo>
                <a:lnTo>
                  <a:pt x="1308" y="1224"/>
                </a:lnTo>
                <a:lnTo>
                  <a:pt x="1311" y="1241"/>
                </a:lnTo>
                <a:lnTo>
                  <a:pt x="1311" y="1259"/>
                </a:lnTo>
                <a:lnTo>
                  <a:pt x="1308" y="1275"/>
                </a:lnTo>
                <a:lnTo>
                  <a:pt x="1305" y="1292"/>
                </a:lnTo>
                <a:lnTo>
                  <a:pt x="1299" y="1308"/>
                </a:lnTo>
                <a:lnTo>
                  <a:pt x="1289" y="1320"/>
                </a:lnTo>
                <a:lnTo>
                  <a:pt x="1275" y="1335"/>
                </a:lnTo>
                <a:lnTo>
                  <a:pt x="1262" y="1346"/>
                </a:lnTo>
                <a:lnTo>
                  <a:pt x="1249" y="1357"/>
                </a:lnTo>
                <a:lnTo>
                  <a:pt x="1235" y="1366"/>
                </a:lnTo>
                <a:lnTo>
                  <a:pt x="1217" y="1372"/>
                </a:lnTo>
                <a:lnTo>
                  <a:pt x="1196" y="1378"/>
                </a:lnTo>
                <a:lnTo>
                  <a:pt x="1177" y="1381"/>
                </a:lnTo>
                <a:lnTo>
                  <a:pt x="1159" y="1382"/>
                </a:lnTo>
                <a:lnTo>
                  <a:pt x="1141" y="1382"/>
                </a:lnTo>
                <a:lnTo>
                  <a:pt x="1124" y="1381"/>
                </a:lnTo>
                <a:lnTo>
                  <a:pt x="1110" y="1378"/>
                </a:lnTo>
                <a:lnTo>
                  <a:pt x="1094" y="1373"/>
                </a:lnTo>
                <a:lnTo>
                  <a:pt x="1078" y="1368"/>
                </a:lnTo>
                <a:lnTo>
                  <a:pt x="1066" y="1361"/>
                </a:lnTo>
                <a:lnTo>
                  <a:pt x="1052" y="1351"/>
                </a:lnTo>
                <a:lnTo>
                  <a:pt x="1040" y="1339"/>
                </a:lnTo>
                <a:lnTo>
                  <a:pt x="1027" y="1325"/>
                </a:lnTo>
                <a:lnTo>
                  <a:pt x="1016" y="1312"/>
                </a:lnTo>
                <a:lnTo>
                  <a:pt x="1008" y="1297"/>
                </a:lnTo>
                <a:lnTo>
                  <a:pt x="1002" y="1278"/>
                </a:lnTo>
                <a:lnTo>
                  <a:pt x="997" y="1257"/>
                </a:lnTo>
                <a:lnTo>
                  <a:pt x="997" y="1238"/>
                </a:lnTo>
                <a:lnTo>
                  <a:pt x="1002" y="1218"/>
                </a:lnTo>
                <a:lnTo>
                  <a:pt x="1007" y="1198"/>
                </a:lnTo>
                <a:lnTo>
                  <a:pt x="1011" y="1179"/>
                </a:lnTo>
                <a:lnTo>
                  <a:pt x="1018" y="1156"/>
                </a:lnTo>
                <a:lnTo>
                  <a:pt x="1020" y="1139"/>
                </a:lnTo>
                <a:lnTo>
                  <a:pt x="1020" y="1129"/>
                </a:lnTo>
                <a:lnTo>
                  <a:pt x="1019" y="1121"/>
                </a:lnTo>
                <a:lnTo>
                  <a:pt x="1015" y="1111"/>
                </a:lnTo>
                <a:lnTo>
                  <a:pt x="779" y="1111"/>
                </a:lnTo>
                <a:lnTo>
                  <a:pt x="782" y="1069"/>
                </a:lnTo>
                <a:lnTo>
                  <a:pt x="781" y="1045"/>
                </a:lnTo>
                <a:lnTo>
                  <a:pt x="779" y="1023"/>
                </a:lnTo>
                <a:lnTo>
                  <a:pt x="776" y="1002"/>
                </a:lnTo>
                <a:lnTo>
                  <a:pt x="772" y="989"/>
                </a:lnTo>
                <a:lnTo>
                  <a:pt x="766" y="976"/>
                </a:lnTo>
                <a:lnTo>
                  <a:pt x="759" y="965"/>
                </a:lnTo>
                <a:lnTo>
                  <a:pt x="746" y="956"/>
                </a:lnTo>
                <a:lnTo>
                  <a:pt x="733" y="947"/>
                </a:lnTo>
                <a:lnTo>
                  <a:pt x="719" y="942"/>
                </a:lnTo>
                <a:lnTo>
                  <a:pt x="707" y="940"/>
                </a:lnTo>
                <a:lnTo>
                  <a:pt x="686" y="938"/>
                </a:lnTo>
                <a:lnTo>
                  <a:pt x="661" y="938"/>
                </a:lnTo>
                <a:lnTo>
                  <a:pt x="638" y="941"/>
                </a:lnTo>
                <a:lnTo>
                  <a:pt x="612" y="942"/>
                </a:lnTo>
                <a:lnTo>
                  <a:pt x="592" y="944"/>
                </a:lnTo>
                <a:lnTo>
                  <a:pt x="567" y="946"/>
                </a:lnTo>
                <a:lnTo>
                  <a:pt x="546" y="944"/>
                </a:lnTo>
                <a:lnTo>
                  <a:pt x="527" y="942"/>
                </a:lnTo>
                <a:lnTo>
                  <a:pt x="499" y="936"/>
                </a:lnTo>
                <a:lnTo>
                  <a:pt x="480" y="927"/>
                </a:lnTo>
                <a:lnTo>
                  <a:pt x="463" y="915"/>
                </a:lnTo>
                <a:lnTo>
                  <a:pt x="452" y="901"/>
                </a:lnTo>
                <a:lnTo>
                  <a:pt x="442" y="887"/>
                </a:lnTo>
                <a:lnTo>
                  <a:pt x="435" y="868"/>
                </a:lnTo>
                <a:lnTo>
                  <a:pt x="433" y="848"/>
                </a:lnTo>
                <a:lnTo>
                  <a:pt x="433" y="824"/>
                </a:lnTo>
                <a:lnTo>
                  <a:pt x="435" y="805"/>
                </a:lnTo>
                <a:lnTo>
                  <a:pt x="433" y="787"/>
                </a:lnTo>
                <a:lnTo>
                  <a:pt x="429" y="766"/>
                </a:lnTo>
                <a:lnTo>
                  <a:pt x="425" y="753"/>
                </a:lnTo>
                <a:lnTo>
                  <a:pt x="419" y="741"/>
                </a:lnTo>
                <a:lnTo>
                  <a:pt x="411" y="733"/>
                </a:lnTo>
                <a:lnTo>
                  <a:pt x="404" y="725"/>
                </a:lnTo>
                <a:lnTo>
                  <a:pt x="388" y="718"/>
                </a:lnTo>
                <a:lnTo>
                  <a:pt x="369" y="709"/>
                </a:lnTo>
                <a:lnTo>
                  <a:pt x="348" y="703"/>
                </a:lnTo>
                <a:lnTo>
                  <a:pt x="324" y="697"/>
                </a:lnTo>
                <a:lnTo>
                  <a:pt x="299" y="692"/>
                </a:lnTo>
                <a:lnTo>
                  <a:pt x="273" y="688"/>
                </a:lnTo>
                <a:lnTo>
                  <a:pt x="255" y="682"/>
                </a:lnTo>
                <a:lnTo>
                  <a:pt x="235" y="676"/>
                </a:lnTo>
                <a:lnTo>
                  <a:pt x="215" y="668"/>
                </a:lnTo>
                <a:lnTo>
                  <a:pt x="202" y="657"/>
                </a:lnTo>
                <a:lnTo>
                  <a:pt x="186" y="644"/>
                </a:lnTo>
                <a:lnTo>
                  <a:pt x="175" y="632"/>
                </a:lnTo>
                <a:lnTo>
                  <a:pt x="165" y="617"/>
                </a:lnTo>
                <a:lnTo>
                  <a:pt x="157" y="599"/>
                </a:lnTo>
                <a:lnTo>
                  <a:pt x="155" y="581"/>
                </a:lnTo>
                <a:lnTo>
                  <a:pt x="155" y="564"/>
                </a:lnTo>
                <a:lnTo>
                  <a:pt x="159" y="548"/>
                </a:lnTo>
                <a:lnTo>
                  <a:pt x="165" y="524"/>
                </a:lnTo>
                <a:lnTo>
                  <a:pt x="171" y="501"/>
                </a:lnTo>
                <a:lnTo>
                  <a:pt x="173" y="480"/>
                </a:lnTo>
                <a:lnTo>
                  <a:pt x="178" y="459"/>
                </a:lnTo>
                <a:lnTo>
                  <a:pt x="181" y="438"/>
                </a:lnTo>
                <a:lnTo>
                  <a:pt x="178" y="416"/>
                </a:lnTo>
                <a:lnTo>
                  <a:pt x="173" y="396"/>
                </a:lnTo>
                <a:lnTo>
                  <a:pt x="166" y="377"/>
                </a:lnTo>
                <a:lnTo>
                  <a:pt x="156" y="358"/>
                </a:lnTo>
                <a:lnTo>
                  <a:pt x="145" y="343"/>
                </a:lnTo>
                <a:lnTo>
                  <a:pt x="139" y="335"/>
                </a:lnTo>
                <a:lnTo>
                  <a:pt x="128" y="324"/>
                </a:lnTo>
                <a:lnTo>
                  <a:pt x="117" y="314"/>
                </a:lnTo>
                <a:lnTo>
                  <a:pt x="106" y="306"/>
                </a:lnTo>
                <a:lnTo>
                  <a:pt x="91" y="299"/>
                </a:lnTo>
                <a:lnTo>
                  <a:pt x="76" y="294"/>
                </a:lnTo>
                <a:lnTo>
                  <a:pt x="58" y="289"/>
                </a:lnTo>
                <a:lnTo>
                  <a:pt x="37" y="288"/>
                </a:lnTo>
                <a:lnTo>
                  <a:pt x="18" y="288"/>
                </a:lnTo>
                <a:lnTo>
                  <a:pt x="0" y="288"/>
                </a:lnTo>
                <a:close/>
              </a:path>
            </a:pathLst>
          </a:custGeom>
          <a:solidFill>
            <a:srgbClr val="FF00FF"/>
          </a:solidFill>
          <a:ln w="31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21" name="Freeform 26"/>
          <p:cNvSpPr>
            <a:spLocks/>
          </p:cNvSpPr>
          <p:nvPr/>
        </p:nvSpPr>
        <p:spPr bwMode="auto">
          <a:xfrm>
            <a:off x="9674225" y="3097213"/>
            <a:ext cx="452438" cy="368300"/>
          </a:xfrm>
          <a:custGeom>
            <a:avLst/>
            <a:gdLst>
              <a:gd name="T0" fmla="*/ 0 w 1427"/>
              <a:gd name="T1" fmla="*/ 2147483647 h 1158"/>
              <a:gd name="T2" fmla="*/ 2147483647 w 1427"/>
              <a:gd name="T3" fmla="*/ 0 h 1158"/>
              <a:gd name="T4" fmla="*/ 2147483647 w 1427"/>
              <a:gd name="T5" fmla="*/ 2147483647 h 1158"/>
              <a:gd name="T6" fmla="*/ 2147483647 w 1427"/>
              <a:gd name="T7" fmla="*/ 2147483647 h 1158"/>
              <a:gd name="T8" fmla="*/ 2147483647 w 1427"/>
              <a:gd name="T9" fmla="*/ 2147483647 h 1158"/>
              <a:gd name="T10" fmla="*/ 2147483647 w 1427"/>
              <a:gd name="T11" fmla="*/ 2147483647 h 1158"/>
              <a:gd name="T12" fmla="*/ 2147483647 w 1427"/>
              <a:gd name="T13" fmla="*/ 2147483647 h 1158"/>
              <a:gd name="T14" fmla="*/ 2147483647 w 1427"/>
              <a:gd name="T15" fmla="*/ 2147483647 h 1158"/>
              <a:gd name="T16" fmla="*/ 2147483647 w 1427"/>
              <a:gd name="T17" fmla="*/ 2147483647 h 1158"/>
              <a:gd name="T18" fmla="*/ 2147483647 w 1427"/>
              <a:gd name="T19" fmla="*/ 2147483647 h 1158"/>
              <a:gd name="T20" fmla="*/ 2147483647 w 1427"/>
              <a:gd name="T21" fmla="*/ 2147483647 h 1158"/>
              <a:gd name="T22" fmla="*/ 2147483647 w 1427"/>
              <a:gd name="T23" fmla="*/ 2147483647 h 1158"/>
              <a:gd name="T24" fmla="*/ 2147483647 w 1427"/>
              <a:gd name="T25" fmla="*/ 2147483647 h 1158"/>
              <a:gd name="T26" fmla="*/ 2147483647 w 1427"/>
              <a:gd name="T27" fmla="*/ 2147483647 h 1158"/>
              <a:gd name="T28" fmla="*/ 2147483647 w 1427"/>
              <a:gd name="T29" fmla="*/ 2147483647 h 1158"/>
              <a:gd name="T30" fmla="*/ 2147483647 w 1427"/>
              <a:gd name="T31" fmla="*/ 2147483647 h 1158"/>
              <a:gd name="T32" fmla="*/ 2147483647 w 1427"/>
              <a:gd name="T33" fmla="*/ 2147483647 h 1158"/>
              <a:gd name="T34" fmla="*/ 2147483647 w 1427"/>
              <a:gd name="T35" fmla="*/ 2147483647 h 1158"/>
              <a:gd name="T36" fmla="*/ 2147483647 w 1427"/>
              <a:gd name="T37" fmla="*/ 2147483647 h 1158"/>
              <a:gd name="T38" fmla="*/ 2147483647 w 1427"/>
              <a:gd name="T39" fmla="*/ 2147483647 h 1158"/>
              <a:gd name="T40" fmla="*/ 2147483647 w 1427"/>
              <a:gd name="T41" fmla="*/ 2147483647 h 1158"/>
              <a:gd name="T42" fmla="*/ 2147483647 w 1427"/>
              <a:gd name="T43" fmla="*/ 2147483647 h 1158"/>
              <a:gd name="T44" fmla="*/ 2147483647 w 1427"/>
              <a:gd name="T45" fmla="*/ 2147483647 h 1158"/>
              <a:gd name="T46" fmla="*/ 2147483647 w 1427"/>
              <a:gd name="T47" fmla="*/ 2147483647 h 1158"/>
              <a:gd name="T48" fmla="*/ 2147483647 w 1427"/>
              <a:gd name="T49" fmla="*/ 2147483647 h 1158"/>
              <a:gd name="T50" fmla="*/ 2147483647 w 1427"/>
              <a:gd name="T51" fmla="*/ 2147483647 h 1158"/>
              <a:gd name="T52" fmla="*/ 2147483647 w 1427"/>
              <a:gd name="T53" fmla="*/ 2147483647 h 1158"/>
              <a:gd name="T54" fmla="*/ 2147483647 w 1427"/>
              <a:gd name="T55" fmla="*/ 2147483647 h 1158"/>
              <a:gd name="T56" fmla="*/ 2147483647 w 1427"/>
              <a:gd name="T57" fmla="*/ 2147483647 h 1158"/>
              <a:gd name="T58" fmla="*/ 2147483647 w 1427"/>
              <a:gd name="T59" fmla="*/ 2147483647 h 1158"/>
              <a:gd name="T60" fmla="*/ 2147483647 w 1427"/>
              <a:gd name="T61" fmla="*/ 2147483647 h 1158"/>
              <a:gd name="T62" fmla="*/ 2147483647 w 1427"/>
              <a:gd name="T63" fmla="*/ 2147483647 h 1158"/>
              <a:gd name="T64" fmla="*/ 2147483647 w 1427"/>
              <a:gd name="T65" fmla="*/ 2147483647 h 1158"/>
              <a:gd name="T66" fmla="*/ 2147483647 w 1427"/>
              <a:gd name="T67" fmla="*/ 2147483647 h 1158"/>
              <a:gd name="T68" fmla="*/ 2147483647 w 1427"/>
              <a:gd name="T69" fmla="*/ 2147483647 h 1158"/>
              <a:gd name="T70" fmla="*/ 2147483647 w 1427"/>
              <a:gd name="T71" fmla="*/ 2147483647 h 1158"/>
              <a:gd name="T72" fmla="*/ 2147483647 w 1427"/>
              <a:gd name="T73" fmla="*/ 2147483647 h 1158"/>
              <a:gd name="T74" fmla="*/ 2147483647 w 1427"/>
              <a:gd name="T75" fmla="*/ 2147483647 h 1158"/>
              <a:gd name="T76" fmla="*/ 2147483647 w 1427"/>
              <a:gd name="T77" fmla="*/ 2147483647 h 1158"/>
              <a:gd name="T78" fmla="*/ 2147483647 w 1427"/>
              <a:gd name="T79" fmla="*/ 2147483647 h 1158"/>
              <a:gd name="T80" fmla="*/ 2147483647 w 1427"/>
              <a:gd name="T81" fmla="*/ 2147483647 h 1158"/>
              <a:gd name="T82" fmla="*/ 2147483647 w 1427"/>
              <a:gd name="T83" fmla="*/ 2147483647 h 1158"/>
              <a:gd name="T84" fmla="*/ 2147483647 w 1427"/>
              <a:gd name="T85" fmla="*/ 2147483647 h 1158"/>
              <a:gd name="T86" fmla="*/ 2147483647 w 1427"/>
              <a:gd name="T87" fmla="*/ 2147483647 h 1158"/>
              <a:gd name="T88" fmla="*/ 2147483647 w 1427"/>
              <a:gd name="T89" fmla="*/ 2147483647 h 1158"/>
              <a:gd name="T90" fmla="*/ 2147483647 w 1427"/>
              <a:gd name="T91" fmla="*/ 2147483647 h 1158"/>
              <a:gd name="T92" fmla="*/ 2147483647 w 1427"/>
              <a:gd name="T93" fmla="*/ 2147483647 h 1158"/>
              <a:gd name="T94" fmla="*/ 2147483647 w 1427"/>
              <a:gd name="T95" fmla="*/ 2147483647 h 1158"/>
              <a:gd name="T96" fmla="*/ 2147483647 w 1427"/>
              <a:gd name="T97" fmla="*/ 2147483647 h 1158"/>
              <a:gd name="T98" fmla="*/ 2147483647 w 1427"/>
              <a:gd name="T99" fmla="*/ 2147483647 h 1158"/>
              <a:gd name="T100" fmla="*/ 2147483647 w 1427"/>
              <a:gd name="T101" fmla="*/ 2147483647 h 1158"/>
              <a:gd name="T102" fmla="*/ 2147483647 w 1427"/>
              <a:gd name="T103" fmla="*/ 2147483647 h 1158"/>
              <a:gd name="T104" fmla="*/ 2147483647 w 1427"/>
              <a:gd name="T105" fmla="*/ 2147483647 h 1158"/>
              <a:gd name="T106" fmla="*/ 2147483647 w 1427"/>
              <a:gd name="T107" fmla="*/ 2147483647 h 1158"/>
              <a:gd name="T108" fmla="*/ 2147483647 w 1427"/>
              <a:gd name="T109" fmla="*/ 2147483647 h 115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427"/>
              <a:gd name="T166" fmla="*/ 0 h 1158"/>
              <a:gd name="T167" fmla="*/ 1427 w 1427"/>
              <a:gd name="T168" fmla="*/ 1158 h 1158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427" h="1158">
                <a:moveTo>
                  <a:pt x="0" y="915"/>
                </a:moveTo>
                <a:lnTo>
                  <a:pt x="0" y="1158"/>
                </a:lnTo>
                <a:lnTo>
                  <a:pt x="1427" y="1158"/>
                </a:lnTo>
                <a:lnTo>
                  <a:pt x="1425" y="0"/>
                </a:lnTo>
                <a:lnTo>
                  <a:pt x="1298" y="0"/>
                </a:lnTo>
                <a:lnTo>
                  <a:pt x="1292" y="22"/>
                </a:lnTo>
                <a:lnTo>
                  <a:pt x="1292" y="38"/>
                </a:lnTo>
                <a:lnTo>
                  <a:pt x="1296" y="60"/>
                </a:lnTo>
                <a:lnTo>
                  <a:pt x="1303" y="84"/>
                </a:lnTo>
                <a:lnTo>
                  <a:pt x="1311" y="112"/>
                </a:lnTo>
                <a:lnTo>
                  <a:pt x="1314" y="134"/>
                </a:lnTo>
                <a:lnTo>
                  <a:pt x="1314" y="154"/>
                </a:lnTo>
                <a:lnTo>
                  <a:pt x="1312" y="176"/>
                </a:lnTo>
                <a:lnTo>
                  <a:pt x="1306" y="197"/>
                </a:lnTo>
                <a:lnTo>
                  <a:pt x="1292" y="217"/>
                </a:lnTo>
                <a:lnTo>
                  <a:pt x="1276" y="234"/>
                </a:lnTo>
                <a:lnTo>
                  <a:pt x="1259" y="250"/>
                </a:lnTo>
                <a:lnTo>
                  <a:pt x="1239" y="261"/>
                </a:lnTo>
                <a:lnTo>
                  <a:pt x="1216" y="270"/>
                </a:lnTo>
                <a:lnTo>
                  <a:pt x="1195" y="275"/>
                </a:lnTo>
                <a:lnTo>
                  <a:pt x="1165" y="276"/>
                </a:lnTo>
                <a:lnTo>
                  <a:pt x="1131" y="274"/>
                </a:lnTo>
                <a:lnTo>
                  <a:pt x="1109" y="270"/>
                </a:lnTo>
                <a:lnTo>
                  <a:pt x="1089" y="265"/>
                </a:lnTo>
                <a:lnTo>
                  <a:pt x="1070" y="254"/>
                </a:lnTo>
                <a:lnTo>
                  <a:pt x="1047" y="235"/>
                </a:lnTo>
                <a:lnTo>
                  <a:pt x="1032" y="218"/>
                </a:lnTo>
                <a:lnTo>
                  <a:pt x="1019" y="200"/>
                </a:lnTo>
                <a:lnTo>
                  <a:pt x="1011" y="180"/>
                </a:lnTo>
                <a:lnTo>
                  <a:pt x="1006" y="162"/>
                </a:lnTo>
                <a:lnTo>
                  <a:pt x="1006" y="141"/>
                </a:lnTo>
                <a:lnTo>
                  <a:pt x="1009" y="120"/>
                </a:lnTo>
                <a:lnTo>
                  <a:pt x="1014" y="100"/>
                </a:lnTo>
                <a:lnTo>
                  <a:pt x="1019" y="81"/>
                </a:lnTo>
                <a:lnTo>
                  <a:pt x="1025" y="62"/>
                </a:lnTo>
                <a:lnTo>
                  <a:pt x="1029" y="42"/>
                </a:lnTo>
                <a:lnTo>
                  <a:pt x="1029" y="25"/>
                </a:lnTo>
                <a:lnTo>
                  <a:pt x="1024" y="5"/>
                </a:lnTo>
                <a:lnTo>
                  <a:pt x="785" y="5"/>
                </a:lnTo>
                <a:lnTo>
                  <a:pt x="787" y="46"/>
                </a:lnTo>
                <a:lnTo>
                  <a:pt x="785" y="74"/>
                </a:lnTo>
                <a:lnTo>
                  <a:pt x="783" y="97"/>
                </a:lnTo>
                <a:lnTo>
                  <a:pt x="783" y="118"/>
                </a:lnTo>
                <a:lnTo>
                  <a:pt x="781" y="141"/>
                </a:lnTo>
                <a:lnTo>
                  <a:pt x="776" y="163"/>
                </a:lnTo>
                <a:lnTo>
                  <a:pt x="770" y="178"/>
                </a:lnTo>
                <a:lnTo>
                  <a:pt x="761" y="191"/>
                </a:lnTo>
                <a:lnTo>
                  <a:pt x="749" y="202"/>
                </a:lnTo>
                <a:lnTo>
                  <a:pt x="735" y="211"/>
                </a:lnTo>
                <a:lnTo>
                  <a:pt x="719" y="216"/>
                </a:lnTo>
                <a:lnTo>
                  <a:pt x="702" y="218"/>
                </a:lnTo>
                <a:lnTo>
                  <a:pt x="686" y="219"/>
                </a:lnTo>
                <a:lnTo>
                  <a:pt x="665" y="219"/>
                </a:lnTo>
                <a:lnTo>
                  <a:pt x="645" y="217"/>
                </a:lnTo>
                <a:lnTo>
                  <a:pt x="629" y="216"/>
                </a:lnTo>
                <a:lnTo>
                  <a:pt x="608" y="214"/>
                </a:lnTo>
                <a:lnTo>
                  <a:pt x="586" y="212"/>
                </a:lnTo>
                <a:lnTo>
                  <a:pt x="561" y="212"/>
                </a:lnTo>
                <a:lnTo>
                  <a:pt x="541" y="214"/>
                </a:lnTo>
                <a:lnTo>
                  <a:pt x="520" y="217"/>
                </a:lnTo>
                <a:lnTo>
                  <a:pt x="497" y="223"/>
                </a:lnTo>
                <a:lnTo>
                  <a:pt x="481" y="232"/>
                </a:lnTo>
                <a:lnTo>
                  <a:pt x="464" y="243"/>
                </a:lnTo>
                <a:lnTo>
                  <a:pt x="453" y="258"/>
                </a:lnTo>
                <a:lnTo>
                  <a:pt x="442" y="274"/>
                </a:lnTo>
                <a:lnTo>
                  <a:pt x="437" y="290"/>
                </a:lnTo>
                <a:lnTo>
                  <a:pt x="435" y="308"/>
                </a:lnTo>
                <a:lnTo>
                  <a:pt x="437" y="327"/>
                </a:lnTo>
                <a:lnTo>
                  <a:pt x="438" y="346"/>
                </a:lnTo>
                <a:lnTo>
                  <a:pt x="437" y="367"/>
                </a:lnTo>
                <a:lnTo>
                  <a:pt x="433" y="383"/>
                </a:lnTo>
                <a:lnTo>
                  <a:pt x="428" y="400"/>
                </a:lnTo>
                <a:lnTo>
                  <a:pt x="421" y="417"/>
                </a:lnTo>
                <a:lnTo>
                  <a:pt x="411" y="428"/>
                </a:lnTo>
                <a:lnTo>
                  <a:pt x="395" y="439"/>
                </a:lnTo>
                <a:lnTo>
                  <a:pt x="375" y="446"/>
                </a:lnTo>
                <a:lnTo>
                  <a:pt x="356" y="452"/>
                </a:lnTo>
                <a:lnTo>
                  <a:pt x="337" y="457"/>
                </a:lnTo>
                <a:lnTo>
                  <a:pt x="317" y="462"/>
                </a:lnTo>
                <a:lnTo>
                  <a:pt x="292" y="467"/>
                </a:lnTo>
                <a:lnTo>
                  <a:pt x="272" y="471"/>
                </a:lnTo>
                <a:lnTo>
                  <a:pt x="251" y="477"/>
                </a:lnTo>
                <a:lnTo>
                  <a:pt x="234" y="483"/>
                </a:lnTo>
                <a:lnTo>
                  <a:pt x="216" y="490"/>
                </a:lnTo>
                <a:lnTo>
                  <a:pt x="203" y="500"/>
                </a:lnTo>
                <a:lnTo>
                  <a:pt x="191" y="510"/>
                </a:lnTo>
                <a:lnTo>
                  <a:pt x="177" y="526"/>
                </a:lnTo>
                <a:lnTo>
                  <a:pt x="168" y="541"/>
                </a:lnTo>
                <a:lnTo>
                  <a:pt x="161" y="558"/>
                </a:lnTo>
                <a:lnTo>
                  <a:pt x="157" y="579"/>
                </a:lnTo>
                <a:lnTo>
                  <a:pt x="160" y="599"/>
                </a:lnTo>
                <a:lnTo>
                  <a:pt x="162" y="619"/>
                </a:lnTo>
                <a:lnTo>
                  <a:pt x="168" y="642"/>
                </a:lnTo>
                <a:lnTo>
                  <a:pt x="175" y="668"/>
                </a:lnTo>
                <a:lnTo>
                  <a:pt x="179" y="691"/>
                </a:lnTo>
                <a:lnTo>
                  <a:pt x="182" y="710"/>
                </a:lnTo>
                <a:lnTo>
                  <a:pt x="182" y="727"/>
                </a:lnTo>
                <a:lnTo>
                  <a:pt x="179" y="750"/>
                </a:lnTo>
                <a:lnTo>
                  <a:pt x="173" y="770"/>
                </a:lnTo>
                <a:lnTo>
                  <a:pt x="168" y="787"/>
                </a:lnTo>
                <a:lnTo>
                  <a:pt x="161" y="803"/>
                </a:lnTo>
                <a:lnTo>
                  <a:pt x="151" y="824"/>
                </a:lnTo>
                <a:lnTo>
                  <a:pt x="138" y="848"/>
                </a:lnTo>
                <a:lnTo>
                  <a:pt x="123" y="865"/>
                </a:lnTo>
                <a:lnTo>
                  <a:pt x="108" y="878"/>
                </a:lnTo>
                <a:lnTo>
                  <a:pt x="94" y="891"/>
                </a:lnTo>
                <a:lnTo>
                  <a:pt x="80" y="901"/>
                </a:lnTo>
                <a:lnTo>
                  <a:pt x="65" y="907"/>
                </a:lnTo>
                <a:lnTo>
                  <a:pt x="44" y="912"/>
                </a:lnTo>
                <a:lnTo>
                  <a:pt x="20" y="915"/>
                </a:lnTo>
                <a:lnTo>
                  <a:pt x="0" y="915"/>
                </a:lnTo>
                <a:close/>
              </a:path>
            </a:pathLst>
          </a:custGeom>
          <a:solidFill>
            <a:srgbClr val="0000FF"/>
          </a:solidFill>
          <a:ln w="31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22" name="Freeform 27"/>
          <p:cNvSpPr>
            <a:spLocks/>
          </p:cNvSpPr>
          <p:nvPr/>
        </p:nvSpPr>
        <p:spPr bwMode="auto">
          <a:xfrm>
            <a:off x="9223375" y="3025775"/>
            <a:ext cx="450850" cy="439738"/>
          </a:xfrm>
          <a:custGeom>
            <a:avLst/>
            <a:gdLst>
              <a:gd name="T0" fmla="*/ 2147483647 w 1421"/>
              <a:gd name="T1" fmla="*/ 2147483647 h 1382"/>
              <a:gd name="T2" fmla="*/ 0 w 1421"/>
              <a:gd name="T3" fmla="*/ 2147483647 h 1382"/>
              <a:gd name="T4" fmla="*/ 2147483647 w 1421"/>
              <a:gd name="T5" fmla="*/ 2147483647 h 1382"/>
              <a:gd name="T6" fmla="*/ 2147483647 w 1421"/>
              <a:gd name="T7" fmla="*/ 2147483647 h 1382"/>
              <a:gd name="T8" fmla="*/ 2147483647 w 1421"/>
              <a:gd name="T9" fmla="*/ 2147483647 h 1382"/>
              <a:gd name="T10" fmla="*/ 2147483647 w 1421"/>
              <a:gd name="T11" fmla="*/ 2147483647 h 1382"/>
              <a:gd name="T12" fmla="*/ 2147483647 w 1421"/>
              <a:gd name="T13" fmla="*/ 2147483647 h 1382"/>
              <a:gd name="T14" fmla="*/ 2147483647 w 1421"/>
              <a:gd name="T15" fmla="*/ 2147483647 h 1382"/>
              <a:gd name="T16" fmla="*/ 2147483647 w 1421"/>
              <a:gd name="T17" fmla="*/ 2147483647 h 1382"/>
              <a:gd name="T18" fmla="*/ 2147483647 w 1421"/>
              <a:gd name="T19" fmla="*/ 2147483647 h 1382"/>
              <a:gd name="T20" fmla="*/ 2147483647 w 1421"/>
              <a:gd name="T21" fmla="*/ 2147483647 h 1382"/>
              <a:gd name="T22" fmla="*/ 2147483647 w 1421"/>
              <a:gd name="T23" fmla="*/ 2147483647 h 1382"/>
              <a:gd name="T24" fmla="*/ 2147483647 w 1421"/>
              <a:gd name="T25" fmla="*/ 2147483647 h 1382"/>
              <a:gd name="T26" fmla="*/ 2147483647 w 1421"/>
              <a:gd name="T27" fmla="*/ 0 h 1382"/>
              <a:gd name="T28" fmla="*/ 2147483647 w 1421"/>
              <a:gd name="T29" fmla="*/ 2147483647 h 1382"/>
              <a:gd name="T30" fmla="*/ 2147483647 w 1421"/>
              <a:gd name="T31" fmla="*/ 2147483647 h 1382"/>
              <a:gd name="T32" fmla="*/ 2147483647 w 1421"/>
              <a:gd name="T33" fmla="*/ 2147483647 h 1382"/>
              <a:gd name="T34" fmla="*/ 2147483647 w 1421"/>
              <a:gd name="T35" fmla="*/ 2147483647 h 1382"/>
              <a:gd name="T36" fmla="*/ 2147483647 w 1421"/>
              <a:gd name="T37" fmla="*/ 2147483647 h 1382"/>
              <a:gd name="T38" fmla="*/ 2147483647 w 1421"/>
              <a:gd name="T39" fmla="*/ 2147483647 h 1382"/>
              <a:gd name="T40" fmla="*/ 2147483647 w 1421"/>
              <a:gd name="T41" fmla="*/ 2147483647 h 1382"/>
              <a:gd name="T42" fmla="*/ 2147483647 w 1421"/>
              <a:gd name="T43" fmla="*/ 2147483647 h 1382"/>
              <a:gd name="T44" fmla="*/ 2147483647 w 1421"/>
              <a:gd name="T45" fmla="*/ 2147483647 h 1382"/>
              <a:gd name="T46" fmla="*/ 2147483647 w 1421"/>
              <a:gd name="T47" fmla="*/ 2147483647 h 1382"/>
              <a:gd name="T48" fmla="*/ 2147483647 w 1421"/>
              <a:gd name="T49" fmla="*/ 2147483647 h 1382"/>
              <a:gd name="T50" fmla="*/ 2147483647 w 1421"/>
              <a:gd name="T51" fmla="*/ 2147483647 h 1382"/>
              <a:gd name="T52" fmla="*/ 2147483647 w 1421"/>
              <a:gd name="T53" fmla="*/ 2147483647 h 1382"/>
              <a:gd name="T54" fmla="*/ 2147483647 w 1421"/>
              <a:gd name="T55" fmla="*/ 2147483647 h 1382"/>
              <a:gd name="T56" fmla="*/ 2147483647 w 1421"/>
              <a:gd name="T57" fmla="*/ 2147483647 h 1382"/>
              <a:gd name="T58" fmla="*/ 2147483647 w 1421"/>
              <a:gd name="T59" fmla="*/ 2147483647 h 1382"/>
              <a:gd name="T60" fmla="*/ 2147483647 w 1421"/>
              <a:gd name="T61" fmla="*/ 2147483647 h 1382"/>
              <a:gd name="T62" fmla="*/ 2147483647 w 1421"/>
              <a:gd name="T63" fmla="*/ 2147483647 h 1382"/>
              <a:gd name="T64" fmla="*/ 2147483647 w 1421"/>
              <a:gd name="T65" fmla="*/ 2147483647 h 1382"/>
              <a:gd name="T66" fmla="*/ 2147483647 w 1421"/>
              <a:gd name="T67" fmla="*/ 2147483647 h 1382"/>
              <a:gd name="T68" fmla="*/ 2147483647 w 1421"/>
              <a:gd name="T69" fmla="*/ 2147483647 h 1382"/>
              <a:gd name="T70" fmla="*/ 2147483647 w 1421"/>
              <a:gd name="T71" fmla="*/ 2147483647 h 1382"/>
              <a:gd name="T72" fmla="*/ 2147483647 w 1421"/>
              <a:gd name="T73" fmla="*/ 2147483647 h 1382"/>
              <a:gd name="T74" fmla="*/ 2147483647 w 1421"/>
              <a:gd name="T75" fmla="*/ 2147483647 h 1382"/>
              <a:gd name="T76" fmla="*/ 2147483647 w 1421"/>
              <a:gd name="T77" fmla="*/ 2147483647 h 1382"/>
              <a:gd name="T78" fmla="*/ 2147483647 w 1421"/>
              <a:gd name="T79" fmla="*/ 2147483647 h 1382"/>
              <a:gd name="T80" fmla="*/ 2147483647 w 1421"/>
              <a:gd name="T81" fmla="*/ 2147483647 h 1382"/>
              <a:gd name="T82" fmla="*/ 2147483647 w 1421"/>
              <a:gd name="T83" fmla="*/ 2147483647 h 1382"/>
              <a:gd name="T84" fmla="*/ 2147483647 w 1421"/>
              <a:gd name="T85" fmla="*/ 2147483647 h 1382"/>
              <a:gd name="T86" fmla="*/ 2147483647 w 1421"/>
              <a:gd name="T87" fmla="*/ 2147483647 h 1382"/>
              <a:gd name="T88" fmla="*/ 2147483647 w 1421"/>
              <a:gd name="T89" fmla="*/ 2147483647 h 1382"/>
              <a:gd name="T90" fmla="*/ 2147483647 w 1421"/>
              <a:gd name="T91" fmla="*/ 2147483647 h 1382"/>
              <a:gd name="T92" fmla="*/ 2147483647 w 1421"/>
              <a:gd name="T93" fmla="*/ 2147483647 h 1382"/>
              <a:gd name="T94" fmla="*/ 2147483647 w 1421"/>
              <a:gd name="T95" fmla="*/ 2147483647 h 1382"/>
              <a:gd name="T96" fmla="*/ 2147483647 w 1421"/>
              <a:gd name="T97" fmla="*/ 2147483647 h 1382"/>
              <a:gd name="T98" fmla="*/ 2147483647 w 1421"/>
              <a:gd name="T99" fmla="*/ 2147483647 h 1382"/>
              <a:gd name="T100" fmla="*/ 2147483647 w 1421"/>
              <a:gd name="T101" fmla="*/ 2147483647 h 1382"/>
              <a:gd name="T102" fmla="*/ 2147483647 w 1421"/>
              <a:gd name="T103" fmla="*/ 2147483647 h 1382"/>
              <a:gd name="T104" fmla="*/ 2147483647 w 1421"/>
              <a:gd name="T105" fmla="*/ 2147483647 h 1382"/>
              <a:gd name="T106" fmla="*/ 2147483647 w 1421"/>
              <a:gd name="T107" fmla="*/ 2147483647 h 1382"/>
              <a:gd name="T108" fmla="*/ 2147483647 w 1421"/>
              <a:gd name="T109" fmla="*/ 2147483647 h 1382"/>
              <a:gd name="T110" fmla="*/ 2147483647 w 1421"/>
              <a:gd name="T111" fmla="*/ 2147483647 h 1382"/>
              <a:gd name="T112" fmla="*/ 2147483647 w 1421"/>
              <a:gd name="T113" fmla="*/ 2147483647 h 1382"/>
              <a:gd name="T114" fmla="*/ 2147483647 w 1421"/>
              <a:gd name="T115" fmla="*/ 2147483647 h 1382"/>
              <a:gd name="T116" fmla="*/ 2147483647 w 1421"/>
              <a:gd name="T117" fmla="*/ 2147483647 h 1382"/>
              <a:gd name="T118" fmla="*/ 2147483647 w 1421"/>
              <a:gd name="T119" fmla="*/ 2147483647 h 1382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1421"/>
              <a:gd name="T181" fmla="*/ 0 h 1382"/>
              <a:gd name="T182" fmla="*/ 1421 w 1421"/>
              <a:gd name="T183" fmla="*/ 1382 h 1382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1421" h="1382">
                <a:moveTo>
                  <a:pt x="1421" y="1138"/>
                </a:moveTo>
                <a:lnTo>
                  <a:pt x="1421" y="1382"/>
                </a:lnTo>
                <a:lnTo>
                  <a:pt x="1" y="1382"/>
                </a:lnTo>
                <a:lnTo>
                  <a:pt x="0" y="278"/>
                </a:lnTo>
                <a:lnTo>
                  <a:pt x="123" y="278"/>
                </a:lnTo>
                <a:lnTo>
                  <a:pt x="128" y="268"/>
                </a:lnTo>
                <a:lnTo>
                  <a:pt x="131" y="255"/>
                </a:lnTo>
                <a:lnTo>
                  <a:pt x="131" y="244"/>
                </a:lnTo>
                <a:lnTo>
                  <a:pt x="130" y="230"/>
                </a:lnTo>
                <a:lnTo>
                  <a:pt x="125" y="213"/>
                </a:lnTo>
                <a:lnTo>
                  <a:pt x="120" y="191"/>
                </a:lnTo>
                <a:lnTo>
                  <a:pt x="115" y="176"/>
                </a:lnTo>
                <a:lnTo>
                  <a:pt x="111" y="158"/>
                </a:lnTo>
                <a:lnTo>
                  <a:pt x="109" y="140"/>
                </a:lnTo>
                <a:lnTo>
                  <a:pt x="109" y="123"/>
                </a:lnTo>
                <a:lnTo>
                  <a:pt x="111" y="107"/>
                </a:lnTo>
                <a:lnTo>
                  <a:pt x="115" y="90"/>
                </a:lnTo>
                <a:lnTo>
                  <a:pt x="122" y="74"/>
                </a:lnTo>
                <a:lnTo>
                  <a:pt x="131" y="62"/>
                </a:lnTo>
                <a:lnTo>
                  <a:pt x="145" y="47"/>
                </a:lnTo>
                <a:lnTo>
                  <a:pt x="157" y="36"/>
                </a:lnTo>
                <a:lnTo>
                  <a:pt x="171" y="25"/>
                </a:lnTo>
                <a:lnTo>
                  <a:pt x="186" y="16"/>
                </a:lnTo>
                <a:lnTo>
                  <a:pt x="203" y="9"/>
                </a:lnTo>
                <a:lnTo>
                  <a:pt x="223" y="4"/>
                </a:lnTo>
                <a:lnTo>
                  <a:pt x="244" y="1"/>
                </a:lnTo>
                <a:lnTo>
                  <a:pt x="261" y="0"/>
                </a:lnTo>
                <a:lnTo>
                  <a:pt x="279" y="0"/>
                </a:lnTo>
                <a:lnTo>
                  <a:pt x="297" y="1"/>
                </a:lnTo>
                <a:lnTo>
                  <a:pt x="310" y="4"/>
                </a:lnTo>
                <a:lnTo>
                  <a:pt x="326" y="9"/>
                </a:lnTo>
                <a:lnTo>
                  <a:pt x="342" y="13"/>
                </a:lnTo>
                <a:lnTo>
                  <a:pt x="355" y="21"/>
                </a:lnTo>
                <a:lnTo>
                  <a:pt x="368" y="31"/>
                </a:lnTo>
                <a:lnTo>
                  <a:pt x="380" y="43"/>
                </a:lnTo>
                <a:lnTo>
                  <a:pt x="393" y="57"/>
                </a:lnTo>
                <a:lnTo>
                  <a:pt x="404" y="70"/>
                </a:lnTo>
                <a:lnTo>
                  <a:pt x="412" y="85"/>
                </a:lnTo>
                <a:lnTo>
                  <a:pt x="419" y="103"/>
                </a:lnTo>
                <a:lnTo>
                  <a:pt x="424" y="124"/>
                </a:lnTo>
                <a:lnTo>
                  <a:pt x="424" y="144"/>
                </a:lnTo>
                <a:lnTo>
                  <a:pt x="419" y="164"/>
                </a:lnTo>
                <a:lnTo>
                  <a:pt x="414" y="183"/>
                </a:lnTo>
                <a:lnTo>
                  <a:pt x="409" y="203"/>
                </a:lnTo>
                <a:lnTo>
                  <a:pt x="403" y="225"/>
                </a:lnTo>
                <a:lnTo>
                  <a:pt x="399" y="243"/>
                </a:lnTo>
                <a:lnTo>
                  <a:pt x="399" y="252"/>
                </a:lnTo>
                <a:lnTo>
                  <a:pt x="401" y="261"/>
                </a:lnTo>
                <a:lnTo>
                  <a:pt x="405" y="271"/>
                </a:lnTo>
                <a:lnTo>
                  <a:pt x="640" y="271"/>
                </a:lnTo>
                <a:lnTo>
                  <a:pt x="636" y="317"/>
                </a:lnTo>
                <a:lnTo>
                  <a:pt x="634" y="344"/>
                </a:lnTo>
                <a:lnTo>
                  <a:pt x="636" y="366"/>
                </a:lnTo>
                <a:lnTo>
                  <a:pt x="637" y="387"/>
                </a:lnTo>
                <a:lnTo>
                  <a:pt x="639" y="409"/>
                </a:lnTo>
                <a:lnTo>
                  <a:pt x="643" y="431"/>
                </a:lnTo>
                <a:lnTo>
                  <a:pt x="650" y="446"/>
                </a:lnTo>
                <a:lnTo>
                  <a:pt x="659" y="458"/>
                </a:lnTo>
                <a:lnTo>
                  <a:pt x="670" y="469"/>
                </a:lnTo>
                <a:lnTo>
                  <a:pt x="685" y="478"/>
                </a:lnTo>
                <a:lnTo>
                  <a:pt x="701" y="484"/>
                </a:lnTo>
                <a:lnTo>
                  <a:pt x="717" y="487"/>
                </a:lnTo>
                <a:lnTo>
                  <a:pt x="734" y="488"/>
                </a:lnTo>
                <a:lnTo>
                  <a:pt x="754" y="488"/>
                </a:lnTo>
                <a:lnTo>
                  <a:pt x="775" y="485"/>
                </a:lnTo>
                <a:lnTo>
                  <a:pt x="790" y="484"/>
                </a:lnTo>
                <a:lnTo>
                  <a:pt x="812" y="482"/>
                </a:lnTo>
                <a:lnTo>
                  <a:pt x="834" y="479"/>
                </a:lnTo>
                <a:lnTo>
                  <a:pt x="859" y="479"/>
                </a:lnTo>
                <a:lnTo>
                  <a:pt x="880" y="482"/>
                </a:lnTo>
                <a:lnTo>
                  <a:pt x="900" y="485"/>
                </a:lnTo>
                <a:lnTo>
                  <a:pt x="921" y="493"/>
                </a:lnTo>
                <a:lnTo>
                  <a:pt x="939" y="500"/>
                </a:lnTo>
                <a:lnTo>
                  <a:pt x="956" y="512"/>
                </a:lnTo>
                <a:lnTo>
                  <a:pt x="967" y="526"/>
                </a:lnTo>
                <a:lnTo>
                  <a:pt x="977" y="542"/>
                </a:lnTo>
                <a:lnTo>
                  <a:pt x="983" y="559"/>
                </a:lnTo>
                <a:lnTo>
                  <a:pt x="986" y="576"/>
                </a:lnTo>
                <a:lnTo>
                  <a:pt x="983" y="596"/>
                </a:lnTo>
                <a:lnTo>
                  <a:pt x="982" y="616"/>
                </a:lnTo>
                <a:lnTo>
                  <a:pt x="983" y="636"/>
                </a:lnTo>
                <a:lnTo>
                  <a:pt x="986" y="653"/>
                </a:lnTo>
                <a:lnTo>
                  <a:pt x="992" y="669"/>
                </a:lnTo>
                <a:lnTo>
                  <a:pt x="999" y="685"/>
                </a:lnTo>
                <a:lnTo>
                  <a:pt x="1009" y="696"/>
                </a:lnTo>
                <a:lnTo>
                  <a:pt x="1024" y="707"/>
                </a:lnTo>
                <a:lnTo>
                  <a:pt x="1043" y="714"/>
                </a:lnTo>
                <a:lnTo>
                  <a:pt x="1064" y="721"/>
                </a:lnTo>
                <a:lnTo>
                  <a:pt x="1082" y="726"/>
                </a:lnTo>
                <a:lnTo>
                  <a:pt x="1103" y="730"/>
                </a:lnTo>
                <a:lnTo>
                  <a:pt x="1127" y="735"/>
                </a:lnTo>
                <a:lnTo>
                  <a:pt x="1148" y="739"/>
                </a:lnTo>
                <a:lnTo>
                  <a:pt x="1169" y="745"/>
                </a:lnTo>
                <a:lnTo>
                  <a:pt x="1186" y="751"/>
                </a:lnTo>
                <a:lnTo>
                  <a:pt x="1204" y="759"/>
                </a:lnTo>
                <a:lnTo>
                  <a:pt x="1217" y="769"/>
                </a:lnTo>
                <a:lnTo>
                  <a:pt x="1228" y="778"/>
                </a:lnTo>
                <a:lnTo>
                  <a:pt x="1243" y="795"/>
                </a:lnTo>
                <a:lnTo>
                  <a:pt x="1252" y="809"/>
                </a:lnTo>
                <a:lnTo>
                  <a:pt x="1259" y="825"/>
                </a:lnTo>
                <a:lnTo>
                  <a:pt x="1263" y="847"/>
                </a:lnTo>
                <a:lnTo>
                  <a:pt x="1260" y="868"/>
                </a:lnTo>
                <a:lnTo>
                  <a:pt x="1257" y="887"/>
                </a:lnTo>
                <a:lnTo>
                  <a:pt x="1252" y="910"/>
                </a:lnTo>
                <a:lnTo>
                  <a:pt x="1246" y="936"/>
                </a:lnTo>
                <a:lnTo>
                  <a:pt x="1239" y="960"/>
                </a:lnTo>
                <a:lnTo>
                  <a:pt x="1237" y="979"/>
                </a:lnTo>
                <a:lnTo>
                  <a:pt x="1237" y="995"/>
                </a:lnTo>
                <a:lnTo>
                  <a:pt x="1241" y="1019"/>
                </a:lnTo>
                <a:lnTo>
                  <a:pt x="1246" y="1038"/>
                </a:lnTo>
                <a:lnTo>
                  <a:pt x="1253" y="1053"/>
                </a:lnTo>
                <a:lnTo>
                  <a:pt x="1262" y="1068"/>
                </a:lnTo>
                <a:lnTo>
                  <a:pt x="1274" y="1084"/>
                </a:lnTo>
                <a:lnTo>
                  <a:pt x="1287" y="1100"/>
                </a:lnTo>
                <a:lnTo>
                  <a:pt x="1303" y="1114"/>
                </a:lnTo>
                <a:lnTo>
                  <a:pt x="1322" y="1125"/>
                </a:lnTo>
                <a:lnTo>
                  <a:pt x="1339" y="1131"/>
                </a:lnTo>
                <a:lnTo>
                  <a:pt x="1358" y="1136"/>
                </a:lnTo>
                <a:lnTo>
                  <a:pt x="1376" y="1138"/>
                </a:lnTo>
                <a:lnTo>
                  <a:pt x="1398" y="1139"/>
                </a:lnTo>
                <a:lnTo>
                  <a:pt x="1421" y="1138"/>
                </a:lnTo>
                <a:close/>
              </a:path>
            </a:pathLst>
          </a:custGeom>
          <a:solidFill>
            <a:srgbClr val="00FF00"/>
          </a:solidFill>
          <a:ln w="31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23" name="Freeform 28"/>
          <p:cNvSpPr>
            <a:spLocks/>
          </p:cNvSpPr>
          <p:nvPr/>
        </p:nvSpPr>
        <p:spPr bwMode="auto">
          <a:xfrm>
            <a:off x="9223375" y="2747963"/>
            <a:ext cx="452438" cy="366712"/>
          </a:xfrm>
          <a:custGeom>
            <a:avLst/>
            <a:gdLst>
              <a:gd name="T0" fmla="*/ 2147483647 w 1427"/>
              <a:gd name="T1" fmla="*/ 0 h 1158"/>
              <a:gd name="T2" fmla="*/ 2147483647 w 1427"/>
              <a:gd name="T3" fmla="*/ 2147483647 h 1158"/>
              <a:gd name="T4" fmla="*/ 2147483647 w 1427"/>
              <a:gd name="T5" fmla="*/ 2147483647 h 1158"/>
              <a:gd name="T6" fmla="*/ 2147483647 w 1427"/>
              <a:gd name="T7" fmla="*/ 2147483647 h 1158"/>
              <a:gd name="T8" fmla="*/ 2147483647 w 1427"/>
              <a:gd name="T9" fmla="*/ 2147483647 h 1158"/>
              <a:gd name="T10" fmla="*/ 2147483647 w 1427"/>
              <a:gd name="T11" fmla="*/ 2147483647 h 1158"/>
              <a:gd name="T12" fmla="*/ 2147483647 w 1427"/>
              <a:gd name="T13" fmla="*/ 2147483647 h 1158"/>
              <a:gd name="T14" fmla="*/ 2147483647 w 1427"/>
              <a:gd name="T15" fmla="*/ 2147483647 h 1158"/>
              <a:gd name="T16" fmla="*/ 2147483647 w 1427"/>
              <a:gd name="T17" fmla="*/ 2147483647 h 1158"/>
              <a:gd name="T18" fmla="*/ 2147483647 w 1427"/>
              <a:gd name="T19" fmla="*/ 2147483647 h 1158"/>
              <a:gd name="T20" fmla="*/ 2147483647 w 1427"/>
              <a:gd name="T21" fmla="*/ 2147483647 h 1158"/>
              <a:gd name="T22" fmla="*/ 2147483647 w 1427"/>
              <a:gd name="T23" fmla="*/ 2147483647 h 1158"/>
              <a:gd name="T24" fmla="*/ 2147483647 w 1427"/>
              <a:gd name="T25" fmla="*/ 2147483647 h 1158"/>
              <a:gd name="T26" fmla="*/ 2147483647 w 1427"/>
              <a:gd name="T27" fmla="*/ 2147483647 h 1158"/>
              <a:gd name="T28" fmla="*/ 2147483647 w 1427"/>
              <a:gd name="T29" fmla="*/ 2147483647 h 1158"/>
              <a:gd name="T30" fmla="*/ 2147483647 w 1427"/>
              <a:gd name="T31" fmla="*/ 2147483647 h 1158"/>
              <a:gd name="T32" fmla="*/ 2147483647 w 1427"/>
              <a:gd name="T33" fmla="*/ 2147483647 h 1158"/>
              <a:gd name="T34" fmla="*/ 2147483647 w 1427"/>
              <a:gd name="T35" fmla="*/ 2147483647 h 1158"/>
              <a:gd name="T36" fmla="*/ 2147483647 w 1427"/>
              <a:gd name="T37" fmla="*/ 2147483647 h 1158"/>
              <a:gd name="T38" fmla="*/ 2147483647 w 1427"/>
              <a:gd name="T39" fmla="*/ 2147483647 h 1158"/>
              <a:gd name="T40" fmla="*/ 2147483647 w 1427"/>
              <a:gd name="T41" fmla="*/ 2147483647 h 1158"/>
              <a:gd name="T42" fmla="*/ 2147483647 w 1427"/>
              <a:gd name="T43" fmla="*/ 2147483647 h 1158"/>
              <a:gd name="T44" fmla="*/ 2147483647 w 1427"/>
              <a:gd name="T45" fmla="*/ 2147483647 h 1158"/>
              <a:gd name="T46" fmla="*/ 2147483647 w 1427"/>
              <a:gd name="T47" fmla="*/ 2147483647 h 1158"/>
              <a:gd name="T48" fmla="*/ 2147483647 w 1427"/>
              <a:gd name="T49" fmla="*/ 2147483647 h 1158"/>
              <a:gd name="T50" fmla="*/ 2147483647 w 1427"/>
              <a:gd name="T51" fmla="*/ 2147483647 h 1158"/>
              <a:gd name="T52" fmla="*/ 2147483647 w 1427"/>
              <a:gd name="T53" fmla="*/ 2147483647 h 1158"/>
              <a:gd name="T54" fmla="*/ 2147483647 w 1427"/>
              <a:gd name="T55" fmla="*/ 2147483647 h 1158"/>
              <a:gd name="T56" fmla="*/ 2147483647 w 1427"/>
              <a:gd name="T57" fmla="*/ 2147483647 h 1158"/>
              <a:gd name="T58" fmla="*/ 2147483647 w 1427"/>
              <a:gd name="T59" fmla="*/ 2147483647 h 1158"/>
              <a:gd name="T60" fmla="*/ 2147483647 w 1427"/>
              <a:gd name="T61" fmla="*/ 2147483647 h 1158"/>
              <a:gd name="T62" fmla="*/ 2147483647 w 1427"/>
              <a:gd name="T63" fmla="*/ 2147483647 h 1158"/>
              <a:gd name="T64" fmla="*/ 2147483647 w 1427"/>
              <a:gd name="T65" fmla="*/ 2147483647 h 1158"/>
              <a:gd name="T66" fmla="*/ 2147483647 w 1427"/>
              <a:gd name="T67" fmla="*/ 2147483647 h 1158"/>
              <a:gd name="T68" fmla="*/ 2147483647 w 1427"/>
              <a:gd name="T69" fmla="*/ 2147483647 h 1158"/>
              <a:gd name="T70" fmla="*/ 2147483647 w 1427"/>
              <a:gd name="T71" fmla="*/ 2147483647 h 1158"/>
              <a:gd name="T72" fmla="*/ 2147483647 w 1427"/>
              <a:gd name="T73" fmla="*/ 2147483647 h 1158"/>
              <a:gd name="T74" fmla="*/ 2147483647 w 1427"/>
              <a:gd name="T75" fmla="*/ 2147483647 h 1158"/>
              <a:gd name="T76" fmla="*/ 2147483647 w 1427"/>
              <a:gd name="T77" fmla="*/ 2147483647 h 1158"/>
              <a:gd name="T78" fmla="*/ 2147483647 w 1427"/>
              <a:gd name="T79" fmla="*/ 2147483647 h 1158"/>
              <a:gd name="T80" fmla="*/ 2147483647 w 1427"/>
              <a:gd name="T81" fmla="*/ 2147483647 h 1158"/>
              <a:gd name="T82" fmla="*/ 2147483647 w 1427"/>
              <a:gd name="T83" fmla="*/ 2147483647 h 1158"/>
              <a:gd name="T84" fmla="*/ 2147483647 w 1427"/>
              <a:gd name="T85" fmla="*/ 2147483647 h 1158"/>
              <a:gd name="T86" fmla="*/ 2147483647 w 1427"/>
              <a:gd name="T87" fmla="*/ 2147483647 h 1158"/>
              <a:gd name="T88" fmla="*/ 2147483647 w 1427"/>
              <a:gd name="T89" fmla="*/ 2147483647 h 1158"/>
              <a:gd name="T90" fmla="*/ 2147483647 w 1427"/>
              <a:gd name="T91" fmla="*/ 2147483647 h 1158"/>
              <a:gd name="T92" fmla="*/ 2147483647 w 1427"/>
              <a:gd name="T93" fmla="*/ 2147483647 h 1158"/>
              <a:gd name="T94" fmla="*/ 2147483647 w 1427"/>
              <a:gd name="T95" fmla="*/ 2147483647 h 1158"/>
              <a:gd name="T96" fmla="*/ 2147483647 w 1427"/>
              <a:gd name="T97" fmla="*/ 2147483647 h 1158"/>
              <a:gd name="T98" fmla="*/ 2147483647 w 1427"/>
              <a:gd name="T99" fmla="*/ 2147483647 h 1158"/>
              <a:gd name="T100" fmla="*/ 2147483647 w 1427"/>
              <a:gd name="T101" fmla="*/ 2147483647 h 1158"/>
              <a:gd name="T102" fmla="*/ 2147483647 w 1427"/>
              <a:gd name="T103" fmla="*/ 2147483647 h 1158"/>
              <a:gd name="T104" fmla="*/ 2147483647 w 1427"/>
              <a:gd name="T105" fmla="*/ 2147483647 h 1158"/>
              <a:gd name="T106" fmla="*/ 2147483647 w 1427"/>
              <a:gd name="T107" fmla="*/ 2147483647 h 1158"/>
              <a:gd name="T108" fmla="*/ 2147483647 w 1427"/>
              <a:gd name="T109" fmla="*/ 2147483647 h 115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427"/>
              <a:gd name="T166" fmla="*/ 0 h 1158"/>
              <a:gd name="T167" fmla="*/ 1427 w 1427"/>
              <a:gd name="T168" fmla="*/ 1158 h 1158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427" h="1158">
                <a:moveTo>
                  <a:pt x="1427" y="288"/>
                </a:moveTo>
                <a:lnTo>
                  <a:pt x="1427" y="0"/>
                </a:lnTo>
                <a:lnTo>
                  <a:pt x="0" y="0"/>
                </a:lnTo>
                <a:lnTo>
                  <a:pt x="1" y="1158"/>
                </a:lnTo>
                <a:lnTo>
                  <a:pt x="128" y="1158"/>
                </a:lnTo>
                <a:lnTo>
                  <a:pt x="134" y="1135"/>
                </a:lnTo>
                <a:lnTo>
                  <a:pt x="134" y="1119"/>
                </a:lnTo>
                <a:lnTo>
                  <a:pt x="130" y="1097"/>
                </a:lnTo>
                <a:lnTo>
                  <a:pt x="123" y="1074"/>
                </a:lnTo>
                <a:lnTo>
                  <a:pt x="115" y="1045"/>
                </a:lnTo>
                <a:lnTo>
                  <a:pt x="112" y="1023"/>
                </a:lnTo>
                <a:lnTo>
                  <a:pt x="111" y="1004"/>
                </a:lnTo>
                <a:lnTo>
                  <a:pt x="114" y="981"/>
                </a:lnTo>
                <a:lnTo>
                  <a:pt x="120" y="960"/>
                </a:lnTo>
                <a:lnTo>
                  <a:pt x="134" y="940"/>
                </a:lnTo>
                <a:lnTo>
                  <a:pt x="150" y="923"/>
                </a:lnTo>
                <a:lnTo>
                  <a:pt x="167" y="907"/>
                </a:lnTo>
                <a:lnTo>
                  <a:pt x="187" y="896"/>
                </a:lnTo>
                <a:lnTo>
                  <a:pt x="210" y="887"/>
                </a:lnTo>
                <a:lnTo>
                  <a:pt x="231" y="883"/>
                </a:lnTo>
                <a:lnTo>
                  <a:pt x="261" y="882"/>
                </a:lnTo>
                <a:lnTo>
                  <a:pt x="295" y="884"/>
                </a:lnTo>
                <a:lnTo>
                  <a:pt x="318" y="887"/>
                </a:lnTo>
                <a:lnTo>
                  <a:pt x="337" y="893"/>
                </a:lnTo>
                <a:lnTo>
                  <a:pt x="356" y="904"/>
                </a:lnTo>
                <a:lnTo>
                  <a:pt x="379" y="922"/>
                </a:lnTo>
                <a:lnTo>
                  <a:pt x="394" y="940"/>
                </a:lnTo>
                <a:lnTo>
                  <a:pt x="408" y="958"/>
                </a:lnTo>
                <a:lnTo>
                  <a:pt x="415" y="978"/>
                </a:lnTo>
                <a:lnTo>
                  <a:pt x="420" y="996"/>
                </a:lnTo>
                <a:lnTo>
                  <a:pt x="420" y="1017"/>
                </a:lnTo>
                <a:lnTo>
                  <a:pt x="417" y="1038"/>
                </a:lnTo>
                <a:lnTo>
                  <a:pt x="412" y="1058"/>
                </a:lnTo>
                <a:lnTo>
                  <a:pt x="408" y="1076"/>
                </a:lnTo>
                <a:lnTo>
                  <a:pt x="401" y="1096"/>
                </a:lnTo>
                <a:lnTo>
                  <a:pt x="398" y="1116"/>
                </a:lnTo>
                <a:lnTo>
                  <a:pt x="398" y="1133"/>
                </a:lnTo>
                <a:lnTo>
                  <a:pt x="403" y="1153"/>
                </a:lnTo>
                <a:lnTo>
                  <a:pt x="642" y="1153"/>
                </a:lnTo>
                <a:lnTo>
                  <a:pt x="639" y="1112"/>
                </a:lnTo>
                <a:lnTo>
                  <a:pt x="642" y="1082"/>
                </a:lnTo>
                <a:lnTo>
                  <a:pt x="642" y="1060"/>
                </a:lnTo>
                <a:lnTo>
                  <a:pt x="643" y="1039"/>
                </a:lnTo>
                <a:lnTo>
                  <a:pt x="645" y="1017"/>
                </a:lnTo>
                <a:lnTo>
                  <a:pt x="650" y="995"/>
                </a:lnTo>
                <a:lnTo>
                  <a:pt x="656" y="980"/>
                </a:lnTo>
                <a:lnTo>
                  <a:pt x="665" y="967"/>
                </a:lnTo>
                <a:lnTo>
                  <a:pt x="677" y="956"/>
                </a:lnTo>
                <a:lnTo>
                  <a:pt x="691" y="947"/>
                </a:lnTo>
                <a:lnTo>
                  <a:pt x="707" y="942"/>
                </a:lnTo>
                <a:lnTo>
                  <a:pt x="724" y="940"/>
                </a:lnTo>
                <a:lnTo>
                  <a:pt x="740" y="938"/>
                </a:lnTo>
                <a:lnTo>
                  <a:pt x="761" y="938"/>
                </a:lnTo>
                <a:lnTo>
                  <a:pt x="781" y="940"/>
                </a:lnTo>
                <a:lnTo>
                  <a:pt x="797" y="942"/>
                </a:lnTo>
                <a:lnTo>
                  <a:pt x="818" y="943"/>
                </a:lnTo>
                <a:lnTo>
                  <a:pt x="840" y="946"/>
                </a:lnTo>
                <a:lnTo>
                  <a:pt x="865" y="946"/>
                </a:lnTo>
                <a:lnTo>
                  <a:pt x="886" y="943"/>
                </a:lnTo>
                <a:lnTo>
                  <a:pt x="907" y="940"/>
                </a:lnTo>
                <a:lnTo>
                  <a:pt x="929" y="935"/>
                </a:lnTo>
                <a:lnTo>
                  <a:pt x="945" y="926"/>
                </a:lnTo>
                <a:lnTo>
                  <a:pt x="962" y="915"/>
                </a:lnTo>
                <a:lnTo>
                  <a:pt x="973" y="900"/>
                </a:lnTo>
                <a:lnTo>
                  <a:pt x="984" y="884"/>
                </a:lnTo>
                <a:lnTo>
                  <a:pt x="989" y="868"/>
                </a:lnTo>
                <a:lnTo>
                  <a:pt x="992" y="850"/>
                </a:lnTo>
                <a:lnTo>
                  <a:pt x="989" y="831"/>
                </a:lnTo>
                <a:lnTo>
                  <a:pt x="988" y="811"/>
                </a:lnTo>
                <a:lnTo>
                  <a:pt x="989" y="790"/>
                </a:lnTo>
                <a:lnTo>
                  <a:pt x="993" y="774"/>
                </a:lnTo>
                <a:lnTo>
                  <a:pt x="998" y="757"/>
                </a:lnTo>
                <a:lnTo>
                  <a:pt x="1005" y="741"/>
                </a:lnTo>
                <a:lnTo>
                  <a:pt x="1015" y="730"/>
                </a:lnTo>
                <a:lnTo>
                  <a:pt x="1031" y="719"/>
                </a:lnTo>
                <a:lnTo>
                  <a:pt x="1051" y="712"/>
                </a:lnTo>
                <a:lnTo>
                  <a:pt x="1071" y="705"/>
                </a:lnTo>
                <a:lnTo>
                  <a:pt x="1089" y="701"/>
                </a:lnTo>
                <a:lnTo>
                  <a:pt x="1109" y="696"/>
                </a:lnTo>
                <a:lnTo>
                  <a:pt x="1135" y="691"/>
                </a:lnTo>
                <a:lnTo>
                  <a:pt x="1154" y="687"/>
                </a:lnTo>
                <a:lnTo>
                  <a:pt x="1175" y="681"/>
                </a:lnTo>
                <a:lnTo>
                  <a:pt x="1193" y="675"/>
                </a:lnTo>
                <a:lnTo>
                  <a:pt x="1210" y="667"/>
                </a:lnTo>
                <a:lnTo>
                  <a:pt x="1223" y="657"/>
                </a:lnTo>
                <a:lnTo>
                  <a:pt x="1236" y="648"/>
                </a:lnTo>
                <a:lnTo>
                  <a:pt x="1249" y="632"/>
                </a:lnTo>
                <a:lnTo>
                  <a:pt x="1258" y="617"/>
                </a:lnTo>
                <a:lnTo>
                  <a:pt x="1265" y="599"/>
                </a:lnTo>
                <a:lnTo>
                  <a:pt x="1269" y="577"/>
                </a:lnTo>
                <a:lnTo>
                  <a:pt x="1266" y="559"/>
                </a:lnTo>
                <a:lnTo>
                  <a:pt x="1264" y="539"/>
                </a:lnTo>
                <a:lnTo>
                  <a:pt x="1258" y="516"/>
                </a:lnTo>
                <a:lnTo>
                  <a:pt x="1252" y="490"/>
                </a:lnTo>
                <a:lnTo>
                  <a:pt x="1246" y="466"/>
                </a:lnTo>
                <a:lnTo>
                  <a:pt x="1244" y="448"/>
                </a:lnTo>
                <a:lnTo>
                  <a:pt x="1244" y="431"/>
                </a:lnTo>
                <a:lnTo>
                  <a:pt x="1247" y="407"/>
                </a:lnTo>
                <a:lnTo>
                  <a:pt x="1253" y="388"/>
                </a:lnTo>
                <a:lnTo>
                  <a:pt x="1259" y="373"/>
                </a:lnTo>
                <a:lnTo>
                  <a:pt x="1268" y="358"/>
                </a:lnTo>
                <a:lnTo>
                  <a:pt x="1280" y="342"/>
                </a:lnTo>
                <a:lnTo>
                  <a:pt x="1294" y="326"/>
                </a:lnTo>
                <a:lnTo>
                  <a:pt x="1311" y="312"/>
                </a:lnTo>
                <a:lnTo>
                  <a:pt x="1329" y="301"/>
                </a:lnTo>
                <a:lnTo>
                  <a:pt x="1347" y="295"/>
                </a:lnTo>
                <a:lnTo>
                  <a:pt x="1364" y="290"/>
                </a:lnTo>
                <a:lnTo>
                  <a:pt x="1382" y="288"/>
                </a:lnTo>
                <a:lnTo>
                  <a:pt x="1405" y="288"/>
                </a:lnTo>
                <a:lnTo>
                  <a:pt x="1427" y="288"/>
                </a:lnTo>
                <a:close/>
              </a:path>
            </a:pathLst>
          </a:custGeom>
          <a:solidFill>
            <a:srgbClr val="008080"/>
          </a:solidFill>
          <a:ln w="31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24" name="Freeform 29"/>
          <p:cNvSpPr>
            <a:spLocks/>
          </p:cNvSpPr>
          <p:nvPr/>
        </p:nvSpPr>
        <p:spPr bwMode="auto">
          <a:xfrm>
            <a:off x="9423400" y="2838451"/>
            <a:ext cx="501650" cy="550863"/>
          </a:xfrm>
          <a:custGeom>
            <a:avLst/>
            <a:gdLst>
              <a:gd name="T0" fmla="*/ 2147483647 w 1583"/>
              <a:gd name="T1" fmla="*/ 2147483647 h 1734"/>
              <a:gd name="T2" fmla="*/ 2147483647 w 1583"/>
              <a:gd name="T3" fmla="*/ 2147483647 h 1734"/>
              <a:gd name="T4" fmla="*/ 2147483647 w 1583"/>
              <a:gd name="T5" fmla="*/ 2147483647 h 1734"/>
              <a:gd name="T6" fmla="*/ 2147483647 w 1583"/>
              <a:gd name="T7" fmla="*/ 2147483647 h 1734"/>
              <a:gd name="T8" fmla="*/ 2147483647 w 1583"/>
              <a:gd name="T9" fmla="*/ 2147483647 h 1734"/>
              <a:gd name="T10" fmla="*/ 2147483647 w 1583"/>
              <a:gd name="T11" fmla="*/ 2147483647 h 1734"/>
              <a:gd name="T12" fmla="*/ 2147483647 w 1583"/>
              <a:gd name="T13" fmla="*/ 2147483647 h 1734"/>
              <a:gd name="T14" fmla="*/ 2147483647 w 1583"/>
              <a:gd name="T15" fmla="*/ 2147483647 h 1734"/>
              <a:gd name="T16" fmla="*/ 2147483647 w 1583"/>
              <a:gd name="T17" fmla="*/ 2147483647 h 1734"/>
              <a:gd name="T18" fmla="*/ 2147483647 w 1583"/>
              <a:gd name="T19" fmla="*/ 2147483647 h 1734"/>
              <a:gd name="T20" fmla="*/ 2147483647 w 1583"/>
              <a:gd name="T21" fmla="*/ 2147483647 h 1734"/>
              <a:gd name="T22" fmla="*/ 2147483647 w 1583"/>
              <a:gd name="T23" fmla="*/ 2147483647 h 1734"/>
              <a:gd name="T24" fmla="*/ 2147483647 w 1583"/>
              <a:gd name="T25" fmla="*/ 2147483647 h 1734"/>
              <a:gd name="T26" fmla="*/ 2147483647 w 1583"/>
              <a:gd name="T27" fmla="*/ 2147483647 h 1734"/>
              <a:gd name="T28" fmla="*/ 2147483647 w 1583"/>
              <a:gd name="T29" fmla="*/ 2147483647 h 1734"/>
              <a:gd name="T30" fmla="*/ 2147483647 w 1583"/>
              <a:gd name="T31" fmla="*/ 2147483647 h 1734"/>
              <a:gd name="T32" fmla="*/ 2147483647 w 1583"/>
              <a:gd name="T33" fmla="*/ 2147483647 h 1734"/>
              <a:gd name="T34" fmla="*/ 2147483647 w 1583"/>
              <a:gd name="T35" fmla="*/ 2147483647 h 1734"/>
              <a:gd name="T36" fmla="*/ 2147483647 w 1583"/>
              <a:gd name="T37" fmla="*/ 2147483647 h 1734"/>
              <a:gd name="T38" fmla="*/ 2147483647 w 1583"/>
              <a:gd name="T39" fmla="*/ 2147483647 h 1734"/>
              <a:gd name="T40" fmla="*/ 2147483647 w 1583"/>
              <a:gd name="T41" fmla="*/ 2147483647 h 1734"/>
              <a:gd name="T42" fmla="*/ 2147483647 w 1583"/>
              <a:gd name="T43" fmla="*/ 2147483647 h 1734"/>
              <a:gd name="T44" fmla="*/ 2147483647 w 1583"/>
              <a:gd name="T45" fmla="*/ 2147483647 h 1734"/>
              <a:gd name="T46" fmla="*/ 2147483647 w 1583"/>
              <a:gd name="T47" fmla="*/ 2147483647 h 1734"/>
              <a:gd name="T48" fmla="*/ 2147483647 w 1583"/>
              <a:gd name="T49" fmla="*/ 2147483647 h 1734"/>
              <a:gd name="T50" fmla="*/ 2147483647 w 1583"/>
              <a:gd name="T51" fmla="*/ 2147483647 h 1734"/>
              <a:gd name="T52" fmla="*/ 2147483647 w 1583"/>
              <a:gd name="T53" fmla="*/ 2147483647 h 1734"/>
              <a:gd name="T54" fmla="*/ 2147483647 w 1583"/>
              <a:gd name="T55" fmla="*/ 2147483647 h 1734"/>
              <a:gd name="T56" fmla="*/ 2147483647 w 1583"/>
              <a:gd name="T57" fmla="*/ 2147483647 h 1734"/>
              <a:gd name="T58" fmla="*/ 2147483647 w 1583"/>
              <a:gd name="T59" fmla="*/ 2147483647 h 1734"/>
              <a:gd name="T60" fmla="*/ 2147483647 w 1583"/>
              <a:gd name="T61" fmla="*/ 2147483647 h 1734"/>
              <a:gd name="T62" fmla="*/ 2147483647 w 1583"/>
              <a:gd name="T63" fmla="*/ 2147483647 h 1734"/>
              <a:gd name="T64" fmla="*/ 2147483647 w 1583"/>
              <a:gd name="T65" fmla="*/ 2147483647 h 1734"/>
              <a:gd name="T66" fmla="*/ 2147483647 w 1583"/>
              <a:gd name="T67" fmla="*/ 2147483647 h 1734"/>
              <a:gd name="T68" fmla="*/ 2147483647 w 1583"/>
              <a:gd name="T69" fmla="*/ 2147483647 h 1734"/>
              <a:gd name="T70" fmla="*/ 2147483647 w 1583"/>
              <a:gd name="T71" fmla="*/ 2147483647 h 1734"/>
              <a:gd name="T72" fmla="*/ 2147483647 w 1583"/>
              <a:gd name="T73" fmla="*/ 2147483647 h 1734"/>
              <a:gd name="T74" fmla="*/ 2147483647 w 1583"/>
              <a:gd name="T75" fmla="*/ 2147483647 h 1734"/>
              <a:gd name="T76" fmla="*/ 2147483647 w 1583"/>
              <a:gd name="T77" fmla="*/ 2147483647 h 1734"/>
              <a:gd name="T78" fmla="*/ 2147483647 w 1583"/>
              <a:gd name="T79" fmla="*/ 2147483647 h 1734"/>
              <a:gd name="T80" fmla="*/ 2147483647 w 1583"/>
              <a:gd name="T81" fmla="*/ 2147483647 h 1734"/>
              <a:gd name="T82" fmla="*/ 2147483647 w 1583"/>
              <a:gd name="T83" fmla="*/ 2147483647 h 1734"/>
              <a:gd name="T84" fmla="*/ 2147483647 w 1583"/>
              <a:gd name="T85" fmla="*/ 2147483647 h 1734"/>
              <a:gd name="T86" fmla="*/ 2147483647 w 1583"/>
              <a:gd name="T87" fmla="*/ 2147483647 h 1734"/>
              <a:gd name="T88" fmla="*/ 2147483647 w 1583"/>
              <a:gd name="T89" fmla="*/ 2147483647 h 1734"/>
              <a:gd name="T90" fmla="*/ 2147483647 w 1583"/>
              <a:gd name="T91" fmla="*/ 2147483647 h 1734"/>
              <a:gd name="T92" fmla="*/ 2147483647 w 1583"/>
              <a:gd name="T93" fmla="*/ 2147483647 h 1734"/>
              <a:gd name="T94" fmla="*/ 2147483647 w 1583"/>
              <a:gd name="T95" fmla="*/ 2147483647 h 1734"/>
              <a:gd name="T96" fmla="*/ 2147483647 w 1583"/>
              <a:gd name="T97" fmla="*/ 2147483647 h 1734"/>
              <a:gd name="T98" fmla="*/ 2147483647 w 1583"/>
              <a:gd name="T99" fmla="*/ 2147483647 h 1734"/>
              <a:gd name="T100" fmla="*/ 2147483647 w 1583"/>
              <a:gd name="T101" fmla="*/ 2147483647 h 1734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w 1583"/>
              <a:gd name="T154" fmla="*/ 0 h 1734"/>
              <a:gd name="T155" fmla="*/ 1583 w 1583"/>
              <a:gd name="T156" fmla="*/ 1734 h 1734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T153" t="T154" r="T155" b="T156"/>
            <a:pathLst>
              <a:path w="1583" h="1734">
                <a:moveTo>
                  <a:pt x="603" y="363"/>
                </a:moveTo>
                <a:lnTo>
                  <a:pt x="619" y="343"/>
                </a:lnTo>
                <a:lnTo>
                  <a:pt x="630" y="324"/>
                </a:lnTo>
                <a:lnTo>
                  <a:pt x="636" y="303"/>
                </a:lnTo>
                <a:lnTo>
                  <a:pt x="636" y="276"/>
                </a:lnTo>
                <a:lnTo>
                  <a:pt x="629" y="246"/>
                </a:lnTo>
                <a:lnTo>
                  <a:pt x="623" y="220"/>
                </a:lnTo>
                <a:lnTo>
                  <a:pt x="614" y="188"/>
                </a:lnTo>
                <a:lnTo>
                  <a:pt x="610" y="153"/>
                </a:lnTo>
                <a:lnTo>
                  <a:pt x="614" y="132"/>
                </a:lnTo>
                <a:lnTo>
                  <a:pt x="620" y="106"/>
                </a:lnTo>
                <a:lnTo>
                  <a:pt x="633" y="79"/>
                </a:lnTo>
                <a:lnTo>
                  <a:pt x="650" y="53"/>
                </a:lnTo>
                <a:lnTo>
                  <a:pt x="672" y="32"/>
                </a:lnTo>
                <a:lnTo>
                  <a:pt x="692" y="16"/>
                </a:lnTo>
                <a:lnTo>
                  <a:pt x="719" y="7"/>
                </a:lnTo>
                <a:lnTo>
                  <a:pt x="751" y="2"/>
                </a:lnTo>
                <a:lnTo>
                  <a:pt x="785" y="0"/>
                </a:lnTo>
                <a:lnTo>
                  <a:pt x="832" y="0"/>
                </a:lnTo>
                <a:lnTo>
                  <a:pt x="869" y="4"/>
                </a:lnTo>
                <a:lnTo>
                  <a:pt x="890" y="11"/>
                </a:lnTo>
                <a:lnTo>
                  <a:pt x="906" y="21"/>
                </a:lnTo>
                <a:lnTo>
                  <a:pt x="923" y="32"/>
                </a:lnTo>
                <a:lnTo>
                  <a:pt x="941" y="50"/>
                </a:lnTo>
                <a:lnTo>
                  <a:pt x="957" y="72"/>
                </a:lnTo>
                <a:lnTo>
                  <a:pt x="969" y="92"/>
                </a:lnTo>
                <a:lnTo>
                  <a:pt x="975" y="109"/>
                </a:lnTo>
                <a:lnTo>
                  <a:pt x="980" y="138"/>
                </a:lnTo>
                <a:lnTo>
                  <a:pt x="980" y="164"/>
                </a:lnTo>
                <a:lnTo>
                  <a:pt x="976" y="190"/>
                </a:lnTo>
                <a:lnTo>
                  <a:pt x="971" y="210"/>
                </a:lnTo>
                <a:lnTo>
                  <a:pt x="965" y="242"/>
                </a:lnTo>
                <a:lnTo>
                  <a:pt x="957" y="275"/>
                </a:lnTo>
                <a:lnTo>
                  <a:pt x="953" y="296"/>
                </a:lnTo>
                <a:lnTo>
                  <a:pt x="959" y="317"/>
                </a:lnTo>
                <a:lnTo>
                  <a:pt x="967" y="332"/>
                </a:lnTo>
                <a:lnTo>
                  <a:pt x="980" y="351"/>
                </a:lnTo>
                <a:lnTo>
                  <a:pt x="1000" y="367"/>
                </a:lnTo>
                <a:lnTo>
                  <a:pt x="1018" y="381"/>
                </a:lnTo>
                <a:lnTo>
                  <a:pt x="1045" y="392"/>
                </a:lnTo>
                <a:lnTo>
                  <a:pt x="1073" y="400"/>
                </a:lnTo>
                <a:lnTo>
                  <a:pt x="1098" y="406"/>
                </a:lnTo>
                <a:lnTo>
                  <a:pt x="1125" y="409"/>
                </a:lnTo>
                <a:lnTo>
                  <a:pt x="1154" y="417"/>
                </a:lnTo>
                <a:lnTo>
                  <a:pt x="1176" y="424"/>
                </a:lnTo>
                <a:lnTo>
                  <a:pt x="1193" y="433"/>
                </a:lnTo>
                <a:lnTo>
                  <a:pt x="1207" y="443"/>
                </a:lnTo>
                <a:lnTo>
                  <a:pt x="1217" y="454"/>
                </a:lnTo>
                <a:lnTo>
                  <a:pt x="1224" y="467"/>
                </a:lnTo>
                <a:lnTo>
                  <a:pt x="1230" y="483"/>
                </a:lnTo>
                <a:lnTo>
                  <a:pt x="1233" y="498"/>
                </a:lnTo>
                <a:lnTo>
                  <a:pt x="1235" y="512"/>
                </a:lnTo>
                <a:lnTo>
                  <a:pt x="1235" y="530"/>
                </a:lnTo>
                <a:lnTo>
                  <a:pt x="1233" y="551"/>
                </a:lnTo>
                <a:lnTo>
                  <a:pt x="1233" y="567"/>
                </a:lnTo>
                <a:lnTo>
                  <a:pt x="1236" y="587"/>
                </a:lnTo>
                <a:lnTo>
                  <a:pt x="1245" y="604"/>
                </a:lnTo>
                <a:lnTo>
                  <a:pt x="1255" y="619"/>
                </a:lnTo>
                <a:lnTo>
                  <a:pt x="1267" y="630"/>
                </a:lnTo>
                <a:lnTo>
                  <a:pt x="1283" y="642"/>
                </a:lnTo>
                <a:lnTo>
                  <a:pt x="1299" y="650"/>
                </a:lnTo>
                <a:lnTo>
                  <a:pt x="1324" y="655"/>
                </a:lnTo>
                <a:lnTo>
                  <a:pt x="1345" y="657"/>
                </a:lnTo>
                <a:lnTo>
                  <a:pt x="1365" y="658"/>
                </a:lnTo>
                <a:lnTo>
                  <a:pt x="1387" y="657"/>
                </a:lnTo>
                <a:lnTo>
                  <a:pt x="1414" y="655"/>
                </a:lnTo>
                <a:lnTo>
                  <a:pt x="1435" y="653"/>
                </a:lnTo>
                <a:lnTo>
                  <a:pt x="1456" y="651"/>
                </a:lnTo>
                <a:lnTo>
                  <a:pt x="1475" y="650"/>
                </a:lnTo>
                <a:lnTo>
                  <a:pt x="1499" y="651"/>
                </a:lnTo>
                <a:lnTo>
                  <a:pt x="1511" y="653"/>
                </a:lnTo>
                <a:lnTo>
                  <a:pt x="1526" y="657"/>
                </a:lnTo>
                <a:lnTo>
                  <a:pt x="1540" y="664"/>
                </a:lnTo>
                <a:lnTo>
                  <a:pt x="1554" y="675"/>
                </a:lnTo>
                <a:lnTo>
                  <a:pt x="1565" y="688"/>
                </a:lnTo>
                <a:lnTo>
                  <a:pt x="1574" y="706"/>
                </a:lnTo>
                <a:lnTo>
                  <a:pt x="1578" y="722"/>
                </a:lnTo>
                <a:lnTo>
                  <a:pt x="1580" y="742"/>
                </a:lnTo>
                <a:lnTo>
                  <a:pt x="1583" y="778"/>
                </a:lnTo>
                <a:lnTo>
                  <a:pt x="1581" y="820"/>
                </a:lnTo>
                <a:lnTo>
                  <a:pt x="1583" y="864"/>
                </a:lnTo>
                <a:lnTo>
                  <a:pt x="1579" y="916"/>
                </a:lnTo>
                <a:lnTo>
                  <a:pt x="1575" y="951"/>
                </a:lnTo>
                <a:lnTo>
                  <a:pt x="1572" y="980"/>
                </a:lnTo>
                <a:lnTo>
                  <a:pt x="1565" y="996"/>
                </a:lnTo>
                <a:lnTo>
                  <a:pt x="1556" y="1011"/>
                </a:lnTo>
                <a:lnTo>
                  <a:pt x="1544" y="1020"/>
                </a:lnTo>
                <a:lnTo>
                  <a:pt x="1530" y="1029"/>
                </a:lnTo>
                <a:lnTo>
                  <a:pt x="1512" y="1034"/>
                </a:lnTo>
                <a:lnTo>
                  <a:pt x="1498" y="1038"/>
                </a:lnTo>
                <a:lnTo>
                  <a:pt x="1467" y="1039"/>
                </a:lnTo>
                <a:lnTo>
                  <a:pt x="1440" y="1038"/>
                </a:lnTo>
                <a:lnTo>
                  <a:pt x="1418" y="1034"/>
                </a:lnTo>
                <a:lnTo>
                  <a:pt x="1398" y="1033"/>
                </a:lnTo>
                <a:lnTo>
                  <a:pt x="1376" y="1031"/>
                </a:lnTo>
                <a:lnTo>
                  <a:pt x="1356" y="1031"/>
                </a:lnTo>
                <a:lnTo>
                  <a:pt x="1339" y="1033"/>
                </a:lnTo>
                <a:lnTo>
                  <a:pt x="1320" y="1034"/>
                </a:lnTo>
                <a:lnTo>
                  <a:pt x="1298" y="1040"/>
                </a:lnTo>
                <a:lnTo>
                  <a:pt x="1286" y="1045"/>
                </a:lnTo>
                <a:lnTo>
                  <a:pt x="1275" y="1050"/>
                </a:lnTo>
                <a:lnTo>
                  <a:pt x="1260" y="1060"/>
                </a:lnTo>
                <a:lnTo>
                  <a:pt x="1250" y="1072"/>
                </a:lnTo>
                <a:lnTo>
                  <a:pt x="1243" y="1083"/>
                </a:lnTo>
                <a:lnTo>
                  <a:pt x="1235" y="1097"/>
                </a:lnTo>
                <a:lnTo>
                  <a:pt x="1231" y="1110"/>
                </a:lnTo>
                <a:lnTo>
                  <a:pt x="1230" y="1125"/>
                </a:lnTo>
                <a:lnTo>
                  <a:pt x="1231" y="1141"/>
                </a:lnTo>
                <a:lnTo>
                  <a:pt x="1231" y="1168"/>
                </a:lnTo>
                <a:lnTo>
                  <a:pt x="1230" y="1197"/>
                </a:lnTo>
                <a:lnTo>
                  <a:pt x="1223" y="1217"/>
                </a:lnTo>
                <a:lnTo>
                  <a:pt x="1215" y="1235"/>
                </a:lnTo>
                <a:lnTo>
                  <a:pt x="1204" y="1247"/>
                </a:lnTo>
                <a:lnTo>
                  <a:pt x="1188" y="1257"/>
                </a:lnTo>
                <a:lnTo>
                  <a:pt x="1172" y="1266"/>
                </a:lnTo>
                <a:lnTo>
                  <a:pt x="1154" y="1270"/>
                </a:lnTo>
                <a:lnTo>
                  <a:pt x="1130" y="1275"/>
                </a:lnTo>
                <a:lnTo>
                  <a:pt x="1111" y="1282"/>
                </a:lnTo>
                <a:lnTo>
                  <a:pt x="1087" y="1285"/>
                </a:lnTo>
                <a:lnTo>
                  <a:pt x="1068" y="1289"/>
                </a:lnTo>
                <a:lnTo>
                  <a:pt x="1045" y="1294"/>
                </a:lnTo>
                <a:lnTo>
                  <a:pt x="1028" y="1302"/>
                </a:lnTo>
                <a:lnTo>
                  <a:pt x="1008" y="1311"/>
                </a:lnTo>
                <a:lnTo>
                  <a:pt x="990" y="1322"/>
                </a:lnTo>
                <a:lnTo>
                  <a:pt x="976" y="1337"/>
                </a:lnTo>
                <a:lnTo>
                  <a:pt x="964" y="1354"/>
                </a:lnTo>
                <a:lnTo>
                  <a:pt x="954" y="1375"/>
                </a:lnTo>
                <a:lnTo>
                  <a:pt x="952" y="1394"/>
                </a:lnTo>
                <a:lnTo>
                  <a:pt x="953" y="1415"/>
                </a:lnTo>
                <a:lnTo>
                  <a:pt x="957" y="1434"/>
                </a:lnTo>
                <a:lnTo>
                  <a:pt x="963" y="1455"/>
                </a:lnTo>
                <a:lnTo>
                  <a:pt x="968" y="1479"/>
                </a:lnTo>
                <a:lnTo>
                  <a:pt x="971" y="1500"/>
                </a:lnTo>
                <a:lnTo>
                  <a:pt x="976" y="1527"/>
                </a:lnTo>
                <a:lnTo>
                  <a:pt x="976" y="1554"/>
                </a:lnTo>
                <a:lnTo>
                  <a:pt x="970" y="1581"/>
                </a:lnTo>
                <a:lnTo>
                  <a:pt x="964" y="1602"/>
                </a:lnTo>
                <a:lnTo>
                  <a:pt x="957" y="1623"/>
                </a:lnTo>
                <a:lnTo>
                  <a:pt x="947" y="1643"/>
                </a:lnTo>
                <a:lnTo>
                  <a:pt x="933" y="1667"/>
                </a:lnTo>
                <a:lnTo>
                  <a:pt x="918" y="1683"/>
                </a:lnTo>
                <a:lnTo>
                  <a:pt x="906" y="1694"/>
                </a:lnTo>
                <a:lnTo>
                  <a:pt x="890" y="1708"/>
                </a:lnTo>
                <a:lnTo>
                  <a:pt x="873" y="1720"/>
                </a:lnTo>
                <a:lnTo>
                  <a:pt x="857" y="1726"/>
                </a:lnTo>
                <a:lnTo>
                  <a:pt x="842" y="1730"/>
                </a:lnTo>
                <a:lnTo>
                  <a:pt x="817" y="1732"/>
                </a:lnTo>
                <a:lnTo>
                  <a:pt x="789" y="1734"/>
                </a:lnTo>
                <a:lnTo>
                  <a:pt x="755" y="1732"/>
                </a:lnTo>
                <a:lnTo>
                  <a:pt x="739" y="1732"/>
                </a:lnTo>
                <a:lnTo>
                  <a:pt x="718" y="1729"/>
                </a:lnTo>
                <a:lnTo>
                  <a:pt x="695" y="1723"/>
                </a:lnTo>
                <a:lnTo>
                  <a:pt x="676" y="1711"/>
                </a:lnTo>
                <a:lnTo>
                  <a:pt x="663" y="1702"/>
                </a:lnTo>
                <a:lnTo>
                  <a:pt x="650" y="1688"/>
                </a:lnTo>
                <a:lnTo>
                  <a:pt x="639" y="1676"/>
                </a:lnTo>
                <a:lnTo>
                  <a:pt x="628" y="1660"/>
                </a:lnTo>
                <a:lnTo>
                  <a:pt x="619" y="1644"/>
                </a:lnTo>
                <a:lnTo>
                  <a:pt x="612" y="1624"/>
                </a:lnTo>
                <a:lnTo>
                  <a:pt x="608" y="1603"/>
                </a:lnTo>
                <a:lnTo>
                  <a:pt x="607" y="1587"/>
                </a:lnTo>
                <a:lnTo>
                  <a:pt x="607" y="1565"/>
                </a:lnTo>
                <a:lnTo>
                  <a:pt x="608" y="1546"/>
                </a:lnTo>
                <a:lnTo>
                  <a:pt x="614" y="1527"/>
                </a:lnTo>
                <a:lnTo>
                  <a:pt x="619" y="1503"/>
                </a:lnTo>
                <a:lnTo>
                  <a:pt x="625" y="1481"/>
                </a:lnTo>
                <a:lnTo>
                  <a:pt x="629" y="1461"/>
                </a:lnTo>
                <a:lnTo>
                  <a:pt x="630" y="1443"/>
                </a:lnTo>
                <a:lnTo>
                  <a:pt x="629" y="1428"/>
                </a:lnTo>
                <a:lnTo>
                  <a:pt x="625" y="1413"/>
                </a:lnTo>
                <a:lnTo>
                  <a:pt x="615" y="1395"/>
                </a:lnTo>
                <a:lnTo>
                  <a:pt x="605" y="1383"/>
                </a:lnTo>
                <a:lnTo>
                  <a:pt x="593" y="1369"/>
                </a:lnTo>
                <a:lnTo>
                  <a:pt x="580" y="1359"/>
                </a:lnTo>
                <a:lnTo>
                  <a:pt x="566" y="1349"/>
                </a:lnTo>
                <a:lnTo>
                  <a:pt x="546" y="1342"/>
                </a:lnTo>
                <a:lnTo>
                  <a:pt x="529" y="1337"/>
                </a:lnTo>
                <a:lnTo>
                  <a:pt x="507" y="1332"/>
                </a:lnTo>
                <a:lnTo>
                  <a:pt x="487" y="1330"/>
                </a:lnTo>
                <a:lnTo>
                  <a:pt x="469" y="1325"/>
                </a:lnTo>
                <a:lnTo>
                  <a:pt x="446" y="1320"/>
                </a:lnTo>
                <a:lnTo>
                  <a:pt x="428" y="1312"/>
                </a:lnTo>
                <a:lnTo>
                  <a:pt x="406" y="1306"/>
                </a:lnTo>
                <a:lnTo>
                  <a:pt x="389" y="1299"/>
                </a:lnTo>
                <a:lnTo>
                  <a:pt x="375" y="1288"/>
                </a:lnTo>
                <a:lnTo>
                  <a:pt x="364" y="1273"/>
                </a:lnTo>
                <a:lnTo>
                  <a:pt x="357" y="1254"/>
                </a:lnTo>
                <a:lnTo>
                  <a:pt x="350" y="1230"/>
                </a:lnTo>
                <a:lnTo>
                  <a:pt x="349" y="1210"/>
                </a:lnTo>
                <a:lnTo>
                  <a:pt x="350" y="1188"/>
                </a:lnTo>
                <a:lnTo>
                  <a:pt x="353" y="1171"/>
                </a:lnTo>
                <a:lnTo>
                  <a:pt x="350" y="1150"/>
                </a:lnTo>
                <a:lnTo>
                  <a:pt x="344" y="1134"/>
                </a:lnTo>
                <a:lnTo>
                  <a:pt x="333" y="1116"/>
                </a:lnTo>
                <a:lnTo>
                  <a:pt x="322" y="1105"/>
                </a:lnTo>
                <a:lnTo>
                  <a:pt x="308" y="1094"/>
                </a:lnTo>
                <a:lnTo>
                  <a:pt x="290" y="1087"/>
                </a:lnTo>
                <a:lnTo>
                  <a:pt x="269" y="1080"/>
                </a:lnTo>
                <a:lnTo>
                  <a:pt x="247" y="1077"/>
                </a:lnTo>
                <a:lnTo>
                  <a:pt x="228" y="1075"/>
                </a:lnTo>
                <a:lnTo>
                  <a:pt x="207" y="1075"/>
                </a:lnTo>
                <a:lnTo>
                  <a:pt x="189" y="1077"/>
                </a:lnTo>
                <a:lnTo>
                  <a:pt x="170" y="1078"/>
                </a:lnTo>
                <a:lnTo>
                  <a:pt x="152" y="1081"/>
                </a:lnTo>
                <a:lnTo>
                  <a:pt x="133" y="1083"/>
                </a:lnTo>
                <a:lnTo>
                  <a:pt x="103" y="1083"/>
                </a:lnTo>
                <a:lnTo>
                  <a:pt x="83" y="1082"/>
                </a:lnTo>
                <a:lnTo>
                  <a:pt x="62" y="1077"/>
                </a:lnTo>
                <a:lnTo>
                  <a:pt x="47" y="1070"/>
                </a:lnTo>
                <a:lnTo>
                  <a:pt x="31" y="1057"/>
                </a:lnTo>
                <a:lnTo>
                  <a:pt x="20" y="1044"/>
                </a:lnTo>
                <a:lnTo>
                  <a:pt x="13" y="1029"/>
                </a:lnTo>
                <a:lnTo>
                  <a:pt x="4" y="1001"/>
                </a:lnTo>
                <a:lnTo>
                  <a:pt x="3" y="971"/>
                </a:lnTo>
                <a:lnTo>
                  <a:pt x="2" y="942"/>
                </a:lnTo>
                <a:lnTo>
                  <a:pt x="0" y="905"/>
                </a:lnTo>
                <a:lnTo>
                  <a:pt x="3" y="873"/>
                </a:lnTo>
                <a:lnTo>
                  <a:pt x="4" y="838"/>
                </a:lnTo>
                <a:lnTo>
                  <a:pt x="5" y="807"/>
                </a:lnTo>
                <a:lnTo>
                  <a:pt x="8" y="775"/>
                </a:lnTo>
                <a:lnTo>
                  <a:pt x="11" y="751"/>
                </a:lnTo>
                <a:lnTo>
                  <a:pt x="15" y="723"/>
                </a:lnTo>
                <a:lnTo>
                  <a:pt x="20" y="703"/>
                </a:lnTo>
                <a:lnTo>
                  <a:pt x="27" y="689"/>
                </a:lnTo>
                <a:lnTo>
                  <a:pt x="39" y="675"/>
                </a:lnTo>
                <a:lnTo>
                  <a:pt x="50" y="667"/>
                </a:lnTo>
                <a:lnTo>
                  <a:pt x="64" y="657"/>
                </a:lnTo>
                <a:lnTo>
                  <a:pt x="78" y="655"/>
                </a:lnTo>
                <a:lnTo>
                  <a:pt x="95" y="651"/>
                </a:lnTo>
                <a:lnTo>
                  <a:pt x="117" y="650"/>
                </a:lnTo>
                <a:lnTo>
                  <a:pt x="137" y="651"/>
                </a:lnTo>
                <a:lnTo>
                  <a:pt x="164" y="655"/>
                </a:lnTo>
                <a:lnTo>
                  <a:pt x="188" y="656"/>
                </a:lnTo>
                <a:lnTo>
                  <a:pt x="207" y="657"/>
                </a:lnTo>
                <a:lnTo>
                  <a:pt x="235" y="658"/>
                </a:lnTo>
                <a:lnTo>
                  <a:pt x="263" y="655"/>
                </a:lnTo>
                <a:lnTo>
                  <a:pt x="286" y="650"/>
                </a:lnTo>
                <a:lnTo>
                  <a:pt x="308" y="641"/>
                </a:lnTo>
                <a:lnTo>
                  <a:pt x="323" y="632"/>
                </a:lnTo>
                <a:lnTo>
                  <a:pt x="338" y="619"/>
                </a:lnTo>
                <a:lnTo>
                  <a:pt x="349" y="602"/>
                </a:lnTo>
                <a:lnTo>
                  <a:pt x="357" y="584"/>
                </a:lnTo>
                <a:lnTo>
                  <a:pt x="359" y="566"/>
                </a:lnTo>
                <a:lnTo>
                  <a:pt x="358" y="552"/>
                </a:lnTo>
                <a:lnTo>
                  <a:pt x="357" y="526"/>
                </a:lnTo>
                <a:lnTo>
                  <a:pt x="358" y="501"/>
                </a:lnTo>
                <a:lnTo>
                  <a:pt x="363" y="481"/>
                </a:lnTo>
                <a:lnTo>
                  <a:pt x="369" y="462"/>
                </a:lnTo>
                <a:lnTo>
                  <a:pt x="377" y="449"/>
                </a:lnTo>
                <a:lnTo>
                  <a:pt x="395" y="435"/>
                </a:lnTo>
                <a:lnTo>
                  <a:pt x="413" y="425"/>
                </a:lnTo>
                <a:lnTo>
                  <a:pt x="437" y="418"/>
                </a:lnTo>
                <a:lnTo>
                  <a:pt x="460" y="412"/>
                </a:lnTo>
                <a:lnTo>
                  <a:pt x="480" y="407"/>
                </a:lnTo>
                <a:lnTo>
                  <a:pt x="504" y="403"/>
                </a:lnTo>
                <a:lnTo>
                  <a:pt x="528" y="398"/>
                </a:lnTo>
                <a:lnTo>
                  <a:pt x="555" y="391"/>
                </a:lnTo>
                <a:lnTo>
                  <a:pt x="581" y="380"/>
                </a:lnTo>
                <a:lnTo>
                  <a:pt x="603" y="363"/>
                </a:lnTo>
                <a:close/>
              </a:path>
            </a:pathLst>
          </a:custGeom>
          <a:solidFill>
            <a:srgbClr val="FFFF00"/>
          </a:solidFill>
          <a:ln w="31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25" name="AutoShape 14"/>
          <p:cNvSpPr>
            <a:spLocks noChangeArrowheads="1"/>
          </p:cNvSpPr>
          <p:nvPr/>
        </p:nvSpPr>
        <p:spPr bwMode="auto">
          <a:xfrm>
            <a:off x="3429000" y="304800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rgbClr val="008000"/>
          </a:solidFill>
          <a:ln w="12700" cap="sq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7426" name="AutoShape 16"/>
          <p:cNvSpPr>
            <a:spLocks noChangeArrowheads="1"/>
          </p:cNvSpPr>
          <p:nvPr/>
        </p:nvSpPr>
        <p:spPr bwMode="auto">
          <a:xfrm>
            <a:off x="5181600" y="304800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rgbClr val="008000"/>
          </a:solidFill>
          <a:ln w="12700" cap="sq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7427" name="AutoShape 17"/>
          <p:cNvSpPr>
            <a:spLocks noChangeArrowheads="1"/>
          </p:cNvSpPr>
          <p:nvPr/>
        </p:nvSpPr>
        <p:spPr bwMode="auto">
          <a:xfrm>
            <a:off x="6400800" y="304800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rgbClr val="008000"/>
          </a:solidFill>
          <a:ln w="12700" cap="sq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7428" name="AutoShape 18"/>
          <p:cNvSpPr>
            <a:spLocks noChangeArrowheads="1"/>
          </p:cNvSpPr>
          <p:nvPr/>
        </p:nvSpPr>
        <p:spPr bwMode="auto">
          <a:xfrm>
            <a:off x="8686800" y="304800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rgbClr val="008000"/>
          </a:solidFill>
          <a:ln w="12700" cap="sq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7429" name="Rectangle 19"/>
          <p:cNvSpPr>
            <a:spLocks noGrp="1" noChangeArrowheads="1"/>
          </p:cNvSpPr>
          <p:nvPr>
            <p:ph type="body" idx="1"/>
          </p:nvPr>
        </p:nvSpPr>
        <p:spPr>
          <a:xfrm>
            <a:off x="1981200" y="4191000"/>
            <a:ext cx="1447800" cy="1905000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/>
              <a:t>Purchase History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/>
              <a:t>Point of Sale Data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400"/>
              <a:t>Survey data</a:t>
            </a:r>
            <a:endParaRPr lang="en-US" altLang="ko-KR" sz="1200"/>
          </a:p>
        </p:txBody>
      </p:sp>
      <p:sp>
        <p:nvSpPr>
          <p:cNvPr id="17430" name="Text Box 20"/>
          <p:cNvSpPr txBox="1">
            <a:spLocks noChangeArrowheads="1"/>
          </p:cNvSpPr>
          <p:nvPr/>
        </p:nvSpPr>
        <p:spPr bwMode="auto">
          <a:xfrm>
            <a:off x="3505200" y="3886200"/>
            <a:ext cx="1665288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/>
            <a:r>
              <a:rPr kumimoji="1" lang="en-US" altLang="ko-KR" sz="1400">
                <a:solidFill>
                  <a:srgbClr val="000099"/>
                </a:solidFill>
                <a:latin typeface="Arial" panose="020B0604020202020204" pitchFamily="34" charset="0"/>
              </a:rPr>
              <a:t>Customers that</a:t>
            </a:r>
            <a:r>
              <a:rPr kumimoji="1" lang="ko-KR" altLang="en-US" sz="1400">
                <a:solidFill>
                  <a:srgbClr val="000099"/>
                </a:solidFill>
                <a:latin typeface="Arial" panose="020B0604020202020204" pitchFamily="34" charset="0"/>
              </a:rPr>
              <a:t> </a:t>
            </a:r>
            <a:endParaRPr kumimoji="1" lang="en-US" altLang="ko-KR" sz="140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pPr algn="l" eaLnBrk="1" latinLnBrk="1" hangingPunct="1"/>
            <a:r>
              <a:rPr kumimoji="1" lang="en-US" altLang="ko-KR" sz="1400">
                <a:solidFill>
                  <a:srgbClr val="000099"/>
                </a:solidFill>
                <a:latin typeface="Arial" panose="020B0604020202020204" pitchFamily="34" charset="0"/>
              </a:rPr>
              <a:t>Purchased frozen</a:t>
            </a:r>
          </a:p>
          <a:p>
            <a:pPr algn="l" eaLnBrk="1" latinLnBrk="1" hangingPunct="1"/>
            <a:r>
              <a:rPr kumimoji="1" lang="en-US" altLang="ko-KR" sz="1400">
                <a:solidFill>
                  <a:srgbClr val="000099"/>
                </a:solidFill>
                <a:latin typeface="Arial" panose="020B0604020202020204" pitchFamily="34" charset="0"/>
              </a:rPr>
              <a:t>orange juice in 12oz cans</a:t>
            </a:r>
            <a:endParaRPr kumimoji="1" lang="en-US" altLang="ko-KR" sz="1400">
              <a:solidFill>
                <a:srgbClr val="000099"/>
              </a:solidFill>
            </a:endParaRPr>
          </a:p>
        </p:txBody>
      </p:sp>
      <p:sp>
        <p:nvSpPr>
          <p:cNvPr id="17431" name="Text Box 22"/>
          <p:cNvSpPr txBox="1">
            <a:spLocks noChangeArrowheads="1"/>
          </p:cNvSpPr>
          <p:nvPr/>
        </p:nvSpPr>
        <p:spPr bwMode="auto">
          <a:xfrm>
            <a:off x="5181600" y="4648201"/>
            <a:ext cx="166528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/>
            <a:r>
              <a:rPr kumimoji="1" lang="en-US" altLang="ko-KR" sz="1400">
                <a:solidFill>
                  <a:srgbClr val="000099"/>
                </a:solidFill>
                <a:latin typeface="Arial" panose="020B0604020202020204" pitchFamily="34" charset="0"/>
              </a:rPr>
              <a:t>Royal Customers</a:t>
            </a:r>
          </a:p>
          <a:p>
            <a:pPr algn="l" eaLnBrk="1" latinLnBrk="1" hangingPunct="1"/>
            <a:r>
              <a:rPr kumimoji="1" lang="en-US" altLang="ko-KR" sz="1400">
                <a:solidFill>
                  <a:srgbClr val="000099"/>
                </a:solidFill>
                <a:latin typeface="Arial" panose="020B0604020202020204" pitchFamily="34" charset="0"/>
              </a:rPr>
              <a:t>(buys the same brand 80% of time)</a:t>
            </a:r>
            <a:endParaRPr kumimoji="1" lang="en-US" altLang="ko-KR" sz="1400">
              <a:solidFill>
                <a:srgbClr val="000099"/>
              </a:solidFill>
            </a:endParaRPr>
          </a:p>
        </p:txBody>
      </p:sp>
      <p:sp>
        <p:nvSpPr>
          <p:cNvPr id="17432" name="Text Box 23"/>
          <p:cNvSpPr txBox="1">
            <a:spLocks noChangeArrowheads="1"/>
          </p:cNvSpPr>
          <p:nvPr/>
        </p:nvSpPr>
        <p:spPr bwMode="auto">
          <a:xfrm>
            <a:off x="7010400" y="4495800"/>
            <a:ext cx="16652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/>
            <a:r>
              <a:rPr kumimoji="1" lang="ko-KR" altLang="ko-KR" sz="1400">
                <a:solidFill>
                  <a:srgbClr val="000099"/>
                </a:solidFill>
                <a:latin typeface="Arial" panose="020B0604020202020204" pitchFamily="34" charset="0"/>
              </a:rPr>
              <a:t>60</a:t>
            </a:r>
            <a:r>
              <a:rPr kumimoji="1" lang="ko-KR" altLang="en-US" sz="1400">
                <a:solidFill>
                  <a:srgbClr val="000099"/>
                </a:solidFill>
                <a:latin typeface="Arial" panose="020B0604020202020204" pitchFamily="34" charset="0"/>
              </a:rPr>
              <a:t>세 넘으신 분들이 많이 산다</a:t>
            </a:r>
            <a:endParaRPr kumimoji="1" lang="ko-KR" altLang="en-US" sz="1400">
              <a:solidFill>
                <a:srgbClr val="000099"/>
              </a:solidFill>
            </a:endParaRPr>
          </a:p>
        </p:txBody>
      </p:sp>
      <p:sp>
        <p:nvSpPr>
          <p:cNvPr id="17433" name="Text Box 24"/>
          <p:cNvSpPr txBox="1">
            <a:spLocks noChangeArrowheads="1"/>
          </p:cNvSpPr>
          <p:nvPr/>
        </p:nvSpPr>
        <p:spPr bwMode="auto">
          <a:xfrm>
            <a:off x="9002714" y="3810000"/>
            <a:ext cx="16652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/>
            <a:r>
              <a:rPr kumimoji="1" lang="en-US" altLang="ko-KR" sz="1400">
                <a:solidFill>
                  <a:srgbClr val="000099"/>
                </a:solidFill>
                <a:latin typeface="Arial" panose="020B0604020202020204" pitchFamily="34" charset="0"/>
              </a:rPr>
              <a:t>Target Audience</a:t>
            </a:r>
            <a:endParaRPr kumimoji="1" lang="en-US" altLang="ko-KR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642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mtClean="0"/>
              <a:t>현장 적용 사례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38400" y="1543050"/>
            <a:ext cx="7543800" cy="5314950"/>
          </a:xfrm>
        </p:spPr>
        <p:txBody>
          <a:bodyPr/>
          <a:lstStyle/>
          <a:p>
            <a:r>
              <a:rPr lang="ko-KR" altLang="en-US" dirty="0" smtClean="0"/>
              <a:t>학습 결과 또는 학습 방법이 현장에 적용되는 사례들</a:t>
            </a:r>
            <a:endParaRPr lang="en-US" altLang="ko-KR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dirty="0" smtClean="0">
                <a:ea typeface="굴림" panose="020B0600000101010101" pitchFamily="50" charset="-127"/>
              </a:rPr>
              <a:t>대출 심사</a:t>
            </a:r>
            <a:r>
              <a:rPr lang="en-US" altLang="ko-KR" dirty="0" smtClean="0">
                <a:ea typeface="굴림" panose="020B0600000101010101" pitchFamily="50" charset="-127"/>
              </a:rPr>
              <a:t>(loan applications) </a:t>
            </a:r>
            <a:r>
              <a:rPr lang="ko-KR" altLang="en-US" dirty="0" smtClean="0">
                <a:ea typeface="굴림" panose="020B0600000101010101" pitchFamily="50" charset="-127"/>
              </a:rPr>
              <a:t>처리</a:t>
            </a:r>
            <a:endParaRPr lang="en-US" altLang="ko-KR" dirty="0" smtClean="0">
              <a:ea typeface="굴림" panose="020B0600000101010101" pitchFamily="50" charset="-127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dirty="0" err="1" smtClean="0">
                <a:ea typeface="굴림" panose="020B0600000101010101" pitchFamily="50" charset="-127"/>
              </a:rPr>
              <a:t>유막</a:t>
            </a:r>
            <a:r>
              <a:rPr lang="en-US" altLang="ko-KR" dirty="0" smtClean="0">
                <a:ea typeface="굴림" panose="020B0600000101010101" pitchFamily="50" charset="-127"/>
              </a:rPr>
              <a:t>(oil slicks) </a:t>
            </a:r>
            <a:r>
              <a:rPr lang="ko-KR" altLang="en-US" dirty="0" smtClean="0">
                <a:ea typeface="굴림" panose="020B0600000101010101" pitchFamily="50" charset="-127"/>
              </a:rPr>
              <a:t>검출 영상 처리</a:t>
            </a:r>
            <a:endParaRPr lang="en-US" altLang="ko-KR" dirty="0" smtClean="0">
              <a:ea typeface="굴림" panose="020B0600000101010101" pitchFamily="50" charset="-127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dirty="0" smtClean="0">
                <a:ea typeface="굴림" panose="020B0600000101010101" pitchFamily="50" charset="-127"/>
              </a:rPr>
              <a:t>전기공급</a:t>
            </a:r>
            <a:r>
              <a:rPr lang="en-US" altLang="ko-KR" dirty="0" smtClean="0">
                <a:ea typeface="굴림" panose="020B0600000101010101" pitchFamily="50" charset="-127"/>
              </a:rPr>
              <a:t>(electricity supply) </a:t>
            </a:r>
            <a:r>
              <a:rPr lang="ko-KR" altLang="en-US" dirty="0" smtClean="0">
                <a:ea typeface="굴림" panose="020B0600000101010101" pitchFamily="50" charset="-127"/>
              </a:rPr>
              <a:t>예측</a:t>
            </a:r>
            <a:endParaRPr lang="en-US" altLang="ko-KR" dirty="0" smtClean="0">
              <a:ea typeface="굴림" panose="020B0600000101010101" pitchFamily="50" charset="-127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dirty="0" smtClean="0">
                <a:ea typeface="굴림" panose="020B0600000101010101" pitchFamily="50" charset="-127"/>
              </a:rPr>
              <a:t>기계 오류</a:t>
            </a:r>
            <a:r>
              <a:rPr lang="en-US" altLang="ko-KR" dirty="0" smtClean="0">
                <a:ea typeface="굴림" panose="020B0600000101010101" pitchFamily="50" charset="-127"/>
              </a:rPr>
              <a:t>(machine faults) </a:t>
            </a:r>
            <a:r>
              <a:rPr lang="ko-KR" altLang="en-US" dirty="0" smtClean="0">
                <a:ea typeface="굴림" panose="020B0600000101010101" pitchFamily="50" charset="-127"/>
              </a:rPr>
              <a:t>진단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dirty="0" smtClean="0">
                <a:ea typeface="굴림" panose="020B0600000101010101" pitchFamily="50" charset="-127"/>
              </a:rPr>
              <a:t>마케팅</a:t>
            </a:r>
            <a:r>
              <a:rPr lang="en-US" altLang="ko-KR" dirty="0" smtClean="0">
                <a:ea typeface="굴림" panose="020B0600000101010101" pitchFamily="50" charset="-127"/>
              </a:rPr>
              <a:t>(marketing)</a:t>
            </a:r>
            <a:r>
              <a:rPr lang="ko-KR" altLang="en-US" dirty="0" smtClean="0">
                <a:ea typeface="굴림" panose="020B0600000101010101" pitchFamily="50" charset="-127"/>
              </a:rPr>
              <a:t>과 판매</a:t>
            </a:r>
            <a:r>
              <a:rPr lang="en-US" altLang="ko-KR" dirty="0" smtClean="0">
                <a:ea typeface="굴림" panose="020B0600000101010101" pitchFamily="50" charset="-127"/>
              </a:rPr>
              <a:t>(sales)</a:t>
            </a:r>
          </a:p>
        </p:txBody>
      </p:sp>
    </p:spTree>
    <p:extLst>
      <p:ext uri="{BB962C8B-B14F-4D97-AF65-F5344CB8AC3E}">
        <p14:creationId xmlns:p14="http://schemas.microsoft.com/office/powerpoint/2010/main" val="4086453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78063" y="0"/>
            <a:ext cx="6049962" cy="977900"/>
          </a:xfrm>
        </p:spPr>
        <p:txBody>
          <a:bodyPr/>
          <a:lstStyle/>
          <a:p>
            <a:pPr algn="l">
              <a:defRPr/>
            </a:pPr>
            <a:r>
              <a:rPr lang="ko-KR" altLang="en-US" smtClean="0"/>
              <a:t>대출 심사 </a:t>
            </a:r>
            <a:r>
              <a:rPr lang="en-US" altLang="ko-KR" sz="2400"/>
              <a:t>(American Express)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ko-KR" altLang="en-US" dirty="0" smtClean="0"/>
              <a:t>사실</a:t>
            </a:r>
            <a:r>
              <a:rPr lang="en-US" altLang="ko-KR" dirty="0" smtClean="0"/>
              <a:t>: </a:t>
            </a:r>
            <a:r>
              <a:rPr lang="ko-KR" altLang="en-US" dirty="0" smtClean="0"/>
              <a:t>재정 및 개인 정보 설문조사</a:t>
            </a:r>
            <a:endParaRPr lang="en-US" altLang="ko-KR" dirty="0" smtClean="0"/>
          </a:p>
          <a:p>
            <a:pPr>
              <a:lnSpc>
                <a:spcPct val="80000"/>
              </a:lnSpc>
            </a:pPr>
            <a:r>
              <a:rPr lang="ko-KR" altLang="en-US" dirty="0" smtClean="0"/>
              <a:t>질문</a:t>
            </a:r>
            <a:r>
              <a:rPr lang="en-US" altLang="ko-KR" dirty="0" smtClean="0"/>
              <a:t>: </a:t>
            </a:r>
            <a:r>
              <a:rPr lang="ko-KR" altLang="en-US" dirty="0" smtClean="0"/>
              <a:t>대출해주어야 하는가</a:t>
            </a:r>
            <a:r>
              <a:rPr lang="en-US" altLang="ko-KR" dirty="0" smtClean="0"/>
              <a:t>?</a:t>
            </a:r>
          </a:p>
          <a:p>
            <a:pPr>
              <a:lnSpc>
                <a:spcPct val="80000"/>
              </a:lnSpc>
            </a:pPr>
            <a:r>
              <a:rPr lang="ko-KR" altLang="en-US" dirty="0" smtClean="0"/>
              <a:t>단순 통계 방법이 전체 심사의 </a:t>
            </a:r>
            <a:r>
              <a:rPr lang="en-US" altLang="ko-KR" dirty="0" smtClean="0"/>
              <a:t>90%</a:t>
            </a:r>
            <a:r>
              <a:rPr lang="ko-KR" altLang="en-US" dirty="0" smtClean="0"/>
              <a:t>를 처리</a:t>
            </a:r>
            <a:endParaRPr lang="en-US" altLang="ko-KR" dirty="0" smtClean="0"/>
          </a:p>
          <a:p>
            <a:pPr>
              <a:lnSpc>
                <a:spcPct val="80000"/>
              </a:lnSpc>
            </a:pPr>
            <a:r>
              <a:rPr lang="ko-KR" altLang="en-US" dirty="0" smtClean="0"/>
              <a:t>나머지 </a:t>
            </a:r>
            <a:r>
              <a:rPr lang="en-US" altLang="ko-KR" dirty="0" smtClean="0"/>
              <a:t>10% borderline </a:t>
            </a:r>
            <a:r>
              <a:rPr lang="ko-KR" altLang="en-US" dirty="0" smtClean="0"/>
              <a:t>사례가 대부 심사자의 몫</a:t>
            </a:r>
            <a:endParaRPr lang="en-US" altLang="ko-KR" dirty="0" smtClean="0"/>
          </a:p>
          <a:p>
            <a:pPr>
              <a:lnSpc>
                <a:spcPct val="80000"/>
              </a:lnSpc>
            </a:pPr>
            <a:r>
              <a:rPr lang="ko-KR" altLang="en-US" dirty="0" smtClean="0"/>
              <a:t>그러나 전문가가 대출 승인한 심사의 </a:t>
            </a:r>
            <a:r>
              <a:rPr lang="en-US" altLang="ko-KR" dirty="0" smtClean="0"/>
              <a:t>50%</a:t>
            </a:r>
            <a:r>
              <a:rPr lang="ko-KR" altLang="en-US" dirty="0" smtClean="0"/>
              <a:t>가 채무 불이행</a:t>
            </a:r>
            <a:r>
              <a:rPr lang="en-US" altLang="ko-KR" dirty="0" smtClean="0"/>
              <a:t>!</a:t>
            </a:r>
          </a:p>
          <a:p>
            <a:pPr>
              <a:lnSpc>
                <a:spcPct val="80000"/>
              </a:lnSpc>
            </a:pPr>
            <a:r>
              <a:rPr lang="ko-KR" altLang="en-US" dirty="0" smtClean="0"/>
              <a:t>해결안</a:t>
            </a:r>
            <a:r>
              <a:rPr lang="en-US" altLang="ko-KR" dirty="0" smtClean="0"/>
              <a:t>: </a:t>
            </a:r>
            <a:r>
              <a:rPr lang="ko-KR" altLang="en-US" dirty="0" smtClean="0"/>
              <a:t>모든 </a:t>
            </a:r>
            <a:r>
              <a:rPr lang="en-US" altLang="ko-KR" dirty="0" smtClean="0"/>
              <a:t>borderline </a:t>
            </a:r>
            <a:r>
              <a:rPr lang="ko-KR" altLang="en-US" dirty="0" smtClean="0"/>
              <a:t>사례를 거부</a:t>
            </a:r>
            <a:r>
              <a:rPr lang="en-US" altLang="ko-KR" dirty="0" smtClean="0"/>
              <a:t>?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ko-KR" dirty="0" smtClean="0">
                <a:ea typeface="굴림" panose="020B0600000101010101" pitchFamily="50" charset="-127"/>
              </a:rPr>
              <a:t>No! Borderline </a:t>
            </a:r>
            <a:r>
              <a:rPr lang="ko-KR" altLang="en-US" dirty="0" smtClean="0">
                <a:ea typeface="굴림" panose="020B0600000101010101" pitchFamily="50" charset="-127"/>
              </a:rPr>
              <a:t>사례에 매우 활동적인 고객들이 속한다</a:t>
            </a:r>
            <a:r>
              <a:rPr lang="en-US" altLang="ko-KR" dirty="0" smtClean="0">
                <a:ea typeface="굴림" panose="020B0600000101010101" pitchFamily="50" charset="-127"/>
              </a:rPr>
              <a:t>.</a:t>
            </a:r>
          </a:p>
        </p:txBody>
      </p:sp>
      <p:pic>
        <p:nvPicPr>
          <p:cNvPr id="19460" name="Picture 5" descr="intervie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1050" y="95251"/>
            <a:ext cx="2159000" cy="189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2359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138488" y="355600"/>
            <a:ext cx="6858000" cy="1143000"/>
          </a:xfrm>
        </p:spPr>
        <p:txBody>
          <a:bodyPr/>
          <a:lstStyle/>
          <a:p>
            <a:pPr>
              <a:defRPr/>
            </a:pPr>
            <a:r>
              <a:rPr lang="en-US" altLang="ko-KR" dirty="0" smtClean="0"/>
              <a:t>- </a:t>
            </a:r>
            <a:r>
              <a:rPr lang="ko-KR" altLang="en-US" dirty="0" smtClean="0"/>
              <a:t>기계학습 적용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6350" y="1447800"/>
            <a:ext cx="10001250" cy="4114800"/>
          </a:xfrm>
        </p:spPr>
        <p:txBody>
          <a:bodyPr>
            <a:normAutofit lnSpcReduction="10000"/>
          </a:bodyPr>
          <a:lstStyle/>
          <a:p>
            <a:pPr>
              <a:tabLst>
                <a:tab pos="7331075" algn="r"/>
              </a:tabLst>
            </a:pPr>
            <a:r>
              <a:rPr lang="en-US" altLang="ko-KR" dirty="0" smtClean="0"/>
              <a:t>1000</a:t>
            </a:r>
            <a:r>
              <a:rPr lang="ko-KR" altLang="en-US" dirty="0" smtClean="0"/>
              <a:t>개의 </a:t>
            </a:r>
            <a:r>
              <a:rPr lang="en-US" altLang="ko-KR" dirty="0" smtClean="0"/>
              <a:t>borderline </a:t>
            </a:r>
            <a:r>
              <a:rPr lang="ko-KR" altLang="en-US" dirty="0" smtClean="0"/>
              <a:t>사례 훈련 샘플들</a:t>
            </a:r>
          </a:p>
          <a:p>
            <a:pPr>
              <a:tabLst>
                <a:tab pos="7331075" algn="r"/>
              </a:tabLst>
            </a:pPr>
            <a:r>
              <a:rPr lang="en-US" altLang="ko-KR" dirty="0" smtClean="0"/>
              <a:t>20 </a:t>
            </a:r>
            <a:r>
              <a:rPr lang="ko-KR" altLang="en-US" dirty="0" smtClean="0"/>
              <a:t>속성들</a:t>
            </a:r>
            <a:r>
              <a:rPr lang="en-US" altLang="ko-KR" dirty="0" smtClean="0"/>
              <a:t>:</a:t>
            </a:r>
          </a:p>
          <a:p>
            <a:pPr lvl="1">
              <a:buFont typeface="Wingdings" panose="05000000000000000000" pitchFamily="2" charset="2"/>
              <a:buChar char="ü"/>
              <a:tabLst>
                <a:tab pos="7331075" algn="r"/>
              </a:tabLst>
            </a:pPr>
            <a:r>
              <a:rPr lang="en-US" altLang="ko-KR" dirty="0" smtClean="0">
                <a:ea typeface="굴림" panose="020B0600000101010101" pitchFamily="50" charset="-127"/>
              </a:rPr>
              <a:t>age</a:t>
            </a:r>
          </a:p>
          <a:p>
            <a:pPr lvl="1">
              <a:buFont typeface="Wingdings" panose="05000000000000000000" pitchFamily="2" charset="2"/>
              <a:buChar char="ü"/>
              <a:tabLst>
                <a:tab pos="7331075" algn="r"/>
              </a:tabLst>
            </a:pPr>
            <a:r>
              <a:rPr lang="en-US" altLang="ko-KR" dirty="0" smtClean="0">
                <a:ea typeface="굴림" panose="020B0600000101010101" pitchFamily="50" charset="-127"/>
              </a:rPr>
              <a:t>years with current employer</a:t>
            </a:r>
          </a:p>
          <a:p>
            <a:pPr lvl="1">
              <a:buFont typeface="Wingdings" panose="05000000000000000000" pitchFamily="2" charset="2"/>
              <a:buChar char="ü"/>
              <a:tabLst>
                <a:tab pos="7331075" algn="r"/>
              </a:tabLst>
            </a:pPr>
            <a:r>
              <a:rPr lang="en-US" altLang="ko-KR" dirty="0" smtClean="0">
                <a:ea typeface="굴림" panose="020B0600000101010101" pitchFamily="50" charset="-127"/>
              </a:rPr>
              <a:t>years at current address</a:t>
            </a:r>
          </a:p>
          <a:p>
            <a:pPr lvl="1">
              <a:buFont typeface="Wingdings" panose="05000000000000000000" pitchFamily="2" charset="2"/>
              <a:buChar char="ü"/>
              <a:tabLst>
                <a:tab pos="7331075" algn="r"/>
              </a:tabLst>
            </a:pPr>
            <a:r>
              <a:rPr lang="en-US" altLang="ko-KR" dirty="0" smtClean="0">
                <a:ea typeface="굴림" panose="020B0600000101010101" pitchFamily="50" charset="-127"/>
              </a:rPr>
              <a:t>years with the bank</a:t>
            </a:r>
          </a:p>
          <a:p>
            <a:pPr lvl="1">
              <a:buFont typeface="Wingdings" panose="05000000000000000000" pitchFamily="2" charset="2"/>
              <a:buChar char="ü"/>
              <a:tabLst>
                <a:tab pos="7331075" algn="r"/>
              </a:tabLst>
            </a:pPr>
            <a:r>
              <a:rPr lang="en-US" altLang="ko-KR" dirty="0" smtClean="0">
                <a:ea typeface="굴림" panose="020B0600000101010101" pitchFamily="50" charset="-127"/>
              </a:rPr>
              <a:t>other credit cards possessed,…</a:t>
            </a:r>
          </a:p>
          <a:p>
            <a:pPr>
              <a:tabLst>
                <a:tab pos="7331075" algn="r"/>
              </a:tabLst>
            </a:pPr>
            <a:r>
              <a:rPr lang="ko-KR" altLang="en-US" dirty="0" smtClean="0"/>
              <a:t>학습규칙들</a:t>
            </a:r>
            <a:r>
              <a:rPr lang="en-US" altLang="ko-KR" dirty="0" smtClean="0"/>
              <a:t>: 70% </a:t>
            </a:r>
            <a:r>
              <a:rPr lang="ko-KR" altLang="en-US" dirty="0" smtClean="0"/>
              <a:t>정확성</a:t>
            </a:r>
          </a:p>
          <a:p>
            <a:pPr lvl="1">
              <a:buFont typeface="Wingdings" panose="05000000000000000000" pitchFamily="2" charset="2"/>
              <a:buChar char="ü"/>
              <a:tabLst>
                <a:tab pos="7331075" algn="r"/>
              </a:tabLst>
            </a:pPr>
            <a:r>
              <a:rPr lang="ko-KR" altLang="en-US" dirty="0" smtClean="0">
                <a:ea typeface="굴림" panose="020B0600000101010101" pitchFamily="50" charset="-127"/>
              </a:rPr>
              <a:t>인간 전문가는 단지</a:t>
            </a:r>
            <a:r>
              <a:rPr lang="en-US" altLang="ko-KR" dirty="0" smtClean="0">
                <a:ea typeface="굴림" panose="020B0600000101010101" pitchFamily="50" charset="-127"/>
              </a:rPr>
              <a:t> 50%</a:t>
            </a:r>
          </a:p>
          <a:p>
            <a:pPr>
              <a:tabLst>
                <a:tab pos="7331075" algn="r"/>
              </a:tabLst>
            </a:pPr>
            <a:r>
              <a:rPr lang="ko-KR" altLang="en-US" dirty="0" smtClean="0">
                <a:solidFill>
                  <a:srgbClr val="FF3300"/>
                </a:solidFill>
              </a:rPr>
              <a:t>또한 </a:t>
            </a:r>
            <a:r>
              <a:rPr lang="ko-KR" altLang="en-US" dirty="0" smtClean="0">
                <a:solidFill>
                  <a:srgbClr val="FF3300"/>
                </a:solidFill>
              </a:rPr>
              <a:t>규칙들을 </a:t>
            </a:r>
            <a:r>
              <a:rPr lang="ko-KR" altLang="en-US" dirty="0" smtClean="0">
                <a:solidFill>
                  <a:srgbClr val="FF3300"/>
                </a:solidFill>
              </a:rPr>
              <a:t>고객들에게 은행의 결정을 설명하는데 사용</a:t>
            </a:r>
            <a:r>
              <a:rPr lang="en-US" altLang="ko-KR" dirty="0" smtClean="0">
                <a:solidFill>
                  <a:srgbClr val="FF33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94427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ChangeArrowheads="1"/>
          </p:cNvSpPr>
          <p:nvPr/>
        </p:nvSpPr>
        <p:spPr bwMode="auto">
          <a:xfrm>
            <a:off x="9067800" y="0"/>
            <a:ext cx="16002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152400"/>
            <a:ext cx="5818188" cy="977900"/>
          </a:xfrm>
        </p:spPr>
        <p:txBody>
          <a:bodyPr/>
          <a:lstStyle/>
          <a:p>
            <a:pPr algn="l">
              <a:defRPr/>
            </a:pPr>
            <a:r>
              <a:rPr lang="ko-KR" altLang="en-US" smtClean="0"/>
              <a:t>영상 처리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7700" y="1219200"/>
            <a:ext cx="7646988" cy="4114800"/>
          </a:xfrm>
        </p:spPr>
        <p:txBody>
          <a:bodyPr/>
          <a:lstStyle/>
          <a:p>
            <a:r>
              <a:rPr lang="ko-KR" altLang="en-US" dirty="0" smtClean="0"/>
              <a:t>사실</a:t>
            </a:r>
            <a:r>
              <a:rPr lang="en-US" altLang="ko-KR" dirty="0" smtClean="0"/>
              <a:t>: </a:t>
            </a:r>
            <a:r>
              <a:rPr lang="ko-KR" altLang="en-US" dirty="0" smtClean="0"/>
              <a:t>바닷물의 레이더 위상 영상</a:t>
            </a:r>
            <a:endParaRPr lang="en-US" altLang="ko-KR" dirty="0" smtClean="0"/>
          </a:p>
          <a:p>
            <a:r>
              <a:rPr lang="ko-KR" altLang="en-US" dirty="0" smtClean="0"/>
              <a:t>문제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유막</a:t>
            </a:r>
            <a:r>
              <a:rPr lang="ko-KR" altLang="en-US" dirty="0" smtClean="0"/>
              <a:t> 발견</a:t>
            </a:r>
            <a:endParaRPr lang="en-US" altLang="ko-KR" dirty="0" smtClean="0"/>
          </a:p>
          <a:p>
            <a:r>
              <a:rPr lang="ko-KR" altLang="en-US" dirty="0" err="1" smtClean="0"/>
              <a:t>유막은</a:t>
            </a:r>
            <a:r>
              <a:rPr lang="ko-KR" altLang="en-US" dirty="0" smtClean="0"/>
              <a:t> 크기와 모양이 변하는 어두운 영역으로 보임</a:t>
            </a:r>
            <a:endParaRPr lang="en-US" altLang="ko-KR" dirty="0" smtClean="0"/>
          </a:p>
          <a:p>
            <a:r>
              <a:rPr lang="ko-KR" altLang="en-US" dirty="0" err="1" smtClean="0"/>
              <a:t>어려운점</a:t>
            </a:r>
            <a:r>
              <a:rPr lang="en-US" altLang="ko-KR" dirty="0" smtClean="0"/>
              <a:t>: </a:t>
            </a:r>
            <a:r>
              <a:rPr lang="ko-KR" altLang="en-US" dirty="0" smtClean="0"/>
              <a:t>날씨 조건</a:t>
            </a:r>
            <a:r>
              <a:rPr lang="en-US" altLang="ko-KR" dirty="0" smtClean="0"/>
              <a:t>(</a:t>
            </a:r>
            <a:r>
              <a:rPr lang="ko-KR" altLang="en-US" dirty="0" smtClean="0"/>
              <a:t>예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강풍</a:t>
            </a:r>
            <a:r>
              <a:rPr lang="en-US" altLang="ko-KR" dirty="0" smtClean="0"/>
              <a:t>)</a:t>
            </a:r>
            <a:r>
              <a:rPr lang="ko-KR" altLang="en-US" dirty="0" smtClean="0"/>
              <a:t>에 의해 검은 영역으로 보일 수 있다</a:t>
            </a:r>
            <a:endParaRPr lang="en-US" altLang="ko-KR" dirty="0" smtClean="0"/>
          </a:p>
          <a:p>
            <a:r>
              <a:rPr lang="ko-KR" altLang="en-US" dirty="0" smtClean="0"/>
              <a:t>고도록 훈련된 사람이 요구되는 고비용의 처리 과정</a:t>
            </a:r>
            <a:endParaRPr lang="en-US" altLang="ko-KR" dirty="0" smtClean="0"/>
          </a:p>
        </p:txBody>
      </p:sp>
      <p:pic>
        <p:nvPicPr>
          <p:cNvPr id="2054" name="Picture 5" descr="tm_northsea256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4648200"/>
            <a:ext cx="2209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 descr="ers_oil_2">
            <a:hlinkClick r:id="rId6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2324100"/>
            <a:ext cx="2209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50" name="Object 13"/>
          <p:cNvGraphicFramePr>
            <a:graphicFrameLocks noChangeAspect="1"/>
          </p:cNvGraphicFramePr>
          <p:nvPr/>
        </p:nvGraphicFramePr>
        <p:xfrm>
          <a:off x="8458200" y="0"/>
          <a:ext cx="22098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Photo Editor Photo" r:id="rId8" imgW="2857899" imgH="2857899" progId="MSPhotoEd.3">
                  <p:embed/>
                </p:oleObj>
              </mc:Choice>
              <mc:Fallback>
                <p:oleObj name="Photo Editor Photo" r:id="rId8" imgW="2857899" imgH="2857899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0"/>
                        <a:ext cx="2209800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3845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152400"/>
            <a:ext cx="7543800" cy="755650"/>
          </a:xfrm>
        </p:spPr>
        <p:txBody>
          <a:bodyPr/>
          <a:lstStyle/>
          <a:p>
            <a:pPr>
              <a:defRPr/>
            </a:pPr>
            <a:r>
              <a:rPr lang="en-US" altLang="ko-KR" dirty="0" smtClean="0"/>
              <a:t>- </a:t>
            </a:r>
            <a:r>
              <a:rPr lang="ko-KR" altLang="en-US" dirty="0" smtClean="0"/>
              <a:t>기계학습 적용</a:t>
            </a:r>
            <a:endParaRPr lang="en-US" altLang="ko-KR" dirty="0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6275" y="914400"/>
            <a:ext cx="10601325" cy="55387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 dirty="0" smtClean="0"/>
              <a:t>정규화된 영상으로부터 어두운 영역을 검출</a:t>
            </a:r>
            <a:endParaRPr lang="en-US" altLang="ko-KR" dirty="0" smtClean="0"/>
          </a:p>
          <a:p>
            <a:pPr>
              <a:lnSpc>
                <a:spcPct val="90000"/>
              </a:lnSpc>
            </a:pPr>
            <a:r>
              <a:rPr lang="ko-KR" altLang="en-US" dirty="0" smtClean="0"/>
              <a:t>속성들</a:t>
            </a:r>
            <a:r>
              <a:rPr lang="en-US" altLang="ko-KR" dirty="0" smtClean="0"/>
              <a:t>: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ko-KR" dirty="0" smtClean="0">
                <a:ea typeface="굴림" panose="020B0600000101010101" pitchFamily="50" charset="-127"/>
              </a:rPr>
              <a:t>size of region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ko-KR" dirty="0" smtClean="0">
                <a:ea typeface="굴림" panose="020B0600000101010101" pitchFamily="50" charset="-127"/>
              </a:rPr>
              <a:t>shape, area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ko-KR" dirty="0" smtClean="0">
                <a:ea typeface="굴림" panose="020B0600000101010101" pitchFamily="50" charset="-127"/>
              </a:rPr>
              <a:t>intensity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ko-KR" dirty="0" smtClean="0">
                <a:ea typeface="굴림" panose="020B0600000101010101" pitchFamily="50" charset="-127"/>
              </a:rPr>
              <a:t>sharpness and jaggedness(</a:t>
            </a:r>
            <a:r>
              <a:rPr lang="ko-KR" altLang="en-US" dirty="0" smtClean="0">
                <a:ea typeface="굴림" panose="020B0600000101010101" pitchFamily="50" charset="-127"/>
              </a:rPr>
              <a:t>뾰쪽뾰쪽</a:t>
            </a:r>
            <a:r>
              <a:rPr lang="en-US" altLang="ko-KR" dirty="0" smtClean="0">
                <a:ea typeface="굴림" panose="020B0600000101010101" pitchFamily="50" charset="-127"/>
              </a:rPr>
              <a:t>) of boundaries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ko-KR" dirty="0" smtClean="0">
                <a:ea typeface="굴림" panose="020B0600000101010101" pitchFamily="50" charset="-127"/>
              </a:rPr>
              <a:t>proximity of other regions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ko-KR" dirty="0" smtClean="0">
                <a:ea typeface="굴림" panose="020B0600000101010101" pitchFamily="50" charset="-127"/>
              </a:rPr>
              <a:t>info about background</a:t>
            </a:r>
          </a:p>
          <a:p>
            <a:pPr>
              <a:lnSpc>
                <a:spcPct val="90000"/>
              </a:lnSpc>
            </a:pPr>
            <a:r>
              <a:rPr lang="ko-KR" altLang="en-US" dirty="0" smtClean="0"/>
              <a:t>제약요건들</a:t>
            </a:r>
            <a:r>
              <a:rPr lang="en-US" altLang="ko-KR" dirty="0" smtClean="0"/>
              <a:t>: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ea typeface="굴림" panose="020B0600000101010101" pitchFamily="50" charset="-127"/>
              </a:rPr>
              <a:t>소수의 훈련 샘플들</a:t>
            </a:r>
            <a:r>
              <a:rPr lang="en-US" altLang="ko-KR" dirty="0" smtClean="0">
                <a:ea typeface="굴림" panose="020B0600000101010101" pitchFamily="50" charset="-127"/>
              </a:rPr>
              <a:t>—</a:t>
            </a:r>
            <a:r>
              <a:rPr lang="ko-KR" altLang="en-US" dirty="0" err="1" smtClean="0">
                <a:ea typeface="굴림" panose="020B0600000101010101" pitchFamily="50" charset="-127"/>
              </a:rPr>
              <a:t>유막은</a:t>
            </a:r>
            <a:r>
              <a:rPr lang="ko-KR" altLang="en-US" dirty="0" smtClean="0">
                <a:ea typeface="굴림" panose="020B0600000101010101" pitchFamily="50" charset="-127"/>
              </a:rPr>
              <a:t> 드물게 발생</a:t>
            </a:r>
            <a:r>
              <a:rPr lang="en-US" altLang="ko-KR" dirty="0" smtClean="0">
                <a:ea typeface="굴림" panose="020B0600000101010101" pitchFamily="50" charset="-127"/>
              </a:rPr>
              <a:t>!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ea typeface="굴림" panose="020B0600000101010101" pitchFamily="50" charset="-127"/>
              </a:rPr>
              <a:t>불균형 데이터</a:t>
            </a:r>
            <a:r>
              <a:rPr lang="en-US" altLang="ko-KR" dirty="0" smtClean="0">
                <a:ea typeface="굴림" panose="020B0600000101010101" pitchFamily="50" charset="-127"/>
              </a:rPr>
              <a:t>: </a:t>
            </a:r>
            <a:r>
              <a:rPr lang="ko-KR" altLang="en-US" dirty="0" smtClean="0">
                <a:ea typeface="굴림" panose="020B0600000101010101" pitchFamily="50" charset="-127"/>
              </a:rPr>
              <a:t>어두운 영역 대부분은 </a:t>
            </a:r>
            <a:r>
              <a:rPr lang="ko-KR" altLang="en-US" dirty="0" err="1" smtClean="0">
                <a:ea typeface="굴림" panose="020B0600000101010101" pitchFamily="50" charset="-127"/>
              </a:rPr>
              <a:t>유막</a:t>
            </a:r>
            <a:r>
              <a:rPr lang="ko-KR" altLang="en-US" dirty="0" smtClean="0">
                <a:ea typeface="굴림" panose="020B0600000101010101" pitchFamily="50" charset="-127"/>
              </a:rPr>
              <a:t> 아님</a:t>
            </a:r>
            <a:endParaRPr lang="en-US" altLang="ko-KR" dirty="0" smtClean="0">
              <a:ea typeface="굴림" panose="020B0600000101010101" pitchFamily="50" charset="-127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ea typeface="굴림" panose="020B0600000101010101" pitchFamily="50" charset="-127"/>
              </a:rPr>
              <a:t>같은 영상으로부터의 영역들이 하나의 배치 </a:t>
            </a:r>
            <a:r>
              <a:rPr lang="en-US" altLang="ko-KR" dirty="0" smtClean="0">
                <a:ea typeface="굴림" panose="020B0600000101010101" pitchFamily="50" charset="-127"/>
              </a:rPr>
              <a:t>(batch)</a:t>
            </a:r>
            <a:r>
              <a:rPr lang="ko-KR" altLang="en-US" dirty="0" smtClean="0">
                <a:ea typeface="굴림" panose="020B0600000101010101" pitchFamily="50" charset="-127"/>
              </a:rPr>
              <a:t>를 형성</a:t>
            </a:r>
            <a:r>
              <a:rPr lang="en-US" altLang="ko-KR" dirty="0" smtClean="0">
                <a:ea typeface="굴림" panose="020B0600000101010101" pitchFamily="50" charset="-127"/>
              </a:rPr>
              <a:t>. </a:t>
            </a:r>
            <a:r>
              <a:rPr lang="ko-KR" altLang="en-US" dirty="0" smtClean="0">
                <a:ea typeface="굴림" panose="020B0600000101010101" pitchFamily="50" charset="-127"/>
              </a:rPr>
              <a:t>배경 특징들은 배치마다 다름</a:t>
            </a:r>
          </a:p>
        </p:txBody>
      </p:sp>
    </p:spTree>
    <p:extLst>
      <p:ext uri="{BB962C8B-B14F-4D97-AF65-F5344CB8AC3E}">
        <p14:creationId xmlns:p14="http://schemas.microsoft.com/office/powerpoint/2010/main" val="2135163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152400"/>
            <a:ext cx="5602288" cy="977900"/>
          </a:xfrm>
        </p:spPr>
        <p:txBody>
          <a:bodyPr/>
          <a:lstStyle/>
          <a:p>
            <a:pPr algn="l">
              <a:defRPr/>
            </a:pPr>
            <a:r>
              <a:rPr lang="ko-KR" altLang="en-US" smtClean="0"/>
              <a:t>전력 분배 예측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4375" y="1219200"/>
            <a:ext cx="9267825" cy="5233988"/>
          </a:xfrm>
        </p:spPr>
        <p:txBody>
          <a:bodyPr/>
          <a:lstStyle/>
          <a:p>
            <a:r>
              <a:rPr lang="ko-KR" altLang="en-US" dirty="0" smtClean="0"/>
              <a:t>전기공급 회사들은 미래 전력수요 예측이 필요</a:t>
            </a:r>
            <a:endParaRPr lang="en-US" altLang="ko-KR" dirty="0" smtClean="0"/>
          </a:p>
          <a:p>
            <a:r>
              <a:rPr lang="ko-KR" altLang="en-US" dirty="0" smtClean="0"/>
              <a:t>시간당 최소 최대 전력 예측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>
                <a:sym typeface="Symbol" panose="05050102010706020507" pitchFamily="18" charset="2"/>
              </a:rPr>
              <a:t></a:t>
            </a:r>
            <a:r>
              <a:rPr lang="en-US" altLang="ko-KR" dirty="0" smtClean="0"/>
              <a:t> </a:t>
            </a:r>
            <a:r>
              <a:rPr lang="ko-KR" altLang="en-US" dirty="0" smtClean="0"/>
              <a:t>경비 절감</a:t>
            </a:r>
            <a:endParaRPr lang="en-US" altLang="ko-KR" dirty="0" smtClean="0"/>
          </a:p>
          <a:p>
            <a:r>
              <a:rPr lang="ko-KR" altLang="en-US" dirty="0" smtClean="0"/>
              <a:t>사실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정상적인 기후 조건을 가정하는 전력수요 모델을 수작업으로 구성</a:t>
            </a:r>
            <a:endParaRPr lang="en-US" altLang="ko-KR" dirty="0" smtClean="0"/>
          </a:p>
          <a:p>
            <a:r>
              <a:rPr lang="ko-KR" altLang="en-US" dirty="0" smtClean="0"/>
              <a:t>정적 모델</a:t>
            </a:r>
            <a:r>
              <a:rPr lang="en-US" altLang="ko-KR" dirty="0" smtClean="0"/>
              <a:t>(static model)</a:t>
            </a:r>
            <a:r>
              <a:rPr lang="ko-KR" altLang="en-US" dirty="0" smtClean="0"/>
              <a:t>은 구성</a:t>
            </a:r>
            <a:r>
              <a:rPr lang="en-US" altLang="ko-KR" dirty="0" smtClean="0"/>
              <a:t>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dirty="0" smtClean="0">
                <a:ea typeface="굴림" panose="020B0600000101010101" pitchFamily="50" charset="-127"/>
              </a:rPr>
              <a:t>연간 기본 전력수요</a:t>
            </a:r>
            <a:endParaRPr lang="en-US" altLang="ko-KR" dirty="0" smtClean="0">
              <a:ea typeface="굴림" panose="020B0600000101010101" pitchFamily="50" charset="-127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ko-KR" dirty="0" smtClean="0">
                <a:ea typeface="굴림" panose="020B0600000101010101" pitchFamily="50" charset="-127"/>
              </a:rPr>
              <a:t>1</a:t>
            </a:r>
            <a:r>
              <a:rPr lang="ko-KR" altLang="en-US" dirty="0" smtClean="0">
                <a:ea typeface="굴림" panose="020B0600000101010101" pitchFamily="50" charset="-127"/>
              </a:rPr>
              <a:t>년에 걸쳐 전력수요 생산능력</a:t>
            </a:r>
            <a:endParaRPr lang="en-US" altLang="ko-KR" dirty="0" smtClean="0">
              <a:ea typeface="굴림" panose="020B0600000101010101" pitchFamily="50" charset="-127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dirty="0" smtClean="0">
                <a:ea typeface="굴림" panose="020B0600000101010101" pitchFamily="50" charset="-127"/>
              </a:rPr>
              <a:t>공휴일</a:t>
            </a:r>
            <a:r>
              <a:rPr lang="ko-KR" altLang="en-US" dirty="0" smtClean="0">
                <a:ea typeface="굴림" panose="020B0600000101010101" pitchFamily="50" charset="-127"/>
                <a:sym typeface="Symbol" panose="05050102010706020507" pitchFamily="18" charset="2"/>
              </a:rPr>
              <a:t></a:t>
            </a:r>
            <a:r>
              <a:rPr lang="ko-KR" altLang="en-US" dirty="0" smtClean="0">
                <a:ea typeface="굴림" panose="020B0600000101010101" pitchFamily="50" charset="-127"/>
              </a:rPr>
              <a:t>연휴 효과</a:t>
            </a:r>
            <a:endParaRPr lang="en-US" altLang="ko-KR" dirty="0" smtClean="0">
              <a:ea typeface="굴림" panose="020B0600000101010101" pitchFamily="50" charset="-127"/>
            </a:endParaRPr>
          </a:p>
          <a:p>
            <a:r>
              <a:rPr lang="ko-KR" altLang="en-US" dirty="0" smtClean="0"/>
              <a:t>문제</a:t>
            </a:r>
            <a:r>
              <a:rPr lang="en-US" altLang="ko-KR" dirty="0" smtClean="0"/>
              <a:t>: </a:t>
            </a:r>
            <a:r>
              <a:rPr lang="ko-KR" altLang="en-US" dirty="0" smtClean="0"/>
              <a:t>기후 조건을 고려</a:t>
            </a:r>
          </a:p>
          <a:p>
            <a:pPr lvl="1"/>
            <a:endParaRPr lang="en-US" altLang="ko-KR" dirty="0" smtClean="0">
              <a:ea typeface="굴림" panose="020B0600000101010101" pitchFamily="50" charset="-127"/>
            </a:endParaRPr>
          </a:p>
        </p:txBody>
      </p:sp>
      <p:pic>
        <p:nvPicPr>
          <p:cNvPr id="22532" name="Picture 5" descr="132kv-power-station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132" y="3287712"/>
            <a:ext cx="3059111" cy="3054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8292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424113" y="115888"/>
            <a:ext cx="7543800" cy="792162"/>
          </a:xfrm>
        </p:spPr>
        <p:txBody>
          <a:bodyPr/>
          <a:lstStyle/>
          <a:p>
            <a:pPr>
              <a:defRPr/>
            </a:pPr>
            <a:r>
              <a:rPr lang="en-US" altLang="ko-KR" smtClean="0"/>
              <a:t>- </a:t>
            </a:r>
            <a:r>
              <a:rPr lang="ko-KR" altLang="en-US" smtClean="0"/>
              <a:t>기계학습</a:t>
            </a:r>
            <a:r>
              <a:rPr lang="en-US" altLang="ko-KR" smtClean="0"/>
              <a:t> </a:t>
            </a:r>
            <a:r>
              <a:rPr lang="ko-KR" altLang="en-US" smtClean="0"/>
              <a:t>적용</a:t>
            </a:r>
            <a:endParaRPr lang="en-US" altLang="ko-KR" smtClean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9125" y="1066800"/>
            <a:ext cx="10734675" cy="55308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 dirty="0" smtClean="0"/>
              <a:t>가장 유사한 시기를 이용한 예측 보정</a:t>
            </a:r>
            <a:endParaRPr lang="en-US" altLang="ko-KR" dirty="0" smtClean="0"/>
          </a:p>
          <a:p>
            <a:pPr>
              <a:lnSpc>
                <a:spcPct val="90000"/>
              </a:lnSpc>
            </a:pPr>
            <a:r>
              <a:rPr lang="ko-KR" altLang="en-US" dirty="0" smtClean="0"/>
              <a:t>속성들</a:t>
            </a:r>
            <a:r>
              <a:rPr lang="en-US" altLang="ko-KR" dirty="0" smtClean="0"/>
              <a:t>: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ko-KR" dirty="0" smtClean="0">
                <a:ea typeface="굴림" panose="020B0600000101010101" pitchFamily="50" charset="-127"/>
              </a:rPr>
              <a:t>temperature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ko-KR" dirty="0" smtClean="0">
                <a:ea typeface="굴림" panose="020B0600000101010101" pitchFamily="50" charset="-127"/>
              </a:rPr>
              <a:t>humidity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ko-KR" dirty="0" smtClean="0">
                <a:ea typeface="굴림" panose="020B0600000101010101" pitchFamily="50" charset="-127"/>
              </a:rPr>
              <a:t>wind speed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ko-KR" dirty="0" smtClean="0">
                <a:ea typeface="굴림" panose="020B0600000101010101" pitchFamily="50" charset="-127"/>
              </a:rPr>
              <a:t>cloud cover readings (</a:t>
            </a:r>
            <a:r>
              <a:rPr lang="ko-KR" altLang="en-US" dirty="0" smtClean="0">
                <a:ea typeface="굴림" panose="020B0600000101010101" pitchFamily="50" charset="-127"/>
              </a:rPr>
              <a:t>구름의 양 계측</a:t>
            </a:r>
            <a:r>
              <a:rPr lang="en-US" altLang="ko-KR" dirty="0" smtClean="0">
                <a:ea typeface="굴림" panose="020B0600000101010101" pitchFamily="50" charset="-127"/>
              </a:rPr>
              <a:t>)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ko-KR" dirty="0" smtClean="0">
                <a:ea typeface="굴림" panose="020B0600000101010101" pitchFamily="50" charset="-127"/>
              </a:rPr>
              <a:t>plus difference between actual load and predicted load</a:t>
            </a:r>
          </a:p>
          <a:p>
            <a:pPr>
              <a:lnSpc>
                <a:spcPct val="90000"/>
              </a:lnSpc>
            </a:pPr>
            <a:r>
              <a:rPr lang="ko-KR" altLang="en-US" dirty="0" smtClean="0"/>
              <a:t>현재 상황에서 가장 유사한 과거의 어느 날을 찾아서 그날의 과거 일기를 사용하여 예측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ea typeface="굴림" panose="020B0600000101010101" pitchFamily="50" charset="-127"/>
              </a:rPr>
              <a:t>전문가 같은 성능을 보이며 예보시간이 단 몇 초</a:t>
            </a:r>
            <a:endParaRPr lang="en-US" altLang="ko-KR" dirty="0" smtClean="0">
              <a:ea typeface="굴림" panose="020B0600000101010101" pitchFamily="50" charset="-127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ea typeface="굴림" panose="020B0600000101010101" pitchFamily="50" charset="-127"/>
              </a:rPr>
              <a:t>이상치 </a:t>
            </a:r>
            <a:r>
              <a:rPr lang="en-US" altLang="ko-KR" dirty="0" smtClean="0">
                <a:ea typeface="굴림" panose="020B0600000101010101" pitchFamily="50" charset="-127"/>
              </a:rPr>
              <a:t>(outlier)</a:t>
            </a:r>
            <a:r>
              <a:rPr lang="ko-KR" altLang="en-US" dirty="0" smtClean="0">
                <a:ea typeface="굴림" panose="020B0600000101010101" pitchFamily="50" charset="-127"/>
              </a:rPr>
              <a:t>를</a:t>
            </a:r>
            <a:r>
              <a:rPr lang="en-US" altLang="ko-KR" dirty="0" smtClean="0">
                <a:ea typeface="굴림" panose="020B0600000101010101" pitchFamily="50" charset="-127"/>
              </a:rPr>
              <a:t> </a:t>
            </a:r>
            <a:r>
              <a:rPr lang="ko-KR" altLang="en-US" dirty="0" smtClean="0">
                <a:ea typeface="굴림" panose="020B0600000101010101" pitchFamily="50" charset="-127"/>
              </a:rPr>
              <a:t>방지하려면 </a:t>
            </a:r>
            <a:r>
              <a:rPr lang="en-US" altLang="ko-KR" dirty="0" smtClean="0">
                <a:ea typeface="굴림" panose="020B0600000101010101" pitchFamily="50" charset="-127"/>
              </a:rPr>
              <a:t>8</a:t>
            </a:r>
            <a:r>
              <a:rPr lang="ko-KR" altLang="en-US" dirty="0" smtClean="0">
                <a:ea typeface="굴림" panose="020B0600000101010101" pitchFamily="50" charset="-127"/>
              </a:rPr>
              <a:t>개의 유사한 날을 찾아 그들의 평균 사용</a:t>
            </a:r>
          </a:p>
        </p:txBody>
      </p:sp>
    </p:spTree>
    <p:extLst>
      <p:ext uri="{BB962C8B-B14F-4D97-AF65-F5344CB8AC3E}">
        <p14:creationId xmlns:p14="http://schemas.microsoft.com/office/powerpoint/2010/main" val="409081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1" y="182564"/>
            <a:ext cx="7335839" cy="1225550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ko-KR" altLang="en-US" dirty="0" smtClean="0"/>
              <a:t>기계고장</a:t>
            </a:r>
            <a:r>
              <a:rPr lang="en-US" altLang="ko-KR" dirty="0" smtClean="0"/>
              <a:t> (machine faults)</a:t>
            </a:r>
            <a:r>
              <a:rPr lang="ko-KR" altLang="en-US" dirty="0" smtClean="0"/>
              <a:t> 진단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1" y="2060576"/>
            <a:ext cx="9845676" cy="439261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ko-KR" altLang="en-US" dirty="0" smtClean="0"/>
              <a:t>진단</a:t>
            </a:r>
            <a:r>
              <a:rPr lang="en-US" altLang="ko-KR" dirty="0" smtClean="0"/>
              <a:t>: </a:t>
            </a:r>
            <a:r>
              <a:rPr lang="ko-KR" altLang="en-US" dirty="0" smtClean="0"/>
              <a:t>고전적인 전문가시스템</a:t>
            </a:r>
            <a:r>
              <a:rPr lang="en-US" altLang="ko-KR" dirty="0" smtClean="0"/>
              <a:t>(expert systems) </a:t>
            </a:r>
            <a:r>
              <a:rPr lang="ko-KR" altLang="en-US" dirty="0" smtClean="0"/>
              <a:t>영역</a:t>
            </a:r>
            <a:endParaRPr lang="en-US" altLang="ko-KR" dirty="0" smtClean="0"/>
          </a:p>
          <a:p>
            <a:pPr>
              <a:lnSpc>
                <a:spcPct val="90000"/>
              </a:lnSpc>
            </a:pPr>
            <a:r>
              <a:rPr lang="ko-KR" altLang="en-US" dirty="0" smtClean="0"/>
              <a:t>사실</a:t>
            </a:r>
            <a:r>
              <a:rPr lang="en-US" altLang="ko-KR" dirty="0" smtClean="0"/>
              <a:t>: </a:t>
            </a:r>
            <a:r>
              <a:rPr lang="ko-KR" altLang="en-US" dirty="0" smtClean="0"/>
              <a:t>디바이스가 장착된 다양한 지점에서 측정된 진동</a:t>
            </a:r>
            <a:r>
              <a:rPr lang="en-US" altLang="ko-KR" dirty="0" smtClean="0"/>
              <a:t>(vibration)</a:t>
            </a:r>
            <a:r>
              <a:rPr lang="ko-KR" altLang="en-US" dirty="0" smtClean="0"/>
              <a:t>의 </a:t>
            </a:r>
            <a:r>
              <a:rPr lang="ko-KR" altLang="en-US" dirty="0" err="1" smtClean="0"/>
              <a:t>퓨리에</a:t>
            </a:r>
            <a:r>
              <a:rPr lang="ko-KR" altLang="en-US" dirty="0" smtClean="0"/>
              <a:t> 분석</a:t>
            </a:r>
            <a:r>
              <a:rPr lang="en-US" altLang="ko-KR" dirty="0" smtClean="0"/>
              <a:t>(Fourier analysis)</a:t>
            </a:r>
          </a:p>
          <a:p>
            <a:pPr>
              <a:lnSpc>
                <a:spcPct val="90000"/>
              </a:lnSpc>
            </a:pPr>
            <a:r>
              <a:rPr lang="ko-KR" altLang="en-US" dirty="0" smtClean="0"/>
              <a:t>질문</a:t>
            </a:r>
            <a:r>
              <a:rPr lang="en-US" altLang="ko-KR" dirty="0" smtClean="0"/>
              <a:t>: </a:t>
            </a:r>
            <a:r>
              <a:rPr lang="ko-KR" altLang="en-US" dirty="0" smtClean="0"/>
              <a:t>어떠한 결함이 있는가</a:t>
            </a:r>
            <a:r>
              <a:rPr lang="en-US" altLang="ko-KR" dirty="0" smtClean="0"/>
              <a:t>?</a:t>
            </a:r>
          </a:p>
          <a:p>
            <a:pPr>
              <a:lnSpc>
                <a:spcPct val="90000"/>
              </a:lnSpc>
            </a:pPr>
            <a:r>
              <a:rPr lang="ko-KR" altLang="en-US" dirty="0" smtClean="0"/>
              <a:t>목표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전자기 모터와 발전기의 예방적 유지보수</a:t>
            </a:r>
            <a:endParaRPr lang="en-US" altLang="ko-KR" dirty="0" smtClean="0"/>
          </a:p>
          <a:p>
            <a:pPr>
              <a:lnSpc>
                <a:spcPct val="90000"/>
              </a:lnSpc>
            </a:pPr>
            <a:r>
              <a:rPr lang="ko-KR" altLang="en-US" dirty="0" smtClean="0"/>
              <a:t>정보 자체가 매우 잡음이 많음</a:t>
            </a:r>
            <a:endParaRPr lang="en-US" altLang="ko-KR" dirty="0" smtClean="0"/>
          </a:p>
          <a:p>
            <a:pPr>
              <a:lnSpc>
                <a:spcPct val="90000"/>
              </a:lnSpc>
            </a:pPr>
            <a:r>
              <a:rPr lang="ko-KR" altLang="en-US" dirty="0" smtClean="0"/>
              <a:t>지금까지 전문가의 수작업 규칙</a:t>
            </a:r>
            <a:r>
              <a:rPr lang="en-US" altLang="ko-KR" dirty="0" smtClean="0"/>
              <a:t>(hand-crafted rules)</a:t>
            </a:r>
            <a:r>
              <a:rPr lang="ko-KR" altLang="en-US" dirty="0" smtClean="0"/>
              <a:t>에 의해 진단이 이루어짐</a:t>
            </a:r>
          </a:p>
        </p:txBody>
      </p:sp>
      <p:pic>
        <p:nvPicPr>
          <p:cNvPr id="24580" name="Picture 5" descr="Engine%20Fuel%20Pump_1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4463" y="182564"/>
            <a:ext cx="2520950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9556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- </a:t>
            </a:r>
            <a:r>
              <a:rPr lang="ko-KR" altLang="en-US" smtClean="0"/>
              <a:t>기계학습</a:t>
            </a:r>
            <a:r>
              <a:rPr lang="en-US" altLang="ko-KR" smtClean="0"/>
              <a:t> </a:t>
            </a:r>
            <a:r>
              <a:rPr lang="ko-KR" altLang="en-US" smtClean="0"/>
              <a:t>적용</a:t>
            </a:r>
            <a:endParaRPr lang="en-US" altLang="ko-KR" smtClean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3375" y="1587500"/>
            <a:ext cx="11087100" cy="4865688"/>
          </a:xfrm>
        </p:spPr>
        <p:txBody>
          <a:bodyPr/>
          <a:lstStyle/>
          <a:p>
            <a:r>
              <a:rPr lang="ko-KR" altLang="en-US" dirty="0" smtClean="0"/>
              <a:t>사실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전문가가 진단한 </a:t>
            </a:r>
            <a:r>
              <a:rPr lang="en-US" altLang="ko-KR" dirty="0" smtClean="0"/>
              <a:t>600</a:t>
            </a:r>
            <a:r>
              <a:rPr lang="ko-KR" altLang="en-US" dirty="0" smtClean="0"/>
              <a:t>개의 결함들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ko-KR" dirty="0" smtClean="0">
                <a:ea typeface="굴림" panose="020B0600000101010101" pitchFamily="50" charset="-127"/>
              </a:rPr>
              <a:t>300</a:t>
            </a:r>
            <a:r>
              <a:rPr lang="ko-KR" altLang="en-US" dirty="0" smtClean="0">
                <a:ea typeface="굴림" panose="020B0600000101010101" pitchFamily="50" charset="-127"/>
              </a:rPr>
              <a:t>여 데이터 무시</a:t>
            </a:r>
            <a:r>
              <a:rPr lang="en-US" altLang="ko-KR" dirty="0" smtClean="0">
                <a:ea typeface="굴림" panose="020B0600000101010101" pitchFamily="50" charset="-127"/>
              </a:rPr>
              <a:t>, </a:t>
            </a:r>
            <a:r>
              <a:rPr lang="ko-KR" altLang="en-US" dirty="0" smtClean="0">
                <a:ea typeface="굴림" panose="020B0600000101010101" pitchFamily="50" charset="-127"/>
              </a:rPr>
              <a:t>나머지를 훈련에 사용</a:t>
            </a:r>
          </a:p>
          <a:p>
            <a:r>
              <a:rPr lang="ko-KR" altLang="en-US" dirty="0" smtClean="0"/>
              <a:t>측정 속성들이 낮은 수준이므로 인과영역 지식을 수용한 중간 개념들이 보강됨</a:t>
            </a:r>
            <a:endParaRPr lang="en-US" altLang="ko-KR" dirty="0" smtClean="0"/>
          </a:p>
          <a:p>
            <a:r>
              <a:rPr lang="ko-KR" altLang="en-US" dirty="0" smtClean="0"/>
              <a:t>전문가는 초기 규칙들에 자신의 영역 지식이 관련되지 않았기 때문에 불만족</a:t>
            </a:r>
            <a:endParaRPr lang="en-US" altLang="ko-KR" dirty="0" smtClean="0"/>
          </a:p>
          <a:p>
            <a:r>
              <a:rPr lang="ko-KR" altLang="en-US" dirty="0" smtClean="0"/>
              <a:t>배경지식이 더 추가됨으로써 만족스러운 보다 복잡한 규칙들이 생성됨</a:t>
            </a:r>
            <a:endParaRPr lang="en-US" altLang="ko-KR" dirty="0" smtClean="0"/>
          </a:p>
          <a:p>
            <a:r>
              <a:rPr lang="ko-KR" altLang="en-US" dirty="0" smtClean="0"/>
              <a:t>학습 규칙들은 수작업 규칙들에 비하여 우수한 성능을 제시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91782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smtClean="0"/>
              <a:t>마케팅과 판매 </a:t>
            </a:r>
            <a:endParaRPr lang="en-US" altLang="ko-KR" dirty="0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87500"/>
            <a:ext cx="10439400" cy="4649788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회사들은 막대한 양의 마케팅과 판매 데이터를 정밀하게 기록</a:t>
            </a:r>
            <a:endParaRPr lang="en-US" altLang="ko-KR" dirty="0" smtClean="0"/>
          </a:p>
          <a:p>
            <a:r>
              <a:rPr lang="ko-KR" altLang="en-US" dirty="0"/>
              <a:t>장바구니 분석</a:t>
            </a:r>
            <a:r>
              <a:rPr lang="en-US" altLang="ko-KR" dirty="0"/>
              <a:t>(Market basket analysis)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dirty="0">
                <a:ea typeface="굴림" panose="020B0600000101010101" pitchFamily="50" charset="-127"/>
              </a:rPr>
              <a:t>연관성 기법</a:t>
            </a:r>
            <a:r>
              <a:rPr lang="en-US" altLang="ko-KR" dirty="0">
                <a:ea typeface="굴림" panose="020B0600000101010101" pitchFamily="50" charset="-127"/>
              </a:rPr>
              <a:t>(association techniques</a:t>
            </a:r>
            <a:r>
              <a:rPr lang="en-US" altLang="ko-KR" dirty="0" smtClean="0">
                <a:ea typeface="굴림" panose="020B0600000101010101" pitchFamily="50" charset="-127"/>
              </a:rPr>
              <a:t>)</a:t>
            </a:r>
            <a:r>
              <a:rPr lang="ko-KR" altLang="en-US" dirty="0" smtClean="0">
                <a:ea typeface="굴림" panose="020B0600000101010101" pitchFamily="50" charset="-127"/>
              </a:rPr>
              <a:t>을 사용하여 분석</a:t>
            </a:r>
            <a:endParaRPr lang="en-US" altLang="ko-KR" dirty="0">
              <a:ea typeface="굴림" panose="020B0600000101010101" pitchFamily="50" charset="-127"/>
            </a:endParaRPr>
          </a:p>
          <a:p>
            <a:r>
              <a:rPr lang="ko-KR" altLang="en-US" dirty="0"/>
              <a:t>구매 패턴들의 역사적 </a:t>
            </a:r>
            <a:r>
              <a:rPr lang="ko-KR" altLang="en-US" dirty="0" smtClean="0"/>
              <a:t>분석</a:t>
            </a:r>
            <a:endParaRPr lang="en-US" altLang="ko-KR" dirty="0" smtClean="0"/>
          </a:p>
          <a:p>
            <a:r>
              <a:rPr lang="ko-KR" altLang="en-US" dirty="0" smtClean="0"/>
              <a:t>적용분야</a:t>
            </a:r>
            <a:r>
              <a:rPr lang="en-US" altLang="ko-KR" dirty="0" smtClean="0"/>
              <a:t>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dirty="0" smtClean="0">
                <a:ea typeface="굴림" panose="020B0600000101010101" pitchFamily="50" charset="-127"/>
              </a:rPr>
              <a:t>고객 충성도</a:t>
            </a:r>
            <a:r>
              <a:rPr lang="en-US" altLang="ko-KR" dirty="0" smtClean="0">
                <a:ea typeface="굴림" panose="020B0600000101010101" pitchFamily="50" charset="-127"/>
              </a:rPr>
              <a:t>(Customer loyalty): </a:t>
            </a:r>
            <a:r>
              <a:rPr lang="ko-KR" altLang="en-US" dirty="0" smtClean="0">
                <a:ea typeface="굴림" panose="020B0600000101010101" pitchFamily="50" charset="-127"/>
              </a:rPr>
              <a:t>고객의 행위 변화를 감지함으로써 이탈할 가능성이 있는 고객을 식별 </a:t>
            </a:r>
            <a:r>
              <a:rPr lang="en-US" altLang="ko-KR" dirty="0" smtClean="0">
                <a:ea typeface="굴림" panose="020B0600000101010101" pitchFamily="50" charset="-127"/>
              </a:rPr>
              <a:t>(</a:t>
            </a:r>
            <a:r>
              <a:rPr lang="ko-KR" altLang="en-US" dirty="0" smtClean="0">
                <a:ea typeface="굴림" panose="020B0600000101010101" pitchFamily="50" charset="-127"/>
              </a:rPr>
              <a:t>예</a:t>
            </a:r>
            <a:r>
              <a:rPr lang="en-US" altLang="ko-KR" dirty="0" smtClean="0">
                <a:ea typeface="굴림" panose="020B0600000101010101" pitchFamily="50" charset="-127"/>
              </a:rPr>
              <a:t>, </a:t>
            </a:r>
            <a:r>
              <a:rPr lang="ko-KR" altLang="en-US" dirty="0" smtClean="0">
                <a:ea typeface="굴림" panose="020B0600000101010101" pitchFamily="50" charset="-127"/>
              </a:rPr>
              <a:t>은행</a:t>
            </a:r>
            <a:r>
              <a:rPr lang="en-US" altLang="ko-KR" dirty="0" smtClean="0">
                <a:ea typeface="굴림" panose="020B0600000101010101" pitchFamily="50" charset="-127"/>
              </a:rPr>
              <a:t>/ </a:t>
            </a:r>
            <a:r>
              <a:rPr lang="ko-KR" altLang="en-US" dirty="0" smtClean="0">
                <a:ea typeface="굴림" panose="020B0600000101010101" pitchFamily="50" charset="-127"/>
              </a:rPr>
              <a:t>신용카드 회사</a:t>
            </a:r>
            <a:r>
              <a:rPr lang="en-US" altLang="ko-KR" dirty="0" smtClean="0">
                <a:ea typeface="굴림" panose="020B0600000101010101" pitchFamily="50" charset="-127"/>
              </a:rPr>
              <a:t>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dirty="0" smtClean="0">
                <a:ea typeface="굴림" panose="020B0600000101010101" pitchFamily="50" charset="-127"/>
              </a:rPr>
              <a:t>특별 제안</a:t>
            </a:r>
            <a:r>
              <a:rPr lang="en-US" altLang="ko-KR" dirty="0" smtClean="0">
                <a:ea typeface="굴림" panose="020B0600000101010101" pitchFamily="50" charset="-127"/>
              </a:rPr>
              <a:t>(Special offer): </a:t>
            </a:r>
            <a:r>
              <a:rPr lang="ko-KR" altLang="en-US" dirty="0" smtClean="0">
                <a:ea typeface="굴림" panose="020B0600000101010101" pitchFamily="50" charset="-127"/>
              </a:rPr>
              <a:t>수익창출 고객 식별 </a:t>
            </a:r>
            <a:r>
              <a:rPr lang="en-US" altLang="ko-KR" dirty="0" smtClean="0">
                <a:ea typeface="굴림" panose="020B0600000101010101" pitchFamily="50" charset="-127"/>
              </a:rPr>
              <a:t>(</a:t>
            </a:r>
            <a:r>
              <a:rPr lang="ko-KR" altLang="en-US" dirty="0" smtClean="0">
                <a:ea typeface="굴림" panose="020B0600000101010101" pitchFamily="50" charset="-127"/>
              </a:rPr>
              <a:t>예</a:t>
            </a:r>
            <a:r>
              <a:rPr lang="en-US" altLang="ko-KR" dirty="0" smtClean="0">
                <a:ea typeface="굴림" panose="020B0600000101010101" pitchFamily="50" charset="-127"/>
              </a:rPr>
              <a:t>, </a:t>
            </a:r>
            <a:r>
              <a:rPr lang="ko-KR" altLang="en-US" dirty="0" smtClean="0">
                <a:ea typeface="굴림" panose="020B0600000101010101" pitchFamily="50" charset="-127"/>
              </a:rPr>
              <a:t>휴가시즌에 별도 경비가 필요한 신뢰할  수준의 신용카드 소유자들</a:t>
            </a:r>
            <a:r>
              <a:rPr lang="en-US" altLang="ko-KR" dirty="0" smtClean="0">
                <a:ea typeface="굴림" panose="020B0600000101010101" pitchFamily="50" charset="-127"/>
              </a:rPr>
              <a:t>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dirty="0"/>
              <a:t>잠재고객 </a:t>
            </a:r>
            <a:r>
              <a:rPr lang="ko-KR" altLang="en-US" dirty="0" smtClean="0"/>
              <a:t>식별 </a:t>
            </a:r>
            <a:r>
              <a:rPr lang="en-US" altLang="ko-KR" dirty="0" smtClean="0"/>
              <a:t>: </a:t>
            </a:r>
            <a:r>
              <a:rPr lang="ko-KR" altLang="en-US" dirty="0" smtClean="0">
                <a:ea typeface="굴림" panose="020B0600000101010101" pitchFamily="50" charset="-127"/>
              </a:rPr>
              <a:t>초점을 </a:t>
            </a:r>
            <a:r>
              <a:rPr lang="ko-KR" altLang="en-US" dirty="0">
                <a:ea typeface="굴림" panose="020B0600000101010101" pitchFamily="50" charset="-127"/>
              </a:rPr>
              <a:t>맞춘 판촉 우편 </a:t>
            </a:r>
            <a:r>
              <a:rPr lang="ko-KR" altLang="en-US" dirty="0" smtClean="0">
                <a:ea typeface="굴림" panose="020B0600000101010101" pitchFamily="50" charset="-127"/>
              </a:rPr>
              <a:t>발송 </a:t>
            </a:r>
            <a:r>
              <a:rPr lang="en-US" altLang="ko-KR" dirty="0" smtClean="0">
                <a:ea typeface="굴림" panose="020B0600000101010101" pitchFamily="50" charset="-127"/>
              </a:rPr>
              <a:t>(</a:t>
            </a:r>
            <a:r>
              <a:rPr lang="ko-KR" altLang="en-US" dirty="0">
                <a:ea typeface="굴림" panose="020B0600000101010101" pitchFamily="50" charset="-127"/>
              </a:rPr>
              <a:t>목표 설정 행사가 무작위 대량 행사 보다 경비 절감</a:t>
            </a:r>
            <a:r>
              <a:rPr lang="en-US" altLang="ko-KR" dirty="0">
                <a:ea typeface="굴림" panose="020B0600000101010101" pitchFamily="50" charset="-127"/>
              </a:rPr>
              <a:t>)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altLang="ko-KR" dirty="0" smtClean="0">
              <a:ea typeface="굴림" panose="020B0600000101010101" pitchFamily="50" charset="-127"/>
            </a:endParaRPr>
          </a:p>
        </p:txBody>
      </p:sp>
      <p:pic>
        <p:nvPicPr>
          <p:cNvPr id="4" name="Picture 5" descr="sh_car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40" y="2198689"/>
            <a:ext cx="1392235" cy="1592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3008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smtClean="0"/>
              <a:t>국내사례: 백화점 고객 분류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60525"/>
            <a:ext cx="10277475" cy="41148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dirty="0" smtClean="0"/>
              <a:t>현대정보기술 팀</a:t>
            </a:r>
          </a:p>
          <a:p>
            <a:pPr eaLnBrk="1" hangingPunct="1">
              <a:defRPr/>
            </a:pPr>
            <a:r>
              <a:rPr lang="ko-KR" altLang="en-US" dirty="0" smtClean="0"/>
              <a:t>백화점 고객분류가 목적</a:t>
            </a:r>
          </a:p>
          <a:p>
            <a:pPr lvl="1" eaLnBrk="1" hangingPunct="1">
              <a:defRPr/>
            </a:pPr>
            <a:r>
              <a:rPr lang="ko-KR" altLang="en-US" dirty="0" smtClean="0"/>
              <a:t>주 고객은 누구인가 ?</a:t>
            </a:r>
          </a:p>
          <a:p>
            <a:pPr lvl="1" eaLnBrk="1" hangingPunct="1">
              <a:defRPr/>
            </a:pPr>
            <a:r>
              <a:rPr lang="ko-KR" altLang="en-US" dirty="0" smtClean="0"/>
              <a:t>어떤 종류의 고객을 유치하면 매출이 증가하는가 ?</a:t>
            </a:r>
          </a:p>
          <a:p>
            <a:pPr lvl="1" eaLnBrk="1" hangingPunct="1">
              <a:defRPr/>
            </a:pPr>
            <a:r>
              <a:rPr lang="ko-KR" altLang="en-US" dirty="0" smtClean="0"/>
              <a:t>고객 </a:t>
            </a:r>
            <a:r>
              <a:rPr lang="ko-KR" altLang="en-US" dirty="0" err="1" smtClean="0"/>
              <a:t>구룹별</a:t>
            </a:r>
            <a:r>
              <a:rPr lang="ko-KR" altLang="en-US" dirty="0" smtClean="0"/>
              <a:t> 주요 상품, 상품별 </a:t>
            </a:r>
            <a:r>
              <a:rPr lang="ko-KR" altLang="en-US" smtClean="0"/>
              <a:t>주요고객 그룹</a:t>
            </a:r>
            <a:endParaRPr lang="ko-KR" altLang="en-US" dirty="0" smtClean="0"/>
          </a:p>
          <a:p>
            <a:pPr lvl="1" eaLnBrk="1" hangingPunct="1">
              <a:defRPr/>
            </a:pPr>
            <a:r>
              <a:rPr lang="ko-KR" altLang="en-US" dirty="0" smtClean="0"/>
              <a:t>어떤 특성의 고객이 연체하는가 ?</a:t>
            </a:r>
          </a:p>
          <a:p>
            <a:pPr eaLnBrk="1" hangingPunct="1">
              <a:defRPr/>
            </a:pPr>
            <a:r>
              <a:rPr lang="ko-KR" altLang="en-US" dirty="0" smtClean="0"/>
              <a:t>기대 효과</a:t>
            </a:r>
          </a:p>
          <a:p>
            <a:pPr lvl="1" eaLnBrk="1" hangingPunct="1">
              <a:defRPr/>
            </a:pPr>
            <a:r>
              <a:rPr lang="ko-KR" altLang="en-US" dirty="0" smtClean="0"/>
              <a:t>일률적 </a:t>
            </a:r>
            <a:r>
              <a:rPr lang="ko-KR" altLang="en-US" dirty="0" err="1" smtClean="0"/>
              <a:t>마켓팅전략에서</a:t>
            </a:r>
            <a:r>
              <a:rPr lang="ko-KR" altLang="en-US" dirty="0" smtClean="0"/>
              <a:t> </a:t>
            </a:r>
            <a:r>
              <a:rPr lang="ko-KR" altLang="en-US" dirty="0" smtClean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부분적이고 차별화된 </a:t>
            </a:r>
            <a:r>
              <a:rPr lang="ko-KR" altLang="en-US" dirty="0" err="1" smtClean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마켓팅전략으로</a:t>
            </a:r>
            <a:endParaRPr lang="ko-KR" altLang="en-US" dirty="0" smtClean="0">
              <a:solidFill>
                <a:srgbClr val="660033"/>
              </a:solidFill>
            </a:endParaRPr>
          </a:p>
          <a:p>
            <a:pPr lvl="1" eaLnBrk="1" hangingPunct="1">
              <a:defRPr/>
            </a:pPr>
            <a:r>
              <a:rPr lang="ko-KR" altLang="en-US" dirty="0" smtClean="0"/>
              <a:t>매출 증대, 비용감소, 연체 감소, 이익 증대</a:t>
            </a:r>
          </a:p>
        </p:txBody>
      </p:sp>
    </p:spTree>
    <p:extLst>
      <p:ext uri="{BB962C8B-B14F-4D97-AF65-F5344CB8AC3E}">
        <p14:creationId xmlns:p14="http://schemas.microsoft.com/office/powerpoint/2010/main" val="14573162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76350" y="409575"/>
            <a:ext cx="8683625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dirty="0" smtClean="0"/>
              <a:t>국내 사례 : 신용카드 사기검출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6350" y="1981200"/>
            <a:ext cx="9829800" cy="4114800"/>
          </a:xfrm>
        </p:spPr>
        <p:txBody>
          <a:bodyPr/>
          <a:lstStyle/>
          <a:p>
            <a:pPr eaLnBrk="1" hangingPunct="1"/>
            <a:r>
              <a:rPr lang="en-US" altLang="ko-KR" dirty="0" smtClean="0"/>
              <a:t>LG</a:t>
            </a:r>
            <a:r>
              <a:rPr lang="ko-KR" altLang="en-US" dirty="0" smtClean="0"/>
              <a:t>종합기술원</a:t>
            </a:r>
          </a:p>
          <a:p>
            <a:pPr eaLnBrk="1" hangingPunct="1"/>
            <a:r>
              <a:rPr lang="ko-KR" altLang="en-US" dirty="0" smtClean="0"/>
              <a:t>신용카드 사기거래의 효과적 검출</a:t>
            </a:r>
          </a:p>
          <a:p>
            <a:pPr lvl="1" eaLnBrk="1" hangingPunct="1"/>
            <a:r>
              <a:rPr lang="ko-KR" altLang="en-US" dirty="0" smtClean="0"/>
              <a:t>기존 신용카드 승인업무 시스템에 통합 운영 목표</a:t>
            </a:r>
          </a:p>
          <a:p>
            <a:pPr eaLnBrk="1" hangingPunct="1"/>
            <a:r>
              <a:rPr lang="ko-KR" altLang="en-US" dirty="0" smtClean="0"/>
              <a:t>사기거래의 특징 변수</a:t>
            </a:r>
          </a:p>
          <a:p>
            <a:pPr lvl="1" eaLnBrk="1" hangingPunct="1"/>
            <a:r>
              <a:rPr lang="ko-KR" altLang="en-US" dirty="0" smtClean="0"/>
              <a:t>거래속도, 거래금액, 가맹점 정보, 사용자 정보</a:t>
            </a:r>
          </a:p>
          <a:p>
            <a:pPr eaLnBrk="1" hangingPunct="1"/>
            <a:r>
              <a:rPr lang="ko-KR" altLang="en-US" dirty="0" smtClean="0"/>
              <a:t>신경망 기법으로 </a:t>
            </a:r>
            <a:r>
              <a:rPr lang="en-US" altLang="ko-KR" dirty="0" smtClean="0"/>
              <a:t>Fraud Score </a:t>
            </a:r>
            <a:r>
              <a:rPr lang="ko-KR" altLang="en-US" dirty="0" smtClean="0"/>
              <a:t>생성</a:t>
            </a:r>
          </a:p>
          <a:p>
            <a:pPr eaLnBrk="1" hangingPunct="1"/>
            <a:r>
              <a:rPr lang="ko-KR" altLang="en-US" dirty="0" smtClean="0"/>
              <a:t>1995년 </a:t>
            </a:r>
            <a:r>
              <a:rPr lang="en-US" altLang="ko-KR" dirty="0" smtClean="0"/>
              <a:t>LG</a:t>
            </a:r>
            <a:r>
              <a:rPr lang="ko-KR" altLang="en-US" dirty="0" smtClean="0"/>
              <a:t>신용카드 거래자료 14만건으로 훈련</a:t>
            </a:r>
          </a:p>
          <a:p>
            <a:pPr eaLnBrk="1" hangingPunct="1"/>
            <a:r>
              <a:rPr lang="ko-KR" altLang="en-US" dirty="0" smtClean="0"/>
              <a:t>사용 가능한 성능</a:t>
            </a:r>
          </a:p>
        </p:txBody>
      </p:sp>
    </p:spTree>
    <p:extLst>
      <p:ext uri="{BB962C8B-B14F-4D97-AF65-F5344CB8AC3E}">
        <p14:creationId xmlns:p14="http://schemas.microsoft.com/office/powerpoint/2010/main" val="410351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795</TotalTime>
  <Words>1112</Words>
  <Application>Microsoft Office PowerPoint</Application>
  <PresentationFormat>와이드스크린</PresentationFormat>
  <Paragraphs>235</Paragraphs>
  <Slides>22</Slides>
  <Notes>13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22</vt:i4>
      </vt:variant>
    </vt:vector>
  </HeadingPairs>
  <TitlesOfParts>
    <vt:vector size="32" baseType="lpstr">
      <vt:lpstr>Monotype Sorts</vt:lpstr>
      <vt:lpstr>굴림</vt:lpstr>
      <vt:lpstr>맑은 고딕</vt:lpstr>
      <vt:lpstr>Arial</vt:lpstr>
      <vt:lpstr>Symbol</vt:lpstr>
      <vt:lpstr>Times New Roman</vt:lpstr>
      <vt:lpstr>Wingdings</vt:lpstr>
      <vt:lpstr>Office 테마</vt:lpstr>
      <vt:lpstr>클립</vt:lpstr>
      <vt:lpstr>Photo Editor Photo</vt:lpstr>
      <vt:lpstr>Data Mining</vt:lpstr>
      <vt:lpstr>의사결정을 위한 정보 추출</vt:lpstr>
      <vt:lpstr>Data Mining 이란 ?</vt:lpstr>
      <vt:lpstr>배     경</vt:lpstr>
      <vt:lpstr>용어의 역사</vt:lpstr>
      <vt:lpstr>관련 분야</vt:lpstr>
      <vt:lpstr>통계, 기계학습, 데이터 마이닝</vt:lpstr>
      <vt:lpstr>Data Mining 과정</vt:lpstr>
      <vt:lpstr>Data Mining 과정</vt:lpstr>
      <vt:lpstr>고 객 관 리</vt:lpstr>
      <vt:lpstr>현장 적용 사례</vt:lpstr>
      <vt:lpstr>대출 심사 (American Express)</vt:lpstr>
      <vt:lpstr>- 기계학습 적용</vt:lpstr>
      <vt:lpstr>영상 처리</vt:lpstr>
      <vt:lpstr>- 기계학습 적용</vt:lpstr>
      <vt:lpstr>전력 분배 예측</vt:lpstr>
      <vt:lpstr>- 기계학습 적용</vt:lpstr>
      <vt:lpstr>기계고장 (machine faults) 진단</vt:lpstr>
      <vt:lpstr>- 기계학습 적용</vt:lpstr>
      <vt:lpstr>마케팅과 판매 </vt:lpstr>
      <vt:lpstr>국내사례: 백화점 고객 분류</vt:lpstr>
      <vt:lpstr>국내 사례 : 신용카드 사기검출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+ Data Mining</dc:title>
  <dc:creator>BMKIM</dc:creator>
  <cp:lastModifiedBy>user</cp:lastModifiedBy>
  <cp:revision>43</cp:revision>
  <dcterms:created xsi:type="dcterms:W3CDTF">2014-07-14T00:50:31Z</dcterms:created>
  <dcterms:modified xsi:type="dcterms:W3CDTF">2021-04-12T00:35:59Z</dcterms:modified>
</cp:coreProperties>
</file>