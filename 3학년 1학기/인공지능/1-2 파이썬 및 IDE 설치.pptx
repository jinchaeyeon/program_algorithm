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CEC72-7BEC-4BDF-B7AA-BF967197087C}" type="datetimeFigureOut">
              <a:rPr lang="ko-KR" altLang="en-US" smtClean="0"/>
              <a:t>2019-03-04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29985-F4AA-42FB-B326-06D127325C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379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970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104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329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941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242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677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911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880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033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274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1476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61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586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5175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737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728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3040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1992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372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5211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7014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6485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5306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4833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0169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2301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5805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2869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3380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6476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9726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8495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5106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6963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1720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3405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642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9E17-AF4D-4083-B6B2-8ED2C90D3582}" type="datetimeFigureOut">
              <a:rPr lang="ko-KR" altLang="en-US" smtClean="0"/>
              <a:t>2019-03-04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0262-A7C3-4932-A229-900A4BD0B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22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9E17-AF4D-4083-B6B2-8ED2C90D3582}" type="datetimeFigureOut">
              <a:rPr lang="ko-KR" altLang="en-US" smtClean="0"/>
              <a:t>2019-03-04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0262-A7C3-4932-A229-900A4BD0B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904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  <a:lvl2pPr>
              <a:defRPr>
                <a:latin typeface="나눔고딕" pitchFamily="50" charset="-127"/>
                <a:ea typeface="나눔고딕" pitchFamily="50" charset="-127"/>
              </a:defRPr>
            </a:lvl2pPr>
            <a:lvl3pPr>
              <a:defRPr>
                <a:latin typeface="나눔고딕" pitchFamily="50" charset="-127"/>
                <a:ea typeface="나눔고딕" pitchFamily="50" charset="-127"/>
              </a:defRPr>
            </a:lvl3pPr>
            <a:lvl4pPr>
              <a:defRPr>
                <a:latin typeface="나눔고딕" pitchFamily="50" charset="-127"/>
                <a:ea typeface="나눔고딕" pitchFamily="50" charset="-127"/>
              </a:defRPr>
            </a:lvl4pPr>
            <a:lvl5pPr>
              <a:defRPr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8761FD00-3F21-42CF-9EF5-8F6D81CE3AFD}" type="datetimeFigureOut">
              <a:rPr lang="ko-KR" altLang="en-US" smtClean="0"/>
              <a:pPr/>
              <a:t>2019-03-04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67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9E17-AF4D-4083-B6B2-8ED2C90D3582}" type="datetimeFigureOut">
              <a:rPr lang="ko-KR" altLang="en-US" smtClean="0"/>
              <a:t>2019-03-04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0262-A7C3-4932-A229-900A4BD0B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88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9E17-AF4D-4083-B6B2-8ED2C90D3582}" type="datetimeFigureOut">
              <a:rPr lang="ko-KR" altLang="en-US" smtClean="0"/>
              <a:t>2019-03-04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0262-A7C3-4932-A229-900A4BD0B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21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9E17-AF4D-4083-B6B2-8ED2C90D3582}" type="datetimeFigureOut">
              <a:rPr lang="ko-KR" altLang="en-US" smtClean="0"/>
              <a:t>2019-03-04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0262-A7C3-4932-A229-900A4BD0B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63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9E17-AF4D-4083-B6B2-8ED2C90D3582}" type="datetimeFigureOut">
              <a:rPr lang="ko-KR" altLang="en-US" smtClean="0"/>
              <a:t>2019-03-04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0262-A7C3-4932-A229-900A4BD0B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577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9E17-AF4D-4083-B6B2-8ED2C90D3582}" type="datetimeFigureOut">
              <a:rPr lang="ko-KR" altLang="en-US" smtClean="0"/>
              <a:t>2019-03-04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0262-A7C3-4932-A229-900A4BD0B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72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9E17-AF4D-4083-B6B2-8ED2C90D3582}" type="datetimeFigureOut">
              <a:rPr lang="ko-KR" altLang="en-US" smtClean="0"/>
              <a:t>2019-03-04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0262-A7C3-4932-A229-900A4BD0B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3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9E17-AF4D-4083-B6B2-8ED2C90D3582}" type="datetimeFigureOut">
              <a:rPr lang="ko-KR" altLang="en-US" smtClean="0"/>
              <a:t>2019-03-04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0262-A7C3-4932-A229-900A4BD0B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919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9E17-AF4D-4083-B6B2-8ED2C90D3582}" type="datetimeFigureOut">
              <a:rPr lang="ko-KR" altLang="en-US" smtClean="0"/>
              <a:t>2019-03-04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0262-A7C3-4932-A229-900A4BD0B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807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9E17-AF4D-4083-B6B2-8ED2C90D3582}" type="datetimeFigureOut">
              <a:rPr lang="ko-KR" altLang="en-US" smtClean="0"/>
              <a:t>2019-03-04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0262-A7C3-4932-A229-900A4BD0B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2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59E17-AF4D-4083-B6B2-8ED2C90D3582}" type="datetimeFigureOut">
              <a:rPr lang="ko-KR" altLang="en-US" smtClean="0"/>
              <a:t>2019-03-04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F0262-A7C3-4932-A229-900A4BD0B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93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파이썬</a:t>
            </a:r>
            <a:r>
              <a:rPr lang="ko-KR" altLang="en-US" dirty="0" smtClean="0"/>
              <a:t> 및 </a:t>
            </a:r>
            <a:r>
              <a:rPr lang="en-US" altLang="ko-KR" dirty="0" smtClean="0"/>
              <a:t>IDE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986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구현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구현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94230"/>
            <a:ext cx="8470547" cy="4884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파이썬의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구현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은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CPython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레퍼런스 구현처럼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언어로 작성된 프로그램의 실행을 지원하는 프로그램이나 환경을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의미함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현재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이라고 알려진 여러 소프트웨어 패키지들이 있지만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그 중 일부는 언어의 완전히 새로운 구현이기 보다는 기존 구현의 </a:t>
            </a:r>
            <a:r>
              <a:rPr lang="ko-KR" altLang="en-US" sz="1800" dirty="0" err="1" smtClean="0">
                <a:latin typeface="나눔고딕" panose="020B0600000101010101" charset="-127"/>
                <a:ea typeface="나눔고딕" panose="020B0600000101010101" charset="-127"/>
              </a:rPr>
              <a:t>변형들임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위키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(https://wiki.python.org/moin/PythonImplementations)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에 따르면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CPython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변형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즉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CPython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(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사실상의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구현의 참조 모델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)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런타임 코어를 기반으로 하면서 일부 확장된 기능을 갖는 구현들과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CPython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런타임 코어에 의존하지 않고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언어를 재 구현한 것들을 소개하고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후자에 속하는 구현들은 비록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CPython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런타임 코어를 사용하고 있지는 않지만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CPython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의 많은 표준 라이브러리를 재사용하고 있다고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또한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후자에 속하는 구현 대부분은 아직 언어 표준 사항을 달성하지 못했지만 이들 중 상당수는 그런 목표와 기능을 갖추고 있거나 특정 환경에서는 그들만의 강점만을 보여주고 있다고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81F948F-8D34-44ED-A272-0425D5E16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009" y="8677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1B667F-522B-4668-A0C0-6FC04517F6C3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9BB6E-51C9-4FAC-807B-F607E6F0E085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4301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1.3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구현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구현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B078D3A-7263-4E74-B8EE-3CBB08876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976805"/>
              </p:ext>
            </p:extLst>
          </p:nvPr>
        </p:nvGraphicFramePr>
        <p:xfrm>
          <a:off x="1888802" y="1661697"/>
          <a:ext cx="8779197" cy="4853060"/>
        </p:xfrm>
        <a:graphic>
          <a:graphicData uri="http://schemas.openxmlformats.org/drawingml/2006/table">
            <a:tbl>
              <a:tblPr/>
              <a:tblGrid>
                <a:gridCol w="8779197">
                  <a:extLst>
                    <a:ext uri="{9D8B030D-6E8A-4147-A177-3AD203B41FA5}">
                      <a16:colId xmlns:a16="http://schemas.microsoft.com/office/drawing/2014/main" val="2841337759"/>
                    </a:ext>
                  </a:extLst>
                </a:gridCol>
              </a:tblGrid>
              <a:tr h="29407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CPython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659336"/>
                  </a:ext>
                </a:extLst>
              </a:tr>
              <a:tr h="55048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귀도 반 로썸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(Guido van Rossum)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 의해서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1991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년 만들어진 파이썬 구현으로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언어로 구현되어 있으며 우리가 보통 사용하는 파이썬 인터프리터가 바로 이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CPython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이다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811304"/>
                  </a:ext>
                </a:extLst>
              </a:tr>
              <a:tr h="29407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Stackless</a:t>
                      </a: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Python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7667194"/>
                  </a:ext>
                </a:extLst>
              </a:tr>
              <a:tr h="80272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병행성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(concurrency)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을 강조한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CPython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으로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스택을 그대로 사용하여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함수 호출 스택을 구현함으로 발생하는 문제를 해결하기 위해 새로이 함수 호출 스택을 구현한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CPython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변형이다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60588"/>
                  </a:ext>
                </a:extLst>
              </a:tr>
              <a:tr h="29407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IronPython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924395"/>
                  </a:ext>
                </a:extLst>
              </a:tr>
              <a:tr h="10578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마이크로소프트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.NET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환경에서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Python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을 쓸 수 있도록 한 구현으로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Python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개발자에게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.NET Framework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기능을 제공한다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기존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.NET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개발자는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IronPython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을 사용하여 새로운 응용 프로그램에 처음부터 작성할 수도 있고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C#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과 같은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.NET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언어에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임베딩하여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사용할 수도 있다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103050"/>
                  </a:ext>
                </a:extLst>
              </a:tr>
              <a:tr h="29407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Jython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1371117"/>
                  </a:ext>
                </a:extLst>
              </a:tr>
              <a:tr h="10578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자바로 구현 된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인터프리터이다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기존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Java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응용 프로그램과 완벽하게 통합 될 수 있으며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응용 프로그램을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Java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클래스 모음으로 컴파일 할 수도 있다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Jython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가상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머신에서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실행되는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Python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프로그램은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Java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클래스 및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API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 대한 모든 액세스 권한을 갖게 되며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기존 자바 클래스를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JyThon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에서 쉽게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임포트하여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사용할 수 있다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06925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F63FC5D-41DF-408F-8AAF-826878B17A49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5D2F61-1494-4D2C-8615-1792A4745E7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7148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1.3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구현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구현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6CDD82C-7519-4EBC-A8FA-944329EBA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516730"/>
              </p:ext>
            </p:extLst>
          </p:nvPr>
        </p:nvGraphicFramePr>
        <p:xfrm>
          <a:off x="1698171" y="1626649"/>
          <a:ext cx="8687416" cy="4311396"/>
        </p:xfrm>
        <a:graphic>
          <a:graphicData uri="http://schemas.openxmlformats.org/drawingml/2006/table">
            <a:tbl>
              <a:tblPr/>
              <a:tblGrid>
                <a:gridCol w="8687416">
                  <a:extLst>
                    <a:ext uri="{9D8B030D-6E8A-4147-A177-3AD203B41FA5}">
                      <a16:colId xmlns:a16="http://schemas.microsoft.com/office/drawing/2014/main" val="1748270701"/>
                    </a:ext>
                  </a:extLst>
                </a:gridCol>
              </a:tblGrid>
              <a:tr h="2706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PyPy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0302474"/>
                  </a:ext>
                </a:extLst>
              </a:tr>
              <a:tr h="14898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파이썬으로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작성된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인터프리터로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JIT (Just-In-Time)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컴파일 기술을 도입하여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CPython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보다 빠르게 만들었다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먼저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프로그래밍 언어의 부분 집합인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RPython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(Restricted Python)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을 정의하고 이 언어의 인터프리터를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Python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으로 작성한 후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Python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런타임을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RPython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으로 구현하는 방법을 사용하였다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RPython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은 효율적인 정적 컴파일을 위해 기능을 제한하고 있으며 표준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파이썬과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다르게 정적 타입을 사용한다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또한 번역기를 이용하여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RPython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코드를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자바 바이트코드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공통 중간 언어와 같은 저급 언어로 변환할 수 있다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082055"/>
                  </a:ext>
                </a:extLst>
              </a:tr>
              <a:tr h="2706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Cython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909826"/>
                  </a:ext>
                </a:extLst>
              </a:tr>
              <a:tr h="8802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문법을 기반으로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C/C++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루틴을 호출을 위한 외부 함수 인터페이스와 실행 속도 향상을 위한 정적 형 지정 등이 추가된 형태이다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이러한 특징은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빠른 생산성을 유지하면서도 외부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라이브러리와 간결하게 연동하거나 실행 속도 향상 할 수 있도록 해준다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648183"/>
                  </a:ext>
                </a:extLst>
              </a:tr>
              <a:tr h="2706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IPython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1128047"/>
                  </a:ext>
                </a:extLst>
              </a:tr>
              <a:tr h="8802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강력한 추가 기능들을 제공하는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기본 인터프리터의 업그레이드 버전으로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강력한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셸과 핵심 기능은 동일하지만 텍스트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수학 표현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인라인 플롯 및 기타 리치 미디어를 지원하는 웹 기반 노트북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대화식 데이터 시각화 및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GUI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툴킷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유연하고 내장 가능한 인터프리터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병렬 컴퓨팅을 위한 사용하기 쉽고 고성능의 도구들을 제공한다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3375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66C7BAC-8308-49BF-9FA2-5FF23CF6A10E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B4DA4D-96FC-4674-A723-B662AE414778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6201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1.3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구현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구현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19ABA7F-C924-4700-9B86-2EF5AE1A3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642046"/>
              </p:ext>
            </p:extLst>
          </p:nvPr>
        </p:nvGraphicFramePr>
        <p:xfrm>
          <a:off x="1888803" y="1600200"/>
          <a:ext cx="8496783" cy="5250007"/>
        </p:xfrm>
        <a:graphic>
          <a:graphicData uri="http://schemas.openxmlformats.org/drawingml/2006/table">
            <a:tbl>
              <a:tblPr/>
              <a:tblGrid>
                <a:gridCol w="8496783">
                  <a:extLst>
                    <a:ext uri="{9D8B030D-6E8A-4147-A177-3AD203B41FA5}">
                      <a16:colId xmlns:a16="http://schemas.microsoft.com/office/drawing/2014/main" val="651865849"/>
                    </a:ext>
                  </a:extLst>
                </a:gridCol>
              </a:tblGrid>
              <a:tr h="2638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PyMite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1100" marR="61100" marT="16892" marB="1689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373277"/>
                  </a:ext>
                </a:extLst>
              </a:tr>
              <a:tr h="75081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임베디드용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파이썬으로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64KB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프로그램 메모리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플래시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)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및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4KB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RAM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으로 제한된 리소스를 갖춘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8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비트 이상의 대형 마이크로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컨트롤러을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타겟으로 개발된 아주 가벼운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인터프리터이다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PyMite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는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데스크탑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컴퓨터에서 컴파일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테스트 및 실행될 수 있다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1100" marR="61100" marT="16892" marB="1689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544578"/>
                  </a:ext>
                </a:extLst>
              </a:tr>
              <a:tr h="2638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MicroPython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1100" marR="61100" marT="16892" marB="1689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02015"/>
                  </a:ext>
                </a:extLst>
              </a:tr>
              <a:tr h="44698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마이크로 컨트롤러를 위한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CPython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변형으로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pyboard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BBC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Microbit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위에서 실행된다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1100" marR="61100" marT="16892" marB="1689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2579824"/>
                  </a:ext>
                </a:extLst>
              </a:tr>
              <a:tr h="2638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eGenix</a:t>
                      </a: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PyRun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1100" marR="61100" marT="16892" marB="1689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1938763"/>
                  </a:ext>
                </a:extLst>
              </a:tr>
              <a:tr h="4938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Python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런타임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CPython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+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표준 라이브러리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을 하나의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3~4MB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바이너리로 압축한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CPython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변형이다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1100" marR="61100" marT="16892" marB="1689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410262"/>
                  </a:ext>
                </a:extLst>
              </a:tr>
              <a:tr h="2638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Brython</a:t>
                      </a: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pyjs</a:t>
                      </a: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Pyjaco</a:t>
                      </a: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Skulpt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1100" marR="61100" marT="16892" marB="1689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716974"/>
                  </a:ext>
                </a:extLst>
              </a:tr>
              <a:tr h="4938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코드를 자바스크립트로 코드로 변환해주는 변환기로 이를 통해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코드를 브라우저 안에서 실행할 수 있게 해 준다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1100" marR="61100" marT="16892" marB="1689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183460"/>
                  </a:ext>
                </a:extLst>
              </a:tr>
              <a:tr h="2638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Psyco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1100" marR="61100" marT="16892" marB="1689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875852"/>
                  </a:ext>
                </a:extLst>
              </a:tr>
              <a:tr h="4938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CPython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자체의 기능을 추가하거나 축소하지 않고 단지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JIT(just-in-time)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컴파일 기능을 구현한 것이다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1100" marR="61100" marT="16892" marB="1689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2183002"/>
                  </a:ext>
                </a:extLst>
              </a:tr>
              <a:tr h="2638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2c-python</a:t>
                      </a:r>
                    </a:p>
                  </a:txBody>
                  <a:tcPr marL="61100" marR="61100" marT="16892" marB="1689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447494"/>
                  </a:ext>
                </a:extLst>
              </a:tr>
              <a:tr h="26380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파이썬을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코드로 변환해 주는 컴파일러이다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1100" marR="61100" marT="16892" marB="1689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3807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87BEABD-8FA3-4DD4-B406-486799BE0C6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FEE2DD-3C04-4A88-AB65-0610F74470DA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520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1.4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설치 및 사용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설치 및 사용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4003828"/>
            <a:ext cx="8470547" cy="2154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설치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설치 전에 먼저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파이썬이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설치되어 있는지를 확인해 보도록 하자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먼저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도스창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cmd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프로그램 실행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을 띄운 후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where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명령을 사용하든지 아니면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명령어를 입력해 보면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이미 설치되어 있을 경우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위와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같은 결과를 얻을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나중에라도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프로그램의 설치 위치를 알고 싶을 경우는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where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명령어를 사용하기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바람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81F948F-8D34-44ED-A272-0425D5E16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009" y="8677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A8567-1B7F-4DB9-A8A9-2813C2064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632" y="100497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8433" name="_x232888480" descr="EMB00000f54972d">
            <a:extLst>
              <a:ext uri="{FF2B5EF4-FFF2-40B4-BE49-F238E27FC236}">
                <a16:creationId xmlns:a16="http://schemas.microsoft.com/office/drawing/2014/main" id="{037C8E22-64F7-499B-A595-FB5CA74DF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731" y="1570504"/>
            <a:ext cx="5400675" cy="199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B3D7F3-B334-457A-B482-C874DF814FDA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FF20D0-BFC5-4B3F-BEBC-4A70EB86D9D4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4170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1.4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설치 및 사용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설치 및 사용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94230"/>
            <a:ext cx="8470547" cy="4191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가장 최신의 최신 소스 코드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바이너리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뉴스 등은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공식 웹 사이트인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https://www.python.org/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에서 구할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참고로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설명서는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https://www.python.org/doc/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에서 다운로드 할 수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배포판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즉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CPython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은 다양한 플랫폼에서 사용할 수 있는데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플랫폼에 맞는 바이너리 코드만 다운로드하여 설치하면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플랫폼에 맞는 이진 코드를 사용할 수 없는 경우 수동으로 소스 코드를 컴파일하려면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컴파일러가 필요하며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소스 코드를 컴파일하여 설치할 시 필요한 기능을 보다 유연하게 선택할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81F948F-8D34-44ED-A272-0425D5E16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009" y="8677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EC972-B250-4A49-9019-A9E774CE9C7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9B481F-3740-4CAF-B411-75D4DEDA691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1515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1.4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설치 및 사용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249864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설치 및 </a:t>
            </a:r>
            <a:r>
              <a:rPr lang="ko-KR" altLang="en-US" sz="4000" b="1" spc="-150" dirty="0" smtClean="0">
                <a:solidFill>
                  <a:schemeClr val="accent4">
                    <a:lumMod val="50000"/>
                  </a:schemeClr>
                </a:solidFill>
              </a:rPr>
              <a:t>사용 </a:t>
            </a:r>
            <a:r>
              <a:rPr lang="en-US" altLang="ko-KR" sz="4000" b="1" spc="-150" dirty="0" smtClean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ko-KR" altLang="en-US" sz="4000" b="1" spc="-150" dirty="0" smtClean="0">
                <a:solidFill>
                  <a:schemeClr val="accent4">
                    <a:lumMod val="50000"/>
                  </a:schemeClr>
                </a:solidFill>
              </a:rPr>
              <a:t>윈도우 용</a:t>
            </a:r>
            <a:r>
              <a:rPr lang="en-US" altLang="ko-KR" sz="4000" b="1" spc="-150" dirty="0" smtClean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5304968"/>
            <a:ext cx="8470547" cy="580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a)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먼저 웹 브라우저를 열고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https://www.python.org/downloads/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로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이동함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b)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원하는 버전의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download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링크를 선택한 후 원하는 파일을 다운로드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81F948F-8D34-44ED-A272-0425D5E16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009" y="8677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3AF1A4-CF82-40B4-BD33-75E96F593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259" y="128096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1" name="_x518289832" descr="EMB00000f549753">
            <a:extLst>
              <a:ext uri="{FF2B5EF4-FFF2-40B4-BE49-F238E27FC236}">
                <a16:creationId xmlns:a16="http://schemas.microsoft.com/office/drawing/2014/main" id="{9767D24E-D98B-4844-A925-A84D2F4FA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731" y="1694230"/>
            <a:ext cx="5400675" cy="304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825486-0577-4E99-A478-351C03A8F394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749F08-0540-486C-A600-A688B8C7C676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3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1.4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설치 및 사용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설치 및 사용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5304968"/>
            <a:ext cx="8470547" cy="580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c)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다운로드 한 파일을 실행하면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설치 마법사가 구동되고 이 상태에서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install now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링크를 누르면 설치가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진행됨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81F948F-8D34-44ED-A272-0425D5E16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009" y="8677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3AF1A4-CF82-40B4-BD33-75E96F593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259" y="128096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283D5A6-1374-4F49-85DF-D02B4656B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982" y="14487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2531" name="_x518299408" descr="EMB00000f54975e">
            <a:extLst>
              <a:ext uri="{FF2B5EF4-FFF2-40B4-BE49-F238E27FC236}">
                <a16:creationId xmlns:a16="http://schemas.microsoft.com/office/drawing/2014/main" id="{6B53D077-9C82-42A7-A146-B6AF10338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731" y="1694230"/>
            <a:ext cx="5400675" cy="2455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821CB3-65B6-4EDA-A5FF-9B48623D9AFC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2D8AD5-4122-475F-A2A2-E0060CAA8E73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7419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1.4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설치 및 사용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설치 및 사용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5304968"/>
            <a:ext cx="8470547" cy="580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(d)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설치가 완료 될 때까지 그냥 기다리면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81F948F-8D34-44ED-A272-0425D5E16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009" y="8677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3AF1A4-CF82-40B4-BD33-75E96F593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259" y="128096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283D5A6-1374-4F49-85DF-D02B4656B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982" y="14487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4FA241-2CE1-4147-BC68-5A962D1A9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732" y="115723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3553" name="_x518284072" descr="EMB00000f54976a">
            <a:extLst>
              <a:ext uri="{FF2B5EF4-FFF2-40B4-BE49-F238E27FC236}">
                <a16:creationId xmlns:a16="http://schemas.microsoft.com/office/drawing/2014/main" id="{BE80C4A8-A405-4739-B782-61E6CAED9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881" y="1633378"/>
            <a:ext cx="4270375" cy="265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FE93A9-F21A-448F-A3DF-03AE76BBBB33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F0F28C-2814-4A16-A5ED-B18782D83EE2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9306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1.4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설치 및 사용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설치 및 사용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4182805"/>
            <a:ext cx="8470547" cy="26542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참고로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유닉스 또는 리눅스 상에 설치하는 간략한 과정은 아래와 같음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기본 설치를 할 경우 </a:t>
            </a:r>
            <a:r>
              <a:rPr lang="ko-KR" altLang="en-US" sz="14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 실행 파일은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/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usr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/local/bin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에 설치되며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라이브러리들은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/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usr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/local/lib/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pythonXX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에 설치됨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여기서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XX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는 </a:t>
            </a:r>
            <a:r>
              <a:rPr lang="ko-KR" altLang="en-US" sz="14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 버전임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a)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먼저 웹 브라우저를 열고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https://www.python.org/downloads/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로 이동함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b)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원하는 버전의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download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링크를 선택한 후 압축된 소스코드를 다운로드 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c)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압축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(tar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이용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을 해제한 후 해제된 파일이 존재하는 디렉토리로 이동함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d)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옵션을 바꾸고자 할 경우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Modules/Setup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파일을 수정함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e) ./configure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스크립트를 실행함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f) make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명령을 실행시켜 소스 파일을 실행 파일로 </a:t>
            </a:r>
            <a:r>
              <a:rPr lang="ko-KR" altLang="en-US" sz="1400" dirty="0" err="1">
                <a:latin typeface="나눔고딕" panose="020B0600000101010101" charset="-127"/>
                <a:ea typeface="나눔고딕" panose="020B0600000101010101" charset="-127"/>
              </a:rPr>
              <a:t>만듬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g) make install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명령을 실행시켜 실행 파일을 포함한 파일들을 적절한 위치에 설치함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4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81F948F-8D34-44ED-A272-0425D5E16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009" y="8677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3AF1A4-CF82-40B4-BD33-75E96F593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259" y="128096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283D5A6-1374-4F49-85DF-D02B4656B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982" y="14487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4FA241-2CE1-4147-BC68-5A962D1A9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732" y="115723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E4717AC-C381-49F0-A191-C6BBEE663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5455" y="115723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4577" name="_x518291416" descr="EMB00000f549770">
            <a:extLst>
              <a:ext uri="{FF2B5EF4-FFF2-40B4-BE49-F238E27FC236}">
                <a16:creationId xmlns:a16="http://schemas.microsoft.com/office/drawing/2014/main" id="{01FA19F1-288B-488F-BD77-B297FDD27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881" y="1465629"/>
            <a:ext cx="4270375" cy="265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17C66E-BF2B-4E56-B73E-105B95D83EB0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350C7D-AD6A-4E14-BA84-F243C4B03702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4351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1.4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설치 및 사용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설치 및 사용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3429001"/>
            <a:ext cx="8470547" cy="34081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ko-KR" altLang="en-US" sz="1400" b="1" dirty="0">
                <a:latin typeface="나눔고딕" panose="020B0600000101010101" charset="-127"/>
                <a:ea typeface="나눔고딕" panose="020B0600000101010101" charset="-127"/>
              </a:rPr>
              <a:t>업데이트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기존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을 업그레이드 할 경우는 먼저 현재 버전을 확인해 볼 필요가 있는데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이 때 “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python –V”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명령을 도스창에서 입력해 보면 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</a:p>
          <a:p>
            <a:pPr fontAlgn="base"/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그리고 난 후 앞에서 설명한 설치 과정을 따라 새로운 버전을 설치하면 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</a:p>
          <a:p>
            <a:pPr fontAlgn="base"/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윈도우인 경우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주요 업데이트인 경우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예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: 2.7.x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에서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3.5.x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로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는 새로운 버전은 별도의 디렉토리에 설치되게 되며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관련된 환경변수들은 그대로 옛 버전을 가리키게 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fontAlgn="base"/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따라서 새로운 버전에 대한 단축아이콘을 만들어 새 버전을 가리키도록 해야 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사소한 업데이트인 경우는 기존 버전을 제거하고 설치하게 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</a:p>
          <a:p>
            <a:pPr fontAlgn="base"/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어찌 되었든 </a:t>
            </a:r>
            <a:r>
              <a:rPr lang="ko-KR" altLang="en-US" sz="1400" dirty="0" err="1">
                <a:latin typeface="나눔고딕" panose="020B0600000101010101" charset="-127"/>
                <a:ea typeface="나눔고딕" panose="020B0600000101010101" charset="-127"/>
              </a:rPr>
              <a:t>윈도우즈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 환경 하에서는 새로운 버전을 설치하면 자동으로 업데이트가 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</a:p>
          <a:p>
            <a:pPr fontAlgn="base"/>
            <a:r>
              <a:rPr lang="ko-KR" altLang="en-US" sz="14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 자체를 업데이트할 경우도 있지만 특정 모듈 또는 라이브러리를 새로이 추가하거나 업데이트 할 필요성도 있음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이런 경우에는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7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장에 있는 내용을 참고하기 바람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4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81F948F-8D34-44ED-A272-0425D5E16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009" y="8677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3AF1A4-CF82-40B4-BD33-75E96F593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259" y="128096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283D5A6-1374-4F49-85DF-D02B4656B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982" y="14487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4FA241-2CE1-4147-BC68-5A962D1A9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732" y="115723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E4717AC-C381-49F0-A191-C6BBEE663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5455" y="115723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F382C17-753C-4BAE-A816-D470B2FBE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705" y="122373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5601" name="_x518296456" descr="EMB00000f549778">
            <a:extLst>
              <a:ext uri="{FF2B5EF4-FFF2-40B4-BE49-F238E27FC236}">
                <a16:creationId xmlns:a16="http://schemas.microsoft.com/office/drawing/2014/main" id="{AA8DD25E-AFC7-46B0-B7EC-B4F788866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731" y="1569573"/>
            <a:ext cx="5400675" cy="97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97E39D-3661-44F3-8BC7-D4D7275CBEFF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874D0A-BD0E-4AB7-9DC4-6C51610EA3D8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8262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1.5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프로그램 작성 및 실행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프로그램 작성 및 실행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4191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프로그램을 실행하는 방법에는 대화식 방식과 스크립트 방식이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대화식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방식은 한 명령어를 입력하여 실행하고 그 결과를 확인하는 형태로 동작하는 방식이며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스크립트 방식은 전체 코드를 작성한 후 한꺼번에 실행시키는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방식임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대화식 방식으로 실행시키려면 도스창에서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명령을 실행시키면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그러면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아래와 같은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프롬프트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(“&gt;&gt;&gt;“)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출력하여 실행시킬 명령을 읽어 들이게 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16" name="_x518311648" descr="EMB00000f549785">
            <a:extLst>
              <a:ext uri="{FF2B5EF4-FFF2-40B4-BE49-F238E27FC236}">
                <a16:creationId xmlns:a16="http://schemas.microsoft.com/office/drawing/2014/main" id="{2A9E9EF4-4716-4BF0-B851-7514433B1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347" y="4193905"/>
            <a:ext cx="8282222" cy="169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64410D-7F6F-4606-8C7F-88C529779162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20D9B3-BED3-4A84-A64E-89E5BC5C008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481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1.5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프로그램 작성 및 실행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프로그램 작성 및 실행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4191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예를 들어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3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5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결과를 출력하고 싶으면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아래와 같이 두 개의 명령을 차례대로 입력하면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28673" name="_x518293072" descr="EMB00000f549790">
            <a:extLst>
              <a:ext uri="{FF2B5EF4-FFF2-40B4-BE49-F238E27FC236}">
                <a16:creationId xmlns:a16="http://schemas.microsoft.com/office/drawing/2014/main" id="{709E79D1-9237-4EFE-B600-1A2FBE315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610" y="2898674"/>
            <a:ext cx="8718780" cy="178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50B862-3007-4CC6-B48D-D282CA59066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FCA18-5247-4DEB-9D15-0745ECAAAC25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5194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1.5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프로그램 작성 및 실행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프로그램 작성 및 실행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4191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같은 프로그램을 스크립트 방식으로 실행하려면 먼저 실행하고자 하는 명령어들을 파일로 작성한 후 현 작업 디렉토리에 저장한 후 이 파일명을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명령행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인수로 해서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명령을 실행시키면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29697" name="_x518307760" descr="EMB00000f549799">
            <a:extLst>
              <a:ext uri="{FF2B5EF4-FFF2-40B4-BE49-F238E27FC236}">
                <a16:creationId xmlns:a16="http://schemas.microsoft.com/office/drawing/2014/main" id="{E2A9996C-7B9E-423F-9E0F-A93C2A8FA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255" y="3429001"/>
            <a:ext cx="7951821" cy="2566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9184D1-2CB3-4C08-B1C5-ADBF0F6F148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74F45A-ADF5-4D3B-8868-AAD7599017A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6944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1.5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프로그램 작성 및 실행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프로그램 작성 및 실행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4191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프로그램이 끝났을 때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파이썬이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종료하는 대신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-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플래그를 사용하여 대화식 세션을 시작할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이렇게 하면 프로그램 실행 후의 변수의 상태를 대화식으로 조사할 수 있어 디버깅 및 프로토 타이핑에 매우 유용하게 활용할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30721" name="_x518283856" descr="EMB00000f54979f">
            <a:extLst>
              <a:ext uri="{FF2B5EF4-FFF2-40B4-BE49-F238E27FC236}">
                <a16:creationId xmlns:a16="http://schemas.microsoft.com/office/drawing/2014/main" id="{2EC4DC55-C983-4BA1-BE16-31AC5986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810" y="3429000"/>
            <a:ext cx="7703987" cy="248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982EF0-4AF4-4F65-A158-ACA92D131F70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21932-E85D-4E98-A536-4D0AD3895B2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486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72378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4191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프로그램을 개발할 시에 도스창에서 실행할 수도 있지만 프로그램 작성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실행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디버깅에 이르기까지 모든 과정을 한 곳에서 할 수 있는 다양한 통합개발 환경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(IDE : Integrated Development Environment)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들을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제공함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IDE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종류와 그 주요 특징은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위키 사이트를 참고하기 바라며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여기서는 이 중에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PyCharm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 대해서 그 설치 방법과 사용 방법 그리고 디버깅 방법에 대해서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살펴봄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70E40C-A172-48D5-BA2B-AC7B317E2DFC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54A11F-C9F2-46BB-8AC1-C2392FEA6208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8812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7857978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29"/>
            <a:ext cx="8470547" cy="34992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설치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PyCharm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은 컴퓨터 프로그래밍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특히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언어용으로 사용되는 통합 개발 환경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(IDE)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으로 체코 회사인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JetBrains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 의해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개발되었음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코드 작성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코드 분석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그래픽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디버거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통합 유닛 테스터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버전 제어 시스템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VCSes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을 제공하며 장고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(Django)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사용한 웹 개발을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지원함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Windows, macOS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및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Linux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등에서 돌아가며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Community Edition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과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Professional Edition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을 제공함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Community Edition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은 아파치 라이센스에 따라 배포되며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추가의 기능을 제공하는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Professional Edition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은 독점 라이센스 하에서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제공됨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93D6C0D-5DDE-4DFB-9426-8B591F6D0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990" y="379840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A56D0D-75EA-4A92-9D47-734780848FDE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C551B6-6419-4180-BB5A-7F4F772EA2E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2341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3" y="700126"/>
            <a:ext cx="7839317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13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파이참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설치 과정은 다음과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같음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a)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파이참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공식 홈페이지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(https://www.jetbrains.com/pycharm/download/)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 접속함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접속하면 아래와 같은 화면이 나오는데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여기서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Community Edition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선택함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4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93D6C0D-5DDE-4DFB-9426-8B591F6D0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990" y="379840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1745" name="_x518295880" descr="EMB00000f5497aa">
            <a:extLst>
              <a:ext uri="{FF2B5EF4-FFF2-40B4-BE49-F238E27FC236}">
                <a16:creationId xmlns:a16="http://schemas.microsoft.com/office/drawing/2014/main" id="{81FA650B-2E3A-4CF3-A2EB-961A03456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934" y="3137603"/>
            <a:ext cx="6990268" cy="317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A56D0D-75EA-4A92-9D47-734780848FDE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C551B6-6419-4180-BB5A-7F4F772EA2E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9939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7913962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9952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b) Community Edition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다운로드 링크를 누르면 설치 프로그램 실행을 묻는 대화창이 뜨는데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실행을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선택함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93D6C0D-5DDE-4DFB-9426-8B591F6D0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990" y="379840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3793" name="_x518304592" descr="EMB00000f5497b3">
            <a:extLst>
              <a:ext uri="{FF2B5EF4-FFF2-40B4-BE49-F238E27FC236}">
                <a16:creationId xmlns:a16="http://schemas.microsoft.com/office/drawing/2014/main" id="{9E032653-9857-43DD-B14C-D144CB8A5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545" y="2689521"/>
            <a:ext cx="8064517" cy="3660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55D3A1-3B0F-48BE-A453-CCDFFF995FB3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BBD10E-B75E-4009-9645-46116C39BE2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9455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3" y="700126"/>
            <a:ext cx="7867309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227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실행을 선택하면 아래와 같은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setup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초기화면이 뜨게 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Next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버튼을 누르도록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93D6C0D-5DDE-4DFB-9426-8B591F6D0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990" y="379840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4817" name="_x518283064" descr="EMB00000f5497b8">
            <a:extLst>
              <a:ext uri="{FF2B5EF4-FFF2-40B4-BE49-F238E27FC236}">
                <a16:creationId xmlns:a16="http://schemas.microsoft.com/office/drawing/2014/main" id="{409AA8C0-4C3B-47BD-B61B-77C160AA8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249" y="2431691"/>
            <a:ext cx="5157108" cy="4013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DCB22D-0F8D-4EC0-8A85-1C02C098DBF6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B4193E-474A-42B3-A58D-3F29E84E0216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9266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3" y="700126"/>
            <a:ext cx="780199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227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설치 위치를 선택하라는 창이 뜨면 원하는 위치를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지정토록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여기서는 기본 위치를 그대로 사용키로 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Next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버튼을 누르도록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5841" name="_x518302432" descr="EMB00000f5497bd">
            <a:extLst>
              <a:ext uri="{FF2B5EF4-FFF2-40B4-BE49-F238E27FC236}">
                <a16:creationId xmlns:a16="http://schemas.microsoft.com/office/drawing/2014/main" id="{1F62E3F6-2693-42F8-976E-757513255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215" y="2513032"/>
            <a:ext cx="5051571" cy="393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6D5A9D-B9D2-481D-82A6-61C81BD31AC2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111A34-A627-4A51-929A-79CA637D66B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009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100574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227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e)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설치 옵션을 하드웨어 사양에 맞게 선택한 후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Next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버튼을 누르도록 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두 번째 옵션인 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create associations”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는 확장자가 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py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 파일 오픈 시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PyCharm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을 사용할 지를 지정하는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옵션임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6865" name="_x518287168" descr="EMB00000f5497c2">
            <a:extLst>
              <a:ext uri="{FF2B5EF4-FFF2-40B4-BE49-F238E27FC236}">
                <a16:creationId xmlns:a16="http://schemas.microsoft.com/office/drawing/2014/main" id="{1631D9C5-BD3E-4287-9502-64FB7C4F5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248" y="2833494"/>
            <a:ext cx="4635640" cy="361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0E38A1-B738-4081-A430-AA62261F2007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3B2EA0-9206-4CA8-93B9-CE4BA72607B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5558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7598406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227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윈도우 시작메뉴에 설정 되는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파이참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시작 메뉴 이름 지정화면에서 원하는 이름을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지정토록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여기서는 기본 이름으로 지정함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지정되었으면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Install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누름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7889" name="_x518298760" descr="EMB00000f5497c7">
            <a:extLst>
              <a:ext uri="{FF2B5EF4-FFF2-40B4-BE49-F238E27FC236}">
                <a16:creationId xmlns:a16="http://schemas.microsoft.com/office/drawing/2014/main" id="{819920B0-259F-43CF-BAF2-93829F92D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293" y="2833493"/>
            <a:ext cx="4789020" cy="372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DA8347-8F40-4363-B192-1DCB6FA06A85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13A690-593E-4475-9F3E-EB8DA3F4F40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7325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7598406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227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g)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설치 중 화면이 나오고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설치가 완료되면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finish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버튼을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누름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2365DB1-27AD-478E-8285-8D26DE55E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306" y="231666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8913" name="_x518297104" descr="EMB00000f5497cc">
            <a:extLst>
              <a:ext uri="{FF2B5EF4-FFF2-40B4-BE49-F238E27FC236}">
                <a16:creationId xmlns:a16="http://schemas.microsoft.com/office/drawing/2014/main" id="{6354A159-53B1-42EF-9852-EE872F5AD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803" y="2549470"/>
            <a:ext cx="4159170" cy="3238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4140F74E-810B-4734-AA07-56353D4EF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043" y="240732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8915" name="_x518297464" descr="EMB00000f5497cf">
            <a:extLst>
              <a:ext uri="{FF2B5EF4-FFF2-40B4-BE49-F238E27FC236}">
                <a16:creationId xmlns:a16="http://schemas.microsoft.com/office/drawing/2014/main" id="{D3DDE0D6-AC9E-45B9-B831-3EBEE832E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973" y="2549470"/>
            <a:ext cx="4159170" cy="3238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DF2C20-FA1F-46C9-9D49-A8032FE72C9D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D00B36-7E44-4218-BDCE-F2C8CDAA8B4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0109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03526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10312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ko-KR" altLang="en-US" sz="1800" b="1" dirty="0">
                <a:latin typeface="나눔고딕" panose="020B0600000101010101" charset="-127"/>
                <a:ea typeface="나눔고딕" panose="020B0600000101010101" charset="-127"/>
              </a:rPr>
              <a:t>프로그램 작성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윈도우즈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시작메뉴를 눌러 조금 전에 설치한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커뮤니티 에디션을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선택토록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설치 시 시작 메뉴에 등록될 이름을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jetBrains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로 하였으니 그 이름의 폴더를 찾으면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140F74E-810B-4734-AA07-56353D4EF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043" y="240732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91C603-4398-492D-8D69-63A0C404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9937" name="_x518299264" descr="EMB00000f5497d5">
            <a:extLst>
              <a:ext uri="{FF2B5EF4-FFF2-40B4-BE49-F238E27FC236}">
                <a16:creationId xmlns:a16="http://schemas.microsoft.com/office/drawing/2014/main" id="{266FE865-7A17-41B5-A6E7-92669552B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924" y="3082090"/>
            <a:ext cx="2777758" cy="336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02DA47-437C-48B8-84CD-5271ADD8158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2962E-2DC6-42E6-AF8D-51DE37898D6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524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3" y="700126"/>
            <a:ext cx="8231203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227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설치 후 처음 프로그램을 실행시키면 아래와 같이 기존 세팅을 불러 올지를 묻는 대화상자가 뜨는데 어떤 것을 선택해도 무방하지만 추천해주는 옵션을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선택토록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140F74E-810B-4734-AA07-56353D4EF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043" y="240732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91C603-4398-492D-8D69-63A0C404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D1DA3E-D5BF-4F76-899F-E72A89EF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61" name="_x518292784" descr="EMB00000f5497dc">
            <a:extLst>
              <a:ext uri="{FF2B5EF4-FFF2-40B4-BE49-F238E27FC236}">
                <a16:creationId xmlns:a16="http://schemas.microsoft.com/office/drawing/2014/main" id="{DBA30111-1709-4FC2-ACFC-BF90B6BC6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71" y="3067049"/>
            <a:ext cx="6219194" cy="2717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99739E-88B8-4170-A100-83CCA414CE2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815DC4-953E-42A8-B4F8-289EEB0AA7C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6796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7857978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227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b) UI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테마 선택 대화상자가 뜨면 원하는 테마를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선택토록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여기서는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Skip Remaining and Set Defaults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버튼을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선택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91C603-4398-492D-8D69-63A0C404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D1DA3E-D5BF-4F76-899F-E72A89EF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C15D159-7A0E-489E-86A2-EDE974EF4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744" y="220260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1985" name="_x518298328" descr="EMB00000f5497e1">
            <a:extLst>
              <a:ext uri="{FF2B5EF4-FFF2-40B4-BE49-F238E27FC236}">
                <a16:creationId xmlns:a16="http://schemas.microsoft.com/office/drawing/2014/main" id="{618DB8BB-C548-4034-AFBC-E6B2C8CA6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547" y="2615873"/>
            <a:ext cx="4608513" cy="354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F02F79-C01D-4147-B346-6CF4ABD23A0C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72441-4361-466C-8689-2A288C345C5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5275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3" y="700126"/>
            <a:ext cx="8137897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227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c)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PyCharm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소개 화면에서 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Create New Project”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선택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91C603-4398-492D-8D69-63A0C404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D1DA3E-D5BF-4F76-899F-E72A89EF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C15D159-7A0E-489E-86A2-EDE974EF4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744" y="220260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3009" name="_x518291488" descr="EMB00000f5497e4">
            <a:extLst>
              <a:ext uri="{FF2B5EF4-FFF2-40B4-BE49-F238E27FC236}">
                <a16:creationId xmlns:a16="http://schemas.microsoft.com/office/drawing/2014/main" id="{2630EE6C-36D6-4973-9C48-C9D850B7F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403" y="2367130"/>
            <a:ext cx="5528800" cy="403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D2A3C5E-F595-496F-B2B5-B6084092FB94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A323DD-2501-41E0-9958-2B8154213F6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3754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7941954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227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d)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프로젝트명을 입력한 후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create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버튼을 누르도록 한다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기본 이름은 “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untitled”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로 되어 있는데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좀 더 개발 프로젝트를 의미를 담을 수 있는 이름을 </a:t>
            </a:r>
            <a:r>
              <a:rPr lang="ko-KR" altLang="en-US" sz="1400" dirty="0" err="1">
                <a:latin typeface="나눔고딕" panose="020B0600000101010101" charset="-127"/>
                <a:ea typeface="나눔고딕" panose="020B0600000101010101" charset="-127"/>
              </a:rPr>
              <a:t>부여토록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 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여기서는 “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test”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로 </a:t>
            </a:r>
            <a:r>
              <a:rPr lang="ko-KR" altLang="en-US" sz="1400" dirty="0" smtClean="0">
                <a:latin typeface="나눔고딕" panose="020B0600000101010101" charset="-127"/>
                <a:ea typeface="나눔고딕" panose="020B0600000101010101" charset="-127"/>
              </a:rPr>
              <a:t>지정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4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91C603-4398-492D-8D69-63A0C404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D1DA3E-D5BF-4F76-899F-E72A89EF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C15D159-7A0E-489E-86A2-EDE974EF4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744" y="220260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4033" name="_x518292568" descr="EMB00000f5497ec">
            <a:extLst>
              <a:ext uri="{FF2B5EF4-FFF2-40B4-BE49-F238E27FC236}">
                <a16:creationId xmlns:a16="http://schemas.microsoft.com/office/drawing/2014/main" id="{3C7AF8BB-7F4D-436D-8402-A1B623202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135" y="2615873"/>
            <a:ext cx="5213337" cy="3805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50E05D5-C51C-4056-B9FF-BC428CF98631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A21675-E811-4C7E-8ACE-52352001311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3669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305848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227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e) “Tip of Day”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대화 상자가 뜨면 닫으면 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PyCharm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메인 화면이 뜨는데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이 화면에서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File &gt;&gt; New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을 </a:t>
            </a:r>
            <a:r>
              <a:rPr lang="ko-KR" altLang="en-US" sz="1400" dirty="0" err="1">
                <a:latin typeface="나눔고딕" panose="020B0600000101010101" charset="-127"/>
                <a:ea typeface="나눔고딕" panose="020B0600000101010101" charset="-127"/>
              </a:rPr>
              <a:t>선택토록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 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 New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서브 메뉴에서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Python File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메뉴 항목을 선택함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왼쪽에 있는 작은 창이 프로젝트 탐색기로 작업 중인 프로젝트의 구조를 보여주는 역할을 </a:t>
            </a:r>
            <a:r>
              <a:rPr lang="ko-KR" altLang="en-US" sz="14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4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91C603-4398-492D-8D69-63A0C404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D1DA3E-D5BF-4F76-899F-E72A89EF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5057" name="_x518285080" descr="EMB00000f5497f1">
            <a:extLst>
              <a:ext uri="{FF2B5EF4-FFF2-40B4-BE49-F238E27FC236}">
                <a16:creationId xmlns:a16="http://schemas.microsoft.com/office/drawing/2014/main" id="{D9B5CB64-B3D1-4A45-B0D0-61FE4B950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788" y="2641695"/>
            <a:ext cx="7060424" cy="3665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DAC996-C87A-4DB3-87F5-2CFD31EA12A1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B2A72A-A52C-4941-9BF4-CA07BA18B0E4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4297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3" y="700126"/>
            <a:ext cx="8473799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7471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f)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파일명을 입력한 후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Ok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버튼을 누르도록 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여기서는 파일명을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first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지정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91C603-4398-492D-8D69-63A0C404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D1DA3E-D5BF-4F76-899F-E72A89EF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6081" name="_x518291632" descr="EMB00000f5497f8">
            <a:extLst>
              <a:ext uri="{FF2B5EF4-FFF2-40B4-BE49-F238E27FC236}">
                <a16:creationId xmlns:a16="http://schemas.microsoft.com/office/drawing/2014/main" id="{4B4687C3-FB82-4ED9-8B00-8DCD0B284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370" y="2854539"/>
            <a:ext cx="6516867" cy="2543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B8A1BF-B30C-4684-BBBA-1CEA1846C410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D7BA39-4358-4946-B2F4-49A819DA7868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14554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03916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580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g)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아래에 화면에서 보는 바와 같이 프로젝트 탐색기의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test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프로젝트에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first.py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가 생성되어 있는 것을 확인할 수 있으며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 오른쪽에 소스 편집창이 떠 있는 것을 확인할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91C603-4398-492D-8D69-63A0C404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D1DA3E-D5BF-4F76-899F-E72A89EF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544F90D-292E-491B-9673-0EAB53597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737" y="219319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7105" name="_x518291848" descr="EMB00000f5497fd">
            <a:extLst>
              <a:ext uri="{FF2B5EF4-FFF2-40B4-BE49-F238E27FC236}">
                <a16:creationId xmlns:a16="http://schemas.microsoft.com/office/drawing/2014/main" id="{3912D137-B807-4904-8995-629019D79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902" y="2882454"/>
            <a:ext cx="7455802" cy="327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F23795-B837-4895-8207-24959E124484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211C0C-92D5-4307-90A9-78B5712D0E78}"/>
              </a:ext>
            </a:extLst>
          </p:cNvPr>
          <p:cNvSpPr txBox="1"/>
          <p:nvPr/>
        </p:nvSpPr>
        <p:spPr>
          <a:xfrm>
            <a:off x="8801411" y="186353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9967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3" y="700126"/>
            <a:ext cx="7839573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227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h)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소스 창에 아래와 같이 인사말을 출력하는 코드를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입력토록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91C603-4398-492D-8D69-63A0C404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D1DA3E-D5BF-4F76-899F-E72A89EF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544F90D-292E-491B-9673-0EAB53597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737" y="219319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8129" name="_x518308048" descr="EMB00000f549802">
            <a:extLst>
              <a:ext uri="{FF2B5EF4-FFF2-40B4-BE49-F238E27FC236}">
                <a16:creationId xmlns:a16="http://schemas.microsoft.com/office/drawing/2014/main" id="{D0AEA5FF-AC31-4C69-BF13-566AA1837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490" y="2606462"/>
            <a:ext cx="7056627" cy="3101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246F3D-EEAE-4CFA-BF90-6867190CD6C2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09B0FE-57F0-44B1-888B-921AC29BE10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1387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7969946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683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작성한 코드를 실행시키기 위해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Run &gt;&gt; Run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메뉴를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선택함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91C603-4398-492D-8D69-63A0C404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D1DA3E-D5BF-4F76-899F-E72A89EF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544F90D-292E-491B-9673-0EAB53597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737" y="219319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9153" name="_x518309776" descr="EMB00000f54980b">
            <a:extLst>
              <a:ext uri="{FF2B5EF4-FFF2-40B4-BE49-F238E27FC236}">
                <a16:creationId xmlns:a16="http://schemas.microsoft.com/office/drawing/2014/main" id="{FCE111B7-011B-4591-A0B4-A0B51E381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75" y="2391701"/>
            <a:ext cx="8265657" cy="363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C729C7-CA85-41BA-8AE8-39489063D069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E52939-3E89-4B85-8EAB-AB65A1ACE0B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6568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305848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10756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아니면 프로젝트 탐색기에서 실행하고자 하는 파일을 선택한 후 마우스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우클릭하여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팝업 메뉴를 띄운 후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Run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메뉴 항목을 선택해도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91C603-4398-492D-8D69-63A0C404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D1DA3E-D5BF-4F76-899F-E72A89EF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0177" name="_x518287672" descr="EMB00000f549810">
            <a:extLst>
              <a:ext uri="{FF2B5EF4-FFF2-40B4-BE49-F238E27FC236}">
                <a16:creationId xmlns:a16="http://schemas.microsoft.com/office/drawing/2014/main" id="{B635D0A5-6ACB-4DFB-A6A4-10F87D378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178" y="2769834"/>
            <a:ext cx="7737780" cy="340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D91C3A-5C5B-40AB-ADDB-D91F3EA77C52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DDD317-18C9-4417-9D3F-BCD074DF0902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76559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3" y="700126"/>
            <a:ext cx="7746011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30"/>
            <a:ext cx="8470547" cy="8536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j)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프로그램을 실행하면 실행 결과가 아래와 같이 출력 창으로 출력되게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91C603-4398-492D-8D69-63A0C404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D1DA3E-D5BF-4F76-899F-E72A89EF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01" name="_x518309920" descr="EMB00000f549815">
            <a:extLst>
              <a:ext uri="{FF2B5EF4-FFF2-40B4-BE49-F238E27FC236}">
                <a16:creationId xmlns:a16="http://schemas.microsoft.com/office/drawing/2014/main" id="{5969A728-0BAA-4F84-8E85-000008965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718" y="2130669"/>
            <a:ext cx="6344171" cy="2787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567425E4-36F7-4B52-B4B8-6038BE056873}"/>
              </a:ext>
            </a:extLst>
          </p:cNvPr>
          <p:cNvSpPr txBox="1">
            <a:spLocks/>
          </p:cNvSpPr>
          <p:nvPr/>
        </p:nvSpPr>
        <p:spPr>
          <a:xfrm>
            <a:off x="1787456" y="5009260"/>
            <a:ext cx="8470547" cy="14347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참고로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처음 시작할 때에만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a) ~ c)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까지의 화면이 출력이 되고 이후에는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PyCharm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메인 화면의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File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메뉴에서 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New Project”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선택하여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생성토록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PyCharm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메인 화면의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File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메뉴에서 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New Project”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선택하면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단계부터 시작이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D0D3E9-AB3E-4C82-98C5-F293D20A1F50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722A41-CC25-4F84-8552-F814866E7E8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38908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20092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1.6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파이썬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통합 개발환경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PyCharm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3" y="700126"/>
            <a:ext cx="7690027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</a:rPr>
              <a:t>파이썬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 통합 개발환경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PyCharm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4BFBB21-606A-4890-9F6D-1E93C9EA744C}"/>
              </a:ext>
            </a:extLst>
          </p:cNvPr>
          <p:cNvSpPr txBox="1">
            <a:spLocks/>
          </p:cNvSpPr>
          <p:nvPr/>
        </p:nvSpPr>
        <p:spPr>
          <a:xfrm>
            <a:off x="1783796" y="1694229"/>
            <a:ext cx="8470547" cy="165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ko-KR" altLang="en-US" sz="1800" b="1" dirty="0">
                <a:latin typeface="나눔고딕" panose="020B0600000101010101" charset="-127"/>
                <a:ea typeface="나눔고딕" panose="020B0600000101010101" charset="-127"/>
              </a:rPr>
              <a:t>대화식 작업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지금까지 설명한 내용은 스크립트 형식으로 프로그램을 개발하는 방법이고 대화식으로 작업을 하고자 할 경우는 메인 화면의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Tool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메뉴의 “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Python Console”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메뉴 항목을 선택하면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그러면 아래 그림처럼 콘솔창이 뜨고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파이썬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프롬프트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(“&gt;&gt;&gt;”)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가 출력이 됨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콘솔창에 필요한 명령어를 입력하여 실행시키면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2AFFB-CBBE-4A7F-9D8F-346735DF1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6D5E5D-7146-4519-BFAC-AF1DBB220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91C603-4398-492D-8D69-63A0C4045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D1DA3E-D5BF-4F76-899F-E72A89EF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2225" name="_x518287528" descr="EMB00000f54981e">
            <a:extLst>
              <a:ext uri="{FF2B5EF4-FFF2-40B4-BE49-F238E27FC236}">
                <a16:creationId xmlns:a16="http://schemas.microsoft.com/office/drawing/2014/main" id="{7FBB7026-43CD-4AC8-B112-CAC9C3B1D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795" y="3710386"/>
            <a:ext cx="6220546" cy="273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E610E2-D1E3-4489-98F4-79808E690337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22B623-0916-4B3F-A66D-6767743D2744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2499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2379</Words>
  <Application>Microsoft Office PowerPoint</Application>
  <PresentationFormat>와이드스크린</PresentationFormat>
  <Paragraphs>284</Paragraphs>
  <Slides>38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2" baseType="lpstr">
      <vt:lpstr>나눔고딕</vt:lpstr>
      <vt:lpstr>맑은 고딕</vt:lpstr>
      <vt:lpstr>Arial</vt:lpstr>
      <vt:lpstr>Office 테마</vt:lpstr>
      <vt:lpstr>파이썬 및 IDE 설치</vt:lpstr>
      <vt:lpstr>파이썬 구현</vt:lpstr>
      <vt:lpstr>파이썬 구현</vt:lpstr>
      <vt:lpstr>파이썬 구현</vt:lpstr>
      <vt:lpstr>파이썬 구현</vt:lpstr>
      <vt:lpstr>파이썬 설치 및 사용</vt:lpstr>
      <vt:lpstr>파이썬 설치 및 사용</vt:lpstr>
      <vt:lpstr>파이썬 설치 및 사용 (윈도우 용)</vt:lpstr>
      <vt:lpstr>파이썬 설치 및 사용</vt:lpstr>
      <vt:lpstr>파이썬 설치 및 사용</vt:lpstr>
      <vt:lpstr>파이썬 설치 및 사용</vt:lpstr>
      <vt:lpstr>파이썬 설치 및 사용</vt:lpstr>
      <vt:lpstr>프로그램 작성 및 실행</vt:lpstr>
      <vt:lpstr>프로그램 작성 및 실행</vt:lpstr>
      <vt:lpstr>프로그램 작성 및 실행</vt:lpstr>
      <vt:lpstr>프로그램 작성 및 실행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  <vt:lpstr>파이썬 통합 개발환경(PyCharm)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bmKim</dc:creator>
  <cp:lastModifiedBy>user</cp:lastModifiedBy>
  <cp:revision>4</cp:revision>
  <dcterms:created xsi:type="dcterms:W3CDTF">2018-02-06T01:31:25Z</dcterms:created>
  <dcterms:modified xsi:type="dcterms:W3CDTF">2019-03-04T03:54:15Z</dcterms:modified>
</cp:coreProperties>
</file>