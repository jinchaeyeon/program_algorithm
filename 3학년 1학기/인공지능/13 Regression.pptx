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4" r:id="rId3"/>
    <p:sldId id="260" r:id="rId4"/>
    <p:sldId id="261" r:id="rId5"/>
    <p:sldId id="265" r:id="rId6"/>
    <p:sldId id="262" r:id="rId7"/>
    <p:sldId id="263" r:id="rId8"/>
    <p:sldId id="257" r:id="rId9"/>
    <p:sldId id="267" r:id="rId10"/>
    <p:sldId id="266" r:id="rId11"/>
    <p:sldId id="268" r:id="rId12"/>
    <p:sldId id="269" r:id="rId13"/>
    <p:sldId id="274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9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9" autoAdjust="0"/>
    <p:restoredTop sz="94660"/>
  </p:normalViewPr>
  <p:slideViewPr>
    <p:cSldViewPr snapToGrid="0">
      <p:cViewPr varScale="1">
        <p:scale>
          <a:sx n="90" d="100"/>
          <a:sy n="90" d="100"/>
        </p:scale>
        <p:origin x="10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0B4F01-2BCB-4D5A-90F5-B41E19E6EC7E}" type="datetimeFigureOut">
              <a:rPr lang="ko-KR" altLang="en-US" smtClean="0"/>
              <a:t>2021-05-25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F7A07-3B17-440F-8F32-2BAADE2E4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761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B97002-4ED0-5647-80F9-FB065B35C148}" type="slidenum">
              <a:rPr lang="en-US">
                <a:latin typeface="Times New Roman" pitchFamily="1" charset="0"/>
              </a:rPr>
              <a:pPr/>
              <a:t>3</a:t>
            </a:fld>
            <a:endParaRPr lang="en-US">
              <a:latin typeface="Times New Roman" pitchFamily="1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latin typeface="Times New Roman" pitchFamily="1" charset="0"/>
                <a:ea typeface="ＭＳ Ｐゴシック" pitchFamily="1" charset="-128"/>
                <a:cs typeface="ＭＳ Ｐゴシック" pitchFamily="1" charset="-128"/>
              </a:rPr>
              <a:t>Non-linear regression models later</a:t>
            </a:r>
          </a:p>
        </p:txBody>
      </p:sp>
    </p:spTree>
    <p:extLst>
      <p:ext uri="{BB962C8B-B14F-4D97-AF65-F5344CB8AC3E}">
        <p14:creationId xmlns:p14="http://schemas.microsoft.com/office/powerpoint/2010/main" val="2573331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Hyperplane</a:t>
            </a:r>
            <a:r>
              <a:rPr lang="en-US" baseline="0" dirty="0"/>
              <a:t> for multiple linear regression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9750A1-25CA-2E46-B72E-69F270696DC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62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Hyperplane</a:t>
            </a:r>
            <a:r>
              <a:rPr lang="en-US" baseline="0" dirty="0"/>
              <a:t> for multiple linear regression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9750A1-25CA-2E46-B72E-69F270696DC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94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Note target really is the point</a:t>
            </a:r>
            <a:r>
              <a:rPr lang="en-US" baseline="0" dirty="0"/>
              <a:t> being regressed to each time. Now makes better sense since net is the output and we want to minimize error of the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9750A1-25CA-2E46-B72E-69F270696DC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02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13C2-78EB-4036-AA15-E0A8B0277AAD}" type="datetimeFigureOut">
              <a:rPr lang="ko-KR" altLang="en-US" smtClean="0"/>
              <a:t>2021-05-25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1A482-2593-43C2-9B6A-EAB91C518F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596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13C2-78EB-4036-AA15-E0A8B0277AAD}" type="datetimeFigureOut">
              <a:rPr lang="ko-KR" altLang="en-US" smtClean="0"/>
              <a:t>2021-05-25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1A482-2593-43C2-9B6A-EAB91C518F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80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13C2-78EB-4036-AA15-E0A8B0277AAD}" type="datetimeFigureOut">
              <a:rPr lang="ko-KR" altLang="en-US" smtClean="0"/>
              <a:t>2021-05-25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1A482-2593-43C2-9B6A-EAB91C518F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170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13C2-78EB-4036-AA15-E0A8B0277AAD}" type="datetimeFigureOut">
              <a:rPr lang="ko-KR" altLang="en-US" smtClean="0"/>
              <a:t>2021-05-25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1A482-2593-43C2-9B6A-EAB91C518F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906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13C2-78EB-4036-AA15-E0A8B0277AAD}" type="datetimeFigureOut">
              <a:rPr lang="ko-KR" altLang="en-US" smtClean="0"/>
              <a:t>2021-05-25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1A482-2593-43C2-9B6A-EAB91C518F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950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13C2-78EB-4036-AA15-E0A8B0277AAD}" type="datetimeFigureOut">
              <a:rPr lang="ko-KR" altLang="en-US" smtClean="0"/>
              <a:t>2021-05-25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1A482-2593-43C2-9B6A-EAB91C518F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202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13C2-78EB-4036-AA15-E0A8B0277AAD}" type="datetimeFigureOut">
              <a:rPr lang="ko-KR" altLang="en-US" smtClean="0"/>
              <a:t>2021-05-25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1A482-2593-43C2-9B6A-EAB91C518F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187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13C2-78EB-4036-AA15-E0A8B0277AAD}" type="datetimeFigureOut">
              <a:rPr lang="ko-KR" altLang="en-US" smtClean="0"/>
              <a:t>2021-05-25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1A482-2593-43C2-9B6A-EAB91C518F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7941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13C2-78EB-4036-AA15-E0A8B0277AAD}" type="datetimeFigureOut">
              <a:rPr lang="ko-KR" altLang="en-US" smtClean="0"/>
              <a:t>2021-05-25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1A482-2593-43C2-9B6A-EAB91C518F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47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13C2-78EB-4036-AA15-E0A8B0277AAD}" type="datetimeFigureOut">
              <a:rPr lang="ko-KR" altLang="en-US" smtClean="0"/>
              <a:t>2021-05-25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1A482-2593-43C2-9B6A-EAB91C518F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556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13C2-78EB-4036-AA15-E0A8B0277AAD}" type="datetimeFigureOut">
              <a:rPr lang="ko-KR" altLang="en-US" smtClean="0"/>
              <a:t>2021-05-25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1A482-2593-43C2-9B6A-EAB91C518F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121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213C2-78EB-4036-AA15-E0A8B0277AAD}" type="datetimeFigureOut">
              <a:rPr lang="ko-KR" altLang="en-US" smtClean="0"/>
              <a:t>2021-05-25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1A482-2593-43C2-9B6A-EAB91C518F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98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Regression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316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ea typeface="+mj-ea"/>
                <a:cs typeface="+mj-cs"/>
              </a:rPr>
              <a:t>Regression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88558"/>
            <a:ext cx="10515600" cy="5252484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입력 변수와 출력 변수 사이의 관계를 추정하는 과정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출력 변수는 압력 변수에 종속된다고 가정 하에 입력 변수와 출력 변수가 어떻게 관련되는 지를 추정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입력 변수를 독립 변수라 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출력 변수를 종속 변수라 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입력 변수들 </a:t>
            </a:r>
            <a:r>
              <a:rPr lang="ko-KR" altLang="en-US" dirty="0" err="1" smtClean="0"/>
              <a:t>끼리는</a:t>
            </a:r>
            <a:r>
              <a:rPr lang="ko-KR" altLang="en-US" dirty="0" smtClean="0"/>
              <a:t> 서로 독립일 필요는 없음</a:t>
            </a:r>
            <a:r>
              <a:rPr lang="en-US" altLang="ko-KR" dirty="0" smtClean="0"/>
              <a:t>. </a:t>
            </a:r>
            <a:r>
              <a:rPr lang="ko-KR" altLang="en-US" dirty="0" smtClean="0"/>
              <a:t>종종 입력 변수들 사이에 </a:t>
            </a:r>
            <a:r>
              <a:rPr lang="en-US" altLang="ko-KR" dirty="0" smtClean="0"/>
              <a:t>correlation</a:t>
            </a:r>
            <a:r>
              <a:rPr lang="ko-KR" altLang="en-US" dirty="0" smtClean="0"/>
              <a:t>이 존재</a:t>
            </a:r>
            <a:endParaRPr lang="en-US" altLang="ko-KR" dirty="0" smtClean="0"/>
          </a:p>
          <a:p>
            <a:r>
              <a:rPr lang="ko-KR" altLang="en-US" dirty="0" smtClean="0"/>
              <a:t>회귀 </a:t>
            </a:r>
            <a:r>
              <a:rPr lang="en-US" altLang="ko-KR" dirty="0" smtClean="0"/>
              <a:t>(regression) </a:t>
            </a:r>
            <a:r>
              <a:rPr lang="ko-KR" altLang="en-US" dirty="0" smtClean="0"/>
              <a:t>분석은 일부 입력 변수가 변할 때 그에 따라 출력이 어떻게 변하는지를 파악할 때 도움</a:t>
            </a:r>
            <a:endParaRPr lang="en-US" altLang="ko-KR" dirty="0" smtClean="0"/>
          </a:p>
          <a:p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분류는 출력 값이 </a:t>
            </a:r>
            <a:r>
              <a:rPr lang="en-US" altLang="ko-KR" dirty="0" smtClean="0">
                <a:ea typeface="ＭＳ Ｐゴシック" pitchFamily="1" charset="-128"/>
                <a:cs typeface="ＭＳ Ｐゴシック" pitchFamily="1" charset="-128"/>
              </a:rPr>
              <a:t>nominal, </a:t>
            </a:r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즉 값이 종류가 유한하지만 회귀는 출력 값이 </a:t>
            </a:r>
            <a:r>
              <a:rPr lang="en-US" altLang="ko-KR" dirty="0" smtClean="0">
                <a:ea typeface="ＭＳ Ｐゴシック" pitchFamily="1" charset="-128"/>
                <a:cs typeface="ＭＳ Ｐゴシック" pitchFamily="1" charset="-128"/>
              </a:rPr>
              <a:t>continuous, </a:t>
            </a:r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즉 무한함</a:t>
            </a:r>
            <a:endParaRPr lang="en-US" altLang="ko-KR" dirty="0" smtClean="0">
              <a:ea typeface="ＭＳ Ｐゴシック" pitchFamily="1" charset="-128"/>
              <a:cs typeface="ＭＳ Ｐゴシック" pitchFamily="1" charset="-128"/>
            </a:endParaRPr>
          </a:p>
          <a:p>
            <a:r>
              <a:rPr lang="ko-KR" altLang="en-US" dirty="0" smtClean="0"/>
              <a:t>회귀는 </a:t>
            </a:r>
            <a:r>
              <a:rPr lang="ko-KR" altLang="en-US" dirty="0" err="1" smtClean="0"/>
              <a:t>출력변수</a:t>
            </a:r>
            <a:r>
              <a:rPr lang="en-US" altLang="ko-KR" dirty="0" smtClean="0"/>
              <a:t> = f(</a:t>
            </a:r>
            <a:r>
              <a:rPr lang="ko-KR" altLang="en-US" dirty="0" err="1" smtClean="0"/>
              <a:t>입력변수</a:t>
            </a:r>
            <a:r>
              <a:rPr lang="en-US" altLang="ko-KR" dirty="0" smtClean="0"/>
              <a:t>)</a:t>
            </a:r>
            <a:r>
              <a:rPr lang="ko-KR" altLang="en-US" dirty="0" smtClean="0"/>
              <a:t>를 만족하는 </a:t>
            </a:r>
            <a:r>
              <a:rPr lang="en-US" altLang="ko-KR" dirty="0" smtClean="0"/>
              <a:t>f</a:t>
            </a:r>
            <a:r>
              <a:rPr lang="ko-KR" altLang="en-US" dirty="0" smtClean="0"/>
              <a:t>를 추정 </a:t>
            </a:r>
            <a:r>
              <a:rPr lang="en-US" altLang="ko-KR" dirty="0" smtClean="0"/>
              <a:t>(approximation)</a:t>
            </a:r>
            <a:r>
              <a:rPr lang="ko-KR" altLang="en-US" dirty="0" smtClean="0"/>
              <a:t>하는</a:t>
            </a:r>
            <a:r>
              <a:rPr lang="en-US" altLang="ko-KR" dirty="0" smtClean="0"/>
              <a:t> </a:t>
            </a:r>
            <a:r>
              <a:rPr lang="ko-KR" altLang="en-US" dirty="0" smtClean="0"/>
              <a:t>것임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8081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3478EA2-9FF3-5A48-A43E-0C13886AB665}" type="slidenum">
              <a:rPr lang="en-US" smtClean="0">
                <a:latin typeface="Times New Roman" pitchFamily="1" charset="0"/>
              </a:rPr>
              <a:pPr/>
              <a:t>3</a:t>
            </a:fld>
            <a:endParaRPr lang="en-US">
              <a:latin typeface="Times New Roman" pitchFamily="1" charset="0"/>
            </a:endParaRPr>
          </a:p>
        </p:txBody>
      </p:sp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>
          <a:xfrm>
            <a:off x="826294" y="-87311"/>
            <a:ext cx="10515600" cy="132556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Regression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7947" y="1175543"/>
            <a:ext cx="10212443" cy="2895600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다양한 모델을 사용할 수 있음</a:t>
            </a:r>
            <a:endParaRPr lang="en-US" altLang="ko-KR" dirty="0" smtClean="0">
              <a:ea typeface="ＭＳ Ｐゴシック" pitchFamily="1" charset="-128"/>
              <a:cs typeface="ＭＳ Ｐゴシック" pitchFamily="1" charset="-128"/>
            </a:endParaRPr>
          </a:p>
          <a:p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가장 간단한 것이 선형 회귀 </a:t>
            </a:r>
            <a:r>
              <a:rPr lang="en-US" altLang="ko-KR" dirty="0" smtClean="0">
                <a:ea typeface="ＭＳ Ｐゴシック" pitchFamily="1" charset="-128"/>
                <a:cs typeface="ＭＳ Ｐゴシック" pitchFamily="1" charset="-128"/>
              </a:rPr>
              <a:t>(</a:t>
            </a:r>
            <a:r>
              <a:rPr lang="en-US" dirty="0" smtClean="0">
                <a:ea typeface="ＭＳ Ｐゴシック" pitchFamily="1" charset="-128"/>
                <a:cs typeface="ＭＳ Ｐゴシック" pitchFamily="1" charset="-128"/>
              </a:rPr>
              <a:t>linear regression</a:t>
            </a:r>
            <a:r>
              <a:rPr lang="en-US" altLang="ko-KR" dirty="0" smtClean="0">
                <a:ea typeface="ＭＳ Ｐゴシック" pitchFamily="1" charset="-128"/>
                <a:cs typeface="ＭＳ Ｐゴシック" pitchFamily="1" charset="-128"/>
              </a:rPr>
              <a:t>) </a:t>
            </a:r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임</a:t>
            </a:r>
            <a:endParaRPr lang="en-US" altLang="ko-KR" dirty="0" smtClean="0">
              <a:ea typeface="ＭＳ Ｐゴシック" pitchFamily="1" charset="-128"/>
              <a:cs typeface="ＭＳ Ｐゴシック" pitchFamily="1" charset="-128"/>
            </a:endParaRPr>
          </a:p>
          <a:p>
            <a:pPr lvl="1"/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모델링 파워가 약하지만 빠르고 효율적</a:t>
            </a:r>
            <a:endParaRPr lang="en-US" dirty="0">
              <a:ea typeface="ＭＳ Ｐゴシック" pitchFamily="1" charset="-128"/>
              <a:cs typeface="ＭＳ Ｐゴシック" pitchFamily="1" charset="-128"/>
            </a:endParaRPr>
          </a:p>
          <a:p>
            <a:pPr lvl="1" eaLnBrk="1" hangingPunct="1"/>
            <a:r>
              <a:rPr lang="ko-KR" altLang="en-US" dirty="0" smtClean="0"/>
              <a:t>주어진 점들을 통과하는 최적의 </a:t>
            </a:r>
            <a:r>
              <a:rPr lang="ko-KR" altLang="en-US" dirty="0" err="1" smtClean="0"/>
              <a:t>초평면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en-US" dirty="0" smtClean="0"/>
              <a:t>hyper-plane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 찾음</a:t>
            </a:r>
            <a:r>
              <a:rPr lang="en-US" dirty="0" smtClean="0"/>
              <a:t> </a:t>
            </a:r>
          </a:p>
          <a:p>
            <a:pPr lvl="1"/>
            <a:r>
              <a:rPr lang="ko-KR" altLang="en-US" dirty="0" smtClean="0"/>
              <a:t>각 점에 대해 </a:t>
            </a:r>
            <a:r>
              <a:rPr lang="ko-KR" altLang="en-US" dirty="0" err="1" smtClean="0"/>
              <a:t>예측치와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실측치의</a:t>
            </a:r>
            <a:r>
              <a:rPr lang="ko-KR" altLang="en-US" dirty="0" smtClean="0"/>
              <a:t> 차이를 </a:t>
            </a:r>
            <a:r>
              <a:rPr lang="ko-KR" altLang="en-US" dirty="0" err="1" smtClean="0"/>
              <a:t>잔차</a:t>
            </a:r>
            <a:r>
              <a:rPr lang="ko-KR" altLang="en-US" dirty="0" smtClean="0"/>
              <a:t> </a:t>
            </a:r>
            <a:r>
              <a:rPr lang="en-US" altLang="ko-KR" dirty="0" smtClean="0"/>
              <a:t>(residue)</a:t>
            </a:r>
            <a:r>
              <a:rPr lang="ko-KR" altLang="en-US" dirty="0" smtClean="0"/>
              <a:t>라</a:t>
            </a:r>
            <a:r>
              <a:rPr lang="en-US" altLang="ko-KR" dirty="0" smtClean="0"/>
              <a:t> </a:t>
            </a:r>
            <a:r>
              <a:rPr lang="ko-KR" altLang="en-US" dirty="0" smtClean="0"/>
              <a:t>함</a:t>
            </a:r>
            <a:endParaRPr lang="en-US" dirty="0"/>
          </a:p>
          <a:p>
            <a:pPr lvl="1" eaLnBrk="1" hangingPunct="1"/>
            <a:endParaRPr 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3091933" y="3809996"/>
            <a:ext cx="5127034" cy="2546353"/>
            <a:chOff x="3091933" y="3809997"/>
            <a:chExt cx="3808597" cy="2045732"/>
          </a:xfrm>
        </p:grpSpPr>
        <p:sp>
          <p:nvSpPr>
            <p:cNvPr id="19462" name="Line 5"/>
            <p:cNvSpPr>
              <a:spLocks noChangeShapeType="1"/>
            </p:cNvSpPr>
            <p:nvPr/>
          </p:nvSpPr>
          <p:spPr bwMode="auto">
            <a:xfrm>
              <a:off x="3545958" y="3938585"/>
              <a:ext cx="0" cy="1547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63" name="Line 6"/>
            <p:cNvSpPr>
              <a:spLocks noChangeShapeType="1"/>
            </p:cNvSpPr>
            <p:nvPr/>
          </p:nvSpPr>
          <p:spPr bwMode="auto">
            <a:xfrm flipV="1">
              <a:off x="3545958" y="5475767"/>
              <a:ext cx="3354572" cy="106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64" name="AutoShape 15"/>
            <p:cNvSpPr>
              <a:spLocks noChangeArrowheads="1"/>
            </p:cNvSpPr>
            <p:nvPr/>
          </p:nvSpPr>
          <p:spPr bwMode="auto">
            <a:xfrm>
              <a:off x="3926958" y="5053011"/>
              <a:ext cx="128588" cy="128587"/>
            </a:xfrm>
            <a:prstGeom prst="flowChartSummingJunct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65" name="AutoShape 17"/>
            <p:cNvSpPr>
              <a:spLocks noChangeArrowheads="1"/>
            </p:cNvSpPr>
            <p:nvPr/>
          </p:nvSpPr>
          <p:spPr bwMode="auto">
            <a:xfrm>
              <a:off x="4765158" y="4506911"/>
              <a:ext cx="128588" cy="130175"/>
            </a:xfrm>
            <a:prstGeom prst="flowChartSummingJunct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66" name="AutoShape 18"/>
            <p:cNvSpPr>
              <a:spLocks noChangeArrowheads="1"/>
            </p:cNvSpPr>
            <p:nvPr/>
          </p:nvSpPr>
          <p:spPr bwMode="auto">
            <a:xfrm>
              <a:off x="4055547" y="4637086"/>
              <a:ext cx="128587" cy="128587"/>
            </a:xfrm>
            <a:prstGeom prst="flowChartSummingJunct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67" name="AutoShape 19"/>
            <p:cNvSpPr>
              <a:spLocks noChangeArrowheads="1"/>
            </p:cNvSpPr>
            <p:nvPr/>
          </p:nvSpPr>
          <p:spPr bwMode="auto">
            <a:xfrm>
              <a:off x="5222358" y="4049711"/>
              <a:ext cx="128588" cy="130175"/>
            </a:xfrm>
            <a:prstGeom prst="flowChartSummingJunct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68" name="AutoShape 20"/>
            <p:cNvSpPr>
              <a:spLocks noChangeArrowheads="1"/>
            </p:cNvSpPr>
            <p:nvPr/>
          </p:nvSpPr>
          <p:spPr bwMode="auto">
            <a:xfrm>
              <a:off x="4636572" y="5029197"/>
              <a:ext cx="128587" cy="128588"/>
            </a:xfrm>
            <a:prstGeom prst="flowChartSummingJunct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69" name="AutoShape 21"/>
            <p:cNvSpPr>
              <a:spLocks noChangeArrowheads="1"/>
            </p:cNvSpPr>
            <p:nvPr/>
          </p:nvSpPr>
          <p:spPr bwMode="auto">
            <a:xfrm>
              <a:off x="5069958" y="4659311"/>
              <a:ext cx="128588" cy="130175"/>
            </a:xfrm>
            <a:prstGeom prst="flowChartSummingJunct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70" name="AutoShape 22"/>
            <p:cNvSpPr>
              <a:spLocks noChangeArrowheads="1"/>
            </p:cNvSpPr>
            <p:nvPr/>
          </p:nvSpPr>
          <p:spPr bwMode="auto">
            <a:xfrm>
              <a:off x="5679558" y="4430711"/>
              <a:ext cx="128588" cy="130175"/>
            </a:xfrm>
            <a:prstGeom prst="flowChartSummingJunct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71" name="AutoShape 23"/>
            <p:cNvSpPr>
              <a:spLocks noChangeArrowheads="1"/>
            </p:cNvSpPr>
            <p:nvPr/>
          </p:nvSpPr>
          <p:spPr bwMode="auto">
            <a:xfrm>
              <a:off x="5984358" y="3921122"/>
              <a:ext cx="128588" cy="128588"/>
            </a:xfrm>
            <a:prstGeom prst="flowChartSummingJunct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19472" name="Straight Connector 16"/>
            <p:cNvCxnSpPr>
              <a:cxnSpLocks noChangeShapeType="1"/>
            </p:cNvCxnSpPr>
            <p:nvPr/>
          </p:nvCxnSpPr>
          <p:spPr bwMode="auto">
            <a:xfrm flipV="1">
              <a:off x="3774558" y="3809997"/>
              <a:ext cx="2743200" cy="1524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473" name="Straight Connector 18"/>
            <p:cNvCxnSpPr>
              <a:cxnSpLocks noChangeShapeType="1"/>
              <a:stCxn id="19466" idx="4"/>
            </p:cNvCxnSpPr>
            <p:nvPr/>
          </p:nvCxnSpPr>
          <p:spPr bwMode="auto">
            <a:xfrm rot="16200000" flipH="1">
              <a:off x="3924577" y="4961729"/>
              <a:ext cx="392113" cy="0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/>
            </a:ln>
          </p:spPr>
        </p:cxnSp>
        <p:cxnSp>
          <p:nvCxnSpPr>
            <p:cNvPr id="19474" name="Straight Connector 18"/>
            <p:cNvCxnSpPr>
              <a:cxnSpLocks noChangeShapeType="1"/>
              <a:stCxn id="19467" idx="4"/>
            </p:cNvCxnSpPr>
            <p:nvPr/>
          </p:nvCxnSpPr>
          <p:spPr bwMode="auto">
            <a:xfrm rot="16200000" flipH="1">
              <a:off x="5123934" y="4343398"/>
              <a:ext cx="327025" cy="0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/>
            </a:ln>
          </p:spPr>
        </p:cxnSp>
        <p:cxnSp>
          <p:nvCxnSpPr>
            <p:cNvPr id="19475" name="Straight Connector 18"/>
            <p:cNvCxnSpPr>
              <a:cxnSpLocks noChangeShapeType="1"/>
              <a:endCxn id="19468" idx="0"/>
            </p:cNvCxnSpPr>
            <p:nvPr/>
          </p:nvCxnSpPr>
          <p:spPr bwMode="auto">
            <a:xfrm rot="5400000">
              <a:off x="4602440" y="4931567"/>
              <a:ext cx="196850" cy="1587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/>
            </a:ln>
          </p:spPr>
        </p:cxnSp>
        <p:sp>
          <p:nvSpPr>
            <p:cNvPr id="19476" name="TextBox 27"/>
            <p:cNvSpPr txBox="1">
              <a:spLocks noChangeArrowheads="1"/>
            </p:cNvSpPr>
            <p:nvPr/>
          </p:nvSpPr>
          <p:spPr bwMode="auto">
            <a:xfrm>
              <a:off x="3091933" y="4621210"/>
              <a:ext cx="29848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/>
                <a:t>y</a:t>
              </a:r>
            </a:p>
          </p:txBody>
        </p:sp>
        <p:sp>
          <p:nvSpPr>
            <p:cNvPr id="19477" name="TextBox 28"/>
            <p:cNvSpPr txBox="1">
              <a:spLocks noChangeArrowheads="1"/>
            </p:cNvSpPr>
            <p:nvPr/>
          </p:nvSpPr>
          <p:spPr bwMode="auto">
            <a:xfrm>
              <a:off x="4184133" y="5486397"/>
              <a:ext cx="29206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/>
                <a:t>x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AA15048-911F-954A-9B0F-E0548918696C}"/>
                </a:ext>
              </a:extLst>
            </p:cNvPr>
            <p:cNvSpPr/>
            <p:nvPr/>
          </p:nvSpPr>
          <p:spPr bwMode="auto">
            <a:xfrm>
              <a:off x="5448166" y="5410197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66FF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latin typeface="Times New Roman" charset="0"/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18A1839-B524-F24F-914F-B8D76F156DF7}"/>
                </a:ext>
              </a:extLst>
            </p:cNvPr>
            <p:cNvCxnSpPr>
              <a:cxnSpLocks/>
              <a:stCxn id="22" idx="0"/>
            </p:cNvCxnSpPr>
            <p:nvPr/>
          </p:nvCxnSpPr>
          <p:spPr bwMode="auto">
            <a:xfrm flipV="1">
              <a:off x="5486266" y="4444409"/>
              <a:ext cx="32032" cy="9657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66FF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969361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Linear </a:t>
            </a:r>
            <a:r>
              <a:rPr lang="en-US" dirty="0"/>
              <a:t>Regression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44087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Simple linear regression : </a:t>
            </a:r>
            <a:r>
              <a:rPr lang="ko-KR" altLang="en-US" dirty="0" smtClean="0"/>
              <a:t>입력 변수 </a:t>
            </a:r>
            <a:r>
              <a:rPr lang="en-US" altLang="ko-KR" dirty="0" smtClean="0"/>
              <a:t>(</a:t>
            </a:r>
            <a:r>
              <a:rPr lang="ko-KR" altLang="en-US" dirty="0" smtClean="0"/>
              <a:t>독립 변수</a:t>
            </a:r>
            <a:r>
              <a:rPr lang="en-US" altLang="ko-KR" dirty="0" smtClean="0"/>
              <a:t>)</a:t>
            </a:r>
            <a:r>
              <a:rPr lang="ko-KR" altLang="en-US" dirty="0" smtClean="0"/>
              <a:t>가</a:t>
            </a:r>
            <a:r>
              <a:rPr lang="en-US" altLang="ko-KR" dirty="0" smtClean="0"/>
              <a:t> </a:t>
            </a:r>
            <a:r>
              <a:rPr lang="ko-KR" altLang="en-US" dirty="0" smtClean="0"/>
              <a:t>하나이면서 출력 변수 </a:t>
            </a:r>
            <a:r>
              <a:rPr lang="en-US" altLang="ko-KR" dirty="0" smtClean="0"/>
              <a:t>(</a:t>
            </a:r>
            <a:r>
              <a:rPr lang="ko-KR" altLang="en-US" dirty="0" smtClean="0"/>
              <a:t>종속 변수</a:t>
            </a:r>
            <a:r>
              <a:rPr lang="en-US" altLang="ko-KR" dirty="0" smtClean="0"/>
              <a:t>)</a:t>
            </a:r>
            <a:r>
              <a:rPr lang="ko-KR" altLang="en-US" dirty="0" smtClean="0"/>
              <a:t>도 하나인 형태 </a:t>
            </a:r>
            <a:r>
              <a:rPr lang="en-US" altLang="ko-KR" dirty="0" smtClean="0"/>
              <a:t>y = f(x)</a:t>
            </a:r>
          </a:p>
          <a:p>
            <a:r>
              <a:rPr lang="en-US" altLang="ko-KR" dirty="0" smtClean="0"/>
              <a:t>Multiple linear regression : </a:t>
            </a:r>
            <a:r>
              <a:rPr lang="ko-KR" altLang="en-US" dirty="0" smtClean="0"/>
              <a:t>입력 변수 </a:t>
            </a:r>
            <a:r>
              <a:rPr lang="en-US" altLang="ko-KR" dirty="0" smtClean="0"/>
              <a:t>(</a:t>
            </a:r>
            <a:r>
              <a:rPr lang="ko-KR" altLang="en-US" dirty="0" smtClean="0"/>
              <a:t>독립 변수</a:t>
            </a:r>
            <a:r>
              <a:rPr lang="en-US" altLang="ko-KR" dirty="0" smtClean="0"/>
              <a:t>)</a:t>
            </a:r>
            <a:r>
              <a:rPr lang="ko-KR" altLang="en-US" dirty="0" smtClean="0"/>
              <a:t>가</a:t>
            </a:r>
            <a:r>
              <a:rPr lang="en-US" altLang="ko-KR" dirty="0" smtClean="0"/>
              <a:t> </a:t>
            </a:r>
            <a:r>
              <a:rPr lang="ko-KR" altLang="en-US" dirty="0" smtClean="0"/>
              <a:t>여러 개이면서 </a:t>
            </a:r>
            <a:r>
              <a:rPr lang="ko-KR" altLang="en-US" dirty="0" smtClean="0"/>
              <a:t>출력 변수 </a:t>
            </a:r>
            <a:r>
              <a:rPr lang="en-US" altLang="ko-KR" dirty="0" smtClean="0"/>
              <a:t>(</a:t>
            </a:r>
            <a:r>
              <a:rPr lang="ko-KR" altLang="en-US" dirty="0" smtClean="0"/>
              <a:t>종속 변수</a:t>
            </a:r>
            <a:r>
              <a:rPr lang="en-US" altLang="ko-KR" dirty="0" smtClean="0"/>
              <a:t>)</a:t>
            </a:r>
            <a:r>
              <a:rPr lang="ko-KR" altLang="en-US" dirty="0" smtClean="0"/>
              <a:t>가 </a:t>
            </a:r>
            <a:r>
              <a:rPr lang="ko-KR" altLang="en-US" dirty="0" smtClean="0"/>
              <a:t>하나인 </a:t>
            </a:r>
            <a:r>
              <a:rPr lang="ko-KR" altLang="en-US" dirty="0" smtClean="0"/>
              <a:t>형태 </a:t>
            </a:r>
            <a:r>
              <a:rPr lang="en-US" altLang="ko-KR" dirty="0" smtClean="0"/>
              <a:t>y = f(x1, …, </a:t>
            </a:r>
            <a:r>
              <a:rPr lang="en-US" altLang="ko-KR" dirty="0" err="1" smtClean="0"/>
              <a:t>xn</a:t>
            </a:r>
            <a:r>
              <a:rPr lang="en-US" altLang="ko-KR" dirty="0" smtClean="0"/>
              <a:t>)</a:t>
            </a:r>
            <a:endParaRPr lang="en-US" dirty="0" smtClean="0"/>
          </a:p>
          <a:p>
            <a:r>
              <a:rPr lang="en-US" dirty="0" smtClean="0"/>
              <a:t>Multivariate </a:t>
            </a:r>
            <a:r>
              <a:rPr lang="en-US" dirty="0"/>
              <a:t>linear regression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입력 변수 </a:t>
            </a:r>
            <a:r>
              <a:rPr lang="en-US" altLang="ko-KR" dirty="0" smtClean="0"/>
              <a:t>(</a:t>
            </a:r>
            <a:r>
              <a:rPr lang="ko-KR" altLang="en-US" dirty="0" smtClean="0"/>
              <a:t>독립 변수</a:t>
            </a:r>
            <a:r>
              <a:rPr lang="en-US" altLang="ko-KR" dirty="0" smtClean="0"/>
              <a:t>)</a:t>
            </a:r>
            <a:r>
              <a:rPr lang="ko-KR" altLang="en-US" dirty="0" smtClean="0"/>
              <a:t>와 출력 </a:t>
            </a:r>
            <a:r>
              <a:rPr lang="ko-KR" altLang="en-US" dirty="0" smtClean="0"/>
              <a:t>변수 </a:t>
            </a:r>
            <a:r>
              <a:rPr lang="en-US" altLang="ko-KR" dirty="0" smtClean="0"/>
              <a:t>(</a:t>
            </a:r>
            <a:r>
              <a:rPr lang="ko-KR" altLang="en-US" dirty="0" smtClean="0"/>
              <a:t>종속 변수</a:t>
            </a:r>
            <a:r>
              <a:rPr lang="en-US" altLang="ko-KR" dirty="0" smtClean="0"/>
              <a:t>)</a:t>
            </a:r>
            <a:r>
              <a:rPr lang="ko-KR" altLang="en-US" dirty="0" smtClean="0"/>
              <a:t>가 여러 개인 형태 </a:t>
            </a:r>
            <a:r>
              <a:rPr lang="en-US" altLang="ko-KR" dirty="0" smtClean="0"/>
              <a:t>y1, …, </a:t>
            </a:r>
            <a:r>
              <a:rPr lang="en-US" altLang="ko-KR" dirty="0" err="1" smtClean="0"/>
              <a:t>ym</a:t>
            </a:r>
            <a:r>
              <a:rPr lang="en-US" altLang="ko-KR" dirty="0" smtClean="0"/>
              <a:t> = f(x1, …, </a:t>
            </a:r>
            <a:r>
              <a:rPr lang="en-US" altLang="ko-KR" dirty="0" err="1" smtClean="0"/>
              <a:t>xn</a:t>
            </a:r>
            <a:r>
              <a:rPr lang="en-US" altLang="ko-KR" dirty="0" smtClean="0"/>
              <a:t>)</a:t>
            </a:r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9EF7AAC-35A0-F44B-A62D-2D9AD4CA7B98}" type="slidenum">
              <a:rPr lang="en-US" smtClean="0">
                <a:latin typeface="Times New Roman" pitchFamily="1" charset="0"/>
              </a:rPr>
              <a:pPr/>
              <a:t>4</a:t>
            </a:fld>
            <a:endParaRPr lang="en-US" dirty="0">
              <a:latin typeface="Times New Roman" pitchFamily="1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838200" y="5284993"/>
            <a:ext cx="9757710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 smtClean="0"/>
              <a:t>simple linear regression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Multiple linear regression</a:t>
            </a:r>
            <a:r>
              <a:rPr lang="ko-KR" altLang="en-US" dirty="0" smtClean="0"/>
              <a:t>의 특수한 형태이며</a:t>
            </a:r>
            <a:r>
              <a:rPr lang="en-US" altLang="ko-KR" dirty="0" smtClean="0"/>
              <a:t>, Multivariate linear regression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 </a:t>
            </a:r>
            <a:r>
              <a:rPr lang="ko-KR" altLang="en-US" dirty="0" smtClean="0"/>
              <a:t>여러 개의 </a:t>
            </a:r>
            <a:r>
              <a:rPr lang="en-US" altLang="ko-KR" dirty="0" smtClean="0"/>
              <a:t>Multiple linear regression</a:t>
            </a:r>
            <a:r>
              <a:rPr lang="ko-KR" altLang="en-US" dirty="0" smtClean="0"/>
              <a:t>으로 해결 가능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557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Linear </a:t>
            </a:r>
            <a:r>
              <a:rPr lang="en-US" dirty="0"/>
              <a:t>Regression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이해를 돕기 위해 하나의 입력과 하나의 출력을 갖는 형태</a:t>
            </a:r>
            <a:r>
              <a:rPr lang="en-US" altLang="ko-KR" dirty="0" smtClean="0">
                <a:ea typeface="ＭＳ Ｐゴシック" pitchFamily="1" charset="-128"/>
                <a:cs typeface="ＭＳ Ｐゴシック" pitchFamily="1" charset="-128"/>
              </a:rPr>
              <a:t>, </a:t>
            </a:r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즉 </a:t>
            </a:r>
            <a:r>
              <a:rPr lang="en-US" altLang="ko-KR" dirty="0" smtClean="0">
                <a:ea typeface="ＭＳ Ｐゴシック" pitchFamily="1" charset="-128"/>
                <a:cs typeface="ＭＳ Ｐゴシック" pitchFamily="1" charset="-128"/>
              </a:rPr>
              <a:t>simple linear regression</a:t>
            </a:r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을 가정</a:t>
            </a:r>
            <a:endParaRPr lang="en-US" altLang="ko-KR" dirty="0" smtClean="0">
              <a:ea typeface="ＭＳ Ｐゴシック" pitchFamily="1" charset="-128"/>
              <a:cs typeface="ＭＳ Ｐゴシック" pitchFamily="1" charset="-128"/>
            </a:endParaRPr>
          </a:p>
          <a:p>
            <a:pPr lvl="1"/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주어진 점들을 통과하는 여러 라인들이 존재</a:t>
            </a:r>
            <a:endParaRPr lang="en-US" dirty="0">
              <a:ea typeface="ＭＳ Ｐゴシック" pitchFamily="1" charset="-128"/>
              <a:cs typeface="ＭＳ Ｐゴシック" pitchFamily="1" charset="-128"/>
            </a:endParaRPr>
          </a:p>
          <a:p>
            <a:pPr lvl="1"/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어떤 라인을 선택해야 할까</a:t>
            </a:r>
            <a:r>
              <a:rPr lang="en-US" dirty="0" smtClean="0">
                <a:ea typeface="ＭＳ Ｐゴシック" pitchFamily="1" charset="-128"/>
                <a:cs typeface="ＭＳ Ｐゴシック" pitchFamily="1" charset="-128"/>
              </a:rPr>
              <a:t>?</a:t>
            </a:r>
            <a:endParaRPr lang="en-US" dirty="0">
              <a:ea typeface="ＭＳ Ｐゴシック" pitchFamily="1" charset="-128"/>
              <a:cs typeface="ＭＳ Ｐゴシック" pitchFamily="1" charset="-128"/>
            </a:endParaRPr>
          </a:p>
          <a:p>
            <a:pPr lvl="2"/>
            <a:r>
              <a:rPr lang="ko-KR" altLang="en-US" dirty="0" smtClean="0"/>
              <a:t>이를 위해 목적 함수 </a:t>
            </a:r>
            <a:r>
              <a:rPr lang="en-US" altLang="ko-KR" dirty="0" smtClean="0"/>
              <a:t>(</a:t>
            </a:r>
            <a:r>
              <a:rPr lang="en-US" dirty="0" smtClean="0"/>
              <a:t>objective function</a:t>
            </a:r>
            <a:r>
              <a:rPr lang="en-US" altLang="ko-KR" dirty="0" smtClean="0"/>
              <a:t>)</a:t>
            </a:r>
            <a:r>
              <a:rPr lang="ko-KR" altLang="en-US" dirty="0" smtClean="0"/>
              <a:t>가 필요</a:t>
            </a:r>
            <a:r>
              <a:rPr lang="en-US" altLang="ko-KR" dirty="0" smtClean="0"/>
              <a:t>. </a:t>
            </a:r>
            <a:r>
              <a:rPr lang="en-US" dirty="0" smtClean="0"/>
              <a:t>simple </a:t>
            </a:r>
            <a:r>
              <a:rPr lang="en-US" dirty="0"/>
              <a:t>linear </a:t>
            </a:r>
            <a:r>
              <a:rPr lang="en-US" dirty="0" smtClean="0"/>
              <a:t>regression</a:t>
            </a:r>
            <a:r>
              <a:rPr lang="ko-KR" altLang="en-US" dirty="0" smtClean="0"/>
              <a:t>에 대해서는</a:t>
            </a:r>
            <a:r>
              <a:rPr lang="en-US" dirty="0" smtClean="0"/>
              <a:t> </a:t>
            </a:r>
            <a:r>
              <a:rPr lang="en-US" altLang="ko-KR" dirty="0" smtClean="0"/>
              <a:t>SSE(S</a:t>
            </a:r>
            <a:r>
              <a:rPr lang="en-US" dirty="0" smtClean="0"/>
              <a:t>um </a:t>
            </a:r>
            <a:r>
              <a:rPr lang="en-US" altLang="ko-KR" dirty="0" smtClean="0"/>
              <a:t>S</a:t>
            </a:r>
            <a:r>
              <a:rPr lang="en-US" dirty="0" smtClean="0"/>
              <a:t>quared </a:t>
            </a:r>
            <a:r>
              <a:rPr lang="en-US" altLang="ko-KR" dirty="0" smtClean="0"/>
              <a:t>E</a:t>
            </a:r>
            <a:r>
              <a:rPr lang="en-US" dirty="0" smtClean="0"/>
              <a:t>rror)</a:t>
            </a:r>
            <a:r>
              <a:rPr lang="ko-KR" altLang="en-US" dirty="0" smtClean="0"/>
              <a:t>를 사용</a:t>
            </a:r>
            <a:endParaRPr lang="en-US" dirty="0"/>
          </a:p>
          <a:p>
            <a:pPr lvl="3"/>
            <a:r>
              <a:rPr lang="en-US" dirty="0">
                <a:latin typeface="Symbol" pitchFamily="1" charset="2"/>
                <a:ea typeface="ＭＳ Ｐゴシック" pitchFamily="1" charset="-128"/>
              </a:rPr>
              <a:t>S</a:t>
            </a:r>
            <a:r>
              <a:rPr lang="en-US" dirty="0">
                <a:ea typeface="ＭＳ Ｐゴシック" pitchFamily="1" charset="-128"/>
              </a:rPr>
              <a:t> (</a:t>
            </a:r>
            <a:r>
              <a:rPr lang="en-US" i="1" dirty="0" err="1">
                <a:ea typeface="ＭＳ Ｐゴシック" pitchFamily="1" charset="-128"/>
              </a:rPr>
              <a:t>predicted</a:t>
            </a:r>
            <a:r>
              <a:rPr lang="en-US" i="1" baseline="-25000" dirty="0" err="1">
                <a:ea typeface="ＭＳ Ｐゴシック" pitchFamily="1" charset="-128"/>
              </a:rPr>
              <a:t>i</a:t>
            </a:r>
            <a:r>
              <a:rPr lang="en-US" i="1" dirty="0">
                <a:ea typeface="ＭＳ Ｐゴシック" pitchFamily="1" charset="-128"/>
              </a:rPr>
              <a:t> – actual</a:t>
            </a:r>
            <a:r>
              <a:rPr lang="en-US" i="1" baseline="-25000" dirty="0">
                <a:ea typeface="ＭＳ Ｐゴシック" pitchFamily="1" charset="-128"/>
              </a:rPr>
              <a:t>i</a:t>
            </a:r>
            <a:r>
              <a:rPr lang="en-US" dirty="0">
                <a:ea typeface="ＭＳ Ｐゴシック" pitchFamily="1" charset="-128"/>
              </a:rPr>
              <a:t>)</a:t>
            </a:r>
            <a:r>
              <a:rPr lang="en-US" baseline="30000" dirty="0">
                <a:ea typeface="ＭＳ Ｐゴシック" pitchFamily="1" charset="-128"/>
              </a:rPr>
              <a:t>2  </a:t>
            </a:r>
            <a:r>
              <a:rPr lang="en-US" dirty="0">
                <a:ea typeface="ＭＳ Ｐゴシック" pitchFamily="1" charset="-128"/>
              </a:rPr>
              <a:t>=</a:t>
            </a:r>
            <a:r>
              <a:rPr lang="en-US" baseline="30000" dirty="0">
                <a:ea typeface="ＭＳ Ｐゴシック" pitchFamily="1" charset="-128"/>
              </a:rPr>
              <a:t> </a:t>
            </a:r>
            <a:r>
              <a:rPr lang="en-US" dirty="0">
                <a:latin typeface="Symbol" pitchFamily="1" charset="2"/>
                <a:ea typeface="ＭＳ Ｐゴシック" pitchFamily="1" charset="-128"/>
              </a:rPr>
              <a:t>S</a:t>
            </a:r>
            <a:r>
              <a:rPr lang="en-US" dirty="0">
                <a:ea typeface="ＭＳ Ｐゴシック" pitchFamily="1" charset="-128"/>
              </a:rPr>
              <a:t> (</a:t>
            </a:r>
            <a:r>
              <a:rPr lang="en-US" i="1" dirty="0">
                <a:ea typeface="ＭＳ Ｐゴシック" pitchFamily="1" charset="-128"/>
              </a:rPr>
              <a:t>residue</a:t>
            </a:r>
            <a:r>
              <a:rPr lang="en-US" i="1" baseline="-25000" dirty="0">
                <a:ea typeface="ＭＳ Ｐゴシック" pitchFamily="1" charset="-128"/>
              </a:rPr>
              <a:t>i</a:t>
            </a:r>
            <a:r>
              <a:rPr lang="en-US" dirty="0">
                <a:ea typeface="ＭＳ Ｐゴシック" pitchFamily="1" charset="-128"/>
              </a:rPr>
              <a:t>)</a:t>
            </a:r>
            <a:r>
              <a:rPr lang="en-US" baseline="30000" dirty="0">
                <a:ea typeface="ＭＳ Ｐゴシック" pitchFamily="1" charset="-128"/>
              </a:rPr>
              <a:t>2</a:t>
            </a:r>
            <a:endParaRPr lang="en-US" dirty="0">
              <a:ea typeface="ＭＳ Ｐゴシック" pitchFamily="1" charset="-128"/>
            </a:endParaRPr>
          </a:p>
          <a:p>
            <a:pPr lvl="2"/>
            <a:r>
              <a:rPr lang="ko-KR" altLang="en-US" dirty="0" smtClean="0"/>
              <a:t>이 목적 함수를 최소화하는 라인을 찾으면 됨</a:t>
            </a:r>
            <a:endParaRPr lang="en-US" dirty="0"/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9EF7AAC-35A0-F44B-A62D-2D9AD4CA7B98}" type="slidenum">
              <a:rPr lang="en-US" smtClean="0">
                <a:latin typeface="Times New Roman" pitchFamily="1" charset="0"/>
              </a:rPr>
              <a:pPr/>
              <a:t>5</a:t>
            </a:fld>
            <a:endParaRPr lang="en-US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3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How do we "learn" parameters</a:t>
            </a:r>
          </a:p>
        </p:txBody>
      </p:sp>
      <p:sp>
        <p:nvSpPr>
          <p:cNvPr id="225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>
                <a:ea typeface="ＭＳ Ｐゴシック" pitchFamily="1" charset="-128"/>
                <a:cs typeface="ＭＳ Ｐゴシック" pitchFamily="1" charset="-128"/>
              </a:rPr>
              <a:t>2 </a:t>
            </a:r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차원 문제 </a:t>
            </a:r>
            <a:r>
              <a:rPr lang="en-US" altLang="ko-KR" dirty="0" smtClean="0">
                <a:ea typeface="ＭＳ Ｐゴシック" pitchFamily="1" charset="-128"/>
                <a:cs typeface="ＭＳ Ｐゴシック" pitchFamily="1" charset="-128"/>
              </a:rPr>
              <a:t>(</a:t>
            </a:r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선</a:t>
            </a:r>
            <a:r>
              <a:rPr lang="en-US" altLang="ko-KR" dirty="0" smtClean="0">
                <a:ea typeface="ＭＳ Ｐゴシック" pitchFamily="1" charset="-128"/>
                <a:cs typeface="ＭＳ Ｐゴシック" pitchFamily="1" charset="-128"/>
              </a:rPr>
              <a:t>)</a:t>
            </a:r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의 경우 편향과 독립 변수 </a:t>
            </a:r>
            <a:r>
              <a:rPr lang="en-US" altLang="ko-KR" dirty="0" smtClean="0">
                <a:ea typeface="ＭＳ Ｐゴシック" pitchFamily="1" charset="-128"/>
                <a:cs typeface="ＭＳ Ｐゴシック" pitchFamily="1" charset="-128"/>
              </a:rPr>
              <a:t>(y </a:t>
            </a:r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절편 및 기울기</a:t>
            </a:r>
            <a:r>
              <a:rPr lang="en-US" altLang="ko-KR" dirty="0" smtClean="0">
                <a:ea typeface="ＭＳ Ｐゴシック" pitchFamily="1" charset="-128"/>
                <a:cs typeface="ＭＳ Ｐゴシック" pitchFamily="1" charset="-128"/>
              </a:rPr>
              <a:t>)</a:t>
            </a:r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에 대한 계수가 있음</a:t>
            </a:r>
            <a:r>
              <a:rPr lang="en-US" dirty="0" smtClean="0">
                <a:ea typeface="ＭＳ Ｐゴシック" pitchFamily="1" charset="-128"/>
                <a:cs typeface="ＭＳ Ｐゴシック" pitchFamily="1" charset="-128"/>
              </a:rPr>
              <a:t>)</a:t>
            </a:r>
            <a:endParaRPr lang="en-US" dirty="0">
              <a:ea typeface="ＭＳ Ｐゴシック" pitchFamily="1" charset="-128"/>
              <a:cs typeface="ＭＳ Ｐゴシック" pitchFamily="1" charset="-128"/>
            </a:endParaRPr>
          </a:p>
          <a:p>
            <a:endParaRPr lang="en-US" dirty="0">
              <a:ea typeface="ＭＳ Ｐゴシック" pitchFamily="1" charset="-128"/>
              <a:cs typeface="ＭＳ Ｐゴシック" pitchFamily="1" charset="-128"/>
            </a:endParaRPr>
          </a:p>
          <a:p>
            <a:endParaRPr lang="en-US" dirty="0">
              <a:ea typeface="ＭＳ Ｐゴシック" pitchFamily="1" charset="-128"/>
              <a:cs typeface="ＭＳ Ｐゴシック" pitchFamily="1" charset="-128"/>
            </a:endParaRPr>
          </a:p>
          <a:p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목적 함수를 최소화하는 계수 값을 찾기 위해 목적 함수 </a:t>
            </a:r>
            <a:r>
              <a:rPr lang="en-US" altLang="ko-KR" dirty="0" smtClean="0">
                <a:ea typeface="ＭＳ Ｐゴシック" pitchFamily="1" charset="-128"/>
                <a:cs typeface="ＭＳ Ｐゴシック" pitchFamily="1" charset="-128"/>
              </a:rPr>
              <a:t>(SSE)</a:t>
            </a:r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의 부분 </a:t>
            </a:r>
            <a:r>
              <a:rPr lang="ko-KR" altLang="en-US" dirty="0" err="1" smtClean="0">
                <a:ea typeface="ＭＳ Ｐゴシック" pitchFamily="1" charset="-128"/>
                <a:cs typeface="ＭＳ Ｐゴシック" pitchFamily="1" charset="-128"/>
              </a:rPr>
              <a:t>도함수를</a:t>
            </a:r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 사용</a:t>
            </a:r>
            <a:r>
              <a:rPr lang="en-US" altLang="ko-KR" dirty="0" smtClean="0">
                <a:ea typeface="ＭＳ Ｐゴシック" pitchFamily="1" charset="-128"/>
                <a:cs typeface="ＭＳ Ｐゴシック" pitchFamily="1" charset="-128"/>
              </a:rPr>
              <a:t>. </a:t>
            </a:r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이것을 </a:t>
            </a:r>
            <a:r>
              <a:rPr lang="en-US" altLang="ko-KR" dirty="0" smtClean="0">
                <a:ea typeface="ＭＳ Ｐゴシック" pitchFamily="1" charset="-128"/>
                <a:cs typeface="ＭＳ Ｐゴシック" pitchFamily="1" charset="-128"/>
              </a:rPr>
              <a:t>0</a:t>
            </a:r>
            <a:r>
              <a:rPr lang="ko-KR" altLang="en-US" dirty="0" smtClean="0">
                <a:ea typeface="ＭＳ Ｐゴシック" pitchFamily="1" charset="-128"/>
                <a:cs typeface="ＭＳ Ｐゴシック" pitchFamily="1" charset="-128"/>
              </a:rPr>
              <a:t>으로 설정하고 문제를 품</a:t>
            </a:r>
            <a:r>
              <a:rPr lang="en-US" dirty="0" smtClean="0">
                <a:ea typeface="ＭＳ Ｐゴシック" pitchFamily="1" charset="-128"/>
                <a:cs typeface="ＭＳ Ｐゴシック" pitchFamily="1" charset="-128"/>
              </a:rPr>
              <a:t> </a:t>
            </a:r>
            <a:endParaRPr lang="en-US" dirty="0">
              <a:ea typeface="ＭＳ Ｐゴシック" pitchFamily="1" charset="-128"/>
              <a:cs typeface="ＭＳ Ｐゴシック" pitchFamily="1" charset="-128"/>
            </a:endParaRPr>
          </a:p>
          <a:p>
            <a:endParaRPr lang="en-US" dirty="0">
              <a:ea typeface="ＭＳ Ｐゴシック" pitchFamily="1" charset="-128"/>
              <a:cs typeface="ＭＳ Ｐゴシック" pitchFamily="1" charset="-128"/>
            </a:endParaRPr>
          </a:p>
          <a:p>
            <a:endParaRPr lang="en-US" dirty="0">
              <a:ea typeface="ＭＳ Ｐゴシック" pitchFamily="1" charset="-128"/>
              <a:cs typeface="ＭＳ Ｐゴシック" pitchFamily="1" charset="-128"/>
            </a:endParaRPr>
          </a:p>
          <a:p>
            <a:endParaRPr lang="en-US" dirty="0">
              <a:ea typeface="ＭＳ Ｐゴシック" pitchFamily="1" charset="-128"/>
              <a:cs typeface="ＭＳ Ｐゴシック" pitchFamily="1" charset="-128"/>
            </a:endParaRPr>
          </a:p>
          <a:p>
            <a:endParaRPr lang="en-US" dirty="0">
              <a:ea typeface="ＭＳ Ｐゴシック" pitchFamily="1" charset="-128"/>
              <a:cs typeface="ＭＳ Ｐゴシック" pitchFamily="1" charset="-128"/>
            </a:endParaRPr>
          </a:p>
        </p:txBody>
      </p:sp>
      <p:sp>
        <p:nvSpPr>
          <p:cNvPr id="2253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6A8492C-1F1C-174F-B0F9-B2A1A622A019}" type="slidenum">
              <a:rPr lang="en-US" smtClean="0">
                <a:latin typeface="Times New Roman" pitchFamily="1" charset="0"/>
              </a:rPr>
              <a:pPr/>
              <a:t>6</a:t>
            </a:fld>
            <a:endParaRPr lang="en-US" dirty="0">
              <a:latin typeface="Times New Roman" pitchFamily="1" charset="0"/>
            </a:endParaRPr>
          </a:p>
        </p:txBody>
      </p:sp>
      <p:graphicFrame>
        <p:nvGraphicFramePr>
          <p:cNvPr id="225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519257"/>
              </p:ext>
            </p:extLst>
          </p:nvPr>
        </p:nvGraphicFramePr>
        <p:xfrm>
          <a:off x="4680744" y="2929269"/>
          <a:ext cx="19812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" name="Equation" r:id="rId3" imgW="736600" imgH="177800" progId="Equation.3">
                  <p:embed/>
                </p:oleObj>
              </mc:Choice>
              <mc:Fallback>
                <p:oleObj name="Equation" r:id="rId3" imgW="736600" imgH="177800" progId="Equation.3">
                  <p:embed/>
                  <p:pic>
                    <p:nvPicPr>
                      <p:cNvPr id="225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0744" y="2929269"/>
                        <a:ext cx="1981200" cy="477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9372741"/>
              </p:ext>
            </p:extLst>
          </p:nvPr>
        </p:nvGraphicFramePr>
        <p:xfrm>
          <a:off x="3021418" y="4780756"/>
          <a:ext cx="2808288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Equation" r:id="rId5" imgW="1409700" imgH="584200" progId="Equation.3">
                  <p:embed/>
                </p:oleObj>
              </mc:Choice>
              <mc:Fallback>
                <p:oleObj name="Equation" r:id="rId5" imgW="1409700" imgH="584200" progId="Equation.3">
                  <p:embed/>
                  <p:pic>
                    <p:nvPicPr>
                      <p:cNvPr id="225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418" y="4780756"/>
                        <a:ext cx="2808288" cy="11652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772661"/>
              </p:ext>
            </p:extLst>
          </p:nvPr>
        </p:nvGraphicFramePr>
        <p:xfrm>
          <a:off x="6972300" y="4911724"/>
          <a:ext cx="2362200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Equation" r:id="rId7" imgW="1130300" imgH="431800" progId="Equation.3">
                  <p:embed/>
                </p:oleObj>
              </mc:Choice>
              <mc:Fallback>
                <p:oleObj name="Equation" r:id="rId7" imgW="1130300" imgH="431800" progId="Equation.3">
                  <p:embed/>
                  <p:pic>
                    <p:nvPicPr>
                      <p:cNvPr id="22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2300" y="4911724"/>
                        <a:ext cx="2362200" cy="90328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0724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09238"/>
            <a:ext cx="7772400" cy="990600"/>
          </a:xfrm>
        </p:spPr>
        <p:txBody>
          <a:bodyPr/>
          <a:lstStyle/>
          <a:p>
            <a:pPr>
              <a:defRPr/>
            </a:pPr>
            <a:r>
              <a:rPr lang="en-US" dirty="0"/>
              <a:t>Multiple Linear Regression</a:t>
            </a:r>
          </a:p>
        </p:txBody>
      </p:sp>
      <p:sp>
        <p:nvSpPr>
          <p:cNvPr id="2355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36A36E8-F174-394F-84B2-E8CE27FD22B8}" type="slidenum">
              <a:rPr lang="en-US" smtClean="0">
                <a:latin typeface="Times New Roman" pitchFamily="1" charset="0"/>
              </a:rPr>
              <a:pPr/>
              <a:t>7</a:t>
            </a:fld>
            <a:endParaRPr lang="en-US">
              <a:latin typeface="Times New Roman" pitchFamily="1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69127" y="1757963"/>
                <a:ext cx="557376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ko-KR" sz="28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altLang="ko-KR" sz="2800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8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2800" dirty="0" smtClean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8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8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ko-KR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800" dirty="0" smtClean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8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8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ko-KR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2800" dirty="0" smtClean="0"/>
                  <a:t> + </a:t>
                </a:r>
                <a14:m>
                  <m:oMath xmlns:m="http://schemas.openxmlformats.org/officeDocument/2006/math">
                    <m:r>
                      <a:rPr lang="en-US" altLang="ko-K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2800" dirty="0" smtClean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8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8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US" altLang="ko-KR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8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8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ko-KR" dirty="0" smtClean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127" y="1757963"/>
                <a:ext cx="5573767" cy="430887"/>
              </a:xfrm>
              <a:prstGeom prst="rect">
                <a:avLst/>
              </a:prstGeom>
              <a:blipFill>
                <a:blip r:embed="rId3"/>
                <a:stretch>
                  <a:fillRect l="-656" t="-25352" b="-492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873821" y="1360387"/>
                <a:ext cx="2760499" cy="12260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: </a:t>
                </a:r>
                <a:r>
                  <a:rPr lang="ko-KR" altLang="en-US" dirty="0" err="1" smtClean="0"/>
                  <a:t>예측치</a:t>
                </a:r>
                <a:r>
                  <a:rPr lang="ko-KR" altLang="en-US" dirty="0" smtClean="0"/>
                  <a:t> </a:t>
                </a:r>
                <a:endParaRPr lang="en-US" altLang="ko-KR" dirty="0" smtClean="0"/>
              </a:p>
              <a:p>
                <a:r>
                  <a:rPr lang="en-US" altLang="ko-KR" dirty="0" smtClean="0"/>
                  <a:t>n : </a:t>
                </a:r>
                <a:r>
                  <a:rPr lang="ko-KR" altLang="en-US" dirty="0" smtClean="0"/>
                  <a:t>특징의 수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= </a:t>
                </a:r>
                <a:r>
                  <a:rPr lang="en-US" altLang="ko-KR" dirty="0" err="1" smtClean="0"/>
                  <a:t>i</a:t>
                </a:r>
                <a:r>
                  <a:rPr lang="ko-KR" altLang="en-US" dirty="0" smtClean="0"/>
                  <a:t>번째 </a:t>
                </a:r>
                <a:r>
                  <a:rPr lang="ko-KR" altLang="en-US" dirty="0" err="1" smtClean="0"/>
                  <a:t>특징값</a:t>
                </a:r>
                <a:endParaRPr lang="en-US" altLang="ko-KR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= j</a:t>
                </a:r>
                <a:r>
                  <a:rPr lang="ko-KR" altLang="en-US" dirty="0" smtClean="0"/>
                  <a:t>번째 모델 </a:t>
                </a:r>
                <a:r>
                  <a:rPr lang="ko-KR" altLang="en-US" dirty="0" err="1" smtClean="0"/>
                  <a:t>패러미터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21" y="1360387"/>
                <a:ext cx="2760499" cy="1226041"/>
              </a:xfrm>
              <a:prstGeom prst="rect">
                <a:avLst/>
              </a:prstGeom>
              <a:blipFill>
                <a:blip r:embed="rId4"/>
                <a:stretch>
                  <a:fillRect l="-1991" t="-2488" r="-1549" b="-4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763772" y="4414962"/>
            <a:ext cx="10515600" cy="2272696"/>
          </a:xfrm>
        </p:spPr>
        <p:txBody>
          <a:bodyPr/>
          <a:lstStyle/>
          <a:p>
            <a:r>
              <a:rPr lang="ko-KR" altLang="en-US" dirty="0" smtClean="0"/>
              <a:t>문제 해결 방법의 두</a:t>
            </a:r>
            <a:r>
              <a:rPr lang="en-US" altLang="ko-KR" dirty="0" smtClean="0"/>
              <a:t> </a:t>
            </a:r>
            <a:r>
              <a:rPr lang="ko-KR" altLang="en-US" dirty="0" smtClean="0"/>
              <a:t>가지 형태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닫힌 형식 </a:t>
            </a:r>
            <a:r>
              <a:rPr lang="en-US" altLang="ko-KR" dirty="0" smtClean="0"/>
              <a:t>(closed-form)</a:t>
            </a:r>
            <a:r>
              <a:rPr lang="ko-KR" altLang="en-US" dirty="0" smtClean="0"/>
              <a:t>의 수식을 이용하여 한 번에 모델 </a:t>
            </a:r>
            <a:r>
              <a:rPr lang="ko-KR" altLang="en-US" dirty="0" err="1" smtClean="0"/>
              <a:t>패러미터를</a:t>
            </a:r>
            <a:r>
              <a:rPr lang="ko-KR" altLang="en-US" dirty="0" smtClean="0"/>
              <a:t> 계산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경사 </a:t>
            </a:r>
            <a:r>
              <a:rPr lang="ko-KR" altLang="en-US" dirty="0" err="1" smtClean="0"/>
              <a:t>하강법</a:t>
            </a:r>
            <a:r>
              <a:rPr lang="ko-KR" altLang="en-US" dirty="0" smtClean="0"/>
              <a:t> </a:t>
            </a:r>
            <a:r>
              <a:rPr lang="en-US" altLang="ko-KR" dirty="0" smtClean="0"/>
              <a:t>(Gradient Descent)</a:t>
            </a:r>
            <a:r>
              <a:rPr lang="ko-KR" altLang="en-US" dirty="0" smtClean="0"/>
              <a:t>과 같은 반복적 최적화 방법을 이용하여 점진적으로 비용 함수를 줄이는 방향으로 모델 </a:t>
            </a:r>
            <a:r>
              <a:rPr lang="ko-KR" altLang="en-US" dirty="0" err="1" smtClean="0"/>
              <a:t>패러미터를</a:t>
            </a:r>
            <a:r>
              <a:rPr lang="ko-KR" altLang="en-US" dirty="0" smtClean="0"/>
              <a:t> 변경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13694" y="2890270"/>
            <a:ext cx="10015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비용 함수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예측치와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실측치</a:t>
            </a:r>
            <a:r>
              <a:rPr lang="ko-KR" altLang="en-US" dirty="0" smtClean="0"/>
              <a:t> 간의 오차를 계산하는 함수로 </a:t>
            </a:r>
            <a:r>
              <a:rPr lang="en-US" altLang="ko-KR" dirty="0" smtClean="0"/>
              <a:t>MSE (Mean Square Error) </a:t>
            </a:r>
            <a:r>
              <a:rPr lang="ko-KR" altLang="en-US" dirty="0" smtClean="0"/>
              <a:t>함수 이용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069127" y="3418505"/>
                <a:ext cx="5182817" cy="521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400" dirty="0" smtClean="0"/>
                  <a:t>MSE(X, y</a:t>
                </a:r>
                <a:r>
                  <a:rPr lang="ko-KR" altLang="en-US" sz="2400" dirty="0" smtClean="0"/>
                  <a:t> </a:t>
                </a:r>
                <a:r>
                  <a:rPr lang="en-US" altLang="ko-KR" sz="2400" dirty="0" smtClean="0"/>
                  <a:t>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2400" i="1">
                            <a:latin typeface="Cambria Math" panose="02040503050406030204" pitchFamily="18" charset="0"/>
                          </a:rPr>
                          <m:t>m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US" altLang="ko-KR" sz="2400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ko-KR" sz="2400" i="1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240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127" y="3418505"/>
                <a:ext cx="5182817" cy="521553"/>
              </a:xfrm>
              <a:prstGeom prst="rect">
                <a:avLst/>
              </a:prstGeom>
              <a:blipFill>
                <a:blip r:embed="rId5"/>
                <a:stretch>
                  <a:fillRect l="-3525" t="-5882" b="-188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/>
              <p:cNvSpPr/>
              <p:nvPr/>
            </p:nvSpPr>
            <p:spPr>
              <a:xfrm>
                <a:off x="6827654" y="3418505"/>
                <a:ext cx="2852832" cy="6835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 smtClean="0"/>
                  <a:t>: </a:t>
                </a:r>
                <a:r>
                  <a:rPr lang="en-US" altLang="ko-KR" dirty="0" err="1" smtClean="0"/>
                  <a:t>i</a:t>
                </a:r>
                <a:r>
                  <a:rPr lang="ko-KR" altLang="en-US" dirty="0" smtClean="0"/>
                  <a:t>번째 입력 특징 벡터</a:t>
                </a:r>
                <a:endParaRPr lang="en-US" altLang="ko-KR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 smtClean="0"/>
                  <a:t>: </a:t>
                </a:r>
                <a:r>
                  <a:rPr lang="en-US" altLang="ko-KR" dirty="0" err="1" smtClean="0"/>
                  <a:t>i</a:t>
                </a:r>
                <a:r>
                  <a:rPr lang="ko-KR" altLang="en-US" dirty="0" smtClean="0"/>
                  <a:t>번째 출력</a:t>
                </a:r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값</a:t>
                </a:r>
                <a:endParaRPr lang="en-US" altLang="ko-KR" dirty="0" smtClean="0"/>
              </a:p>
            </p:txBody>
          </p:sp>
        </mc:Choice>
        <mc:Fallback xmlns="">
          <p:sp>
            <p:nvSpPr>
              <p:cNvPr id="10" name="직사각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654" y="3418505"/>
                <a:ext cx="2852832" cy="683520"/>
              </a:xfrm>
              <a:prstGeom prst="rect">
                <a:avLst/>
              </a:prstGeom>
              <a:blipFill>
                <a:blip r:embed="rId6"/>
                <a:stretch>
                  <a:fillRect t="-2679" r="-1282" b="-13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3025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Multiple Linear Regression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ko-KR" altLang="en-US" dirty="0" smtClean="0"/>
                  <a:t>표준 방정식 </a:t>
                </a:r>
                <a:r>
                  <a:rPr lang="en-US" altLang="ko-KR" dirty="0" smtClean="0"/>
                  <a:t>(normal equation)</a:t>
                </a:r>
                <a:r>
                  <a:rPr lang="ko-KR" altLang="en-US" dirty="0" smtClean="0"/>
                  <a:t>이용</a:t>
                </a:r>
                <a:endParaRPr lang="en-US" altLang="ko-KR" dirty="0" smtClean="0"/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:endParaRPr lang="en-US" altLang="ko-KR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nor/>
                      </m:rPr>
                      <a:rPr lang="en-US" altLang="ko-KR" dirty="0"/>
                      <m:t>X</m:t>
                    </m:r>
                  </m:oMath>
                </a14:m>
                <a:r>
                  <a:rPr lang="ko-KR" altLang="en-US" dirty="0" smtClean="0"/>
                  <a:t>의 </a:t>
                </a:r>
                <a:r>
                  <a:rPr lang="ko-KR" altLang="en-US" dirty="0" err="1" smtClean="0"/>
                  <a:t>역행렬을</a:t>
                </a:r>
                <a:r>
                  <a:rPr lang="ko-KR" altLang="en-US" dirty="0" smtClean="0"/>
                  <a:t> 구해야 함</a:t>
                </a:r>
                <a:r>
                  <a:rPr lang="en-US" altLang="ko-KR" dirty="0" smtClean="0"/>
                  <a:t>. </a:t>
                </a:r>
                <a:r>
                  <a:rPr lang="ko-KR" altLang="en-US" dirty="0" smtClean="0"/>
                  <a:t>그런데 이 계산이 특징 수와 학습 데이터 개수에 따라 달라짐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특징 수를 </a:t>
                </a:r>
                <a:r>
                  <a:rPr lang="en-US" altLang="ko-KR" dirty="0" smtClean="0"/>
                  <a:t>2</a:t>
                </a:r>
                <a:r>
                  <a:rPr lang="ko-KR" altLang="en-US" dirty="0" smtClean="0"/>
                  <a:t>배 하면 계산 시간은 </a:t>
                </a:r>
                <a:r>
                  <a:rPr lang="en-US" altLang="ko-KR" dirty="0" smtClean="0"/>
                  <a:t>5.3 ~ 8</a:t>
                </a:r>
                <a:r>
                  <a:rPr lang="ko-KR" altLang="en-US" dirty="0" smtClean="0"/>
                  <a:t>배로 많아짐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계산 시간이 학습 데이터 수 </a:t>
                </a:r>
                <a:r>
                  <a:rPr lang="en-US" altLang="ko-KR" dirty="0" smtClean="0"/>
                  <a:t>m</a:t>
                </a:r>
                <a:r>
                  <a:rPr lang="ko-KR" altLang="en-US" dirty="0" smtClean="0"/>
                  <a:t>에 비례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즉 </a:t>
                </a:r>
                <a:r>
                  <a:rPr lang="en-US" altLang="ko-KR" dirty="0" smtClean="0"/>
                  <a:t>O(m) </a:t>
                </a:r>
                <a:r>
                  <a:rPr lang="ko-KR" altLang="en-US" dirty="0" smtClean="0"/>
                  <a:t> 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특징 수가 많아지거나 학습 데이터 수가 메모리에 수용할 수 없을 정도로 많아지면 비효율적</a:t>
                </a:r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361" r="-5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12111" y="2519916"/>
                <a:ext cx="2822696" cy="477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24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ko-KR" altLang="en-US" sz="2400" dirty="0" smtClean="0"/>
                  <a:t> </a:t>
                </a:r>
                <a:r>
                  <a:rPr lang="en-US" altLang="ko-KR" sz="2400" dirty="0" smtClean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ko-KR" sz="2400" dirty="0" smtClean="0"/>
                          <m:t>(</m:t>
                        </m:r>
                        <m:sSup>
                          <m:sSup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nor/>
                          </m:rPr>
                          <a:rPr lang="en-US" altLang="ko-KR" sz="240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altLang="ko-KR" sz="2400" dirty="0" smtClean="0"/>
                          <m:t>)</m:t>
                        </m:r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ko-K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4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2400" i="1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altLang="ko-KR" sz="2400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ko-KR" sz="2400" dirty="0" smtClean="0"/>
                  <a:t>y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111" y="2519916"/>
                <a:ext cx="2822696" cy="477118"/>
              </a:xfrm>
              <a:prstGeom prst="rect">
                <a:avLst/>
              </a:prstGeom>
              <a:blipFill>
                <a:blip r:embed="rId3"/>
                <a:stretch>
                  <a:fillRect t="-7595" r="-2376" b="-265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518837" y="2409236"/>
                <a:ext cx="5181547" cy="9536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: </a:t>
                </a:r>
                <a:r>
                  <a:rPr lang="ko-KR" altLang="en-US" dirty="0" smtClean="0"/>
                  <a:t>비용 함수를 최소로 하는 모델 </a:t>
                </a:r>
                <a:r>
                  <a:rPr lang="ko-KR" altLang="en-US" dirty="0" err="1" smtClean="0"/>
                  <a:t>패러미터의</a:t>
                </a:r>
                <a:r>
                  <a:rPr lang="ko-KR" altLang="en-US" dirty="0" smtClean="0"/>
                  <a:t> 값</a:t>
                </a:r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dirty="0"/>
                      <m:t>X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: </a:t>
                </a:r>
                <a:r>
                  <a:rPr lang="ko-KR" altLang="en-US" dirty="0" smtClean="0"/>
                  <a:t>입력 특징 벡터 행렬</a:t>
                </a:r>
                <a:endParaRPr lang="en-US" altLang="ko-KR" dirty="0" smtClean="0"/>
              </a:p>
              <a:p>
                <a:r>
                  <a:rPr lang="en-US" altLang="ko-KR" dirty="0" smtClean="0"/>
                  <a:t>y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출력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벡터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즉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ko-KR" dirty="0" smtClean="0"/>
                  <a:t>, …,</a:t>
                </a:r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ko-KR" dirty="0" smtClean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8837" y="2409236"/>
                <a:ext cx="5181547" cy="953659"/>
              </a:xfrm>
              <a:prstGeom prst="rect">
                <a:avLst/>
              </a:prstGeom>
              <a:blipFill>
                <a:blip r:embed="rId4"/>
                <a:stretch>
                  <a:fillRect l="-941" t="-1911" r="-118" b="-89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839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Multiple Linear Regression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33994"/>
          </a:xfrm>
        </p:spPr>
        <p:txBody>
          <a:bodyPr/>
          <a:lstStyle/>
          <a:p>
            <a:r>
              <a:rPr lang="ko-KR" altLang="en-US" dirty="0" smtClean="0"/>
              <a:t>경사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하강법</a:t>
            </a:r>
            <a:r>
              <a:rPr lang="ko-KR" altLang="en-US" dirty="0" smtClean="0"/>
              <a:t> 이용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Gradient Descent</a:t>
            </a:r>
            <a:r>
              <a:rPr lang="ko-KR" altLang="en-US" dirty="0" smtClean="0"/>
              <a:t>는 광범위한 문제에 대한 최적의 해를 찾을 수 있는 매우 일반적인 최적화 알고리즘</a:t>
            </a:r>
          </a:p>
          <a:p>
            <a:pPr lvl="1"/>
            <a:r>
              <a:rPr lang="ko-KR" altLang="en-US" dirty="0" smtClean="0"/>
              <a:t>기본 개념은 비용 함수를 최소화하기 위해 매개 변수를 반복적으로 조정하는 것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415" y="3628249"/>
            <a:ext cx="644842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789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Multiple Linear Regression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731" y="2618710"/>
            <a:ext cx="3714750" cy="8763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275" y="1885285"/>
            <a:ext cx="4457700" cy="23431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669" y="2737772"/>
            <a:ext cx="2990850" cy="63817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10" y="4552215"/>
            <a:ext cx="4135401" cy="175385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1677" y="4515593"/>
            <a:ext cx="4132298" cy="1758687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4951931" y="6342690"/>
            <a:ext cx="22913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i="1" dirty="0">
                <a:latin typeface="Minion Pro SmBd" panose="02040603060201020203" pitchFamily="18" charset="0"/>
              </a:rPr>
              <a:t>Learning rate too large</a:t>
            </a:r>
            <a:endParaRPr lang="ko-KR" altLang="en-US" dirty="0">
              <a:latin typeface="Minion Pro SmBd" panose="02040603060201020203" pitchFamily="18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174561" y="6342690"/>
            <a:ext cx="2268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i="1" dirty="0">
                <a:latin typeface="MinionPro-It" panose="02040503050201090203" pitchFamily="18" charset="0"/>
              </a:rPr>
              <a:t>Learning rate too small</a:t>
            </a:r>
            <a:endParaRPr lang="ko-KR" altLang="en-US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3796" y="4552215"/>
            <a:ext cx="4150242" cy="1887592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8751680" y="6439807"/>
            <a:ext cx="24029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i="1" dirty="0">
                <a:latin typeface="MinionPro-It" panose="02040503050201090203" pitchFamily="18" charset="0"/>
              </a:rPr>
              <a:t>Gradient Descent pitfalls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7555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Multiple Linear Regression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68856"/>
            <a:ext cx="10515600" cy="513538"/>
          </a:xfrm>
        </p:spPr>
        <p:txBody>
          <a:bodyPr/>
          <a:lstStyle/>
          <a:p>
            <a:r>
              <a:rPr lang="en-US" altLang="ko-KR" dirty="0" err="1" smtClean="0"/>
              <a:t>sklearn.linear_model</a:t>
            </a:r>
            <a:r>
              <a:rPr lang="en-US" altLang="ko-KR" dirty="0" smtClean="0"/>
              <a:t>. </a:t>
            </a:r>
            <a:r>
              <a:rPr lang="en-US" altLang="ko-KR" dirty="0" err="1" smtClean="0"/>
              <a:t>LinearRegression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 이용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2082394"/>
            <a:ext cx="9867014" cy="424731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numpy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as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np</a:t>
            </a:r>
            <a:endParaRPr lang="ko-KR" altLang="en-US" dirty="0" smtClean="0"/>
          </a:p>
          <a:p>
            <a:r>
              <a:rPr lang="ko-KR" altLang="en-US" dirty="0" err="1" smtClean="0"/>
              <a:t>from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sklearn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linear_model</a:t>
            </a:r>
            <a:endParaRPr lang="ko-KR" altLang="en-US" dirty="0" smtClean="0"/>
          </a:p>
          <a:p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sklearn.metrics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as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sm</a:t>
            </a:r>
            <a:endParaRPr lang="ko-KR" altLang="en-US" dirty="0" smtClean="0"/>
          </a:p>
          <a:p>
            <a:r>
              <a:rPr lang="ko-KR" altLang="en-US" dirty="0" err="1" smtClean="0"/>
              <a:t>from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sklearn.model_selection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train_test_split</a:t>
            </a:r>
            <a:endParaRPr lang="ko-KR" altLang="en-US" dirty="0" smtClean="0"/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Input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file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containing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data</a:t>
            </a:r>
            <a:endParaRPr lang="ko-KR" altLang="en-US" dirty="0" smtClean="0"/>
          </a:p>
          <a:p>
            <a:r>
              <a:rPr lang="ko-KR" altLang="en-US" dirty="0" err="1" smtClean="0"/>
              <a:t>input_file</a:t>
            </a:r>
            <a:r>
              <a:rPr lang="ko-KR" altLang="en-US" dirty="0" smtClean="0"/>
              <a:t> = '</a:t>
            </a:r>
            <a:r>
              <a:rPr lang="ko-KR" altLang="en-US" dirty="0" err="1" smtClean="0"/>
              <a:t>data_multivar_regr.txt</a:t>
            </a:r>
            <a:r>
              <a:rPr lang="ko-KR" altLang="en-US" dirty="0" smtClean="0"/>
              <a:t>'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Load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the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from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the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input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file</a:t>
            </a:r>
            <a:endParaRPr lang="ko-KR" altLang="en-US" dirty="0" smtClean="0"/>
          </a:p>
          <a:p>
            <a:r>
              <a:rPr lang="ko-KR" altLang="en-US" dirty="0" err="1" smtClean="0"/>
              <a:t>data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np.loadtxt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input_file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delimiter</a:t>
            </a:r>
            <a:r>
              <a:rPr lang="ko-KR" altLang="en-US" dirty="0" smtClean="0"/>
              <a:t>=',')</a:t>
            </a:r>
          </a:p>
          <a:p>
            <a:r>
              <a:rPr lang="ko-KR" altLang="en-US" dirty="0" err="1" smtClean="0"/>
              <a:t>X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[:, :-1],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[:, -1]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Split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into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training</a:t>
            </a:r>
            <a:r>
              <a:rPr lang="ko-KR" altLang="en-US" dirty="0" smtClean="0"/>
              <a:t> and </a:t>
            </a:r>
            <a:r>
              <a:rPr lang="ko-KR" altLang="en-US" dirty="0" err="1" smtClean="0"/>
              <a:t>testing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datasets</a:t>
            </a:r>
            <a:endParaRPr lang="ko-KR" altLang="en-US" dirty="0" smtClean="0"/>
          </a:p>
          <a:p>
            <a:r>
              <a:rPr lang="ko-KR" altLang="en-US" dirty="0" err="1" smtClean="0"/>
              <a:t>X_train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X_test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y_train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y_test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train_test_split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test_size</a:t>
            </a:r>
            <a:r>
              <a:rPr lang="ko-KR" altLang="en-US" dirty="0" smtClean="0"/>
              <a:t>=0.2, </a:t>
            </a:r>
            <a:r>
              <a:rPr lang="ko-KR" altLang="en-US" dirty="0" err="1" smtClean="0"/>
              <a:t>random_state</a:t>
            </a:r>
            <a:r>
              <a:rPr lang="ko-KR" altLang="en-US" dirty="0" smtClean="0"/>
              <a:t>=5)</a:t>
            </a:r>
          </a:p>
          <a:p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028041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Multiple Linear Regression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600015"/>
            <a:ext cx="10386237" cy="452431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 smtClean="0"/>
              <a:t># </a:t>
            </a:r>
            <a:r>
              <a:rPr lang="ko-KR" altLang="en-US" dirty="0" err="1" smtClean="0"/>
              <a:t>Create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the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linear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regressor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model</a:t>
            </a:r>
            <a:endParaRPr lang="ko-KR" altLang="en-US" dirty="0" smtClean="0"/>
          </a:p>
          <a:p>
            <a:r>
              <a:rPr lang="ko-KR" altLang="en-US" dirty="0" err="1" smtClean="0"/>
              <a:t>linear_regressor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linear_model.LinearRegression</a:t>
            </a:r>
            <a:r>
              <a:rPr lang="ko-KR" altLang="en-US" dirty="0" smtClean="0"/>
              <a:t>()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Train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the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model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using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the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training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sets</a:t>
            </a:r>
            <a:endParaRPr lang="ko-KR" altLang="en-US" dirty="0" smtClean="0"/>
          </a:p>
          <a:p>
            <a:r>
              <a:rPr lang="ko-KR" altLang="en-US" dirty="0" err="1" smtClean="0"/>
              <a:t>linear_regressor.fit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X_train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y_train</a:t>
            </a:r>
            <a:r>
              <a:rPr lang="ko-KR" altLang="en-US" dirty="0" smtClean="0"/>
              <a:t>)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Predict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the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output</a:t>
            </a:r>
            <a:endParaRPr lang="ko-KR" altLang="en-US" dirty="0" smtClean="0"/>
          </a:p>
          <a:p>
            <a:r>
              <a:rPr lang="ko-KR" altLang="en-US" dirty="0" err="1" smtClean="0"/>
              <a:t>y_test_pred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linear_regressor.predict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X_test</a:t>
            </a:r>
            <a:r>
              <a:rPr lang="ko-KR" altLang="en-US" dirty="0" smtClean="0"/>
              <a:t>)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Measure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performance</a:t>
            </a:r>
            <a:endParaRPr lang="ko-KR" altLang="en-US" dirty="0" smtClean="0"/>
          </a:p>
          <a:p>
            <a:r>
              <a:rPr lang="ko-KR" altLang="en-US" dirty="0" err="1" smtClean="0"/>
              <a:t>print</a:t>
            </a:r>
            <a:r>
              <a:rPr lang="ko-KR" altLang="en-US" dirty="0" smtClean="0"/>
              <a:t>("</a:t>
            </a:r>
            <a:r>
              <a:rPr lang="ko-KR" altLang="en-US" dirty="0" err="1" smtClean="0"/>
              <a:t>Linear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Regressor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performance</a:t>
            </a:r>
            <a:r>
              <a:rPr lang="ko-KR" altLang="en-US" dirty="0" smtClean="0"/>
              <a:t>:")</a:t>
            </a:r>
          </a:p>
          <a:p>
            <a:r>
              <a:rPr lang="ko-KR" altLang="en-US" dirty="0" err="1" smtClean="0"/>
              <a:t>print</a:t>
            </a:r>
            <a:r>
              <a:rPr lang="ko-KR" altLang="en-US" dirty="0" smtClean="0"/>
              <a:t>("</a:t>
            </a:r>
            <a:r>
              <a:rPr lang="ko-KR" altLang="en-US" dirty="0" err="1" smtClean="0"/>
              <a:t>Mean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absolute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error</a:t>
            </a:r>
            <a:r>
              <a:rPr lang="ko-KR" altLang="en-US" dirty="0" smtClean="0"/>
              <a:t> =", </a:t>
            </a:r>
            <a:r>
              <a:rPr lang="ko-KR" altLang="en-US" dirty="0" err="1" smtClean="0"/>
              <a:t>round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sm.mean_absolute_error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y_test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y_test_pred</a:t>
            </a:r>
            <a:r>
              <a:rPr lang="ko-KR" altLang="en-US" dirty="0" smtClean="0"/>
              <a:t>), 2))</a:t>
            </a:r>
          </a:p>
          <a:p>
            <a:r>
              <a:rPr lang="ko-KR" altLang="en-US" dirty="0" err="1" smtClean="0"/>
              <a:t>print</a:t>
            </a:r>
            <a:r>
              <a:rPr lang="ko-KR" altLang="en-US" dirty="0" smtClean="0"/>
              <a:t>("</a:t>
            </a:r>
            <a:r>
              <a:rPr lang="ko-KR" altLang="en-US" dirty="0" err="1" smtClean="0"/>
              <a:t>Mean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squared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error</a:t>
            </a:r>
            <a:r>
              <a:rPr lang="ko-KR" altLang="en-US" dirty="0" smtClean="0"/>
              <a:t> =", </a:t>
            </a:r>
            <a:r>
              <a:rPr lang="ko-KR" altLang="en-US" dirty="0" err="1" smtClean="0"/>
              <a:t>round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sm.mean_squared_error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y_test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y_test_pred</a:t>
            </a:r>
            <a:r>
              <a:rPr lang="ko-KR" altLang="en-US" dirty="0" smtClean="0"/>
              <a:t>), 2))</a:t>
            </a:r>
          </a:p>
          <a:p>
            <a:r>
              <a:rPr lang="ko-KR" altLang="en-US" dirty="0" err="1" smtClean="0"/>
              <a:t>print</a:t>
            </a:r>
            <a:r>
              <a:rPr lang="ko-KR" altLang="en-US" dirty="0" smtClean="0"/>
              <a:t>("</a:t>
            </a:r>
            <a:r>
              <a:rPr lang="ko-KR" altLang="en-US" dirty="0" err="1" smtClean="0"/>
              <a:t>Median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absolute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error</a:t>
            </a:r>
            <a:r>
              <a:rPr lang="ko-KR" altLang="en-US" dirty="0" smtClean="0"/>
              <a:t> =", </a:t>
            </a:r>
            <a:r>
              <a:rPr lang="ko-KR" altLang="en-US" dirty="0" err="1" smtClean="0"/>
              <a:t>round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sm.median_absolute_error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y_test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y_test_pred</a:t>
            </a:r>
            <a:r>
              <a:rPr lang="ko-KR" altLang="en-US" dirty="0" smtClean="0"/>
              <a:t>), 2))</a:t>
            </a:r>
          </a:p>
          <a:p>
            <a:r>
              <a:rPr lang="ko-KR" altLang="en-US" dirty="0" err="1" smtClean="0"/>
              <a:t>print</a:t>
            </a:r>
            <a:r>
              <a:rPr lang="ko-KR" altLang="en-US" dirty="0" smtClean="0"/>
              <a:t>("</a:t>
            </a:r>
            <a:r>
              <a:rPr lang="ko-KR" altLang="en-US" dirty="0" err="1" smtClean="0"/>
              <a:t>Explained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variance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score</a:t>
            </a:r>
            <a:r>
              <a:rPr lang="ko-KR" altLang="en-US" dirty="0" smtClean="0"/>
              <a:t> =", </a:t>
            </a:r>
            <a:r>
              <a:rPr lang="ko-KR" altLang="en-US" dirty="0" err="1" smtClean="0"/>
              <a:t>round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sm.explained_variance_score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y_test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y_test_pred</a:t>
            </a:r>
            <a:r>
              <a:rPr lang="ko-KR" altLang="en-US" dirty="0" smtClean="0"/>
              <a:t>), 2))</a:t>
            </a:r>
          </a:p>
          <a:p>
            <a:r>
              <a:rPr lang="ko-KR" altLang="en-US" dirty="0" err="1" smtClean="0"/>
              <a:t>print</a:t>
            </a:r>
            <a:r>
              <a:rPr lang="ko-KR" altLang="en-US" dirty="0" smtClean="0"/>
              <a:t>("R2 </a:t>
            </a:r>
            <a:r>
              <a:rPr lang="ko-KR" altLang="en-US" dirty="0" err="1" smtClean="0"/>
              <a:t>score</a:t>
            </a:r>
            <a:r>
              <a:rPr lang="ko-KR" altLang="en-US" dirty="0" smtClean="0"/>
              <a:t> =", </a:t>
            </a:r>
            <a:r>
              <a:rPr lang="ko-KR" altLang="en-US" dirty="0" err="1" smtClean="0"/>
              <a:t>round</a:t>
            </a:r>
            <a:r>
              <a:rPr lang="ko-KR" altLang="en-US" dirty="0" smtClean="0"/>
              <a:t>(sm.r2_score(</a:t>
            </a:r>
            <a:r>
              <a:rPr lang="ko-KR" altLang="en-US" dirty="0" err="1" smtClean="0"/>
              <a:t>y_test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y_test_pred</a:t>
            </a:r>
            <a:r>
              <a:rPr lang="ko-KR" altLang="en-US" dirty="0" smtClean="0"/>
              <a:t>), 2))</a:t>
            </a:r>
          </a:p>
        </p:txBody>
      </p:sp>
    </p:spTree>
    <p:extLst>
      <p:ext uri="{BB962C8B-B14F-4D97-AF65-F5344CB8AC3E}">
        <p14:creationId xmlns:p14="http://schemas.microsoft.com/office/powerpoint/2010/main" val="2205595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Multiple Linear Regression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err="1"/>
              <a:t>결정계수</a:t>
            </a:r>
            <a:r>
              <a:rPr lang="ko-KR" altLang="en-US" b="1" dirty="0"/>
              <a:t> </a:t>
            </a:r>
            <a:r>
              <a:rPr lang="en-US" altLang="ko-KR" b="1" dirty="0" smtClean="0"/>
              <a:t>(Coefficient </a:t>
            </a:r>
            <a:r>
              <a:rPr lang="en-US" altLang="ko-KR" b="1" dirty="0"/>
              <a:t>of </a:t>
            </a:r>
            <a:r>
              <a:rPr lang="en-US" altLang="ko-KR" b="1" dirty="0" smtClean="0"/>
              <a:t>Determination) </a:t>
            </a:r>
            <a:r>
              <a:rPr lang="en-US" altLang="ko-KR" b="1" dirty="0"/>
              <a:t>= R^2 = R squared</a:t>
            </a:r>
          </a:p>
          <a:p>
            <a:pPr lvl="1"/>
            <a:r>
              <a:rPr lang="en-US" altLang="ko-KR" dirty="0"/>
              <a:t>Regression model</a:t>
            </a:r>
            <a:r>
              <a:rPr lang="ko-KR" altLang="en-US" dirty="0"/>
              <a:t>의 성능을 측정하기 위해 </a:t>
            </a:r>
            <a:r>
              <a:rPr lang="en-US" altLang="ko-KR" dirty="0"/>
              <a:t>mean value</a:t>
            </a:r>
            <a:r>
              <a:rPr lang="ko-KR" altLang="en-US" dirty="0"/>
              <a:t>로 예측하는 단순 모델</a:t>
            </a:r>
            <a:r>
              <a:rPr lang="en-US" altLang="ko-KR" dirty="0"/>
              <a:t>(Zero-R </a:t>
            </a:r>
            <a:r>
              <a:rPr lang="ko-KR" altLang="en-US" dirty="0"/>
              <a:t>모델</a:t>
            </a:r>
            <a:r>
              <a:rPr lang="en-US" altLang="ko-KR" dirty="0"/>
              <a:t>)</a:t>
            </a:r>
            <a:r>
              <a:rPr lang="ko-KR" altLang="en-US" dirty="0"/>
              <a:t>과 비교</a:t>
            </a:r>
            <a:r>
              <a:rPr lang="en-US" altLang="ko-KR" dirty="0"/>
              <a:t>, </a:t>
            </a:r>
            <a:r>
              <a:rPr lang="ko-KR" altLang="en-US" dirty="0"/>
              <a:t>상대적으로 얼마나 성능이 나오는지를 측정한 </a:t>
            </a:r>
            <a:r>
              <a:rPr lang="ko-KR" altLang="en-US" dirty="0" smtClean="0"/>
              <a:t>지표</a:t>
            </a:r>
            <a:endParaRPr lang="en-US" altLang="ko-KR" dirty="0" smtClean="0"/>
          </a:p>
          <a:p>
            <a:pPr lvl="1"/>
            <a:r>
              <a:rPr lang="ko-KR" altLang="en-US" dirty="0"/>
              <a:t>다른 성능 지표인 </a:t>
            </a:r>
            <a:r>
              <a:rPr lang="en-US" altLang="ko-KR" dirty="0"/>
              <a:t>RMSE</a:t>
            </a:r>
            <a:r>
              <a:rPr lang="ko-KR" altLang="en-US" dirty="0"/>
              <a:t>나 </a:t>
            </a:r>
            <a:r>
              <a:rPr lang="en-US" altLang="ko-KR" dirty="0"/>
              <a:t>MAE</a:t>
            </a:r>
            <a:r>
              <a:rPr lang="ko-KR" altLang="en-US" dirty="0"/>
              <a:t>는 데이터의 </a:t>
            </a:r>
            <a:r>
              <a:rPr lang="en-US" altLang="ko-KR" dirty="0"/>
              <a:t>scale</a:t>
            </a:r>
            <a:r>
              <a:rPr lang="ko-KR" altLang="en-US" dirty="0"/>
              <a:t>에 따라서 값이 천차만별이기 때문에</a:t>
            </a:r>
            <a:r>
              <a:rPr lang="en-US" altLang="ko-KR" dirty="0"/>
              <a:t>, </a:t>
            </a:r>
            <a:r>
              <a:rPr lang="ko-KR" altLang="en-US" dirty="0"/>
              <a:t>절대 값만 보고 바로 성능을 판단하기가 어려운데</a:t>
            </a:r>
            <a:r>
              <a:rPr lang="en-US" altLang="ko-KR" dirty="0"/>
              <a:t>, </a:t>
            </a:r>
            <a:r>
              <a:rPr lang="ko-KR" altLang="en-US" dirty="0" err="1"/>
              <a:t>결정계수의</a:t>
            </a:r>
            <a:r>
              <a:rPr lang="ko-KR" altLang="en-US" dirty="0"/>
              <a:t> 경우 상대적인 성능이기 때문에 보다 직관적으로 알 수 </a:t>
            </a:r>
            <a:r>
              <a:rPr lang="ko-KR" altLang="en-US" dirty="0" smtClean="0"/>
              <a:t>있음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74149" y="4484802"/>
            <a:ext cx="3434315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R</a:t>
            </a:r>
            <a:r>
              <a:rPr lang="ko-KR" altLang="en-US" dirty="0" smtClean="0"/>
              <a:t>의 값은 </a:t>
            </a:r>
            <a:r>
              <a:rPr lang="en-US" altLang="ko-KR" dirty="0" smtClean="0"/>
              <a:t>0</a:t>
            </a:r>
            <a:r>
              <a:rPr lang="ko-KR" altLang="en-US" dirty="0" smtClean="0"/>
              <a:t>과</a:t>
            </a:r>
            <a:r>
              <a:rPr lang="en-US" altLang="ko-KR" dirty="0" smtClean="0"/>
              <a:t> 1 </a:t>
            </a:r>
            <a:r>
              <a:rPr lang="ko-KR" altLang="en-US" dirty="0" smtClean="0"/>
              <a:t>사이</a:t>
            </a:r>
            <a:r>
              <a:rPr lang="en-US" altLang="ko-KR" dirty="0" smtClean="0"/>
              <a:t>. model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Zero-R </a:t>
            </a:r>
            <a:r>
              <a:rPr lang="ko-KR" altLang="en-US" dirty="0" smtClean="0"/>
              <a:t>모델과 같다면 </a:t>
            </a:r>
            <a:r>
              <a:rPr lang="en-US" altLang="ko-KR" dirty="0" smtClean="0"/>
              <a:t>R = 0</a:t>
            </a:r>
            <a:r>
              <a:rPr lang="en-US" altLang="ko-KR" dirty="0" smtClean="0"/>
              <a:t>, model</a:t>
            </a:r>
            <a:r>
              <a:rPr lang="ko-KR" altLang="en-US" dirty="0" smtClean="0"/>
              <a:t>이 오차가 없다면 </a:t>
            </a:r>
            <a:r>
              <a:rPr lang="en-US" altLang="ko-KR" dirty="0" smtClean="0"/>
              <a:t>R=1</a:t>
            </a:r>
            <a:endParaRPr lang="ko-KR" alt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659489" y="4714720"/>
            <a:ext cx="7728632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R</a:t>
            </a:r>
            <a:r>
              <a:rPr kumimoji="0" lang="ko-KR" altLang="ko-KR" sz="16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2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 = 1 - [(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Sum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 of 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Squared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 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Residuals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 / 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n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) / 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Variance</a:t>
            </a:r>
            <a:r>
              <a:rPr kumimoji="0" lang="ko-KR" altLang="ko-KR" sz="1600" b="0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y_actual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] </a:t>
            </a: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50" charset="-127"/>
              <a:ea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Explained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 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Variance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 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Score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 = 1 - [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Variance</a:t>
            </a:r>
            <a:r>
              <a:rPr kumimoji="0" lang="ko-KR" altLang="ko-KR" sz="16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(</a:t>
            </a:r>
            <a:r>
              <a:rPr kumimoji="0" lang="ko-KR" altLang="ko-KR" sz="1600" b="0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Ypredicted</a:t>
            </a:r>
            <a:r>
              <a:rPr kumimoji="0" lang="ko-KR" altLang="ko-KR" sz="16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 - </a:t>
            </a:r>
            <a:r>
              <a:rPr kumimoji="0" lang="ko-KR" altLang="ko-KR" sz="1600" b="0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Yactual</a:t>
            </a:r>
            <a:r>
              <a:rPr kumimoji="0" lang="ko-KR" altLang="ko-KR" sz="16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)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 / 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Variance</a:t>
            </a:r>
            <a:r>
              <a:rPr kumimoji="0" lang="ko-KR" altLang="ko-KR" sz="1600" b="0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y_actual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]</a:t>
            </a: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50" charset="-127"/>
              <a:ea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600" dirty="0">
              <a:latin typeface="Arial Unicode MS" panose="020B0604020202020204" pitchFamily="50" charset="-127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 err="1" smtClean="0">
                <a:latin typeface="Arial Unicode MS" panose="020B0604020202020204" pitchFamily="50" charset="-127"/>
                <a:ea typeface="inherit"/>
              </a:rPr>
              <a:t>Variance</a:t>
            </a:r>
            <a:r>
              <a:rPr lang="ko-KR" altLang="ko-KR" sz="1600" dirty="0" smtClean="0">
                <a:latin typeface="Arial Unicode MS" panose="020B0604020202020204" pitchFamily="50" charset="-127"/>
                <a:ea typeface="inherit"/>
              </a:rPr>
              <a:t>(</a:t>
            </a:r>
            <a:r>
              <a:rPr lang="ko-KR" altLang="ko-KR" sz="1600" dirty="0" err="1" smtClean="0">
                <a:latin typeface="Arial Unicode MS" panose="020B0604020202020204" pitchFamily="50" charset="-127"/>
                <a:ea typeface="inherit"/>
              </a:rPr>
              <a:t>Y</a:t>
            </a:r>
            <a:r>
              <a:rPr lang="ko-KR" altLang="ko-KR" sz="1600" baseline="-30000" dirty="0" err="1" smtClean="0">
                <a:latin typeface="Arial Unicode MS" panose="020B0604020202020204" pitchFamily="50" charset="-127"/>
                <a:ea typeface="inherit"/>
              </a:rPr>
              <a:t>predicted</a:t>
            </a:r>
            <a:r>
              <a:rPr lang="ko-KR" altLang="ko-KR" sz="1600" dirty="0" smtClean="0">
                <a:latin typeface="Arial Unicode MS" panose="020B0604020202020204" pitchFamily="50" charset="-127"/>
                <a:ea typeface="inherit"/>
              </a:rPr>
              <a:t> </a:t>
            </a:r>
            <a:r>
              <a:rPr lang="ko-KR" altLang="ko-KR" sz="1600" dirty="0">
                <a:latin typeface="Arial Unicode MS" panose="020B0604020202020204" pitchFamily="50" charset="-127"/>
                <a:ea typeface="inherit"/>
              </a:rPr>
              <a:t>- </a:t>
            </a:r>
            <a:r>
              <a:rPr lang="ko-KR" altLang="ko-KR" sz="1600" dirty="0" err="1">
                <a:latin typeface="Arial Unicode MS" panose="020B0604020202020204" pitchFamily="50" charset="-127"/>
                <a:ea typeface="inherit"/>
              </a:rPr>
              <a:t>Y</a:t>
            </a:r>
            <a:r>
              <a:rPr lang="ko-KR" altLang="ko-KR" sz="1600" baseline="-30000" dirty="0" err="1">
                <a:latin typeface="Arial Unicode MS" panose="020B0604020202020204" pitchFamily="50" charset="-127"/>
                <a:ea typeface="inherit"/>
              </a:rPr>
              <a:t>actual</a:t>
            </a:r>
            <a:r>
              <a:rPr lang="ko-KR" altLang="ko-KR" sz="1600" dirty="0">
                <a:latin typeface="Arial Unicode MS" panose="020B0604020202020204" pitchFamily="50" charset="-127"/>
                <a:ea typeface="inherit"/>
              </a:rPr>
              <a:t>) = (</a:t>
            </a:r>
            <a:r>
              <a:rPr lang="ko-KR" altLang="ko-KR" sz="1600" dirty="0" err="1">
                <a:latin typeface="Arial Unicode MS" panose="020B0604020202020204" pitchFamily="50" charset="-127"/>
                <a:ea typeface="inherit"/>
              </a:rPr>
              <a:t>Sum</a:t>
            </a:r>
            <a:r>
              <a:rPr lang="ko-KR" altLang="ko-KR" sz="1600" dirty="0">
                <a:latin typeface="Arial Unicode MS" panose="020B0604020202020204" pitchFamily="50" charset="-127"/>
                <a:ea typeface="inherit"/>
              </a:rPr>
              <a:t> of </a:t>
            </a:r>
            <a:r>
              <a:rPr lang="ko-KR" altLang="ko-KR" sz="1600" dirty="0" err="1">
                <a:latin typeface="Arial Unicode MS" panose="020B0604020202020204" pitchFamily="50" charset="-127"/>
                <a:ea typeface="inherit"/>
              </a:rPr>
              <a:t>Squared</a:t>
            </a:r>
            <a:r>
              <a:rPr lang="ko-KR" altLang="ko-KR" sz="1600" dirty="0">
                <a:latin typeface="Arial Unicode MS" panose="020B0604020202020204" pitchFamily="50" charset="-127"/>
                <a:ea typeface="inherit"/>
              </a:rPr>
              <a:t> </a:t>
            </a:r>
            <a:r>
              <a:rPr lang="ko-KR" altLang="ko-KR" sz="1600" dirty="0" err="1">
                <a:latin typeface="Arial Unicode MS" panose="020B0604020202020204" pitchFamily="50" charset="-127"/>
                <a:ea typeface="inherit"/>
              </a:rPr>
              <a:t>Residuals</a:t>
            </a:r>
            <a:r>
              <a:rPr lang="ko-KR" altLang="ko-KR" sz="1600" dirty="0">
                <a:latin typeface="Arial Unicode MS" panose="020B0604020202020204" pitchFamily="50" charset="-127"/>
                <a:ea typeface="inherit"/>
              </a:rPr>
              <a:t> - </a:t>
            </a:r>
            <a:r>
              <a:rPr lang="ko-KR" altLang="ko-KR" sz="1600" b="1" dirty="0" err="1">
                <a:latin typeface="Arial Unicode MS" panose="020B0604020202020204" pitchFamily="50" charset="-127"/>
                <a:ea typeface="inherit"/>
              </a:rPr>
              <a:t>Mean</a:t>
            </a:r>
            <a:r>
              <a:rPr lang="ko-KR" altLang="ko-KR" sz="1600" b="1" dirty="0">
                <a:latin typeface="Arial Unicode MS" panose="020B0604020202020204" pitchFamily="50" charset="-127"/>
                <a:ea typeface="inherit"/>
              </a:rPr>
              <a:t> </a:t>
            </a:r>
            <a:r>
              <a:rPr lang="ko-KR" altLang="ko-KR" sz="1600" b="1" dirty="0" err="1">
                <a:latin typeface="Arial Unicode MS" panose="020B0604020202020204" pitchFamily="50" charset="-127"/>
                <a:ea typeface="inherit"/>
              </a:rPr>
              <a:t>Error</a:t>
            </a:r>
            <a:r>
              <a:rPr lang="ko-KR" altLang="ko-KR" sz="1600" dirty="0">
                <a:latin typeface="Arial Unicode MS" panose="020B0604020202020204" pitchFamily="50" charset="-127"/>
                <a:ea typeface="inherit"/>
              </a:rPr>
              <a:t>) / </a:t>
            </a:r>
            <a:r>
              <a:rPr lang="ko-KR" altLang="ko-KR" sz="1600" dirty="0" err="1">
                <a:latin typeface="Arial Unicode MS" panose="020B0604020202020204" pitchFamily="50" charset="-127"/>
                <a:ea typeface="inherit"/>
              </a:rPr>
              <a:t>n</a:t>
            </a:r>
            <a:r>
              <a:rPr lang="ko-KR" altLang="ko-KR" sz="1600" dirty="0">
                <a:latin typeface="Arial Unicode MS" panose="020B0604020202020204" pitchFamily="50" charset="-127"/>
                <a:ea typeface="inherit"/>
              </a:rPr>
              <a:t> </a:t>
            </a:r>
            <a:endParaRPr lang="ko-KR" altLang="ko-KR" sz="4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Variance</a:t>
            </a: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(</a:t>
            </a:r>
            <a:r>
              <a:rPr kumimoji="0" lang="ko-KR" altLang="ko-KR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Y</a:t>
            </a:r>
            <a:r>
              <a:rPr kumimoji="0" lang="ko-KR" altLang="ko-KR" sz="1100" b="0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predicted</a:t>
            </a: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 - </a:t>
            </a:r>
            <a:r>
              <a:rPr kumimoji="0" lang="ko-KR" altLang="ko-KR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Y</a:t>
            </a:r>
            <a:r>
              <a:rPr kumimoji="0" lang="ko-KR" altLang="ko-KR" sz="1100" b="0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actual</a:t>
            </a: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) = (</a:t>
            </a:r>
            <a:r>
              <a:rPr kumimoji="0" lang="ko-KR" altLang="ko-KR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Sum</a:t>
            </a: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 of </a:t>
            </a:r>
            <a:r>
              <a:rPr kumimoji="0" lang="ko-KR" altLang="ko-KR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Squared</a:t>
            </a: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 </a:t>
            </a:r>
            <a:r>
              <a:rPr kumimoji="0" lang="ko-KR" altLang="ko-KR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Residuals</a:t>
            </a: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 - </a:t>
            </a:r>
            <a:r>
              <a:rPr kumimoji="0" lang="ko-KR" altLang="ko-KR" sz="9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Mean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 </a:t>
            </a:r>
            <a:r>
              <a:rPr kumimoji="0" lang="ko-KR" altLang="ko-KR" sz="9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Error</a:t>
            </a: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) / </a:t>
            </a:r>
            <a:r>
              <a:rPr kumimoji="0" lang="ko-KR" altLang="ko-KR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n</a:t>
            </a: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  <a:ea typeface="inherit"/>
              </a:rPr>
              <a:t> 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84252" y="6083715"/>
            <a:ext cx="962475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유일한 차이점은 첫 번째 공식에서 평균 오차를 뺀다는 </a:t>
            </a:r>
            <a:r>
              <a:rPr lang="ko-KR" altLang="en-US" dirty="0" smtClean="0"/>
              <a:t>것</a:t>
            </a:r>
            <a:r>
              <a:rPr lang="en-US" altLang="ko-KR" dirty="0" smtClean="0"/>
              <a:t>. </a:t>
            </a:r>
            <a:r>
              <a:rPr lang="ko-KR" altLang="en-US" dirty="0" smtClean="0"/>
              <a:t>평균이 </a:t>
            </a:r>
            <a:r>
              <a:rPr lang="en-US" altLang="ko-KR" dirty="0" smtClean="0"/>
              <a:t>0</a:t>
            </a:r>
            <a:r>
              <a:rPr lang="ko-KR" altLang="en-US" dirty="0" smtClean="0"/>
              <a:t>이면 두 지표가 동일</a:t>
            </a:r>
            <a:r>
              <a:rPr lang="en-US" altLang="ko-KR" dirty="0" smtClean="0"/>
              <a:t>.</a:t>
            </a:r>
          </a:p>
          <a:p>
            <a:r>
              <a:rPr lang="ko-KR" altLang="en-US" dirty="0"/>
              <a:t>편향되지 않은 </a:t>
            </a:r>
            <a:r>
              <a:rPr lang="ko-KR" altLang="en-US" dirty="0" err="1"/>
              <a:t>추정기를</a:t>
            </a:r>
            <a:r>
              <a:rPr lang="ko-KR" altLang="en-US" dirty="0"/>
              <a:t> 사용하여 </a:t>
            </a:r>
            <a:r>
              <a:rPr lang="ko-KR" altLang="en-US" dirty="0" smtClean="0"/>
              <a:t> 모델을 평가하려면 후자의 지표를 사용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7814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Polynomial</a:t>
            </a:r>
            <a:r>
              <a:rPr lang="ko-KR" altLang="en-US" dirty="0" smtClean="0"/>
              <a:t> </a:t>
            </a:r>
            <a:r>
              <a:rPr lang="en-US" altLang="ko-KR" dirty="0" smtClean="0"/>
              <a:t>Regression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78542"/>
          </a:xfrm>
        </p:spPr>
        <p:txBody>
          <a:bodyPr/>
          <a:lstStyle/>
          <a:p>
            <a:r>
              <a:rPr lang="ko-KR" altLang="en-US" dirty="0" smtClean="0"/>
              <a:t>데이터가 실제로 단순한 직선보다 더 복잡하다면 어떨까</a:t>
            </a:r>
            <a:r>
              <a:rPr lang="en-US" altLang="ko-KR" dirty="0" smtClean="0"/>
              <a:t>? </a:t>
            </a:r>
          </a:p>
          <a:p>
            <a:r>
              <a:rPr lang="ko-KR" altLang="en-US" dirty="0" smtClean="0"/>
              <a:t>놀랍게도</a:t>
            </a:r>
            <a:r>
              <a:rPr lang="en-US" altLang="ko-KR" dirty="0" smtClean="0"/>
              <a:t>,</a:t>
            </a:r>
            <a:r>
              <a:rPr lang="ko-KR" altLang="en-US" dirty="0" smtClean="0"/>
              <a:t> 선형 모델을 사용하여 비선형 데이터를 맞출 수 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각 특징의 제곱을 새로운 특징으로 추가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확장된 특징 세트에 선형 회귀를 적용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 </a:t>
            </a:r>
            <a:r>
              <a:rPr lang="ko-KR" altLang="en-US" dirty="0" smtClean="0"/>
              <a:t>이 기법을 다항 회귀 </a:t>
            </a:r>
            <a:r>
              <a:rPr lang="en-US" altLang="ko-KR" dirty="0" smtClean="0"/>
              <a:t>(Polynomial</a:t>
            </a:r>
            <a:r>
              <a:rPr lang="ko-KR" altLang="en-US" dirty="0" smtClean="0"/>
              <a:t> </a:t>
            </a:r>
            <a:r>
              <a:rPr lang="en-US" altLang="ko-KR" dirty="0" smtClean="0"/>
              <a:t>Regression)</a:t>
            </a:r>
            <a:r>
              <a:rPr lang="ko-KR" altLang="en-US" dirty="0" smtClean="0"/>
              <a:t>라고 함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34" y="4239104"/>
            <a:ext cx="5162550" cy="26479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323" y="4766079"/>
            <a:ext cx="5792245" cy="101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686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Polynomial</a:t>
            </a:r>
            <a:r>
              <a:rPr lang="ko-KR" altLang="en-US" dirty="0" smtClean="0"/>
              <a:t> </a:t>
            </a:r>
            <a:r>
              <a:rPr lang="en-US" altLang="ko-KR" dirty="0" smtClean="0"/>
              <a:t>Regression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715556"/>
          </a:xfrm>
        </p:spPr>
        <p:txBody>
          <a:bodyPr>
            <a:normAutofit/>
          </a:bodyPr>
          <a:lstStyle/>
          <a:p>
            <a:r>
              <a:rPr lang="en-US" altLang="ko-KR" sz="2000" dirty="0" err="1" smtClean="0"/>
              <a:t>Scikit</a:t>
            </a:r>
            <a:r>
              <a:rPr lang="en-US" altLang="ko-KR" sz="2000" dirty="0" smtClean="0"/>
              <a:t>-Learn</a:t>
            </a:r>
            <a:r>
              <a:rPr lang="ko-KR" altLang="en-US" sz="2000" dirty="0" smtClean="0"/>
              <a:t>의 </a:t>
            </a:r>
            <a:r>
              <a:rPr lang="en-US" altLang="ko-KR" sz="2000" dirty="0" err="1" smtClean="0"/>
              <a:t>PolynomialFeatures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클래스를 사용하여 학습 데이터를 변환하고 학습 </a:t>
            </a:r>
            <a:r>
              <a:rPr lang="ko-KR" altLang="en-US" sz="2000" dirty="0" err="1" smtClean="0"/>
              <a:t>세트에있는</a:t>
            </a:r>
            <a:r>
              <a:rPr lang="ko-KR" altLang="en-US" sz="2000" dirty="0" smtClean="0"/>
              <a:t> 각 제곱 </a:t>
            </a:r>
            <a:r>
              <a:rPr lang="en-US" altLang="ko-KR" sz="2000" dirty="0" smtClean="0"/>
              <a:t>(2 </a:t>
            </a:r>
            <a:r>
              <a:rPr lang="ko-KR" altLang="en-US" sz="2000" dirty="0" smtClean="0"/>
              <a:t>차 다항식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을 새로운 특징으로 추가한 후 선형 회귀를 적용</a:t>
            </a:r>
            <a:endParaRPr lang="ko-KR" altLang="en-US" sz="2000" dirty="0"/>
          </a:p>
        </p:txBody>
      </p:sp>
      <p:sp>
        <p:nvSpPr>
          <p:cNvPr id="4" name="직사각형 3"/>
          <p:cNvSpPr/>
          <p:nvPr/>
        </p:nvSpPr>
        <p:spPr>
          <a:xfrm>
            <a:off x="559982" y="3199870"/>
            <a:ext cx="6861544" cy="286232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 err="1" smtClean="0"/>
              <a:t>from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sklearn.preprocessing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PolynomialFeatures</a:t>
            </a:r>
            <a:endParaRPr lang="en-US" altLang="ko-KR" dirty="0" smtClean="0"/>
          </a:p>
          <a:p>
            <a:endParaRPr lang="ko-KR" altLang="en-US" dirty="0" smtClean="0"/>
          </a:p>
          <a:p>
            <a:r>
              <a:rPr lang="ko-KR" altLang="en-US" dirty="0" err="1" smtClean="0"/>
              <a:t>poly_features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PolynomialFeatures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degree</a:t>
            </a:r>
            <a:r>
              <a:rPr lang="ko-KR" altLang="en-US" dirty="0" smtClean="0"/>
              <a:t>=2, </a:t>
            </a:r>
            <a:r>
              <a:rPr lang="ko-KR" altLang="en-US" dirty="0" err="1" smtClean="0"/>
              <a:t>include_bias</a:t>
            </a:r>
            <a:r>
              <a:rPr lang="ko-KR" altLang="en-US" dirty="0" smtClean="0"/>
              <a:t>=</a:t>
            </a:r>
            <a:r>
              <a:rPr lang="ko-KR" altLang="en-US" dirty="0" err="1" smtClean="0"/>
              <a:t>False</a:t>
            </a:r>
            <a:r>
              <a:rPr lang="ko-KR" altLang="en-US" dirty="0" smtClean="0"/>
              <a:t>)</a:t>
            </a:r>
          </a:p>
          <a:p>
            <a:r>
              <a:rPr lang="ko-KR" altLang="en-US" dirty="0" err="1" smtClean="0"/>
              <a:t>X_poly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poly_features.fit_transform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</a:t>
            </a:r>
            <a:r>
              <a:rPr lang="ko-KR" altLang="en-US" dirty="0" smtClean="0"/>
              <a:t>)</a:t>
            </a:r>
          </a:p>
          <a:p>
            <a:r>
              <a:rPr lang="ko-KR" altLang="en-US" dirty="0" err="1" smtClean="0"/>
              <a:t>print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</a:t>
            </a:r>
            <a:r>
              <a:rPr lang="ko-KR" altLang="en-US" dirty="0" smtClean="0"/>
              <a:t>[0], </a:t>
            </a:r>
            <a:r>
              <a:rPr lang="ko-KR" altLang="en-US" dirty="0" err="1" smtClean="0"/>
              <a:t>X_poly</a:t>
            </a:r>
            <a:r>
              <a:rPr lang="ko-KR" altLang="en-US" dirty="0" smtClean="0"/>
              <a:t>[0]) </a:t>
            </a:r>
            <a:r>
              <a:rPr lang="en-US" altLang="ko-KR" dirty="0" smtClean="0"/>
              <a:t># [-</a:t>
            </a:r>
            <a:r>
              <a:rPr lang="en-US" altLang="ko-KR" dirty="0"/>
              <a:t>0.75275929</a:t>
            </a:r>
            <a:r>
              <a:rPr lang="en-US" altLang="ko-KR" dirty="0" smtClean="0"/>
              <a:t>] [-</a:t>
            </a:r>
            <a:r>
              <a:rPr lang="en-US" altLang="ko-KR" dirty="0"/>
              <a:t>0.75275929, 0.56664654])</a:t>
            </a:r>
            <a:r>
              <a:rPr lang="en-US" altLang="ko-KR" dirty="0" smtClean="0"/>
              <a:t> </a:t>
            </a:r>
            <a:endParaRPr lang="ko-KR" altLang="en-US" dirty="0" smtClean="0"/>
          </a:p>
          <a:p>
            <a:r>
              <a:rPr lang="ko-KR" altLang="en-US" dirty="0" err="1" smtClean="0"/>
              <a:t>lin_reg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LinearRegression</a:t>
            </a:r>
            <a:r>
              <a:rPr lang="ko-KR" altLang="en-US" dirty="0" smtClean="0"/>
              <a:t>()</a:t>
            </a:r>
          </a:p>
          <a:p>
            <a:r>
              <a:rPr lang="ko-KR" altLang="en-US" dirty="0" err="1" smtClean="0"/>
              <a:t>lin_reg.fit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X_poly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</a:t>
            </a:r>
            <a:r>
              <a:rPr lang="ko-KR" altLang="en-US" dirty="0" smtClean="0"/>
              <a:t>)</a:t>
            </a:r>
          </a:p>
          <a:p>
            <a:r>
              <a:rPr lang="en-US" altLang="ko-KR" dirty="0"/>
              <a:t>p</a:t>
            </a:r>
            <a:r>
              <a:rPr lang="en-US" altLang="ko-KR" dirty="0" smtClean="0"/>
              <a:t>rint(</a:t>
            </a:r>
            <a:r>
              <a:rPr lang="ko-KR" altLang="en-US" dirty="0" err="1" smtClean="0"/>
              <a:t>lin_reg.intercept</a:t>
            </a:r>
            <a:r>
              <a:rPr lang="ko-KR" altLang="en-US" dirty="0" smtClean="0"/>
              <a:t>_, </a:t>
            </a:r>
            <a:r>
              <a:rPr lang="ko-KR" altLang="en-US" dirty="0" err="1" smtClean="0"/>
              <a:t>lin_reg.coef</a:t>
            </a:r>
            <a:r>
              <a:rPr lang="en-US" altLang="ko-KR" dirty="0" smtClean="0"/>
              <a:t>)</a:t>
            </a:r>
            <a:r>
              <a:rPr lang="ko-KR" altLang="en-US" dirty="0" smtClean="0"/>
              <a:t>_</a:t>
            </a:r>
            <a:endParaRPr lang="en-US" altLang="ko-KR" dirty="0" smtClean="0"/>
          </a:p>
          <a:p>
            <a:r>
              <a:rPr lang="en-US" altLang="ko-KR" dirty="0" smtClean="0"/>
              <a:t># [ </a:t>
            </a:r>
            <a:r>
              <a:rPr lang="en-US" altLang="ko-KR" dirty="0"/>
              <a:t>1.78134581</a:t>
            </a:r>
            <a:r>
              <a:rPr lang="en-US" altLang="ko-KR" dirty="0" smtClean="0"/>
              <a:t>], [[ </a:t>
            </a:r>
            <a:r>
              <a:rPr lang="en-US" altLang="ko-KR" dirty="0"/>
              <a:t>0.93366893, 0.56456263</a:t>
            </a:r>
            <a:r>
              <a:rPr lang="en-US" altLang="ko-KR" dirty="0" smtClean="0"/>
              <a:t>]]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0" y="3284131"/>
            <a:ext cx="4343400" cy="26289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277" y="6313825"/>
            <a:ext cx="2695575" cy="4000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6377980"/>
            <a:ext cx="3962400" cy="342900"/>
          </a:xfrm>
          <a:prstGeom prst="rect">
            <a:avLst/>
          </a:prstGeom>
          <a:solidFill>
            <a:schemeClr val="accent2"/>
          </a:solidFill>
        </p:spPr>
      </p:pic>
      <p:cxnSp>
        <p:nvCxnSpPr>
          <p:cNvPr id="10" name="직선 화살표 연결선 9"/>
          <p:cNvCxnSpPr/>
          <p:nvPr/>
        </p:nvCxnSpPr>
        <p:spPr>
          <a:xfrm>
            <a:off x="8048847" y="6513850"/>
            <a:ext cx="606055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48847" y="6156918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비교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55158" y="2518426"/>
                <a:ext cx="10398642" cy="651269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 smtClean="0"/>
                  <a:t>참고로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특징이 두 개 이상일 경우는 </a:t>
                </a:r>
                <a:r>
                  <a:rPr lang="ko-KR" altLang="en-US" dirty="0" err="1" smtClean="0"/>
                  <a:t>특징끼리의</a:t>
                </a:r>
                <a:r>
                  <a:rPr lang="ko-KR" altLang="en-US" dirty="0" smtClean="0"/>
                  <a:t> 결합도 새로운 특징으로 추가됨</a:t>
                </a:r>
                <a:r>
                  <a:rPr lang="en-US" altLang="ko-KR" dirty="0" smtClean="0"/>
                  <a:t>. </a:t>
                </a:r>
                <a:r>
                  <a:rPr lang="ko-KR" altLang="en-US" dirty="0" smtClean="0"/>
                  <a:t>예를 들어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두 특징 </a:t>
                </a:r>
                <a:r>
                  <a:rPr lang="en-US" altLang="ko-KR" dirty="0" smtClean="0"/>
                  <a:t>a, b</a:t>
                </a:r>
                <a:r>
                  <a:rPr lang="ko-KR" altLang="en-US" dirty="0" smtClean="0"/>
                  <a:t>가 주어졌을 때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차원을</a:t>
                </a:r>
                <a:r>
                  <a:rPr lang="en-US" altLang="ko-KR" dirty="0" smtClean="0"/>
                  <a:t> 3</a:t>
                </a:r>
                <a:r>
                  <a:rPr lang="ko-KR" altLang="en-US" dirty="0" smtClean="0"/>
                  <a:t>으로</a:t>
                </a:r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해서 특징을 추가하면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ko-KR" altLang="en-US" dirty="0" smtClean="0"/>
                  <a:t> 외에 </a:t>
                </a:r>
                <a:r>
                  <a:rPr lang="en-US" altLang="ko-KR" dirty="0" smtClean="0"/>
                  <a:t>ab,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 smtClean="0"/>
                  <a:t>b,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dirty="0" smtClean="0"/>
                  <a:t>도 추가됨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158" y="2518426"/>
                <a:ext cx="10398642" cy="651269"/>
              </a:xfrm>
              <a:prstGeom prst="rect">
                <a:avLst/>
              </a:prstGeom>
              <a:blipFill>
                <a:blip r:embed="rId5"/>
                <a:stretch>
                  <a:fillRect l="-468" t="-3670" r="-293" b="-1192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4436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Polynomial</a:t>
            </a:r>
            <a:r>
              <a:rPr lang="ko-KR" altLang="en-US" dirty="0" smtClean="0"/>
              <a:t> </a:t>
            </a:r>
            <a:r>
              <a:rPr lang="en-US" altLang="ko-KR" dirty="0" smtClean="0"/>
              <a:t>Regression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836694"/>
            <a:ext cx="10515600" cy="424731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numpy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as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np</a:t>
            </a:r>
            <a:endParaRPr lang="ko-KR" altLang="en-US" dirty="0" smtClean="0"/>
          </a:p>
          <a:p>
            <a:r>
              <a:rPr lang="ko-KR" altLang="en-US" dirty="0" err="1" smtClean="0"/>
              <a:t>from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sklearn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linear_model</a:t>
            </a:r>
            <a:endParaRPr lang="ko-KR" altLang="en-US" dirty="0" smtClean="0"/>
          </a:p>
          <a:p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sklearn.metrics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as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sm</a:t>
            </a:r>
            <a:endParaRPr lang="ko-KR" altLang="en-US" dirty="0" smtClean="0"/>
          </a:p>
          <a:p>
            <a:r>
              <a:rPr lang="ko-KR" altLang="en-US" dirty="0" err="1" smtClean="0"/>
              <a:t>from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sklearn.preprocessing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PolynomialFeatures</a:t>
            </a:r>
            <a:endParaRPr lang="ko-KR" altLang="en-US" dirty="0" smtClean="0"/>
          </a:p>
          <a:p>
            <a:r>
              <a:rPr lang="ko-KR" altLang="en-US" dirty="0" err="1" smtClean="0"/>
              <a:t>from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sklearn.model_selection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train_test_split</a:t>
            </a:r>
            <a:endParaRPr lang="ko-KR" altLang="en-US" dirty="0" smtClean="0"/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Input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file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containing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data</a:t>
            </a:r>
            <a:endParaRPr lang="ko-KR" altLang="en-US" dirty="0" smtClean="0"/>
          </a:p>
          <a:p>
            <a:r>
              <a:rPr lang="ko-KR" altLang="en-US" dirty="0" err="1" smtClean="0"/>
              <a:t>input_file</a:t>
            </a:r>
            <a:r>
              <a:rPr lang="ko-KR" altLang="en-US" dirty="0" smtClean="0"/>
              <a:t> = '</a:t>
            </a:r>
            <a:r>
              <a:rPr lang="ko-KR" altLang="en-US" dirty="0" err="1" smtClean="0"/>
              <a:t>data_multivar_regr.txt</a:t>
            </a:r>
            <a:r>
              <a:rPr lang="ko-KR" altLang="en-US" dirty="0" smtClean="0"/>
              <a:t>'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Load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the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from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the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input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file</a:t>
            </a:r>
            <a:endParaRPr lang="ko-KR" altLang="en-US" dirty="0" smtClean="0"/>
          </a:p>
          <a:p>
            <a:r>
              <a:rPr lang="ko-KR" altLang="en-US" dirty="0" err="1" smtClean="0"/>
              <a:t>data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np.loadtxt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input_file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delimiter</a:t>
            </a:r>
            <a:r>
              <a:rPr lang="ko-KR" altLang="en-US" dirty="0" smtClean="0"/>
              <a:t>=',')</a:t>
            </a:r>
          </a:p>
          <a:p>
            <a:r>
              <a:rPr lang="ko-KR" altLang="en-US" dirty="0" err="1" smtClean="0"/>
              <a:t>X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[:, :-1],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[:, -1]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Split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into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training</a:t>
            </a:r>
            <a:r>
              <a:rPr lang="ko-KR" altLang="en-US" dirty="0" smtClean="0"/>
              <a:t> and </a:t>
            </a:r>
            <a:r>
              <a:rPr lang="ko-KR" altLang="en-US" dirty="0" err="1" smtClean="0"/>
              <a:t>testing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datasets</a:t>
            </a:r>
            <a:endParaRPr lang="ko-KR" altLang="en-US" dirty="0" smtClean="0"/>
          </a:p>
          <a:p>
            <a:r>
              <a:rPr lang="ko-KR" altLang="en-US" dirty="0" err="1" smtClean="0"/>
              <a:t>X_train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X_test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y_train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y_test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train_test_split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test_size</a:t>
            </a:r>
            <a:r>
              <a:rPr lang="ko-KR" altLang="en-US" dirty="0" smtClean="0"/>
              <a:t>=0.2, </a:t>
            </a:r>
            <a:r>
              <a:rPr lang="ko-KR" altLang="en-US" dirty="0" err="1" smtClean="0"/>
              <a:t>random_state</a:t>
            </a:r>
            <a:r>
              <a:rPr lang="ko-KR" altLang="en-US" dirty="0" smtClean="0"/>
              <a:t>=5)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1430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Polynomial</a:t>
            </a:r>
            <a:r>
              <a:rPr lang="ko-KR" altLang="en-US" dirty="0" smtClean="0"/>
              <a:t> </a:t>
            </a:r>
            <a:r>
              <a:rPr lang="en-US" altLang="ko-KR" dirty="0" smtClean="0"/>
              <a:t>Regression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690688"/>
            <a:ext cx="10515600" cy="507831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 smtClean="0"/>
              <a:t># </a:t>
            </a:r>
            <a:r>
              <a:rPr lang="ko-KR" altLang="en-US" dirty="0" err="1" smtClean="0"/>
              <a:t>Polynomial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regression</a:t>
            </a:r>
            <a:endParaRPr lang="ko-KR" altLang="en-US" dirty="0" smtClean="0"/>
          </a:p>
          <a:p>
            <a:r>
              <a:rPr lang="ko-KR" altLang="en-US" dirty="0" err="1" smtClean="0"/>
              <a:t>polynomial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PolynomialFeatures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degree</a:t>
            </a:r>
            <a:r>
              <a:rPr lang="ko-KR" altLang="en-US" dirty="0" smtClean="0"/>
              <a:t>=2)</a:t>
            </a:r>
          </a:p>
          <a:p>
            <a:r>
              <a:rPr lang="ko-KR" altLang="en-US" dirty="0" err="1" smtClean="0"/>
              <a:t>X_train_transformed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polynomial.fit_transform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X_train</a:t>
            </a:r>
            <a:r>
              <a:rPr lang="ko-KR" altLang="en-US" dirty="0" smtClean="0"/>
              <a:t>)</a:t>
            </a:r>
          </a:p>
          <a:p>
            <a:endParaRPr lang="ko-KR" altLang="en-US" dirty="0" smtClean="0"/>
          </a:p>
          <a:p>
            <a:r>
              <a:rPr lang="ko-KR" altLang="en-US" dirty="0" err="1" smtClean="0"/>
              <a:t>poly_linear_model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linear_model.LinearRegression</a:t>
            </a:r>
            <a:r>
              <a:rPr lang="ko-KR" altLang="en-US" dirty="0" smtClean="0"/>
              <a:t>()</a:t>
            </a:r>
          </a:p>
          <a:p>
            <a:r>
              <a:rPr lang="ko-KR" altLang="en-US" dirty="0" err="1" smtClean="0"/>
              <a:t>poly_linear_model.fit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X_train_transformed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y_train</a:t>
            </a:r>
            <a:r>
              <a:rPr lang="ko-KR" altLang="en-US" dirty="0" smtClean="0"/>
              <a:t>)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Predict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the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output</a:t>
            </a:r>
            <a:endParaRPr lang="ko-KR" altLang="en-US" dirty="0" smtClean="0"/>
          </a:p>
          <a:p>
            <a:r>
              <a:rPr lang="ko-KR" altLang="en-US" dirty="0" err="1" smtClean="0"/>
              <a:t>X_test_transformed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polynomial.fit_transform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X_test</a:t>
            </a:r>
            <a:r>
              <a:rPr lang="ko-KR" altLang="en-US" dirty="0" smtClean="0"/>
              <a:t>)</a:t>
            </a:r>
          </a:p>
          <a:p>
            <a:r>
              <a:rPr lang="ko-KR" altLang="en-US" dirty="0" err="1" smtClean="0"/>
              <a:t>y_test_pred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poly_linear_model.predict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X_test_transformed</a:t>
            </a:r>
            <a:r>
              <a:rPr lang="ko-KR" altLang="en-US" dirty="0" smtClean="0"/>
              <a:t>)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Measure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performance</a:t>
            </a:r>
            <a:endParaRPr lang="ko-KR" altLang="en-US" dirty="0" smtClean="0"/>
          </a:p>
          <a:p>
            <a:r>
              <a:rPr lang="ko-KR" altLang="en-US" dirty="0" err="1" smtClean="0"/>
              <a:t>print</a:t>
            </a:r>
            <a:r>
              <a:rPr lang="ko-KR" altLang="en-US" dirty="0" smtClean="0"/>
              <a:t>("</a:t>
            </a:r>
            <a:r>
              <a:rPr lang="ko-KR" altLang="en-US" dirty="0" err="1" smtClean="0"/>
              <a:t>Polynomial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Regressor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performance</a:t>
            </a:r>
            <a:r>
              <a:rPr lang="ko-KR" altLang="en-US" dirty="0" smtClean="0"/>
              <a:t>:")</a:t>
            </a:r>
          </a:p>
          <a:p>
            <a:r>
              <a:rPr lang="ko-KR" altLang="en-US" dirty="0" err="1" smtClean="0"/>
              <a:t>print</a:t>
            </a:r>
            <a:r>
              <a:rPr lang="ko-KR" altLang="en-US" dirty="0" smtClean="0"/>
              <a:t>("</a:t>
            </a:r>
            <a:r>
              <a:rPr lang="ko-KR" altLang="en-US" dirty="0" err="1" smtClean="0"/>
              <a:t>Mean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absolute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error</a:t>
            </a:r>
            <a:r>
              <a:rPr lang="ko-KR" altLang="en-US" dirty="0" smtClean="0"/>
              <a:t> =", </a:t>
            </a:r>
            <a:r>
              <a:rPr lang="ko-KR" altLang="en-US" dirty="0" err="1" smtClean="0"/>
              <a:t>round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sm.mean_absolute_error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y_test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y_test_pred</a:t>
            </a:r>
            <a:r>
              <a:rPr lang="ko-KR" altLang="en-US" dirty="0" smtClean="0"/>
              <a:t>), 2))</a:t>
            </a:r>
          </a:p>
          <a:p>
            <a:r>
              <a:rPr lang="ko-KR" altLang="en-US" dirty="0" err="1" smtClean="0"/>
              <a:t>print</a:t>
            </a:r>
            <a:r>
              <a:rPr lang="ko-KR" altLang="en-US" dirty="0" smtClean="0"/>
              <a:t>("</a:t>
            </a:r>
            <a:r>
              <a:rPr lang="ko-KR" altLang="en-US" dirty="0" err="1" smtClean="0"/>
              <a:t>Mean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squared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error</a:t>
            </a:r>
            <a:r>
              <a:rPr lang="ko-KR" altLang="en-US" dirty="0" smtClean="0"/>
              <a:t> =", </a:t>
            </a:r>
            <a:r>
              <a:rPr lang="ko-KR" altLang="en-US" dirty="0" err="1" smtClean="0"/>
              <a:t>round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sm.mean_squared_error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y_test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y_test_pred</a:t>
            </a:r>
            <a:r>
              <a:rPr lang="ko-KR" altLang="en-US" dirty="0" smtClean="0"/>
              <a:t>), 2))</a:t>
            </a:r>
          </a:p>
          <a:p>
            <a:r>
              <a:rPr lang="ko-KR" altLang="en-US" dirty="0" err="1" smtClean="0"/>
              <a:t>print</a:t>
            </a:r>
            <a:r>
              <a:rPr lang="ko-KR" altLang="en-US" dirty="0" smtClean="0"/>
              <a:t>("</a:t>
            </a:r>
            <a:r>
              <a:rPr lang="ko-KR" altLang="en-US" dirty="0" err="1" smtClean="0"/>
              <a:t>Median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absolute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error</a:t>
            </a:r>
            <a:r>
              <a:rPr lang="ko-KR" altLang="en-US" dirty="0" smtClean="0"/>
              <a:t> =", </a:t>
            </a:r>
            <a:r>
              <a:rPr lang="ko-KR" altLang="en-US" dirty="0" err="1" smtClean="0"/>
              <a:t>round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sm.median_absolute_error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y_test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y_test_pred</a:t>
            </a:r>
            <a:r>
              <a:rPr lang="ko-KR" altLang="en-US" dirty="0" smtClean="0"/>
              <a:t>), 2))</a:t>
            </a:r>
          </a:p>
          <a:p>
            <a:r>
              <a:rPr lang="ko-KR" altLang="en-US" dirty="0" err="1" smtClean="0"/>
              <a:t>print</a:t>
            </a:r>
            <a:r>
              <a:rPr lang="ko-KR" altLang="en-US" dirty="0" smtClean="0"/>
              <a:t>("</a:t>
            </a:r>
            <a:r>
              <a:rPr lang="ko-KR" altLang="en-US" dirty="0" err="1" smtClean="0"/>
              <a:t>Explained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variance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score</a:t>
            </a:r>
            <a:r>
              <a:rPr lang="ko-KR" altLang="en-US" dirty="0" smtClean="0"/>
              <a:t> =", </a:t>
            </a:r>
            <a:r>
              <a:rPr lang="ko-KR" altLang="en-US" dirty="0" err="1" smtClean="0"/>
              <a:t>round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sm.explained_variance_score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y_test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y_test_pred</a:t>
            </a:r>
            <a:r>
              <a:rPr lang="ko-KR" altLang="en-US" dirty="0" smtClean="0"/>
              <a:t>), 2))</a:t>
            </a:r>
          </a:p>
          <a:p>
            <a:r>
              <a:rPr lang="ko-KR" altLang="en-US" dirty="0" err="1" smtClean="0"/>
              <a:t>print</a:t>
            </a:r>
            <a:r>
              <a:rPr lang="ko-KR" altLang="en-US" dirty="0" smtClean="0"/>
              <a:t>("R2 </a:t>
            </a:r>
            <a:r>
              <a:rPr lang="ko-KR" altLang="en-US" dirty="0" err="1" smtClean="0"/>
              <a:t>score</a:t>
            </a:r>
            <a:r>
              <a:rPr lang="ko-KR" altLang="en-US" dirty="0" smtClean="0"/>
              <a:t> =", </a:t>
            </a:r>
            <a:r>
              <a:rPr lang="ko-KR" altLang="en-US" dirty="0" err="1" smtClean="0"/>
              <a:t>round</a:t>
            </a:r>
            <a:r>
              <a:rPr lang="ko-KR" altLang="en-US" dirty="0" smtClean="0"/>
              <a:t>(sm.r2_score(</a:t>
            </a:r>
            <a:r>
              <a:rPr lang="ko-KR" altLang="en-US" dirty="0" err="1" smtClean="0"/>
              <a:t>y_test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y_test_pred</a:t>
            </a:r>
            <a:r>
              <a:rPr lang="ko-KR" altLang="en-US" dirty="0" smtClean="0"/>
              <a:t>), 2))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0304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Support Vector </a:t>
            </a:r>
            <a:r>
              <a:rPr lang="en-US" altLang="ko-KR" dirty="0" err="1" smtClean="0"/>
              <a:t>Regressor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 smtClean="0"/>
                  <a:t>SVM </a:t>
                </a:r>
                <a:r>
                  <a:rPr lang="ko-KR" altLang="en-US" dirty="0" smtClean="0"/>
                  <a:t>개념을 회귀에 적용한 것</a:t>
                </a:r>
                <a:endParaRPr lang="en-US" altLang="ko-KR" dirty="0" smtClean="0"/>
              </a:p>
              <a:p>
                <a:r>
                  <a:rPr lang="en-US" altLang="ko-KR" dirty="0" err="1" smtClean="0"/>
                  <a:t>sklearn.svm.SVR</a:t>
                </a:r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클래스 이용</a:t>
                </a:r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C </a:t>
                </a:r>
                <a:r>
                  <a:rPr lang="ko-KR" altLang="en-US" dirty="0" err="1" smtClean="0"/>
                  <a:t>패러미터</a:t>
                </a:r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: </a:t>
                </a:r>
                <a:r>
                  <a:rPr lang="ko-KR" altLang="en-US" dirty="0" smtClean="0"/>
                  <a:t>학습 오류에 대한 </a:t>
                </a:r>
                <a:r>
                  <a:rPr lang="ko-KR" altLang="en-US" dirty="0" err="1" smtClean="0"/>
                  <a:t>패널티</a:t>
                </a:r>
                <a:r>
                  <a:rPr lang="en-US" altLang="ko-KR" dirty="0" smtClean="0"/>
                  <a:t>. C</a:t>
                </a:r>
                <a:r>
                  <a:rPr lang="ko-KR" altLang="en-US" dirty="0" smtClean="0"/>
                  <a:t>가 증가되면 학습 데이터에 </a:t>
                </a:r>
                <a:r>
                  <a:rPr lang="en-US" altLang="ko-KR" dirty="0" smtClean="0"/>
                  <a:t>fine tuning</a:t>
                </a:r>
                <a:r>
                  <a:rPr lang="ko-KR" altLang="en-US" dirty="0" smtClean="0"/>
                  <a:t>이 되게 됨</a:t>
                </a:r>
                <a:r>
                  <a:rPr lang="en-US" altLang="ko-KR" dirty="0" smtClean="0"/>
                  <a:t>. </a:t>
                </a:r>
                <a:r>
                  <a:rPr lang="ko-KR" altLang="en-US" dirty="0" smtClean="0"/>
                  <a:t>즉 </a:t>
                </a:r>
                <a:r>
                  <a:rPr lang="ko-KR" altLang="en-US" dirty="0" err="1" smtClean="0"/>
                  <a:t>오버피팅이</a:t>
                </a:r>
                <a:r>
                  <a:rPr lang="ko-KR" altLang="en-US" dirty="0" smtClean="0"/>
                  <a:t> 될 가능성이 높아짐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Epsilon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 err="1" smtClean="0"/>
                  <a:t>패러미터</a:t>
                </a:r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: </a:t>
                </a:r>
                <a:r>
                  <a:rPr lang="ko-KR" altLang="en-US" dirty="0" err="1" smtClean="0"/>
                  <a:t>패널티</a:t>
                </a:r>
                <a:r>
                  <a:rPr lang="ko-KR" altLang="en-US" dirty="0" smtClean="0"/>
                  <a:t> 적용 범위를 지정</a:t>
                </a:r>
                <a:r>
                  <a:rPr lang="en-US" altLang="ko-KR" dirty="0" smtClean="0"/>
                  <a:t>. </a:t>
                </a:r>
                <a:r>
                  <a:rPr lang="ko-KR" altLang="en-US" dirty="0" smtClean="0"/>
                  <a:t>즉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오차가 이 패러미터보다 적으면 </a:t>
                </a:r>
                <a:r>
                  <a:rPr lang="ko-KR" altLang="en-US" dirty="0" err="1" smtClean="0"/>
                  <a:t>패널티</a:t>
                </a:r>
                <a:r>
                  <a:rPr lang="ko-KR" altLang="en-US" dirty="0" smtClean="0"/>
                  <a:t> 없는 것으로 간주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9397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Support Vector </a:t>
            </a:r>
            <a:r>
              <a:rPr lang="en-US" altLang="ko-KR" dirty="0" err="1"/>
              <a:t>Regressor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815152"/>
            <a:ext cx="10515600" cy="452431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 err="1"/>
              <a:t>import</a:t>
            </a:r>
            <a:r>
              <a:rPr lang="ko-KR" altLang="en-US" dirty="0"/>
              <a:t> </a:t>
            </a:r>
            <a:r>
              <a:rPr lang="ko-KR" altLang="en-US" dirty="0" err="1"/>
              <a:t>numpy</a:t>
            </a:r>
            <a:r>
              <a:rPr lang="ko-KR" altLang="en-US" dirty="0"/>
              <a:t> </a:t>
            </a:r>
            <a:r>
              <a:rPr lang="ko-KR" altLang="en-US" dirty="0" err="1"/>
              <a:t>as</a:t>
            </a:r>
            <a:r>
              <a:rPr lang="ko-KR" altLang="en-US" dirty="0"/>
              <a:t> </a:t>
            </a:r>
            <a:r>
              <a:rPr lang="ko-KR" altLang="en-US" dirty="0" err="1"/>
              <a:t>np</a:t>
            </a:r>
            <a:endParaRPr lang="ko-KR" altLang="en-US" dirty="0"/>
          </a:p>
          <a:p>
            <a:r>
              <a:rPr lang="ko-KR" altLang="en-US" dirty="0" err="1"/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</a:t>
            </a:r>
            <a:r>
              <a:rPr lang="ko-KR" altLang="en-US" dirty="0"/>
              <a:t> </a:t>
            </a:r>
            <a:r>
              <a:rPr lang="ko-KR" altLang="en-US" dirty="0" err="1"/>
              <a:t>import</a:t>
            </a:r>
            <a:r>
              <a:rPr lang="ko-KR" altLang="en-US" dirty="0"/>
              <a:t> </a:t>
            </a:r>
            <a:r>
              <a:rPr lang="ko-KR" altLang="en-US" dirty="0" err="1"/>
              <a:t>datasets</a:t>
            </a:r>
            <a:endParaRPr lang="ko-KR" altLang="en-US" dirty="0"/>
          </a:p>
          <a:p>
            <a:r>
              <a:rPr lang="ko-KR" altLang="en-US" dirty="0" err="1"/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sklearn.svm</a:t>
            </a:r>
            <a:r>
              <a:rPr lang="ko-KR" altLang="en-US" dirty="0"/>
              <a:t> </a:t>
            </a:r>
            <a:r>
              <a:rPr lang="ko-KR" altLang="en-US" dirty="0" err="1"/>
              <a:t>import</a:t>
            </a:r>
            <a:r>
              <a:rPr lang="ko-KR" altLang="en-US" dirty="0"/>
              <a:t> SVR</a:t>
            </a:r>
          </a:p>
          <a:p>
            <a:r>
              <a:rPr lang="ko-KR" altLang="en-US" dirty="0" err="1"/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sklearn.metrics</a:t>
            </a:r>
            <a:r>
              <a:rPr lang="ko-KR" altLang="en-US" dirty="0"/>
              <a:t> </a:t>
            </a:r>
            <a:r>
              <a:rPr lang="ko-KR" altLang="en-US" dirty="0" err="1"/>
              <a:t>import</a:t>
            </a:r>
            <a:r>
              <a:rPr lang="ko-KR" altLang="en-US" dirty="0"/>
              <a:t> </a:t>
            </a:r>
            <a:r>
              <a:rPr lang="ko-KR" altLang="en-US" dirty="0" err="1"/>
              <a:t>mean_squared_error</a:t>
            </a:r>
            <a:endParaRPr lang="ko-KR" altLang="en-US" dirty="0"/>
          </a:p>
          <a:p>
            <a:r>
              <a:rPr lang="ko-KR" altLang="en-US" dirty="0" err="1"/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sklearn.model_selection</a:t>
            </a:r>
            <a:r>
              <a:rPr lang="ko-KR" altLang="en-US" dirty="0"/>
              <a:t> </a:t>
            </a:r>
            <a:r>
              <a:rPr lang="ko-KR" altLang="en-US" dirty="0" err="1"/>
              <a:t>import</a:t>
            </a:r>
            <a:r>
              <a:rPr lang="ko-KR" altLang="en-US" dirty="0"/>
              <a:t> </a:t>
            </a:r>
            <a:r>
              <a:rPr lang="ko-KR" altLang="en-US" dirty="0" err="1"/>
              <a:t>train_test_split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# </a:t>
            </a:r>
            <a:r>
              <a:rPr lang="ko-KR" altLang="en-US" dirty="0" err="1"/>
              <a:t>Load</a:t>
            </a:r>
            <a:r>
              <a:rPr lang="ko-KR" altLang="en-US" dirty="0"/>
              <a:t> </a:t>
            </a:r>
            <a:r>
              <a:rPr lang="ko-KR" altLang="en-US" dirty="0" err="1"/>
              <a:t>housing</a:t>
            </a:r>
            <a:r>
              <a:rPr lang="ko-KR" altLang="en-US" dirty="0"/>
              <a:t> </a:t>
            </a:r>
            <a:r>
              <a:rPr lang="ko-KR" altLang="en-US" dirty="0" err="1"/>
              <a:t>data</a:t>
            </a:r>
            <a:endParaRPr lang="ko-KR" altLang="en-US" dirty="0"/>
          </a:p>
          <a:p>
            <a:r>
              <a:rPr lang="ko-KR" altLang="en-US" dirty="0" err="1"/>
              <a:t>data</a:t>
            </a:r>
            <a:r>
              <a:rPr lang="ko-KR" altLang="en-US" dirty="0"/>
              <a:t> = </a:t>
            </a:r>
            <a:r>
              <a:rPr lang="ko-KR" altLang="en-US" dirty="0" err="1"/>
              <a:t>datasets.load_boston</a:t>
            </a:r>
            <a:r>
              <a:rPr lang="ko-KR" altLang="en-US" dirty="0"/>
              <a:t>() </a:t>
            </a:r>
          </a:p>
          <a:p>
            <a:r>
              <a:rPr lang="ko-KR" altLang="en-US" dirty="0" err="1"/>
              <a:t>X</a:t>
            </a:r>
            <a:r>
              <a:rPr lang="ko-KR" altLang="en-US" dirty="0"/>
              <a:t> = </a:t>
            </a:r>
            <a:r>
              <a:rPr lang="ko-KR" altLang="en-US" dirty="0" err="1"/>
              <a:t>data.data</a:t>
            </a:r>
            <a:endParaRPr lang="ko-KR" altLang="en-US" dirty="0"/>
          </a:p>
          <a:p>
            <a:r>
              <a:rPr lang="ko-KR" altLang="en-US" dirty="0" err="1"/>
              <a:t>y</a:t>
            </a:r>
            <a:r>
              <a:rPr lang="ko-KR" altLang="en-US" dirty="0"/>
              <a:t> = </a:t>
            </a:r>
            <a:r>
              <a:rPr lang="ko-KR" altLang="en-US" dirty="0" err="1"/>
              <a:t>data.target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# </a:t>
            </a:r>
            <a:r>
              <a:rPr lang="ko-KR" altLang="en-US" dirty="0" err="1"/>
              <a:t>Split</a:t>
            </a:r>
            <a:r>
              <a:rPr lang="ko-KR" altLang="en-US" dirty="0"/>
              <a:t> </a:t>
            </a:r>
            <a:r>
              <a:rPr lang="ko-KR" altLang="en-US" dirty="0" err="1"/>
              <a:t>data</a:t>
            </a:r>
            <a:r>
              <a:rPr lang="ko-KR" altLang="en-US" dirty="0"/>
              <a:t> </a:t>
            </a:r>
            <a:r>
              <a:rPr lang="ko-KR" altLang="en-US" dirty="0" err="1"/>
              <a:t>into</a:t>
            </a:r>
            <a:r>
              <a:rPr lang="ko-KR" altLang="en-US" dirty="0"/>
              <a:t> </a:t>
            </a:r>
            <a:r>
              <a:rPr lang="ko-KR" altLang="en-US" dirty="0" err="1"/>
              <a:t>training</a:t>
            </a:r>
            <a:r>
              <a:rPr lang="ko-KR" altLang="en-US" dirty="0"/>
              <a:t> and </a:t>
            </a:r>
            <a:r>
              <a:rPr lang="ko-KR" altLang="en-US" dirty="0" err="1"/>
              <a:t>testing</a:t>
            </a:r>
            <a:r>
              <a:rPr lang="ko-KR" altLang="en-US" dirty="0"/>
              <a:t> </a:t>
            </a:r>
            <a:r>
              <a:rPr lang="ko-KR" altLang="en-US" dirty="0" err="1"/>
              <a:t>datasets</a:t>
            </a:r>
            <a:endParaRPr lang="ko-KR" altLang="en-US" dirty="0"/>
          </a:p>
          <a:p>
            <a:r>
              <a:rPr lang="ko-KR" altLang="en-US" dirty="0" err="1"/>
              <a:t>X_train</a:t>
            </a:r>
            <a:r>
              <a:rPr lang="ko-KR" altLang="en-US" dirty="0"/>
              <a:t>, </a:t>
            </a:r>
            <a:r>
              <a:rPr lang="ko-KR" altLang="en-US" dirty="0" err="1"/>
              <a:t>X_test</a:t>
            </a:r>
            <a:r>
              <a:rPr lang="ko-KR" altLang="en-US" dirty="0"/>
              <a:t>, </a:t>
            </a:r>
            <a:r>
              <a:rPr lang="ko-KR" altLang="en-US" dirty="0" err="1"/>
              <a:t>y_train</a:t>
            </a:r>
            <a:r>
              <a:rPr lang="ko-KR" altLang="en-US" dirty="0"/>
              <a:t>, </a:t>
            </a:r>
            <a:r>
              <a:rPr lang="ko-KR" altLang="en-US" dirty="0" err="1"/>
              <a:t>y_test</a:t>
            </a:r>
            <a:r>
              <a:rPr lang="ko-KR" altLang="en-US" dirty="0"/>
              <a:t> = </a:t>
            </a:r>
            <a:r>
              <a:rPr lang="ko-KR" altLang="en-US" dirty="0" err="1"/>
              <a:t>train_test_split</a:t>
            </a:r>
            <a:r>
              <a:rPr lang="ko-KR" altLang="en-US" dirty="0"/>
              <a:t>(</a:t>
            </a:r>
            <a:r>
              <a:rPr lang="ko-KR" altLang="en-US" dirty="0" err="1"/>
              <a:t>X</a:t>
            </a:r>
            <a:r>
              <a:rPr lang="ko-KR" altLang="en-US" dirty="0"/>
              <a:t>, </a:t>
            </a:r>
            <a:r>
              <a:rPr lang="ko-KR" altLang="en-US" dirty="0" err="1"/>
              <a:t>y</a:t>
            </a:r>
            <a:r>
              <a:rPr lang="ko-KR" altLang="en-US" dirty="0"/>
              <a:t>, </a:t>
            </a:r>
            <a:r>
              <a:rPr lang="ko-KR" altLang="en-US" dirty="0" err="1"/>
              <a:t>test_size</a:t>
            </a:r>
            <a:r>
              <a:rPr lang="ko-KR" altLang="en-US" dirty="0"/>
              <a:t>=0.2, </a:t>
            </a:r>
            <a:r>
              <a:rPr lang="ko-KR" altLang="en-US" dirty="0" err="1"/>
              <a:t>random_state</a:t>
            </a:r>
            <a:r>
              <a:rPr lang="ko-KR" altLang="en-US" dirty="0"/>
              <a:t>=5)</a:t>
            </a:r>
          </a:p>
          <a:p>
            <a:endParaRPr lang="ko-KR" altLang="en-US" dirty="0"/>
          </a:p>
          <a:p>
            <a:r>
              <a:rPr lang="ko-KR" altLang="en-US" dirty="0"/>
              <a:t># </a:t>
            </a:r>
            <a:r>
              <a:rPr lang="ko-KR" altLang="en-US" dirty="0" err="1"/>
              <a:t>Create</a:t>
            </a:r>
            <a:r>
              <a:rPr lang="ko-KR" altLang="en-US" dirty="0"/>
              <a:t> </a:t>
            </a:r>
            <a:r>
              <a:rPr lang="ko-KR" altLang="en-US" dirty="0" err="1"/>
              <a:t>Support</a:t>
            </a:r>
            <a:r>
              <a:rPr lang="ko-KR" altLang="en-US" dirty="0"/>
              <a:t> </a:t>
            </a:r>
            <a:r>
              <a:rPr lang="ko-KR" altLang="en-US" dirty="0" err="1"/>
              <a:t>Vector</a:t>
            </a:r>
            <a:r>
              <a:rPr lang="ko-KR" altLang="en-US" dirty="0"/>
              <a:t> </a:t>
            </a:r>
            <a:r>
              <a:rPr lang="ko-KR" altLang="en-US" dirty="0" err="1"/>
              <a:t>Regression</a:t>
            </a:r>
            <a:r>
              <a:rPr lang="ko-KR" altLang="en-US" dirty="0"/>
              <a:t> </a:t>
            </a:r>
            <a:r>
              <a:rPr lang="ko-KR" altLang="en-US" dirty="0" err="1"/>
              <a:t>model</a:t>
            </a:r>
            <a:endParaRPr lang="ko-KR" altLang="en-US" dirty="0"/>
          </a:p>
          <a:p>
            <a:r>
              <a:rPr lang="ko-KR" altLang="en-US" dirty="0" err="1"/>
              <a:t>sv_regressor</a:t>
            </a:r>
            <a:r>
              <a:rPr lang="ko-KR" altLang="en-US" dirty="0"/>
              <a:t> = SVR(</a:t>
            </a:r>
            <a:r>
              <a:rPr lang="ko-KR" altLang="en-US" dirty="0" err="1"/>
              <a:t>kernel</a:t>
            </a:r>
            <a:r>
              <a:rPr lang="ko-KR" altLang="en-US" dirty="0"/>
              <a:t>='</a:t>
            </a:r>
            <a:r>
              <a:rPr lang="ko-KR" altLang="en-US" dirty="0" err="1"/>
              <a:t>linear</a:t>
            </a:r>
            <a:r>
              <a:rPr lang="ko-KR" altLang="en-US" dirty="0"/>
              <a:t>', C=1.0, </a:t>
            </a:r>
            <a:r>
              <a:rPr lang="ko-KR" altLang="en-US" dirty="0" err="1"/>
              <a:t>epsilon</a:t>
            </a:r>
            <a:r>
              <a:rPr lang="ko-KR" altLang="en-US" dirty="0"/>
              <a:t>=0.1)</a:t>
            </a:r>
          </a:p>
        </p:txBody>
      </p:sp>
    </p:spTree>
    <p:extLst>
      <p:ext uri="{BB962C8B-B14F-4D97-AF65-F5344CB8AC3E}">
        <p14:creationId xmlns:p14="http://schemas.microsoft.com/office/powerpoint/2010/main" val="1516718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Support Vector </a:t>
            </a:r>
            <a:r>
              <a:rPr lang="en-US" altLang="ko-KR" dirty="0" err="1"/>
              <a:t>Regressor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890408"/>
            <a:ext cx="10515600" cy="34163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endParaRPr lang="ko-KR" altLang="en-US" dirty="0"/>
          </a:p>
          <a:p>
            <a:r>
              <a:rPr lang="ko-KR" altLang="en-US" dirty="0"/>
              <a:t># </a:t>
            </a:r>
            <a:r>
              <a:rPr lang="ko-KR" altLang="en-US" dirty="0" err="1"/>
              <a:t>Train</a:t>
            </a:r>
            <a:r>
              <a:rPr lang="ko-KR" altLang="en-US" dirty="0"/>
              <a:t> </a:t>
            </a:r>
            <a:r>
              <a:rPr lang="ko-KR" altLang="en-US" dirty="0" err="1"/>
              <a:t>Support</a:t>
            </a:r>
            <a:r>
              <a:rPr lang="ko-KR" altLang="en-US" dirty="0"/>
              <a:t> </a:t>
            </a:r>
            <a:r>
              <a:rPr lang="ko-KR" altLang="en-US" dirty="0" err="1"/>
              <a:t>Vector</a:t>
            </a:r>
            <a:r>
              <a:rPr lang="ko-KR" altLang="en-US" dirty="0"/>
              <a:t> </a:t>
            </a:r>
            <a:r>
              <a:rPr lang="ko-KR" altLang="en-US" dirty="0" err="1"/>
              <a:t>Regressor</a:t>
            </a:r>
            <a:endParaRPr lang="ko-KR" altLang="en-US" dirty="0"/>
          </a:p>
          <a:p>
            <a:r>
              <a:rPr lang="ko-KR" altLang="en-US" dirty="0" err="1"/>
              <a:t>sv_regressor.fit</a:t>
            </a:r>
            <a:r>
              <a:rPr lang="ko-KR" altLang="en-US" dirty="0"/>
              <a:t>(</a:t>
            </a:r>
            <a:r>
              <a:rPr lang="ko-KR" altLang="en-US" dirty="0" err="1"/>
              <a:t>X_train</a:t>
            </a:r>
            <a:r>
              <a:rPr lang="ko-KR" altLang="en-US" dirty="0"/>
              <a:t>, </a:t>
            </a:r>
            <a:r>
              <a:rPr lang="ko-KR" altLang="en-US" dirty="0" err="1"/>
              <a:t>y_train</a:t>
            </a:r>
            <a:r>
              <a:rPr lang="ko-KR" altLang="en-US" dirty="0"/>
              <a:t>)</a:t>
            </a:r>
          </a:p>
          <a:p>
            <a:endParaRPr lang="ko-KR" altLang="en-US" dirty="0"/>
          </a:p>
          <a:p>
            <a:r>
              <a:rPr lang="ko-KR" altLang="en-US" dirty="0"/>
              <a:t># </a:t>
            </a:r>
            <a:r>
              <a:rPr lang="ko-KR" altLang="en-US" dirty="0" err="1"/>
              <a:t>Evaluate</a:t>
            </a:r>
            <a:r>
              <a:rPr lang="ko-KR" altLang="en-US" dirty="0"/>
              <a:t> </a:t>
            </a:r>
            <a:r>
              <a:rPr lang="ko-KR" altLang="en-US" dirty="0" err="1"/>
              <a:t>performance</a:t>
            </a:r>
            <a:r>
              <a:rPr lang="ko-KR" altLang="en-US" dirty="0"/>
              <a:t> of </a:t>
            </a:r>
            <a:r>
              <a:rPr lang="ko-KR" altLang="en-US" dirty="0" err="1"/>
              <a:t>Support</a:t>
            </a:r>
            <a:r>
              <a:rPr lang="ko-KR" altLang="en-US" dirty="0"/>
              <a:t> </a:t>
            </a:r>
            <a:r>
              <a:rPr lang="ko-KR" altLang="en-US" dirty="0" err="1"/>
              <a:t>Vector</a:t>
            </a:r>
            <a:r>
              <a:rPr lang="ko-KR" altLang="en-US" dirty="0"/>
              <a:t> </a:t>
            </a:r>
            <a:r>
              <a:rPr lang="ko-KR" altLang="en-US" dirty="0" err="1"/>
              <a:t>Regressor</a:t>
            </a:r>
            <a:endParaRPr lang="ko-KR" altLang="en-US" dirty="0"/>
          </a:p>
          <a:p>
            <a:r>
              <a:rPr lang="ko-KR" altLang="en-US" dirty="0" err="1"/>
              <a:t>y_test_pred</a:t>
            </a:r>
            <a:r>
              <a:rPr lang="ko-KR" altLang="en-US" dirty="0"/>
              <a:t> = </a:t>
            </a:r>
            <a:r>
              <a:rPr lang="ko-KR" altLang="en-US" dirty="0" err="1"/>
              <a:t>sv_regressor.predict</a:t>
            </a:r>
            <a:r>
              <a:rPr lang="ko-KR" altLang="en-US" dirty="0"/>
              <a:t>(</a:t>
            </a:r>
            <a:r>
              <a:rPr lang="ko-KR" altLang="en-US" dirty="0" err="1"/>
              <a:t>X_test</a:t>
            </a:r>
            <a:r>
              <a:rPr lang="ko-KR" altLang="en-US" dirty="0"/>
              <a:t>)</a:t>
            </a:r>
          </a:p>
          <a:p>
            <a:r>
              <a:rPr lang="ko-KR" altLang="en-US" dirty="0" err="1"/>
              <a:t>mse</a:t>
            </a:r>
            <a:r>
              <a:rPr lang="ko-KR" altLang="en-US" dirty="0"/>
              <a:t> = </a:t>
            </a:r>
            <a:r>
              <a:rPr lang="ko-KR" altLang="en-US" dirty="0" err="1"/>
              <a:t>mean_squared_error</a:t>
            </a:r>
            <a:r>
              <a:rPr lang="ko-KR" altLang="en-US" dirty="0"/>
              <a:t>(</a:t>
            </a:r>
            <a:r>
              <a:rPr lang="ko-KR" altLang="en-US" dirty="0" err="1"/>
              <a:t>y_test</a:t>
            </a:r>
            <a:r>
              <a:rPr lang="ko-KR" altLang="en-US" dirty="0"/>
              <a:t>, </a:t>
            </a:r>
            <a:r>
              <a:rPr lang="ko-KR" altLang="en-US" dirty="0" err="1"/>
              <a:t>y_test_pred</a:t>
            </a:r>
            <a:r>
              <a:rPr lang="ko-KR" altLang="en-US" dirty="0"/>
              <a:t>)</a:t>
            </a:r>
          </a:p>
          <a:p>
            <a:r>
              <a:rPr lang="ko-KR" altLang="en-US" dirty="0" err="1"/>
              <a:t>print</a:t>
            </a:r>
            <a:r>
              <a:rPr lang="ko-KR" altLang="en-US" dirty="0"/>
              <a:t>("</a:t>
            </a:r>
            <a:r>
              <a:rPr lang="ko-KR" altLang="en-US" dirty="0" err="1"/>
              <a:t>Mean</a:t>
            </a:r>
            <a:r>
              <a:rPr lang="ko-KR" altLang="en-US" dirty="0"/>
              <a:t> </a:t>
            </a:r>
            <a:r>
              <a:rPr lang="ko-KR" altLang="en-US" dirty="0" err="1"/>
              <a:t>squared</a:t>
            </a:r>
            <a:r>
              <a:rPr lang="ko-KR" altLang="en-US" dirty="0"/>
              <a:t> </a:t>
            </a:r>
            <a:r>
              <a:rPr lang="ko-KR" altLang="en-US" dirty="0" err="1"/>
              <a:t>error</a:t>
            </a:r>
            <a:r>
              <a:rPr lang="ko-KR" altLang="en-US" dirty="0"/>
              <a:t> =", </a:t>
            </a:r>
            <a:r>
              <a:rPr lang="ko-KR" altLang="en-US" dirty="0" err="1"/>
              <a:t>round</a:t>
            </a:r>
            <a:r>
              <a:rPr lang="ko-KR" altLang="en-US" dirty="0"/>
              <a:t>(</a:t>
            </a:r>
            <a:r>
              <a:rPr lang="ko-KR" altLang="en-US" dirty="0" err="1"/>
              <a:t>mse</a:t>
            </a:r>
            <a:r>
              <a:rPr lang="ko-KR" altLang="en-US" dirty="0"/>
              <a:t>, 2))</a:t>
            </a:r>
          </a:p>
          <a:p>
            <a:endParaRPr lang="ko-KR" altLang="en-US" dirty="0"/>
          </a:p>
          <a:p>
            <a:r>
              <a:rPr lang="ko-KR" altLang="en-US" dirty="0"/>
              <a:t># </a:t>
            </a:r>
            <a:r>
              <a:rPr lang="ko-KR" altLang="en-US" dirty="0" err="1"/>
              <a:t>Test</a:t>
            </a:r>
            <a:r>
              <a:rPr lang="ko-KR" altLang="en-US" dirty="0"/>
              <a:t> </a:t>
            </a:r>
            <a:r>
              <a:rPr lang="ko-KR" altLang="en-US" dirty="0" err="1"/>
              <a:t>the</a:t>
            </a:r>
            <a:r>
              <a:rPr lang="ko-KR" altLang="en-US" dirty="0"/>
              <a:t> </a:t>
            </a:r>
            <a:r>
              <a:rPr lang="ko-KR" altLang="en-US" dirty="0" err="1"/>
              <a:t>regressor</a:t>
            </a:r>
            <a:r>
              <a:rPr lang="ko-KR" altLang="en-US" dirty="0"/>
              <a:t> </a:t>
            </a:r>
            <a:r>
              <a:rPr lang="ko-KR" altLang="en-US" dirty="0" err="1"/>
              <a:t>on</a:t>
            </a:r>
            <a:r>
              <a:rPr lang="ko-KR" altLang="en-US" dirty="0"/>
              <a:t> </a:t>
            </a:r>
            <a:r>
              <a:rPr lang="ko-KR" altLang="en-US" dirty="0" err="1"/>
              <a:t>test</a:t>
            </a:r>
            <a:r>
              <a:rPr lang="ko-KR" altLang="en-US" dirty="0"/>
              <a:t> </a:t>
            </a:r>
            <a:r>
              <a:rPr lang="ko-KR" altLang="en-US" dirty="0" err="1"/>
              <a:t>datapoint</a:t>
            </a:r>
            <a:endParaRPr lang="ko-KR" altLang="en-US" dirty="0"/>
          </a:p>
          <a:p>
            <a:r>
              <a:rPr lang="ko-KR" altLang="en-US" dirty="0" err="1"/>
              <a:t>test_data</a:t>
            </a:r>
            <a:r>
              <a:rPr lang="ko-KR" altLang="en-US" dirty="0"/>
              <a:t> = [4.0, 0, 16.5, 0.8, 0.97, 4.96, 92, 3.0052, 31, 444, 19.3, 251.14, 16.3]</a:t>
            </a:r>
          </a:p>
          <a:p>
            <a:r>
              <a:rPr lang="ko-KR" altLang="en-US" dirty="0" err="1"/>
              <a:t>print</a:t>
            </a:r>
            <a:r>
              <a:rPr lang="ko-KR" altLang="en-US" dirty="0"/>
              <a:t>("\</a:t>
            </a:r>
            <a:r>
              <a:rPr lang="ko-KR" altLang="en-US" dirty="0" err="1"/>
              <a:t>nPredicted</a:t>
            </a:r>
            <a:r>
              <a:rPr lang="ko-KR" altLang="en-US" dirty="0"/>
              <a:t> </a:t>
            </a:r>
            <a:r>
              <a:rPr lang="ko-KR" altLang="en-US" dirty="0" err="1"/>
              <a:t>price</a:t>
            </a:r>
            <a:r>
              <a:rPr lang="ko-KR" altLang="en-US" dirty="0"/>
              <a:t>:", </a:t>
            </a:r>
            <a:r>
              <a:rPr lang="ko-KR" altLang="en-US" dirty="0" err="1"/>
              <a:t>sv_regressor.predict</a:t>
            </a:r>
            <a:r>
              <a:rPr lang="ko-KR" altLang="en-US" dirty="0"/>
              <a:t>([</a:t>
            </a:r>
            <a:r>
              <a:rPr lang="ko-KR" altLang="en-US" dirty="0" err="1"/>
              <a:t>test_data</a:t>
            </a:r>
            <a:r>
              <a:rPr lang="ko-KR" altLang="en-US" dirty="0"/>
              <a:t>])[0])</a:t>
            </a:r>
          </a:p>
        </p:txBody>
      </p:sp>
    </p:spTree>
    <p:extLst>
      <p:ext uri="{BB962C8B-B14F-4D97-AF65-F5344CB8AC3E}">
        <p14:creationId xmlns:p14="http://schemas.microsoft.com/office/powerpoint/2010/main" val="4293330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StackingRegressor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09823"/>
            <a:ext cx="10515600" cy="1168062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Stacking </a:t>
            </a:r>
            <a:r>
              <a:rPr lang="ko-KR" altLang="en-US" dirty="0" smtClean="0"/>
              <a:t>기법을 사용한 </a:t>
            </a:r>
            <a:r>
              <a:rPr lang="en-US" altLang="ko-KR" dirty="0" err="1" smtClean="0"/>
              <a:t>regressor</a:t>
            </a:r>
            <a:r>
              <a:rPr lang="en-US" altLang="ko-KR" dirty="0" smtClean="0"/>
              <a:t> (</a:t>
            </a:r>
            <a:r>
              <a:rPr lang="ko-KR" altLang="en-US" dirty="0" smtClean="0"/>
              <a:t>앙상블 분류기 참조</a:t>
            </a:r>
            <a:r>
              <a:rPr lang="en-US" altLang="ko-KR" dirty="0" smtClean="0"/>
              <a:t>)</a:t>
            </a:r>
          </a:p>
          <a:p>
            <a:r>
              <a:rPr lang="en-US" altLang="ko-KR" dirty="0" err="1" smtClean="0"/>
              <a:t>sklearn.ensemble.StackingRegressor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 이용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040674" y="2677885"/>
            <a:ext cx="10110651" cy="397031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 err="1"/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sklearn.datasets</a:t>
            </a:r>
            <a:r>
              <a:rPr lang="ko-KR" altLang="en-US" dirty="0"/>
              <a:t> </a:t>
            </a:r>
            <a:r>
              <a:rPr lang="ko-KR" altLang="en-US" dirty="0" err="1"/>
              <a:t>import</a:t>
            </a:r>
            <a:r>
              <a:rPr lang="ko-KR" altLang="en-US" dirty="0"/>
              <a:t> </a:t>
            </a:r>
            <a:r>
              <a:rPr lang="ko-KR" altLang="en-US" dirty="0" err="1"/>
              <a:t>load_diabetes</a:t>
            </a:r>
            <a:endParaRPr lang="ko-KR" altLang="en-US" dirty="0"/>
          </a:p>
          <a:p>
            <a:r>
              <a:rPr lang="ko-KR" altLang="en-US" dirty="0" err="1"/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sklearn.linear_model</a:t>
            </a:r>
            <a:r>
              <a:rPr lang="ko-KR" altLang="en-US" dirty="0"/>
              <a:t> </a:t>
            </a:r>
            <a:r>
              <a:rPr lang="ko-KR" altLang="en-US" dirty="0" err="1"/>
              <a:t>import</a:t>
            </a:r>
            <a:r>
              <a:rPr lang="ko-KR" altLang="en-US" dirty="0"/>
              <a:t> </a:t>
            </a:r>
            <a:r>
              <a:rPr lang="en-US" altLang="ko-KR" dirty="0" err="1"/>
              <a:t>LinearRegression</a:t>
            </a:r>
            <a:r>
              <a:rPr lang="en-US" altLang="ko-KR" dirty="0"/>
              <a:t> </a:t>
            </a:r>
            <a:endParaRPr lang="ko-KR" altLang="en-US" dirty="0"/>
          </a:p>
          <a:p>
            <a:r>
              <a:rPr lang="ko-KR" altLang="en-US" dirty="0" err="1"/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sklearn.svm</a:t>
            </a:r>
            <a:r>
              <a:rPr lang="ko-KR" altLang="en-US" dirty="0"/>
              <a:t> </a:t>
            </a:r>
            <a:r>
              <a:rPr lang="ko-KR" altLang="en-US" dirty="0" err="1"/>
              <a:t>import</a:t>
            </a:r>
            <a:r>
              <a:rPr lang="ko-KR" altLang="en-US" dirty="0"/>
              <a:t> </a:t>
            </a:r>
            <a:r>
              <a:rPr lang="ko-KR" altLang="en-US" dirty="0" err="1"/>
              <a:t>LinearSVR</a:t>
            </a:r>
            <a:endParaRPr lang="ko-KR" altLang="en-US" dirty="0"/>
          </a:p>
          <a:p>
            <a:r>
              <a:rPr lang="ko-KR" altLang="en-US" dirty="0" err="1"/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sklearn.ensemble</a:t>
            </a:r>
            <a:r>
              <a:rPr lang="ko-KR" altLang="en-US" dirty="0"/>
              <a:t> </a:t>
            </a:r>
            <a:r>
              <a:rPr lang="ko-KR" altLang="en-US" dirty="0" err="1"/>
              <a:t>import</a:t>
            </a:r>
            <a:r>
              <a:rPr lang="ko-KR" altLang="en-US" dirty="0"/>
              <a:t> </a:t>
            </a:r>
            <a:r>
              <a:rPr lang="ko-KR" altLang="en-US" dirty="0" err="1"/>
              <a:t>RandomForestRegressor</a:t>
            </a:r>
            <a:endParaRPr lang="ko-KR" altLang="en-US" dirty="0"/>
          </a:p>
          <a:p>
            <a:r>
              <a:rPr lang="ko-KR" altLang="en-US" dirty="0" err="1"/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sklearn.ensemble</a:t>
            </a:r>
            <a:r>
              <a:rPr lang="ko-KR" altLang="en-US" dirty="0"/>
              <a:t> </a:t>
            </a:r>
            <a:r>
              <a:rPr lang="ko-KR" altLang="en-US" dirty="0" err="1"/>
              <a:t>import</a:t>
            </a:r>
            <a:r>
              <a:rPr lang="ko-KR" altLang="en-US" dirty="0"/>
              <a:t> </a:t>
            </a:r>
            <a:r>
              <a:rPr lang="ko-KR" altLang="en-US" dirty="0" err="1" smtClean="0"/>
              <a:t>StackingRegressor</a:t>
            </a:r>
            <a:endParaRPr lang="en-US" altLang="ko-KR" dirty="0" smtClean="0"/>
          </a:p>
          <a:p>
            <a:endParaRPr lang="ko-KR" altLang="en-US" dirty="0"/>
          </a:p>
          <a:p>
            <a:r>
              <a:rPr lang="ko-KR" altLang="en-US" dirty="0" err="1"/>
              <a:t>X</a:t>
            </a:r>
            <a:r>
              <a:rPr lang="ko-KR" altLang="en-US" dirty="0"/>
              <a:t>, </a:t>
            </a:r>
            <a:r>
              <a:rPr lang="ko-KR" altLang="en-US" dirty="0" err="1"/>
              <a:t>y</a:t>
            </a:r>
            <a:r>
              <a:rPr lang="ko-KR" altLang="en-US" dirty="0"/>
              <a:t> = </a:t>
            </a:r>
            <a:r>
              <a:rPr lang="ko-KR" altLang="en-US" dirty="0" err="1"/>
              <a:t>load_diabetes</a:t>
            </a:r>
            <a:r>
              <a:rPr lang="ko-KR" altLang="en-US" dirty="0"/>
              <a:t>(</a:t>
            </a:r>
            <a:r>
              <a:rPr lang="ko-KR" altLang="en-US" dirty="0" err="1"/>
              <a:t>return_X_y</a:t>
            </a:r>
            <a:r>
              <a:rPr lang="ko-KR" altLang="en-US" dirty="0"/>
              <a:t>=</a:t>
            </a:r>
            <a:r>
              <a:rPr lang="ko-KR" altLang="en-US" dirty="0" err="1"/>
              <a:t>True</a:t>
            </a:r>
            <a:r>
              <a:rPr lang="ko-KR" altLang="en-US" dirty="0"/>
              <a:t>)</a:t>
            </a:r>
          </a:p>
          <a:p>
            <a:r>
              <a:rPr lang="ko-KR" altLang="en-US" dirty="0" err="1"/>
              <a:t>estimators</a:t>
            </a:r>
            <a:r>
              <a:rPr lang="ko-KR" altLang="en-US" dirty="0"/>
              <a:t> = [('</a:t>
            </a:r>
            <a:r>
              <a:rPr lang="ko-KR" altLang="en-US" dirty="0" err="1"/>
              <a:t>lr</a:t>
            </a:r>
            <a:r>
              <a:rPr lang="ko-KR" altLang="en-US" dirty="0"/>
              <a:t>', </a:t>
            </a:r>
            <a:r>
              <a:rPr lang="en-US" altLang="ko-KR" dirty="0" err="1"/>
              <a:t>LinearRegression</a:t>
            </a:r>
            <a:r>
              <a:rPr lang="ko-KR" altLang="en-US" dirty="0" smtClean="0"/>
              <a:t>()), </a:t>
            </a:r>
            <a:r>
              <a:rPr lang="ko-KR" altLang="en-US" dirty="0"/>
              <a:t>('</a:t>
            </a:r>
            <a:r>
              <a:rPr lang="ko-KR" altLang="en-US" dirty="0" err="1"/>
              <a:t>svr</a:t>
            </a:r>
            <a:r>
              <a:rPr lang="ko-KR" altLang="en-US" dirty="0"/>
              <a:t>', </a:t>
            </a:r>
            <a:r>
              <a:rPr lang="ko-KR" altLang="en-US" dirty="0" err="1"/>
              <a:t>LinearSVR</a:t>
            </a:r>
            <a:r>
              <a:rPr lang="ko-KR" altLang="en-US" dirty="0"/>
              <a:t>(</a:t>
            </a:r>
            <a:r>
              <a:rPr lang="ko-KR" altLang="en-US" dirty="0" err="1"/>
              <a:t>random_state</a:t>
            </a:r>
            <a:r>
              <a:rPr lang="ko-KR" altLang="en-US" dirty="0"/>
              <a:t>=42))]</a:t>
            </a:r>
          </a:p>
          <a:p>
            <a:r>
              <a:rPr lang="ko-KR" altLang="en-US" dirty="0" err="1"/>
              <a:t>reg</a:t>
            </a:r>
            <a:r>
              <a:rPr lang="ko-KR" altLang="en-US" dirty="0"/>
              <a:t> = </a:t>
            </a:r>
            <a:r>
              <a:rPr lang="ko-KR" altLang="en-US" dirty="0" err="1"/>
              <a:t>StackingRegressor</a:t>
            </a:r>
            <a:r>
              <a:rPr lang="ko-KR" altLang="en-US" dirty="0"/>
              <a:t>(</a:t>
            </a:r>
            <a:r>
              <a:rPr lang="ko-KR" altLang="en-US" dirty="0" err="1"/>
              <a:t>estimators</a:t>
            </a:r>
            <a:r>
              <a:rPr lang="ko-KR" altLang="en-US" dirty="0"/>
              <a:t>=</a:t>
            </a:r>
            <a:r>
              <a:rPr lang="ko-KR" altLang="en-US" dirty="0" err="1"/>
              <a:t>estimators</a:t>
            </a:r>
            <a:r>
              <a:rPr lang="ko-KR" altLang="en-US" dirty="0"/>
              <a:t>,</a:t>
            </a:r>
          </a:p>
          <a:p>
            <a:r>
              <a:rPr lang="ko-KR" altLang="en-US" dirty="0"/>
              <a:t>     </a:t>
            </a:r>
            <a:r>
              <a:rPr lang="ko-KR" altLang="en-US" dirty="0" err="1"/>
              <a:t>final_estimator</a:t>
            </a:r>
            <a:r>
              <a:rPr lang="ko-KR" altLang="en-US" dirty="0"/>
              <a:t>=</a:t>
            </a:r>
            <a:r>
              <a:rPr lang="ko-KR" altLang="en-US" dirty="0" err="1"/>
              <a:t>RandomForestRegressor</a:t>
            </a:r>
            <a:r>
              <a:rPr lang="ko-KR" altLang="en-US" dirty="0"/>
              <a:t>(</a:t>
            </a:r>
            <a:r>
              <a:rPr lang="ko-KR" altLang="en-US" dirty="0" err="1"/>
              <a:t>n_estimators</a:t>
            </a:r>
            <a:r>
              <a:rPr lang="ko-KR" altLang="en-US" dirty="0"/>
              <a:t>=10, </a:t>
            </a:r>
            <a:r>
              <a:rPr lang="ko-KR" altLang="en-US" dirty="0" err="1"/>
              <a:t>random_state</a:t>
            </a:r>
            <a:r>
              <a:rPr lang="ko-KR" altLang="en-US" dirty="0"/>
              <a:t>=42))</a:t>
            </a:r>
          </a:p>
          <a:p>
            <a:endParaRPr lang="ko-KR" altLang="en-US" dirty="0"/>
          </a:p>
          <a:p>
            <a:r>
              <a:rPr lang="ko-KR" altLang="en-US" dirty="0" err="1"/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sklearn.model_selection</a:t>
            </a:r>
            <a:r>
              <a:rPr lang="ko-KR" altLang="en-US" dirty="0"/>
              <a:t> </a:t>
            </a:r>
            <a:r>
              <a:rPr lang="ko-KR" altLang="en-US" dirty="0" err="1"/>
              <a:t>import</a:t>
            </a:r>
            <a:r>
              <a:rPr lang="ko-KR" altLang="en-US" dirty="0"/>
              <a:t> </a:t>
            </a:r>
            <a:r>
              <a:rPr lang="ko-KR" altLang="en-US" dirty="0" err="1"/>
              <a:t>train_test_split</a:t>
            </a:r>
            <a:endParaRPr lang="ko-KR" altLang="en-US" dirty="0"/>
          </a:p>
          <a:p>
            <a:r>
              <a:rPr lang="ko-KR" altLang="en-US" dirty="0" err="1"/>
              <a:t>X_train</a:t>
            </a:r>
            <a:r>
              <a:rPr lang="ko-KR" altLang="en-US" dirty="0"/>
              <a:t>, </a:t>
            </a:r>
            <a:r>
              <a:rPr lang="ko-KR" altLang="en-US" dirty="0" err="1"/>
              <a:t>X_test</a:t>
            </a:r>
            <a:r>
              <a:rPr lang="ko-KR" altLang="en-US" dirty="0"/>
              <a:t>, </a:t>
            </a:r>
            <a:r>
              <a:rPr lang="ko-KR" altLang="en-US" dirty="0" err="1"/>
              <a:t>y_train</a:t>
            </a:r>
            <a:r>
              <a:rPr lang="ko-KR" altLang="en-US" dirty="0"/>
              <a:t>, </a:t>
            </a:r>
            <a:r>
              <a:rPr lang="ko-KR" altLang="en-US" dirty="0" err="1"/>
              <a:t>y_test</a:t>
            </a:r>
            <a:r>
              <a:rPr lang="ko-KR" altLang="en-US" dirty="0"/>
              <a:t> = </a:t>
            </a:r>
            <a:r>
              <a:rPr lang="ko-KR" altLang="en-US" dirty="0" err="1"/>
              <a:t>train_test_split</a:t>
            </a:r>
            <a:r>
              <a:rPr lang="ko-KR" altLang="en-US" dirty="0"/>
              <a:t>(</a:t>
            </a:r>
            <a:r>
              <a:rPr lang="ko-KR" altLang="en-US" dirty="0" err="1"/>
              <a:t>X</a:t>
            </a:r>
            <a:r>
              <a:rPr lang="ko-KR" altLang="en-US" dirty="0"/>
              <a:t>, </a:t>
            </a:r>
            <a:r>
              <a:rPr lang="ko-KR" altLang="en-US" dirty="0" err="1"/>
              <a:t>y</a:t>
            </a:r>
            <a:r>
              <a:rPr lang="ko-KR" altLang="en-US" dirty="0"/>
              <a:t>, </a:t>
            </a:r>
            <a:r>
              <a:rPr lang="ko-KR" altLang="en-US" dirty="0" err="1"/>
              <a:t>random_state</a:t>
            </a:r>
            <a:r>
              <a:rPr lang="ko-KR" altLang="en-US" dirty="0"/>
              <a:t>=42)</a:t>
            </a:r>
          </a:p>
          <a:p>
            <a:r>
              <a:rPr lang="ko-KR" altLang="en-US" dirty="0" err="1"/>
              <a:t>print</a:t>
            </a:r>
            <a:r>
              <a:rPr lang="ko-KR" altLang="en-US" dirty="0"/>
              <a:t>(</a:t>
            </a:r>
            <a:r>
              <a:rPr lang="ko-KR" altLang="en-US" dirty="0" err="1"/>
              <a:t>reg.fit</a:t>
            </a:r>
            <a:r>
              <a:rPr lang="ko-KR" altLang="en-US" dirty="0"/>
              <a:t>(</a:t>
            </a:r>
            <a:r>
              <a:rPr lang="ko-KR" altLang="en-US" dirty="0" err="1"/>
              <a:t>X_train</a:t>
            </a:r>
            <a:r>
              <a:rPr lang="ko-KR" altLang="en-US" dirty="0"/>
              <a:t>, </a:t>
            </a:r>
            <a:r>
              <a:rPr lang="ko-KR" altLang="en-US" dirty="0" err="1"/>
              <a:t>y_train</a:t>
            </a:r>
            <a:r>
              <a:rPr lang="ko-KR" altLang="en-US" dirty="0"/>
              <a:t>).</a:t>
            </a:r>
            <a:r>
              <a:rPr lang="ko-KR" altLang="en-US" dirty="0" err="1"/>
              <a:t>score</a:t>
            </a:r>
            <a:r>
              <a:rPr lang="ko-KR" altLang="en-US" dirty="0"/>
              <a:t>(</a:t>
            </a:r>
            <a:r>
              <a:rPr lang="ko-KR" altLang="en-US" dirty="0" err="1"/>
              <a:t>X_test</a:t>
            </a:r>
            <a:r>
              <a:rPr lang="ko-KR" altLang="en-US" dirty="0"/>
              <a:t>, </a:t>
            </a:r>
            <a:r>
              <a:rPr lang="ko-KR" altLang="en-US" dirty="0" err="1"/>
              <a:t>y_test</a:t>
            </a:r>
            <a:r>
              <a:rPr lang="ko-KR" altLang="en-US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191564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3098</TotalTime>
  <Words>1872</Words>
  <Application>Microsoft Office PowerPoint</Application>
  <PresentationFormat>와이드스크린</PresentationFormat>
  <Paragraphs>234</Paragraphs>
  <Slides>21</Slides>
  <Notes>4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3" baseType="lpstr">
      <vt:lpstr>Arial Unicode MS</vt:lpstr>
      <vt:lpstr>inherit</vt:lpstr>
      <vt:lpstr>MS PGothic</vt:lpstr>
      <vt:lpstr>맑은 고딕</vt:lpstr>
      <vt:lpstr>Arial</vt:lpstr>
      <vt:lpstr>Cambria Math</vt:lpstr>
      <vt:lpstr>Minion Pro SmBd</vt:lpstr>
      <vt:lpstr>MinionPro-It</vt:lpstr>
      <vt:lpstr>Symbol</vt:lpstr>
      <vt:lpstr>Times New Roman</vt:lpstr>
      <vt:lpstr>Office 테마</vt:lpstr>
      <vt:lpstr>Equation</vt:lpstr>
      <vt:lpstr>Regression</vt:lpstr>
      <vt:lpstr>Regression</vt:lpstr>
      <vt:lpstr>Regression</vt:lpstr>
      <vt:lpstr>Linear Regression</vt:lpstr>
      <vt:lpstr>Linear Regression</vt:lpstr>
      <vt:lpstr>How do we "learn" parameters</vt:lpstr>
      <vt:lpstr>Multiple Linear Regression</vt:lpstr>
      <vt:lpstr>Multiple Linear Regression</vt:lpstr>
      <vt:lpstr>Multiple Linear Regression</vt:lpstr>
      <vt:lpstr>Multiple Linear Regression</vt:lpstr>
      <vt:lpstr>Multiple Linear Regression</vt:lpstr>
      <vt:lpstr>Multiple Linear Regression</vt:lpstr>
      <vt:lpstr>Multiple Linear Regression</vt:lpstr>
      <vt:lpstr>Polynomial Regression</vt:lpstr>
      <vt:lpstr>Polynomial Regression</vt:lpstr>
      <vt:lpstr>Polynomial Regression</vt:lpstr>
      <vt:lpstr>Polynomial Regression</vt:lpstr>
      <vt:lpstr>Support Vector Regressor</vt:lpstr>
      <vt:lpstr>Support Vector Regressor</vt:lpstr>
      <vt:lpstr>Support Vector Regressor</vt:lpstr>
      <vt:lpstr>StackingRegressor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</dc:title>
  <dc:creator>user</dc:creator>
  <cp:lastModifiedBy>user</cp:lastModifiedBy>
  <cp:revision>40</cp:revision>
  <dcterms:created xsi:type="dcterms:W3CDTF">2021-02-24T05:20:29Z</dcterms:created>
  <dcterms:modified xsi:type="dcterms:W3CDTF">2021-05-25T05:07:26Z</dcterms:modified>
</cp:coreProperties>
</file>