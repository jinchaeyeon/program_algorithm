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125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6953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188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1478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8513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8294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81509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89765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2867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0528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71695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4779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DB965-E539-4651-9EFA-9C651CE3A020}" type="datetimeFigureOut">
              <a:rPr lang="ko-KR" altLang="en-US" smtClean="0"/>
              <a:pPr/>
              <a:t>2021-04-06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DEABF-E89A-4798-BBEC-AF40B78495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61641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lang="en-US" sz="2400" kern="0" dirty="0" smtClean="0">
              <a:solidFill>
                <a:srgbClr val="161A1C"/>
              </a:solidFill>
              <a:latin typeface="Calibri" pitchFamily="34" charset="0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</a:p>
        </p:txBody>
      </p:sp>
      <p:grpSp>
        <p:nvGrpSpPr>
          <p:cNvPr id="8" name="Group 9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D</a:t>
              </a: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1.6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3.3</a:t>
            </a:r>
          </a:p>
        </p:txBody>
      </p:sp>
      <p:grpSp>
        <p:nvGrpSpPr>
          <p:cNvPr id="17" name="Group 2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E</a:t>
              </a:r>
            </a:p>
          </p:txBody>
        </p:sp>
      </p:grpSp>
      <p:grpSp>
        <p:nvGrpSpPr>
          <p:cNvPr id="20" name="Group 2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F</a:t>
              </a: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 bwMode="auto"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1.9</a:t>
            </a: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 bwMode="auto"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grpSp>
        <p:nvGrpSpPr>
          <p:cNvPr id="29" name="Group 37"/>
          <p:cNvGrpSpPr/>
          <p:nvPr/>
        </p:nvGrpSpPr>
        <p:grpSpPr>
          <a:xfrm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G</a:t>
              </a: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 bwMode="auto"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1.4</a:t>
            </a:r>
          </a:p>
        </p:txBody>
      </p:sp>
      <p:sp>
        <p:nvSpPr>
          <p:cNvPr id="34" name="TextBox 33"/>
          <p:cNvSpPr txBox="1"/>
          <p:nvPr/>
        </p:nvSpPr>
        <p:spPr bwMode="auto">
          <a:xfrm>
            <a:off x="7315723" y="2266656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(1)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5" name="TextBox 34"/>
          <p:cNvSpPr txBox="1"/>
          <p:nvPr/>
        </p:nvSpPr>
        <p:spPr bwMode="auto"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(0)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6" name="TextBox 35"/>
          <p:cNvSpPr txBox="1"/>
          <p:nvPr/>
        </p:nvSpPr>
        <p:spPr bwMode="auto">
          <a:xfrm>
            <a:off x="7315723" y="111908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4235596" y="115292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(3)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3804878" y="2743624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540152" y="1757532"/>
            <a:ext cx="6158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0 (4)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1417586" y="409095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2830763" y="4878502"/>
            <a:ext cx="1686680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</a:t>
            </a:r>
            <a:r>
              <a:rPr lang="en-US" altLang="ko-KR" sz="2400" kern="0" dirty="0" smtClean="0">
                <a:solidFill>
                  <a:srgbClr val="161A1C"/>
                </a:solidFill>
                <a:latin typeface="Calibri" pitchFamily="34" charset="0"/>
              </a:rPr>
              <a:t>A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742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lang="en-US" sz="2400" kern="0" dirty="0" smtClean="0">
              <a:solidFill>
                <a:srgbClr val="161A1C"/>
              </a:solidFill>
              <a:latin typeface="Calibri" pitchFamily="34" charset="0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</a:p>
        </p:txBody>
      </p:sp>
      <p:grpSp>
        <p:nvGrpSpPr>
          <p:cNvPr id="8" name="Group 9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D</a:t>
              </a: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1.6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3.3</a:t>
            </a:r>
          </a:p>
        </p:txBody>
      </p:sp>
      <p:grpSp>
        <p:nvGrpSpPr>
          <p:cNvPr id="17" name="Group 2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E</a:t>
              </a:r>
            </a:p>
          </p:txBody>
        </p:sp>
      </p:grpSp>
      <p:grpSp>
        <p:nvGrpSpPr>
          <p:cNvPr id="20" name="Group 2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F</a:t>
              </a: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 bwMode="auto"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1.9</a:t>
            </a: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 bwMode="auto"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grpSp>
        <p:nvGrpSpPr>
          <p:cNvPr id="29" name="Group 37"/>
          <p:cNvGrpSpPr/>
          <p:nvPr/>
        </p:nvGrpSpPr>
        <p:grpSpPr>
          <a:xfrm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G</a:t>
              </a: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 bwMode="auto"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1.4</a:t>
            </a:r>
          </a:p>
        </p:txBody>
      </p:sp>
      <p:sp>
        <p:nvSpPr>
          <p:cNvPr id="34" name="TextBox 33"/>
          <p:cNvSpPr txBox="1"/>
          <p:nvPr/>
        </p:nvSpPr>
        <p:spPr bwMode="auto">
          <a:xfrm>
            <a:off x="7315723" y="2266656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(1)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5" name="TextBox 34"/>
          <p:cNvSpPr txBox="1"/>
          <p:nvPr/>
        </p:nvSpPr>
        <p:spPr bwMode="auto"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(0)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6" name="TextBox 35"/>
          <p:cNvSpPr txBox="1"/>
          <p:nvPr/>
        </p:nvSpPr>
        <p:spPr bwMode="auto">
          <a:xfrm>
            <a:off x="7315723" y="111908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4235596" y="115292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(3)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3804878" y="2743624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540152" y="1757532"/>
            <a:ext cx="6158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0 (4)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1417586" y="409095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2830763" y="4878502"/>
            <a:ext cx="2182008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B,C,D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742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lang="en-US" sz="2400" kern="0" dirty="0" smtClean="0">
              <a:solidFill>
                <a:srgbClr val="161A1C"/>
              </a:solidFill>
              <a:latin typeface="Calibri" pitchFamily="34" charset="0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</a:p>
        </p:txBody>
      </p:sp>
      <p:grpSp>
        <p:nvGrpSpPr>
          <p:cNvPr id="8" name="Group 9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D</a:t>
              </a: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1.6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3.3</a:t>
            </a:r>
          </a:p>
        </p:txBody>
      </p:sp>
      <p:grpSp>
        <p:nvGrpSpPr>
          <p:cNvPr id="17" name="Group 2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E</a:t>
              </a:r>
            </a:p>
          </p:txBody>
        </p:sp>
      </p:grpSp>
      <p:grpSp>
        <p:nvGrpSpPr>
          <p:cNvPr id="20" name="Group 2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F</a:t>
              </a: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 bwMode="auto"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1.9</a:t>
            </a: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 bwMode="auto"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grpSp>
        <p:nvGrpSpPr>
          <p:cNvPr id="29" name="Group 37"/>
          <p:cNvGrpSpPr/>
          <p:nvPr/>
        </p:nvGrpSpPr>
        <p:grpSpPr>
          <a:xfrm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G</a:t>
              </a: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 bwMode="auto"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1.4</a:t>
            </a:r>
          </a:p>
        </p:txBody>
      </p:sp>
      <p:sp>
        <p:nvSpPr>
          <p:cNvPr id="34" name="TextBox 33"/>
          <p:cNvSpPr txBox="1"/>
          <p:nvPr/>
        </p:nvSpPr>
        <p:spPr bwMode="auto">
          <a:xfrm>
            <a:off x="7315723" y="2266656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(1)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5" name="TextBox 34"/>
          <p:cNvSpPr txBox="1"/>
          <p:nvPr/>
        </p:nvSpPr>
        <p:spPr bwMode="auto"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(0)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6" name="TextBox 35"/>
          <p:cNvSpPr txBox="1"/>
          <p:nvPr/>
        </p:nvSpPr>
        <p:spPr bwMode="auto">
          <a:xfrm>
            <a:off x="7315723" y="111908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4235596" y="115292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(3)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3804878" y="2743624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540152" y="1757532"/>
            <a:ext cx="6158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0 (4)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1417586" y="409095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2830763" y="4878502"/>
            <a:ext cx="2383986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C,D,E,F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7429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4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lang="en-US" sz="2400" kern="0" dirty="0" smtClean="0">
              <a:solidFill>
                <a:srgbClr val="161A1C"/>
              </a:solidFill>
              <a:latin typeface="Calibri" pitchFamily="34" charset="0"/>
            </a:endParaRPr>
          </a:p>
        </p:txBody>
      </p:sp>
      <p:sp>
        <p:nvSpPr>
          <p:cNvPr id="6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</a:p>
        </p:txBody>
      </p:sp>
      <p:grpSp>
        <p:nvGrpSpPr>
          <p:cNvPr id="8" name="Group 9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9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D</a:t>
              </a:r>
            </a:p>
          </p:txBody>
        </p:sp>
      </p:grpSp>
      <p:cxnSp>
        <p:nvCxnSpPr>
          <p:cNvPr id="11" name="Straight Arrow Connector 12"/>
          <p:cNvCxnSpPr>
            <a:stCxn id="2" idx="6"/>
            <a:endCxn id="4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3"/>
          <p:cNvCxnSpPr>
            <a:stCxn id="2" idx="5"/>
            <a:endCxn id="6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3" name="Straight Arrow Connector 14"/>
          <p:cNvCxnSpPr>
            <a:stCxn id="2" idx="4"/>
            <a:endCxn id="9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2589705" y="1691965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484557" y="2749748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1.6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1384501" y="3461873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3.3</a:t>
            </a:r>
          </a:p>
        </p:txBody>
      </p:sp>
      <p:grpSp>
        <p:nvGrpSpPr>
          <p:cNvPr id="17" name="Group 2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18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E</a:t>
              </a:r>
            </a:p>
          </p:txBody>
        </p:sp>
      </p:grpSp>
      <p:grpSp>
        <p:nvGrpSpPr>
          <p:cNvPr id="20" name="Group 2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1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F</a:t>
              </a:r>
            </a:p>
          </p:txBody>
        </p:sp>
      </p:grpSp>
      <p:cxnSp>
        <p:nvCxnSpPr>
          <p:cNvPr id="23" name="Straight Arrow Connector 28"/>
          <p:cNvCxnSpPr>
            <a:stCxn id="4" idx="6"/>
            <a:endCxn id="18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9"/>
          <p:cNvCxnSpPr>
            <a:stCxn id="4" idx="6"/>
            <a:endCxn id="21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 bwMode="auto">
          <a:xfrm>
            <a:off x="5096203" y="116398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096202" y="2266656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1.9</a:t>
            </a:r>
          </a:p>
        </p:txBody>
      </p:sp>
      <p:cxnSp>
        <p:nvCxnSpPr>
          <p:cNvPr id="27" name="Straight Arrow Connector 35"/>
          <p:cNvCxnSpPr>
            <a:stCxn id="6" idx="3"/>
            <a:endCxn id="9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 bwMode="auto">
          <a:xfrm>
            <a:off x="2986457" y="4216481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1.3</a:t>
            </a:r>
          </a:p>
        </p:txBody>
      </p:sp>
      <p:grpSp>
        <p:nvGrpSpPr>
          <p:cNvPr id="29" name="Group 37"/>
          <p:cNvGrpSpPr/>
          <p:nvPr/>
        </p:nvGrpSpPr>
        <p:grpSpPr>
          <a:xfrm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0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</a:rPr>
                <a:t>G</a:t>
              </a:r>
            </a:p>
          </p:txBody>
        </p:sp>
      </p:grpSp>
      <p:cxnSp>
        <p:nvCxnSpPr>
          <p:cNvPr id="32" name="Straight Arrow Connector 41"/>
          <p:cNvCxnSpPr>
            <a:stCxn id="21" idx="4"/>
            <a:endCxn id="30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 bwMode="auto">
          <a:xfrm>
            <a:off x="6858000" y="3157769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None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1.4</a:t>
            </a:r>
          </a:p>
        </p:txBody>
      </p:sp>
      <p:sp>
        <p:nvSpPr>
          <p:cNvPr id="34" name="TextBox 33"/>
          <p:cNvSpPr txBox="1"/>
          <p:nvPr/>
        </p:nvSpPr>
        <p:spPr bwMode="auto">
          <a:xfrm>
            <a:off x="7315723" y="2266656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(1)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5" name="TextBox 34"/>
          <p:cNvSpPr txBox="1"/>
          <p:nvPr/>
        </p:nvSpPr>
        <p:spPr bwMode="auto">
          <a:xfrm>
            <a:off x="7319224" y="399817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(0)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6" name="TextBox 35"/>
          <p:cNvSpPr txBox="1"/>
          <p:nvPr/>
        </p:nvSpPr>
        <p:spPr bwMode="auto">
          <a:xfrm>
            <a:off x="7315723" y="111908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4235596" y="1152929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(3)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3804878" y="2743624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540152" y="1757532"/>
            <a:ext cx="6158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0 (4)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1417586" y="4090955"/>
            <a:ext cx="445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altLang="ko-KR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(5)</a:t>
            </a:r>
            <a:endParaRPr kumimoji="0" lang="en-US" b="1" i="0" u="none" strike="noStrike" kern="0" cap="none" spc="0" normalizeH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2830763" y="4878502"/>
            <a:ext cx="2311851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A,B,F</a:t>
            </a:r>
          </a:p>
          <a:p>
            <a:pPr fontAlgn="base" latinLnBrk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</a:t>
            </a:r>
            <a:r>
              <a:rPr lang="en-US" altLang="ko-KR" sz="2400" kern="0" dirty="0" smtClean="0">
                <a:solidFill>
                  <a:srgbClr val="161A1C"/>
                </a:solidFill>
                <a:latin typeface="Calibri" pitchFamily="34" charset="0"/>
              </a:rPr>
              <a:t> C,D,E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742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7098" y="1580605"/>
            <a:ext cx="899377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800" dirty="0" smtClean="0"/>
              <a:t>인공지능 </a:t>
            </a:r>
            <a:r>
              <a:rPr lang="en-US" altLang="ko-KR" sz="2800" dirty="0" smtClean="0"/>
              <a:t>8-PUZZLE </a:t>
            </a:r>
            <a:r>
              <a:rPr lang="ko-KR" altLang="en-US" sz="2800" dirty="0" smtClean="0"/>
              <a:t>과제</a:t>
            </a:r>
          </a:p>
          <a:p>
            <a:pPr fontAlgn="base" latinLnBrk="0"/>
            <a:r>
              <a:rPr lang="ko-KR" altLang="en-US" dirty="0" smtClean="0"/>
              <a:t>							 </a:t>
            </a:r>
            <a:r>
              <a:rPr lang="en-US" altLang="ko-KR" dirty="0" smtClean="0"/>
              <a:t>20191141 </a:t>
            </a:r>
            <a:r>
              <a:rPr lang="ko-KR" altLang="en-US" dirty="0" err="1" smtClean="0"/>
              <a:t>진채연</a:t>
            </a:r>
            <a:endParaRPr lang="en-US" altLang="ko-KR" dirty="0" smtClean="0"/>
          </a:p>
          <a:p>
            <a:pPr fontAlgn="base" latinLnBrk="0"/>
            <a:endParaRPr lang="ko-KR" altLang="en-US" dirty="0" smtClean="0"/>
          </a:p>
          <a:p>
            <a:pPr fontAlgn="base" latinLnBrk="0"/>
            <a:r>
              <a:rPr lang="en-US" altLang="ko-KR" dirty="0" smtClean="0"/>
              <a:t>greedy </a:t>
            </a:r>
            <a:r>
              <a:rPr lang="ko-KR" altLang="en-US" dirty="0" smtClean="0"/>
              <a:t>알고리즘은 </a:t>
            </a:r>
            <a:r>
              <a:rPr lang="ko-KR" altLang="en-US" dirty="0" err="1" smtClean="0"/>
              <a:t>휴리스틱의</a:t>
            </a:r>
            <a:r>
              <a:rPr lang="ko-KR" altLang="en-US" dirty="0" smtClean="0"/>
              <a:t> 초기설정을 잘못하면 최적의 해를 찾지 못한다</a:t>
            </a:r>
            <a:r>
              <a:rPr lang="en-US" altLang="ko-KR" dirty="0" smtClean="0"/>
              <a:t>. </a:t>
            </a:r>
            <a:endParaRPr lang="ko-KR" altLang="en-US" dirty="0" smtClean="0"/>
          </a:p>
          <a:p>
            <a:pPr fontAlgn="base" latinLnBrk="0"/>
            <a:r>
              <a:rPr lang="en-US" altLang="ko-KR" dirty="0" smtClean="0"/>
              <a:t>uniform cost </a:t>
            </a:r>
            <a:r>
              <a:rPr lang="ko-KR" altLang="en-US" dirty="0" smtClean="0"/>
              <a:t>알고리즘은 </a:t>
            </a:r>
            <a:r>
              <a:rPr lang="en-US" altLang="ko-KR" dirty="0" smtClean="0"/>
              <a:t>bps</a:t>
            </a:r>
            <a:r>
              <a:rPr lang="ko-KR" altLang="en-US" dirty="0" smtClean="0"/>
              <a:t>와 비슷한 형태를 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최적의 해의 깊이가 높을수록 탐색하는 시간이 느리다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fontAlgn="base" latinLnBrk="0"/>
            <a:r>
              <a:rPr lang="en-US" altLang="ko-KR" dirty="0" smtClean="0"/>
              <a:t>A* </a:t>
            </a:r>
            <a:r>
              <a:rPr lang="ko-KR" altLang="en-US" dirty="0" smtClean="0"/>
              <a:t>알고리즘은 </a:t>
            </a:r>
            <a:r>
              <a:rPr lang="ko-KR" altLang="en-US" dirty="0" err="1" smtClean="0"/>
              <a:t>휴리스틱</a:t>
            </a:r>
            <a:r>
              <a:rPr lang="ko-KR" altLang="en-US" dirty="0" smtClean="0"/>
              <a:t> 초기설정에 정당성을 부여하면 최적의 해를 찾을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또한 </a:t>
            </a:r>
            <a:r>
              <a:rPr lang="en-US" altLang="ko-KR" dirty="0" smtClean="0"/>
              <a:t>f(n)</a:t>
            </a:r>
            <a:r>
              <a:rPr lang="ko-KR" altLang="en-US" dirty="0" smtClean="0"/>
              <a:t>을 통하여 탐색하는 알고리즘이므로 </a:t>
            </a:r>
            <a:r>
              <a:rPr lang="en-US" altLang="ko-KR" dirty="0" smtClean="0"/>
              <a:t>uniform cost </a:t>
            </a:r>
            <a:r>
              <a:rPr lang="ko-KR" altLang="en-US" dirty="0" smtClean="0"/>
              <a:t>알고리즘보다 시간이 빠르다고 할 수 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178</Words>
  <Application>Microsoft Office PowerPoint</Application>
  <PresentationFormat>사용자 지정</PresentationFormat>
  <Paragraphs>98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jcy</cp:lastModifiedBy>
  <cp:revision>5</cp:revision>
  <dcterms:created xsi:type="dcterms:W3CDTF">2021-04-01T04:18:41Z</dcterms:created>
  <dcterms:modified xsi:type="dcterms:W3CDTF">2021-04-05T19:25:41Z</dcterms:modified>
</cp:coreProperties>
</file>