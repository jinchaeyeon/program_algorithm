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99" autoAdjust="0"/>
    <p:restoredTop sz="94660"/>
  </p:normalViewPr>
  <p:slideViewPr>
    <p:cSldViewPr snapToGrid="0">
      <p:cViewPr varScale="1">
        <p:scale>
          <a:sx n="90" d="100"/>
          <a:sy n="90" d="100"/>
        </p:scale>
        <p:origin x="102" y="4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82CEC-93B9-4B32-B8EC-F6A8B24C8E0D}" type="datetimeFigureOut">
              <a:rPr lang="ko-KR" altLang="en-US" smtClean="0"/>
              <a:t>2021-05-24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5A0A0-0628-4430-B9F8-94E521A9A4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48430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82CEC-93B9-4B32-B8EC-F6A8B24C8E0D}" type="datetimeFigureOut">
              <a:rPr lang="ko-KR" altLang="en-US" smtClean="0"/>
              <a:t>2021-05-24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5A0A0-0628-4430-B9F8-94E521A9A4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87643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82CEC-93B9-4B32-B8EC-F6A8B24C8E0D}" type="datetimeFigureOut">
              <a:rPr lang="ko-KR" altLang="en-US" smtClean="0"/>
              <a:t>2021-05-24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5A0A0-0628-4430-B9F8-94E521A9A4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73421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82CEC-93B9-4B32-B8EC-F6A8B24C8E0D}" type="datetimeFigureOut">
              <a:rPr lang="ko-KR" altLang="en-US" smtClean="0"/>
              <a:t>2021-05-24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5A0A0-0628-4430-B9F8-94E521A9A4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0555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82CEC-93B9-4B32-B8EC-F6A8B24C8E0D}" type="datetimeFigureOut">
              <a:rPr lang="ko-KR" altLang="en-US" smtClean="0"/>
              <a:t>2021-05-24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5A0A0-0628-4430-B9F8-94E521A9A4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72145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82CEC-93B9-4B32-B8EC-F6A8B24C8E0D}" type="datetimeFigureOut">
              <a:rPr lang="ko-KR" altLang="en-US" smtClean="0"/>
              <a:t>2021-05-24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5A0A0-0628-4430-B9F8-94E521A9A4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18008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82CEC-93B9-4B32-B8EC-F6A8B24C8E0D}" type="datetimeFigureOut">
              <a:rPr lang="ko-KR" altLang="en-US" smtClean="0"/>
              <a:t>2021-05-24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5A0A0-0628-4430-B9F8-94E521A9A4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98291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82CEC-93B9-4B32-B8EC-F6A8B24C8E0D}" type="datetimeFigureOut">
              <a:rPr lang="ko-KR" altLang="en-US" smtClean="0"/>
              <a:t>2021-05-24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5A0A0-0628-4430-B9F8-94E521A9A4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10733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82CEC-93B9-4B32-B8EC-F6A8B24C8E0D}" type="datetimeFigureOut">
              <a:rPr lang="ko-KR" altLang="en-US" smtClean="0"/>
              <a:t>2021-05-24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5A0A0-0628-4430-B9F8-94E521A9A4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98932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82CEC-93B9-4B32-B8EC-F6A8B24C8E0D}" type="datetimeFigureOut">
              <a:rPr lang="ko-KR" altLang="en-US" smtClean="0"/>
              <a:t>2021-05-24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5A0A0-0628-4430-B9F8-94E521A9A4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62366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82CEC-93B9-4B32-B8EC-F6A8B24C8E0D}" type="datetimeFigureOut">
              <a:rPr lang="ko-KR" altLang="en-US" smtClean="0"/>
              <a:t>2021-05-24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65A0A0-0628-4430-B9F8-94E521A9A4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29136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D82CEC-93B9-4B32-B8EC-F6A8B24C8E0D}" type="datetimeFigureOut">
              <a:rPr lang="ko-KR" altLang="en-US" smtClean="0"/>
              <a:t>2021-05-24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65A0A0-0628-4430-B9F8-94E521A9A4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5470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 smtClean="0"/>
              <a:t>Miscellaneous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400242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클래스 불균형 문제 </a:t>
            </a:r>
            <a:r>
              <a:rPr lang="en-US" altLang="ko-KR" dirty="0" smtClean="0"/>
              <a:t>(Class </a:t>
            </a:r>
            <a:r>
              <a:rPr lang="en-US" altLang="ko-KR" dirty="0" err="1" smtClean="0"/>
              <a:t>Imbalace</a:t>
            </a:r>
            <a:r>
              <a:rPr lang="en-US" altLang="ko-KR" dirty="0" smtClean="0"/>
              <a:t> Problem)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학습 품질이 </a:t>
            </a:r>
            <a:r>
              <a:rPr lang="ko-KR" altLang="en-US" dirty="0" err="1" smtClean="0"/>
              <a:t>좋으려면</a:t>
            </a:r>
            <a:r>
              <a:rPr lang="ko-KR" altLang="en-US" dirty="0" smtClean="0"/>
              <a:t> 클래스 당 학습 데이터의 수가 동일해야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실제는 그렇지 못함</a:t>
            </a:r>
            <a:r>
              <a:rPr lang="en-US" altLang="ko-KR" dirty="0" smtClean="0"/>
              <a:t>. </a:t>
            </a:r>
            <a:r>
              <a:rPr lang="ko-KR" altLang="en-US" dirty="0" smtClean="0"/>
              <a:t>즉 특정 클래스의 학습 데이터 수가 훨씬 많음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이로 인해 학습이 학습 데이터가 많은 클래스의 특징을 학습하는 쪽으로 편향되는 경향이 생김</a:t>
            </a:r>
            <a:endParaRPr lang="en-US" altLang="ko-KR" dirty="0" smtClean="0"/>
          </a:p>
          <a:p>
            <a:r>
              <a:rPr lang="ko-KR" altLang="en-US" dirty="0" smtClean="0"/>
              <a:t>많은 </a:t>
            </a:r>
            <a:r>
              <a:rPr lang="en-US" altLang="ko-KR" dirty="0" err="1" smtClean="0"/>
              <a:t>Sklearn</a:t>
            </a:r>
            <a:r>
              <a:rPr lang="en-US" altLang="ko-KR" dirty="0" smtClean="0"/>
              <a:t> </a:t>
            </a:r>
            <a:r>
              <a:rPr lang="ko-KR" altLang="en-US" dirty="0" err="1" smtClean="0"/>
              <a:t>분류기들은</a:t>
            </a:r>
            <a:r>
              <a:rPr lang="ko-KR" altLang="en-US" dirty="0" smtClean="0"/>
              <a:t> 분류기 생성 시 </a:t>
            </a:r>
            <a:r>
              <a:rPr lang="ko-KR" altLang="en-US" dirty="0" err="1" smtClean="0"/>
              <a:t>패러미터로</a:t>
            </a:r>
            <a:r>
              <a:rPr lang="ko-KR" altLang="en-US" dirty="0" smtClean="0"/>
              <a:t> </a:t>
            </a:r>
            <a:r>
              <a:rPr lang="en-US" altLang="ko-KR" dirty="0" err="1" smtClean="0"/>
              <a:t>class_weight</a:t>
            </a:r>
            <a:r>
              <a:rPr lang="ko-KR" altLang="en-US" dirty="0" smtClean="0"/>
              <a:t>를 제공하는데</a:t>
            </a:r>
            <a:r>
              <a:rPr lang="en-US" altLang="ko-KR" dirty="0" smtClean="0"/>
              <a:t>, </a:t>
            </a:r>
            <a:r>
              <a:rPr lang="ko-KR" altLang="en-US" dirty="0" smtClean="0"/>
              <a:t>이 </a:t>
            </a:r>
            <a:r>
              <a:rPr lang="ko-KR" altLang="en-US" dirty="0" err="1" smtClean="0"/>
              <a:t>패러미터의</a:t>
            </a:r>
            <a:r>
              <a:rPr lang="ko-KR" altLang="en-US" dirty="0" smtClean="0"/>
              <a:t> 값을 </a:t>
            </a:r>
            <a:r>
              <a:rPr lang="en-US" altLang="ko-KR" dirty="0" smtClean="0"/>
              <a:t>‘balanced’</a:t>
            </a:r>
            <a:r>
              <a:rPr lang="ko-KR" altLang="en-US" dirty="0" smtClean="0"/>
              <a:t>로 설정하면 클래스 불균형 문제를 해결할 수 있음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409730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클래스 불균형 문제 </a:t>
            </a:r>
            <a:r>
              <a:rPr lang="en-US" altLang="ko-KR" dirty="0" smtClean="0"/>
              <a:t>(Class </a:t>
            </a:r>
            <a:r>
              <a:rPr lang="en-US" altLang="ko-KR" dirty="0" err="1" smtClean="0"/>
              <a:t>Imbalace</a:t>
            </a:r>
            <a:r>
              <a:rPr lang="en-US" altLang="ko-KR" dirty="0" smtClean="0"/>
              <a:t> Problem)</a:t>
            </a:r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714153" y="1572536"/>
            <a:ext cx="10763694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 err="1" smtClean="0"/>
              <a:t>import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numpy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as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np</a:t>
            </a:r>
            <a:endParaRPr lang="ko-KR" altLang="en-US" dirty="0" smtClean="0"/>
          </a:p>
          <a:p>
            <a:r>
              <a:rPr lang="ko-KR" altLang="en-US" dirty="0" err="1" smtClean="0"/>
              <a:t>from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sklearn.ensemble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import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ExtraTreesClassifier</a:t>
            </a:r>
            <a:endParaRPr lang="ko-KR" altLang="en-US" dirty="0" smtClean="0"/>
          </a:p>
          <a:p>
            <a:r>
              <a:rPr lang="en-US" altLang="ko-KR" dirty="0"/>
              <a:t>from </a:t>
            </a:r>
            <a:r>
              <a:rPr lang="en-US" altLang="ko-KR" dirty="0" err="1"/>
              <a:t>sklearn.model_selection</a:t>
            </a:r>
            <a:r>
              <a:rPr lang="en-US" altLang="ko-KR" dirty="0"/>
              <a:t> import </a:t>
            </a:r>
            <a:r>
              <a:rPr lang="en-US" altLang="ko-KR" dirty="0" err="1" smtClean="0"/>
              <a:t>train_test_split</a:t>
            </a:r>
            <a:endParaRPr lang="en-US" altLang="ko-KR" dirty="0" smtClean="0"/>
          </a:p>
          <a:p>
            <a:r>
              <a:rPr lang="ko-KR" altLang="en-US" dirty="0" err="1" smtClean="0"/>
              <a:t>from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sklearn.metrics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import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classification_report</a:t>
            </a:r>
            <a:endParaRPr lang="ko-KR" altLang="en-US" dirty="0" smtClean="0"/>
          </a:p>
          <a:p>
            <a:r>
              <a:rPr lang="ko-KR" altLang="en-US" dirty="0" err="1" smtClean="0"/>
              <a:t>from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utilities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import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visualize_classifier</a:t>
            </a:r>
            <a:endParaRPr lang="ko-KR" altLang="en-US" dirty="0" smtClean="0"/>
          </a:p>
          <a:p>
            <a:endParaRPr lang="ko-KR" altLang="en-US" dirty="0" smtClean="0"/>
          </a:p>
          <a:p>
            <a:r>
              <a:rPr lang="ko-KR" altLang="en-US" dirty="0" smtClean="0"/>
              <a:t># </a:t>
            </a:r>
            <a:r>
              <a:rPr lang="ko-KR" altLang="en-US" dirty="0" err="1" smtClean="0"/>
              <a:t>Load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input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data</a:t>
            </a:r>
            <a:endParaRPr lang="ko-KR" altLang="en-US" dirty="0" smtClean="0"/>
          </a:p>
          <a:p>
            <a:r>
              <a:rPr lang="ko-KR" altLang="en-US" dirty="0" err="1" smtClean="0"/>
              <a:t>input_file</a:t>
            </a:r>
            <a:r>
              <a:rPr lang="ko-KR" altLang="en-US" dirty="0" smtClean="0"/>
              <a:t> = '</a:t>
            </a:r>
            <a:r>
              <a:rPr lang="ko-KR" altLang="en-US" dirty="0" err="1" smtClean="0"/>
              <a:t>data_imbalance.txt</a:t>
            </a:r>
            <a:r>
              <a:rPr lang="ko-KR" altLang="en-US" dirty="0" smtClean="0"/>
              <a:t>'</a:t>
            </a:r>
          </a:p>
          <a:p>
            <a:r>
              <a:rPr lang="ko-KR" altLang="en-US" dirty="0" err="1" smtClean="0"/>
              <a:t>data</a:t>
            </a:r>
            <a:r>
              <a:rPr lang="ko-KR" altLang="en-US" dirty="0" smtClean="0"/>
              <a:t> = </a:t>
            </a:r>
            <a:r>
              <a:rPr lang="ko-KR" altLang="en-US" dirty="0" err="1" smtClean="0"/>
              <a:t>np.loadtxt</a:t>
            </a:r>
            <a:r>
              <a:rPr lang="ko-KR" altLang="en-US" dirty="0" smtClean="0"/>
              <a:t>(</a:t>
            </a:r>
            <a:r>
              <a:rPr lang="ko-KR" altLang="en-US" dirty="0" err="1" smtClean="0"/>
              <a:t>input_file</a:t>
            </a:r>
            <a:r>
              <a:rPr lang="ko-KR" altLang="en-US" dirty="0" smtClean="0"/>
              <a:t>, </a:t>
            </a:r>
            <a:r>
              <a:rPr lang="ko-KR" altLang="en-US" dirty="0" err="1" smtClean="0"/>
              <a:t>delimiter</a:t>
            </a:r>
            <a:r>
              <a:rPr lang="ko-KR" altLang="en-US" dirty="0" smtClean="0"/>
              <a:t>=',')</a:t>
            </a:r>
          </a:p>
          <a:p>
            <a:r>
              <a:rPr lang="ko-KR" altLang="en-US" dirty="0" err="1" smtClean="0"/>
              <a:t>X</a:t>
            </a:r>
            <a:r>
              <a:rPr lang="ko-KR" altLang="en-US" dirty="0" smtClean="0"/>
              <a:t>, </a:t>
            </a:r>
            <a:r>
              <a:rPr lang="ko-KR" altLang="en-US" dirty="0" err="1" smtClean="0"/>
              <a:t>y</a:t>
            </a:r>
            <a:r>
              <a:rPr lang="ko-KR" altLang="en-US" dirty="0" smtClean="0"/>
              <a:t> = </a:t>
            </a:r>
            <a:r>
              <a:rPr lang="ko-KR" altLang="en-US" dirty="0" err="1" smtClean="0"/>
              <a:t>data</a:t>
            </a:r>
            <a:r>
              <a:rPr lang="ko-KR" altLang="en-US" dirty="0" smtClean="0"/>
              <a:t>[:, :-1], </a:t>
            </a:r>
            <a:r>
              <a:rPr lang="ko-KR" altLang="en-US" dirty="0" err="1" smtClean="0"/>
              <a:t>data</a:t>
            </a:r>
            <a:r>
              <a:rPr lang="ko-KR" altLang="en-US" dirty="0" smtClean="0"/>
              <a:t>[:, -1]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en-US" altLang="ko-KR" dirty="0" smtClean="0"/>
              <a:t># Split data into training and testing datasets </a:t>
            </a:r>
          </a:p>
          <a:p>
            <a:r>
              <a:rPr lang="en-US" altLang="ko-KR" dirty="0" err="1" smtClean="0"/>
              <a:t>X_train</a:t>
            </a:r>
            <a:r>
              <a:rPr lang="en-US" altLang="ko-KR" dirty="0" smtClean="0"/>
              <a:t>, </a:t>
            </a:r>
            <a:r>
              <a:rPr lang="en-US" altLang="ko-KR" dirty="0" err="1" smtClean="0"/>
              <a:t>X_test</a:t>
            </a:r>
            <a:r>
              <a:rPr lang="en-US" altLang="ko-KR" dirty="0" smtClean="0"/>
              <a:t>, </a:t>
            </a:r>
            <a:r>
              <a:rPr lang="en-US" altLang="ko-KR" dirty="0" err="1" smtClean="0"/>
              <a:t>y_train</a:t>
            </a:r>
            <a:r>
              <a:rPr lang="en-US" altLang="ko-KR" dirty="0" smtClean="0"/>
              <a:t>, </a:t>
            </a:r>
            <a:r>
              <a:rPr lang="en-US" altLang="ko-KR" dirty="0" err="1" smtClean="0"/>
              <a:t>y_test</a:t>
            </a:r>
            <a:r>
              <a:rPr lang="en-US" altLang="ko-KR" dirty="0" smtClean="0"/>
              <a:t> = </a:t>
            </a:r>
            <a:r>
              <a:rPr lang="en-US" altLang="ko-KR" dirty="0" err="1" smtClean="0"/>
              <a:t>train_test_split</a:t>
            </a:r>
            <a:r>
              <a:rPr lang="en-US" altLang="ko-KR" dirty="0" smtClean="0"/>
              <a:t>(X, y, </a:t>
            </a:r>
            <a:r>
              <a:rPr lang="en-US" altLang="ko-KR" dirty="0" err="1" smtClean="0"/>
              <a:t>test_size</a:t>
            </a:r>
            <a:r>
              <a:rPr lang="en-US" altLang="ko-KR" dirty="0" smtClean="0"/>
              <a:t>=0.2, </a:t>
            </a:r>
            <a:r>
              <a:rPr lang="en-US" altLang="ko-KR" dirty="0" err="1" smtClean="0"/>
              <a:t>random_state</a:t>
            </a:r>
            <a:r>
              <a:rPr lang="en-US" altLang="ko-KR" dirty="0" smtClean="0"/>
              <a:t>=5)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147352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7464056" y="2190307"/>
            <a:ext cx="2594344" cy="44656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클래스 불균형 문제 </a:t>
            </a:r>
            <a:r>
              <a:rPr lang="en-US" altLang="ko-KR" dirty="0" smtClean="0"/>
              <a:t>(Class </a:t>
            </a:r>
            <a:r>
              <a:rPr lang="en-US" altLang="ko-KR" dirty="0" err="1" smtClean="0"/>
              <a:t>Imbalace</a:t>
            </a:r>
            <a:r>
              <a:rPr lang="en-US" altLang="ko-KR" dirty="0" smtClean="0"/>
              <a:t> Problem)</a:t>
            </a:r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>
          <a:xfrm>
            <a:off x="731875" y="1953928"/>
            <a:ext cx="10515600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 smtClean="0"/>
              <a:t># </a:t>
            </a:r>
            <a:r>
              <a:rPr lang="ko-KR" altLang="en-US" dirty="0" err="1" smtClean="0"/>
              <a:t>Extremely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Random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Forests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classifier</a:t>
            </a:r>
            <a:endParaRPr lang="ko-KR" altLang="en-US" dirty="0" smtClean="0"/>
          </a:p>
          <a:p>
            <a:r>
              <a:rPr lang="ko-KR" altLang="en-US" dirty="0" err="1" smtClean="0"/>
              <a:t>params</a:t>
            </a:r>
            <a:r>
              <a:rPr lang="ko-KR" altLang="en-US" dirty="0" smtClean="0"/>
              <a:t> = {'</a:t>
            </a:r>
            <a:r>
              <a:rPr lang="ko-KR" altLang="en-US" dirty="0" err="1" smtClean="0"/>
              <a:t>n_estimators</a:t>
            </a:r>
            <a:r>
              <a:rPr lang="ko-KR" altLang="en-US" dirty="0" smtClean="0"/>
              <a:t>': 100, '</a:t>
            </a:r>
            <a:r>
              <a:rPr lang="ko-KR" altLang="en-US" dirty="0" err="1" smtClean="0"/>
              <a:t>max_depth</a:t>
            </a:r>
            <a:r>
              <a:rPr lang="ko-KR" altLang="en-US" dirty="0" smtClean="0"/>
              <a:t>': 4, '</a:t>
            </a:r>
            <a:r>
              <a:rPr lang="ko-KR" altLang="en-US" dirty="0" err="1" smtClean="0"/>
              <a:t>random_state</a:t>
            </a:r>
            <a:r>
              <a:rPr lang="ko-KR" altLang="en-US" dirty="0" smtClean="0"/>
              <a:t>': 0, '</a:t>
            </a:r>
            <a:r>
              <a:rPr lang="ko-KR" altLang="en-US" dirty="0" err="1" smtClean="0"/>
              <a:t>class_weight</a:t>
            </a:r>
            <a:r>
              <a:rPr lang="ko-KR" altLang="en-US" dirty="0" smtClean="0"/>
              <a:t>': '</a:t>
            </a:r>
            <a:r>
              <a:rPr lang="ko-KR" altLang="en-US" dirty="0" err="1" smtClean="0"/>
              <a:t>balanced</a:t>
            </a:r>
            <a:r>
              <a:rPr lang="ko-KR" altLang="en-US" dirty="0" smtClean="0"/>
              <a:t>'}</a:t>
            </a:r>
          </a:p>
          <a:p>
            <a:r>
              <a:rPr lang="ko-KR" altLang="en-US" dirty="0" err="1" smtClean="0"/>
              <a:t>classifier</a:t>
            </a:r>
            <a:r>
              <a:rPr lang="ko-KR" altLang="en-US" dirty="0" smtClean="0"/>
              <a:t> = </a:t>
            </a:r>
            <a:r>
              <a:rPr lang="ko-KR" altLang="en-US" dirty="0" err="1" smtClean="0"/>
              <a:t>ExtraTreesClassifier</a:t>
            </a:r>
            <a:r>
              <a:rPr lang="ko-KR" altLang="en-US" dirty="0" smtClean="0"/>
              <a:t>(**</a:t>
            </a:r>
            <a:r>
              <a:rPr lang="ko-KR" altLang="en-US" dirty="0" err="1" smtClean="0"/>
              <a:t>params</a:t>
            </a:r>
            <a:r>
              <a:rPr lang="ko-KR" altLang="en-US" dirty="0" smtClean="0"/>
              <a:t>)</a:t>
            </a:r>
          </a:p>
          <a:p>
            <a:r>
              <a:rPr lang="ko-KR" altLang="en-US" dirty="0" err="1" smtClean="0"/>
              <a:t>classifier.fit</a:t>
            </a:r>
            <a:r>
              <a:rPr lang="ko-KR" altLang="en-US" dirty="0" smtClean="0"/>
              <a:t>(</a:t>
            </a:r>
            <a:r>
              <a:rPr lang="ko-KR" altLang="en-US" dirty="0" err="1" smtClean="0"/>
              <a:t>X_train</a:t>
            </a:r>
            <a:r>
              <a:rPr lang="ko-KR" altLang="en-US" dirty="0" smtClean="0"/>
              <a:t>, </a:t>
            </a:r>
            <a:r>
              <a:rPr lang="ko-KR" altLang="en-US" dirty="0" err="1" smtClean="0"/>
              <a:t>y_train</a:t>
            </a:r>
            <a:r>
              <a:rPr lang="ko-KR" altLang="en-US" dirty="0" smtClean="0"/>
              <a:t>)</a:t>
            </a:r>
          </a:p>
          <a:p>
            <a:r>
              <a:rPr lang="ko-KR" altLang="en-US" dirty="0" err="1" smtClean="0"/>
              <a:t>y_test_pred</a:t>
            </a:r>
            <a:r>
              <a:rPr lang="ko-KR" altLang="en-US" dirty="0" smtClean="0"/>
              <a:t> = </a:t>
            </a:r>
            <a:r>
              <a:rPr lang="ko-KR" altLang="en-US" dirty="0" err="1" smtClean="0"/>
              <a:t>classifier.predict</a:t>
            </a:r>
            <a:r>
              <a:rPr lang="ko-KR" altLang="en-US" dirty="0" smtClean="0"/>
              <a:t>(</a:t>
            </a:r>
            <a:r>
              <a:rPr lang="ko-KR" altLang="en-US" dirty="0" err="1" smtClean="0"/>
              <a:t>X_test</a:t>
            </a:r>
            <a:r>
              <a:rPr lang="ko-KR" altLang="en-US" dirty="0" smtClean="0"/>
              <a:t>)</a:t>
            </a:r>
          </a:p>
          <a:p>
            <a:r>
              <a:rPr lang="ko-KR" altLang="en-US" dirty="0" err="1" smtClean="0"/>
              <a:t>visualize_classifier</a:t>
            </a:r>
            <a:r>
              <a:rPr lang="ko-KR" altLang="en-US" dirty="0" smtClean="0"/>
              <a:t>(</a:t>
            </a:r>
            <a:r>
              <a:rPr lang="ko-KR" altLang="en-US" dirty="0" err="1" smtClean="0"/>
              <a:t>classifier</a:t>
            </a:r>
            <a:r>
              <a:rPr lang="ko-KR" altLang="en-US" dirty="0" smtClean="0"/>
              <a:t>, </a:t>
            </a:r>
            <a:r>
              <a:rPr lang="ko-KR" altLang="en-US" dirty="0" err="1" smtClean="0"/>
              <a:t>X_test</a:t>
            </a:r>
            <a:r>
              <a:rPr lang="ko-KR" altLang="en-US" dirty="0" smtClean="0"/>
              <a:t>, </a:t>
            </a:r>
            <a:r>
              <a:rPr lang="ko-KR" altLang="en-US" dirty="0" err="1" smtClean="0"/>
              <a:t>ytest</a:t>
            </a:r>
            <a:r>
              <a:rPr lang="ko-KR" altLang="en-US" dirty="0" smtClean="0"/>
              <a:t>, '테스트 셋')</a:t>
            </a:r>
          </a:p>
          <a:p>
            <a:endParaRPr lang="ko-KR" altLang="en-US" dirty="0" smtClean="0"/>
          </a:p>
          <a:p>
            <a:r>
              <a:rPr lang="ko-KR" altLang="en-US" dirty="0" smtClean="0"/>
              <a:t># </a:t>
            </a:r>
            <a:r>
              <a:rPr lang="ko-KR" altLang="en-US" dirty="0" err="1" smtClean="0"/>
              <a:t>Evaluate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classifier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performance</a:t>
            </a:r>
            <a:endParaRPr lang="ko-KR" altLang="en-US" dirty="0" smtClean="0"/>
          </a:p>
          <a:p>
            <a:r>
              <a:rPr lang="ko-KR" altLang="en-US" dirty="0" err="1" smtClean="0"/>
              <a:t>class_names</a:t>
            </a:r>
            <a:r>
              <a:rPr lang="ko-KR" altLang="en-US" dirty="0" smtClean="0"/>
              <a:t> = [클래스</a:t>
            </a:r>
            <a:r>
              <a:rPr lang="en-US" altLang="ko-KR" dirty="0" smtClean="0"/>
              <a:t>0</a:t>
            </a:r>
            <a:r>
              <a:rPr lang="ko-KR" altLang="en-US" dirty="0" smtClean="0"/>
              <a:t>', '클래스</a:t>
            </a:r>
            <a:r>
              <a:rPr lang="en-US" altLang="ko-KR" dirty="0" smtClean="0"/>
              <a:t>1</a:t>
            </a:r>
            <a:r>
              <a:rPr lang="ko-KR" altLang="en-US" dirty="0" smtClean="0"/>
              <a:t>']</a:t>
            </a:r>
          </a:p>
          <a:p>
            <a:r>
              <a:rPr lang="ko-KR" altLang="en-US" dirty="0" err="1" smtClean="0"/>
              <a:t>print</a:t>
            </a:r>
            <a:r>
              <a:rPr lang="ko-KR" altLang="en-US" dirty="0" smtClean="0"/>
              <a:t>("#"*</a:t>
            </a:r>
            <a:r>
              <a:rPr lang="en-US" altLang="ko-KR" dirty="0" smtClean="0"/>
              <a:t>5</a:t>
            </a:r>
            <a:r>
              <a:rPr lang="ko-KR" altLang="en-US" dirty="0" smtClean="0"/>
              <a:t>0)</a:t>
            </a:r>
          </a:p>
          <a:p>
            <a:r>
              <a:rPr lang="ko-KR" altLang="en-US" dirty="0" err="1" smtClean="0"/>
              <a:t>print</a:t>
            </a:r>
            <a:r>
              <a:rPr lang="ko-KR" altLang="en-US" dirty="0" smtClean="0"/>
              <a:t>("\</a:t>
            </a:r>
            <a:r>
              <a:rPr lang="en-US" altLang="ko-KR" dirty="0" smtClean="0"/>
              <a:t>n</a:t>
            </a:r>
            <a:r>
              <a:rPr lang="ko-KR" altLang="en-US" dirty="0" smtClean="0"/>
              <a:t>테스트 셋에 대한 분류 성능\</a:t>
            </a:r>
            <a:r>
              <a:rPr lang="ko-KR" altLang="en-US" dirty="0" err="1" smtClean="0"/>
              <a:t>n</a:t>
            </a:r>
            <a:r>
              <a:rPr lang="ko-KR" altLang="en-US" dirty="0" smtClean="0"/>
              <a:t>")</a:t>
            </a:r>
          </a:p>
          <a:p>
            <a:r>
              <a:rPr lang="ko-KR" altLang="en-US" dirty="0" err="1" smtClean="0"/>
              <a:t>print</a:t>
            </a:r>
            <a:r>
              <a:rPr lang="ko-KR" altLang="en-US" dirty="0" smtClean="0"/>
              <a:t>(</a:t>
            </a:r>
            <a:r>
              <a:rPr lang="ko-KR" altLang="en-US" dirty="0" err="1" smtClean="0"/>
              <a:t>classification_report</a:t>
            </a:r>
            <a:r>
              <a:rPr lang="ko-KR" altLang="en-US" dirty="0" smtClean="0"/>
              <a:t>(</a:t>
            </a:r>
            <a:r>
              <a:rPr lang="ko-KR" altLang="en-US" dirty="0" err="1" smtClean="0"/>
              <a:t>y_test</a:t>
            </a:r>
            <a:r>
              <a:rPr lang="ko-KR" altLang="en-US" dirty="0" smtClean="0"/>
              <a:t>, </a:t>
            </a:r>
            <a:r>
              <a:rPr lang="ko-KR" altLang="en-US" dirty="0" err="1" smtClean="0"/>
              <a:t>y_test_pred</a:t>
            </a:r>
            <a:r>
              <a:rPr lang="ko-KR" altLang="en-US" dirty="0" smtClean="0"/>
              <a:t>, </a:t>
            </a:r>
            <a:r>
              <a:rPr lang="ko-KR" altLang="en-US" dirty="0" err="1" smtClean="0"/>
              <a:t>target_names</a:t>
            </a:r>
            <a:r>
              <a:rPr lang="ko-KR" altLang="en-US" dirty="0" smtClean="0"/>
              <a:t>=</a:t>
            </a:r>
            <a:r>
              <a:rPr lang="ko-KR" altLang="en-US" dirty="0" err="1" smtClean="0"/>
              <a:t>class_names</a:t>
            </a:r>
            <a:r>
              <a:rPr lang="ko-KR" altLang="en-US" dirty="0" smtClean="0"/>
              <a:t>))</a:t>
            </a:r>
          </a:p>
          <a:p>
            <a:r>
              <a:rPr lang="ko-KR" altLang="en-US" dirty="0" err="1" smtClean="0"/>
              <a:t>print</a:t>
            </a:r>
            <a:r>
              <a:rPr lang="ko-KR" altLang="en-US" dirty="0" smtClean="0"/>
              <a:t>("#"*</a:t>
            </a:r>
            <a:r>
              <a:rPr lang="en-US" altLang="ko-KR" dirty="0" smtClean="0"/>
              <a:t>5</a:t>
            </a:r>
            <a:r>
              <a:rPr lang="ko-KR" altLang="en-US" dirty="0" smtClean="0"/>
              <a:t>0 + "\</a:t>
            </a:r>
            <a:r>
              <a:rPr lang="ko-KR" altLang="en-US" dirty="0" err="1" smtClean="0"/>
              <a:t>n</a:t>
            </a:r>
            <a:r>
              <a:rPr lang="ko-KR" altLang="en-US" dirty="0" smtClean="0"/>
              <a:t>")</a:t>
            </a:r>
            <a:endParaRPr lang="ko-KR" altLang="en-US" dirty="0"/>
          </a:p>
        </p:txBody>
      </p:sp>
      <p:cxnSp>
        <p:nvCxnSpPr>
          <p:cNvPr id="7" name="직선 화살표 연결선 6"/>
          <p:cNvCxnSpPr/>
          <p:nvPr/>
        </p:nvCxnSpPr>
        <p:spPr>
          <a:xfrm flipV="1">
            <a:off x="8676167" y="1743740"/>
            <a:ext cx="265814" cy="4465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857461" y="1097409"/>
            <a:ext cx="3902149" cy="646331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이 부분 제거 후</a:t>
            </a:r>
            <a:r>
              <a:rPr lang="en-US" altLang="ko-KR" dirty="0" smtClean="0"/>
              <a:t>, </a:t>
            </a:r>
            <a:r>
              <a:rPr lang="ko-KR" altLang="en-US" dirty="0" smtClean="0"/>
              <a:t>즉 </a:t>
            </a:r>
            <a:r>
              <a:rPr lang="ko-KR" altLang="en-US" dirty="0" err="1" smtClean="0"/>
              <a:t>밸런싱</a:t>
            </a:r>
            <a:r>
              <a:rPr lang="ko-KR" altLang="en-US" dirty="0" smtClean="0"/>
              <a:t> 하지 않고 학습한 </a:t>
            </a:r>
            <a:r>
              <a:rPr lang="ko-KR" altLang="en-US" dirty="0" err="1" smtClean="0"/>
              <a:t>결과랑</a:t>
            </a:r>
            <a:r>
              <a:rPr lang="ko-KR" altLang="en-US" dirty="0" smtClean="0"/>
              <a:t> 비교해 보기 바람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990576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최적의 학습 </a:t>
            </a:r>
            <a:r>
              <a:rPr lang="ko-KR" altLang="en-US" dirty="0" err="1" smtClean="0"/>
              <a:t>패러미터</a:t>
            </a:r>
            <a:r>
              <a:rPr lang="ko-KR" altLang="en-US" dirty="0" smtClean="0"/>
              <a:t> 찾기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분류기의 최적의 </a:t>
            </a:r>
            <a:r>
              <a:rPr lang="ko-KR" altLang="en-US" dirty="0" err="1" smtClean="0"/>
              <a:t>패러미터를</a:t>
            </a:r>
            <a:r>
              <a:rPr lang="ko-KR" altLang="en-US" dirty="0" smtClean="0"/>
              <a:t> 찾기가 어려움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이론적으로 가능한 패러미터들의 모든 조합에 대해서 성능을 평가할 수 있으나 현실적이지 못함</a:t>
            </a:r>
            <a:endParaRPr lang="en-US" altLang="ko-KR" dirty="0" smtClean="0"/>
          </a:p>
          <a:p>
            <a:r>
              <a:rPr lang="ko-KR" altLang="en-US" dirty="0" smtClean="0"/>
              <a:t>대안은 격자 탐색 </a:t>
            </a:r>
            <a:r>
              <a:rPr lang="en-US" altLang="ko-KR" dirty="0" smtClean="0"/>
              <a:t>(grid search)</a:t>
            </a:r>
            <a:r>
              <a:rPr lang="ko-KR" altLang="en-US" dirty="0" smtClean="0"/>
              <a:t>을 활용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각 </a:t>
            </a:r>
            <a:r>
              <a:rPr lang="ko-KR" altLang="en-US" dirty="0" err="1" smtClean="0"/>
              <a:t>패러미터에</a:t>
            </a:r>
            <a:r>
              <a:rPr lang="ko-KR" altLang="en-US" dirty="0" smtClean="0"/>
              <a:t> 대해 검사하고자 하는 값의 범위나 종류를 지정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자동으로 주어진 패러미터들의 조합에 대한 성능 평가를 실시하고</a:t>
            </a:r>
            <a:r>
              <a:rPr lang="en-US" altLang="ko-KR" dirty="0" smtClean="0"/>
              <a:t>, </a:t>
            </a:r>
            <a:r>
              <a:rPr lang="ko-KR" altLang="en-US" dirty="0" smtClean="0"/>
              <a:t>그 중 가장 좋은 성능을 보이는 </a:t>
            </a:r>
            <a:r>
              <a:rPr lang="ko-KR" altLang="en-US" dirty="0" err="1" smtClean="0"/>
              <a:t>패러미터</a:t>
            </a:r>
            <a:r>
              <a:rPr lang="ko-KR" altLang="en-US" dirty="0" smtClean="0"/>
              <a:t> 조합을 찾아 줌</a:t>
            </a:r>
            <a:endParaRPr lang="en-US" altLang="ko-KR" dirty="0" smtClean="0"/>
          </a:p>
          <a:p>
            <a:pPr lvl="1"/>
            <a:r>
              <a:rPr lang="en-US" altLang="ko-KR" dirty="0" err="1" smtClean="0"/>
              <a:t>sklearn.grid_search</a:t>
            </a:r>
            <a:r>
              <a:rPr lang="en-US" altLang="ko-KR" dirty="0" smtClean="0"/>
              <a:t> </a:t>
            </a:r>
            <a:r>
              <a:rPr lang="ko-KR" altLang="en-US" dirty="0" smtClean="0"/>
              <a:t>모듈의 </a:t>
            </a:r>
            <a:r>
              <a:rPr lang="en-US" altLang="ko-KR" dirty="0" err="1" smtClean="0"/>
              <a:t>GridSearchCV</a:t>
            </a:r>
            <a:r>
              <a:rPr lang="ko-KR" altLang="en-US" dirty="0"/>
              <a:t> </a:t>
            </a:r>
            <a:r>
              <a:rPr lang="ko-KR" altLang="en-US" dirty="0" smtClean="0"/>
              <a:t>클래스 사용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28054662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최적의 학습 </a:t>
            </a:r>
            <a:r>
              <a:rPr lang="ko-KR" altLang="en-US" dirty="0" err="1" smtClean="0"/>
              <a:t>패러미터</a:t>
            </a:r>
            <a:r>
              <a:rPr lang="ko-KR" altLang="en-US" dirty="0" smtClean="0"/>
              <a:t> 찾기</a:t>
            </a:r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999460" y="1451712"/>
            <a:ext cx="10430539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 err="1" smtClean="0"/>
              <a:t>import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numpy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as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np</a:t>
            </a:r>
            <a:endParaRPr lang="en-US" altLang="ko-KR" dirty="0" smtClean="0"/>
          </a:p>
          <a:p>
            <a:r>
              <a:rPr lang="en-US" altLang="ko-KR" dirty="0"/>
              <a:t>from </a:t>
            </a:r>
            <a:r>
              <a:rPr lang="en-US" altLang="ko-KR" dirty="0" err="1"/>
              <a:t>sklearn.model_selection</a:t>
            </a:r>
            <a:r>
              <a:rPr lang="en-US" altLang="ko-KR" dirty="0"/>
              <a:t> import </a:t>
            </a:r>
            <a:r>
              <a:rPr lang="en-US" altLang="ko-KR" dirty="0" err="1"/>
              <a:t>train_test_split</a:t>
            </a:r>
            <a:endParaRPr lang="ko-KR" altLang="en-US" dirty="0" smtClean="0"/>
          </a:p>
          <a:p>
            <a:r>
              <a:rPr lang="ko-KR" altLang="en-US" dirty="0" err="1" smtClean="0"/>
              <a:t>from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sklearn.metrics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import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classification_report</a:t>
            </a:r>
            <a:endParaRPr lang="ko-KR" altLang="en-US" dirty="0" smtClean="0"/>
          </a:p>
          <a:p>
            <a:r>
              <a:rPr lang="ko-KR" altLang="en-US" dirty="0" err="1" smtClean="0"/>
              <a:t>from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sklearn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import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grid_search</a:t>
            </a:r>
            <a:endParaRPr lang="ko-KR" altLang="en-US" dirty="0" smtClean="0"/>
          </a:p>
          <a:p>
            <a:r>
              <a:rPr lang="ko-KR" altLang="en-US" dirty="0" err="1" smtClean="0"/>
              <a:t>from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sklearn.ensemble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import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ExtraTreesClassifier</a:t>
            </a:r>
            <a:endParaRPr lang="ko-KR" altLang="en-US" dirty="0" smtClean="0"/>
          </a:p>
          <a:p>
            <a:r>
              <a:rPr lang="ko-KR" altLang="en-US" dirty="0" err="1" smtClean="0"/>
              <a:t>from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sklearn.metrics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import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classification_report</a:t>
            </a:r>
            <a:endParaRPr lang="ko-KR" altLang="en-US" dirty="0" smtClean="0"/>
          </a:p>
          <a:p>
            <a:endParaRPr lang="ko-KR" altLang="en-US" dirty="0" smtClean="0"/>
          </a:p>
          <a:p>
            <a:r>
              <a:rPr lang="ko-KR" altLang="en-US" dirty="0" smtClean="0"/>
              <a:t># </a:t>
            </a:r>
            <a:r>
              <a:rPr lang="ko-KR" altLang="en-US" dirty="0" err="1" smtClean="0"/>
              <a:t>Load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input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data</a:t>
            </a:r>
            <a:endParaRPr lang="ko-KR" altLang="en-US" dirty="0" smtClean="0"/>
          </a:p>
          <a:p>
            <a:r>
              <a:rPr lang="ko-KR" altLang="en-US" dirty="0" err="1" smtClean="0"/>
              <a:t>input_file</a:t>
            </a:r>
            <a:r>
              <a:rPr lang="ko-KR" altLang="en-US" dirty="0" smtClean="0"/>
              <a:t> = '</a:t>
            </a:r>
            <a:r>
              <a:rPr lang="ko-KR" altLang="en-US" dirty="0" err="1" smtClean="0"/>
              <a:t>data_random_forests.txt</a:t>
            </a:r>
            <a:r>
              <a:rPr lang="ko-KR" altLang="en-US" dirty="0" smtClean="0"/>
              <a:t>'</a:t>
            </a:r>
          </a:p>
          <a:p>
            <a:r>
              <a:rPr lang="ko-KR" altLang="en-US" dirty="0" err="1" smtClean="0"/>
              <a:t>data</a:t>
            </a:r>
            <a:r>
              <a:rPr lang="ko-KR" altLang="en-US" dirty="0" smtClean="0"/>
              <a:t> = </a:t>
            </a:r>
            <a:r>
              <a:rPr lang="ko-KR" altLang="en-US" dirty="0" err="1" smtClean="0"/>
              <a:t>np.loadtxt</a:t>
            </a:r>
            <a:r>
              <a:rPr lang="ko-KR" altLang="en-US" dirty="0" smtClean="0"/>
              <a:t>(</a:t>
            </a:r>
            <a:r>
              <a:rPr lang="ko-KR" altLang="en-US" dirty="0" err="1" smtClean="0"/>
              <a:t>input_file</a:t>
            </a:r>
            <a:r>
              <a:rPr lang="ko-KR" altLang="en-US" dirty="0" smtClean="0"/>
              <a:t>, </a:t>
            </a:r>
            <a:r>
              <a:rPr lang="ko-KR" altLang="en-US" dirty="0" err="1" smtClean="0"/>
              <a:t>delimiter</a:t>
            </a:r>
            <a:r>
              <a:rPr lang="ko-KR" altLang="en-US" dirty="0" smtClean="0"/>
              <a:t>=',')</a:t>
            </a:r>
          </a:p>
          <a:p>
            <a:r>
              <a:rPr lang="ko-KR" altLang="en-US" dirty="0" err="1" smtClean="0"/>
              <a:t>X</a:t>
            </a:r>
            <a:r>
              <a:rPr lang="ko-KR" altLang="en-US" dirty="0" smtClean="0"/>
              <a:t>, </a:t>
            </a:r>
            <a:r>
              <a:rPr lang="ko-KR" altLang="en-US" dirty="0" err="1" smtClean="0"/>
              <a:t>y</a:t>
            </a:r>
            <a:r>
              <a:rPr lang="ko-KR" altLang="en-US" dirty="0" smtClean="0"/>
              <a:t> = </a:t>
            </a:r>
            <a:r>
              <a:rPr lang="ko-KR" altLang="en-US" dirty="0" err="1" smtClean="0"/>
              <a:t>data</a:t>
            </a:r>
            <a:r>
              <a:rPr lang="ko-KR" altLang="en-US" dirty="0" smtClean="0"/>
              <a:t>[:, :-1], </a:t>
            </a:r>
            <a:r>
              <a:rPr lang="ko-KR" altLang="en-US" dirty="0" err="1" smtClean="0"/>
              <a:t>data</a:t>
            </a:r>
            <a:r>
              <a:rPr lang="ko-KR" altLang="en-US" dirty="0" smtClean="0"/>
              <a:t>[:, -1]</a:t>
            </a:r>
          </a:p>
          <a:p>
            <a:endParaRPr lang="ko-KR" altLang="en-US" dirty="0" smtClean="0"/>
          </a:p>
          <a:p>
            <a:r>
              <a:rPr lang="ko-KR" altLang="en-US" dirty="0" smtClean="0"/>
              <a:t># </a:t>
            </a:r>
            <a:r>
              <a:rPr lang="ko-KR" altLang="en-US" dirty="0" err="1" smtClean="0"/>
              <a:t>Split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the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data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into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training</a:t>
            </a:r>
            <a:r>
              <a:rPr lang="ko-KR" altLang="en-US" dirty="0" smtClean="0"/>
              <a:t> and </a:t>
            </a:r>
            <a:r>
              <a:rPr lang="ko-KR" altLang="en-US" dirty="0" err="1" smtClean="0"/>
              <a:t>testing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datasets</a:t>
            </a:r>
            <a:r>
              <a:rPr lang="ko-KR" altLang="en-US" dirty="0" smtClean="0"/>
              <a:t> </a:t>
            </a:r>
          </a:p>
          <a:p>
            <a:r>
              <a:rPr lang="ko-KR" altLang="en-US" dirty="0" err="1" smtClean="0"/>
              <a:t>X_train</a:t>
            </a:r>
            <a:r>
              <a:rPr lang="ko-KR" altLang="en-US" dirty="0" smtClean="0"/>
              <a:t>, </a:t>
            </a:r>
            <a:r>
              <a:rPr lang="ko-KR" altLang="en-US" dirty="0" err="1" smtClean="0"/>
              <a:t>X_test</a:t>
            </a:r>
            <a:r>
              <a:rPr lang="ko-KR" altLang="en-US" dirty="0" smtClean="0"/>
              <a:t>, </a:t>
            </a:r>
            <a:r>
              <a:rPr lang="ko-KR" altLang="en-US" dirty="0" err="1" smtClean="0"/>
              <a:t>y_train</a:t>
            </a:r>
            <a:r>
              <a:rPr lang="ko-KR" altLang="en-US" dirty="0" smtClean="0"/>
              <a:t>, </a:t>
            </a:r>
            <a:r>
              <a:rPr lang="ko-KR" altLang="en-US" dirty="0" err="1" smtClean="0"/>
              <a:t>y_test</a:t>
            </a:r>
            <a:r>
              <a:rPr lang="ko-KR" altLang="en-US" dirty="0" smtClean="0"/>
              <a:t> = </a:t>
            </a:r>
            <a:r>
              <a:rPr lang="ko-KR" altLang="en-US" dirty="0" err="1" smtClean="0"/>
              <a:t>train_test_split</a:t>
            </a:r>
            <a:r>
              <a:rPr lang="ko-KR" altLang="en-US" dirty="0" smtClean="0"/>
              <a:t>(</a:t>
            </a:r>
            <a:r>
              <a:rPr lang="ko-KR" altLang="en-US" dirty="0" err="1" smtClean="0"/>
              <a:t>X</a:t>
            </a:r>
            <a:r>
              <a:rPr lang="ko-KR" altLang="en-US" dirty="0" smtClean="0"/>
              <a:t>, </a:t>
            </a:r>
            <a:r>
              <a:rPr lang="ko-KR" altLang="en-US" dirty="0" err="1" smtClean="0"/>
              <a:t>y</a:t>
            </a:r>
            <a:r>
              <a:rPr lang="ko-KR" altLang="en-US" dirty="0" smtClean="0"/>
              <a:t>, </a:t>
            </a:r>
            <a:r>
              <a:rPr lang="ko-KR" altLang="en-US" dirty="0" err="1" smtClean="0"/>
              <a:t>test_size</a:t>
            </a:r>
            <a:r>
              <a:rPr lang="ko-KR" altLang="en-US" dirty="0" smtClean="0"/>
              <a:t>=0.2, </a:t>
            </a:r>
            <a:r>
              <a:rPr lang="ko-KR" altLang="en-US" dirty="0" err="1" smtClean="0"/>
              <a:t>random_state</a:t>
            </a:r>
            <a:r>
              <a:rPr lang="ko-KR" altLang="en-US" dirty="0" smtClean="0"/>
              <a:t>=5)</a:t>
            </a:r>
          </a:p>
          <a:p>
            <a:endParaRPr lang="ko-KR" altLang="en-US" dirty="0" smtClean="0"/>
          </a:p>
          <a:p>
            <a:r>
              <a:rPr lang="ko-KR" altLang="en-US" dirty="0" smtClean="0"/>
              <a:t># </a:t>
            </a:r>
            <a:r>
              <a:rPr lang="ko-KR" altLang="en-US" dirty="0" err="1" smtClean="0"/>
              <a:t>Define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the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parameter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grid</a:t>
            </a:r>
            <a:r>
              <a:rPr lang="ko-KR" altLang="en-US" dirty="0" smtClean="0"/>
              <a:t> </a:t>
            </a:r>
          </a:p>
          <a:p>
            <a:r>
              <a:rPr lang="ko-KR" altLang="en-US" dirty="0" err="1" smtClean="0"/>
              <a:t>parameter_grid</a:t>
            </a:r>
            <a:r>
              <a:rPr lang="ko-KR" altLang="en-US" dirty="0" smtClean="0"/>
              <a:t> = [ {'</a:t>
            </a:r>
            <a:r>
              <a:rPr lang="ko-KR" altLang="en-US" dirty="0" err="1" smtClean="0"/>
              <a:t>n_estimators</a:t>
            </a:r>
            <a:r>
              <a:rPr lang="ko-KR" altLang="en-US" dirty="0" smtClean="0"/>
              <a:t>': [100], '</a:t>
            </a:r>
            <a:r>
              <a:rPr lang="ko-KR" altLang="en-US" dirty="0" err="1" smtClean="0"/>
              <a:t>max_depth</a:t>
            </a:r>
            <a:r>
              <a:rPr lang="ko-KR" altLang="en-US" dirty="0" smtClean="0"/>
              <a:t>': [2, 4, 7, 12, 16]},</a:t>
            </a:r>
          </a:p>
          <a:p>
            <a:r>
              <a:rPr lang="ko-KR" altLang="en-US" dirty="0" smtClean="0"/>
              <a:t>                   {'</a:t>
            </a:r>
            <a:r>
              <a:rPr lang="ko-KR" altLang="en-US" dirty="0" err="1" smtClean="0"/>
              <a:t>max_depth</a:t>
            </a:r>
            <a:r>
              <a:rPr lang="ko-KR" altLang="en-US" dirty="0" smtClean="0"/>
              <a:t>': [4], '</a:t>
            </a:r>
            <a:r>
              <a:rPr lang="ko-KR" altLang="en-US" dirty="0" err="1" smtClean="0"/>
              <a:t>n_estimators</a:t>
            </a:r>
            <a:r>
              <a:rPr lang="ko-KR" altLang="en-US" dirty="0" smtClean="0"/>
              <a:t>': [25, 50, 100, 250]} ]</a:t>
            </a:r>
          </a:p>
        </p:txBody>
      </p:sp>
    </p:spTree>
    <p:extLst>
      <p:ext uri="{BB962C8B-B14F-4D97-AF65-F5344CB8AC3E}">
        <p14:creationId xmlns:p14="http://schemas.microsoft.com/office/powerpoint/2010/main" val="11096115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177125"/>
            <a:ext cx="10515600" cy="1325563"/>
          </a:xfrm>
        </p:spPr>
        <p:txBody>
          <a:bodyPr/>
          <a:lstStyle/>
          <a:p>
            <a:r>
              <a:rPr lang="ko-KR" altLang="en-US" dirty="0" smtClean="0"/>
              <a:t>최적의 학습 </a:t>
            </a:r>
            <a:r>
              <a:rPr lang="ko-KR" altLang="en-US" dirty="0" err="1" smtClean="0"/>
              <a:t>패러미터</a:t>
            </a:r>
            <a:r>
              <a:rPr lang="ko-KR" altLang="en-US" dirty="0" smtClean="0"/>
              <a:t> 찾기</a:t>
            </a:r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>
          <a:xfrm>
            <a:off x="838200" y="1502688"/>
            <a:ext cx="10515600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 err="1" smtClean="0"/>
              <a:t>metrics</a:t>
            </a:r>
            <a:r>
              <a:rPr lang="ko-KR" altLang="en-US" dirty="0" smtClean="0"/>
              <a:t> = ['</a:t>
            </a:r>
            <a:r>
              <a:rPr lang="ko-KR" altLang="en-US" dirty="0" err="1" smtClean="0"/>
              <a:t>precision_weighted</a:t>
            </a:r>
            <a:r>
              <a:rPr lang="ko-KR" altLang="en-US" dirty="0" smtClean="0"/>
              <a:t>', '</a:t>
            </a:r>
            <a:r>
              <a:rPr lang="ko-KR" altLang="en-US" dirty="0" err="1" smtClean="0"/>
              <a:t>recall_weighted</a:t>
            </a:r>
            <a:r>
              <a:rPr lang="ko-KR" altLang="en-US" dirty="0" smtClean="0"/>
              <a:t>']</a:t>
            </a:r>
          </a:p>
          <a:p>
            <a:r>
              <a:rPr lang="ko-KR" altLang="en-US" dirty="0" err="1" smtClean="0"/>
              <a:t>for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metric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in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metrics</a:t>
            </a:r>
            <a:r>
              <a:rPr lang="ko-KR" altLang="en-US" dirty="0" smtClean="0"/>
              <a:t>:</a:t>
            </a:r>
          </a:p>
          <a:p>
            <a:r>
              <a:rPr lang="ko-KR" altLang="en-US" dirty="0" smtClean="0"/>
              <a:t>    </a:t>
            </a:r>
            <a:r>
              <a:rPr lang="ko-KR" altLang="en-US" dirty="0" err="1" smtClean="0"/>
              <a:t>print</a:t>
            </a:r>
            <a:r>
              <a:rPr lang="en-US" altLang="ko-KR" dirty="0" smtClean="0"/>
              <a:t>(”\n</a:t>
            </a:r>
            <a:r>
              <a:rPr lang="ko-KR" altLang="en-US" dirty="0" smtClean="0"/>
              <a:t>***</a:t>
            </a:r>
            <a:r>
              <a:rPr lang="en-US" altLang="ko-KR" dirty="0" smtClean="0"/>
              <a:t>“, </a:t>
            </a:r>
            <a:r>
              <a:rPr lang="ko-KR" altLang="en-US" dirty="0" err="1" smtClean="0"/>
              <a:t>metric</a:t>
            </a:r>
            <a:r>
              <a:rPr lang="en-US" altLang="ko-KR" dirty="0" smtClean="0"/>
              <a:t>,</a:t>
            </a:r>
            <a:r>
              <a:rPr lang="ko-KR" altLang="en-US" dirty="0" smtClean="0"/>
              <a:t>"에 대한 최적의 </a:t>
            </a:r>
            <a:r>
              <a:rPr lang="ko-KR" altLang="en-US" dirty="0" err="1" smtClean="0"/>
              <a:t>패러미터</a:t>
            </a:r>
            <a:r>
              <a:rPr lang="ko-KR" altLang="en-US" dirty="0" smtClean="0"/>
              <a:t> 찾기 ***")</a:t>
            </a:r>
          </a:p>
          <a:p>
            <a:endParaRPr lang="ko-KR" altLang="en-US" dirty="0" smtClean="0"/>
          </a:p>
          <a:p>
            <a:r>
              <a:rPr lang="ko-KR" altLang="en-US" dirty="0" smtClean="0"/>
              <a:t>    </a:t>
            </a:r>
            <a:r>
              <a:rPr lang="ko-KR" altLang="en-US" dirty="0" err="1" smtClean="0"/>
              <a:t>classifier</a:t>
            </a:r>
            <a:r>
              <a:rPr lang="ko-KR" altLang="en-US" dirty="0" smtClean="0"/>
              <a:t> = </a:t>
            </a:r>
            <a:r>
              <a:rPr lang="ko-KR" altLang="en-US" dirty="0" err="1" smtClean="0"/>
              <a:t>grid_search.GridSearchCV</a:t>
            </a:r>
            <a:r>
              <a:rPr lang="ko-KR" altLang="en-US" dirty="0" smtClean="0"/>
              <a:t>(</a:t>
            </a:r>
            <a:r>
              <a:rPr lang="ko-KR" altLang="en-US" dirty="0" err="1" smtClean="0"/>
              <a:t>ExtraTreesClassifier</a:t>
            </a:r>
            <a:r>
              <a:rPr lang="ko-KR" altLang="en-US" dirty="0" smtClean="0"/>
              <a:t>(</a:t>
            </a:r>
            <a:r>
              <a:rPr lang="ko-KR" altLang="en-US" dirty="0" err="1" smtClean="0"/>
              <a:t>random_state</a:t>
            </a:r>
            <a:r>
              <a:rPr lang="ko-KR" altLang="en-US" dirty="0" smtClean="0"/>
              <a:t>=0), </a:t>
            </a:r>
          </a:p>
          <a:p>
            <a:r>
              <a:rPr lang="ko-KR" altLang="en-US" dirty="0" smtClean="0"/>
              <a:t>            </a:t>
            </a:r>
            <a:r>
              <a:rPr lang="ko-KR" altLang="en-US" dirty="0" err="1" smtClean="0"/>
              <a:t>parameter_grid</a:t>
            </a:r>
            <a:r>
              <a:rPr lang="ko-KR" altLang="en-US" dirty="0" smtClean="0"/>
              <a:t>, </a:t>
            </a:r>
            <a:r>
              <a:rPr lang="ko-KR" altLang="en-US" dirty="0" err="1" smtClean="0"/>
              <a:t>cv</a:t>
            </a:r>
            <a:r>
              <a:rPr lang="ko-KR" altLang="en-US" dirty="0" smtClean="0"/>
              <a:t>=5, </a:t>
            </a:r>
            <a:r>
              <a:rPr lang="ko-KR" altLang="en-US" dirty="0" err="1" smtClean="0"/>
              <a:t>scoring</a:t>
            </a:r>
            <a:r>
              <a:rPr lang="ko-KR" altLang="en-US" dirty="0" smtClean="0"/>
              <a:t>=</a:t>
            </a:r>
            <a:r>
              <a:rPr lang="ko-KR" altLang="en-US" dirty="0" err="1" smtClean="0"/>
              <a:t>metric</a:t>
            </a:r>
            <a:r>
              <a:rPr lang="ko-KR" altLang="en-US" dirty="0" smtClean="0"/>
              <a:t>)</a:t>
            </a:r>
          </a:p>
          <a:p>
            <a:r>
              <a:rPr lang="ko-KR" altLang="en-US" dirty="0" smtClean="0"/>
              <a:t>    </a:t>
            </a:r>
            <a:r>
              <a:rPr lang="ko-KR" altLang="en-US" dirty="0" err="1" smtClean="0"/>
              <a:t>classifier.fit</a:t>
            </a:r>
            <a:r>
              <a:rPr lang="ko-KR" altLang="en-US" dirty="0" smtClean="0"/>
              <a:t>(</a:t>
            </a:r>
            <a:r>
              <a:rPr lang="ko-KR" altLang="en-US" dirty="0" err="1" smtClean="0"/>
              <a:t>X_train</a:t>
            </a:r>
            <a:r>
              <a:rPr lang="ko-KR" altLang="en-US" dirty="0" smtClean="0"/>
              <a:t>, </a:t>
            </a:r>
            <a:r>
              <a:rPr lang="ko-KR" altLang="en-US" dirty="0" err="1" smtClean="0"/>
              <a:t>y_train</a:t>
            </a:r>
            <a:r>
              <a:rPr lang="ko-KR" altLang="en-US" dirty="0" smtClean="0"/>
              <a:t>)</a:t>
            </a:r>
          </a:p>
          <a:p>
            <a:endParaRPr lang="ko-KR" altLang="en-US" dirty="0" smtClean="0"/>
          </a:p>
          <a:p>
            <a:r>
              <a:rPr lang="ko-KR" altLang="en-US" dirty="0" smtClean="0"/>
              <a:t>    </a:t>
            </a:r>
            <a:r>
              <a:rPr lang="ko-KR" altLang="en-US" dirty="0" err="1" smtClean="0"/>
              <a:t>print</a:t>
            </a:r>
            <a:r>
              <a:rPr lang="ko-KR" altLang="en-US" dirty="0" smtClean="0"/>
              <a:t>("\</a:t>
            </a:r>
            <a:r>
              <a:rPr lang="ko-KR" altLang="en-US" dirty="0" err="1" smtClean="0"/>
              <a:t>n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패러미터</a:t>
            </a:r>
            <a:r>
              <a:rPr lang="ko-KR" altLang="en-US" dirty="0" smtClean="0"/>
              <a:t> 조합에 대한 성능 : ")</a:t>
            </a:r>
          </a:p>
          <a:p>
            <a:r>
              <a:rPr lang="ko-KR" altLang="en-US" dirty="0" smtClean="0"/>
              <a:t>    </a:t>
            </a:r>
            <a:r>
              <a:rPr lang="ko-KR" altLang="en-US" dirty="0" err="1" smtClean="0"/>
              <a:t>for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params</a:t>
            </a:r>
            <a:r>
              <a:rPr lang="ko-KR" altLang="en-US" dirty="0" smtClean="0"/>
              <a:t>, </a:t>
            </a:r>
            <a:r>
              <a:rPr lang="ko-KR" altLang="en-US" dirty="0" err="1" smtClean="0"/>
              <a:t>avg_score</a:t>
            </a:r>
            <a:r>
              <a:rPr lang="ko-KR" altLang="en-US" dirty="0" smtClean="0"/>
              <a:t>, _ </a:t>
            </a:r>
            <a:r>
              <a:rPr lang="ko-KR" altLang="en-US" dirty="0" err="1" smtClean="0"/>
              <a:t>in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classifier.grid_scores</a:t>
            </a:r>
            <a:r>
              <a:rPr lang="ko-KR" altLang="en-US" dirty="0" smtClean="0"/>
              <a:t>_:</a:t>
            </a:r>
          </a:p>
          <a:p>
            <a:r>
              <a:rPr lang="ko-KR" altLang="en-US" dirty="0" smtClean="0"/>
              <a:t>        </a:t>
            </a:r>
            <a:r>
              <a:rPr lang="ko-KR" altLang="en-US" dirty="0" err="1" smtClean="0"/>
              <a:t>print</a:t>
            </a:r>
            <a:r>
              <a:rPr lang="ko-KR" altLang="en-US" dirty="0" smtClean="0"/>
              <a:t>(</a:t>
            </a:r>
            <a:r>
              <a:rPr lang="ko-KR" altLang="en-US" dirty="0" err="1" smtClean="0"/>
              <a:t>params</a:t>
            </a:r>
            <a:r>
              <a:rPr lang="ko-KR" altLang="en-US" dirty="0" smtClean="0"/>
              <a:t>, '--&gt;', </a:t>
            </a:r>
            <a:r>
              <a:rPr lang="ko-KR" altLang="en-US" dirty="0" err="1" smtClean="0"/>
              <a:t>round</a:t>
            </a:r>
            <a:r>
              <a:rPr lang="ko-KR" altLang="en-US" dirty="0" smtClean="0"/>
              <a:t>(</a:t>
            </a:r>
            <a:r>
              <a:rPr lang="ko-KR" altLang="en-US" dirty="0" err="1" smtClean="0"/>
              <a:t>avg_score</a:t>
            </a:r>
            <a:r>
              <a:rPr lang="ko-KR" altLang="en-US" dirty="0" smtClean="0"/>
              <a:t>, 3))</a:t>
            </a:r>
          </a:p>
          <a:p>
            <a:endParaRPr lang="ko-KR" altLang="en-US" dirty="0" smtClean="0"/>
          </a:p>
          <a:p>
            <a:r>
              <a:rPr lang="ko-KR" altLang="en-US" dirty="0" smtClean="0"/>
              <a:t>    </a:t>
            </a:r>
            <a:r>
              <a:rPr lang="ko-KR" altLang="en-US" dirty="0" err="1" smtClean="0"/>
              <a:t>print</a:t>
            </a:r>
            <a:r>
              <a:rPr lang="ko-KR" altLang="en-US" dirty="0" smtClean="0"/>
              <a:t>("\</a:t>
            </a:r>
            <a:r>
              <a:rPr lang="ko-KR" altLang="en-US" dirty="0" err="1" smtClean="0"/>
              <a:t>n최적의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패러미터</a:t>
            </a:r>
            <a:r>
              <a:rPr lang="ko-KR" altLang="en-US" dirty="0" smtClean="0"/>
              <a:t> : ", </a:t>
            </a:r>
            <a:r>
              <a:rPr lang="ko-KR" altLang="en-US" dirty="0" err="1" smtClean="0"/>
              <a:t>classifier.best_params</a:t>
            </a:r>
            <a:r>
              <a:rPr lang="ko-KR" altLang="en-US" dirty="0" smtClean="0"/>
              <a:t>_)</a:t>
            </a:r>
          </a:p>
          <a:p>
            <a:endParaRPr lang="ko-KR" altLang="en-US" dirty="0" smtClean="0"/>
          </a:p>
          <a:p>
            <a:r>
              <a:rPr lang="ko-KR" altLang="en-US" dirty="0" smtClean="0"/>
              <a:t>    </a:t>
            </a:r>
            <a:r>
              <a:rPr lang="ko-KR" altLang="en-US" dirty="0" err="1" smtClean="0"/>
              <a:t>y_pred</a:t>
            </a:r>
            <a:r>
              <a:rPr lang="ko-KR" altLang="en-US" dirty="0" smtClean="0"/>
              <a:t> = </a:t>
            </a:r>
            <a:r>
              <a:rPr lang="ko-KR" altLang="en-US" dirty="0" err="1" smtClean="0"/>
              <a:t>classifier.predict</a:t>
            </a:r>
            <a:r>
              <a:rPr lang="ko-KR" altLang="en-US" dirty="0" smtClean="0"/>
              <a:t>(</a:t>
            </a:r>
            <a:r>
              <a:rPr lang="ko-KR" altLang="en-US" dirty="0" err="1" smtClean="0"/>
              <a:t>X_test</a:t>
            </a:r>
            <a:r>
              <a:rPr lang="ko-KR" altLang="en-US" dirty="0" smtClean="0"/>
              <a:t>)</a:t>
            </a:r>
          </a:p>
          <a:p>
            <a:r>
              <a:rPr lang="ko-KR" altLang="en-US" dirty="0" smtClean="0"/>
              <a:t>    </a:t>
            </a:r>
            <a:r>
              <a:rPr lang="ko-KR" altLang="en-US" dirty="0" err="1" smtClean="0"/>
              <a:t>print</a:t>
            </a:r>
            <a:r>
              <a:rPr lang="ko-KR" altLang="en-US" dirty="0" smtClean="0"/>
              <a:t>("\</a:t>
            </a:r>
            <a:r>
              <a:rPr lang="ko-KR" altLang="en-US" dirty="0" err="1" smtClean="0"/>
              <a:t>n</a:t>
            </a:r>
            <a:r>
              <a:rPr lang="ko-KR" altLang="en-US" dirty="0" smtClean="0"/>
              <a:t> 테스트 데이터에 대한 성능 : \</a:t>
            </a:r>
            <a:r>
              <a:rPr lang="ko-KR" altLang="en-US" dirty="0" err="1" smtClean="0"/>
              <a:t>n</a:t>
            </a:r>
            <a:r>
              <a:rPr lang="ko-KR" altLang="en-US" dirty="0" smtClean="0"/>
              <a:t>")</a:t>
            </a:r>
          </a:p>
          <a:p>
            <a:r>
              <a:rPr lang="ko-KR" altLang="en-US" dirty="0" smtClean="0"/>
              <a:t>    </a:t>
            </a:r>
            <a:r>
              <a:rPr lang="ko-KR" altLang="en-US" dirty="0" err="1" smtClean="0"/>
              <a:t>print</a:t>
            </a:r>
            <a:r>
              <a:rPr lang="ko-KR" altLang="en-US" dirty="0" smtClean="0"/>
              <a:t>(</a:t>
            </a:r>
            <a:r>
              <a:rPr lang="ko-KR" altLang="en-US" dirty="0" err="1" smtClean="0"/>
              <a:t>classification_report</a:t>
            </a:r>
            <a:r>
              <a:rPr lang="ko-KR" altLang="en-US" dirty="0" smtClean="0"/>
              <a:t>(</a:t>
            </a:r>
            <a:r>
              <a:rPr lang="ko-KR" altLang="en-US" dirty="0" err="1" smtClean="0"/>
              <a:t>y_test</a:t>
            </a:r>
            <a:r>
              <a:rPr lang="ko-KR" altLang="en-US" dirty="0" smtClean="0"/>
              <a:t>, </a:t>
            </a:r>
            <a:r>
              <a:rPr lang="ko-KR" altLang="en-US" dirty="0" err="1" smtClean="0"/>
              <a:t>y_pred</a:t>
            </a:r>
            <a:r>
              <a:rPr lang="ko-KR" altLang="en-US" dirty="0" smtClean="0"/>
              <a:t>))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774580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특징 상대 중요도 계산하기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smtClean="0"/>
              <a:t>모든 특징이 동등하게 중요한 것은 아님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일부 특징은 다른 특징에 비해 변별력이 좋음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이런 특징을 이용하여 학습 데이터의 특징 벡터의 차원을 줄일 수 있음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차원 축소를 통해 복잡도를 줄이고 학습 속도를 높일 수 있음</a:t>
            </a:r>
            <a:endParaRPr lang="en-US" altLang="ko-KR" dirty="0" smtClean="0"/>
          </a:p>
          <a:p>
            <a:r>
              <a:rPr lang="ko-KR" altLang="en-US" dirty="0" smtClean="0"/>
              <a:t>분류기의 </a:t>
            </a:r>
            <a:r>
              <a:rPr lang="en-US" altLang="ko-KR" dirty="0" err="1" smtClean="0"/>
              <a:t>feature_importances</a:t>
            </a:r>
            <a:r>
              <a:rPr lang="en-US" altLang="ko-KR" dirty="0" smtClean="0"/>
              <a:t>_ </a:t>
            </a:r>
            <a:r>
              <a:rPr lang="ko-KR" altLang="en-US" dirty="0" smtClean="0"/>
              <a:t>이용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결정 트리 기반의 </a:t>
            </a:r>
            <a:r>
              <a:rPr lang="ko-KR" altLang="en-US" dirty="0" err="1" smtClean="0"/>
              <a:t>분류기들은</a:t>
            </a:r>
            <a:r>
              <a:rPr lang="ko-KR" altLang="en-US" dirty="0" smtClean="0"/>
              <a:t> </a:t>
            </a:r>
            <a:r>
              <a:rPr lang="en-US" altLang="ko-KR" dirty="0" err="1" smtClean="0"/>
              <a:t>feature_importances</a:t>
            </a:r>
            <a:r>
              <a:rPr lang="en-US" altLang="ko-KR" dirty="0" smtClean="0"/>
              <a:t>_ </a:t>
            </a:r>
            <a:r>
              <a:rPr lang="ko-KR" altLang="en-US" dirty="0" smtClean="0"/>
              <a:t>제공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SVM</a:t>
            </a:r>
            <a:r>
              <a:rPr lang="ko-KR" altLang="en-US" dirty="0" smtClean="0"/>
              <a:t>은 </a:t>
            </a:r>
            <a:r>
              <a:rPr lang="en-US" altLang="ko-KR" dirty="0" err="1" smtClean="0"/>
              <a:t>feature_importances</a:t>
            </a:r>
            <a:r>
              <a:rPr lang="en-US" altLang="ko-KR" dirty="0" smtClean="0"/>
              <a:t>_ </a:t>
            </a:r>
            <a:r>
              <a:rPr lang="ko-KR" altLang="en-US" dirty="0" smtClean="0"/>
              <a:t>대신에 </a:t>
            </a:r>
            <a:r>
              <a:rPr lang="en-US" altLang="ko-KR" dirty="0" err="1"/>
              <a:t>coef</a:t>
            </a:r>
            <a:r>
              <a:rPr lang="en-US" altLang="ko-KR" dirty="0" smtClean="0"/>
              <a:t>_ </a:t>
            </a:r>
            <a:r>
              <a:rPr lang="ko-KR" altLang="en-US" dirty="0" smtClean="0"/>
              <a:t>이용</a:t>
            </a:r>
            <a:r>
              <a:rPr lang="en-US" altLang="ko-KR" dirty="0" smtClean="0"/>
              <a:t>. </a:t>
            </a:r>
            <a:r>
              <a:rPr lang="ko-KR" altLang="en-US" dirty="0" smtClean="0"/>
              <a:t>단</a:t>
            </a:r>
            <a:r>
              <a:rPr lang="en-US" altLang="ko-KR" dirty="0" smtClean="0"/>
              <a:t>, linear </a:t>
            </a:r>
            <a:r>
              <a:rPr lang="ko-KR" altLang="en-US" dirty="0" smtClean="0"/>
              <a:t>커널 시에만 적용</a:t>
            </a:r>
            <a:r>
              <a:rPr lang="en-US" altLang="ko-KR" dirty="0" smtClean="0"/>
              <a:t>. </a:t>
            </a:r>
            <a:r>
              <a:rPr lang="ko-KR" altLang="en-US" dirty="0" smtClean="0"/>
              <a:t>다른 커널 사용 시 그 의미가 달라짐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874093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특징 상대 중요도 계산하기</a:t>
            </a:r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838200" y="1779687"/>
            <a:ext cx="10515600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 err="1" smtClean="0"/>
              <a:t>import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numpy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as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np</a:t>
            </a:r>
            <a:endParaRPr lang="ko-KR" altLang="en-US" dirty="0" smtClean="0"/>
          </a:p>
          <a:p>
            <a:r>
              <a:rPr lang="en-US" altLang="ko-KR" dirty="0"/>
              <a:t>from </a:t>
            </a:r>
            <a:r>
              <a:rPr lang="en-US" altLang="ko-KR" dirty="0" err="1"/>
              <a:t>sklearn.model_selection</a:t>
            </a:r>
            <a:r>
              <a:rPr lang="en-US" altLang="ko-KR" dirty="0"/>
              <a:t> import </a:t>
            </a:r>
            <a:r>
              <a:rPr lang="en-US" altLang="ko-KR" dirty="0" err="1" smtClean="0"/>
              <a:t>train_test_split</a:t>
            </a:r>
            <a:endParaRPr lang="en-US" altLang="ko-KR" dirty="0" smtClean="0"/>
          </a:p>
          <a:p>
            <a:r>
              <a:rPr lang="ko-KR" altLang="en-US" dirty="0" err="1" smtClean="0"/>
              <a:t>from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sklearn.ensemble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import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RandomForestClassifier</a:t>
            </a:r>
            <a:endParaRPr lang="ko-KR" altLang="en-US" dirty="0" smtClean="0"/>
          </a:p>
          <a:p>
            <a:endParaRPr lang="ko-KR" altLang="en-US" dirty="0" smtClean="0"/>
          </a:p>
          <a:p>
            <a:r>
              <a:rPr lang="ko-KR" altLang="en-US" dirty="0" smtClean="0"/>
              <a:t># </a:t>
            </a:r>
            <a:r>
              <a:rPr lang="ko-KR" altLang="en-US" dirty="0" err="1" smtClean="0"/>
              <a:t>Load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input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data</a:t>
            </a:r>
            <a:endParaRPr lang="ko-KR" altLang="en-US" dirty="0" smtClean="0"/>
          </a:p>
          <a:p>
            <a:r>
              <a:rPr lang="ko-KR" altLang="en-US" dirty="0" err="1" smtClean="0"/>
              <a:t>input_file</a:t>
            </a:r>
            <a:r>
              <a:rPr lang="ko-KR" altLang="en-US" dirty="0" smtClean="0"/>
              <a:t> = '</a:t>
            </a:r>
            <a:r>
              <a:rPr lang="ko-KR" altLang="en-US" dirty="0" err="1" smtClean="0"/>
              <a:t>data_random_forests.txt</a:t>
            </a:r>
            <a:r>
              <a:rPr lang="ko-KR" altLang="en-US" dirty="0" smtClean="0"/>
              <a:t>'</a:t>
            </a:r>
          </a:p>
          <a:p>
            <a:r>
              <a:rPr lang="ko-KR" altLang="en-US" dirty="0" err="1" smtClean="0"/>
              <a:t>data</a:t>
            </a:r>
            <a:r>
              <a:rPr lang="ko-KR" altLang="en-US" dirty="0" smtClean="0"/>
              <a:t> = </a:t>
            </a:r>
            <a:r>
              <a:rPr lang="ko-KR" altLang="en-US" dirty="0" err="1" smtClean="0"/>
              <a:t>np.loadtxt</a:t>
            </a:r>
            <a:r>
              <a:rPr lang="ko-KR" altLang="en-US" dirty="0" smtClean="0"/>
              <a:t>(</a:t>
            </a:r>
            <a:r>
              <a:rPr lang="ko-KR" altLang="en-US" dirty="0" err="1" smtClean="0"/>
              <a:t>input_file</a:t>
            </a:r>
            <a:r>
              <a:rPr lang="ko-KR" altLang="en-US" dirty="0" smtClean="0"/>
              <a:t>, </a:t>
            </a:r>
            <a:r>
              <a:rPr lang="ko-KR" altLang="en-US" dirty="0" err="1" smtClean="0"/>
              <a:t>delimiter</a:t>
            </a:r>
            <a:r>
              <a:rPr lang="ko-KR" altLang="en-US" dirty="0" smtClean="0"/>
              <a:t>=',')</a:t>
            </a:r>
          </a:p>
          <a:p>
            <a:r>
              <a:rPr lang="ko-KR" altLang="en-US" dirty="0" err="1" smtClean="0"/>
              <a:t>X</a:t>
            </a:r>
            <a:r>
              <a:rPr lang="ko-KR" altLang="en-US" dirty="0" smtClean="0"/>
              <a:t>, </a:t>
            </a:r>
            <a:r>
              <a:rPr lang="ko-KR" altLang="en-US" dirty="0" err="1" smtClean="0"/>
              <a:t>y</a:t>
            </a:r>
            <a:r>
              <a:rPr lang="ko-KR" altLang="en-US" dirty="0" smtClean="0"/>
              <a:t> = </a:t>
            </a:r>
            <a:r>
              <a:rPr lang="ko-KR" altLang="en-US" dirty="0" err="1" smtClean="0"/>
              <a:t>data</a:t>
            </a:r>
            <a:r>
              <a:rPr lang="ko-KR" altLang="en-US" dirty="0" smtClean="0"/>
              <a:t>[:, :-1], </a:t>
            </a:r>
            <a:r>
              <a:rPr lang="ko-KR" altLang="en-US" dirty="0" err="1" smtClean="0"/>
              <a:t>data</a:t>
            </a:r>
            <a:r>
              <a:rPr lang="ko-KR" altLang="en-US" dirty="0" smtClean="0"/>
              <a:t>[:, -1]</a:t>
            </a:r>
          </a:p>
          <a:p>
            <a:endParaRPr lang="ko-KR" altLang="en-US" dirty="0" smtClean="0"/>
          </a:p>
          <a:p>
            <a:r>
              <a:rPr lang="ko-KR" altLang="en-US" dirty="0" smtClean="0"/>
              <a:t># </a:t>
            </a:r>
            <a:r>
              <a:rPr lang="ko-KR" altLang="en-US" dirty="0" err="1" smtClean="0"/>
              <a:t>Split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the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data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into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training</a:t>
            </a:r>
            <a:r>
              <a:rPr lang="ko-KR" altLang="en-US" dirty="0" smtClean="0"/>
              <a:t> and </a:t>
            </a:r>
            <a:r>
              <a:rPr lang="ko-KR" altLang="en-US" dirty="0" err="1" smtClean="0"/>
              <a:t>testing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datasets</a:t>
            </a:r>
            <a:r>
              <a:rPr lang="ko-KR" altLang="en-US" dirty="0" smtClean="0"/>
              <a:t> </a:t>
            </a:r>
          </a:p>
          <a:p>
            <a:r>
              <a:rPr lang="ko-KR" altLang="en-US" dirty="0" err="1" smtClean="0"/>
              <a:t>X_train</a:t>
            </a:r>
            <a:r>
              <a:rPr lang="ko-KR" altLang="en-US" dirty="0" smtClean="0"/>
              <a:t>, </a:t>
            </a:r>
            <a:r>
              <a:rPr lang="ko-KR" altLang="en-US" dirty="0" err="1" smtClean="0"/>
              <a:t>X_test</a:t>
            </a:r>
            <a:r>
              <a:rPr lang="ko-KR" altLang="en-US" dirty="0" smtClean="0"/>
              <a:t>, </a:t>
            </a:r>
            <a:r>
              <a:rPr lang="ko-KR" altLang="en-US" dirty="0" err="1" smtClean="0"/>
              <a:t>y_train</a:t>
            </a:r>
            <a:r>
              <a:rPr lang="ko-KR" altLang="en-US" dirty="0" smtClean="0"/>
              <a:t>, </a:t>
            </a:r>
            <a:r>
              <a:rPr lang="ko-KR" altLang="en-US" dirty="0" err="1" smtClean="0"/>
              <a:t>y_test</a:t>
            </a:r>
            <a:r>
              <a:rPr lang="ko-KR" altLang="en-US" dirty="0" smtClean="0"/>
              <a:t> = </a:t>
            </a:r>
            <a:r>
              <a:rPr lang="ko-KR" altLang="en-US" dirty="0" err="1" smtClean="0"/>
              <a:t>train_test_split</a:t>
            </a:r>
            <a:r>
              <a:rPr lang="ko-KR" altLang="en-US" dirty="0" smtClean="0"/>
              <a:t>(</a:t>
            </a:r>
          </a:p>
          <a:p>
            <a:r>
              <a:rPr lang="ko-KR" altLang="en-US" dirty="0" smtClean="0"/>
              <a:t>        </a:t>
            </a:r>
            <a:r>
              <a:rPr lang="ko-KR" altLang="en-US" dirty="0" err="1" smtClean="0"/>
              <a:t>X</a:t>
            </a:r>
            <a:r>
              <a:rPr lang="ko-KR" altLang="en-US" dirty="0" smtClean="0"/>
              <a:t>, </a:t>
            </a:r>
            <a:r>
              <a:rPr lang="ko-KR" altLang="en-US" dirty="0" err="1" smtClean="0"/>
              <a:t>y</a:t>
            </a:r>
            <a:r>
              <a:rPr lang="ko-KR" altLang="en-US" dirty="0" smtClean="0"/>
              <a:t>, </a:t>
            </a:r>
            <a:r>
              <a:rPr lang="ko-KR" altLang="en-US" dirty="0" err="1" smtClean="0"/>
              <a:t>test_size</a:t>
            </a:r>
            <a:r>
              <a:rPr lang="ko-KR" altLang="en-US" dirty="0" smtClean="0"/>
              <a:t>=0.2, </a:t>
            </a:r>
            <a:r>
              <a:rPr lang="ko-KR" altLang="en-US" dirty="0" err="1" smtClean="0"/>
              <a:t>random_state</a:t>
            </a:r>
            <a:r>
              <a:rPr lang="ko-KR" altLang="en-US" dirty="0" smtClean="0"/>
              <a:t>=5)</a:t>
            </a:r>
          </a:p>
          <a:p>
            <a:endParaRPr lang="ko-KR" altLang="en-US" dirty="0" smtClean="0"/>
          </a:p>
          <a:p>
            <a:r>
              <a:rPr lang="ko-KR" altLang="en-US" dirty="0" smtClean="0"/>
              <a:t># </a:t>
            </a:r>
            <a:r>
              <a:rPr lang="ko-KR" altLang="en-US" dirty="0" err="1" smtClean="0"/>
              <a:t>define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the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model</a:t>
            </a:r>
            <a:endParaRPr lang="ko-KR" altLang="en-US" dirty="0" smtClean="0"/>
          </a:p>
          <a:p>
            <a:r>
              <a:rPr lang="ko-KR" altLang="en-US" dirty="0" err="1" smtClean="0"/>
              <a:t>model</a:t>
            </a:r>
            <a:r>
              <a:rPr lang="ko-KR" altLang="en-US" dirty="0" smtClean="0"/>
              <a:t> = </a:t>
            </a:r>
            <a:r>
              <a:rPr lang="ko-KR" altLang="en-US" dirty="0" err="1" smtClean="0"/>
              <a:t>RandomForestClassifier</a:t>
            </a:r>
            <a:r>
              <a:rPr lang="ko-KR" altLang="en-US" dirty="0" smtClean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6149271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특징 상대 중요도 계산하기</a:t>
            </a:r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>
          <a:xfrm>
            <a:off x="838200" y="2028909"/>
            <a:ext cx="10515600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 smtClean="0"/>
              <a:t># </a:t>
            </a:r>
            <a:r>
              <a:rPr lang="ko-KR" altLang="en-US" dirty="0" err="1" smtClean="0"/>
              <a:t>fit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the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model</a:t>
            </a:r>
            <a:endParaRPr lang="ko-KR" altLang="en-US" dirty="0" smtClean="0"/>
          </a:p>
          <a:p>
            <a:r>
              <a:rPr lang="ko-KR" altLang="en-US" dirty="0" err="1" smtClean="0"/>
              <a:t>model.fit</a:t>
            </a:r>
            <a:r>
              <a:rPr lang="ko-KR" altLang="en-US" dirty="0" smtClean="0"/>
              <a:t>(</a:t>
            </a:r>
            <a:r>
              <a:rPr lang="ko-KR" altLang="en-US" dirty="0" err="1" smtClean="0"/>
              <a:t>X</a:t>
            </a:r>
            <a:r>
              <a:rPr lang="ko-KR" altLang="en-US" dirty="0" smtClean="0"/>
              <a:t>, </a:t>
            </a:r>
            <a:r>
              <a:rPr lang="ko-KR" altLang="en-US" dirty="0" err="1" smtClean="0"/>
              <a:t>y</a:t>
            </a:r>
            <a:r>
              <a:rPr lang="ko-KR" altLang="en-US" dirty="0" smtClean="0"/>
              <a:t>)</a:t>
            </a:r>
          </a:p>
          <a:p>
            <a:endParaRPr lang="ko-KR" altLang="en-US" dirty="0" smtClean="0"/>
          </a:p>
          <a:p>
            <a:r>
              <a:rPr lang="ko-KR" altLang="en-US" dirty="0" smtClean="0"/>
              <a:t># </a:t>
            </a:r>
            <a:r>
              <a:rPr lang="ko-KR" altLang="en-US" dirty="0" err="1" smtClean="0"/>
              <a:t>get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importance</a:t>
            </a:r>
            <a:endParaRPr lang="ko-KR" altLang="en-US" dirty="0" smtClean="0"/>
          </a:p>
          <a:p>
            <a:r>
              <a:rPr lang="ko-KR" altLang="en-US" dirty="0" err="1" smtClean="0"/>
              <a:t>importance</a:t>
            </a:r>
            <a:r>
              <a:rPr lang="ko-KR" altLang="en-US" dirty="0" smtClean="0"/>
              <a:t> = </a:t>
            </a:r>
            <a:r>
              <a:rPr lang="ko-KR" altLang="en-US" dirty="0" err="1" smtClean="0"/>
              <a:t>model.feature_importances</a:t>
            </a:r>
            <a:r>
              <a:rPr lang="ko-KR" altLang="en-US" dirty="0" smtClean="0"/>
              <a:t>_</a:t>
            </a:r>
          </a:p>
          <a:p>
            <a:endParaRPr lang="ko-KR" altLang="en-US" dirty="0" smtClean="0"/>
          </a:p>
          <a:p>
            <a:r>
              <a:rPr lang="ko-KR" altLang="en-US" dirty="0" smtClean="0"/>
              <a:t># </a:t>
            </a:r>
            <a:r>
              <a:rPr lang="ko-KR" altLang="en-US" dirty="0" err="1" smtClean="0"/>
              <a:t>summarize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feature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importance</a:t>
            </a:r>
            <a:endParaRPr lang="ko-KR" altLang="en-US" dirty="0" smtClean="0"/>
          </a:p>
          <a:p>
            <a:r>
              <a:rPr lang="ko-KR" altLang="en-US" dirty="0" err="1" smtClean="0"/>
              <a:t>for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i,v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in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enumerate</a:t>
            </a:r>
            <a:r>
              <a:rPr lang="ko-KR" altLang="en-US" dirty="0" smtClean="0"/>
              <a:t>(</a:t>
            </a:r>
            <a:r>
              <a:rPr lang="ko-KR" altLang="en-US" dirty="0" err="1" smtClean="0"/>
              <a:t>importance</a:t>
            </a:r>
            <a:r>
              <a:rPr lang="ko-KR" altLang="en-US" dirty="0" smtClean="0"/>
              <a:t>):</a:t>
            </a:r>
          </a:p>
          <a:p>
            <a:r>
              <a:rPr lang="ko-KR" altLang="en-US" dirty="0" smtClean="0"/>
              <a:t>    </a:t>
            </a:r>
            <a:r>
              <a:rPr lang="ko-KR" altLang="en-US" dirty="0" err="1" smtClean="0"/>
              <a:t>print</a:t>
            </a:r>
            <a:r>
              <a:rPr lang="ko-KR" altLang="en-US" dirty="0" smtClean="0"/>
              <a:t>('</a:t>
            </a:r>
            <a:r>
              <a:rPr lang="ko-KR" altLang="en-US" dirty="0" err="1" smtClean="0"/>
              <a:t>Feature</a:t>
            </a:r>
            <a:r>
              <a:rPr lang="ko-KR" altLang="en-US" dirty="0" smtClean="0"/>
              <a:t>: %0d, </a:t>
            </a:r>
            <a:r>
              <a:rPr lang="ko-KR" altLang="en-US" dirty="0" err="1" smtClean="0"/>
              <a:t>Score</a:t>
            </a:r>
            <a:r>
              <a:rPr lang="ko-KR" altLang="en-US" dirty="0" smtClean="0"/>
              <a:t>: %.5f' % (</a:t>
            </a:r>
            <a:r>
              <a:rPr lang="ko-KR" altLang="en-US" dirty="0" err="1" smtClean="0"/>
              <a:t>i,v</a:t>
            </a:r>
            <a:r>
              <a:rPr lang="ko-KR" altLang="en-US" dirty="0" smtClean="0"/>
              <a:t>))</a:t>
            </a:r>
            <a:endParaRPr lang="en-US" altLang="ko-KR" dirty="0" smtClean="0"/>
          </a:p>
          <a:p>
            <a:endParaRPr lang="ko-KR" altLang="en-US" dirty="0" smtClean="0"/>
          </a:p>
          <a:p>
            <a:r>
              <a:rPr lang="ko-KR" altLang="en-US" dirty="0" smtClean="0"/>
              <a:t># </a:t>
            </a:r>
            <a:r>
              <a:rPr lang="ko-KR" altLang="en-US" dirty="0" err="1" smtClean="0"/>
              <a:t>plot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feature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importance</a:t>
            </a:r>
            <a:endParaRPr lang="ko-KR" altLang="en-US" dirty="0" smtClean="0"/>
          </a:p>
          <a:p>
            <a:r>
              <a:rPr lang="ko-KR" altLang="en-US" dirty="0" err="1" smtClean="0"/>
              <a:t>pyplot.bar</a:t>
            </a:r>
            <a:r>
              <a:rPr lang="ko-KR" altLang="en-US" dirty="0" smtClean="0"/>
              <a:t>([</a:t>
            </a:r>
            <a:r>
              <a:rPr lang="ko-KR" altLang="en-US" dirty="0" err="1" smtClean="0"/>
              <a:t>x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for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x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in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range</a:t>
            </a:r>
            <a:r>
              <a:rPr lang="ko-KR" altLang="en-US" dirty="0" smtClean="0"/>
              <a:t>(</a:t>
            </a:r>
            <a:r>
              <a:rPr lang="ko-KR" altLang="en-US" dirty="0" err="1" smtClean="0"/>
              <a:t>len</a:t>
            </a:r>
            <a:r>
              <a:rPr lang="ko-KR" altLang="en-US" dirty="0" smtClean="0"/>
              <a:t>(</a:t>
            </a:r>
            <a:r>
              <a:rPr lang="ko-KR" altLang="en-US" dirty="0" err="1" smtClean="0"/>
              <a:t>importance</a:t>
            </a:r>
            <a:r>
              <a:rPr lang="ko-KR" altLang="en-US" dirty="0" smtClean="0"/>
              <a:t>))], </a:t>
            </a:r>
            <a:r>
              <a:rPr lang="ko-KR" altLang="en-US" dirty="0" err="1" smtClean="0"/>
              <a:t>importance</a:t>
            </a:r>
            <a:r>
              <a:rPr lang="ko-KR" altLang="en-US" dirty="0" smtClean="0"/>
              <a:t>)</a:t>
            </a:r>
          </a:p>
          <a:p>
            <a:r>
              <a:rPr lang="ko-KR" altLang="en-US" dirty="0" err="1" smtClean="0"/>
              <a:t>pyplot.show</a:t>
            </a:r>
            <a:r>
              <a:rPr lang="ko-KR" altLang="en-US" dirty="0" smtClean="0"/>
              <a:t>()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923696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특징 선택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19994"/>
          </a:xfrm>
        </p:spPr>
        <p:txBody>
          <a:bodyPr/>
          <a:lstStyle/>
          <a:p>
            <a:r>
              <a:rPr lang="ko-KR" altLang="en-US" dirty="0" smtClean="0"/>
              <a:t>특징 중요도는 데이터를 해석하는데도 유용하지만 순서에 따라 특징을 선택하는데도 유용</a:t>
            </a:r>
            <a:endParaRPr lang="en-US" altLang="ko-KR" dirty="0" smtClean="0"/>
          </a:p>
          <a:p>
            <a:r>
              <a:rPr lang="en-US" altLang="ko-KR" dirty="0" err="1" smtClean="0"/>
              <a:t>sklearn.feature_selection.SelectFromModel</a:t>
            </a:r>
            <a:r>
              <a:rPr lang="en-US" altLang="ko-KR" dirty="0" smtClean="0"/>
              <a:t> </a:t>
            </a:r>
            <a:r>
              <a:rPr lang="ko-KR" altLang="en-US" dirty="0" smtClean="0"/>
              <a:t>클래스 이용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이 클래스를 사용할 수 있는 </a:t>
            </a:r>
            <a:r>
              <a:rPr lang="ko-KR" altLang="en-US" dirty="0" err="1" smtClean="0"/>
              <a:t>분류기는</a:t>
            </a:r>
            <a:r>
              <a:rPr lang="ko-KR" altLang="en-US" dirty="0" smtClean="0"/>
              <a:t> </a:t>
            </a:r>
            <a:r>
              <a:rPr lang="en-US" altLang="ko-KR" dirty="0" err="1" smtClean="0"/>
              <a:t>feature_importances</a:t>
            </a:r>
            <a:r>
              <a:rPr lang="en-US" altLang="ko-KR" dirty="0" smtClean="0"/>
              <a:t>_ </a:t>
            </a:r>
            <a:r>
              <a:rPr lang="ko-KR" altLang="en-US" dirty="0" smtClean="0"/>
              <a:t>나</a:t>
            </a:r>
            <a:r>
              <a:rPr lang="en-US" altLang="ko-KR" dirty="0" smtClean="0"/>
              <a:t> </a:t>
            </a:r>
            <a:r>
              <a:rPr lang="en-US" altLang="ko-KR" dirty="0" err="1" smtClean="0"/>
              <a:t>coef</a:t>
            </a:r>
            <a:r>
              <a:rPr lang="en-US" altLang="ko-KR" dirty="0" smtClean="0"/>
              <a:t>_ </a:t>
            </a:r>
            <a:r>
              <a:rPr lang="ko-KR" altLang="en-US" dirty="0" smtClean="0"/>
              <a:t>속성을 갖고 있어야 함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32040819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특징 선택</a:t>
            </a:r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>
          <a:xfrm>
            <a:off x="838200" y="1690688"/>
            <a:ext cx="10515600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 err="1" smtClean="0"/>
              <a:t>import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numpy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as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np</a:t>
            </a:r>
            <a:endParaRPr lang="ko-KR" altLang="en-US" dirty="0" smtClean="0"/>
          </a:p>
          <a:p>
            <a:r>
              <a:rPr lang="ko-KR" altLang="en-US" smtClean="0"/>
              <a:t>from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sklearn.ensemble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import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RandomForestClassifier</a:t>
            </a:r>
            <a:endParaRPr lang="ko-KR" altLang="en-US" dirty="0" smtClean="0"/>
          </a:p>
          <a:p>
            <a:r>
              <a:rPr lang="ko-KR" altLang="en-US" dirty="0" err="1" smtClean="0"/>
              <a:t>from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sklearn.model_selection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import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train_test_split</a:t>
            </a:r>
            <a:endParaRPr lang="ko-KR" altLang="en-US" dirty="0" smtClean="0"/>
          </a:p>
          <a:p>
            <a:r>
              <a:rPr lang="ko-KR" altLang="en-US" dirty="0" smtClean="0"/>
              <a:t>#</a:t>
            </a:r>
            <a:r>
              <a:rPr lang="ko-KR" altLang="en-US" dirty="0" err="1" smtClean="0"/>
              <a:t>from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sklearn.linear_model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import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LogisticRegression</a:t>
            </a:r>
            <a:endParaRPr lang="ko-KR" altLang="en-US" dirty="0" smtClean="0"/>
          </a:p>
          <a:p>
            <a:r>
              <a:rPr lang="ko-KR" altLang="en-US" dirty="0" err="1" smtClean="0"/>
              <a:t>from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sklearn.metrics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import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accuracy_score</a:t>
            </a:r>
            <a:endParaRPr lang="ko-KR" altLang="en-US" dirty="0" smtClean="0"/>
          </a:p>
          <a:p>
            <a:endParaRPr lang="ko-KR" altLang="en-US" dirty="0" smtClean="0"/>
          </a:p>
          <a:p>
            <a:r>
              <a:rPr lang="ko-KR" altLang="en-US" dirty="0" smtClean="0"/>
              <a:t># 학습 데이터 로드</a:t>
            </a:r>
          </a:p>
          <a:p>
            <a:r>
              <a:rPr lang="ko-KR" altLang="en-US" dirty="0" err="1" smtClean="0"/>
              <a:t>input_file</a:t>
            </a:r>
            <a:r>
              <a:rPr lang="ko-KR" altLang="en-US" dirty="0" smtClean="0"/>
              <a:t> = '</a:t>
            </a:r>
            <a:r>
              <a:rPr lang="ko-KR" altLang="en-US" dirty="0" err="1" smtClean="0"/>
              <a:t>data_random_forests.txt</a:t>
            </a:r>
            <a:r>
              <a:rPr lang="ko-KR" altLang="en-US" dirty="0" smtClean="0"/>
              <a:t>'</a:t>
            </a:r>
          </a:p>
          <a:p>
            <a:r>
              <a:rPr lang="ko-KR" altLang="en-US" dirty="0" err="1" smtClean="0"/>
              <a:t>data</a:t>
            </a:r>
            <a:r>
              <a:rPr lang="ko-KR" altLang="en-US" dirty="0" smtClean="0"/>
              <a:t> = </a:t>
            </a:r>
            <a:r>
              <a:rPr lang="ko-KR" altLang="en-US" dirty="0" err="1" smtClean="0"/>
              <a:t>np.loadtxt</a:t>
            </a:r>
            <a:r>
              <a:rPr lang="ko-KR" altLang="en-US" dirty="0" smtClean="0"/>
              <a:t>(</a:t>
            </a:r>
            <a:r>
              <a:rPr lang="ko-KR" altLang="en-US" dirty="0" err="1" smtClean="0"/>
              <a:t>input_file</a:t>
            </a:r>
            <a:r>
              <a:rPr lang="ko-KR" altLang="en-US" dirty="0" smtClean="0"/>
              <a:t>, </a:t>
            </a:r>
            <a:r>
              <a:rPr lang="ko-KR" altLang="en-US" dirty="0" err="1" smtClean="0"/>
              <a:t>delimiter</a:t>
            </a:r>
            <a:r>
              <a:rPr lang="ko-KR" altLang="en-US" dirty="0" smtClean="0"/>
              <a:t>=',')</a:t>
            </a:r>
          </a:p>
          <a:p>
            <a:r>
              <a:rPr lang="ko-KR" altLang="en-US" dirty="0" err="1" smtClean="0"/>
              <a:t>X</a:t>
            </a:r>
            <a:r>
              <a:rPr lang="ko-KR" altLang="en-US" dirty="0" smtClean="0"/>
              <a:t>, </a:t>
            </a:r>
            <a:r>
              <a:rPr lang="ko-KR" altLang="en-US" dirty="0" err="1" smtClean="0"/>
              <a:t>y</a:t>
            </a:r>
            <a:r>
              <a:rPr lang="ko-KR" altLang="en-US" dirty="0" smtClean="0"/>
              <a:t> = </a:t>
            </a:r>
            <a:r>
              <a:rPr lang="ko-KR" altLang="en-US" dirty="0" err="1" smtClean="0"/>
              <a:t>data</a:t>
            </a:r>
            <a:r>
              <a:rPr lang="ko-KR" altLang="en-US" dirty="0" smtClean="0"/>
              <a:t>[:, :-1], </a:t>
            </a:r>
            <a:r>
              <a:rPr lang="ko-KR" altLang="en-US" dirty="0" err="1" smtClean="0"/>
              <a:t>data</a:t>
            </a:r>
            <a:r>
              <a:rPr lang="ko-KR" altLang="en-US" dirty="0" smtClean="0"/>
              <a:t>[:, -1]</a:t>
            </a:r>
          </a:p>
          <a:p>
            <a:endParaRPr lang="ko-KR" altLang="en-US" dirty="0" smtClean="0"/>
          </a:p>
          <a:p>
            <a:r>
              <a:rPr lang="ko-KR" altLang="en-US" dirty="0" smtClean="0"/>
              <a:t># 학습 데이터 </a:t>
            </a:r>
            <a:r>
              <a:rPr lang="ko-KR" altLang="en-US" dirty="0" err="1" smtClean="0"/>
              <a:t>학습셋과</a:t>
            </a:r>
            <a:r>
              <a:rPr lang="ko-KR" altLang="en-US" dirty="0" smtClean="0"/>
              <a:t> 테스트셋으로 분리</a:t>
            </a:r>
          </a:p>
          <a:p>
            <a:r>
              <a:rPr lang="ko-KR" altLang="en-US" dirty="0" err="1" smtClean="0"/>
              <a:t>X_train</a:t>
            </a:r>
            <a:r>
              <a:rPr lang="ko-KR" altLang="en-US" dirty="0" smtClean="0"/>
              <a:t>, </a:t>
            </a:r>
            <a:r>
              <a:rPr lang="ko-KR" altLang="en-US" dirty="0" err="1" smtClean="0"/>
              <a:t>X_test</a:t>
            </a:r>
            <a:r>
              <a:rPr lang="ko-KR" altLang="en-US" dirty="0" smtClean="0"/>
              <a:t>, </a:t>
            </a:r>
            <a:r>
              <a:rPr lang="ko-KR" altLang="en-US" dirty="0" err="1" smtClean="0"/>
              <a:t>y_train</a:t>
            </a:r>
            <a:r>
              <a:rPr lang="ko-KR" altLang="en-US" dirty="0" smtClean="0"/>
              <a:t>, </a:t>
            </a:r>
            <a:r>
              <a:rPr lang="ko-KR" altLang="en-US" dirty="0" err="1" smtClean="0"/>
              <a:t>y_test</a:t>
            </a:r>
            <a:r>
              <a:rPr lang="ko-KR" altLang="en-US" dirty="0" smtClean="0"/>
              <a:t> = </a:t>
            </a:r>
            <a:r>
              <a:rPr lang="ko-KR" altLang="en-US" dirty="0" err="1" smtClean="0"/>
              <a:t>train_test_split</a:t>
            </a:r>
            <a:r>
              <a:rPr lang="ko-KR" altLang="en-US" dirty="0" smtClean="0"/>
              <a:t>(</a:t>
            </a:r>
            <a:r>
              <a:rPr lang="ko-KR" altLang="en-US" dirty="0" err="1" smtClean="0"/>
              <a:t>X</a:t>
            </a:r>
            <a:r>
              <a:rPr lang="ko-KR" altLang="en-US" dirty="0" smtClean="0"/>
              <a:t>, </a:t>
            </a:r>
            <a:r>
              <a:rPr lang="ko-KR" altLang="en-US" dirty="0" err="1" smtClean="0"/>
              <a:t>y</a:t>
            </a:r>
            <a:r>
              <a:rPr lang="ko-KR" altLang="en-US" dirty="0" smtClean="0"/>
              <a:t>, </a:t>
            </a:r>
            <a:r>
              <a:rPr lang="ko-KR" altLang="en-US" dirty="0" err="1" smtClean="0"/>
              <a:t>test_size</a:t>
            </a:r>
            <a:r>
              <a:rPr lang="ko-KR" altLang="en-US" dirty="0" smtClean="0"/>
              <a:t>=0.2, </a:t>
            </a:r>
            <a:r>
              <a:rPr lang="ko-KR" altLang="en-US" dirty="0" err="1" smtClean="0"/>
              <a:t>random_state</a:t>
            </a:r>
            <a:r>
              <a:rPr lang="ko-KR" altLang="en-US" dirty="0" smtClean="0"/>
              <a:t>=5)</a:t>
            </a:r>
          </a:p>
          <a:p>
            <a:endParaRPr lang="ko-KR" altLang="en-US" dirty="0" smtClean="0"/>
          </a:p>
          <a:p>
            <a:r>
              <a:rPr lang="ko-KR" altLang="en-US" dirty="0" smtClean="0"/>
              <a:t># 특징 선별을 위한 모델 정의</a:t>
            </a:r>
          </a:p>
          <a:p>
            <a:r>
              <a:rPr lang="ko-KR" altLang="en-US" dirty="0" err="1" smtClean="0"/>
              <a:t>model</a:t>
            </a:r>
            <a:r>
              <a:rPr lang="ko-KR" altLang="en-US" dirty="0" smtClean="0"/>
              <a:t> = </a:t>
            </a:r>
            <a:r>
              <a:rPr lang="ko-KR" altLang="en-US" dirty="0" err="1" smtClean="0"/>
              <a:t>RandomForestClassifier</a:t>
            </a:r>
            <a:r>
              <a:rPr lang="ko-KR" altLang="en-US" dirty="0" smtClean="0"/>
              <a:t>()</a:t>
            </a:r>
          </a:p>
          <a:p>
            <a:r>
              <a:rPr lang="ko-KR" altLang="en-US" dirty="0" err="1" smtClean="0"/>
              <a:t>fs</a:t>
            </a:r>
            <a:r>
              <a:rPr lang="ko-KR" altLang="en-US" dirty="0" smtClean="0"/>
              <a:t> = </a:t>
            </a:r>
            <a:r>
              <a:rPr lang="ko-KR" altLang="en-US" dirty="0" err="1" smtClean="0"/>
              <a:t>SelectFromModel</a:t>
            </a:r>
            <a:r>
              <a:rPr lang="ko-KR" altLang="en-US" dirty="0" smtClean="0"/>
              <a:t>(</a:t>
            </a:r>
            <a:r>
              <a:rPr lang="ko-KR" altLang="en-US" dirty="0" err="1" smtClean="0"/>
              <a:t>model</a:t>
            </a:r>
            <a:r>
              <a:rPr lang="ko-KR" altLang="en-US" dirty="0" smtClean="0"/>
              <a:t>, </a:t>
            </a:r>
            <a:r>
              <a:rPr lang="ko-KR" altLang="en-US" dirty="0" err="1" smtClean="0"/>
              <a:t>max_features</a:t>
            </a:r>
            <a:r>
              <a:rPr lang="ko-KR" altLang="en-US" dirty="0" smtClean="0"/>
              <a:t>=5)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950800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특징 선택</a:t>
            </a:r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>
          <a:xfrm>
            <a:off x="838200" y="1845945"/>
            <a:ext cx="10515600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 smtClean="0"/>
              <a:t># 특징 중요도를 계산하고 이를 바탕으로 특징을 선택하기 위해 원 데이터를 이용하여 학습</a:t>
            </a:r>
          </a:p>
          <a:p>
            <a:r>
              <a:rPr lang="ko-KR" altLang="en-US" dirty="0" err="1" smtClean="0"/>
              <a:t>fs.fit</a:t>
            </a:r>
            <a:r>
              <a:rPr lang="ko-KR" altLang="en-US" dirty="0" smtClean="0"/>
              <a:t>(</a:t>
            </a:r>
            <a:r>
              <a:rPr lang="ko-KR" altLang="en-US" dirty="0" err="1" smtClean="0"/>
              <a:t>X_train</a:t>
            </a:r>
            <a:r>
              <a:rPr lang="ko-KR" altLang="en-US" dirty="0" smtClean="0"/>
              <a:t>, </a:t>
            </a:r>
            <a:r>
              <a:rPr lang="ko-KR" altLang="en-US" dirty="0" err="1" smtClean="0"/>
              <a:t>y_train</a:t>
            </a:r>
            <a:r>
              <a:rPr lang="ko-KR" altLang="en-US" dirty="0" smtClean="0"/>
              <a:t>)</a:t>
            </a:r>
          </a:p>
          <a:p>
            <a:r>
              <a:rPr lang="ko-KR" altLang="en-US" dirty="0" smtClean="0"/>
              <a:t># 선택된 특징에 맞추어 학습 데이터를 가공, 즉 선택된 특징에 해당하는 부분만 추출</a:t>
            </a:r>
          </a:p>
          <a:p>
            <a:r>
              <a:rPr lang="ko-KR" altLang="en-US" dirty="0" err="1" smtClean="0"/>
              <a:t>X_train_fs</a:t>
            </a:r>
            <a:r>
              <a:rPr lang="ko-KR" altLang="en-US" dirty="0" smtClean="0"/>
              <a:t> = </a:t>
            </a:r>
            <a:r>
              <a:rPr lang="ko-KR" altLang="en-US" dirty="0" err="1" smtClean="0"/>
              <a:t>fs.transform</a:t>
            </a:r>
            <a:r>
              <a:rPr lang="ko-KR" altLang="en-US" dirty="0" smtClean="0"/>
              <a:t>(</a:t>
            </a:r>
            <a:r>
              <a:rPr lang="ko-KR" altLang="en-US" dirty="0" err="1" smtClean="0"/>
              <a:t>X_train</a:t>
            </a:r>
            <a:r>
              <a:rPr lang="ko-KR" altLang="en-US" dirty="0" smtClean="0"/>
              <a:t>)</a:t>
            </a:r>
          </a:p>
          <a:p>
            <a:r>
              <a:rPr lang="ko-KR" altLang="en-US" dirty="0" err="1" smtClean="0"/>
              <a:t>X_test_fs</a:t>
            </a:r>
            <a:r>
              <a:rPr lang="ko-KR" altLang="en-US" dirty="0" smtClean="0"/>
              <a:t> = </a:t>
            </a:r>
            <a:r>
              <a:rPr lang="ko-KR" altLang="en-US" dirty="0" err="1" smtClean="0"/>
              <a:t>fs.transform</a:t>
            </a:r>
            <a:r>
              <a:rPr lang="ko-KR" altLang="en-US" dirty="0" smtClean="0"/>
              <a:t>(</a:t>
            </a:r>
            <a:r>
              <a:rPr lang="ko-KR" altLang="en-US" dirty="0" err="1" smtClean="0"/>
              <a:t>X_test</a:t>
            </a:r>
            <a:r>
              <a:rPr lang="ko-KR" altLang="en-US" dirty="0" smtClean="0"/>
              <a:t>)</a:t>
            </a:r>
          </a:p>
          <a:p>
            <a:endParaRPr lang="ko-KR" altLang="en-US" dirty="0" smtClean="0"/>
          </a:p>
          <a:p>
            <a:r>
              <a:rPr lang="ko-KR" altLang="en-US" dirty="0" smtClean="0"/>
              <a:t># 변환된 학습 데이터를 이용하여 모델을 학습. 이 때 모델은 특징 추출을 위해 만든 모델을</a:t>
            </a:r>
          </a:p>
          <a:p>
            <a:r>
              <a:rPr lang="ko-KR" altLang="en-US" dirty="0" smtClean="0"/>
              <a:t># 사용해도 되고 새로운 모델 (예: </a:t>
            </a:r>
            <a:r>
              <a:rPr lang="ko-KR" altLang="en-US" dirty="0" err="1" smtClean="0"/>
              <a:t>LogisticRegression</a:t>
            </a:r>
            <a:r>
              <a:rPr lang="ko-KR" altLang="en-US" dirty="0" smtClean="0"/>
              <a:t>)을 사용해도 됨</a:t>
            </a:r>
          </a:p>
          <a:p>
            <a:r>
              <a:rPr lang="ko-KR" altLang="en-US" dirty="0" smtClean="0"/>
              <a:t># </a:t>
            </a:r>
            <a:r>
              <a:rPr lang="ko-KR" altLang="en-US" dirty="0" err="1" smtClean="0"/>
              <a:t>model</a:t>
            </a:r>
            <a:r>
              <a:rPr lang="ko-KR" altLang="en-US" dirty="0" smtClean="0"/>
              <a:t> = </a:t>
            </a:r>
            <a:r>
              <a:rPr lang="ko-KR" altLang="en-US" dirty="0" err="1" smtClean="0"/>
              <a:t>LogisticRegression</a:t>
            </a:r>
            <a:r>
              <a:rPr lang="ko-KR" altLang="en-US" dirty="0" smtClean="0"/>
              <a:t>(</a:t>
            </a:r>
            <a:r>
              <a:rPr lang="ko-KR" altLang="en-US" dirty="0" err="1" smtClean="0"/>
              <a:t>solver</a:t>
            </a:r>
            <a:r>
              <a:rPr lang="ko-KR" altLang="en-US" dirty="0" smtClean="0"/>
              <a:t>='</a:t>
            </a:r>
            <a:r>
              <a:rPr lang="ko-KR" altLang="en-US" dirty="0" err="1" smtClean="0"/>
              <a:t>liblinear</a:t>
            </a:r>
            <a:r>
              <a:rPr lang="ko-KR" altLang="en-US" dirty="0" smtClean="0"/>
              <a:t>')</a:t>
            </a:r>
          </a:p>
          <a:p>
            <a:r>
              <a:rPr lang="ko-KR" altLang="en-US" dirty="0" err="1" smtClean="0"/>
              <a:t>model.fit</a:t>
            </a:r>
            <a:r>
              <a:rPr lang="ko-KR" altLang="en-US" dirty="0" smtClean="0"/>
              <a:t>(</a:t>
            </a:r>
            <a:r>
              <a:rPr lang="ko-KR" altLang="en-US" dirty="0" err="1" smtClean="0"/>
              <a:t>X_train_fs</a:t>
            </a:r>
            <a:r>
              <a:rPr lang="ko-KR" altLang="en-US" dirty="0" smtClean="0"/>
              <a:t>, </a:t>
            </a:r>
            <a:r>
              <a:rPr lang="ko-KR" altLang="en-US" dirty="0" err="1" smtClean="0"/>
              <a:t>y_train</a:t>
            </a:r>
            <a:r>
              <a:rPr lang="ko-KR" altLang="en-US" dirty="0" smtClean="0"/>
              <a:t>)</a:t>
            </a:r>
          </a:p>
          <a:p>
            <a:endParaRPr lang="ko-KR" altLang="en-US" dirty="0" smtClean="0"/>
          </a:p>
          <a:p>
            <a:r>
              <a:rPr lang="ko-KR" altLang="en-US" dirty="0" smtClean="0"/>
              <a:t># </a:t>
            </a:r>
            <a:r>
              <a:rPr lang="ko-KR" altLang="en-US" dirty="0" err="1" smtClean="0"/>
              <a:t>테스트셋에</a:t>
            </a:r>
            <a:r>
              <a:rPr lang="ko-KR" altLang="en-US" dirty="0" smtClean="0"/>
              <a:t> 대한 예측</a:t>
            </a:r>
          </a:p>
          <a:p>
            <a:r>
              <a:rPr lang="ko-KR" altLang="en-US" dirty="0" err="1" smtClean="0"/>
              <a:t>y_pred</a:t>
            </a:r>
            <a:r>
              <a:rPr lang="ko-KR" altLang="en-US" dirty="0" smtClean="0"/>
              <a:t> = </a:t>
            </a:r>
            <a:r>
              <a:rPr lang="ko-KR" altLang="en-US" dirty="0" err="1" smtClean="0"/>
              <a:t>model.predict</a:t>
            </a:r>
            <a:r>
              <a:rPr lang="ko-KR" altLang="en-US" dirty="0" smtClean="0"/>
              <a:t>(</a:t>
            </a:r>
            <a:r>
              <a:rPr lang="ko-KR" altLang="en-US" dirty="0" err="1" smtClean="0"/>
              <a:t>X_test_fs</a:t>
            </a:r>
            <a:r>
              <a:rPr lang="ko-KR" altLang="en-US" dirty="0" smtClean="0"/>
              <a:t>)</a:t>
            </a:r>
          </a:p>
          <a:p>
            <a:endParaRPr lang="ko-KR" altLang="en-US" dirty="0" smtClean="0"/>
          </a:p>
          <a:p>
            <a:r>
              <a:rPr lang="ko-KR" altLang="en-US" dirty="0" smtClean="0"/>
              <a:t># 예측 결과 성능 평가</a:t>
            </a:r>
          </a:p>
          <a:p>
            <a:r>
              <a:rPr lang="ko-KR" altLang="en-US" dirty="0" err="1" smtClean="0"/>
              <a:t>accuracy</a:t>
            </a:r>
            <a:r>
              <a:rPr lang="ko-KR" altLang="en-US" dirty="0" smtClean="0"/>
              <a:t> = </a:t>
            </a:r>
            <a:r>
              <a:rPr lang="ko-KR" altLang="en-US" dirty="0" err="1" smtClean="0"/>
              <a:t>accuracy_score</a:t>
            </a:r>
            <a:r>
              <a:rPr lang="ko-KR" altLang="en-US" dirty="0" smtClean="0"/>
              <a:t>(</a:t>
            </a:r>
            <a:r>
              <a:rPr lang="ko-KR" altLang="en-US" dirty="0" err="1" smtClean="0"/>
              <a:t>y_test</a:t>
            </a:r>
            <a:r>
              <a:rPr lang="ko-KR" altLang="en-US" dirty="0" smtClean="0"/>
              <a:t>, </a:t>
            </a:r>
            <a:r>
              <a:rPr lang="ko-KR" altLang="en-US" dirty="0" err="1" smtClean="0"/>
              <a:t>y_pred</a:t>
            </a:r>
            <a:r>
              <a:rPr lang="ko-KR" altLang="en-US" dirty="0" smtClean="0"/>
              <a:t>)</a:t>
            </a:r>
          </a:p>
          <a:p>
            <a:r>
              <a:rPr lang="ko-KR" altLang="en-US" dirty="0" err="1" smtClean="0"/>
              <a:t>print</a:t>
            </a:r>
            <a:r>
              <a:rPr lang="ko-KR" altLang="en-US" dirty="0" smtClean="0"/>
              <a:t>('</a:t>
            </a:r>
            <a:r>
              <a:rPr lang="ko-KR" altLang="en-US" dirty="0" err="1" smtClean="0"/>
              <a:t>Accuracy</a:t>
            </a:r>
            <a:r>
              <a:rPr lang="ko-KR" altLang="en-US" dirty="0" smtClean="0"/>
              <a:t>: %.2f' % (</a:t>
            </a:r>
            <a:r>
              <a:rPr lang="ko-KR" altLang="en-US" dirty="0" err="1" smtClean="0"/>
              <a:t>accuracy</a:t>
            </a:r>
            <a:r>
              <a:rPr lang="ko-KR" altLang="en-US" dirty="0" smtClean="0"/>
              <a:t>*100))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906622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261</TotalTime>
  <Words>1003</Words>
  <Application>Microsoft Office PowerPoint</Application>
  <PresentationFormat>와이드스크린</PresentationFormat>
  <Paragraphs>157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6" baseType="lpstr">
      <vt:lpstr>맑은 고딕</vt:lpstr>
      <vt:lpstr>Arial</vt:lpstr>
      <vt:lpstr>Office 테마</vt:lpstr>
      <vt:lpstr>Miscellaneous</vt:lpstr>
      <vt:lpstr>클래스 불균형 문제 (Class Imbalace Problem)</vt:lpstr>
      <vt:lpstr>클래스 불균형 문제 (Class Imbalace Problem)</vt:lpstr>
      <vt:lpstr>클래스 불균형 문제 (Class Imbalace Problem)</vt:lpstr>
      <vt:lpstr>최적의 학습 패러미터 찾기</vt:lpstr>
      <vt:lpstr>최적의 학습 패러미터 찾기</vt:lpstr>
      <vt:lpstr>최적의 학습 패러미터 찾기</vt:lpstr>
      <vt:lpstr>특징 상대 중요도 계산하기</vt:lpstr>
      <vt:lpstr>특징 상대 중요도 계산하기</vt:lpstr>
      <vt:lpstr>특징 상대 중요도 계산하기</vt:lpstr>
      <vt:lpstr>특징 선택</vt:lpstr>
      <vt:lpstr>특징 선택</vt:lpstr>
      <vt:lpstr>특징 선택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Miscellaneous</dc:title>
  <dc:creator>user</dc:creator>
  <cp:lastModifiedBy>user</cp:lastModifiedBy>
  <cp:revision>16</cp:revision>
  <dcterms:created xsi:type="dcterms:W3CDTF">2021-02-24T00:30:33Z</dcterms:created>
  <dcterms:modified xsi:type="dcterms:W3CDTF">2021-05-24T01:01:20Z</dcterms:modified>
</cp:coreProperties>
</file>