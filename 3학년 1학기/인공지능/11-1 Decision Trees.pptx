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62" r:id="rId13"/>
    <p:sldId id="263" r:id="rId14"/>
    <p:sldId id="260" r:id="rId15"/>
    <p:sldId id="265" r:id="rId16"/>
    <p:sldId id="258" r:id="rId17"/>
    <p:sldId id="261" r:id="rId18"/>
    <p:sldId id="266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1" autoAdjust="0"/>
    <p:restoredTop sz="94660"/>
  </p:normalViewPr>
  <p:slideViewPr>
    <p:cSldViewPr snapToGrid="0">
      <p:cViewPr varScale="1">
        <p:scale>
          <a:sx n="91" d="100"/>
          <a:sy n="91" d="100"/>
        </p:scale>
        <p:origin x="108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15927-6E66-4D38-8D61-1A54E35D7B45}" type="datetimeFigureOut">
              <a:rPr lang="ko-KR" altLang="en-US" smtClean="0"/>
              <a:t>2021-03-17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D7AD2-EFEA-469A-BE99-B633B8B27A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746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15927-6E66-4D38-8D61-1A54E35D7B45}" type="datetimeFigureOut">
              <a:rPr lang="ko-KR" altLang="en-US" smtClean="0"/>
              <a:t>2021-03-17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D7AD2-EFEA-469A-BE99-B633B8B27A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4256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15927-6E66-4D38-8D61-1A54E35D7B45}" type="datetimeFigureOut">
              <a:rPr lang="ko-KR" altLang="en-US" smtClean="0"/>
              <a:t>2021-03-17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D7AD2-EFEA-469A-BE99-B633B8B27A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371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15927-6E66-4D38-8D61-1A54E35D7B45}" type="datetimeFigureOut">
              <a:rPr lang="ko-KR" altLang="en-US" smtClean="0"/>
              <a:t>2021-03-17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D7AD2-EFEA-469A-BE99-B633B8B27A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4673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15927-6E66-4D38-8D61-1A54E35D7B45}" type="datetimeFigureOut">
              <a:rPr lang="ko-KR" altLang="en-US" smtClean="0"/>
              <a:t>2021-03-17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D7AD2-EFEA-469A-BE99-B633B8B27A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0651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15927-6E66-4D38-8D61-1A54E35D7B45}" type="datetimeFigureOut">
              <a:rPr lang="ko-KR" altLang="en-US" smtClean="0"/>
              <a:t>2021-03-17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D7AD2-EFEA-469A-BE99-B633B8B27A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0729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15927-6E66-4D38-8D61-1A54E35D7B45}" type="datetimeFigureOut">
              <a:rPr lang="ko-KR" altLang="en-US" smtClean="0"/>
              <a:t>2021-03-17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D7AD2-EFEA-469A-BE99-B633B8B27A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8788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15927-6E66-4D38-8D61-1A54E35D7B45}" type="datetimeFigureOut">
              <a:rPr lang="ko-KR" altLang="en-US" smtClean="0"/>
              <a:t>2021-03-17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D7AD2-EFEA-469A-BE99-B633B8B27A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7949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15927-6E66-4D38-8D61-1A54E35D7B45}" type="datetimeFigureOut">
              <a:rPr lang="ko-KR" altLang="en-US" smtClean="0"/>
              <a:t>2021-03-17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D7AD2-EFEA-469A-BE99-B633B8B27A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4712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15927-6E66-4D38-8D61-1A54E35D7B45}" type="datetimeFigureOut">
              <a:rPr lang="ko-KR" altLang="en-US" smtClean="0"/>
              <a:t>2021-03-17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D7AD2-EFEA-469A-BE99-B633B8B27A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413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15927-6E66-4D38-8D61-1A54E35D7B45}" type="datetimeFigureOut">
              <a:rPr lang="ko-KR" altLang="en-US" smtClean="0"/>
              <a:t>2021-03-17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D7AD2-EFEA-469A-BE99-B633B8B27A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240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015927-6E66-4D38-8D61-1A54E35D7B45}" type="datetimeFigureOut">
              <a:rPr lang="ko-KR" altLang="en-US" smtClean="0"/>
              <a:t>2021-03-17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D7AD2-EFEA-469A-BE99-B633B8B27A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1185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3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4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4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5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5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Decision </a:t>
            </a:r>
            <a:r>
              <a:rPr lang="en-US" altLang="ko-KR" b="1" dirty="0" smtClean="0"/>
              <a:t>Trees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0927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Decision Tree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분류 및 회귀 작업을 모두 수행 할 수 </a:t>
            </a:r>
            <a:r>
              <a:rPr lang="ko-KR" altLang="en-US" dirty="0" smtClean="0"/>
              <a:t>있음</a:t>
            </a:r>
            <a:endParaRPr lang="en-US" altLang="ko-KR" dirty="0" smtClean="0"/>
          </a:p>
          <a:p>
            <a:r>
              <a:rPr lang="ko-KR" altLang="en-US" dirty="0" smtClean="0"/>
              <a:t>의사 </a:t>
            </a:r>
            <a:r>
              <a:rPr lang="ko-KR" altLang="en-US" dirty="0"/>
              <a:t>결정 트리는 사람이 이해할 수 있고 데이터베이스와 같은 지식 시스템에서 사용할 </a:t>
            </a:r>
            <a:r>
              <a:rPr lang="ko-KR" altLang="en-US" dirty="0" smtClean="0"/>
              <a:t>수 있는 </a:t>
            </a:r>
            <a:r>
              <a:rPr lang="ko-KR" altLang="en-US" dirty="0"/>
              <a:t>규칙을 </a:t>
            </a:r>
            <a:r>
              <a:rPr lang="ko-KR" altLang="en-US" dirty="0" smtClean="0"/>
              <a:t>나타냄</a:t>
            </a:r>
            <a:r>
              <a:rPr lang="en-US" altLang="zh-CN" dirty="0" smtClean="0"/>
              <a:t>  </a:t>
            </a:r>
            <a:endParaRPr lang="en-US" altLang="zh-CN" dirty="0"/>
          </a:p>
          <a:p>
            <a:r>
              <a:rPr lang="ko-KR" altLang="en-US" dirty="0"/>
              <a:t>의사 결정 트리는 트리 </a:t>
            </a:r>
            <a:r>
              <a:rPr lang="ko-KR" altLang="en-US" dirty="0" smtClean="0"/>
              <a:t>구조의 분류기 임</a:t>
            </a:r>
            <a:endParaRPr lang="en-US" altLang="zh-CN" dirty="0"/>
          </a:p>
          <a:p>
            <a:pPr lvl="1"/>
            <a:r>
              <a:rPr lang="ko-KR" altLang="en-US" sz="2200" dirty="0"/>
              <a:t>결정</a:t>
            </a:r>
            <a:r>
              <a:rPr lang="en-US" altLang="ko-KR" sz="2200" dirty="0"/>
              <a:t>(decision) </a:t>
            </a:r>
            <a:r>
              <a:rPr lang="ko-KR" altLang="en-US" sz="2200" dirty="0"/>
              <a:t>노드 </a:t>
            </a:r>
            <a:r>
              <a:rPr lang="en-US" altLang="ko-KR" sz="2200" dirty="0"/>
              <a:t>: </a:t>
            </a:r>
            <a:r>
              <a:rPr lang="ko-KR" altLang="en-US" sz="2200" dirty="0"/>
              <a:t>단일 속성에 대한 테스트를 지정</a:t>
            </a:r>
          </a:p>
          <a:p>
            <a:pPr lvl="1"/>
            <a:r>
              <a:rPr lang="ko-KR" altLang="en-US" sz="2200" dirty="0"/>
              <a:t>리프 </a:t>
            </a:r>
            <a:r>
              <a:rPr lang="en-US" altLang="ko-KR" sz="2200" dirty="0"/>
              <a:t>(leaf) </a:t>
            </a:r>
            <a:r>
              <a:rPr lang="ko-KR" altLang="en-US" sz="2200" dirty="0"/>
              <a:t>노드 </a:t>
            </a:r>
            <a:r>
              <a:rPr lang="en-US" altLang="ko-KR" sz="2200" dirty="0"/>
              <a:t>: </a:t>
            </a:r>
            <a:r>
              <a:rPr lang="ko-KR" altLang="en-US" sz="2200" dirty="0"/>
              <a:t>타겟 속성의 값을 나타냄</a:t>
            </a:r>
          </a:p>
          <a:p>
            <a:pPr lvl="1"/>
            <a:r>
              <a:rPr lang="ko-KR" altLang="en-US" sz="2200" dirty="0"/>
              <a:t>호</a:t>
            </a:r>
            <a:r>
              <a:rPr lang="en-US" altLang="ko-KR" sz="2200" dirty="0"/>
              <a:t>(arc) / </a:t>
            </a:r>
            <a:r>
              <a:rPr lang="ko-KR" altLang="en-US" sz="2200" dirty="0"/>
              <a:t>에지 </a:t>
            </a:r>
            <a:r>
              <a:rPr lang="en-US" altLang="ko-KR" sz="2200" dirty="0"/>
              <a:t>(edge) : </a:t>
            </a:r>
            <a:r>
              <a:rPr lang="ko-KR" altLang="en-US" sz="2200" dirty="0"/>
              <a:t>한 속성의 분할</a:t>
            </a:r>
          </a:p>
          <a:p>
            <a:pPr lvl="1"/>
            <a:r>
              <a:rPr lang="ko-KR" altLang="en-US" sz="2200" dirty="0"/>
              <a:t>경로 </a:t>
            </a:r>
            <a:r>
              <a:rPr lang="en-US" altLang="ko-KR" sz="2200" dirty="0"/>
              <a:t>(pass) : </a:t>
            </a:r>
            <a:r>
              <a:rPr lang="ko-KR" altLang="en-US" sz="2200" dirty="0"/>
              <a:t>최종 결정에 이르는 일련의 </a:t>
            </a:r>
            <a:r>
              <a:rPr lang="ko-KR" altLang="en-US" sz="2200" dirty="0" smtClean="0"/>
              <a:t>테스트</a:t>
            </a:r>
            <a:endParaRPr lang="en-US" altLang="zh-CN" sz="2200" dirty="0"/>
          </a:p>
          <a:p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068807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50" charset="-127"/>
              </a:rPr>
              <a:t>Example of a Decision Tree</a:t>
            </a:r>
          </a:p>
        </p:txBody>
      </p:sp>
      <p:grpSp>
        <p:nvGrpSpPr>
          <p:cNvPr id="17411" name="Group 3"/>
          <p:cNvGrpSpPr>
            <a:grpSpLocks/>
          </p:cNvGrpSpPr>
          <p:nvPr/>
        </p:nvGrpSpPr>
        <p:grpSpPr bwMode="auto">
          <a:xfrm>
            <a:off x="1828800" y="1720850"/>
            <a:ext cx="3587750" cy="4311650"/>
            <a:chOff x="288" y="951"/>
            <a:chExt cx="2260" cy="2716"/>
          </a:xfrm>
        </p:grpSpPr>
        <p:graphicFrame>
          <p:nvGraphicFramePr>
            <p:cNvPr id="17412" name="Object 4"/>
            <p:cNvGraphicFramePr>
              <a:graphicFrameLocks noChangeAspect="1"/>
            </p:cNvGraphicFramePr>
            <p:nvPr/>
          </p:nvGraphicFramePr>
          <p:xfrm>
            <a:off x="288" y="1344"/>
            <a:ext cx="2246" cy="2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0" name="Document" r:id="rId3" imgW="5405040" imgH="5780160" progId="Word.Document.8">
                    <p:embed/>
                  </p:oleObj>
                </mc:Choice>
                <mc:Fallback>
                  <p:oleObj name="Document" r:id="rId3" imgW="5405040" imgH="5780160" progId="Word.Document.8">
                    <p:embed/>
                    <p:pic>
                      <p:nvPicPr>
                        <p:cNvPr id="17412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1344"/>
                          <a:ext cx="2246" cy="2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13" name="Text Box 5"/>
            <p:cNvSpPr txBox="1">
              <a:spLocks noChangeArrowheads="1"/>
            </p:cNvSpPr>
            <p:nvPr/>
          </p:nvSpPr>
          <p:spPr bwMode="auto">
            <a:xfrm rot="-2416809">
              <a:off x="672" y="951"/>
              <a:ext cx="7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ko-KR" sz="1600" b="1">
                  <a:solidFill>
                    <a:srgbClr val="006600"/>
                  </a:solidFill>
                  <a:ea typeface="굴림" panose="020B0600000101010101" pitchFamily="50" charset="-127"/>
                </a:rPr>
                <a:t>categorical</a:t>
              </a:r>
              <a:endParaRPr lang="en-US" altLang="ko-KR" sz="1600" b="1">
                <a:solidFill>
                  <a:schemeClr val="bg2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17414" name="Text Box 6"/>
            <p:cNvSpPr txBox="1">
              <a:spLocks noChangeArrowheads="1"/>
            </p:cNvSpPr>
            <p:nvPr/>
          </p:nvSpPr>
          <p:spPr bwMode="auto">
            <a:xfrm rot="-2416809">
              <a:off x="1104" y="951"/>
              <a:ext cx="7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ko-KR" sz="1600" b="1">
                  <a:solidFill>
                    <a:srgbClr val="006600"/>
                  </a:solidFill>
                  <a:ea typeface="굴림" panose="020B0600000101010101" pitchFamily="50" charset="-127"/>
                </a:rPr>
                <a:t>categorical</a:t>
              </a:r>
              <a:endParaRPr lang="en-US" altLang="ko-KR" sz="1600" b="1">
                <a:solidFill>
                  <a:schemeClr val="bg2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17415" name="Text Box 7"/>
            <p:cNvSpPr txBox="1">
              <a:spLocks noChangeArrowheads="1"/>
            </p:cNvSpPr>
            <p:nvPr/>
          </p:nvSpPr>
          <p:spPr bwMode="auto">
            <a:xfrm rot="-2416809">
              <a:off x="1632" y="951"/>
              <a:ext cx="80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ko-KR" sz="1600" b="1">
                  <a:solidFill>
                    <a:srgbClr val="006600"/>
                  </a:solidFill>
                  <a:ea typeface="굴림" panose="020B0600000101010101" pitchFamily="50" charset="-127"/>
                </a:rPr>
                <a:t>continuous</a:t>
              </a:r>
              <a:endParaRPr lang="en-US" altLang="ko-KR" sz="1600" b="1">
                <a:solidFill>
                  <a:schemeClr val="bg2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17416" name="Text Box 8"/>
            <p:cNvSpPr txBox="1">
              <a:spLocks noChangeArrowheads="1"/>
            </p:cNvSpPr>
            <p:nvPr/>
          </p:nvSpPr>
          <p:spPr bwMode="auto">
            <a:xfrm rot="-2416809">
              <a:off x="2112" y="1047"/>
              <a:ext cx="4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ko-KR" sz="1600" b="1">
                  <a:solidFill>
                    <a:srgbClr val="006600"/>
                  </a:solidFill>
                  <a:ea typeface="굴림" panose="020B0600000101010101" pitchFamily="50" charset="-127"/>
                </a:rPr>
                <a:t>class</a:t>
              </a:r>
              <a:endParaRPr lang="en-US" altLang="ko-KR" sz="1600" b="1">
                <a:solidFill>
                  <a:schemeClr val="bg2"/>
                </a:solidFill>
                <a:ea typeface="굴림" panose="020B0600000101010101" pitchFamily="50" charset="-127"/>
              </a:endParaRPr>
            </a:p>
          </p:txBody>
        </p:sp>
      </p:grpSp>
      <p:sp>
        <p:nvSpPr>
          <p:cNvPr id="17417" name="Line 9"/>
          <p:cNvSpPr>
            <a:spLocks noChangeShapeType="1"/>
          </p:cNvSpPr>
          <p:nvPr/>
        </p:nvSpPr>
        <p:spPr bwMode="auto">
          <a:xfrm>
            <a:off x="8566150" y="4854575"/>
            <a:ext cx="242888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7418" name="Line 10"/>
          <p:cNvSpPr>
            <a:spLocks noChangeShapeType="1"/>
          </p:cNvSpPr>
          <p:nvPr/>
        </p:nvSpPr>
        <p:spPr bwMode="auto">
          <a:xfrm flipH="1">
            <a:off x="7435850" y="4854575"/>
            <a:ext cx="323850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7419" name="Line 11"/>
          <p:cNvSpPr>
            <a:spLocks noChangeShapeType="1"/>
          </p:cNvSpPr>
          <p:nvPr/>
        </p:nvSpPr>
        <p:spPr bwMode="auto">
          <a:xfrm flipH="1">
            <a:off x="8081964" y="4060825"/>
            <a:ext cx="403225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7420" name="Line 12"/>
          <p:cNvSpPr>
            <a:spLocks noChangeShapeType="1"/>
          </p:cNvSpPr>
          <p:nvPr/>
        </p:nvSpPr>
        <p:spPr bwMode="auto">
          <a:xfrm>
            <a:off x="9293225" y="4060825"/>
            <a:ext cx="484188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7421" name="Line 13"/>
          <p:cNvSpPr>
            <a:spLocks noChangeShapeType="1"/>
          </p:cNvSpPr>
          <p:nvPr/>
        </p:nvSpPr>
        <p:spPr bwMode="auto">
          <a:xfrm>
            <a:off x="8243888" y="3333750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7422" name="Line 14"/>
          <p:cNvSpPr>
            <a:spLocks noChangeShapeType="1"/>
          </p:cNvSpPr>
          <p:nvPr/>
        </p:nvSpPr>
        <p:spPr bwMode="auto">
          <a:xfrm flipH="1">
            <a:off x="6870700" y="3333750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7423" name="Text Box 15"/>
          <p:cNvSpPr txBox="1">
            <a:spLocks noChangeArrowheads="1"/>
          </p:cNvSpPr>
          <p:nvPr/>
        </p:nvSpPr>
        <p:spPr bwMode="auto">
          <a:xfrm>
            <a:off x="7388226" y="3070225"/>
            <a:ext cx="93662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2D1993"/>
                </a:solidFill>
                <a:ea typeface="굴림" panose="020B0600000101010101" pitchFamily="50" charset="-127"/>
              </a:rPr>
              <a:t>Refund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17424" name="Text Box 16"/>
          <p:cNvSpPr txBox="1">
            <a:spLocks noChangeArrowheads="1"/>
          </p:cNvSpPr>
          <p:nvPr/>
        </p:nvSpPr>
        <p:spPr bwMode="auto">
          <a:xfrm>
            <a:off x="8404225" y="3797300"/>
            <a:ext cx="935038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2D1993"/>
                </a:solidFill>
                <a:ea typeface="굴림" panose="020B0600000101010101" pitchFamily="50" charset="-127"/>
              </a:rPr>
              <a:t>MarSt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17425" name="Text Box 17"/>
          <p:cNvSpPr txBox="1">
            <a:spLocks noChangeArrowheads="1"/>
          </p:cNvSpPr>
          <p:nvPr/>
        </p:nvSpPr>
        <p:spPr bwMode="auto">
          <a:xfrm>
            <a:off x="7678739" y="4589463"/>
            <a:ext cx="96837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2D1993"/>
                </a:solidFill>
                <a:ea typeface="굴림" panose="020B0600000101010101" pitchFamily="50" charset="-127"/>
              </a:rPr>
              <a:t>TaxInc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17426" name="AutoShape 18"/>
          <p:cNvSpPr>
            <a:spLocks noChangeArrowheads="1"/>
          </p:cNvSpPr>
          <p:nvPr/>
        </p:nvSpPr>
        <p:spPr bwMode="auto">
          <a:xfrm>
            <a:off x="8605838" y="5378451"/>
            <a:ext cx="627062" cy="36671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7427" name="Text Box 19"/>
          <p:cNvSpPr txBox="1">
            <a:spLocks noChangeArrowheads="1"/>
          </p:cNvSpPr>
          <p:nvPr/>
        </p:nvSpPr>
        <p:spPr bwMode="auto">
          <a:xfrm>
            <a:off x="8529638" y="5378450"/>
            <a:ext cx="685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800000"/>
                </a:solidFill>
                <a:ea typeface="굴림" panose="020B0600000101010101" pitchFamily="50" charset="-127"/>
              </a:rPr>
              <a:t>YES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17428" name="AutoShape 20"/>
          <p:cNvSpPr>
            <a:spLocks noChangeArrowheads="1"/>
          </p:cNvSpPr>
          <p:nvPr/>
        </p:nvSpPr>
        <p:spPr bwMode="auto">
          <a:xfrm>
            <a:off x="7113588" y="5395914"/>
            <a:ext cx="654050" cy="3635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7429" name="Text Box 21"/>
          <p:cNvSpPr txBox="1">
            <a:spLocks noChangeArrowheads="1"/>
          </p:cNvSpPr>
          <p:nvPr/>
        </p:nvSpPr>
        <p:spPr bwMode="auto">
          <a:xfrm>
            <a:off x="7210425" y="5381625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800000"/>
                </a:solidFill>
                <a:ea typeface="굴림" panose="020B0600000101010101" pitchFamily="50" charset="-127"/>
              </a:rPr>
              <a:t>NO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17430" name="AutoShape 22"/>
          <p:cNvSpPr>
            <a:spLocks noChangeArrowheads="1"/>
          </p:cNvSpPr>
          <p:nvPr/>
        </p:nvSpPr>
        <p:spPr bwMode="auto">
          <a:xfrm>
            <a:off x="6548438" y="3811588"/>
            <a:ext cx="685800" cy="347662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7431" name="Text Box 23"/>
          <p:cNvSpPr txBox="1">
            <a:spLocks noChangeArrowheads="1"/>
          </p:cNvSpPr>
          <p:nvPr/>
        </p:nvSpPr>
        <p:spPr bwMode="auto">
          <a:xfrm>
            <a:off x="6643688" y="3797300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800000"/>
                </a:solidFill>
                <a:ea typeface="굴림" panose="020B0600000101010101" pitchFamily="50" charset="-127"/>
              </a:rPr>
              <a:t>NO</a:t>
            </a:r>
            <a:endParaRPr lang="en-US" altLang="ko-KR" sz="1600">
              <a:solidFill>
                <a:srgbClr val="00FFFF"/>
              </a:solidFill>
              <a:ea typeface="굴림" panose="020B0600000101010101" pitchFamily="50" charset="-127"/>
            </a:endParaRPr>
          </a:p>
        </p:txBody>
      </p:sp>
      <p:sp>
        <p:nvSpPr>
          <p:cNvPr id="17432" name="AutoShape 24"/>
          <p:cNvSpPr>
            <a:spLocks noChangeArrowheads="1"/>
          </p:cNvSpPr>
          <p:nvPr/>
        </p:nvSpPr>
        <p:spPr bwMode="auto">
          <a:xfrm>
            <a:off x="9444038" y="4616450"/>
            <a:ext cx="685800" cy="381000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7433" name="Text Box 25"/>
          <p:cNvSpPr txBox="1">
            <a:spLocks noChangeArrowheads="1"/>
          </p:cNvSpPr>
          <p:nvPr/>
        </p:nvSpPr>
        <p:spPr bwMode="auto">
          <a:xfrm>
            <a:off x="9520238" y="4616450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800000"/>
                </a:solidFill>
                <a:ea typeface="굴림" panose="020B0600000101010101" pitchFamily="50" charset="-127"/>
              </a:rPr>
              <a:t>NO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17434" name="Text Box 26"/>
          <p:cNvSpPr txBox="1">
            <a:spLocks noChangeArrowheads="1"/>
          </p:cNvSpPr>
          <p:nvPr/>
        </p:nvSpPr>
        <p:spPr bwMode="auto">
          <a:xfrm>
            <a:off x="6661150" y="3333750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>
                <a:ea typeface="굴림" panose="020B0600000101010101" pitchFamily="50" charset="-127"/>
              </a:rPr>
              <a:t>Yes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17435" name="Text Box 27"/>
          <p:cNvSpPr txBox="1">
            <a:spLocks noChangeArrowheads="1"/>
          </p:cNvSpPr>
          <p:nvPr/>
        </p:nvSpPr>
        <p:spPr bwMode="auto">
          <a:xfrm>
            <a:off x="8526463" y="3333750"/>
            <a:ext cx="4429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>
                <a:ea typeface="굴림" panose="020B0600000101010101" pitchFamily="50" charset="-127"/>
              </a:rPr>
              <a:t>No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17436" name="Text Box 28"/>
          <p:cNvSpPr txBox="1">
            <a:spLocks noChangeArrowheads="1"/>
          </p:cNvSpPr>
          <p:nvPr/>
        </p:nvSpPr>
        <p:spPr bwMode="auto">
          <a:xfrm>
            <a:off x="9509126" y="4098925"/>
            <a:ext cx="9302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>
                <a:ea typeface="굴림" panose="020B0600000101010101" pitchFamily="50" charset="-127"/>
              </a:rPr>
              <a:t>Married</a:t>
            </a:r>
            <a:r>
              <a:rPr lang="en-US" altLang="ko-KR" sz="1600">
                <a:solidFill>
                  <a:schemeClr val="bg2"/>
                </a:solidFill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17437" name="Text Box 29"/>
          <p:cNvSpPr txBox="1">
            <a:spLocks noChangeArrowheads="1"/>
          </p:cNvSpPr>
          <p:nvPr/>
        </p:nvSpPr>
        <p:spPr bwMode="auto">
          <a:xfrm>
            <a:off x="7292976" y="4127500"/>
            <a:ext cx="1660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>
                <a:ea typeface="굴림" panose="020B0600000101010101" pitchFamily="50" charset="-127"/>
              </a:rPr>
              <a:t>Single, Divorced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17438" name="Text Box 30"/>
          <p:cNvSpPr txBox="1">
            <a:spLocks noChangeArrowheads="1"/>
          </p:cNvSpPr>
          <p:nvPr/>
        </p:nvSpPr>
        <p:spPr bwMode="auto">
          <a:xfrm>
            <a:off x="6913564" y="4919663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>
                <a:ea typeface="굴림" panose="020B0600000101010101" pitchFamily="50" charset="-127"/>
              </a:rPr>
              <a:t>&lt; 80K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17439" name="Text Box 31"/>
          <p:cNvSpPr txBox="1">
            <a:spLocks noChangeArrowheads="1"/>
          </p:cNvSpPr>
          <p:nvPr/>
        </p:nvSpPr>
        <p:spPr bwMode="auto">
          <a:xfrm>
            <a:off x="8688389" y="4919663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>
                <a:ea typeface="굴림" panose="020B0600000101010101" pitchFamily="50" charset="-127"/>
              </a:rPr>
              <a:t>&gt; 80K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17440" name="Text Box 32"/>
          <p:cNvSpPr txBox="1">
            <a:spLocks noChangeArrowheads="1"/>
          </p:cNvSpPr>
          <p:nvPr/>
        </p:nvSpPr>
        <p:spPr bwMode="auto">
          <a:xfrm>
            <a:off x="8027988" y="2116138"/>
            <a:ext cx="2241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b="1" i="1">
                <a:solidFill>
                  <a:srgbClr val="FF0000"/>
                </a:solidFill>
                <a:ea typeface="굴림" panose="020B0600000101010101" pitchFamily="50" charset="-127"/>
              </a:rPr>
              <a:t>Splitting Attributes</a:t>
            </a:r>
          </a:p>
        </p:txBody>
      </p:sp>
      <p:sp>
        <p:nvSpPr>
          <p:cNvPr id="17441" name="Line 33"/>
          <p:cNvSpPr>
            <a:spLocks noChangeShapeType="1"/>
          </p:cNvSpPr>
          <p:nvPr/>
        </p:nvSpPr>
        <p:spPr bwMode="auto">
          <a:xfrm flipH="1">
            <a:off x="8405814" y="2497139"/>
            <a:ext cx="536575" cy="534987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7442" name="AutoShape 34"/>
          <p:cNvSpPr>
            <a:spLocks noChangeArrowheads="1"/>
          </p:cNvSpPr>
          <p:nvPr/>
        </p:nvSpPr>
        <p:spPr bwMode="auto">
          <a:xfrm>
            <a:off x="5410200" y="4159250"/>
            <a:ext cx="914400" cy="293688"/>
          </a:xfrm>
          <a:prstGeom prst="rightArrow">
            <a:avLst>
              <a:gd name="adj1" fmla="val 50000"/>
              <a:gd name="adj2" fmla="val 77838"/>
            </a:avLst>
          </a:prstGeom>
          <a:solidFill>
            <a:srgbClr val="CC0000"/>
          </a:solidFill>
          <a:ln w="12700">
            <a:solidFill>
              <a:srgbClr val="CC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7443" name="Line 35"/>
          <p:cNvSpPr>
            <a:spLocks noChangeShapeType="1"/>
          </p:cNvSpPr>
          <p:nvPr/>
        </p:nvSpPr>
        <p:spPr bwMode="auto">
          <a:xfrm>
            <a:off x="9018588" y="2497139"/>
            <a:ext cx="76200" cy="1144587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7444" name="Text Box 36"/>
          <p:cNvSpPr txBox="1">
            <a:spLocks noChangeArrowheads="1"/>
          </p:cNvSpPr>
          <p:nvPr/>
        </p:nvSpPr>
        <p:spPr bwMode="auto">
          <a:xfrm>
            <a:off x="2362200" y="6216650"/>
            <a:ext cx="2514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2000" b="1">
                <a:solidFill>
                  <a:schemeClr val="tx2"/>
                </a:solidFill>
                <a:ea typeface="굴림" panose="020B0600000101010101" pitchFamily="50" charset="-127"/>
              </a:rPr>
              <a:t>Training Data</a:t>
            </a:r>
            <a:endParaRPr lang="en-US" altLang="ko-KR" sz="20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17445" name="Text Box 37"/>
          <p:cNvSpPr txBox="1">
            <a:spLocks noChangeArrowheads="1"/>
          </p:cNvSpPr>
          <p:nvPr/>
        </p:nvSpPr>
        <p:spPr bwMode="auto">
          <a:xfrm>
            <a:off x="6629400" y="6184900"/>
            <a:ext cx="3124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2000" b="1">
                <a:solidFill>
                  <a:schemeClr val="tx2"/>
                </a:solidFill>
                <a:ea typeface="굴림" panose="020B0600000101010101" pitchFamily="50" charset="-127"/>
              </a:rPr>
              <a:t>Model:  Decision Tree</a:t>
            </a:r>
            <a:endParaRPr lang="en-US" altLang="ko-KR" sz="20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8182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50" charset="-127"/>
              </a:rPr>
              <a:t>Another Example of Decision Tree</a:t>
            </a:r>
          </a:p>
        </p:txBody>
      </p:sp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1905001" y="2484438"/>
          <a:ext cx="3565525" cy="3687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Document" r:id="rId3" imgW="5405040" imgH="5780160" progId="Word.Document.8">
                  <p:embed/>
                </p:oleObj>
              </mc:Choice>
              <mc:Fallback>
                <p:oleObj name="Document" r:id="rId3" imgW="5405040" imgH="5780160" progId="Word.Document.8">
                  <p:embed/>
                  <p:pic>
                    <p:nvPicPr>
                      <p:cNvPr id="1843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1" y="2484438"/>
                        <a:ext cx="3565525" cy="3687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Text Box 4"/>
          <p:cNvSpPr txBox="1">
            <a:spLocks noChangeArrowheads="1"/>
          </p:cNvSpPr>
          <p:nvPr/>
        </p:nvSpPr>
        <p:spPr bwMode="auto">
          <a:xfrm rot="19183191">
            <a:off x="2514600" y="1860550"/>
            <a:ext cx="12573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006600"/>
                </a:solidFill>
                <a:ea typeface="굴림" panose="020B0600000101010101" pitchFamily="50" charset="-127"/>
              </a:rPr>
              <a:t>categorical</a:t>
            </a:r>
            <a:endParaRPr lang="en-US" altLang="ko-KR" sz="1600" b="1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 rot="19183191">
            <a:off x="3200400" y="1860550"/>
            <a:ext cx="12573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006600"/>
                </a:solidFill>
                <a:ea typeface="굴림" panose="020B0600000101010101" pitchFamily="50" charset="-127"/>
              </a:rPr>
              <a:t>categorical</a:t>
            </a:r>
            <a:endParaRPr lang="en-US" altLang="ko-KR" sz="1600" b="1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18438" name="Text Box 6"/>
          <p:cNvSpPr txBox="1">
            <a:spLocks noChangeArrowheads="1"/>
          </p:cNvSpPr>
          <p:nvPr/>
        </p:nvSpPr>
        <p:spPr bwMode="auto">
          <a:xfrm rot="19183191">
            <a:off x="4038600" y="1860550"/>
            <a:ext cx="12779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006600"/>
                </a:solidFill>
                <a:ea typeface="굴림" panose="020B0600000101010101" pitchFamily="50" charset="-127"/>
              </a:rPr>
              <a:t>continuous</a:t>
            </a:r>
            <a:endParaRPr lang="en-US" altLang="ko-KR" sz="1600" b="1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18439" name="Text Box 7"/>
          <p:cNvSpPr txBox="1">
            <a:spLocks noChangeArrowheads="1"/>
          </p:cNvSpPr>
          <p:nvPr/>
        </p:nvSpPr>
        <p:spPr bwMode="auto">
          <a:xfrm rot="19183191">
            <a:off x="4800600" y="2012950"/>
            <a:ext cx="6921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006600"/>
                </a:solidFill>
                <a:ea typeface="굴림" panose="020B0600000101010101" pitchFamily="50" charset="-127"/>
              </a:rPr>
              <a:t>class</a:t>
            </a:r>
            <a:endParaRPr lang="en-US" altLang="ko-KR" sz="1600" b="1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18440" name="Line 8"/>
          <p:cNvSpPr>
            <a:spLocks noChangeShapeType="1"/>
          </p:cNvSpPr>
          <p:nvPr/>
        </p:nvSpPr>
        <p:spPr bwMode="auto">
          <a:xfrm>
            <a:off x="9453564" y="3848100"/>
            <a:ext cx="242887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8441" name="Line 9"/>
          <p:cNvSpPr>
            <a:spLocks noChangeShapeType="1"/>
          </p:cNvSpPr>
          <p:nvPr/>
        </p:nvSpPr>
        <p:spPr bwMode="auto">
          <a:xfrm flipH="1">
            <a:off x="8323263" y="3848100"/>
            <a:ext cx="323850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8442" name="Line 10"/>
          <p:cNvSpPr>
            <a:spLocks noChangeShapeType="1"/>
          </p:cNvSpPr>
          <p:nvPr/>
        </p:nvSpPr>
        <p:spPr bwMode="auto">
          <a:xfrm flipH="1">
            <a:off x="7329489" y="3084514"/>
            <a:ext cx="403225" cy="52863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8443" name="Line 11"/>
          <p:cNvSpPr>
            <a:spLocks noChangeShapeType="1"/>
          </p:cNvSpPr>
          <p:nvPr/>
        </p:nvSpPr>
        <p:spPr bwMode="auto">
          <a:xfrm>
            <a:off x="8540750" y="3084514"/>
            <a:ext cx="484188" cy="52863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8444" name="Line 12"/>
          <p:cNvSpPr>
            <a:spLocks noChangeShapeType="1"/>
          </p:cNvSpPr>
          <p:nvPr/>
        </p:nvSpPr>
        <p:spPr bwMode="auto">
          <a:xfrm>
            <a:off x="7491413" y="2357438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8445" name="Line 13"/>
          <p:cNvSpPr>
            <a:spLocks noChangeShapeType="1"/>
          </p:cNvSpPr>
          <p:nvPr/>
        </p:nvSpPr>
        <p:spPr bwMode="auto">
          <a:xfrm flipH="1">
            <a:off x="6118225" y="2357438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8446" name="Text Box 14"/>
          <p:cNvSpPr txBox="1">
            <a:spLocks noChangeArrowheads="1"/>
          </p:cNvSpPr>
          <p:nvPr/>
        </p:nvSpPr>
        <p:spPr bwMode="auto">
          <a:xfrm>
            <a:off x="6635751" y="2093913"/>
            <a:ext cx="93662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2D1993"/>
                </a:solidFill>
                <a:ea typeface="굴림" panose="020B0600000101010101" pitchFamily="50" charset="-127"/>
              </a:rPr>
              <a:t>MarSt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18447" name="Text Box 15"/>
          <p:cNvSpPr txBox="1">
            <a:spLocks noChangeArrowheads="1"/>
          </p:cNvSpPr>
          <p:nvPr/>
        </p:nvSpPr>
        <p:spPr bwMode="auto">
          <a:xfrm>
            <a:off x="7651750" y="2820988"/>
            <a:ext cx="935038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2D1993"/>
                </a:solidFill>
                <a:ea typeface="굴림" panose="020B0600000101010101" pitchFamily="50" charset="-127"/>
              </a:rPr>
              <a:t>Refund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18448" name="Text Box 16"/>
          <p:cNvSpPr txBox="1">
            <a:spLocks noChangeArrowheads="1"/>
          </p:cNvSpPr>
          <p:nvPr/>
        </p:nvSpPr>
        <p:spPr bwMode="auto">
          <a:xfrm>
            <a:off x="8566151" y="3582988"/>
            <a:ext cx="96837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2D1993"/>
                </a:solidFill>
                <a:ea typeface="굴림" panose="020B0600000101010101" pitchFamily="50" charset="-127"/>
              </a:rPr>
              <a:t>TaxInc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18449" name="AutoShape 17"/>
          <p:cNvSpPr>
            <a:spLocks noChangeArrowheads="1"/>
          </p:cNvSpPr>
          <p:nvPr/>
        </p:nvSpPr>
        <p:spPr bwMode="auto">
          <a:xfrm>
            <a:off x="9493251" y="4371976"/>
            <a:ext cx="627063" cy="36671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8450" name="Text Box 18"/>
          <p:cNvSpPr txBox="1">
            <a:spLocks noChangeArrowheads="1"/>
          </p:cNvSpPr>
          <p:nvPr/>
        </p:nvSpPr>
        <p:spPr bwMode="auto">
          <a:xfrm>
            <a:off x="9417050" y="4371975"/>
            <a:ext cx="685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800000"/>
                </a:solidFill>
                <a:ea typeface="굴림" panose="020B0600000101010101" pitchFamily="50" charset="-127"/>
              </a:rPr>
              <a:t>YES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18451" name="AutoShape 19"/>
          <p:cNvSpPr>
            <a:spLocks noChangeArrowheads="1"/>
          </p:cNvSpPr>
          <p:nvPr/>
        </p:nvSpPr>
        <p:spPr bwMode="auto">
          <a:xfrm>
            <a:off x="8001000" y="4389439"/>
            <a:ext cx="654050" cy="3635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8452" name="Text Box 20"/>
          <p:cNvSpPr txBox="1">
            <a:spLocks noChangeArrowheads="1"/>
          </p:cNvSpPr>
          <p:nvPr/>
        </p:nvSpPr>
        <p:spPr bwMode="auto">
          <a:xfrm>
            <a:off x="8097838" y="4375150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800000"/>
                </a:solidFill>
                <a:ea typeface="굴림" panose="020B0600000101010101" pitchFamily="50" charset="-127"/>
              </a:rPr>
              <a:t>NO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18453" name="AutoShape 21"/>
          <p:cNvSpPr>
            <a:spLocks noChangeArrowheads="1"/>
          </p:cNvSpPr>
          <p:nvPr/>
        </p:nvSpPr>
        <p:spPr bwMode="auto">
          <a:xfrm>
            <a:off x="5795963" y="2835276"/>
            <a:ext cx="685800" cy="347663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8454" name="Text Box 22"/>
          <p:cNvSpPr txBox="1">
            <a:spLocks noChangeArrowheads="1"/>
          </p:cNvSpPr>
          <p:nvPr/>
        </p:nvSpPr>
        <p:spPr bwMode="auto">
          <a:xfrm>
            <a:off x="5891213" y="2820988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800000"/>
                </a:solidFill>
                <a:ea typeface="굴림" panose="020B0600000101010101" pitchFamily="50" charset="-127"/>
              </a:rPr>
              <a:t>NO</a:t>
            </a:r>
            <a:endParaRPr lang="en-US" altLang="ko-KR" sz="1600">
              <a:solidFill>
                <a:srgbClr val="00FFFF"/>
              </a:solidFill>
              <a:ea typeface="굴림" panose="020B0600000101010101" pitchFamily="50" charset="-127"/>
            </a:endParaRPr>
          </a:p>
        </p:txBody>
      </p:sp>
      <p:grpSp>
        <p:nvGrpSpPr>
          <p:cNvPr id="18455" name="Group 23"/>
          <p:cNvGrpSpPr>
            <a:grpSpLocks/>
          </p:cNvGrpSpPr>
          <p:nvPr/>
        </p:nvGrpSpPr>
        <p:grpSpPr bwMode="auto">
          <a:xfrm>
            <a:off x="7042150" y="3582988"/>
            <a:ext cx="685800" cy="381000"/>
            <a:chOff x="4927" y="2340"/>
            <a:chExt cx="432" cy="240"/>
          </a:xfrm>
        </p:grpSpPr>
        <p:sp>
          <p:nvSpPr>
            <p:cNvPr id="18456" name="AutoShape 24"/>
            <p:cNvSpPr>
              <a:spLocks noChangeArrowheads="1"/>
            </p:cNvSpPr>
            <p:nvPr/>
          </p:nvSpPr>
          <p:spPr bwMode="auto">
            <a:xfrm>
              <a:off x="4927" y="2340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8457" name="Text Box 25"/>
            <p:cNvSpPr txBox="1">
              <a:spLocks noChangeArrowheads="1"/>
            </p:cNvSpPr>
            <p:nvPr/>
          </p:nvSpPr>
          <p:spPr bwMode="auto">
            <a:xfrm>
              <a:off x="4975" y="2340"/>
              <a:ext cx="30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ko-KR" sz="1600" b="1">
                  <a:solidFill>
                    <a:srgbClr val="800000"/>
                  </a:solidFill>
                  <a:ea typeface="굴림" panose="020B0600000101010101" pitchFamily="50" charset="-127"/>
                </a:rPr>
                <a:t>NO</a:t>
              </a:r>
              <a:endParaRPr lang="en-US" altLang="ko-KR" sz="1600">
                <a:solidFill>
                  <a:schemeClr val="bg2"/>
                </a:solidFill>
                <a:ea typeface="굴림" panose="020B0600000101010101" pitchFamily="50" charset="-127"/>
              </a:endParaRPr>
            </a:p>
          </p:txBody>
        </p:sp>
      </p:grpSp>
      <p:sp>
        <p:nvSpPr>
          <p:cNvPr id="18458" name="Text Box 26"/>
          <p:cNvSpPr txBox="1">
            <a:spLocks noChangeArrowheads="1"/>
          </p:cNvSpPr>
          <p:nvPr/>
        </p:nvSpPr>
        <p:spPr bwMode="auto">
          <a:xfrm>
            <a:off x="6965950" y="3125788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>
                <a:ea typeface="굴림" panose="020B0600000101010101" pitchFamily="50" charset="-127"/>
              </a:rPr>
              <a:t>Yes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18459" name="Text Box 27"/>
          <p:cNvSpPr txBox="1">
            <a:spLocks noChangeArrowheads="1"/>
          </p:cNvSpPr>
          <p:nvPr/>
        </p:nvSpPr>
        <p:spPr bwMode="auto">
          <a:xfrm>
            <a:off x="8718551" y="3049588"/>
            <a:ext cx="4429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>
                <a:ea typeface="굴림" panose="020B0600000101010101" pitchFamily="50" charset="-127"/>
              </a:rPr>
              <a:t>No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18460" name="Text Box 28"/>
          <p:cNvSpPr txBox="1">
            <a:spLocks noChangeArrowheads="1"/>
          </p:cNvSpPr>
          <p:nvPr/>
        </p:nvSpPr>
        <p:spPr bwMode="auto">
          <a:xfrm>
            <a:off x="5594351" y="2287588"/>
            <a:ext cx="9302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>
                <a:ea typeface="굴림" panose="020B0600000101010101" pitchFamily="50" charset="-127"/>
              </a:rPr>
              <a:t>Married</a:t>
            </a:r>
            <a:r>
              <a:rPr lang="en-US" altLang="ko-KR" sz="1600">
                <a:solidFill>
                  <a:schemeClr val="bg2"/>
                </a:solidFill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18461" name="Text Box 29"/>
          <p:cNvSpPr txBox="1">
            <a:spLocks noChangeArrowheads="1"/>
          </p:cNvSpPr>
          <p:nvPr/>
        </p:nvSpPr>
        <p:spPr bwMode="auto">
          <a:xfrm>
            <a:off x="7194550" y="2058989"/>
            <a:ext cx="139858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>
                <a:ea typeface="굴림" panose="020B0600000101010101" pitchFamily="50" charset="-127"/>
              </a:rPr>
              <a:t>Single, Divorced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18462" name="Text Box 30"/>
          <p:cNvSpPr txBox="1">
            <a:spLocks noChangeArrowheads="1"/>
          </p:cNvSpPr>
          <p:nvPr/>
        </p:nvSpPr>
        <p:spPr bwMode="auto">
          <a:xfrm>
            <a:off x="7800976" y="3913188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>
                <a:ea typeface="굴림" panose="020B0600000101010101" pitchFamily="50" charset="-127"/>
              </a:rPr>
              <a:t>&lt; 80K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18463" name="Text Box 31"/>
          <p:cNvSpPr txBox="1">
            <a:spLocks noChangeArrowheads="1"/>
          </p:cNvSpPr>
          <p:nvPr/>
        </p:nvSpPr>
        <p:spPr bwMode="auto">
          <a:xfrm>
            <a:off x="9575801" y="3913188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>
                <a:ea typeface="굴림" panose="020B0600000101010101" pitchFamily="50" charset="-127"/>
              </a:rPr>
              <a:t>&gt; 80K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18464" name="Text Box 32"/>
          <p:cNvSpPr txBox="1">
            <a:spLocks noChangeArrowheads="1"/>
          </p:cNvSpPr>
          <p:nvPr/>
        </p:nvSpPr>
        <p:spPr bwMode="auto">
          <a:xfrm>
            <a:off x="5791200" y="5380038"/>
            <a:ext cx="4419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ko-KR" b="1">
                <a:solidFill>
                  <a:srgbClr val="CC3300"/>
                </a:solidFill>
                <a:ea typeface="굴림" panose="020B0600000101010101" pitchFamily="50" charset="-127"/>
              </a:rPr>
              <a:t>There could be more than one tree that fits the same data!</a:t>
            </a:r>
          </a:p>
        </p:txBody>
      </p:sp>
    </p:spTree>
    <p:extLst>
      <p:ext uri="{BB962C8B-B14F-4D97-AF65-F5344CB8AC3E}">
        <p14:creationId xmlns:p14="http://schemas.microsoft.com/office/powerpoint/2010/main" val="2916880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50" charset="-127"/>
              </a:rPr>
              <a:t>Decision Tree Classification Task</a:t>
            </a:r>
          </a:p>
        </p:txBody>
      </p:sp>
      <p:graphicFrame>
        <p:nvGraphicFramePr>
          <p:cNvPr id="19459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2655889" y="1600201"/>
          <a:ext cx="6878637" cy="453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Visio" r:id="rId3" imgW="8424875" imgH="6279741" progId="Visio.Drawing.6">
                  <p:embed/>
                </p:oleObj>
              </mc:Choice>
              <mc:Fallback>
                <p:oleObj name="Visio" r:id="rId3" imgW="8424875" imgH="6279741" progId="Visio.Drawing.6">
                  <p:embed/>
                  <p:pic>
                    <p:nvPicPr>
                      <p:cNvPr id="1945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5889" y="1600201"/>
                        <a:ext cx="6878637" cy="453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" name="Line 4"/>
          <p:cNvSpPr>
            <a:spLocks noChangeShapeType="1"/>
          </p:cNvSpPr>
          <p:nvPr/>
        </p:nvSpPr>
        <p:spPr bwMode="auto">
          <a:xfrm flipH="1" flipV="1">
            <a:off x="7543800" y="4724400"/>
            <a:ext cx="0" cy="6858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8610600" y="4114800"/>
            <a:ext cx="1219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ko-KR" sz="1400" b="1">
                <a:ea typeface="굴림" panose="020B0600000101010101" pitchFamily="50" charset="-127"/>
              </a:rPr>
              <a:t>Decision Tree</a:t>
            </a:r>
          </a:p>
        </p:txBody>
      </p:sp>
    </p:spTree>
    <p:extLst>
      <p:ext uri="{BB962C8B-B14F-4D97-AF65-F5344CB8AC3E}">
        <p14:creationId xmlns:p14="http://schemas.microsoft.com/office/powerpoint/2010/main" val="2678366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50" charset="-127"/>
              </a:rPr>
              <a:t>Apply Model to Test Data</a:t>
            </a:r>
          </a:p>
        </p:txBody>
      </p:sp>
      <p:grpSp>
        <p:nvGrpSpPr>
          <p:cNvPr id="20483" name="Group 3"/>
          <p:cNvGrpSpPr>
            <a:grpSpLocks/>
          </p:cNvGrpSpPr>
          <p:nvPr/>
        </p:nvGrpSpPr>
        <p:grpSpPr bwMode="auto">
          <a:xfrm>
            <a:off x="2209800" y="2797176"/>
            <a:ext cx="4267200" cy="3298825"/>
            <a:chOff x="384" y="1584"/>
            <a:chExt cx="2451" cy="1694"/>
          </a:xfrm>
        </p:grpSpPr>
        <p:sp>
          <p:nvSpPr>
            <p:cNvPr id="20484" name="Line 4"/>
            <p:cNvSpPr>
              <a:spLocks noChangeShapeType="1"/>
            </p:cNvSpPr>
            <p:nvPr/>
          </p:nvSpPr>
          <p:spPr bwMode="auto">
            <a:xfrm>
              <a:off x="1655" y="2708"/>
              <a:ext cx="153" cy="3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485" name="Line 5"/>
            <p:cNvSpPr>
              <a:spLocks noChangeShapeType="1"/>
            </p:cNvSpPr>
            <p:nvPr/>
          </p:nvSpPr>
          <p:spPr bwMode="auto">
            <a:xfrm flipH="1">
              <a:off x="943" y="2708"/>
              <a:ext cx="204" cy="3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486" name="Line 6"/>
            <p:cNvSpPr>
              <a:spLocks noChangeShapeType="1"/>
            </p:cNvSpPr>
            <p:nvPr/>
          </p:nvSpPr>
          <p:spPr bwMode="auto">
            <a:xfrm flipH="1">
              <a:off x="1350" y="2208"/>
              <a:ext cx="254" cy="3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487" name="Line 7"/>
            <p:cNvSpPr>
              <a:spLocks noChangeShapeType="1"/>
            </p:cNvSpPr>
            <p:nvPr/>
          </p:nvSpPr>
          <p:spPr bwMode="auto">
            <a:xfrm>
              <a:off x="2113" y="2208"/>
              <a:ext cx="305" cy="3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488" name="Line 8"/>
            <p:cNvSpPr>
              <a:spLocks noChangeShapeType="1"/>
            </p:cNvSpPr>
            <p:nvPr/>
          </p:nvSpPr>
          <p:spPr bwMode="auto">
            <a:xfrm>
              <a:off x="1452" y="1750"/>
              <a:ext cx="356" cy="29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489" name="Line 9"/>
            <p:cNvSpPr>
              <a:spLocks noChangeShapeType="1"/>
            </p:cNvSpPr>
            <p:nvPr/>
          </p:nvSpPr>
          <p:spPr bwMode="auto">
            <a:xfrm flipH="1">
              <a:off x="587" y="1750"/>
              <a:ext cx="356" cy="29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490" name="Text Box 10"/>
            <p:cNvSpPr txBox="1">
              <a:spLocks noChangeArrowheads="1"/>
            </p:cNvSpPr>
            <p:nvPr/>
          </p:nvSpPr>
          <p:spPr bwMode="auto">
            <a:xfrm>
              <a:off x="913" y="1584"/>
              <a:ext cx="590" cy="179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ko-KR" sz="1600" b="1">
                  <a:solidFill>
                    <a:srgbClr val="2D1993"/>
                  </a:solidFill>
                  <a:ea typeface="굴림" panose="020B0600000101010101" pitchFamily="50" charset="-127"/>
                </a:rPr>
                <a:t>Refund</a:t>
              </a:r>
              <a:endParaRPr lang="en-US" altLang="ko-KR" sz="1600">
                <a:solidFill>
                  <a:schemeClr val="bg2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20491" name="Text Box 11"/>
            <p:cNvSpPr txBox="1">
              <a:spLocks noChangeArrowheads="1"/>
            </p:cNvSpPr>
            <p:nvPr/>
          </p:nvSpPr>
          <p:spPr bwMode="auto">
            <a:xfrm>
              <a:off x="1553" y="2042"/>
              <a:ext cx="589" cy="179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ko-KR" sz="1600" b="1">
                  <a:solidFill>
                    <a:srgbClr val="2D1993"/>
                  </a:solidFill>
                  <a:ea typeface="굴림" panose="020B0600000101010101" pitchFamily="50" charset="-127"/>
                </a:rPr>
                <a:t>MarSt</a:t>
              </a:r>
              <a:endParaRPr lang="en-US" altLang="ko-KR" sz="1600">
                <a:solidFill>
                  <a:schemeClr val="bg2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20492" name="Text Box 12"/>
            <p:cNvSpPr txBox="1">
              <a:spLocks noChangeArrowheads="1"/>
            </p:cNvSpPr>
            <p:nvPr/>
          </p:nvSpPr>
          <p:spPr bwMode="auto">
            <a:xfrm>
              <a:off x="1096" y="2541"/>
              <a:ext cx="610" cy="179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ko-KR" sz="1600" b="1">
                  <a:solidFill>
                    <a:srgbClr val="2D1993"/>
                  </a:solidFill>
                  <a:ea typeface="굴림" panose="020B0600000101010101" pitchFamily="50" charset="-127"/>
                </a:rPr>
                <a:t>TaxInc</a:t>
              </a:r>
              <a:endParaRPr lang="en-US" altLang="ko-KR" sz="1600">
                <a:solidFill>
                  <a:schemeClr val="bg2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20493" name="AutoShape 13"/>
            <p:cNvSpPr>
              <a:spLocks noChangeArrowheads="1"/>
            </p:cNvSpPr>
            <p:nvPr/>
          </p:nvSpPr>
          <p:spPr bwMode="auto">
            <a:xfrm>
              <a:off x="1680" y="3038"/>
              <a:ext cx="395" cy="231"/>
            </a:xfrm>
            <a:prstGeom prst="roundRect">
              <a:avLst>
                <a:gd name="adj" fmla="val 16769"/>
              </a:avLst>
            </a:pr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494" name="Text Box 14"/>
            <p:cNvSpPr txBox="1">
              <a:spLocks noChangeArrowheads="1"/>
            </p:cNvSpPr>
            <p:nvPr/>
          </p:nvSpPr>
          <p:spPr bwMode="auto">
            <a:xfrm>
              <a:off x="1632" y="3038"/>
              <a:ext cx="43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ko-KR" sz="1600" b="1">
                  <a:solidFill>
                    <a:srgbClr val="800000"/>
                  </a:solidFill>
                  <a:ea typeface="굴림" panose="020B0600000101010101" pitchFamily="50" charset="-127"/>
                </a:rPr>
                <a:t>YES</a:t>
              </a:r>
              <a:endParaRPr lang="en-US" altLang="ko-KR" sz="1600">
                <a:solidFill>
                  <a:schemeClr val="bg2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20495" name="AutoShape 15"/>
            <p:cNvSpPr>
              <a:spLocks noChangeArrowheads="1"/>
            </p:cNvSpPr>
            <p:nvPr/>
          </p:nvSpPr>
          <p:spPr bwMode="auto">
            <a:xfrm>
              <a:off x="740" y="3049"/>
              <a:ext cx="412" cy="229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496" name="Text Box 16"/>
            <p:cNvSpPr txBox="1">
              <a:spLocks noChangeArrowheads="1"/>
            </p:cNvSpPr>
            <p:nvPr/>
          </p:nvSpPr>
          <p:spPr bwMode="auto">
            <a:xfrm>
              <a:off x="814" y="3040"/>
              <a:ext cx="281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ko-KR" sz="1600" b="1">
                  <a:solidFill>
                    <a:srgbClr val="800000"/>
                  </a:solidFill>
                  <a:ea typeface="굴림" panose="020B0600000101010101" pitchFamily="50" charset="-127"/>
                </a:rPr>
                <a:t>NO</a:t>
              </a:r>
              <a:endParaRPr lang="en-US" altLang="ko-KR" sz="1600">
                <a:solidFill>
                  <a:schemeClr val="bg2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20497" name="AutoShape 17"/>
            <p:cNvSpPr>
              <a:spLocks noChangeArrowheads="1"/>
            </p:cNvSpPr>
            <p:nvPr/>
          </p:nvSpPr>
          <p:spPr bwMode="auto">
            <a:xfrm>
              <a:off x="384" y="2051"/>
              <a:ext cx="432" cy="219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498" name="Text Box 18"/>
            <p:cNvSpPr txBox="1">
              <a:spLocks noChangeArrowheads="1"/>
            </p:cNvSpPr>
            <p:nvPr/>
          </p:nvSpPr>
          <p:spPr bwMode="auto">
            <a:xfrm>
              <a:off x="458" y="2042"/>
              <a:ext cx="281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ko-KR" sz="1600" b="1">
                  <a:solidFill>
                    <a:srgbClr val="800000"/>
                  </a:solidFill>
                  <a:ea typeface="굴림" panose="020B0600000101010101" pitchFamily="50" charset="-127"/>
                </a:rPr>
                <a:t>NO</a:t>
              </a:r>
              <a:endParaRPr lang="en-US" altLang="ko-KR" sz="1600">
                <a:solidFill>
                  <a:srgbClr val="00FFFF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20499" name="AutoShape 19"/>
            <p:cNvSpPr>
              <a:spLocks noChangeArrowheads="1"/>
            </p:cNvSpPr>
            <p:nvPr/>
          </p:nvSpPr>
          <p:spPr bwMode="auto">
            <a:xfrm>
              <a:off x="2208" y="2558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500" name="Text Box 20"/>
            <p:cNvSpPr txBox="1">
              <a:spLocks noChangeArrowheads="1"/>
            </p:cNvSpPr>
            <p:nvPr/>
          </p:nvSpPr>
          <p:spPr bwMode="auto">
            <a:xfrm>
              <a:off x="2270" y="2558"/>
              <a:ext cx="281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ko-KR" sz="1600" b="1">
                  <a:solidFill>
                    <a:srgbClr val="800000"/>
                  </a:solidFill>
                  <a:ea typeface="굴림" panose="020B0600000101010101" pitchFamily="50" charset="-127"/>
                </a:rPr>
                <a:t>NO</a:t>
              </a:r>
              <a:endParaRPr lang="en-US" altLang="ko-KR" sz="1600">
                <a:solidFill>
                  <a:schemeClr val="bg2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20501" name="Text Box 21"/>
            <p:cNvSpPr txBox="1">
              <a:spLocks noChangeArrowheads="1"/>
            </p:cNvSpPr>
            <p:nvPr/>
          </p:nvSpPr>
          <p:spPr bwMode="auto">
            <a:xfrm>
              <a:off x="484" y="1750"/>
              <a:ext cx="307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ko-KR" sz="1600">
                  <a:ea typeface="굴림" panose="020B0600000101010101" pitchFamily="50" charset="-127"/>
                </a:rPr>
                <a:t>Yes</a:t>
              </a:r>
              <a:endParaRPr lang="en-US" altLang="ko-KR" sz="1600">
                <a:solidFill>
                  <a:schemeClr val="bg2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20502" name="Text Box 22"/>
            <p:cNvSpPr txBox="1">
              <a:spLocks noChangeArrowheads="1"/>
            </p:cNvSpPr>
            <p:nvPr/>
          </p:nvSpPr>
          <p:spPr bwMode="auto">
            <a:xfrm>
              <a:off x="1654" y="1750"/>
              <a:ext cx="255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ko-KR" sz="1600">
                  <a:ea typeface="굴림" panose="020B0600000101010101" pitchFamily="50" charset="-127"/>
                </a:rPr>
                <a:t>No</a:t>
              </a:r>
              <a:endParaRPr lang="en-US" altLang="ko-KR" sz="1600">
                <a:solidFill>
                  <a:schemeClr val="bg2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20503" name="Text Box 23"/>
            <p:cNvSpPr txBox="1">
              <a:spLocks noChangeArrowheads="1"/>
            </p:cNvSpPr>
            <p:nvPr/>
          </p:nvSpPr>
          <p:spPr bwMode="auto">
            <a:xfrm>
              <a:off x="2301" y="2232"/>
              <a:ext cx="53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ko-KR" sz="1600">
                  <a:ea typeface="굴림" panose="020B0600000101010101" pitchFamily="50" charset="-127"/>
                </a:rPr>
                <a:t>Married</a:t>
              </a:r>
              <a:r>
                <a:rPr lang="en-US" altLang="ko-KR" sz="1600">
                  <a:solidFill>
                    <a:schemeClr val="bg2"/>
                  </a:solidFill>
                  <a:ea typeface="굴림" panose="020B0600000101010101" pitchFamily="50" charset="-127"/>
                </a:rPr>
                <a:t> </a:t>
              </a:r>
            </a:p>
          </p:txBody>
        </p:sp>
        <p:sp>
          <p:nvSpPr>
            <p:cNvPr id="20504" name="Text Box 24"/>
            <p:cNvSpPr txBox="1">
              <a:spLocks noChangeArrowheads="1"/>
            </p:cNvSpPr>
            <p:nvPr/>
          </p:nvSpPr>
          <p:spPr bwMode="auto">
            <a:xfrm>
              <a:off x="945" y="2250"/>
              <a:ext cx="95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ko-KR" sz="1600">
                  <a:ea typeface="굴림" panose="020B0600000101010101" pitchFamily="50" charset="-127"/>
                </a:rPr>
                <a:t>Single, Divorced</a:t>
              </a:r>
              <a:endParaRPr lang="en-US" altLang="ko-KR" sz="1600">
                <a:solidFill>
                  <a:schemeClr val="bg2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20505" name="Text Box 25"/>
            <p:cNvSpPr txBox="1">
              <a:spLocks noChangeArrowheads="1"/>
            </p:cNvSpPr>
            <p:nvPr/>
          </p:nvSpPr>
          <p:spPr bwMode="auto">
            <a:xfrm>
              <a:off x="654" y="2749"/>
              <a:ext cx="41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ko-KR" sz="1600">
                  <a:ea typeface="굴림" panose="020B0600000101010101" pitchFamily="50" charset="-127"/>
                </a:rPr>
                <a:t>&lt; 80K</a:t>
              </a:r>
              <a:endParaRPr lang="en-US" altLang="ko-KR" sz="1600">
                <a:solidFill>
                  <a:schemeClr val="bg2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20506" name="Text Box 26"/>
            <p:cNvSpPr txBox="1">
              <a:spLocks noChangeArrowheads="1"/>
            </p:cNvSpPr>
            <p:nvPr/>
          </p:nvSpPr>
          <p:spPr bwMode="auto">
            <a:xfrm>
              <a:off x="1772" y="2749"/>
              <a:ext cx="41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ko-KR" sz="1600">
                  <a:ea typeface="굴림" panose="020B0600000101010101" pitchFamily="50" charset="-127"/>
                </a:rPr>
                <a:t>&gt; 80K</a:t>
              </a:r>
              <a:endParaRPr lang="en-US" altLang="ko-KR" sz="1600">
                <a:solidFill>
                  <a:schemeClr val="bg2"/>
                </a:solidFill>
                <a:ea typeface="굴림" panose="020B0600000101010101" pitchFamily="50" charset="-127"/>
              </a:endParaRPr>
            </a:p>
          </p:txBody>
        </p:sp>
      </p:grpSp>
      <p:graphicFrame>
        <p:nvGraphicFramePr>
          <p:cNvPr id="20507" name="Object 27"/>
          <p:cNvGraphicFramePr>
            <a:graphicFrameLocks noChangeAspect="1"/>
          </p:cNvGraphicFramePr>
          <p:nvPr/>
        </p:nvGraphicFramePr>
        <p:xfrm>
          <a:off x="6477001" y="2035176"/>
          <a:ext cx="3343275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Document" r:id="rId3" imgW="4651200" imgH="1576440" progId="Word.Document.8">
                  <p:embed/>
                </p:oleObj>
              </mc:Choice>
              <mc:Fallback>
                <p:oleObj name="Document" r:id="rId3" imgW="4651200" imgH="1576440" progId="Word.Document.8">
                  <p:embed/>
                  <p:pic>
                    <p:nvPicPr>
                      <p:cNvPr id="20507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1" y="2035176"/>
                        <a:ext cx="3343275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8" name="Text Box 28"/>
          <p:cNvSpPr txBox="1">
            <a:spLocks noChangeArrowheads="1"/>
          </p:cNvSpPr>
          <p:nvPr/>
        </p:nvSpPr>
        <p:spPr bwMode="auto">
          <a:xfrm>
            <a:off x="6324600" y="1577975"/>
            <a:ext cx="160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2000" b="1">
                <a:solidFill>
                  <a:schemeClr val="tx2"/>
                </a:solidFill>
                <a:ea typeface="굴림" panose="020B0600000101010101" pitchFamily="50" charset="-127"/>
              </a:rPr>
              <a:t>Test Data</a:t>
            </a:r>
            <a:endParaRPr lang="en-US" altLang="ko-KR" sz="20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0509" name="Text Box 29"/>
          <p:cNvSpPr txBox="1">
            <a:spLocks noChangeArrowheads="1"/>
          </p:cNvSpPr>
          <p:nvPr/>
        </p:nvSpPr>
        <p:spPr bwMode="auto">
          <a:xfrm>
            <a:off x="2514600" y="1882775"/>
            <a:ext cx="3429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2000">
                <a:ea typeface="굴림" panose="020B0600000101010101" pitchFamily="50" charset="-127"/>
              </a:rPr>
              <a:t>Start from the root of tree.</a:t>
            </a:r>
          </a:p>
        </p:txBody>
      </p:sp>
      <p:sp>
        <p:nvSpPr>
          <p:cNvPr id="20510" name="Line 30"/>
          <p:cNvSpPr>
            <a:spLocks noChangeShapeType="1"/>
          </p:cNvSpPr>
          <p:nvPr/>
        </p:nvSpPr>
        <p:spPr bwMode="auto">
          <a:xfrm>
            <a:off x="3657600" y="2263775"/>
            <a:ext cx="0" cy="4572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1259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50" charset="-127"/>
              </a:rPr>
              <a:t>Apply Model to Test Data</a:t>
            </a:r>
          </a:p>
        </p:txBody>
      </p:sp>
      <p:grpSp>
        <p:nvGrpSpPr>
          <p:cNvPr id="21507" name="Group 3"/>
          <p:cNvGrpSpPr>
            <a:grpSpLocks/>
          </p:cNvGrpSpPr>
          <p:nvPr/>
        </p:nvGrpSpPr>
        <p:grpSpPr bwMode="auto">
          <a:xfrm>
            <a:off x="2209800" y="2797176"/>
            <a:ext cx="4267200" cy="3298825"/>
            <a:chOff x="384" y="1584"/>
            <a:chExt cx="2451" cy="1694"/>
          </a:xfrm>
        </p:grpSpPr>
        <p:sp>
          <p:nvSpPr>
            <p:cNvPr id="21508" name="Line 4"/>
            <p:cNvSpPr>
              <a:spLocks noChangeShapeType="1"/>
            </p:cNvSpPr>
            <p:nvPr/>
          </p:nvSpPr>
          <p:spPr bwMode="auto">
            <a:xfrm>
              <a:off x="1655" y="2708"/>
              <a:ext cx="153" cy="3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09" name="Line 5"/>
            <p:cNvSpPr>
              <a:spLocks noChangeShapeType="1"/>
            </p:cNvSpPr>
            <p:nvPr/>
          </p:nvSpPr>
          <p:spPr bwMode="auto">
            <a:xfrm flipH="1">
              <a:off x="943" y="2708"/>
              <a:ext cx="204" cy="3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10" name="Line 6"/>
            <p:cNvSpPr>
              <a:spLocks noChangeShapeType="1"/>
            </p:cNvSpPr>
            <p:nvPr/>
          </p:nvSpPr>
          <p:spPr bwMode="auto">
            <a:xfrm flipH="1">
              <a:off x="1350" y="2208"/>
              <a:ext cx="254" cy="3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11" name="Line 7"/>
            <p:cNvSpPr>
              <a:spLocks noChangeShapeType="1"/>
            </p:cNvSpPr>
            <p:nvPr/>
          </p:nvSpPr>
          <p:spPr bwMode="auto">
            <a:xfrm>
              <a:off x="2113" y="2208"/>
              <a:ext cx="305" cy="3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12" name="Line 8"/>
            <p:cNvSpPr>
              <a:spLocks noChangeShapeType="1"/>
            </p:cNvSpPr>
            <p:nvPr/>
          </p:nvSpPr>
          <p:spPr bwMode="auto">
            <a:xfrm>
              <a:off x="1452" y="1750"/>
              <a:ext cx="356" cy="29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13" name="Line 9"/>
            <p:cNvSpPr>
              <a:spLocks noChangeShapeType="1"/>
            </p:cNvSpPr>
            <p:nvPr/>
          </p:nvSpPr>
          <p:spPr bwMode="auto">
            <a:xfrm flipH="1">
              <a:off x="587" y="1750"/>
              <a:ext cx="356" cy="29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14" name="Text Box 10"/>
            <p:cNvSpPr txBox="1">
              <a:spLocks noChangeArrowheads="1"/>
            </p:cNvSpPr>
            <p:nvPr/>
          </p:nvSpPr>
          <p:spPr bwMode="auto">
            <a:xfrm>
              <a:off x="913" y="1584"/>
              <a:ext cx="590" cy="179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ko-KR" sz="1600" b="1">
                  <a:solidFill>
                    <a:srgbClr val="2D1993"/>
                  </a:solidFill>
                  <a:ea typeface="굴림" panose="020B0600000101010101" pitchFamily="50" charset="-127"/>
                </a:rPr>
                <a:t>Refund</a:t>
              </a:r>
              <a:endParaRPr lang="en-US" altLang="ko-KR" sz="1600">
                <a:solidFill>
                  <a:schemeClr val="bg2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21515" name="Text Box 11"/>
            <p:cNvSpPr txBox="1">
              <a:spLocks noChangeArrowheads="1"/>
            </p:cNvSpPr>
            <p:nvPr/>
          </p:nvSpPr>
          <p:spPr bwMode="auto">
            <a:xfrm>
              <a:off x="1553" y="2042"/>
              <a:ext cx="589" cy="179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ko-KR" sz="1600" b="1">
                  <a:solidFill>
                    <a:srgbClr val="2D1993"/>
                  </a:solidFill>
                  <a:ea typeface="굴림" panose="020B0600000101010101" pitchFamily="50" charset="-127"/>
                </a:rPr>
                <a:t>MarSt</a:t>
              </a:r>
              <a:endParaRPr lang="en-US" altLang="ko-KR" sz="1600">
                <a:solidFill>
                  <a:schemeClr val="bg2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21516" name="Text Box 12"/>
            <p:cNvSpPr txBox="1">
              <a:spLocks noChangeArrowheads="1"/>
            </p:cNvSpPr>
            <p:nvPr/>
          </p:nvSpPr>
          <p:spPr bwMode="auto">
            <a:xfrm>
              <a:off x="1096" y="2541"/>
              <a:ext cx="610" cy="179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ko-KR" sz="1600" b="1">
                  <a:solidFill>
                    <a:srgbClr val="2D1993"/>
                  </a:solidFill>
                  <a:ea typeface="굴림" panose="020B0600000101010101" pitchFamily="50" charset="-127"/>
                </a:rPr>
                <a:t>TaxInc</a:t>
              </a:r>
              <a:endParaRPr lang="en-US" altLang="ko-KR" sz="1600">
                <a:solidFill>
                  <a:schemeClr val="bg2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21517" name="AutoShape 13"/>
            <p:cNvSpPr>
              <a:spLocks noChangeArrowheads="1"/>
            </p:cNvSpPr>
            <p:nvPr/>
          </p:nvSpPr>
          <p:spPr bwMode="auto">
            <a:xfrm>
              <a:off x="1680" y="3038"/>
              <a:ext cx="395" cy="231"/>
            </a:xfrm>
            <a:prstGeom prst="roundRect">
              <a:avLst>
                <a:gd name="adj" fmla="val 16769"/>
              </a:avLst>
            </a:pr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18" name="Text Box 14"/>
            <p:cNvSpPr txBox="1">
              <a:spLocks noChangeArrowheads="1"/>
            </p:cNvSpPr>
            <p:nvPr/>
          </p:nvSpPr>
          <p:spPr bwMode="auto">
            <a:xfrm>
              <a:off x="1632" y="3038"/>
              <a:ext cx="43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ko-KR" sz="1600" b="1">
                  <a:solidFill>
                    <a:srgbClr val="800000"/>
                  </a:solidFill>
                  <a:ea typeface="굴림" panose="020B0600000101010101" pitchFamily="50" charset="-127"/>
                </a:rPr>
                <a:t>YES</a:t>
              </a:r>
              <a:endParaRPr lang="en-US" altLang="ko-KR" sz="1600">
                <a:solidFill>
                  <a:schemeClr val="bg2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21519" name="AutoShape 15"/>
            <p:cNvSpPr>
              <a:spLocks noChangeArrowheads="1"/>
            </p:cNvSpPr>
            <p:nvPr/>
          </p:nvSpPr>
          <p:spPr bwMode="auto">
            <a:xfrm>
              <a:off x="740" y="3049"/>
              <a:ext cx="412" cy="229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20" name="Text Box 16"/>
            <p:cNvSpPr txBox="1">
              <a:spLocks noChangeArrowheads="1"/>
            </p:cNvSpPr>
            <p:nvPr/>
          </p:nvSpPr>
          <p:spPr bwMode="auto">
            <a:xfrm>
              <a:off x="814" y="3040"/>
              <a:ext cx="281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ko-KR" sz="1600" b="1">
                  <a:solidFill>
                    <a:srgbClr val="800000"/>
                  </a:solidFill>
                  <a:ea typeface="굴림" panose="020B0600000101010101" pitchFamily="50" charset="-127"/>
                </a:rPr>
                <a:t>NO</a:t>
              </a:r>
              <a:endParaRPr lang="en-US" altLang="ko-KR" sz="1600">
                <a:solidFill>
                  <a:schemeClr val="bg2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21521" name="AutoShape 17"/>
            <p:cNvSpPr>
              <a:spLocks noChangeArrowheads="1"/>
            </p:cNvSpPr>
            <p:nvPr/>
          </p:nvSpPr>
          <p:spPr bwMode="auto">
            <a:xfrm>
              <a:off x="384" y="2051"/>
              <a:ext cx="432" cy="219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22" name="Text Box 18"/>
            <p:cNvSpPr txBox="1">
              <a:spLocks noChangeArrowheads="1"/>
            </p:cNvSpPr>
            <p:nvPr/>
          </p:nvSpPr>
          <p:spPr bwMode="auto">
            <a:xfrm>
              <a:off x="458" y="2042"/>
              <a:ext cx="281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ko-KR" sz="1600" b="1">
                  <a:solidFill>
                    <a:srgbClr val="800000"/>
                  </a:solidFill>
                  <a:ea typeface="굴림" panose="020B0600000101010101" pitchFamily="50" charset="-127"/>
                </a:rPr>
                <a:t>NO</a:t>
              </a:r>
              <a:endParaRPr lang="en-US" altLang="ko-KR" sz="1600">
                <a:solidFill>
                  <a:srgbClr val="00FFFF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21523" name="AutoShape 19"/>
            <p:cNvSpPr>
              <a:spLocks noChangeArrowheads="1"/>
            </p:cNvSpPr>
            <p:nvPr/>
          </p:nvSpPr>
          <p:spPr bwMode="auto">
            <a:xfrm>
              <a:off x="2208" y="2558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24" name="Text Box 20"/>
            <p:cNvSpPr txBox="1">
              <a:spLocks noChangeArrowheads="1"/>
            </p:cNvSpPr>
            <p:nvPr/>
          </p:nvSpPr>
          <p:spPr bwMode="auto">
            <a:xfrm>
              <a:off x="2270" y="2558"/>
              <a:ext cx="281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ko-KR" sz="1600" b="1">
                  <a:solidFill>
                    <a:srgbClr val="800000"/>
                  </a:solidFill>
                  <a:ea typeface="굴림" panose="020B0600000101010101" pitchFamily="50" charset="-127"/>
                </a:rPr>
                <a:t>NO</a:t>
              </a:r>
              <a:endParaRPr lang="en-US" altLang="ko-KR" sz="1600">
                <a:solidFill>
                  <a:schemeClr val="bg2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21525" name="Text Box 21"/>
            <p:cNvSpPr txBox="1">
              <a:spLocks noChangeArrowheads="1"/>
            </p:cNvSpPr>
            <p:nvPr/>
          </p:nvSpPr>
          <p:spPr bwMode="auto">
            <a:xfrm>
              <a:off x="484" y="1750"/>
              <a:ext cx="307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ko-KR" sz="1600">
                  <a:ea typeface="굴림" panose="020B0600000101010101" pitchFamily="50" charset="-127"/>
                </a:rPr>
                <a:t>Yes</a:t>
              </a:r>
              <a:endParaRPr lang="en-US" altLang="ko-KR" sz="1600">
                <a:solidFill>
                  <a:schemeClr val="bg2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21526" name="Text Box 22"/>
            <p:cNvSpPr txBox="1">
              <a:spLocks noChangeArrowheads="1"/>
            </p:cNvSpPr>
            <p:nvPr/>
          </p:nvSpPr>
          <p:spPr bwMode="auto">
            <a:xfrm>
              <a:off x="1654" y="1750"/>
              <a:ext cx="255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ko-KR" sz="1600">
                  <a:ea typeface="굴림" panose="020B0600000101010101" pitchFamily="50" charset="-127"/>
                </a:rPr>
                <a:t>No</a:t>
              </a:r>
              <a:endParaRPr lang="en-US" altLang="ko-KR" sz="1600">
                <a:solidFill>
                  <a:schemeClr val="bg2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21527" name="Text Box 23"/>
            <p:cNvSpPr txBox="1">
              <a:spLocks noChangeArrowheads="1"/>
            </p:cNvSpPr>
            <p:nvPr/>
          </p:nvSpPr>
          <p:spPr bwMode="auto">
            <a:xfrm>
              <a:off x="2301" y="2232"/>
              <a:ext cx="53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ko-KR" sz="1600">
                  <a:ea typeface="굴림" panose="020B0600000101010101" pitchFamily="50" charset="-127"/>
                </a:rPr>
                <a:t>Married</a:t>
              </a:r>
              <a:r>
                <a:rPr lang="en-US" altLang="ko-KR" sz="1600">
                  <a:solidFill>
                    <a:schemeClr val="bg2"/>
                  </a:solidFill>
                  <a:ea typeface="굴림" panose="020B0600000101010101" pitchFamily="50" charset="-127"/>
                </a:rPr>
                <a:t> </a:t>
              </a:r>
            </a:p>
          </p:txBody>
        </p:sp>
        <p:sp>
          <p:nvSpPr>
            <p:cNvPr id="21528" name="Text Box 24"/>
            <p:cNvSpPr txBox="1">
              <a:spLocks noChangeArrowheads="1"/>
            </p:cNvSpPr>
            <p:nvPr/>
          </p:nvSpPr>
          <p:spPr bwMode="auto">
            <a:xfrm>
              <a:off x="945" y="2250"/>
              <a:ext cx="95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ko-KR" sz="1600">
                  <a:ea typeface="굴림" panose="020B0600000101010101" pitchFamily="50" charset="-127"/>
                </a:rPr>
                <a:t>Single, Divorced</a:t>
              </a:r>
              <a:endParaRPr lang="en-US" altLang="ko-KR" sz="1600">
                <a:solidFill>
                  <a:schemeClr val="bg2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21529" name="Text Box 25"/>
            <p:cNvSpPr txBox="1">
              <a:spLocks noChangeArrowheads="1"/>
            </p:cNvSpPr>
            <p:nvPr/>
          </p:nvSpPr>
          <p:spPr bwMode="auto">
            <a:xfrm>
              <a:off x="654" y="2749"/>
              <a:ext cx="41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ko-KR" sz="1600">
                  <a:ea typeface="굴림" panose="020B0600000101010101" pitchFamily="50" charset="-127"/>
                </a:rPr>
                <a:t>&lt; 80K</a:t>
              </a:r>
              <a:endParaRPr lang="en-US" altLang="ko-KR" sz="1600">
                <a:solidFill>
                  <a:schemeClr val="bg2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21530" name="Text Box 26"/>
            <p:cNvSpPr txBox="1">
              <a:spLocks noChangeArrowheads="1"/>
            </p:cNvSpPr>
            <p:nvPr/>
          </p:nvSpPr>
          <p:spPr bwMode="auto">
            <a:xfrm>
              <a:off x="1772" y="2749"/>
              <a:ext cx="41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ko-KR" sz="1600">
                  <a:ea typeface="굴림" panose="020B0600000101010101" pitchFamily="50" charset="-127"/>
                </a:rPr>
                <a:t>&gt; 80K</a:t>
              </a:r>
              <a:endParaRPr lang="en-US" altLang="ko-KR" sz="1600">
                <a:solidFill>
                  <a:schemeClr val="bg2"/>
                </a:solidFill>
                <a:ea typeface="굴림" panose="020B0600000101010101" pitchFamily="50" charset="-127"/>
              </a:endParaRPr>
            </a:p>
          </p:txBody>
        </p:sp>
      </p:grpSp>
      <p:graphicFrame>
        <p:nvGraphicFramePr>
          <p:cNvPr id="21531" name="Object 27"/>
          <p:cNvGraphicFramePr>
            <a:graphicFrameLocks noChangeAspect="1"/>
          </p:cNvGraphicFramePr>
          <p:nvPr/>
        </p:nvGraphicFramePr>
        <p:xfrm>
          <a:off x="6477001" y="2035176"/>
          <a:ext cx="3343275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Document" r:id="rId3" imgW="4651200" imgH="1576440" progId="Word.Document.8">
                  <p:embed/>
                </p:oleObj>
              </mc:Choice>
              <mc:Fallback>
                <p:oleObj name="Document" r:id="rId3" imgW="4651200" imgH="1576440" progId="Word.Document.8">
                  <p:embed/>
                  <p:pic>
                    <p:nvPicPr>
                      <p:cNvPr id="21531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1" y="2035176"/>
                        <a:ext cx="3343275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32" name="Text Box 28"/>
          <p:cNvSpPr txBox="1">
            <a:spLocks noChangeArrowheads="1"/>
          </p:cNvSpPr>
          <p:nvPr/>
        </p:nvSpPr>
        <p:spPr bwMode="auto">
          <a:xfrm>
            <a:off x="6324600" y="1577975"/>
            <a:ext cx="160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2000" b="1">
                <a:solidFill>
                  <a:schemeClr val="tx2"/>
                </a:solidFill>
                <a:ea typeface="굴림" panose="020B0600000101010101" pitchFamily="50" charset="-127"/>
              </a:rPr>
              <a:t>Test Data</a:t>
            </a:r>
            <a:endParaRPr lang="en-US" altLang="ko-KR" sz="20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1533" name="Line 29"/>
          <p:cNvSpPr>
            <a:spLocks noChangeShapeType="1"/>
          </p:cNvSpPr>
          <p:nvPr/>
        </p:nvSpPr>
        <p:spPr bwMode="auto">
          <a:xfrm flipH="1">
            <a:off x="4191000" y="2263775"/>
            <a:ext cx="2362200" cy="6858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508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50" charset="-127"/>
              </a:rPr>
              <a:t>Apply Model to Test Data</a:t>
            </a:r>
          </a:p>
        </p:txBody>
      </p:sp>
      <p:sp>
        <p:nvSpPr>
          <p:cNvPr id="22531" name="Line 3"/>
          <p:cNvSpPr>
            <a:spLocks noChangeShapeType="1"/>
          </p:cNvSpPr>
          <p:nvPr/>
        </p:nvSpPr>
        <p:spPr bwMode="auto">
          <a:xfrm>
            <a:off x="4422775" y="4932363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532" name="Line 4"/>
          <p:cNvSpPr>
            <a:spLocks noChangeShapeType="1"/>
          </p:cNvSpPr>
          <p:nvPr/>
        </p:nvSpPr>
        <p:spPr bwMode="auto">
          <a:xfrm flipH="1">
            <a:off x="3182938" y="4932363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533" name="Line 5"/>
          <p:cNvSpPr>
            <a:spLocks noChangeShapeType="1"/>
          </p:cNvSpPr>
          <p:nvPr/>
        </p:nvSpPr>
        <p:spPr bwMode="auto">
          <a:xfrm flipH="1">
            <a:off x="3890963" y="3957639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534" name="Line 6"/>
          <p:cNvSpPr>
            <a:spLocks noChangeShapeType="1"/>
          </p:cNvSpPr>
          <p:nvPr/>
        </p:nvSpPr>
        <p:spPr bwMode="auto">
          <a:xfrm>
            <a:off x="5219701" y="3957639"/>
            <a:ext cx="531813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535" name="Line 7"/>
          <p:cNvSpPr>
            <a:spLocks noChangeShapeType="1"/>
          </p:cNvSpPr>
          <p:nvPr/>
        </p:nvSpPr>
        <p:spPr bwMode="auto">
          <a:xfrm>
            <a:off x="4068763" y="3067051"/>
            <a:ext cx="620712" cy="568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536" name="Line 8"/>
          <p:cNvSpPr>
            <a:spLocks noChangeShapeType="1"/>
          </p:cNvSpPr>
          <p:nvPr/>
        </p:nvSpPr>
        <p:spPr bwMode="auto">
          <a:xfrm flipH="1">
            <a:off x="2563814" y="3067051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537" name="Text Box 9"/>
          <p:cNvSpPr txBox="1">
            <a:spLocks noChangeArrowheads="1"/>
          </p:cNvSpPr>
          <p:nvPr/>
        </p:nvSpPr>
        <p:spPr bwMode="auto">
          <a:xfrm>
            <a:off x="3130551" y="2743200"/>
            <a:ext cx="1027113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2D1993"/>
                </a:solidFill>
                <a:ea typeface="굴림" panose="020B0600000101010101" pitchFamily="50" charset="-127"/>
              </a:rPr>
              <a:t>Refund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2538" name="Text Box 10"/>
          <p:cNvSpPr txBox="1">
            <a:spLocks noChangeArrowheads="1"/>
          </p:cNvSpPr>
          <p:nvPr/>
        </p:nvSpPr>
        <p:spPr bwMode="auto">
          <a:xfrm>
            <a:off x="4244976" y="3635376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2D1993"/>
                </a:solidFill>
                <a:ea typeface="굴림" panose="020B0600000101010101" pitchFamily="50" charset="-127"/>
              </a:rPr>
              <a:t>MarSt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2539" name="Text Box 11"/>
          <p:cNvSpPr txBox="1">
            <a:spLocks noChangeArrowheads="1"/>
          </p:cNvSpPr>
          <p:nvPr/>
        </p:nvSpPr>
        <p:spPr bwMode="auto">
          <a:xfrm>
            <a:off x="3449639" y="4606925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2D1993"/>
                </a:solidFill>
                <a:ea typeface="굴림" panose="020B0600000101010101" pitchFamily="50" charset="-127"/>
              </a:rPr>
              <a:t>TaxInc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2540" name="AutoShape 12"/>
          <p:cNvSpPr>
            <a:spLocks noChangeArrowheads="1"/>
          </p:cNvSpPr>
          <p:nvPr/>
        </p:nvSpPr>
        <p:spPr bwMode="auto">
          <a:xfrm>
            <a:off x="4465639" y="5575301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541" name="Text Box 13"/>
          <p:cNvSpPr txBox="1">
            <a:spLocks noChangeArrowheads="1"/>
          </p:cNvSpPr>
          <p:nvPr/>
        </p:nvSpPr>
        <p:spPr bwMode="auto">
          <a:xfrm>
            <a:off x="4383089" y="5575300"/>
            <a:ext cx="7508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800000"/>
                </a:solidFill>
                <a:ea typeface="굴림" panose="020B0600000101010101" pitchFamily="50" charset="-127"/>
              </a:rPr>
              <a:t>YES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2542" name="AutoShape 14"/>
          <p:cNvSpPr>
            <a:spLocks noChangeArrowheads="1"/>
          </p:cNvSpPr>
          <p:nvPr/>
        </p:nvSpPr>
        <p:spPr bwMode="auto">
          <a:xfrm>
            <a:off x="2828925" y="5595939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543" name="Text Box 15"/>
          <p:cNvSpPr txBox="1">
            <a:spLocks noChangeArrowheads="1"/>
          </p:cNvSpPr>
          <p:nvPr/>
        </p:nvSpPr>
        <p:spPr bwMode="auto">
          <a:xfrm>
            <a:off x="2959100" y="5578475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800000"/>
                </a:solidFill>
                <a:ea typeface="굴림" panose="020B0600000101010101" pitchFamily="50" charset="-127"/>
              </a:rPr>
              <a:t>NO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2544" name="AutoShape 16"/>
          <p:cNvSpPr>
            <a:spLocks noChangeArrowheads="1"/>
          </p:cNvSpPr>
          <p:nvPr/>
        </p:nvSpPr>
        <p:spPr bwMode="auto">
          <a:xfrm>
            <a:off x="2209801" y="3652839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545" name="Text Box 17"/>
          <p:cNvSpPr txBox="1">
            <a:spLocks noChangeArrowheads="1"/>
          </p:cNvSpPr>
          <p:nvPr/>
        </p:nvSpPr>
        <p:spPr bwMode="auto">
          <a:xfrm>
            <a:off x="2338388" y="3635375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800000"/>
                </a:solidFill>
                <a:ea typeface="굴림" panose="020B0600000101010101" pitchFamily="50" charset="-127"/>
              </a:rPr>
              <a:t>NO</a:t>
            </a:r>
            <a:endParaRPr lang="en-US" altLang="ko-KR" sz="1600">
              <a:solidFill>
                <a:srgbClr val="00FFFF"/>
              </a:solidFill>
              <a:ea typeface="굴림" panose="020B0600000101010101" pitchFamily="50" charset="-127"/>
            </a:endParaRPr>
          </a:p>
        </p:txBody>
      </p:sp>
      <p:sp>
        <p:nvSpPr>
          <p:cNvPr id="22546" name="AutoShape 18"/>
          <p:cNvSpPr>
            <a:spLocks noChangeArrowheads="1"/>
          </p:cNvSpPr>
          <p:nvPr/>
        </p:nvSpPr>
        <p:spPr bwMode="auto">
          <a:xfrm>
            <a:off x="5384801" y="4640264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547" name="Text Box 19"/>
          <p:cNvSpPr txBox="1">
            <a:spLocks noChangeArrowheads="1"/>
          </p:cNvSpPr>
          <p:nvPr/>
        </p:nvSpPr>
        <p:spPr bwMode="auto">
          <a:xfrm>
            <a:off x="5492750" y="4640263"/>
            <a:ext cx="4905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800000"/>
                </a:solidFill>
                <a:ea typeface="굴림" panose="020B0600000101010101" pitchFamily="50" charset="-127"/>
              </a:rPr>
              <a:t>NO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2548" name="Text Box 20"/>
          <p:cNvSpPr txBox="1">
            <a:spLocks noChangeArrowheads="1"/>
          </p:cNvSpPr>
          <p:nvPr/>
        </p:nvSpPr>
        <p:spPr bwMode="auto">
          <a:xfrm>
            <a:off x="2384425" y="3067050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>
                <a:ea typeface="굴림" panose="020B0600000101010101" pitchFamily="50" charset="-127"/>
              </a:rPr>
              <a:t>Yes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2549" name="Text Box 21"/>
          <p:cNvSpPr txBox="1">
            <a:spLocks noChangeArrowheads="1"/>
          </p:cNvSpPr>
          <p:nvPr/>
        </p:nvSpPr>
        <p:spPr bwMode="auto">
          <a:xfrm>
            <a:off x="4421188" y="3067050"/>
            <a:ext cx="4429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>
                <a:solidFill>
                  <a:srgbClr val="FF0000"/>
                </a:solidFill>
                <a:ea typeface="굴림" panose="020B0600000101010101" pitchFamily="50" charset="-127"/>
              </a:rPr>
              <a:t>No</a:t>
            </a:r>
          </a:p>
        </p:txBody>
      </p:sp>
      <p:sp>
        <p:nvSpPr>
          <p:cNvPr id="22550" name="Text Box 22"/>
          <p:cNvSpPr txBox="1">
            <a:spLocks noChangeArrowheads="1"/>
          </p:cNvSpPr>
          <p:nvPr/>
        </p:nvSpPr>
        <p:spPr bwMode="auto">
          <a:xfrm>
            <a:off x="5546726" y="4005263"/>
            <a:ext cx="9302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>
                <a:ea typeface="굴림" panose="020B0600000101010101" pitchFamily="50" charset="-127"/>
              </a:rPr>
              <a:t>Married</a:t>
            </a:r>
            <a:r>
              <a:rPr lang="en-US" altLang="ko-KR" sz="1600">
                <a:solidFill>
                  <a:schemeClr val="bg2"/>
                </a:solidFill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22551" name="Text Box 23"/>
          <p:cNvSpPr txBox="1">
            <a:spLocks noChangeArrowheads="1"/>
          </p:cNvSpPr>
          <p:nvPr/>
        </p:nvSpPr>
        <p:spPr bwMode="auto">
          <a:xfrm>
            <a:off x="3186114" y="4040188"/>
            <a:ext cx="1660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>
                <a:ea typeface="굴림" panose="020B0600000101010101" pitchFamily="50" charset="-127"/>
              </a:rPr>
              <a:t>Single, Divorced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2552" name="Text Box 24"/>
          <p:cNvSpPr txBox="1">
            <a:spLocks noChangeArrowheads="1"/>
          </p:cNvSpPr>
          <p:nvPr/>
        </p:nvSpPr>
        <p:spPr bwMode="auto">
          <a:xfrm>
            <a:off x="2679701" y="5011738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>
                <a:ea typeface="굴림" panose="020B0600000101010101" pitchFamily="50" charset="-127"/>
              </a:rPr>
              <a:t>&lt; 80K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2553" name="Text Box 25"/>
          <p:cNvSpPr txBox="1">
            <a:spLocks noChangeArrowheads="1"/>
          </p:cNvSpPr>
          <p:nvPr/>
        </p:nvSpPr>
        <p:spPr bwMode="auto">
          <a:xfrm>
            <a:off x="4625976" y="5011738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>
                <a:ea typeface="굴림" panose="020B0600000101010101" pitchFamily="50" charset="-127"/>
              </a:rPr>
              <a:t>&gt; 80K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graphicFrame>
        <p:nvGraphicFramePr>
          <p:cNvPr id="22554" name="Object 26"/>
          <p:cNvGraphicFramePr>
            <a:graphicFrameLocks noChangeAspect="1"/>
          </p:cNvGraphicFramePr>
          <p:nvPr/>
        </p:nvGraphicFramePr>
        <p:xfrm>
          <a:off x="6477001" y="1981201"/>
          <a:ext cx="3343275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Document" r:id="rId3" imgW="4651200" imgH="1576440" progId="Word.Document.8">
                  <p:embed/>
                </p:oleObj>
              </mc:Choice>
              <mc:Fallback>
                <p:oleObj name="Document" r:id="rId3" imgW="4651200" imgH="1576440" progId="Word.Document.8">
                  <p:embed/>
                  <p:pic>
                    <p:nvPicPr>
                      <p:cNvPr id="22554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1" y="1981201"/>
                        <a:ext cx="3343275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5" name="Text Box 27"/>
          <p:cNvSpPr txBox="1">
            <a:spLocks noChangeArrowheads="1"/>
          </p:cNvSpPr>
          <p:nvPr/>
        </p:nvSpPr>
        <p:spPr bwMode="auto">
          <a:xfrm>
            <a:off x="6324600" y="1524000"/>
            <a:ext cx="160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2000" b="1">
                <a:solidFill>
                  <a:schemeClr val="tx2"/>
                </a:solidFill>
                <a:ea typeface="굴림" panose="020B0600000101010101" pitchFamily="50" charset="-127"/>
              </a:rPr>
              <a:t>Test Data</a:t>
            </a:r>
            <a:endParaRPr lang="en-US" altLang="ko-KR" sz="20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2556" name="Line 28"/>
          <p:cNvSpPr>
            <a:spLocks noChangeShapeType="1"/>
          </p:cNvSpPr>
          <p:nvPr/>
        </p:nvSpPr>
        <p:spPr bwMode="auto">
          <a:xfrm flipH="1">
            <a:off x="4876800" y="2743200"/>
            <a:ext cx="1600200" cy="4572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796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50" charset="-127"/>
              </a:rPr>
              <a:t>Apply Model to Test Data</a:t>
            </a:r>
          </a:p>
        </p:txBody>
      </p:sp>
      <p:sp>
        <p:nvSpPr>
          <p:cNvPr id="23555" name="Line 3"/>
          <p:cNvSpPr>
            <a:spLocks noChangeShapeType="1"/>
          </p:cNvSpPr>
          <p:nvPr/>
        </p:nvSpPr>
        <p:spPr bwMode="auto">
          <a:xfrm>
            <a:off x="4422775" y="4910138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3556" name="Line 4"/>
          <p:cNvSpPr>
            <a:spLocks noChangeShapeType="1"/>
          </p:cNvSpPr>
          <p:nvPr/>
        </p:nvSpPr>
        <p:spPr bwMode="auto">
          <a:xfrm flipH="1">
            <a:off x="3182938" y="4910138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3557" name="Line 5"/>
          <p:cNvSpPr>
            <a:spLocks noChangeShapeType="1"/>
          </p:cNvSpPr>
          <p:nvPr/>
        </p:nvSpPr>
        <p:spPr bwMode="auto">
          <a:xfrm flipH="1">
            <a:off x="3890963" y="3935414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3558" name="Line 6"/>
          <p:cNvSpPr>
            <a:spLocks noChangeShapeType="1"/>
          </p:cNvSpPr>
          <p:nvPr/>
        </p:nvSpPr>
        <p:spPr bwMode="auto">
          <a:xfrm>
            <a:off x="5219701" y="3935414"/>
            <a:ext cx="531813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3559" name="Line 7"/>
          <p:cNvSpPr>
            <a:spLocks noChangeShapeType="1"/>
          </p:cNvSpPr>
          <p:nvPr/>
        </p:nvSpPr>
        <p:spPr bwMode="auto">
          <a:xfrm>
            <a:off x="4068763" y="3044826"/>
            <a:ext cx="620712" cy="568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3560" name="Line 8"/>
          <p:cNvSpPr>
            <a:spLocks noChangeShapeType="1"/>
          </p:cNvSpPr>
          <p:nvPr/>
        </p:nvSpPr>
        <p:spPr bwMode="auto">
          <a:xfrm flipH="1">
            <a:off x="2563814" y="3044826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3561" name="Text Box 9"/>
          <p:cNvSpPr txBox="1">
            <a:spLocks noChangeArrowheads="1"/>
          </p:cNvSpPr>
          <p:nvPr/>
        </p:nvSpPr>
        <p:spPr bwMode="auto">
          <a:xfrm>
            <a:off x="3130551" y="2720975"/>
            <a:ext cx="1027113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2D1993"/>
                </a:solidFill>
                <a:ea typeface="굴림" panose="020B0600000101010101" pitchFamily="50" charset="-127"/>
              </a:rPr>
              <a:t>Refund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3562" name="Text Box 10"/>
          <p:cNvSpPr txBox="1">
            <a:spLocks noChangeArrowheads="1"/>
          </p:cNvSpPr>
          <p:nvPr/>
        </p:nvSpPr>
        <p:spPr bwMode="auto">
          <a:xfrm>
            <a:off x="4244976" y="3613151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2D1993"/>
                </a:solidFill>
                <a:ea typeface="굴림" panose="020B0600000101010101" pitchFamily="50" charset="-127"/>
              </a:rPr>
              <a:t>MarSt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3563" name="Text Box 11"/>
          <p:cNvSpPr txBox="1">
            <a:spLocks noChangeArrowheads="1"/>
          </p:cNvSpPr>
          <p:nvPr/>
        </p:nvSpPr>
        <p:spPr bwMode="auto">
          <a:xfrm>
            <a:off x="3449639" y="4584700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2D1993"/>
                </a:solidFill>
                <a:ea typeface="굴림" panose="020B0600000101010101" pitchFamily="50" charset="-127"/>
              </a:rPr>
              <a:t>TaxInc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3564" name="AutoShape 12"/>
          <p:cNvSpPr>
            <a:spLocks noChangeArrowheads="1"/>
          </p:cNvSpPr>
          <p:nvPr/>
        </p:nvSpPr>
        <p:spPr bwMode="auto">
          <a:xfrm>
            <a:off x="4465639" y="5553076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3565" name="Text Box 13"/>
          <p:cNvSpPr txBox="1">
            <a:spLocks noChangeArrowheads="1"/>
          </p:cNvSpPr>
          <p:nvPr/>
        </p:nvSpPr>
        <p:spPr bwMode="auto">
          <a:xfrm>
            <a:off x="4383089" y="5553075"/>
            <a:ext cx="7508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800000"/>
                </a:solidFill>
                <a:ea typeface="굴림" panose="020B0600000101010101" pitchFamily="50" charset="-127"/>
              </a:rPr>
              <a:t>YES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3566" name="AutoShape 14"/>
          <p:cNvSpPr>
            <a:spLocks noChangeArrowheads="1"/>
          </p:cNvSpPr>
          <p:nvPr/>
        </p:nvSpPr>
        <p:spPr bwMode="auto">
          <a:xfrm>
            <a:off x="2828925" y="5573714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3567" name="Text Box 15"/>
          <p:cNvSpPr txBox="1">
            <a:spLocks noChangeArrowheads="1"/>
          </p:cNvSpPr>
          <p:nvPr/>
        </p:nvSpPr>
        <p:spPr bwMode="auto">
          <a:xfrm>
            <a:off x="2959100" y="5556250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800000"/>
                </a:solidFill>
                <a:ea typeface="굴림" panose="020B0600000101010101" pitchFamily="50" charset="-127"/>
              </a:rPr>
              <a:t>NO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3568" name="AutoShape 16"/>
          <p:cNvSpPr>
            <a:spLocks noChangeArrowheads="1"/>
          </p:cNvSpPr>
          <p:nvPr/>
        </p:nvSpPr>
        <p:spPr bwMode="auto">
          <a:xfrm>
            <a:off x="2209801" y="3630614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3569" name="Text Box 17"/>
          <p:cNvSpPr txBox="1">
            <a:spLocks noChangeArrowheads="1"/>
          </p:cNvSpPr>
          <p:nvPr/>
        </p:nvSpPr>
        <p:spPr bwMode="auto">
          <a:xfrm>
            <a:off x="2338388" y="3613150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800000"/>
                </a:solidFill>
                <a:ea typeface="굴림" panose="020B0600000101010101" pitchFamily="50" charset="-127"/>
              </a:rPr>
              <a:t>NO</a:t>
            </a:r>
            <a:endParaRPr lang="en-US" altLang="ko-KR" sz="1600">
              <a:solidFill>
                <a:srgbClr val="00FFFF"/>
              </a:solidFill>
              <a:ea typeface="굴림" panose="020B0600000101010101" pitchFamily="50" charset="-127"/>
            </a:endParaRPr>
          </a:p>
        </p:txBody>
      </p:sp>
      <p:sp>
        <p:nvSpPr>
          <p:cNvPr id="23570" name="AutoShape 18"/>
          <p:cNvSpPr>
            <a:spLocks noChangeArrowheads="1"/>
          </p:cNvSpPr>
          <p:nvPr/>
        </p:nvSpPr>
        <p:spPr bwMode="auto">
          <a:xfrm>
            <a:off x="5384801" y="4618039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3571" name="Text Box 19"/>
          <p:cNvSpPr txBox="1">
            <a:spLocks noChangeArrowheads="1"/>
          </p:cNvSpPr>
          <p:nvPr/>
        </p:nvSpPr>
        <p:spPr bwMode="auto">
          <a:xfrm>
            <a:off x="5492750" y="4618038"/>
            <a:ext cx="4905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800000"/>
                </a:solidFill>
                <a:ea typeface="굴림" panose="020B0600000101010101" pitchFamily="50" charset="-127"/>
              </a:rPr>
              <a:t>NO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3572" name="Text Box 20"/>
          <p:cNvSpPr txBox="1">
            <a:spLocks noChangeArrowheads="1"/>
          </p:cNvSpPr>
          <p:nvPr/>
        </p:nvSpPr>
        <p:spPr bwMode="auto">
          <a:xfrm>
            <a:off x="2384425" y="3044825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>
                <a:ea typeface="굴림" panose="020B0600000101010101" pitchFamily="50" charset="-127"/>
              </a:rPr>
              <a:t>Yes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3573" name="Text Box 21"/>
          <p:cNvSpPr txBox="1">
            <a:spLocks noChangeArrowheads="1"/>
          </p:cNvSpPr>
          <p:nvPr/>
        </p:nvSpPr>
        <p:spPr bwMode="auto">
          <a:xfrm>
            <a:off x="4421188" y="3044825"/>
            <a:ext cx="4429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>
                <a:solidFill>
                  <a:srgbClr val="FF0000"/>
                </a:solidFill>
                <a:ea typeface="굴림" panose="020B0600000101010101" pitchFamily="50" charset="-127"/>
              </a:rPr>
              <a:t>No</a:t>
            </a:r>
          </a:p>
        </p:txBody>
      </p:sp>
      <p:sp>
        <p:nvSpPr>
          <p:cNvPr id="23574" name="Text Box 22"/>
          <p:cNvSpPr txBox="1">
            <a:spLocks noChangeArrowheads="1"/>
          </p:cNvSpPr>
          <p:nvPr/>
        </p:nvSpPr>
        <p:spPr bwMode="auto">
          <a:xfrm>
            <a:off x="5546726" y="3983038"/>
            <a:ext cx="9302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>
                <a:ea typeface="굴림" panose="020B0600000101010101" pitchFamily="50" charset="-127"/>
              </a:rPr>
              <a:t>Married</a:t>
            </a:r>
            <a:r>
              <a:rPr lang="en-US" altLang="ko-KR" sz="1600">
                <a:solidFill>
                  <a:schemeClr val="bg2"/>
                </a:solidFill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23575" name="Text Box 23"/>
          <p:cNvSpPr txBox="1">
            <a:spLocks noChangeArrowheads="1"/>
          </p:cNvSpPr>
          <p:nvPr/>
        </p:nvSpPr>
        <p:spPr bwMode="auto">
          <a:xfrm>
            <a:off x="3186114" y="4017963"/>
            <a:ext cx="1660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>
                <a:ea typeface="굴림" panose="020B0600000101010101" pitchFamily="50" charset="-127"/>
              </a:rPr>
              <a:t>Single, Divorced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3576" name="Text Box 24"/>
          <p:cNvSpPr txBox="1">
            <a:spLocks noChangeArrowheads="1"/>
          </p:cNvSpPr>
          <p:nvPr/>
        </p:nvSpPr>
        <p:spPr bwMode="auto">
          <a:xfrm>
            <a:off x="2679701" y="4989513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>
                <a:ea typeface="굴림" panose="020B0600000101010101" pitchFamily="50" charset="-127"/>
              </a:rPr>
              <a:t>&lt; 80K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3577" name="Text Box 25"/>
          <p:cNvSpPr txBox="1">
            <a:spLocks noChangeArrowheads="1"/>
          </p:cNvSpPr>
          <p:nvPr/>
        </p:nvSpPr>
        <p:spPr bwMode="auto">
          <a:xfrm>
            <a:off x="4625976" y="4989513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>
                <a:ea typeface="굴림" panose="020B0600000101010101" pitchFamily="50" charset="-127"/>
              </a:rPr>
              <a:t>&gt; 80K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graphicFrame>
        <p:nvGraphicFramePr>
          <p:cNvPr id="23578" name="Object 26"/>
          <p:cNvGraphicFramePr>
            <a:graphicFrameLocks noChangeAspect="1"/>
          </p:cNvGraphicFramePr>
          <p:nvPr/>
        </p:nvGraphicFramePr>
        <p:xfrm>
          <a:off x="6477001" y="1958976"/>
          <a:ext cx="3343275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Document" r:id="rId3" imgW="4651200" imgH="1576440" progId="Word.Document.8">
                  <p:embed/>
                </p:oleObj>
              </mc:Choice>
              <mc:Fallback>
                <p:oleObj name="Document" r:id="rId3" imgW="4651200" imgH="1576440" progId="Word.Document.8">
                  <p:embed/>
                  <p:pic>
                    <p:nvPicPr>
                      <p:cNvPr id="23578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1" y="1958976"/>
                        <a:ext cx="3343275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9" name="Text Box 27"/>
          <p:cNvSpPr txBox="1">
            <a:spLocks noChangeArrowheads="1"/>
          </p:cNvSpPr>
          <p:nvPr/>
        </p:nvSpPr>
        <p:spPr bwMode="auto">
          <a:xfrm>
            <a:off x="6324600" y="1501775"/>
            <a:ext cx="160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2000" b="1">
                <a:solidFill>
                  <a:schemeClr val="tx2"/>
                </a:solidFill>
                <a:ea typeface="굴림" panose="020B0600000101010101" pitchFamily="50" charset="-127"/>
              </a:rPr>
              <a:t>Test Data</a:t>
            </a:r>
            <a:endParaRPr lang="en-US" altLang="ko-KR" sz="20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3580" name="Line 28"/>
          <p:cNvSpPr>
            <a:spLocks noChangeShapeType="1"/>
          </p:cNvSpPr>
          <p:nvPr/>
        </p:nvSpPr>
        <p:spPr bwMode="auto">
          <a:xfrm flipH="1">
            <a:off x="5334000" y="2416175"/>
            <a:ext cx="2057400" cy="12954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1299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50" charset="-127"/>
              </a:rPr>
              <a:t>Apply Model to Test Data</a:t>
            </a:r>
          </a:p>
        </p:txBody>
      </p:sp>
      <p:sp>
        <p:nvSpPr>
          <p:cNvPr id="24579" name="Line 3"/>
          <p:cNvSpPr>
            <a:spLocks noChangeShapeType="1"/>
          </p:cNvSpPr>
          <p:nvPr/>
        </p:nvSpPr>
        <p:spPr bwMode="auto">
          <a:xfrm>
            <a:off x="4422775" y="4932363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4580" name="Line 4"/>
          <p:cNvSpPr>
            <a:spLocks noChangeShapeType="1"/>
          </p:cNvSpPr>
          <p:nvPr/>
        </p:nvSpPr>
        <p:spPr bwMode="auto">
          <a:xfrm flipH="1">
            <a:off x="3182938" y="4932363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4581" name="Line 5"/>
          <p:cNvSpPr>
            <a:spLocks noChangeShapeType="1"/>
          </p:cNvSpPr>
          <p:nvPr/>
        </p:nvSpPr>
        <p:spPr bwMode="auto">
          <a:xfrm flipH="1">
            <a:off x="3890963" y="3957639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4582" name="Line 6"/>
          <p:cNvSpPr>
            <a:spLocks noChangeShapeType="1"/>
          </p:cNvSpPr>
          <p:nvPr/>
        </p:nvSpPr>
        <p:spPr bwMode="auto">
          <a:xfrm>
            <a:off x="5219701" y="3957639"/>
            <a:ext cx="531813" cy="6492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4583" name="Line 7"/>
          <p:cNvSpPr>
            <a:spLocks noChangeShapeType="1"/>
          </p:cNvSpPr>
          <p:nvPr/>
        </p:nvSpPr>
        <p:spPr bwMode="auto">
          <a:xfrm>
            <a:off x="4068763" y="3067051"/>
            <a:ext cx="620712" cy="568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4584" name="Line 8"/>
          <p:cNvSpPr>
            <a:spLocks noChangeShapeType="1"/>
          </p:cNvSpPr>
          <p:nvPr/>
        </p:nvSpPr>
        <p:spPr bwMode="auto">
          <a:xfrm flipH="1">
            <a:off x="2563814" y="3067051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4585" name="Text Box 9"/>
          <p:cNvSpPr txBox="1">
            <a:spLocks noChangeArrowheads="1"/>
          </p:cNvSpPr>
          <p:nvPr/>
        </p:nvSpPr>
        <p:spPr bwMode="auto">
          <a:xfrm>
            <a:off x="3130551" y="2743200"/>
            <a:ext cx="1027113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2D1993"/>
                </a:solidFill>
                <a:ea typeface="굴림" panose="020B0600000101010101" pitchFamily="50" charset="-127"/>
              </a:rPr>
              <a:t>Refund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4586" name="Text Box 10"/>
          <p:cNvSpPr txBox="1">
            <a:spLocks noChangeArrowheads="1"/>
          </p:cNvSpPr>
          <p:nvPr/>
        </p:nvSpPr>
        <p:spPr bwMode="auto">
          <a:xfrm>
            <a:off x="4244976" y="3635376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2D1993"/>
                </a:solidFill>
                <a:ea typeface="굴림" panose="020B0600000101010101" pitchFamily="50" charset="-127"/>
              </a:rPr>
              <a:t>MarSt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4587" name="Text Box 11"/>
          <p:cNvSpPr txBox="1">
            <a:spLocks noChangeArrowheads="1"/>
          </p:cNvSpPr>
          <p:nvPr/>
        </p:nvSpPr>
        <p:spPr bwMode="auto">
          <a:xfrm>
            <a:off x="3449639" y="4606925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2D1993"/>
                </a:solidFill>
                <a:ea typeface="굴림" panose="020B0600000101010101" pitchFamily="50" charset="-127"/>
              </a:rPr>
              <a:t>TaxInc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4588" name="AutoShape 12"/>
          <p:cNvSpPr>
            <a:spLocks noChangeArrowheads="1"/>
          </p:cNvSpPr>
          <p:nvPr/>
        </p:nvSpPr>
        <p:spPr bwMode="auto">
          <a:xfrm>
            <a:off x="4465639" y="5575301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4589" name="Text Box 13"/>
          <p:cNvSpPr txBox="1">
            <a:spLocks noChangeArrowheads="1"/>
          </p:cNvSpPr>
          <p:nvPr/>
        </p:nvSpPr>
        <p:spPr bwMode="auto">
          <a:xfrm>
            <a:off x="4383089" y="5575300"/>
            <a:ext cx="7508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800000"/>
                </a:solidFill>
                <a:ea typeface="굴림" panose="020B0600000101010101" pitchFamily="50" charset="-127"/>
              </a:rPr>
              <a:t>YES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4590" name="AutoShape 14"/>
          <p:cNvSpPr>
            <a:spLocks noChangeArrowheads="1"/>
          </p:cNvSpPr>
          <p:nvPr/>
        </p:nvSpPr>
        <p:spPr bwMode="auto">
          <a:xfrm>
            <a:off x="2828925" y="5595939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4591" name="Text Box 15"/>
          <p:cNvSpPr txBox="1">
            <a:spLocks noChangeArrowheads="1"/>
          </p:cNvSpPr>
          <p:nvPr/>
        </p:nvSpPr>
        <p:spPr bwMode="auto">
          <a:xfrm>
            <a:off x="2959100" y="5578475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800000"/>
                </a:solidFill>
                <a:ea typeface="굴림" panose="020B0600000101010101" pitchFamily="50" charset="-127"/>
              </a:rPr>
              <a:t>NO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4592" name="AutoShape 16"/>
          <p:cNvSpPr>
            <a:spLocks noChangeArrowheads="1"/>
          </p:cNvSpPr>
          <p:nvPr/>
        </p:nvSpPr>
        <p:spPr bwMode="auto">
          <a:xfrm>
            <a:off x="2209801" y="3652839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4593" name="Text Box 17"/>
          <p:cNvSpPr txBox="1">
            <a:spLocks noChangeArrowheads="1"/>
          </p:cNvSpPr>
          <p:nvPr/>
        </p:nvSpPr>
        <p:spPr bwMode="auto">
          <a:xfrm>
            <a:off x="2338388" y="3635375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800000"/>
                </a:solidFill>
                <a:ea typeface="굴림" panose="020B0600000101010101" pitchFamily="50" charset="-127"/>
              </a:rPr>
              <a:t>NO</a:t>
            </a:r>
            <a:endParaRPr lang="en-US" altLang="ko-KR" sz="1600">
              <a:solidFill>
                <a:srgbClr val="00FFFF"/>
              </a:solidFill>
              <a:ea typeface="굴림" panose="020B0600000101010101" pitchFamily="50" charset="-127"/>
            </a:endParaRPr>
          </a:p>
        </p:txBody>
      </p:sp>
      <p:sp>
        <p:nvSpPr>
          <p:cNvPr id="24594" name="AutoShape 18"/>
          <p:cNvSpPr>
            <a:spLocks noChangeArrowheads="1"/>
          </p:cNvSpPr>
          <p:nvPr/>
        </p:nvSpPr>
        <p:spPr bwMode="auto">
          <a:xfrm>
            <a:off x="5384801" y="4640264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4595" name="Text Box 19"/>
          <p:cNvSpPr txBox="1">
            <a:spLocks noChangeArrowheads="1"/>
          </p:cNvSpPr>
          <p:nvPr/>
        </p:nvSpPr>
        <p:spPr bwMode="auto">
          <a:xfrm>
            <a:off x="5492750" y="4640263"/>
            <a:ext cx="4905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800000"/>
                </a:solidFill>
                <a:ea typeface="굴림" panose="020B0600000101010101" pitchFamily="50" charset="-127"/>
              </a:rPr>
              <a:t>NO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4596" name="Text Box 20"/>
          <p:cNvSpPr txBox="1">
            <a:spLocks noChangeArrowheads="1"/>
          </p:cNvSpPr>
          <p:nvPr/>
        </p:nvSpPr>
        <p:spPr bwMode="auto">
          <a:xfrm>
            <a:off x="2384425" y="3067050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>
                <a:ea typeface="굴림" panose="020B0600000101010101" pitchFamily="50" charset="-127"/>
              </a:rPr>
              <a:t>Yes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4597" name="Text Box 21"/>
          <p:cNvSpPr txBox="1">
            <a:spLocks noChangeArrowheads="1"/>
          </p:cNvSpPr>
          <p:nvPr/>
        </p:nvSpPr>
        <p:spPr bwMode="auto">
          <a:xfrm>
            <a:off x="4421188" y="3067050"/>
            <a:ext cx="4429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>
                <a:solidFill>
                  <a:srgbClr val="FF0000"/>
                </a:solidFill>
                <a:ea typeface="굴림" panose="020B0600000101010101" pitchFamily="50" charset="-127"/>
              </a:rPr>
              <a:t>No</a:t>
            </a:r>
          </a:p>
        </p:txBody>
      </p:sp>
      <p:sp>
        <p:nvSpPr>
          <p:cNvPr id="24598" name="Text Box 22"/>
          <p:cNvSpPr txBox="1">
            <a:spLocks noChangeArrowheads="1"/>
          </p:cNvSpPr>
          <p:nvPr/>
        </p:nvSpPr>
        <p:spPr bwMode="auto">
          <a:xfrm>
            <a:off x="5546726" y="4005263"/>
            <a:ext cx="9302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>
                <a:solidFill>
                  <a:srgbClr val="FF0000"/>
                </a:solidFill>
                <a:ea typeface="굴림" panose="020B0600000101010101" pitchFamily="50" charset="-127"/>
              </a:rPr>
              <a:t>Married </a:t>
            </a:r>
          </a:p>
        </p:txBody>
      </p:sp>
      <p:sp>
        <p:nvSpPr>
          <p:cNvPr id="24599" name="Text Box 23"/>
          <p:cNvSpPr txBox="1">
            <a:spLocks noChangeArrowheads="1"/>
          </p:cNvSpPr>
          <p:nvPr/>
        </p:nvSpPr>
        <p:spPr bwMode="auto">
          <a:xfrm>
            <a:off x="3186114" y="4040188"/>
            <a:ext cx="1660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>
                <a:ea typeface="굴림" panose="020B0600000101010101" pitchFamily="50" charset="-127"/>
              </a:rPr>
              <a:t>Single, Divorced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4600" name="Text Box 24"/>
          <p:cNvSpPr txBox="1">
            <a:spLocks noChangeArrowheads="1"/>
          </p:cNvSpPr>
          <p:nvPr/>
        </p:nvSpPr>
        <p:spPr bwMode="auto">
          <a:xfrm>
            <a:off x="2679701" y="5011738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>
                <a:ea typeface="굴림" panose="020B0600000101010101" pitchFamily="50" charset="-127"/>
              </a:rPr>
              <a:t>&lt; 80K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4601" name="Text Box 25"/>
          <p:cNvSpPr txBox="1">
            <a:spLocks noChangeArrowheads="1"/>
          </p:cNvSpPr>
          <p:nvPr/>
        </p:nvSpPr>
        <p:spPr bwMode="auto">
          <a:xfrm>
            <a:off x="4625976" y="5011738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>
                <a:ea typeface="굴림" panose="020B0600000101010101" pitchFamily="50" charset="-127"/>
              </a:rPr>
              <a:t>&gt; 80K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graphicFrame>
        <p:nvGraphicFramePr>
          <p:cNvPr id="24602" name="Object 26"/>
          <p:cNvGraphicFramePr>
            <a:graphicFrameLocks noChangeAspect="1"/>
          </p:cNvGraphicFramePr>
          <p:nvPr/>
        </p:nvGraphicFramePr>
        <p:xfrm>
          <a:off x="6477001" y="1981201"/>
          <a:ext cx="3343275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Document" r:id="rId3" imgW="4651200" imgH="1576440" progId="Word.Document.8">
                  <p:embed/>
                </p:oleObj>
              </mc:Choice>
              <mc:Fallback>
                <p:oleObj name="Document" r:id="rId3" imgW="4651200" imgH="1576440" progId="Word.Document.8">
                  <p:embed/>
                  <p:pic>
                    <p:nvPicPr>
                      <p:cNvPr id="24602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1" y="1981201"/>
                        <a:ext cx="3343275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3" name="Text Box 27"/>
          <p:cNvSpPr txBox="1">
            <a:spLocks noChangeArrowheads="1"/>
          </p:cNvSpPr>
          <p:nvPr/>
        </p:nvSpPr>
        <p:spPr bwMode="auto">
          <a:xfrm>
            <a:off x="6324600" y="1524000"/>
            <a:ext cx="160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2000" b="1">
                <a:solidFill>
                  <a:schemeClr val="tx2"/>
                </a:solidFill>
                <a:ea typeface="굴림" panose="020B0600000101010101" pitchFamily="50" charset="-127"/>
              </a:rPr>
              <a:t>Test Data</a:t>
            </a:r>
            <a:endParaRPr lang="en-US" altLang="ko-KR" sz="20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4604" name="Line 28"/>
          <p:cNvSpPr>
            <a:spLocks noChangeShapeType="1"/>
          </p:cNvSpPr>
          <p:nvPr/>
        </p:nvSpPr>
        <p:spPr bwMode="auto">
          <a:xfrm flipH="1">
            <a:off x="6172200" y="2971800"/>
            <a:ext cx="1295400" cy="9906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455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50" charset="-127"/>
              </a:rPr>
              <a:t>Apply Model to Test Data</a:t>
            </a:r>
          </a:p>
        </p:txBody>
      </p:sp>
      <p:sp>
        <p:nvSpPr>
          <p:cNvPr id="25603" name="Line 3"/>
          <p:cNvSpPr>
            <a:spLocks noChangeShapeType="1"/>
          </p:cNvSpPr>
          <p:nvPr/>
        </p:nvSpPr>
        <p:spPr bwMode="auto">
          <a:xfrm>
            <a:off x="4422775" y="4986338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5604" name="Line 4"/>
          <p:cNvSpPr>
            <a:spLocks noChangeShapeType="1"/>
          </p:cNvSpPr>
          <p:nvPr/>
        </p:nvSpPr>
        <p:spPr bwMode="auto">
          <a:xfrm flipH="1">
            <a:off x="3182938" y="4986338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5605" name="Line 5"/>
          <p:cNvSpPr>
            <a:spLocks noChangeShapeType="1"/>
          </p:cNvSpPr>
          <p:nvPr/>
        </p:nvSpPr>
        <p:spPr bwMode="auto">
          <a:xfrm flipH="1">
            <a:off x="3890963" y="4011614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5606" name="Line 6"/>
          <p:cNvSpPr>
            <a:spLocks noChangeShapeType="1"/>
          </p:cNvSpPr>
          <p:nvPr/>
        </p:nvSpPr>
        <p:spPr bwMode="auto">
          <a:xfrm>
            <a:off x="5219701" y="4011614"/>
            <a:ext cx="531813" cy="6492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5607" name="Line 7"/>
          <p:cNvSpPr>
            <a:spLocks noChangeShapeType="1"/>
          </p:cNvSpPr>
          <p:nvPr/>
        </p:nvSpPr>
        <p:spPr bwMode="auto">
          <a:xfrm>
            <a:off x="4068763" y="3121026"/>
            <a:ext cx="620712" cy="568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5608" name="Line 8"/>
          <p:cNvSpPr>
            <a:spLocks noChangeShapeType="1"/>
          </p:cNvSpPr>
          <p:nvPr/>
        </p:nvSpPr>
        <p:spPr bwMode="auto">
          <a:xfrm flipH="1">
            <a:off x="2563814" y="3121026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5609" name="Text Box 9"/>
          <p:cNvSpPr txBox="1">
            <a:spLocks noChangeArrowheads="1"/>
          </p:cNvSpPr>
          <p:nvPr/>
        </p:nvSpPr>
        <p:spPr bwMode="auto">
          <a:xfrm>
            <a:off x="3130551" y="2797175"/>
            <a:ext cx="1027113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2D1993"/>
                </a:solidFill>
                <a:ea typeface="굴림" panose="020B0600000101010101" pitchFamily="50" charset="-127"/>
              </a:rPr>
              <a:t>Refund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5610" name="Text Box 10"/>
          <p:cNvSpPr txBox="1">
            <a:spLocks noChangeArrowheads="1"/>
          </p:cNvSpPr>
          <p:nvPr/>
        </p:nvSpPr>
        <p:spPr bwMode="auto">
          <a:xfrm>
            <a:off x="4244976" y="3689351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2D1993"/>
                </a:solidFill>
                <a:ea typeface="굴림" panose="020B0600000101010101" pitchFamily="50" charset="-127"/>
              </a:rPr>
              <a:t>MarSt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5611" name="Text Box 11"/>
          <p:cNvSpPr txBox="1">
            <a:spLocks noChangeArrowheads="1"/>
          </p:cNvSpPr>
          <p:nvPr/>
        </p:nvSpPr>
        <p:spPr bwMode="auto">
          <a:xfrm>
            <a:off x="3449639" y="4660900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2D1993"/>
                </a:solidFill>
                <a:ea typeface="굴림" panose="020B0600000101010101" pitchFamily="50" charset="-127"/>
              </a:rPr>
              <a:t>TaxInc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5612" name="AutoShape 12"/>
          <p:cNvSpPr>
            <a:spLocks noChangeArrowheads="1"/>
          </p:cNvSpPr>
          <p:nvPr/>
        </p:nvSpPr>
        <p:spPr bwMode="auto">
          <a:xfrm>
            <a:off x="4465639" y="5629276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5613" name="Text Box 13"/>
          <p:cNvSpPr txBox="1">
            <a:spLocks noChangeArrowheads="1"/>
          </p:cNvSpPr>
          <p:nvPr/>
        </p:nvSpPr>
        <p:spPr bwMode="auto">
          <a:xfrm>
            <a:off x="4383089" y="5629275"/>
            <a:ext cx="7508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800000"/>
                </a:solidFill>
                <a:ea typeface="굴림" panose="020B0600000101010101" pitchFamily="50" charset="-127"/>
              </a:rPr>
              <a:t>YES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5614" name="AutoShape 14"/>
          <p:cNvSpPr>
            <a:spLocks noChangeArrowheads="1"/>
          </p:cNvSpPr>
          <p:nvPr/>
        </p:nvSpPr>
        <p:spPr bwMode="auto">
          <a:xfrm>
            <a:off x="2828925" y="5649914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5615" name="Text Box 15"/>
          <p:cNvSpPr txBox="1">
            <a:spLocks noChangeArrowheads="1"/>
          </p:cNvSpPr>
          <p:nvPr/>
        </p:nvSpPr>
        <p:spPr bwMode="auto">
          <a:xfrm>
            <a:off x="2959100" y="5632450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800000"/>
                </a:solidFill>
                <a:ea typeface="굴림" panose="020B0600000101010101" pitchFamily="50" charset="-127"/>
              </a:rPr>
              <a:t>NO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5616" name="AutoShape 16"/>
          <p:cNvSpPr>
            <a:spLocks noChangeArrowheads="1"/>
          </p:cNvSpPr>
          <p:nvPr/>
        </p:nvSpPr>
        <p:spPr bwMode="auto">
          <a:xfrm>
            <a:off x="2209801" y="3706814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5617" name="Text Box 17"/>
          <p:cNvSpPr txBox="1">
            <a:spLocks noChangeArrowheads="1"/>
          </p:cNvSpPr>
          <p:nvPr/>
        </p:nvSpPr>
        <p:spPr bwMode="auto">
          <a:xfrm>
            <a:off x="2338388" y="3689350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800000"/>
                </a:solidFill>
                <a:ea typeface="굴림" panose="020B0600000101010101" pitchFamily="50" charset="-127"/>
              </a:rPr>
              <a:t>NO</a:t>
            </a:r>
            <a:endParaRPr lang="en-US" altLang="ko-KR" sz="1600">
              <a:solidFill>
                <a:srgbClr val="00FFFF"/>
              </a:solidFill>
              <a:ea typeface="굴림" panose="020B0600000101010101" pitchFamily="50" charset="-127"/>
            </a:endParaRPr>
          </a:p>
        </p:txBody>
      </p:sp>
      <p:sp>
        <p:nvSpPr>
          <p:cNvPr id="25618" name="AutoShape 18"/>
          <p:cNvSpPr>
            <a:spLocks noChangeArrowheads="1"/>
          </p:cNvSpPr>
          <p:nvPr/>
        </p:nvSpPr>
        <p:spPr bwMode="auto">
          <a:xfrm>
            <a:off x="5384801" y="4694239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5619" name="Text Box 19"/>
          <p:cNvSpPr txBox="1">
            <a:spLocks noChangeArrowheads="1"/>
          </p:cNvSpPr>
          <p:nvPr/>
        </p:nvSpPr>
        <p:spPr bwMode="auto">
          <a:xfrm>
            <a:off x="5492750" y="4694238"/>
            <a:ext cx="4905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 b="1">
                <a:solidFill>
                  <a:srgbClr val="800000"/>
                </a:solidFill>
                <a:ea typeface="굴림" panose="020B0600000101010101" pitchFamily="50" charset="-127"/>
              </a:rPr>
              <a:t>NO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5620" name="Text Box 20"/>
          <p:cNvSpPr txBox="1">
            <a:spLocks noChangeArrowheads="1"/>
          </p:cNvSpPr>
          <p:nvPr/>
        </p:nvSpPr>
        <p:spPr bwMode="auto">
          <a:xfrm>
            <a:off x="2384425" y="3121025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>
                <a:ea typeface="굴림" panose="020B0600000101010101" pitchFamily="50" charset="-127"/>
              </a:rPr>
              <a:t>Yes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5621" name="Text Box 21"/>
          <p:cNvSpPr txBox="1">
            <a:spLocks noChangeArrowheads="1"/>
          </p:cNvSpPr>
          <p:nvPr/>
        </p:nvSpPr>
        <p:spPr bwMode="auto">
          <a:xfrm>
            <a:off x="4421188" y="3121025"/>
            <a:ext cx="4429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>
                <a:solidFill>
                  <a:srgbClr val="FF0000"/>
                </a:solidFill>
                <a:ea typeface="굴림" panose="020B0600000101010101" pitchFamily="50" charset="-127"/>
              </a:rPr>
              <a:t>No</a:t>
            </a:r>
          </a:p>
        </p:txBody>
      </p:sp>
      <p:sp>
        <p:nvSpPr>
          <p:cNvPr id="25622" name="Text Box 22"/>
          <p:cNvSpPr txBox="1">
            <a:spLocks noChangeArrowheads="1"/>
          </p:cNvSpPr>
          <p:nvPr/>
        </p:nvSpPr>
        <p:spPr bwMode="auto">
          <a:xfrm>
            <a:off x="5546726" y="4059238"/>
            <a:ext cx="9302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>
                <a:solidFill>
                  <a:srgbClr val="FF0000"/>
                </a:solidFill>
                <a:ea typeface="굴림" panose="020B0600000101010101" pitchFamily="50" charset="-127"/>
              </a:rPr>
              <a:t>Married </a:t>
            </a:r>
          </a:p>
        </p:txBody>
      </p:sp>
      <p:sp>
        <p:nvSpPr>
          <p:cNvPr id="25623" name="Text Box 23"/>
          <p:cNvSpPr txBox="1">
            <a:spLocks noChangeArrowheads="1"/>
          </p:cNvSpPr>
          <p:nvPr/>
        </p:nvSpPr>
        <p:spPr bwMode="auto">
          <a:xfrm>
            <a:off x="3186114" y="4094163"/>
            <a:ext cx="1660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>
                <a:ea typeface="굴림" panose="020B0600000101010101" pitchFamily="50" charset="-127"/>
              </a:rPr>
              <a:t>Single, Divorced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5624" name="Text Box 24"/>
          <p:cNvSpPr txBox="1">
            <a:spLocks noChangeArrowheads="1"/>
          </p:cNvSpPr>
          <p:nvPr/>
        </p:nvSpPr>
        <p:spPr bwMode="auto">
          <a:xfrm>
            <a:off x="2679701" y="5065713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>
                <a:ea typeface="굴림" panose="020B0600000101010101" pitchFamily="50" charset="-127"/>
              </a:rPr>
              <a:t>&lt; 80K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5625" name="Text Box 25"/>
          <p:cNvSpPr txBox="1">
            <a:spLocks noChangeArrowheads="1"/>
          </p:cNvSpPr>
          <p:nvPr/>
        </p:nvSpPr>
        <p:spPr bwMode="auto">
          <a:xfrm>
            <a:off x="4625976" y="5065713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1600">
                <a:ea typeface="굴림" panose="020B0600000101010101" pitchFamily="50" charset="-127"/>
              </a:rPr>
              <a:t>&gt; 80K</a:t>
            </a:r>
            <a:endParaRPr lang="en-US" altLang="ko-KR" sz="16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graphicFrame>
        <p:nvGraphicFramePr>
          <p:cNvPr id="25626" name="Object 26"/>
          <p:cNvGraphicFramePr>
            <a:graphicFrameLocks noChangeAspect="1"/>
          </p:cNvGraphicFramePr>
          <p:nvPr/>
        </p:nvGraphicFramePr>
        <p:xfrm>
          <a:off x="6477001" y="2035176"/>
          <a:ext cx="3343275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" name="Document" r:id="rId3" imgW="4651200" imgH="1576440" progId="Word.Document.8">
                  <p:embed/>
                </p:oleObj>
              </mc:Choice>
              <mc:Fallback>
                <p:oleObj name="Document" r:id="rId3" imgW="4651200" imgH="1576440" progId="Word.Document.8">
                  <p:embed/>
                  <p:pic>
                    <p:nvPicPr>
                      <p:cNvPr id="25626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1" y="2035176"/>
                        <a:ext cx="3343275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7" name="Text Box 27"/>
          <p:cNvSpPr txBox="1">
            <a:spLocks noChangeArrowheads="1"/>
          </p:cNvSpPr>
          <p:nvPr/>
        </p:nvSpPr>
        <p:spPr bwMode="auto">
          <a:xfrm>
            <a:off x="6324600" y="1577975"/>
            <a:ext cx="160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2000" b="1">
                <a:solidFill>
                  <a:schemeClr val="tx2"/>
                </a:solidFill>
                <a:ea typeface="굴림" panose="020B0600000101010101" pitchFamily="50" charset="-127"/>
              </a:rPr>
              <a:t>Test Data</a:t>
            </a:r>
            <a:endParaRPr lang="en-US" altLang="ko-KR" sz="2000">
              <a:solidFill>
                <a:schemeClr val="bg2"/>
              </a:solidFill>
              <a:ea typeface="굴림" panose="020B0600000101010101" pitchFamily="50" charset="-127"/>
            </a:endParaRPr>
          </a:p>
        </p:txBody>
      </p:sp>
      <p:sp>
        <p:nvSpPr>
          <p:cNvPr id="25628" name="Line 28"/>
          <p:cNvSpPr>
            <a:spLocks noChangeShapeType="1"/>
          </p:cNvSpPr>
          <p:nvPr/>
        </p:nvSpPr>
        <p:spPr bwMode="auto">
          <a:xfrm flipH="1">
            <a:off x="6019800" y="3025775"/>
            <a:ext cx="3124200" cy="18288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5629" name="Text Box 29"/>
          <p:cNvSpPr txBox="1">
            <a:spLocks noChangeArrowheads="1"/>
          </p:cNvSpPr>
          <p:nvPr/>
        </p:nvSpPr>
        <p:spPr bwMode="auto">
          <a:xfrm>
            <a:off x="7543800" y="4016375"/>
            <a:ext cx="2667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ko-KR" sz="2000">
                <a:ea typeface="굴림" panose="020B0600000101010101" pitchFamily="50" charset="-127"/>
              </a:rPr>
              <a:t>Assign Cheat to “No”</a:t>
            </a:r>
          </a:p>
        </p:txBody>
      </p:sp>
    </p:spTree>
    <p:extLst>
      <p:ext uri="{BB962C8B-B14F-4D97-AF65-F5344CB8AC3E}">
        <p14:creationId xmlns:p14="http://schemas.microsoft.com/office/powerpoint/2010/main" val="2938942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Decision Tree in </a:t>
            </a:r>
            <a:r>
              <a:rPr lang="en-US" altLang="ko-KR" dirty="0" err="1" smtClean="0"/>
              <a:t>Scikit</a:t>
            </a:r>
            <a:r>
              <a:rPr lang="en-US" altLang="ko-KR" dirty="0" smtClean="0"/>
              <a:t>-Learn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i="1" dirty="0" smtClean="0"/>
              <a:t>Classification </a:t>
            </a:r>
            <a:r>
              <a:rPr lang="en-US" altLang="ko-KR" i="1" dirty="0"/>
              <a:t>And Regression Tree </a:t>
            </a:r>
            <a:r>
              <a:rPr lang="en-US" altLang="ko-KR" dirty="0" smtClean="0"/>
              <a:t>(CART</a:t>
            </a:r>
            <a:r>
              <a:rPr lang="en-US" altLang="ko-KR" dirty="0"/>
              <a:t>) </a:t>
            </a:r>
            <a:r>
              <a:rPr lang="ko-KR" altLang="en-US" dirty="0" smtClean="0"/>
              <a:t>알고리즘 이용</a:t>
            </a:r>
            <a:endParaRPr lang="en-US" altLang="ko-KR" dirty="0" smtClean="0"/>
          </a:p>
          <a:p>
            <a:pPr lvl="1">
              <a:lnSpc>
                <a:spcPct val="130000"/>
              </a:lnSpc>
            </a:pPr>
            <a:r>
              <a:rPr lang="ko-KR" altLang="en-US" dirty="0"/>
              <a:t>단일 </a:t>
            </a:r>
            <a:r>
              <a:rPr lang="ko-KR" altLang="en-US" dirty="0" smtClean="0"/>
              <a:t>특징 </a:t>
            </a:r>
            <a:r>
              <a:rPr lang="en-US" altLang="ko-KR" dirty="0"/>
              <a:t>k</a:t>
            </a:r>
            <a:r>
              <a:rPr lang="ko-KR" altLang="en-US" dirty="0"/>
              <a:t>와 </a:t>
            </a:r>
            <a:r>
              <a:rPr lang="ko-KR" altLang="en-US" dirty="0" err="1" smtClean="0"/>
              <a:t>임계값</a:t>
            </a:r>
            <a:r>
              <a:rPr lang="ko-KR" altLang="en-US" dirty="0" smtClean="0"/>
              <a:t> </a:t>
            </a:r>
            <a:r>
              <a:rPr lang="en-US" altLang="ko-KR" i="1" dirty="0" err="1" smtClean="0"/>
              <a:t>tk</a:t>
            </a:r>
            <a:r>
              <a:rPr lang="ko-KR" altLang="en-US" dirty="0" smtClean="0"/>
              <a:t>을 </a:t>
            </a:r>
            <a:r>
              <a:rPr lang="ko-KR" altLang="en-US" dirty="0"/>
              <a:t>사용하여 훈련 세트를 두 하위 집합으로 분할</a:t>
            </a:r>
            <a:r>
              <a:rPr lang="en-US" altLang="ko-KR" dirty="0" smtClean="0"/>
              <a:t> </a:t>
            </a:r>
          </a:p>
          <a:p>
            <a:pPr lvl="1">
              <a:lnSpc>
                <a:spcPct val="130000"/>
              </a:lnSpc>
            </a:pPr>
            <a:r>
              <a:rPr lang="ko-KR" altLang="en-US" dirty="0"/>
              <a:t>학습 세트를 두 개로 성공적으로 분할하면 </a:t>
            </a:r>
            <a:r>
              <a:rPr lang="ko-KR" altLang="en-US" dirty="0" smtClean="0"/>
              <a:t>동일하게 </a:t>
            </a:r>
            <a:r>
              <a:rPr lang="ko-KR" altLang="en-US" dirty="0"/>
              <a:t>하위 집합을 분할 한 </a:t>
            </a:r>
            <a:r>
              <a:rPr lang="ko-KR" altLang="en-US" dirty="0" smtClean="0"/>
              <a:t>후 </a:t>
            </a:r>
            <a:r>
              <a:rPr lang="ko-KR" altLang="en-US" dirty="0"/>
              <a:t>하위 </a:t>
            </a:r>
            <a:r>
              <a:rPr lang="ko-KR" altLang="en-US" dirty="0" err="1"/>
              <a:t>하위</a:t>
            </a:r>
            <a:r>
              <a:rPr lang="ko-KR" altLang="en-US" dirty="0"/>
              <a:t> 집합 등을 반복적으로 </a:t>
            </a:r>
            <a:r>
              <a:rPr lang="ko-KR" altLang="en-US" dirty="0" smtClean="0"/>
              <a:t>분할</a:t>
            </a:r>
            <a:endParaRPr lang="en-US" altLang="ko-KR" dirty="0" smtClean="0"/>
          </a:p>
          <a:p>
            <a:pPr lvl="1">
              <a:lnSpc>
                <a:spcPct val="130000"/>
              </a:lnSpc>
            </a:pPr>
            <a:r>
              <a:rPr lang="en-US" altLang="ko-KR" dirty="0" err="1"/>
              <a:t>max_depth</a:t>
            </a:r>
            <a:r>
              <a:rPr lang="en-US" altLang="ko-KR" dirty="0"/>
              <a:t> </a:t>
            </a:r>
            <a:r>
              <a:rPr lang="ko-KR" altLang="en-US" dirty="0" err="1"/>
              <a:t>하이퍼</a:t>
            </a:r>
            <a:r>
              <a:rPr lang="ko-KR" altLang="en-US" dirty="0"/>
              <a:t> </a:t>
            </a:r>
            <a:r>
              <a:rPr lang="ko-KR" altLang="en-US" dirty="0" err="1"/>
              <a:t>파라미터로</a:t>
            </a:r>
            <a:r>
              <a:rPr lang="ko-KR" altLang="en-US" dirty="0"/>
              <a:t> 정의 된 최대 깊이에 도달하거나 </a:t>
            </a:r>
            <a:r>
              <a:rPr lang="ko-KR" altLang="en-US" dirty="0" smtClean="0"/>
              <a:t>불순도 </a:t>
            </a:r>
            <a:r>
              <a:rPr lang="en-US" altLang="ko-KR" dirty="0" smtClean="0"/>
              <a:t>(impurity)</a:t>
            </a:r>
            <a:r>
              <a:rPr lang="ko-KR" altLang="en-US" dirty="0" smtClean="0"/>
              <a:t>을 </a:t>
            </a:r>
            <a:r>
              <a:rPr lang="ko-KR" altLang="en-US" dirty="0"/>
              <a:t>줄이는 분할을 찾을 </a:t>
            </a:r>
            <a:r>
              <a:rPr lang="ko-KR" altLang="en-US" dirty="0" smtClean="0"/>
              <a:t>수 없는 </a:t>
            </a:r>
            <a:r>
              <a:rPr lang="ko-KR" altLang="en-US" dirty="0"/>
              <a:t>경우 반복을 </a:t>
            </a:r>
            <a:r>
              <a:rPr lang="ko-KR" altLang="en-US" dirty="0" smtClean="0"/>
              <a:t>중지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8094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Decision Tree in </a:t>
            </a:r>
            <a:r>
              <a:rPr lang="en-US" altLang="ko-KR" dirty="0" err="1" smtClean="0"/>
              <a:t>Scikit</a:t>
            </a:r>
            <a:r>
              <a:rPr lang="en-US" altLang="ko-KR" dirty="0" smtClean="0"/>
              <a:t>-Learn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92016"/>
          </a:xfrm>
        </p:spPr>
        <p:txBody>
          <a:bodyPr/>
          <a:lstStyle/>
          <a:p>
            <a:r>
              <a:rPr lang="en-US" altLang="ko-KR" dirty="0" smtClean="0"/>
              <a:t>How to </a:t>
            </a:r>
            <a:r>
              <a:rPr lang="en-US" altLang="ko-KR" dirty="0"/>
              <a:t>choose </a:t>
            </a:r>
            <a:r>
              <a:rPr lang="en-US" altLang="ko-KR" i="1" dirty="0" smtClean="0"/>
              <a:t>k </a:t>
            </a:r>
            <a:r>
              <a:rPr lang="en-US" altLang="ko-KR" dirty="0" smtClean="0"/>
              <a:t>and </a:t>
            </a:r>
            <a:r>
              <a:rPr lang="en-US" altLang="ko-KR" i="1" dirty="0" err="1"/>
              <a:t>tk</a:t>
            </a:r>
            <a:r>
              <a:rPr lang="en-US" altLang="ko-KR" dirty="0" smtClean="0"/>
              <a:t>?</a:t>
            </a:r>
          </a:p>
          <a:p>
            <a:pPr lvl="1"/>
            <a:r>
              <a:rPr lang="ko-KR" altLang="en-US" dirty="0"/>
              <a:t>가장 순수한 부분 집합 </a:t>
            </a:r>
            <a:r>
              <a:rPr lang="en-US" altLang="ko-KR" dirty="0"/>
              <a:t>(</a:t>
            </a:r>
            <a:r>
              <a:rPr lang="ko-KR" altLang="en-US" dirty="0"/>
              <a:t>크기에 따라 가중치가 부여됨</a:t>
            </a:r>
            <a:r>
              <a:rPr lang="en-US" altLang="ko-KR" dirty="0"/>
              <a:t>)</a:t>
            </a:r>
            <a:r>
              <a:rPr lang="ko-KR" altLang="en-US" dirty="0"/>
              <a:t>을 생성하는 쌍 </a:t>
            </a:r>
            <a:r>
              <a:rPr lang="en-US" altLang="ko-KR" dirty="0"/>
              <a:t>(k, </a:t>
            </a:r>
            <a:r>
              <a:rPr lang="en-US" altLang="ko-KR" dirty="0" err="1"/>
              <a:t>tk</a:t>
            </a:r>
            <a:r>
              <a:rPr lang="en-US" altLang="ko-KR" dirty="0"/>
              <a:t>)</a:t>
            </a:r>
            <a:r>
              <a:rPr lang="ko-KR" altLang="en-US" dirty="0"/>
              <a:t>을 </a:t>
            </a:r>
            <a:r>
              <a:rPr lang="ko-KR" altLang="en-US" dirty="0" smtClean="0"/>
              <a:t>검색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알고리즘은 아래의 비용 </a:t>
            </a:r>
            <a:r>
              <a:rPr lang="ko-KR" altLang="en-US" dirty="0"/>
              <a:t>함수를 최소화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918" y="3747504"/>
            <a:ext cx="8562250" cy="157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155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52" y="350773"/>
            <a:ext cx="6791325" cy="585787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807" y="561683"/>
            <a:ext cx="5534025" cy="1647825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7270977" y="3104374"/>
            <a:ext cx="4551246" cy="369332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none">
            <a:spAutoFit/>
          </a:bodyPr>
          <a:lstStyle/>
          <a:p>
            <a:r>
              <a:rPr lang="en-US" altLang="ko-KR" b="0" i="0" u="none" strike="noStrike" baseline="0" dirty="0" smtClean="0">
                <a:latin typeface="LiberationSerif"/>
              </a:rPr>
              <a:t>1 – (0/54)</a:t>
            </a:r>
            <a:r>
              <a:rPr lang="en-US" altLang="ko-KR" sz="1400" b="0" i="0" u="none" strike="noStrike" baseline="30000" dirty="0" smtClean="0">
                <a:latin typeface="LiberationSerif"/>
              </a:rPr>
              <a:t>2</a:t>
            </a:r>
            <a:r>
              <a:rPr lang="en-US" altLang="ko-KR" sz="1400" b="0" i="0" u="none" strike="noStrike" baseline="0" dirty="0" smtClean="0">
                <a:latin typeface="LiberationSerif"/>
              </a:rPr>
              <a:t> </a:t>
            </a:r>
            <a:r>
              <a:rPr lang="en-US" altLang="ko-KR" b="0" i="0" u="none" strike="noStrike" baseline="0" dirty="0" smtClean="0">
                <a:latin typeface="LiberationSerif"/>
              </a:rPr>
              <a:t>– (49/54)</a:t>
            </a:r>
            <a:r>
              <a:rPr lang="en-US" altLang="ko-KR" sz="1400" b="0" i="0" u="none" strike="noStrike" baseline="30000" dirty="0" smtClean="0">
                <a:latin typeface="LiberationSerif"/>
              </a:rPr>
              <a:t>2</a:t>
            </a:r>
            <a:r>
              <a:rPr lang="en-US" altLang="ko-KR" sz="1400" b="0" i="0" u="none" strike="noStrike" baseline="0" dirty="0" smtClean="0">
                <a:latin typeface="LiberationSerif"/>
              </a:rPr>
              <a:t> </a:t>
            </a:r>
            <a:r>
              <a:rPr lang="en-US" altLang="ko-KR" b="0" i="0" u="none" strike="noStrike" baseline="0" dirty="0" smtClean="0">
                <a:latin typeface="LiberationSerif"/>
              </a:rPr>
              <a:t>– (5/54)</a:t>
            </a:r>
            <a:r>
              <a:rPr lang="en-US" altLang="ko-KR" sz="1400" b="0" i="0" u="none" strike="noStrike" baseline="30000" dirty="0" smtClean="0">
                <a:latin typeface="LiberationSerif"/>
              </a:rPr>
              <a:t>2</a:t>
            </a:r>
            <a:r>
              <a:rPr lang="en-US" altLang="ko-KR" sz="1400" b="0" i="0" u="none" strike="noStrike" baseline="0" dirty="0" smtClean="0">
                <a:latin typeface="LiberationSerif"/>
              </a:rPr>
              <a:t> </a:t>
            </a:r>
            <a:r>
              <a:rPr lang="ko-KR" altLang="en-US" b="0" i="0" u="none" strike="noStrike" baseline="0" dirty="0" smtClean="0">
                <a:latin typeface="LiberationSerif"/>
              </a:rPr>
              <a:t>≈ </a:t>
            </a:r>
            <a:r>
              <a:rPr lang="en-US" altLang="ko-KR" b="0" i="0" u="none" strike="noStrike" baseline="0" dirty="0" smtClean="0">
                <a:latin typeface="LiberationSerif"/>
              </a:rPr>
              <a:t>0.168.</a:t>
            </a:r>
            <a:endParaRPr lang="ko-KR" altLang="en-US" dirty="0"/>
          </a:p>
        </p:txBody>
      </p:sp>
      <p:cxnSp>
        <p:nvCxnSpPr>
          <p:cNvPr id="11" name="직선 화살표 연결선 10"/>
          <p:cNvCxnSpPr>
            <a:endCxn id="5" idx="3"/>
          </p:cNvCxnSpPr>
          <p:nvPr/>
        </p:nvCxnSpPr>
        <p:spPr>
          <a:xfrm flipV="1">
            <a:off x="4198776" y="3279711"/>
            <a:ext cx="3072201" cy="1721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7270977" y="3862873"/>
            <a:ext cx="4551246" cy="2123658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baseline="0" dirty="0" smtClean="0">
                <a:solidFill>
                  <a:srgbClr val="737373"/>
                </a:solidFill>
                <a:latin typeface="LiberationSerif-Bold"/>
              </a:rPr>
              <a:t>NOTE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LiberationSerif"/>
              </a:rPr>
              <a:t>Scikit</a:t>
            </a:r>
            <a:r>
              <a:rPr lang="en-US" altLang="ko-KR" dirty="0">
                <a:solidFill>
                  <a:srgbClr val="000000"/>
                </a:solidFill>
                <a:latin typeface="LiberationSerif"/>
              </a:rPr>
              <a:t>-Learn</a:t>
            </a:r>
            <a:r>
              <a:rPr lang="ko-KR" altLang="en-US" dirty="0">
                <a:solidFill>
                  <a:srgbClr val="000000"/>
                </a:solidFill>
                <a:latin typeface="LiberationSerif"/>
              </a:rPr>
              <a:t>은 이진 </a:t>
            </a:r>
            <a:r>
              <a:rPr lang="ko-KR" altLang="en-US" dirty="0" smtClean="0">
                <a:solidFill>
                  <a:srgbClr val="000000"/>
                </a:solidFill>
                <a:latin typeface="LiberationSerif"/>
              </a:rPr>
              <a:t>트리만 </a:t>
            </a:r>
            <a:r>
              <a:rPr lang="ko-KR" altLang="en-US" dirty="0">
                <a:solidFill>
                  <a:srgbClr val="000000"/>
                </a:solidFill>
                <a:latin typeface="LiberationSerif"/>
              </a:rPr>
              <a:t>생성하는 </a:t>
            </a:r>
            <a:r>
              <a:rPr lang="en-US" altLang="ko-KR" dirty="0">
                <a:solidFill>
                  <a:srgbClr val="000000"/>
                </a:solidFill>
                <a:latin typeface="LiberationSerif"/>
              </a:rPr>
              <a:t>CART </a:t>
            </a:r>
            <a:r>
              <a:rPr lang="ko-KR" altLang="en-US" dirty="0">
                <a:solidFill>
                  <a:srgbClr val="000000"/>
                </a:solidFill>
                <a:latin typeface="LiberationSerif"/>
              </a:rPr>
              <a:t>알고리즘을 </a:t>
            </a:r>
            <a:r>
              <a:rPr lang="ko-KR" altLang="en-US" dirty="0" smtClean="0">
                <a:solidFill>
                  <a:srgbClr val="000000"/>
                </a:solidFill>
                <a:latin typeface="LiberationSerif"/>
              </a:rPr>
              <a:t>사용</a:t>
            </a:r>
            <a:r>
              <a:rPr lang="en-US" altLang="ko-KR" dirty="0" smtClean="0">
                <a:solidFill>
                  <a:srgbClr val="000000"/>
                </a:solidFill>
                <a:latin typeface="LiberationSerif"/>
              </a:rPr>
              <a:t>. </a:t>
            </a:r>
            <a:r>
              <a:rPr lang="ko-KR" altLang="en-US" dirty="0">
                <a:solidFill>
                  <a:srgbClr val="000000"/>
                </a:solidFill>
                <a:latin typeface="LiberationSerif"/>
              </a:rPr>
              <a:t>리프가 아닌 노드에는 항상 두 개의 자식이 </a:t>
            </a:r>
            <a:r>
              <a:rPr lang="ko-KR" altLang="en-US" dirty="0" smtClean="0">
                <a:solidFill>
                  <a:srgbClr val="000000"/>
                </a:solidFill>
                <a:latin typeface="LiberationSerif"/>
              </a:rPr>
              <a:t>있음</a:t>
            </a:r>
            <a:r>
              <a:rPr lang="en-US" altLang="ko-KR" dirty="0" smtClean="0">
                <a:solidFill>
                  <a:srgbClr val="000000"/>
                </a:solidFill>
                <a:latin typeface="LiberationSerif"/>
              </a:rPr>
              <a:t>. </a:t>
            </a:r>
            <a:r>
              <a:rPr lang="ko-KR" altLang="en-US" dirty="0">
                <a:solidFill>
                  <a:srgbClr val="000000"/>
                </a:solidFill>
                <a:latin typeface="LiberationSerif"/>
              </a:rPr>
              <a:t>그러나 </a:t>
            </a:r>
            <a:r>
              <a:rPr lang="en-US" altLang="ko-KR" dirty="0">
                <a:solidFill>
                  <a:srgbClr val="000000"/>
                </a:solidFill>
                <a:latin typeface="LiberationSerif"/>
              </a:rPr>
              <a:t>ID3</a:t>
            </a:r>
            <a:r>
              <a:rPr lang="ko-KR" altLang="en-US" dirty="0">
                <a:solidFill>
                  <a:srgbClr val="000000"/>
                </a:solidFill>
                <a:latin typeface="LiberationSerif"/>
              </a:rPr>
              <a:t>와 같은 다른 알고리즘은 자식이 세 개 이상인 </a:t>
            </a:r>
            <a:r>
              <a:rPr lang="ko-KR" altLang="en-US" dirty="0" smtClean="0">
                <a:solidFill>
                  <a:srgbClr val="000000"/>
                </a:solidFill>
                <a:latin typeface="LiberationSerif"/>
              </a:rPr>
              <a:t>노드가 있는 </a:t>
            </a:r>
            <a:r>
              <a:rPr lang="ko-KR" altLang="en-US" dirty="0">
                <a:solidFill>
                  <a:srgbClr val="000000"/>
                </a:solidFill>
                <a:latin typeface="LiberationSerif"/>
              </a:rPr>
              <a:t>의사 결정 트리를 생성 할 수 </a:t>
            </a:r>
            <a:r>
              <a:rPr lang="ko-KR" altLang="en-US" dirty="0" smtClean="0">
                <a:solidFill>
                  <a:srgbClr val="000000"/>
                </a:solidFill>
                <a:latin typeface="LiberationSerif"/>
              </a:rPr>
              <a:t>있음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4910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215835"/>
            <a:ext cx="10515600" cy="1325563"/>
          </a:xfrm>
        </p:spPr>
        <p:txBody>
          <a:bodyPr/>
          <a:lstStyle/>
          <a:p>
            <a:r>
              <a:rPr lang="en-US" altLang="ko-KR" dirty="0" smtClean="0"/>
              <a:t>Decision Tree in </a:t>
            </a:r>
            <a:r>
              <a:rPr lang="en-US" altLang="ko-KR" dirty="0" err="1" smtClean="0"/>
              <a:t>Scikit</a:t>
            </a:r>
            <a:r>
              <a:rPr lang="en-US" altLang="ko-KR" dirty="0" smtClean="0"/>
              <a:t>-Learn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22072"/>
          </a:xfrm>
        </p:spPr>
        <p:txBody>
          <a:bodyPr>
            <a:normAutofit/>
          </a:bodyPr>
          <a:lstStyle/>
          <a:p>
            <a:r>
              <a:rPr lang="en-US" altLang="ko-KR" b="1" dirty="0"/>
              <a:t>Gini </a:t>
            </a:r>
            <a:r>
              <a:rPr lang="en-US" altLang="ko-KR" b="1" dirty="0" smtClean="0"/>
              <a:t>Impurity </a:t>
            </a:r>
            <a:r>
              <a:rPr lang="en-US" altLang="ko-KR" b="1" dirty="0"/>
              <a:t>or Entropy</a:t>
            </a:r>
            <a:r>
              <a:rPr lang="en-US" altLang="ko-KR" b="1" dirty="0" smtClean="0"/>
              <a:t>?</a:t>
            </a:r>
            <a:endParaRPr lang="en-US" altLang="ko-KR" b="1" dirty="0"/>
          </a:p>
          <a:p>
            <a:pPr lvl="1"/>
            <a:r>
              <a:rPr lang="en-US" altLang="ko-KR" dirty="0" smtClean="0"/>
              <a:t>Gini </a:t>
            </a:r>
            <a:r>
              <a:rPr lang="ko-KR" altLang="en-US" dirty="0" smtClean="0"/>
              <a:t>불순도 대신에 기준 </a:t>
            </a:r>
            <a:r>
              <a:rPr lang="ko-KR" altLang="en-US" dirty="0" err="1"/>
              <a:t>하이퍼</a:t>
            </a:r>
            <a:r>
              <a:rPr lang="ko-KR" altLang="en-US" dirty="0"/>
              <a:t> </a:t>
            </a:r>
            <a:r>
              <a:rPr lang="ko-KR" altLang="en-US" dirty="0" err="1"/>
              <a:t>파라미터를</a:t>
            </a:r>
            <a:r>
              <a:rPr lang="ko-KR" altLang="en-US" dirty="0"/>
              <a:t> </a:t>
            </a:r>
            <a:r>
              <a:rPr lang="en-US" altLang="ko-KR" dirty="0" smtClean="0"/>
              <a:t>“entropy"</a:t>
            </a:r>
            <a:r>
              <a:rPr lang="ko-KR" altLang="en-US" dirty="0"/>
              <a:t>로 </a:t>
            </a:r>
            <a:r>
              <a:rPr lang="ko-KR" altLang="en-US" dirty="0" smtClean="0"/>
              <a:t>설정하여 엔트로피 </a:t>
            </a:r>
            <a:r>
              <a:rPr lang="ko-KR" altLang="en-US" dirty="0" err="1" smtClean="0"/>
              <a:t>불순도를</a:t>
            </a:r>
            <a:r>
              <a:rPr lang="ko-KR" altLang="en-US" dirty="0" smtClean="0"/>
              <a:t> 사용할 수도 있음</a:t>
            </a:r>
            <a:endParaRPr lang="en-US" altLang="ko-KR" b="1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505" y="3445425"/>
            <a:ext cx="5372100" cy="15906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40972" y="5589036"/>
            <a:ext cx="78714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/>
              <a:t>예</a:t>
            </a:r>
            <a:r>
              <a:rPr lang="en-US" altLang="ko-KR" sz="2400" dirty="0" smtClean="0"/>
              <a:t>: -(49/54)log(49/54) – (5/54)log(5/54) = 0.31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139174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Decision Tree in </a:t>
            </a:r>
            <a:r>
              <a:rPr lang="en-US" altLang="ko-KR" dirty="0" err="1" smtClean="0"/>
              <a:t>Scikit</a:t>
            </a:r>
            <a:r>
              <a:rPr lang="en-US" altLang="ko-KR" dirty="0" smtClean="0"/>
              <a:t>-Learn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53681"/>
          </a:xfrm>
        </p:spPr>
        <p:txBody>
          <a:bodyPr/>
          <a:lstStyle/>
          <a:p>
            <a:r>
              <a:rPr lang="en-US" altLang="ko-KR" dirty="0" smtClean="0"/>
              <a:t>Training a Decision Tree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26367" y="2514243"/>
            <a:ext cx="5856152" cy="25853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/>
              <a:t>from </a:t>
            </a:r>
            <a:r>
              <a:rPr lang="en-US" altLang="ko-KR" b="1" dirty="0" err="1"/>
              <a:t>sklearn.datasets</a:t>
            </a:r>
            <a:r>
              <a:rPr lang="en-US" altLang="ko-KR" b="1" dirty="0"/>
              <a:t> import </a:t>
            </a:r>
            <a:r>
              <a:rPr lang="en-US" altLang="ko-KR" b="1" dirty="0" err="1"/>
              <a:t>load_iris</a:t>
            </a:r>
            <a:endParaRPr lang="en-US" altLang="ko-KR" b="1" dirty="0"/>
          </a:p>
          <a:p>
            <a:r>
              <a:rPr lang="en-US" altLang="ko-KR" b="1" dirty="0"/>
              <a:t>from </a:t>
            </a:r>
            <a:r>
              <a:rPr lang="en-US" altLang="ko-KR" b="1" dirty="0" err="1"/>
              <a:t>sklearn.tree</a:t>
            </a:r>
            <a:r>
              <a:rPr lang="en-US" altLang="ko-KR" b="1" dirty="0"/>
              <a:t> import </a:t>
            </a:r>
            <a:r>
              <a:rPr lang="en-US" altLang="ko-KR" b="1" dirty="0" err="1"/>
              <a:t>DecisionTreeClassifier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iris = </a:t>
            </a:r>
            <a:r>
              <a:rPr lang="en-US" altLang="ko-KR" b="1" dirty="0" err="1"/>
              <a:t>load_iris</a:t>
            </a:r>
            <a:r>
              <a:rPr lang="en-US" altLang="ko-KR" b="1" dirty="0"/>
              <a:t>()</a:t>
            </a:r>
          </a:p>
          <a:p>
            <a:r>
              <a:rPr lang="en-US" altLang="ko-KR" b="1" dirty="0"/>
              <a:t># print(</a:t>
            </a:r>
            <a:r>
              <a:rPr lang="en-US" altLang="ko-KR" b="1" dirty="0" err="1"/>
              <a:t>iris.feature_names</a:t>
            </a:r>
            <a:r>
              <a:rPr lang="en-US" altLang="ko-KR" b="1" dirty="0"/>
              <a:t>)</a:t>
            </a:r>
          </a:p>
          <a:p>
            <a:r>
              <a:rPr lang="en-US" altLang="ko-KR" b="1" dirty="0"/>
              <a:t>X = </a:t>
            </a:r>
            <a:r>
              <a:rPr lang="en-US" altLang="ko-KR" b="1" dirty="0" err="1"/>
              <a:t>iris.data</a:t>
            </a:r>
            <a:r>
              <a:rPr lang="en-US" altLang="ko-KR" b="1" dirty="0"/>
              <a:t>[:, 2:] # petal length and width</a:t>
            </a:r>
          </a:p>
          <a:p>
            <a:r>
              <a:rPr lang="en-US" altLang="ko-KR" b="1" dirty="0"/>
              <a:t>y = </a:t>
            </a:r>
            <a:r>
              <a:rPr lang="en-US" altLang="ko-KR" b="1" dirty="0" err="1"/>
              <a:t>iris.target</a:t>
            </a:r>
            <a:endParaRPr lang="en-US" altLang="ko-KR" b="1" dirty="0"/>
          </a:p>
          <a:p>
            <a:r>
              <a:rPr lang="en-US" altLang="ko-KR" b="1" dirty="0" err="1"/>
              <a:t>tree_clf</a:t>
            </a:r>
            <a:r>
              <a:rPr lang="en-US" altLang="ko-KR" b="1" dirty="0"/>
              <a:t> = </a:t>
            </a:r>
            <a:r>
              <a:rPr lang="en-US" altLang="ko-KR" b="1" dirty="0" err="1"/>
              <a:t>DecisionTreeClassifier</a:t>
            </a:r>
            <a:r>
              <a:rPr lang="en-US" altLang="ko-KR" b="1" dirty="0"/>
              <a:t>(</a:t>
            </a:r>
            <a:r>
              <a:rPr lang="en-US" altLang="ko-KR" b="1" dirty="0" err="1"/>
              <a:t>max_depth</a:t>
            </a:r>
            <a:r>
              <a:rPr lang="en-US" altLang="ko-KR" b="1" dirty="0"/>
              <a:t>=2)</a:t>
            </a:r>
          </a:p>
          <a:p>
            <a:r>
              <a:rPr lang="en-US" altLang="ko-KR" b="1" dirty="0" err="1"/>
              <a:t>tree_clf.fit</a:t>
            </a:r>
            <a:r>
              <a:rPr lang="en-US" altLang="ko-KR" b="1" dirty="0"/>
              <a:t>(X, y)</a:t>
            </a:r>
            <a:endParaRPr lang="ko-KR" alt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519" y="2315447"/>
            <a:ext cx="4975872" cy="278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890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Decision Tree in </a:t>
            </a:r>
            <a:r>
              <a:rPr lang="en-US" altLang="ko-KR" dirty="0" err="1" smtClean="0"/>
              <a:t>Scikit</a:t>
            </a:r>
            <a:r>
              <a:rPr lang="en-US" altLang="ko-KR" dirty="0" smtClean="0"/>
              <a:t>-Learn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53681"/>
          </a:xfrm>
        </p:spPr>
        <p:txBody>
          <a:bodyPr/>
          <a:lstStyle/>
          <a:p>
            <a:r>
              <a:rPr lang="en-US" altLang="ko-KR" dirty="0" smtClean="0"/>
              <a:t>Making Predictions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26367" y="2514243"/>
            <a:ext cx="418850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tree_clf.predict_proba</a:t>
            </a:r>
            <a:r>
              <a:rPr lang="en-US" altLang="ko-KR" dirty="0"/>
              <a:t>([[5, 1.5]])</a:t>
            </a:r>
            <a:endParaRPr lang="ko-KR" alt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616" y="1933600"/>
            <a:ext cx="5257315" cy="1899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94318" y="4777273"/>
            <a:ext cx="392422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tree_clf.predict</a:t>
            </a:r>
            <a:r>
              <a:rPr lang="en-US" altLang="ko-KR" dirty="0"/>
              <a:t>([[5, 1.5]])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868" y="4330765"/>
            <a:ext cx="5310063" cy="1919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997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215835"/>
            <a:ext cx="10515600" cy="1325563"/>
          </a:xfrm>
        </p:spPr>
        <p:txBody>
          <a:bodyPr/>
          <a:lstStyle/>
          <a:p>
            <a:r>
              <a:rPr lang="en-US" altLang="ko-KR" dirty="0" smtClean="0"/>
              <a:t>Decision Tree in </a:t>
            </a:r>
            <a:r>
              <a:rPr lang="en-US" altLang="ko-KR" dirty="0" err="1" smtClean="0"/>
              <a:t>Scikit</a:t>
            </a:r>
            <a:r>
              <a:rPr lang="en-US" altLang="ko-KR" dirty="0" smtClean="0"/>
              <a:t>-Learn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2845" y="1452401"/>
            <a:ext cx="10515600" cy="842930"/>
          </a:xfrm>
        </p:spPr>
        <p:txBody>
          <a:bodyPr>
            <a:normAutofit/>
          </a:bodyPr>
          <a:lstStyle/>
          <a:p>
            <a:r>
              <a:rPr lang="ko-KR" altLang="en-US" dirty="0"/>
              <a:t>의사 결정 트리는 회귀 작업도 수행 할 수 </a:t>
            </a:r>
            <a:r>
              <a:rPr lang="ko-KR" altLang="en-US" dirty="0" smtClean="0"/>
              <a:t>있음</a:t>
            </a:r>
            <a:endParaRPr lang="en-US" altLang="ko-KR" dirty="0" smtClean="0"/>
          </a:p>
        </p:txBody>
      </p:sp>
      <p:sp>
        <p:nvSpPr>
          <p:cNvPr id="5" name="직사각형 4"/>
          <p:cNvSpPr/>
          <p:nvPr/>
        </p:nvSpPr>
        <p:spPr>
          <a:xfrm>
            <a:off x="1116564" y="2444820"/>
            <a:ext cx="5378830" cy="12003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from </a:t>
            </a:r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sklearn.tree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 import </a:t>
            </a:r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DecisionTreeRegressor</a:t>
            </a:r>
            <a:endParaRPr lang="en-US" altLang="ko-KR" b="1" dirty="0">
              <a:solidFill>
                <a:srgbClr val="00669A"/>
              </a:solidFill>
              <a:latin typeface="LiberationMono-Bold"/>
            </a:endParaRPr>
          </a:p>
          <a:p>
            <a:endParaRPr lang="en-US" altLang="ko-KR" b="1" dirty="0">
              <a:solidFill>
                <a:srgbClr val="00669A"/>
              </a:solidFill>
              <a:latin typeface="LiberationMono-Bold"/>
            </a:endParaRPr>
          </a:p>
          <a:p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tree_reg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 = </a:t>
            </a:r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DecisionTreeRegressor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(</a:t>
            </a:r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max_depth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=2)</a:t>
            </a:r>
          </a:p>
          <a:p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tree_reg.fit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(X, y)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9573" y="2124567"/>
            <a:ext cx="5157468" cy="2898352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7284362" y="5038462"/>
            <a:ext cx="4144083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ko-KR" b="0" i="0" u="none" strike="noStrike" baseline="0" dirty="0" smtClean="0">
                <a:latin typeface="LiberationSerif"/>
              </a:rPr>
              <a:t>training on a noisy quadratic dataset</a:t>
            </a:r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658" y="5606088"/>
            <a:ext cx="8371745" cy="112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262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1219</TotalTime>
  <Words>599</Words>
  <Application>Microsoft Office PowerPoint</Application>
  <PresentationFormat>와이드스크린</PresentationFormat>
  <Paragraphs>181</Paragraphs>
  <Slides>18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18</vt:i4>
      </vt:variant>
    </vt:vector>
  </HeadingPairs>
  <TitlesOfParts>
    <vt:vector size="29" baseType="lpstr">
      <vt:lpstr>LiberationMono-Bold</vt:lpstr>
      <vt:lpstr>LiberationSerif</vt:lpstr>
      <vt:lpstr>LiberationSerif-Bold</vt:lpstr>
      <vt:lpstr>Monotype Sorts</vt:lpstr>
      <vt:lpstr>SimSun</vt:lpstr>
      <vt:lpstr>굴림</vt:lpstr>
      <vt:lpstr>맑은 고딕</vt:lpstr>
      <vt:lpstr>Arial</vt:lpstr>
      <vt:lpstr>Office 테마</vt:lpstr>
      <vt:lpstr>Document</vt:lpstr>
      <vt:lpstr>Visio</vt:lpstr>
      <vt:lpstr>Decision Trees</vt:lpstr>
      <vt:lpstr>Decision Tree</vt:lpstr>
      <vt:lpstr>Example of a Decision Tree</vt:lpstr>
      <vt:lpstr>Another Example of Decision Tree</vt:lpstr>
      <vt:lpstr>Decision Tree Classification Task</vt:lpstr>
      <vt:lpstr>Apply Model to Test Data</vt:lpstr>
      <vt:lpstr>Apply Model to Test Data</vt:lpstr>
      <vt:lpstr>Apply Model to Test Data</vt:lpstr>
      <vt:lpstr>Apply Model to Test Data</vt:lpstr>
      <vt:lpstr>Apply Model to Test Data</vt:lpstr>
      <vt:lpstr>Apply Model to Test Data</vt:lpstr>
      <vt:lpstr>Decision Tree in Scikit-Learn </vt:lpstr>
      <vt:lpstr>Decision Tree in Scikit-Learn </vt:lpstr>
      <vt:lpstr>PowerPoint 프레젠테이션</vt:lpstr>
      <vt:lpstr>Decision Tree in Scikit-Learn </vt:lpstr>
      <vt:lpstr>Decision Tree in Scikit-Learn </vt:lpstr>
      <vt:lpstr>Decision Tree in Scikit-Learn </vt:lpstr>
      <vt:lpstr>Decision Tree in Scikit-Learn 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Trees</dc:title>
  <dc:creator>bmKim</dc:creator>
  <cp:lastModifiedBy>user</cp:lastModifiedBy>
  <cp:revision>19</cp:revision>
  <dcterms:created xsi:type="dcterms:W3CDTF">2018-02-21T00:27:26Z</dcterms:created>
  <dcterms:modified xsi:type="dcterms:W3CDTF">2021-03-17T01:53:06Z</dcterms:modified>
</cp:coreProperties>
</file>