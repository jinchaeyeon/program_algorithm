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6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6" r:id="rId12"/>
    <p:sldId id="327" r:id="rId13"/>
    <p:sldId id="354" r:id="rId14"/>
    <p:sldId id="328" r:id="rId15"/>
    <p:sldId id="329" r:id="rId16"/>
    <p:sldId id="330" r:id="rId17"/>
    <p:sldId id="331" r:id="rId18"/>
    <p:sldId id="355" r:id="rId19"/>
    <p:sldId id="356" r:id="rId20"/>
    <p:sldId id="357" r:id="rId21"/>
    <p:sldId id="336" r:id="rId22"/>
    <p:sldId id="337" r:id="rId23"/>
    <p:sldId id="338" r:id="rId24"/>
    <p:sldId id="339" r:id="rId25"/>
    <p:sldId id="358" r:id="rId26"/>
    <p:sldId id="359" r:id="rId27"/>
    <p:sldId id="332" r:id="rId28"/>
    <p:sldId id="333" r:id="rId29"/>
    <p:sldId id="334" r:id="rId30"/>
    <p:sldId id="335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8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609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50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733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129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704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692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74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263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635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795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15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7D0CA-E856-46E4-BF29-6F061B86C0C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353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머신 러닝</a:t>
            </a:r>
            <a:r>
              <a:rPr lang="en-US" altLang="ko-KR" dirty="0" smtClean="0"/>
              <a:t> </a:t>
            </a:r>
            <a:r>
              <a:rPr lang="ko-KR" altLang="en-US" dirty="0" smtClean="0"/>
              <a:t>데이터 전처리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386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데이터의 입력 필드와 출력 필드 </a:t>
            </a:r>
            <a:r>
              <a:rPr lang="ko-KR" altLang="en-US" b="1" dirty="0" smtClean="0"/>
              <a:t>분리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86132"/>
          </a:xfrm>
        </p:spPr>
        <p:txBody>
          <a:bodyPr/>
          <a:lstStyle/>
          <a:p>
            <a:r>
              <a:rPr lang="ko-KR" altLang="en-US" dirty="0"/>
              <a:t>지도 학습용 학습 데이터는 입력 필드들 </a:t>
            </a:r>
            <a:r>
              <a:rPr lang="en-US" altLang="ko-KR" dirty="0"/>
              <a:t>(</a:t>
            </a:r>
            <a:r>
              <a:rPr lang="ko-KR" altLang="en-US" dirty="0"/>
              <a:t>입력 벡터에 대응</a:t>
            </a:r>
            <a:r>
              <a:rPr lang="en-US" altLang="ko-KR" dirty="0"/>
              <a:t>)</a:t>
            </a:r>
            <a:r>
              <a:rPr lang="ko-KR" altLang="en-US" dirty="0"/>
              <a:t>과 출력 필드 </a:t>
            </a:r>
            <a:r>
              <a:rPr lang="en-US" altLang="ko-KR" dirty="0"/>
              <a:t>(</a:t>
            </a:r>
            <a:r>
              <a:rPr lang="ko-KR" altLang="en-US" dirty="0"/>
              <a:t>레이블에 대응</a:t>
            </a:r>
            <a:r>
              <a:rPr lang="en-US" altLang="ko-KR" dirty="0"/>
              <a:t>)</a:t>
            </a:r>
            <a:r>
              <a:rPr lang="ko-KR" altLang="en-US" dirty="0"/>
              <a:t>으로 구성</a:t>
            </a:r>
          </a:p>
          <a:p>
            <a:r>
              <a:rPr lang="ko-KR" altLang="en-US" dirty="0"/>
              <a:t>입력 필드들과 출력 필드가 </a:t>
            </a:r>
            <a:r>
              <a:rPr lang="ko-KR" altLang="en-US" dirty="0" smtClean="0"/>
              <a:t>같은 </a:t>
            </a:r>
            <a:r>
              <a:rPr lang="ko-KR" altLang="en-US" dirty="0"/>
              <a:t>파일 내에 </a:t>
            </a:r>
            <a:r>
              <a:rPr lang="ko-KR" altLang="en-US" dirty="0" smtClean="0"/>
              <a:t>제공될 경우</a:t>
            </a:r>
            <a:r>
              <a:rPr lang="en-US" altLang="ko-KR" dirty="0" smtClean="0"/>
              <a:t>, </a:t>
            </a:r>
            <a:r>
              <a:rPr lang="en-US" altLang="ko-KR" dirty="0"/>
              <a:t>Pandas </a:t>
            </a:r>
            <a:r>
              <a:rPr lang="en-US" altLang="ko-KR" dirty="0" err="1"/>
              <a:t>DataFrame</a:t>
            </a:r>
            <a:r>
              <a:rPr lang="ko-KR" altLang="en-US" dirty="0"/>
              <a:t>의 </a:t>
            </a:r>
            <a:r>
              <a:rPr lang="en-US" altLang="ko-KR" dirty="0"/>
              <a:t>drop </a:t>
            </a:r>
            <a:r>
              <a:rPr lang="ko-KR" altLang="en-US" dirty="0"/>
              <a:t>메서드와 </a:t>
            </a:r>
            <a:r>
              <a:rPr lang="en-US" altLang="ko-KR" dirty="0"/>
              <a:t>Pandas Series</a:t>
            </a:r>
            <a:r>
              <a:rPr lang="ko-KR" altLang="en-US" dirty="0"/>
              <a:t>의 </a:t>
            </a:r>
            <a:r>
              <a:rPr lang="en-US" altLang="ko-KR" dirty="0"/>
              <a:t>copy </a:t>
            </a:r>
            <a:r>
              <a:rPr lang="ko-KR" altLang="en-US" dirty="0"/>
              <a:t>메서드를 </a:t>
            </a:r>
            <a:r>
              <a:rPr lang="ko-KR" altLang="en-US" dirty="0" smtClean="0"/>
              <a:t>이용하여 분리</a:t>
            </a:r>
            <a:endParaRPr lang="ko-KR" altLang="en-US" dirty="0"/>
          </a:p>
          <a:p>
            <a:r>
              <a:rPr lang="ko-KR" altLang="en-US" dirty="0"/>
              <a:t>앞에서 다운로드한 </a:t>
            </a:r>
            <a:r>
              <a:rPr lang="en-US" altLang="ko-KR" dirty="0"/>
              <a:t>iris </a:t>
            </a:r>
            <a:r>
              <a:rPr lang="ko-KR" altLang="en-US" dirty="0"/>
              <a:t>데이터를 이용하여 그 예를 </a:t>
            </a:r>
            <a:r>
              <a:rPr lang="ko-KR" altLang="en-US" dirty="0" smtClean="0"/>
              <a:t>살펴 봄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139686" y="4611757"/>
            <a:ext cx="5446644" cy="186512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import pandas as 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pd</a:t>
            </a:r>
            <a:endParaRPr lang="en-US" altLang="ko-KR" kern="0" dirty="0" smtClean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algn="just" fontAlgn="base">
              <a:lnSpc>
                <a:spcPct val="160000"/>
              </a:lnSpc>
            </a:pP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my_data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pd.read_csv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("datasets/iris/iris.csv")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print(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my_data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</p:spTree>
    <p:extLst>
      <p:ext uri="{BB962C8B-B14F-4D97-AF65-F5344CB8AC3E}">
        <p14:creationId xmlns:p14="http://schemas.microsoft.com/office/powerpoint/2010/main" val="3832919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데이터의 입력 필드와 출력 필드 분리</a:t>
            </a:r>
            <a:endParaRPr lang="ko-KR" altLang="en-US" dirty="0"/>
          </a:p>
        </p:txBody>
      </p:sp>
      <p:pic>
        <p:nvPicPr>
          <p:cNvPr id="8193" name="_x435939032" descr="EMB00002864458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829" y="2498035"/>
            <a:ext cx="8658064" cy="4035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0" y="1826596"/>
            <a:ext cx="2877711" cy="5355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000000"/>
                </a:solidFill>
                <a:latin typeface="함초롬바탕"/>
                <a:ea typeface="함초롬바탕"/>
              </a:rPr>
              <a:t>편의상 출력하는 일련번호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함초롬바탕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 flipH="1" flipV="1">
            <a:off x="1086678" y="2498035"/>
            <a:ext cx="1563757" cy="167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3594810" y="1826595"/>
            <a:ext cx="1954381" cy="46397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000000"/>
                </a:solidFill>
                <a:latin typeface="함초롬바탕"/>
                <a:ea typeface="함초롬바탕"/>
              </a:rPr>
              <a:t>학습 </a:t>
            </a:r>
            <a:r>
              <a:rPr lang="ko-KR" altLang="en-US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입력 데이터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함초롬바탕"/>
            </a:endParaRPr>
          </a:p>
        </p:txBody>
      </p:sp>
      <p:cxnSp>
        <p:nvCxnSpPr>
          <p:cNvPr id="10" name="직선 화살표 연결선 9"/>
          <p:cNvCxnSpPr/>
          <p:nvPr/>
        </p:nvCxnSpPr>
        <p:spPr>
          <a:xfrm flipV="1">
            <a:off x="4611757" y="2362127"/>
            <a:ext cx="39756" cy="1573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6861470" y="1826594"/>
            <a:ext cx="1954381" cy="5355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000000"/>
                </a:solidFill>
                <a:latin typeface="함초롬바탕"/>
                <a:ea typeface="함초롬바탕"/>
              </a:rPr>
              <a:t>학습 </a:t>
            </a:r>
            <a:r>
              <a:rPr lang="ko-KR" altLang="en-US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출력 데이터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함초롬바탕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V="1">
            <a:off x="7368209" y="2362125"/>
            <a:ext cx="119269" cy="1812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289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데이터의 입력 필드와 출력 필드 분리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58479"/>
          </a:xfrm>
        </p:spPr>
        <p:txBody>
          <a:bodyPr/>
          <a:lstStyle/>
          <a:p>
            <a:r>
              <a:rPr lang="ko-KR" altLang="en-US" dirty="0" smtClean="0"/>
              <a:t>원 </a:t>
            </a:r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객체에서 </a:t>
            </a:r>
            <a:r>
              <a:rPr lang="ko-KR" altLang="en-US" dirty="0" err="1"/>
              <a:t>인덱서를</a:t>
            </a:r>
            <a:r>
              <a:rPr lang="ko-KR" altLang="en-US" dirty="0"/>
              <a:t> 사용하여 ‘</a:t>
            </a:r>
            <a:r>
              <a:rPr lang="en-US" altLang="ko-KR" dirty="0" smtClean="0"/>
              <a:t>class</a:t>
            </a:r>
            <a:r>
              <a:rPr lang="en-US" altLang="ko-KR" dirty="0"/>
              <a:t>’ </a:t>
            </a:r>
            <a:r>
              <a:rPr lang="ko-KR" altLang="en-US" dirty="0"/>
              <a:t>열만 선택한 후 이를 </a:t>
            </a:r>
            <a:r>
              <a:rPr lang="ko-KR" altLang="en-US" dirty="0" smtClean="0"/>
              <a:t>복사 </a:t>
            </a:r>
            <a:r>
              <a:rPr lang="en-US" altLang="ko-KR" dirty="0" smtClean="0"/>
              <a:t>(</a:t>
            </a:r>
            <a:r>
              <a:rPr lang="ko-KR" altLang="en-US" dirty="0" smtClean="0"/>
              <a:t>출력</a:t>
            </a:r>
            <a:r>
              <a:rPr lang="en-US" altLang="ko-KR" dirty="0" smtClean="0"/>
              <a:t>)</a:t>
            </a:r>
          </a:p>
          <a:p>
            <a:r>
              <a:rPr lang="ko-KR" altLang="en-US" dirty="0"/>
              <a:t>원 </a:t>
            </a:r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객체에서 </a:t>
            </a:r>
            <a:r>
              <a:rPr lang="en-US" altLang="ko-KR" dirty="0"/>
              <a:t>drop </a:t>
            </a:r>
            <a:r>
              <a:rPr lang="ko-KR" altLang="en-US" dirty="0"/>
              <a:t>메서드를 이용하여 ‘</a:t>
            </a:r>
            <a:r>
              <a:rPr lang="en-US" altLang="ko-KR" dirty="0"/>
              <a:t>class’ </a:t>
            </a:r>
            <a:r>
              <a:rPr lang="ko-KR" altLang="en-US" dirty="0"/>
              <a:t>열만 제거된 새로운 </a:t>
            </a:r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객체를 </a:t>
            </a:r>
            <a:r>
              <a:rPr lang="ko-KR" altLang="en-US" dirty="0" smtClean="0"/>
              <a:t>얻음 </a:t>
            </a:r>
            <a:r>
              <a:rPr lang="en-US" altLang="ko-KR" dirty="0" smtClean="0"/>
              <a:t>(</a:t>
            </a:r>
            <a:r>
              <a:rPr lang="ko-KR" altLang="en-US" dirty="0" smtClean="0"/>
              <a:t>입력</a:t>
            </a:r>
            <a:r>
              <a:rPr lang="en-US" altLang="ko-KR" dirty="0" smtClean="0"/>
              <a:t>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139687" y="3819041"/>
            <a:ext cx="6096000" cy="223676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import pandas as 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pd</a:t>
            </a:r>
            <a:endParaRPr lang="en-US" altLang="ko-KR" kern="0" dirty="0" smtClean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algn="just" fontAlgn="base">
              <a:lnSpc>
                <a:spcPct val="160000"/>
              </a:lnSpc>
            </a:pP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my_data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pd.read_csv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("datasets/iris/iris.csv")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my_data_label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my_data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['class'].copy()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my_data_inputs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my_data.drop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('class', axis = 1)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</p:spTree>
    <p:extLst>
      <p:ext uri="{BB962C8B-B14F-4D97-AF65-F5344CB8AC3E}">
        <p14:creationId xmlns:p14="http://schemas.microsoft.com/office/powerpoint/2010/main" val="535162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데이터의 입력 필드와 출력 필드 분리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44079"/>
          </a:xfrm>
        </p:spPr>
        <p:txBody>
          <a:bodyPr/>
          <a:lstStyle/>
          <a:p>
            <a:r>
              <a:rPr lang="ko-KR" altLang="en-US" dirty="0"/>
              <a:t>학습 데이터의 입력과 출력을 분리하는 또 다른 방법은 </a:t>
            </a:r>
            <a:r>
              <a:rPr lang="en-US" altLang="ko-KR" dirty="0" err="1"/>
              <a:t>sklearn.datasets</a:t>
            </a:r>
            <a:r>
              <a:rPr lang="en-US" altLang="ko-KR" dirty="0"/>
              <a:t> </a:t>
            </a:r>
            <a:r>
              <a:rPr lang="ko-KR" altLang="en-US" dirty="0"/>
              <a:t>모듈의 학습 데이터 적재 함수를 이용</a:t>
            </a:r>
          </a:p>
          <a:p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031067"/>
              </p:ext>
            </p:extLst>
          </p:nvPr>
        </p:nvGraphicFramePr>
        <p:xfrm>
          <a:off x="1188991" y="2769704"/>
          <a:ext cx="10134992" cy="4046652"/>
        </p:xfrm>
        <a:graphic>
          <a:graphicData uri="http://schemas.openxmlformats.org/drawingml/2006/table">
            <a:tbl>
              <a:tblPr/>
              <a:tblGrid>
                <a:gridCol w="1829192">
                  <a:extLst>
                    <a:ext uri="{9D8B030D-6E8A-4147-A177-3AD203B41FA5}">
                      <a16:colId xmlns:a16="http://schemas.microsoft.com/office/drawing/2014/main" val="3059199983"/>
                    </a:ext>
                  </a:extLst>
                </a:gridCol>
                <a:gridCol w="8305800">
                  <a:extLst>
                    <a:ext uri="{9D8B030D-6E8A-4147-A177-3AD203B41FA5}">
                      <a16:colId xmlns:a16="http://schemas.microsoft.com/office/drawing/2014/main" val="2768130460"/>
                    </a:ext>
                  </a:extLst>
                </a:gridCol>
              </a:tblGrid>
              <a:tr h="52216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load_boston()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보스톤 집가격 데이터셋 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(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회귀분석용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)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을 메모리로 로딩하고 그 결과를 반환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953456"/>
                  </a:ext>
                </a:extLst>
              </a:tr>
              <a:tr h="52216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load_iris()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iris 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데이터셋 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(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클래스 분류용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)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을 메모리로 로딩하고 그 결과를 반환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5309623"/>
                  </a:ext>
                </a:extLst>
              </a:tr>
              <a:tr h="52216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load_diabetes()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당뇨병 데이터셋 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(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회귀분석용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)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을 메모리로 로딩하고 그 결과를 반환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360747"/>
                  </a:ext>
                </a:extLst>
              </a:tr>
              <a:tr h="52216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load_digits()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디지트 데이터셋 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(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클래스 분류용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)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을 메모리로 로딩하고 그 결과를 반환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4368127"/>
                  </a:ext>
                </a:extLst>
              </a:tr>
              <a:tr h="52216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load_linnerud()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linnerud 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데이터셋 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(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다변량 회귀 분석용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)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을 메모리로 로딩하고 그 결과를 반환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923447"/>
                  </a:ext>
                </a:extLst>
              </a:tr>
              <a:tr h="52216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load_wine()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와인 데이터셋 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(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클래스 분류용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)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을 메모리로 로딩하고 그 결과를 반환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067868"/>
                  </a:ext>
                </a:extLst>
              </a:tr>
              <a:tr h="52216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load_breast_cancer()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유방암 위스콘신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데이터셋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클래스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분류용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)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을 메모리로 로딩하고 그 결과를 반환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998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8892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데이터의 입력 필드와 출력 필드 분리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39279"/>
          </a:xfrm>
        </p:spPr>
        <p:txBody>
          <a:bodyPr/>
          <a:lstStyle/>
          <a:p>
            <a:r>
              <a:rPr lang="en-US" altLang="ko-KR" dirty="0" err="1"/>
              <a:t>Scikit</a:t>
            </a:r>
            <a:r>
              <a:rPr lang="ko-KR" altLang="en-US" dirty="0"/>
              <a:t>은 </a:t>
            </a:r>
            <a:r>
              <a:rPr lang="ko-KR" altLang="en-US" dirty="0" smtClean="0"/>
              <a:t>몇 </a:t>
            </a:r>
            <a:r>
              <a:rPr lang="ko-KR" altLang="en-US" dirty="0"/>
              <a:t>가지 샘플 </a:t>
            </a:r>
            <a:r>
              <a:rPr lang="en-US" altLang="ko-KR" dirty="0"/>
              <a:t>JPEG </a:t>
            </a:r>
            <a:r>
              <a:rPr lang="ko-KR" altLang="en-US" dirty="0"/>
              <a:t>이미지를 제공</a:t>
            </a:r>
          </a:p>
          <a:p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503435"/>
              </p:ext>
            </p:extLst>
          </p:nvPr>
        </p:nvGraphicFramePr>
        <p:xfrm>
          <a:off x="1165798" y="2464904"/>
          <a:ext cx="9528706" cy="1102152"/>
        </p:xfrm>
        <a:graphic>
          <a:graphicData uri="http://schemas.openxmlformats.org/drawingml/2006/table">
            <a:tbl>
              <a:tblPr/>
              <a:tblGrid>
                <a:gridCol w="4386863">
                  <a:extLst>
                    <a:ext uri="{9D8B030D-6E8A-4147-A177-3AD203B41FA5}">
                      <a16:colId xmlns:a16="http://schemas.microsoft.com/office/drawing/2014/main" val="1737728517"/>
                    </a:ext>
                  </a:extLst>
                </a:gridCol>
                <a:gridCol w="5141843">
                  <a:extLst>
                    <a:ext uri="{9D8B030D-6E8A-4147-A177-3AD203B41FA5}">
                      <a16:colId xmlns:a16="http://schemas.microsoft.com/office/drawing/2014/main" val="778850490"/>
                    </a:ext>
                  </a:extLst>
                </a:gridCol>
              </a:tblGrid>
              <a:tr h="55107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load_sample_images()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이미지 전체를 로딩하고 그 결과를 반환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770014"/>
                  </a:ext>
                </a:extLst>
              </a:tr>
              <a:tr h="55107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load_sample_image(image_name) 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특정 이미지만 로딩하고 그 결과를 반환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7769543"/>
                  </a:ext>
                </a:extLst>
              </a:tr>
            </a:tbl>
          </a:graphicData>
        </a:graphic>
      </p:graphicFrame>
      <p:sp>
        <p:nvSpPr>
          <p:cNvPr id="5" name="내용 개체 틀 2"/>
          <p:cNvSpPr txBox="1">
            <a:spLocks/>
          </p:cNvSpPr>
          <p:nvPr/>
        </p:nvSpPr>
        <p:spPr>
          <a:xfrm>
            <a:off x="838200" y="3886695"/>
            <a:ext cx="10515600" cy="14936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dirty="0" err="1"/>
              <a:t>머신러닝</a:t>
            </a:r>
            <a:r>
              <a:rPr lang="ko-KR" altLang="en-US" dirty="0"/>
              <a:t> 데이터를 위한 공개 </a:t>
            </a:r>
            <a:r>
              <a:rPr lang="ko-KR" altLang="en-US" dirty="0" smtClean="0"/>
              <a:t>저장소인 </a:t>
            </a:r>
            <a:r>
              <a:rPr lang="en-US" altLang="ko-KR" dirty="0" smtClean="0"/>
              <a:t>(</a:t>
            </a:r>
            <a:r>
              <a:rPr lang="en-US" altLang="ko-KR" dirty="0"/>
              <a:t>http://mldata.org</a:t>
            </a:r>
            <a:r>
              <a:rPr lang="en-US" altLang="ko-KR" dirty="0" smtClean="0"/>
              <a:t>/)</a:t>
            </a:r>
            <a:r>
              <a:rPr lang="ko-KR" altLang="en-US" dirty="0" smtClean="0"/>
              <a:t> 데이터 </a:t>
            </a:r>
            <a:r>
              <a:rPr lang="ko-KR" altLang="en-US" dirty="0"/>
              <a:t>셋들도 </a:t>
            </a:r>
            <a:r>
              <a:rPr lang="en-US" altLang="ko-KR" dirty="0" err="1"/>
              <a:t>sklearn.datasets.fetch_mldata</a:t>
            </a:r>
            <a:r>
              <a:rPr lang="en-US" altLang="ko-KR" dirty="0"/>
              <a:t> </a:t>
            </a:r>
            <a:r>
              <a:rPr lang="ko-KR" altLang="en-US" dirty="0"/>
              <a:t>함수를 이용하여 메모리로 읽어 들일 수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pPr lvl="1" fontAlgn="base"/>
            <a:r>
              <a:rPr lang="ko-KR" altLang="en-US" dirty="0"/>
              <a:t>읽을 데이터 셋 이름과 저장할 위치를 인수로</a:t>
            </a:r>
          </a:p>
          <a:p>
            <a:pPr lvl="1" fontAlgn="base"/>
            <a:endParaRPr lang="ko-KR" altLang="en-US" dirty="0"/>
          </a:p>
          <a:p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165798" y="5515457"/>
            <a:ext cx="7316050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from 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sklearn.datasets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 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import 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fetch_openml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iris = 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fetch_openml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('mnist_784', version=1, 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cache=True)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1" i="0" u="none" strike="noStrike" cap="none" normalizeH="0" baseline="0" smtClean="0">
                <a:ln>
                  <a:noFill/>
                </a:ln>
                <a:solidFill>
                  <a:srgbClr val="00808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'mnist_784'</a:t>
            </a:r>
            <a:r>
              <a:rPr kumimoji="0" lang="ko-KR" altLang="ko-KR" sz="13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, </a:t>
            </a:r>
            <a:r>
              <a:rPr kumimoji="0" lang="ko-KR" altLang="ko-KR" sz="1300" b="0" i="0" u="none" strike="noStrike" cap="none" normalizeH="0" baseline="0" smtClean="0">
                <a:ln>
                  <a:noFill/>
                </a:ln>
                <a:solidFill>
                  <a:srgbClr val="660099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version</a:t>
            </a:r>
            <a:r>
              <a:rPr kumimoji="0" lang="ko-KR" altLang="ko-KR" sz="13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=</a:t>
            </a:r>
            <a:r>
              <a:rPr kumimoji="0" lang="ko-KR" altLang="ko-KR" sz="13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1</a:t>
            </a:r>
            <a:r>
              <a:rPr kumimoji="0" lang="ko-KR" altLang="ko-KR" sz="13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, </a:t>
            </a:r>
            <a:r>
              <a:rPr kumimoji="0" lang="ko-KR" altLang="ko-KR" sz="1300" b="0" i="0" u="none" strike="noStrike" cap="none" normalizeH="0" baseline="0" smtClean="0">
                <a:ln>
                  <a:noFill/>
                </a:ln>
                <a:solidFill>
                  <a:srgbClr val="660099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cache</a:t>
            </a:r>
            <a:r>
              <a:rPr kumimoji="0" lang="ko-KR" altLang="ko-KR" sz="13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=</a:t>
            </a:r>
            <a:r>
              <a:rPr kumimoji="0" lang="ko-KR" altLang="ko-KR" sz="1300" b="1" i="0" u="none" strike="noStrike" cap="none" normalizeH="0" baseline="0" smtClean="0">
                <a:ln>
                  <a:noFill/>
                </a:ln>
                <a:solidFill>
                  <a:srgbClr val="00008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True</a:t>
            </a: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40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데이터의 입력 필드와 출력 필드 분리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220613"/>
          </a:xfrm>
        </p:spPr>
        <p:txBody>
          <a:bodyPr/>
          <a:lstStyle/>
          <a:p>
            <a:r>
              <a:rPr lang="en-US" altLang="ko-KR" dirty="0" err="1"/>
              <a:t>load_xxx</a:t>
            </a:r>
            <a:r>
              <a:rPr lang="en-US" altLang="ko-KR" dirty="0"/>
              <a:t> </a:t>
            </a:r>
            <a:r>
              <a:rPr lang="ko-KR" altLang="en-US" dirty="0"/>
              <a:t>함수를 사용하든 </a:t>
            </a:r>
            <a:r>
              <a:rPr lang="en-US" altLang="ko-KR" dirty="0" err="1" smtClean="0"/>
              <a:t>fetch_openml</a:t>
            </a:r>
            <a:r>
              <a:rPr lang="ko-KR" altLang="en-US" dirty="0" smtClean="0"/>
              <a:t>를 </a:t>
            </a:r>
            <a:r>
              <a:rPr lang="ko-KR" altLang="en-US" dirty="0"/>
              <a:t>사용하든 그 결과로 반환되는 것은 </a:t>
            </a:r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객체가 아니라 </a:t>
            </a:r>
            <a:r>
              <a:rPr lang="en-US" altLang="ko-KR" dirty="0"/>
              <a:t>Bunch </a:t>
            </a:r>
            <a:r>
              <a:rPr lang="ko-KR" altLang="en-US" dirty="0" smtClean="0"/>
              <a:t>객체임</a:t>
            </a:r>
            <a:endParaRPr lang="ko-KR" altLang="en-US" dirty="0"/>
          </a:p>
          <a:p>
            <a:pPr lvl="1"/>
            <a:r>
              <a:rPr lang="ko-KR" altLang="en-US" dirty="0"/>
              <a:t>키 </a:t>
            </a:r>
            <a:r>
              <a:rPr lang="en-US" altLang="ko-KR" dirty="0"/>
              <a:t>(key)</a:t>
            </a:r>
            <a:r>
              <a:rPr lang="ko-KR" altLang="en-US" dirty="0"/>
              <a:t>들을 도트 표기법을 사용하여 속성처럼 접근할 수 있도록 해주는 단순 </a:t>
            </a:r>
            <a:r>
              <a:rPr lang="ko-KR" altLang="en-US" dirty="0" err="1"/>
              <a:t>딕션러리</a:t>
            </a:r>
            <a:r>
              <a:rPr lang="ko-KR" altLang="en-US" dirty="0"/>
              <a:t> 객체</a:t>
            </a:r>
          </a:p>
          <a:p>
            <a:pPr lvl="1"/>
            <a:r>
              <a:rPr lang="ko-KR" altLang="en-US" dirty="0"/>
              <a:t>먼저 반환 객체에서 제공되는 키들을 파악한 후 그 키를 이용하여 필요한 데이터들을 접근</a:t>
            </a:r>
          </a:p>
          <a:p>
            <a:pPr lvl="1"/>
            <a:r>
              <a:rPr lang="en-US" altLang="ko-KR" dirty="0"/>
              <a:t>iris </a:t>
            </a:r>
            <a:r>
              <a:rPr lang="ko-KR" altLang="en-US" dirty="0"/>
              <a:t>데이터를 </a:t>
            </a:r>
            <a:r>
              <a:rPr lang="en-US" altLang="ko-KR" dirty="0" err="1" smtClean="0"/>
              <a:t>load_iris</a:t>
            </a:r>
            <a:r>
              <a:rPr lang="en-US" altLang="ko-KR" dirty="0" smtClean="0"/>
              <a:t> </a:t>
            </a:r>
            <a:r>
              <a:rPr lang="ko-KR" altLang="en-US" dirty="0"/>
              <a:t>함수를 통해 읽어 </a:t>
            </a:r>
            <a:r>
              <a:rPr lang="ko-KR" altLang="en-US" dirty="0" smtClean="0"/>
              <a:t>들인 </a:t>
            </a:r>
            <a:r>
              <a:rPr lang="ko-KR" altLang="en-US" dirty="0"/>
              <a:t>후 그 결과에 </a:t>
            </a:r>
            <a:r>
              <a:rPr lang="en-US" altLang="ko-KR" dirty="0"/>
              <a:t>keys() </a:t>
            </a:r>
            <a:r>
              <a:rPr lang="ko-KR" altLang="en-US" dirty="0"/>
              <a:t>메서드를 적용하면 그림과 같이 </a:t>
            </a:r>
            <a:r>
              <a:rPr lang="ko-KR" altLang="en-US" dirty="0" smtClean="0"/>
              <a:t>다섯 </a:t>
            </a:r>
            <a:r>
              <a:rPr lang="ko-KR" altLang="en-US" dirty="0"/>
              <a:t>개의 키를 얻을 수 </a:t>
            </a:r>
            <a:r>
              <a:rPr lang="ko-KR" altLang="en-US" dirty="0" smtClean="0"/>
              <a:t>있음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3834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_x443638432" descr="EMB0000286445a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005" y="489232"/>
            <a:ext cx="9982934" cy="391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514005" y="4549688"/>
            <a:ext cx="9982934" cy="112646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400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DESCR : </a:t>
            </a:r>
            <a:r>
              <a:rPr lang="ko-KR" altLang="en-US" sz="1400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데이터에 </a:t>
            </a:r>
            <a:r>
              <a:rPr lang="ko-KR" altLang="en-US" sz="1400" kern="0" dirty="0">
                <a:solidFill>
                  <a:srgbClr val="000000"/>
                </a:solidFill>
                <a:latin typeface="함초롬바탕"/>
                <a:ea typeface="함초롬바탕"/>
              </a:rPr>
              <a:t>대한 설명문을 접근할 수 있는 </a:t>
            </a:r>
            <a:r>
              <a:rPr lang="ko-KR" altLang="en-US" sz="1400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키 </a:t>
            </a:r>
            <a:r>
              <a:rPr lang="en-US" altLang="ko-KR" sz="1400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		</a:t>
            </a:r>
            <a:r>
              <a:rPr lang="en-US" altLang="ko-KR" sz="1400" kern="0" dirty="0">
                <a:solidFill>
                  <a:srgbClr val="000000"/>
                </a:solidFill>
                <a:latin typeface="함초롬바탕"/>
              </a:rPr>
              <a:t>d</a:t>
            </a:r>
            <a:r>
              <a:rPr lang="en-US" altLang="ko-KR" sz="1400" kern="0" dirty="0" smtClean="0">
                <a:solidFill>
                  <a:srgbClr val="000000"/>
                </a:solidFill>
                <a:latin typeface="함초롬바탕"/>
              </a:rPr>
              <a:t>ata : </a:t>
            </a:r>
            <a:r>
              <a:rPr lang="ko-KR" altLang="en-US" sz="1400" kern="0" dirty="0">
                <a:solidFill>
                  <a:srgbClr val="000000"/>
                </a:solidFill>
                <a:latin typeface="함초롬바탕"/>
                <a:ea typeface="함초롬바탕"/>
              </a:rPr>
              <a:t>입력 </a:t>
            </a:r>
            <a:r>
              <a:rPr lang="ko-KR" altLang="en-US" sz="1400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필드들을 </a:t>
            </a:r>
            <a:r>
              <a:rPr lang="ko-KR" altLang="en-US" sz="1400" kern="0" dirty="0">
                <a:solidFill>
                  <a:srgbClr val="000000"/>
                </a:solidFill>
                <a:latin typeface="함초롬바탕"/>
                <a:ea typeface="함초롬바탕"/>
              </a:rPr>
              <a:t>접근할 수 있는 </a:t>
            </a:r>
            <a:r>
              <a:rPr lang="ko-KR" altLang="en-US" sz="1400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키</a:t>
            </a:r>
            <a:endParaRPr lang="en-US" altLang="ko-KR" sz="1400" kern="0" dirty="0" smtClean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400" kern="0" spc="0" dirty="0" smtClean="0">
                <a:solidFill>
                  <a:srgbClr val="000000"/>
                </a:solidFill>
                <a:effectLst/>
                <a:latin typeface="함초롬바탕"/>
              </a:rPr>
              <a:t>target : </a:t>
            </a:r>
            <a:r>
              <a:rPr lang="ko-KR" altLang="en-US" sz="1400" kern="0" dirty="0">
                <a:solidFill>
                  <a:srgbClr val="000000"/>
                </a:solidFill>
                <a:latin typeface="함초롬바탕"/>
                <a:ea typeface="함초롬바탕"/>
              </a:rPr>
              <a:t>출력 필드의 값을 접근할 수 있는 </a:t>
            </a:r>
            <a:r>
              <a:rPr lang="ko-KR" altLang="en-US" sz="1400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키</a:t>
            </a:r>
            <a:r>
              <a:rPr lang="en-US" altLang="ko-KR" sz="1400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			</a:t>
            </a:r>
            <a:r>
              <a:rPr lang="en-US" altLang="ko-KR" sz="1400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target_names</a:t>
            </a:r>
            <a:r>
              <a:rPr lang="en-US" altLang="ko-KR" sz="1400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 : </a:t>
            </a:r>
            <a:r>
              <a:rPr lang="ko-KR" altLang="en-US" sz="1400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출력</a:t>
            </a:r>
            <a:r>
              <a:rPr lang="en-US" altLang="ko-KR" sz="1400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 </a:t>
            </a:r>
            <a:r>
              <a:rPr lang="ko-KR" altLang="en-US" sz="1400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필드 이름을 접근할 수 있는 키</a:t>
            </a:r>
            <a:endParaRPr lang="en-US" altLang="ko-KR" sz="1400" kern="0" dirty="0" smtClean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400" kern="0" dirty="0" err="1" smtClean="0">
                <a:solidFill>
                  <a:srgbClr val="000000"/>
                </a:solidFill>
                <a:latin typeface="함초롬바탕"/>
              </a:rPr>
              <a:t>feature_names</a:t>
            </a:r>
            <a:r>
              <a:rPr lang="en-US" altLang="ko-KR" sz="1400" kern="0" dirty="0" smtClean="0">
                <a:solidFill>
                  <a:srgbClr val="000000"/>
                </a:solidFill>
                <a:latin typeface="함초롬바탕"/>
              </a:rPr>
              <a:t> : </a:t>
            </a:r>
            <a:r>
              <a:rPr lang="ko-KR" altLang="en-US" sz="1400" kern="0" dirty="0" smtClean="0">
                <a:solidFill>
                  <a:srgbClr val="000000"/>
                </a:solidFill>
                <a:latin typeface="함초롬바탕"/>
              </a:rPr>
              <a:t>입력</a:t>
            </a:r>
            <a:r>
              <a:rPr lang="en-US" altLang="ko-KR" sz="1400" kern="0" dirty="0" smtClean="0">
                <a:solidFill>
                  <a:srgbClr val="000000"/>
                </a:solidFill>
                <a:latin typeface="함초롬바탕"/>
              </a:rPr>
              <a:t> </a:t>
            </a:r>
            <a:r>
              <a:rPr lang="ko-KR" altLang="en-US" sz="1400" kern="0" dirty="0" err="1" smtClean="0">
                <a:solidFill>
                  <a:srgbClr val="000000"/>
                </a:solidFill>
                <a:latin typeface="함초롬바탕"/>
              </a:rPr>
              <a:t>피드들의</a:t>
            </a:r>
            <a:r>
              <a:rPr lang="ko-KR" altLang="en-US" sz="1400" kern="0" dirty="0" smtClean="0">
                <a:solidFill>
                  <a:srgbClr val="000000"/>
                </a:solidFill>
                <a:latin typeface="함초롬바탕"/>
              </a:rPr>
              <a:t> 이름을 접근할 수 있는 키</a:t>
            </a:r>
            <a:endParaRPr lang="ko-KR" altLang="en-US" sz="1100" kern="0" dirty="0">
              <a:solidFill>
                <a:srgbClr val="000000"/>
              </a:solidFill>
              <a:latin typeface="함초롬바탕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-77755" y="5821452"/>
            <a:ext cx="105746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ko-KR" altLang="en-US" dirty="0"/>
              <a:t>입력 벡터들과 레이블을 별도로 얻고 싶으면 아래와 같이 기술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418669" y="6154062"/>
            <a:ext cx="6096000" cy="4639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iris_inputs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iris.data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; 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iris_labels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 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iris.target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</p:spTree>
    <p:extLst>
      <p:ext uri="{BB962C8B-B14F-4D97-AF65-F5344CB8AC3E}">
        <p14:creationId xmlns:p14="http://schemas.microsoft.com/office/powerpoint/2010/main" val="2726476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데이터의 입력 필드와 출력 필드 분리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8392"/>
          </a:xfrm>
        </p:spPr>
        <p:txBody>
          <a:bodyPr/>
          <a:lstStyle/>
          <a:p>
            <a:r>
              <a:rPr lang="ko-KR" altLang="en-US" dirty="0"/>
              <a:t>모든 로딩 함수가 같은 키를 제공하는 것은 </a:t>
            </a:r>
            <a:r>
              <a:rPr lang="ko-KR" altLang="en-US" dirty="0" smtClean="0"/>
              <a:t>아님</a:t>
            </a:r>
            <a:endParaRPr lang="en-US" altLang="ko-KR" dirty="0" smtClean="0"/>
          </a:p>
          <a:p>
            <a:pPr lvl="1"/>
            <a:r>
              <a:rPr lang="en-US" altLang="ko-KR" dirty="0" err="1"/>
              <a:t>load_sample_images</a:t>
            </a:r>
            <a:r>
              <a:rPr lang="en-US" altLang="ko-KR" dirty="0"/>
              <a:t> </a:t>
            </a:r>
            <a:r>
              <a:rPr lang="ko-KR" altLang="en-US" dirty="0"/>
              <a:t>함수를 통해 데이터를 </a:t>
            </a:r>
            <a:r>
              <a:rPr lang="ko-KR" altLang="en-US" dirty="0" err="1"/>
              <a:t>로딩할</a:t>
            </a:r>
            <a:r>
              <a:rPr lang="ko-KR" altLang="en-US" dirty="0"/>
              <a:t> 경우 </a:t>
            </a:r>
            <a:r>
              <a:rPr lang="en-US" altLang="ko-KR" dirty="0" smtClean="0"/>
              <a:t>'images</a:t>
            </a:r>
            <a:r>
              <a:rPr lang="en-US" altLang="ko-KR" dirty="0"/>
              <a:t>', 'filenames', 'DESCR' </a:t>
            </a:r>
            <a:r>
              <a:rPr lang="ko-KR" altLang="en-US" dirty="0"/>
              <a:t>세 가지 키만 제공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pic>
        <p:nvPicPr>
          <p:cNvPr id="12289" name="_x443638032" descr="EMB0000286445c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461" y="3154017"/>
            <a:ext cx="9090991" cy="3472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5767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 데이터와 테스트 데이터 </a:t>
            </a:r>
            <a:r>
              <a:rPr lang="ko-KR" altLang="en-US" b="1" dirty="0" smtClean="0"/>
              <a:t>분리하기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31506" y="1494900"/>
            <a:ext cx="10515600" cy="2074571"/>
          </a:xfrm>
        </p:spPr>
        <p:txBody>
          <a:bodyPr/>
          <a:lstStyle/>
          <a:p>
            <a:r>
              <a:rPr lang="ko-KR" altLang="en-US" dirty="0"/>
              <a:t>학습 결과의 </a:t>
            </a:r>
            <a:r>
              <a:rPr lang="ko-KR" altLang="en-US" dirty="0" err="1"/>
              <a:t>과적합</a:t>
            </a:r>
            <a:r>
              <a:rPr lang="ko-KR" altLang="en-US" dirty="0"/>
              <a:t> 여부를 판단하기 위해 학습 전에 미리 학습 데이터 셋과 테스트 셋을 분리할 필요</a:t>
            </a:r>
          </a:p>
          <a:p>
            <a:pPr lvl="1"/>
            <a:r>
              <a:rPr lang="ko-KR" altLang="en-US" dirty="0"/>
              <a:t>보통 </a:t>
            </a:r>
            <a:r>
              <a:rPr lang="en-US" altLang="ko-KR" dirty="0"/>
              <a:t>80 </a:t>
            </a:r>
            <a:r>
              <a:rPr lang="ko-KR" altLang="en-US" dirty="0"/>
              <a:t>대 </a:t>
            </a:r>
            <a:r>
              <a:rPr lang="en-US" altLang="ko-KR" dirty="0"/>
              <a:t>20</a:t>
            </a:r>
            <a:r>
              <a:rPr lang="ko-KR" altLang="en-US" dirty="0"/>
              <a:t>의 비율로 분리</a:t>
            </a:r>
          </a:p>
          <a:p>
            <a:pPr lvl="1"/>
            <a:r>
              <a:rPr lang="ko-KR" altLang="en-US" dirty="0"/>
              <a:t>데이터를 무작위로 섞을 필요가 있는데</a:t>
            </a:r>
            <a:r>
              <a:rPr lang="en-US" altLang="ko-KR" dirty="0"/>
              <a:t>, </a:t>
            </a:r>
            <a:r>
              <a:rPr lang="ko-KR" altLang="en-US" dirty="0"/>
              <a:t>이 때 실제 데이터를 섞기 보다는 데이터 인덱스를 섞은 후 비율에 맞추어 분리</a:t>
            </a:r>
          </a:p>
          <a:p>
            <a:pPr lvl="1"/>
            <a:endParaRPr lang="ko-KR" altLang="en-US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838200" y="3693076"/>
            <a:ext cx="10515600" cy="1950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 smtClean="0"/>
              <a:t>sklearn.model_selection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모듈의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train_test_split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함수를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사용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첫 번째 인자로 데이터 객체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test_size</a:t>
            </a:r>
            <a:r>
              <a:rPr lang="en-US" altLang="ko-KR" dirty="0" smtClean="0"/>
              <a:t> </a:t>
            </a:r>
            <a:r>
              <a:rPr lang="ko-KR" altLang="en-US" dirty="0" smtClean="0"/>
              <a:t>또는 </a:t>
            </a:r>
            <a:r>
              <a:rPr lang="en-US" altLang="ko-KR" dirty="0" err="1" smtClean="0"/>
              <a:t>train_size</a:t>
            </a:r>
            <a:r>
              <a:rPr lang="en-US" altLang="ko-KR" dirty="0" smtClean="0"/>
              <a:t> </a:t>
            </a:r>
            <a:r>
              <a:rPr lang="ko-KR" altLang="en-US" dirty="0" smtClean="0"/>
              <a:t>인자로 테스트 셋의 비율 </a:t>
            </a:r>
            <a:r>
              <a:rPr lang="en-US" altLang="ko-KR" dirty="0" smtClean="0"/>
              <a:t>(0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1</a:t>
            </a:r>
            <a:r>
              <a:rPr lang="ko-KR" altLang="en-US" dirty="0" smtClean="0"/>
              <a:t>사이</a:t>
            </a:r>
            <a:r>
              <a:rPr lang="en-US" altLang="ko-KR" dirty="0" smtClean="0"/>
              <a:t>) </a:t>
            </a:r>
            <a:r>
              <a:rPr lang="ko-KR" altLang="en-US" dirty="0" smtClean="0"/>
              <a:t>또는 학습 셋의 비율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그리고 </a:t>
            </a:r>
            <a:r>
              <a:rPr lang="en-US" altLang="ko-KR" dirty="0" err="1" smtClean="0"/>
              <a:t>random_state</a:t>
            </a:r>
            <a:r>
              <a:rPr lang="en-US" altLang="ko-KR" dirty="0" smtClean="0"/>
              <a:t> </a:t>
            </a:r>
            <a:r>
              <a:rPr lang="ko-KR" altLang="en-US" dirty="0" smtClean="0"/>
              <a:t>인자로 랜덤 </a:t>
            </a:r>
            <a:r>
              <a:rPr lang="en-US" altLang="ko-KR" dirty="0" smtClean="0"/>
              <a:t>seed </a:t>
            </a:r>
            <a:r>
              <a:rPr lang="ko-KR" altLang="en-US" dirty="0" smtClean="0"/>
              <a:t>값을 지정</a:t>
            </a:r>
            <a:r>
              <a:rPr lang="en-US" altLang="ko-KR" dirty="0" smtClean="0"/>
              <a:t>. </a:t>
            </a:r>
            <a:r>
              <a:rPr lang="ko-KR" altLang="en-US" dirty="0" smtClean="0"/>
              <a:t>랜덤 </a:t>
            </a:r>
            <a:r>
              <a:rPr lang="en-US" altLang="ko-KR" dirty="0" smtClean="0"/>
              <a:t>seed </a:t>
            </a:r>
            <a:r>
              <a:rPr lang="ko-KR" altLang="en-US" dirty="0" smtClean="0"/>
              <a:t>값을 지정해 주어야 실행시킬 때마다 동일한 학습 셋과 테스트 셋을 얻을 수 있음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931506" y="5644055"/>
            <a:ext cx="9520334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from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sklearn.model_selection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import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train_test_split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train_set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test_set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train_test_split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my_data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train_size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0.8,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random_state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30)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</p:spTree>
    <p:extLst>
      <p:ext uri="{BB962C8B-B14F-4D97-AF65-F5344CB8AC3E}">
        <p14:creationId xmlns:p14="http://schemas.microsoft.com/office/powerpoint/2010/main" val="2022120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 데이터와 테스트 데이터 분리하기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11485"/>
          </a:xfrm>
        </p:spPr>
        <p:txBody>
          <a:bodyPr/>
          <a:lstStyle/>
          <a:p>
            <a:r>
              <a:rPr lang="ko-KR" altLang="en-US" dirty="0"/>
              <a:t>층별 샘플링 </a:t>
            </a:r>
            <a:r>
              <a:rPr lang="en-US" altLang="ko-KR" dirty="0"/>
              <a:t>(stratified sampling)</a:t>
            </a:r>
          </a:p>
          <a:p>
            <a:pPr lvl="1"/>
            <a:r>
              <a:rPr lang="ko-KR" altLang="en-US" dirty="0"/>
              <a:t>위의 방법으로 학습 셋과 테스트 셋을 분리하면 완전 무작위로 분리되기 때문에 중요 데이터들이 </a:t>
            </a:r>
            <a:r>
              <a:rPr lang="ko-KR" altLang="en-US" dirty="0" smtClean="0"/>
              <a:t>골고루 </a:t>
            </a:r>
            <a:r>
              <a:rPr lang="ko-KR" altLang="en-US" dirty="0"/>
              <a:t>분산되지 않고 어느 한 곳에 몰려 있을 수가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pPr lvl="1"/>
            <a:r>
              <a:rPr lang="ko-KR" altLang="en-US" dirty="0"/>
              <a:t>데이터들을 특정 특징 </a:t>
            </a:r>
            <a:r>
              <a:rPr lang="en-US" altLang="ko-KR" dirty="0"/>
              <a:t>(</a:t>
            </a:r>
            <a:r>
              <a:rPr lang="ko-KR" altLang="en-US" dirty="0"/>
              <a:t>또는 필드</a:t>
            </a:r>
            <a:r>
              <a:rPr lang="en-US" altLang="ko-KR" dirty="0"/>
              <a:t>)</a:t>
            </a:r>
            <a:r>
              <a:rPr lang="ko-KR" altLang="en-US" dirty="0"/>
              <a:t>으로 그룹</a:t>
            </a:r>
            <a:r>
              <a:rPr lang="en-US" altLang="ko-KR" dirty="0"/>
              <a:t>, </a:t>
            </a:r>
            <a:r>
              <a:rPr lang="ko-KR" altLang="en-US" dirty="0"/>
              <a:t>즉 층 </a:t>
            </a:r>
            <a:r>
              <a:rPr lang="en-US" altLang="ko-KR" dirty="0"/>
              <a:t>(stratum)</a:t>
            </a:r>
            <a:r>
              <a:rPr lang="ko-KR" altLang="en-US" dirty="0"/>
              <a:t>을 만든 후 각 층에서 정해진 비율로 선택</a:t>
            </a:r>
          </a:p>
          <a:p>
            <a:pPr lvl="2"/>
            <a:r>
              <a:rPr lang="ko-KR" altLang="en-US" dirty="0"/>
              <a:t>일반적으로 층이 너무 많지 않아야 하며</a:t>
            </a:r>
            <a:r>
              <a:rPr lang="en-US" altLang="ko-KR" dirty="0"/>
              <a:t>, </a:t>
            </a:r>
            <a:r>
              <a:rPr lang="ko-KR" altLang="en-US" dirty="0"/>
              <a:t>한 층에 속한 데이터들은 충분히 많도록</a:t>
            </a:r>
          </a:p>
          <a:p>
            <a:pPr lvl="1"/>
            <a:r>
              <a:rPr lang="en-US" altLang="ko-KR" dirty="0"/>
              <a:t>stratify </a:t>
            </a:r>
            <a:r>
              <a:rPr lang="ko-KR" altLang="en-US" dirty="0"/>
              <a:t>인자를 사용하여 층을 형성할 기준 값을 지정한 후 </a:t>
            </a:r>
            <a:r>
              <a:rPr lang="en-US" altLang="ko-KR" dirty="0" err="1"/>
              <a:t>train_test_split</a:t>
            </a:r>
            <a:r>
              <a:rPr lang="en-US" altLang="ko-KR" dirty="0"/>
              <a:t> </a:t>
            </a:r>
            <a:r>
              <a:rPr lang="ko-KR" altLang="en-US" dirty="0"/>
              <a:t>함수를 호출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628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237217"/>
            <a:ext cx="10515600" cy="1325563"/>
          </a:xfrm>
        </p:spPr>
        <p:txBody>
          <a:bodyPr/>
          <a:lstStyle/>
          <a:p>
            <a:r>
              <a:rPr lang="ko-KR" altLang="en-US" b="1" dirty="0"/>
              <a:t>학습 데이터와 테스트 데이터 분리하기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94202"/>
            <a:ext cx="10515600" cy="525689"/>
          </a:xfrm>
        </p:spPr>
        <p:txBody>
          <a:bodyPr/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실습</a:t>
            </a:r>
            <a:r>
              <a:rPr lang="en-US" altLang="ko-KR" dirty="0" smtClean="0"/>
              <a:t>] </a:t>
            </a:r>
            <a:r>
              <a:rPr lang="ko-KR" altLang="en-US" dirty="0"/>
              <a:t>층별 </a:t>
            </a:r>
            <a:r>
              <a:rPr lang="ko-KR" altLang="en-US" dirty="0" err="1"/>
              <a:t>샘플링한</a:t>
            </a:r>
            <a:r>
              <a:rPr lang="ko-KR" altLang="en-US" dirty="0"/>
              <a:t> 경우와 그렇지 않을 경우의 차이점</a:t>
            </a:r>
          </a:p>
          <a:p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2108717"/>
            <a:ext cx="10515600" cy="477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from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sklearn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import datasets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from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sklearn.model_selection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import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train_test_split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import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numpy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as np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iris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datasets.load_iris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X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iris.data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y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iris.target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x_train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x_test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y_train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y_test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train_test_split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(X, y,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test_size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=0.2,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random_state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=0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</a:p>
          <a:p>
            <a:pPr algn="just" fontAlgn="base">
              <a:lnSpc>
                <a:spcPct val="130000"/>
              </a:lnSpc>
            </a:pPr>
            <a:r>
              <a:rPr lang="en-US" altLang="ko-KR" dirty="0" smtClean="0"/>
              <a:t># </a:t>
            </a:r>
            <a:r>
              <a:rPr lang="en-US" altLang="ko-KR" dirty="0" err="1" smtClean="0"/>
              <a:t>x_train</a:t>
            </a:r>
            <a:r>
              <a:rPr lang="en-US" altLang="ko-KR" dirty="0"/>
              <a:t>, </a:t>
            </a:r>
            <a:r>
              <a:rPr lang="en-US" altLang="ko-KR" dirty="0" err="1"/>
              <a:t>x_test</a:t>
            </a:r>
            <a:r>
              <a:rPr lang="en-US" altLang="ko-KR" dirty="0"/>
              <a:t>, </a:t>
            </a:r>
            <a:r>
              <a:rPr lang="en-US" altLang="ko-KR" dirty="0" err="1"/>
              <a:t>y_train</a:t>
            </a:r>
            <a:r>
              <a:rPr lang="en-US" altLang="ko-KR" dirty="0"/>
              <a:t>, </a:t>
            </a:r>
            <a:r>
              <a:rPr lang="en-US" altLang="ko-KR" dirty="0" err="1"/>
              <a:t>y_test</a:t>
            </a:r>
            <a:r>
              <a:rPr lang="en-US" altLang="ko-KR" dirty="0"/>
              <a:t> = </a:t>
            </a:r>
            <a:r>
              <a:rPr lang="en-US" altLang="ko-KR" dirty="0" err="1"/>
              <a:t>train_test_split</a:t>
            </a:r>
            <a:r>
              <a:rPr lang="en-US" altLang="ko-KR" dirty="0"/>
              <a:t>(X, y, </a:t>
            </a:r>
            <a:r>
              <a:rPr lang="en-US" altLang="ko-KR" dirty="0" err="1"/>
              <a:t>test_size</a:t>
            </a:r>
            <a:r>
              <a:rPr lang="en-US" altLang="ko-KR" dirty="0"/>
              <a:t>=0.2, </a:t>
            </a:r>
            <a:r>
              <a:rPr lang="en-US" altLang="ko-KR" dirty="0" err="1"/>
              <a:t>random_state</a:t>
            </a:r>
            <a:r>
              <a:rPr lang="en-US" altLang="ko-KR" dirty="0"/>
              <a:t>=0, stratify=y</a:t>
            </a:r>
            <a:r>
              <a:rPr lang="en-US" altLang="ko-KR" dirty="0" smtClean="0"/>
              <a:t>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_,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c_test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np.unique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y_test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return_counts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=True)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_,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c_train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np.unique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y_train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return_counts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=True)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print(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c_test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print(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c_train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print(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c_test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/(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c_train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+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c_test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340083" y="2699374"/>
            <a:ext cx="2410408" cy="14219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[11 13 6]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[39 37 44]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[0.22 0.26 0.12]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340083" y="5022697"/>
            <a:ext cx="2410408" cy="14219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[10 10 10]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[40 40 40]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[0.2 0.2 0.2]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</p:spTree>
    <p:extLst>
      <p:ext uri="{BB962C8B-B14F-4D97-AF65-F5344CB8AC3E}">
        <p14:creationId xmlns:p14="http://schemas.microsoft.com/office/powerpoint/2010/main" val="810218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 정제하기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6266793" cy="4351338"/>
          </a:xfrm>
        </p:spPr>
        <p:txBody>
          <a:bodyPr/>
          <a:lstStyle/>
          <a:p>
            <a:r>
              <a:rPr lang="ko-KR" altLang="en-US" dirty="0" smtClean="0"/>
              <a:t>데이터 정제 </a:t>
            </a:r>
            <a:r>
              <a:rPr lang="en-US" altLang="ko-KR" dirty="0" smtClean="0"/>
              <a:t>(data</a:t>
            </a:r>
            <a:r>
              <a:rPr lang="ko-KR" altLang="en-US" dirty="0" smtClean="0"/>
              <a:t> </a:t>
            </a:r>
            <a:r>
              <a:rPr lang="en-US" altLang="ko-KR" dirty="0" smtClean="0"/>
              <a:t>cleaning)</a:t>
            </a:r>
          </a:p>
          <a:p>
            <a:pPr lvl="1"/>
            <a:r>
              <a:rPr lang="ko-KR" altLang="en-US" dirty="0" smtClean="0"/>
              <a:t>데이터 </a:t>
            </a:r>
            <a:r>
              <a:rPr lang="ko-KR" altLang="en-US" dirty="0"/>
              <a:t>세트 내에서 부정확하거나 손상되었거나 형식이 잘못 지정되었거나 중복되거나 불완전한 데이터를 수정하거나 제거하는 </a:t>
            </a:r>
            <a:r>
              <a:rPr lang="ko-KR" altLang="en-US" dirty="0" smtClean="0"/>
              <a:t>프로세스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기계 </a:t>
            </a:r>
            <a:r>
              <a:rPr lang="ko-KR" altLang="en-US" dirty="0"/>
              <a:t>학습의 중요한 부분 중 </a:t>
            </a:r>
            <a:r>
              <a:rPr lang="ko-KR" altLang="en-US" dirty="0" smtClean="0"/>
              <a:t>하나</a:t>
            </a:r>
            <a:r>
              <a:rPr lang="ko-KR" altLang="en-US" dirty="0"/>
              <a:t>로</a:t>
            </a:r>
            <a:r>
              <a:rPr lang="en-US" altLang="ko-KR" dirty="0" smtClean="0"/>
              <a:t> </a:t>
            </a:r>
            <a:r>
              <a:rPr lang="ko-KR" altLang="en-US" dirty="0"/>
              <a:t>모델 구축에 중요한 </a:t>
            </a:r>
            <a:r>
              <a:rPr lang="ko-KR" altLang="en-US" dirty="0" smtClean="0"/>
              <a:t>역할을 담당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머신 </a:t>
            </a:r>
            <a:r>
              <a:rPr lang="ko-KR" altLang="en-US" dirty="0"/>
              <a:t>러닝의 가장 멋진 부분은 아니며 동시에 밝혀 낼 숨겨진 트릭이나 비밀도 </a:t>
            </a:r>
            <a:r>
              <a:rPr lang="ko-KR" altLang="en-US" dirty="0" smtClean="0"/>
              <a:t>없음</a:t>
            </a:r>
            <a:r>
              <a:rPr lang="en-US" altLang="ko-KR" dirty="0" smtClean="0"/>
              <a:t>. </a:t>
            </a:r>
            <a:r>
              <a:rPr lang="ko-KR" altLang="en-US" dirty="0" smtClean="0"/>
              <a:t>하지만 </a:t>
            </a:r>
            <a:r>
              <a:rPr lang="ko-KR" altLang="en-US" dirty="0"/>
              <a:t>적절한 데이터 정리는 프로젝트를 </a:t>
            </a:r>
            <a:r>
              <a:rPr lang="ko-KR" altLang="en-US" dirty="0" smtClean="0"/>
              <a:t>성공시키거나 </a:t>
            </a:r>
            <a:r>
              <a:rPr lang="ko-KR" altLang="en-US" dirty="0"/>
              <a:t>망칠 수 </a:t>
            </a:r>
            <a:r>
              <a:rPr lang="ko-KR" altLang="en-US" dirty="0" smtClean="0"/>
              <a:t>있음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637" y="1825625"/>
            <a:ext cx="5018197" cy="401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001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 </a:t>
            </a:r>
            <a:r>
              <a:rPr lang="ko-KR" altLang="en-US" b="1" dirty="0" smtClean="0"/>
              <a:t>정제하기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2885" y="1522326"/>
            <a:ext cx="10515600" cy="1262808"/>
          </a:xfrm>
        </p:spPr>
        <p:txBody>
          <a:bodyPr/>
          <a:lstStyle/>
          <a:p>
            <a:r>
              <a:rPr lang="ko-KR" altLang="en-US" b="1" dirty="0"/>
              <a:t>누락 값 </a:t>
            </a:r>
            <a:r>
              <a:rPr lang="en-US" altLang="ko-KR" b="1" dirty="0"/>
              <a:t>(missing value)</a:t>
            </a:r>
            <a:endParaRPr lang="en-US" altLang="ko-KR" dirty="0"/>
          </a:p>
          <a:p>
            <a:pPr lvl="1"/>
            <a:r>
              <a:rPr lang="ko-KR" altLang="en-US" dirty="0"/>
              <a:t>해당 학습 샘플들을 제거하거나</a:t>
            </a:r>
            <a:r>
              <a:rPr lang="en-US" altLang="ko-KR" dirty="0"/>
              <a:t>, </a:t>
            </a:r>
            <a:r>
              <a:rPr lang="ko-KR" altLang="en-US" dirty="0" smtClean="0"/>
              <a:t>누락 </a:t>
            </a:r>
            <a:r>
              <a:rPr lang="ko-KR" altLang="en-US" dirty="0"/>
              <a:t>값이 포함된 열 전체를 제거하거나</a:t>
            </a:r>
            <a:r>
              <a:rPr lang="en-US" altLang="ko-KR" dirty="0"/>
              <a:t>, </a:t>
            </a:r>
            <a:r>
              <a:rPr lang="ko-KR" altLang="en-US" dirty="0" smtClean="0"/>
              <a:t>특정 </a:t>
            </a:r>
            <a:r>
              <a:rPr lang="ko-KR" altLang="en-US" dirty="0"/>
              <a:t>값 </a:t>
            </a:r>
            <a:r>
              <a:rPr lang="en-US" altLang="ko-KR" dirty="0"/>
              <a:t>(</a:t>
            </a:r>
            <a:r>
              <a:rPr lang="ko-KR" altLang="en-US" dirty="0"/>
              <a:t>평균</a:t>
            </a:r>
            <a:r>
              <a:rPr lang="en-US" altLang="ko-KR" dirty="0"/>
              <a:t>, </a:t>
            </a:r>
            <a:r>
              <a:rPr lang="ko-KR" altLang="en-US" dirty="0"/>
              <a:t>중간 값</a:t>
            </a:r>
            <a:r>
              <a:rPr lang="en-US" altLang="ko-KR" dirty="0"/>
              <a:t>, </a:t>
            </a:r>
            <a:r>
              <a:rPr lang="ko-KR" altLang="en-US" dirty="0"/>
              <a:t>또는 </a:t>
            </a:r>
            <a:r>
              <a:rPr lang="en-US" altLang="ko-KR" dirty="0"/>
              <a:t>0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으로 대체</a:t>
            </a:r>
          </a:p>
          <a:p>
            <a:pPr lvl="1"/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116562" y="3395932"/>
            <a:ext cx="6096000" cy="201285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your_data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your_data.dropna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(subset=["xxx"]) 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your_data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your_data.drop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("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xxx", axis=1) 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median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your_data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["xxx"].median()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your_data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your_data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["xxx"].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fillna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(median)</a:t>
            </a:r>
            <a:r>
              <a:rPr lang="en-US" altLang="ko-KR" sz="2400" kern="0" dirty="0">
                <a:solidFill>
                  <a:srgbClr val="000000"/>
                </a:solidFill>
                <a:latin typeface="함초롬바탕"/>
                <a:ea typeface="함초롬바탕"/>
              </a:rPr>
              <a:t> 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828452" y="2971200"/>
            <a:ext cx="4665306" cy="286232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import pandas as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pd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from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sklearn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import 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datasets</a:t>
            </a:r>
          </a:p>
          <a:p>
            <a:pPr algn="just" fontAlgn="base">
              <a:lnSpc>
                <a:spcPct val="160000"/>
              </a:lnSpc>
            </a:pP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my_data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datasets.load_iris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your_data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pd.DataFrame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my_data.data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</a:p>
          <a:p>
            <a:pPr fontAlgn="base"/>
            <a:r>
              <a:rPr lang="en-US" altLang="ko-KR" dirty="0"/>
              <a:t>median = </a:t>
            </a:r>
            <a:r>
              <a:rPr lang="en-US" altLang="ko-KR" dirty="0" err="1"/>
              <a:t>your_data</a:t>
            </a:r>
            <a:r>
              <a:rPr lang="en-US" altLang="ko-KR" dirty="0"/>
              <a:t>[0].median()</a:t>
            </a:r>
          </a:p>
          <a:p>
            <a:pPr fontAlgn="base"/>
            <a:r>
              <a:rPr lang="en-US" altLang="ko-KR" dirty="0" err="1"/>
              <a:t>your_data</a:t>
            </a:r>
            <a:r>
              <a:rPr lang="en-US" altLang="ko-KR" dirty="0"/>
              <a:t> = </a:t>
            </a:r>
            <a:r>
              <a:rPr lang="en-US" altLang="ko-KR" dirty="0" err="1"/>
              <a:t>your_data</a:t>
            </a:r>
            <a:r>
              <a:rPr lang="en-US" altLang="ko-KR" dirty="0"/>
              <a:t>[0].</a:t>
            </a:r>
            <a:r>
              <a:rPr lang="en-US" altLang="ko-KR" dirty="0" err="1"/>
              <a:t>fillna</a:t>
            </a:r>
            <a:r>
              <a:rPr lang="en-US" altLang="ko-KR" dirty="0"/>
              <a:t>(median) 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578262" y="2785134"/>
            <a:ext cx="4788490" cy="5355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your_data.dropna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(axis=0, subset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=["xxx"]) 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  <p:cxnSp>
        <p:nvCxnSpPr>
          <p:cNvPr id="8" name="직선 화살표 연결선 7"/>
          <p:cNvCxnSpPr/>
          <p:nvPr/>
        </p:nvCxnSpPr>
        <p:spPr>
          <a:xfrm flipH="1" flipV="1">
            <a:off x="3648269" y="3395932"/>
            <a:ext cx="410547" cy="219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158891" y="5833522"/>
            <a:ext cx="8141972" cy="9787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your_data.dropna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(axis=1, subset=[0,1,2]) # 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NaN</a:t>
            </a:r>
            <a:r>
              <a:rPr lang="ko-KR" altLang="en-US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을 포함하는 모든 열 제거</a:t>
            </a:r>
            <a:endParaRPr lang="en-US" altLang="ko-KR" kern="0" dirty="0" smtClean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# </a:t>
            </a:r>
            <a:r>
              <a:rPr lang="ko-KR" altLang="en-US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이 때 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subset</a:t>
            </a:r>
            <a:r>
              <a:rPr lang="ko-KR" altLang="en-US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은 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NaN</a:t>
            </a:r>
            <a:r>
              <a:rPr lang="ko-KR" altLang="en-US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을 포함하는 행의 범위를 의미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</p:spTree>
    <p:extLst>
      <p:ext uri="{BB962C8B-B14F-4D97-AF65-F5344CB8AC3E}">
        <p14:creationId xmlns:p14="http://schemas.microsoft.com/office/powerpoint/2010/main" val="3618515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 정제하기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err="1"/>
              <a:t>비정상치</a:t>
            </a:r>
            <a:r>
              <a:rPr lang="ko-KR" altLang="en-US" b="1" dirty="0"/>
              <a:t> </a:t>
            </a:r>
            <a:r>
              <a:rPr lang="en-US" altLang="ko-KR" b="1" dirty="0"/>
              <a:t>(abnormal value)</a:t>
            </a:r>
            <a:endParaRPr lang="en-US" altLang="ko-KR" dirty="0"/>
          </a:p>
          <a:p>
            <a:pPr lvl="1"/>
            <a:r>
              <a:rPr lang="ko-KR" altLang="en-US" dirty="0"/>
              <a:t>통계를 이용하는 방법과 학습을 이용하는 </a:t>
            </a:r>
            <a:r>
              <a:rPr lang="ko-KR" altLang="en-US" dirty="0" smtClean="0"/>
              <a:t>방법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학습을 </a:t>
            </a:r>
            <a:r>
              <a:rPr lang="ko-KR" altLang="en-US" dirty="0"/>
              <a:t>이</a:t>
            </a:r>
            <a:r>
              <a:rPr lang="ko-KR" altLang="en-US" dirty="0" smtClean="0"/>
              <a:t>용한 방법에는 신규성 </a:t>
            </a:r>
            <a:r>
              <a:rPr lang="ko-KR" altLang="en-US" dirty="0"/>
              <a:t>검출 </a:t>
            </a:r>
            <a:r>
              <a:rPr lang="en-US" altLang="ko-KR" dirty="0"/>
              <a:t>(novelty detection)</a:t>
            </a:r>
            <a:r>
              <a:rPr lang="ko-KR" altLang="en-US" dirty="0"/>
              <a:t>와 특이치 검출 </a:t>
            </a:r>
            <a:r>
              <a:rPr lang="en-US" altLang="ko-KR" dirty="0"/>
              <a:t>(outlier </a:t>
            </a:r>
            <a:r>
              <a:rPr lang="en-US" altLang="ko-KR" dirty="0" smtClean="0"/>
              <a:t>detection)</a:t>
            </a:r>
            <a:r>
              <a:rPr lang="ko-KR" altLang="en-US" dirty="0" smtClean="0"/>
              <a:t>이 있음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신규성 검출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동일한 </a:t>
            </a:r>
            <a:r>
              <a:rPr lang="ko-KR" altLang="en-US" dirty="0"/>
              <a:t>분포 내의 </a:t>
            </a:r>
            <a:r>
              <a:rPr lang="en-US" altLang="ko-KR" dirty="0"/>
              <a:t>n </a:t>
            </a:r>
            <a:r>
              <a:rPr lang="ko-KR" altLang="en-US" dirty="0"/>
              <a:t>개의 관측치 데이터 세트에 하나 이상의 관측치를 추가할 경우</a:t>
            </a:r>
            <a:r>
              <a:rPr lang="en-US" altLang="ko-KR" dirty="0"/>
              <a:t>, </a:t>
            </a:r>
            <a:r>
              <a:rPr lang="ko-KR" altLang="en-US" dirty="0"/>
              <a:t>새로운 관측치가 기존 </a:t>
            </a:r>
            <a:r>
              <a:rPr lang="ko-KR" altLang="en-US" dirty="0" smtClean="0"/>
              <a:t>관측치와 너무 다른지를 검사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특이치 검출 </a:t>
            </a:r>
            <a:r>
              <a:rPr lang="en-US" altLang="ko-KR" dirty="0" smtClean="0"/>
              <a:t>: </a:t>
            </a:r>
            <a:r>
              <a:rPr lang="ko-KR" altLang="en-US" dirty="0"/>
              <a:t>특이치 </a:t>
            </a:r>
            <a:r>
              <a:rPr lang="en-US" altLang="ko-KR" dirty="0"/>
              <a:t>(outliers)</a:t>
            </a:r>
            <a:r>
              <a:rPr lang="ko-KR" altLang="en-US" dirty="0"/>
              <a:t>라고 불리는 일부 오염된 관측치를 정상적인 관측치와 </a:t>
            </a:r>
            <a:r>
              <a:rPr lang="ko-KR" altLang="en-US" dirty="0" smtClean="0"/>
              <a:t>분리</a:t>
            </a:r>
            <a:endParaRPr lang="en-US" altLang="ko-KR" dirty="0" smtClean="0"/>
          </a:p>
          <a:p>
            <a:pPr lvl="2"/>
            <a:r>
              <a:rPr lang="ko-KR" altLang="en-US" dirty="0"/>
              <a:t>신규성 검출인 경우는 주어진 초기 관측치</a:t>
            </a:r>
            <a:r>
              <a:rPr lang="en-US" altLang="ko-KR" dirty="0"/>
              <a:t>, </a:t>
            </a:r>
            <a:r>
              <a:rPr lang="ko-KR" altLang="en-US" dirty="0"/>
              <a:t>즉 학습 데이터에 비정상 데이터가 없다는 가정 하에서 동작하지만</a:t>
            </a:r>
            <a:r>
              <a:rPr lang="en-US" altLang="ko-KR" dirty="0"/>
              <a:t>, </a:t>
            </a:r>
            <a:r>
              <a:rPr lang="ko-KR" altLang="en-US" dirty="0"/>
              <a:t>특이치 검출인 경우는 그런 가정 없이 동작</a:t>
            </a:r>
          </a:p>
          <a:p>
            <a:pPr lvl="2"/>
            <a:r>
              <a:rPr lang="en-US" altLang="ko-KR" dirty="0" err="1"/>
              <a:t>Scikit</a:t>
            </a:r>
            <a:r>
              <a:rPr lang="en-US" altLang="ko-KR" dirty="0"/>
              <a:t>-learn </a:t>
            </a:r>
            <a:r>
              <a:rPr lang="ko-KR" altLang="en-US" dirty="0"/>
              <a:t>라이브러리는 신규성 탐지와 특이치 </a:t>
            </a:r>
            <a:r>
              <a:rPr lang="en-US" altLang="ko-KR" dirty="0"/>
              <a:t>(outliers) </a:t>
            </a:r>
            <a:r>
              <a:rPr lang="ko-KR" altLang="en-US" dirty="0"/>
              <a:t>검출에 사용할 수 있는 기계 학습 도구 세트를 제공</a:t>
            </a:r>
          </a:p>
          <a:p>
            <a:pPr lvl="2"/>
            <a:endParaRPr lang="ko-KR" altLang="en-US" dirty="0"/>
          </a:p>
          <a:p>
            <a:pPr lvl="2"/>
            <a:endParaRPr lang="ko-KR" altLang="en-US" dirty="0"/>
          </a:p>
          <a:p>
            <a:pPr lvl="2"/>
            <a:endParaRPr lang="ko-KR" altLang="en-US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1451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 정제하기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89175"/>
          </a:xfrm>
        </p:spPr>
        <p:txBody>
          <a:bodyPr/>
          <a:lstStyle/>
          <a:p>
            <a:r>
              <a:rPr lang="ko-KR" altLang="en-US" dirty="0" smtClean="0"/>
              <a:t>평균 편차 이용 방법</a:t>
            </a:r>
            <a:endParaRPr lang="en-US" altLang="ko-KR" dirty="0" smtClean="0"/>
          </a:p>
          <a:p>
            <a:pPr lvl="1"/>
            <a:r>
              <a:rPr lang="ko-KR" altLang="en-US" dirty="0"/>
              <a:t>통계적 정보를 이용하여 </a:t>
            </a:r>
            <a:r>
              <a:rPr lang="en-US" altLang="ko-KR" dirty="0" smtClean="0"/>
              <a:t>2*</a:t>
            </a:r>
            <a:r>
              <a:rPr lang="el-GR" altLang="ko-KR" dirty="0" smtClean="0"/>
              <a:t>σ</a:t>
            </a:r>
            <a:r>
              <a:rPr lang="en-US" altLang="ko-KR" dirty="0" smtClean="0"/>
              <a:t> </a:t>
            </a:r>
            <a:r>
              <a:rPr lang="ko-KR" altLang="en-US" dirty="0"/>
              <a:t>범위 밖이나 </a:t>
            </a:r>
            <a:r>
              <a:rPr lang="en-US" altLang="ko-KR" dirty="0"/>
              <a:t>3</a:t>
            </a:r>
            <a:r>
              <a:rPr lang="en-US" altLang="ko-KR" dirty="0" smtClean="0"/>
              <a:t>*</a:t>
            </a:r>
            <a:r>
              <a:rPr lang="el-GR" altLang="ko-KR" dirty="0"/>
              <a:t> σ</a:t>
            </a:r>
            <a:r>
              <a:rPr lang="en-US" altLang="ko-KR" dirty="0" smtClean="0"/>
              <a:t> </a:t>
            </a:r>
            <a:r>
              <a:rPr lang="ko-KR" altLang="en-US" dirty="0"/>
              <a:t>범위 밖에 있는 데이터를 </a:t>
            </a:r>
            <a:r>
              <a:rPr lang="ko-KR" altLang="en-US" dirty="0" err="1"/>
              <a:t>비정상치로</a:t>
            </a:r>
            <a:r>
              <a:rPr lang="ko-KR" altLang="en-US" dirty="0"/>
              <a:t> 판단하는 </a:t>
            </a:r>
            <a:r>
              <a:rPr lang="ko-KR" altLang="en-US" dirty="0" smtClean="0"/>
              <a:t>방법</a:t>
            </a:r>
            <a:endParaRPr lang="en-US" altLang="ko-KR" dirty="0" smtClean="0"/>
          </a:p>
          <a:p>
            <a:pPr lvl="1"/>
            <a:r>
              <a:rPr lang="ko-KR" altLang="en-US" dirty="0"/>
              <a:t>데이터가 정규 분포를 따른다고 할 때</a:t>
            </a:r>
            <a:r>
              <a:rPr lang="en-US" altLang="ko-KR" dirty="0"/>
              <a:t>, </a:t>
            </a:r>
            <a:r>
              <a:rPr lang="en-US" altLang="ko-KR" dirty="0" smtClean="0"/>
              <a:t>68</a:t>
            </a:r>
            <a:r>
              <a:rPr lang="en-US" altLang="ko-KR" dirty="0"/>
              <a:t>% </a:t>
            </a:r>
            <a:r>
              <a:rPr lang="ko-KR" altLang="en-US" dirty="0"/>
              <a:t>가량의 데이터가 평균 </a:t>
            </a:r>
            <a:r>
              <a:rPr lang="en-US" altLang="ko-KR" dirty="0" smtClean="0"/>
              <a:t>(</a:t>
            </a:r>
            <a:r>
              <a:rPr lang="el-GR" altLang="ko-KR" dirty="0" smtClean="0"/>
              <a:t>μ</a:t>
            </a:r>
            <a:r>
              <a:rPr lang="en-US" altLang="ko-KR" dirty="0" smtClean="0"/>
              <a:t>)</a:t>
            </a:r>
            <a:r>
              <a:rPr lang="ko-KR" altLang="en-US" dirty="0"/>
              <a:t>으로부터 표준편차 </a:t>
            </a:r>
            <a:r>
              <a:rPr lang="en-US" altLang="ko-KR" dirty="0" smtClean="0"/>
              <a:t>(</a:t>
            </a:r>
            <a:r>
              <a:rPr lang="el-GR" altLang="ko-KR" dirty="0"/>
              <a:t>σ</a:t>
            </a:r>
            <a:r>
              <a:rPr lang="en-US" altLang="ko-KR" dirty="0" smtClean="0"/>
              <a:t>) </a:t>
            </a:r>
            <a:r>
              <a:rPr lang="ko-KR" altLang="en-US" dirty="0"/>
              <a:t>범위 내에 위치하며</a:t>
            </a:r>
            <a:r>
              <a:rPr lang="en-US" altLang="ko-KR" dirty="0"/>
              <a:t>, 2</a:t>
            </a:r>
            <a:r>
              <a:rPr lang="en-US" altLang="ko-KR" dirty="0" smtClean="0"/>
              <a:t>*</a:t>
            </a:r>
            <a:r>
              <a:rPr lang="el-GR" altLang="ko-KR" dirty="0"/>
              <a:t> σ</a:t>
            </a:r>
            <a:r>
              <a:rPr lang="en-US" altLang="ko-KR" dirty="0" smtClean="0"/>
              <a:t> </a:t>
            </a:r>
            <a:r>
              <a:rPr lang="ko-KR" altLang="en-US" dirty="0"/>
              <a:t>범위 내에 있을 확률은 무려 </a:t>
            </a:r>
            <a:r>
              <a:rPr lang="en-US" altLang="ko-KR" dirty="0"/>
              <a:t>95%</a:t>
            </a:r>
            <a:endParaRPr lang="ko-KR" altLang="en-US" dirty="0"/>
          </a:p>
        </p:txBody>
      </p:sp>
      <p:pic>
        <p:nvPicPr>
          <p:cNvPr id="1037" name="_x443301016" descr="EMB000041a80e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799" y="3941827"/>
            <a:ext cx="5047861" cy="2687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7045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 정제하기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938960"/>
            <a:ext cx="10515600" cy="477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import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numpy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arr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[10, 386, 479, 627, 20, 523, 482, 483, 542, 699, 535, 617, 577, 471, 615, 583, 441, 562, 563, 527, 453, 530, 433, 541, 585, 704, 443, 569, 430, 637, 331, 511, 552, 496, 484, 566, 554, 472, 335, 440, 579, 341, 545, 615, 548, 604, 439, 556, 442, 461, 624, 611, 444, 578, 405, 487, 490, 496, 398, 512, 422, 455, 449, 432, 607, 679, 434, 597, 639, 565, 415, 486, 668, 414, 665, 763, 557, 304, 404, 454, 689, 610, 483, 441, 657, 590, 492, 476, 437, 483, 529, 363, 711, 543] 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endParaRPr lang="en-US" altLang="ko-KR" kern="0" dirty="0" smtClean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elements 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numpy.array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arr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 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mean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numpy.mean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(elements, axis=0) 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sd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numpy.std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(elements, axis=0) 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final_list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[x for x in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arr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if (x &gt; mean - 2 *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sd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)] 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final_list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[x for x in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final_list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if (x &lt; mean + 2 *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sd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)] 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print(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final_list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 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</p:spTree>
    <p:extLst>
      <p:ext uri="{BB962C8B-B14F-4D97-AF65-F5344CB8AC3E}">
        <p14:creationId xmlns:p14="http://schemas.microsoft.com/office/powerpoint/2010/main" val="963003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데이터 전처리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주어진 형식의 데이터를 훨씬 더 유용하고 원하는 형식으로 </a:t>
            </a:r>
            <a:r>
              <a:rPr lang="ko-KR" altLang="en-US" dirty="0" smtClean="0"/>
              <a:t>변환하는 과정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이진화 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Binarization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평균</a:t>
            </a:r>
            <a:r>
              <a:rPr lang="en-US" altLang="ko-KR" dirty="0" smtClean="0"/>
              <a:t> </a:t>
            </a:r>
            <a:r>
              <a:rPr lang="ko-KR" altLang="en-US" dirty="0" smtClean="0"/>
              <a:t>제거 </a:t>
            </a:r>
            <a:r>
              <a:rPr lang="en-US" altLang="ko-KR" dirty="0" smtClean="0"/>
              <a:t>(Mean removal)</a:t>
            </a:r>
          </a:p>
          <a:p>
            <a:pPr lvl="1"/>
            <a:r>
              <a:rPr lang="ko-KR" altLang="en-US" dirty="0" smtClean="0"/>
              <a:t>스케일링 </a:t>
            </a:r>
            <a:r>
              <a:rPr lang="en-US" altLang="ko-KR" dirty="0" smtClean="0"/>
              <a:t>(Scaling)</a:t>
            </a:r>
          </a:p>
          <a:p>
            <a:pPr lvl="1"/>
            <a:r>
              <a:rPr lang="ko-KR" altLang="en-US" dirty="0" smtClean="0"/>
              <a:t>정규화 </a:t>
            </a:r>
            <a:r>
              <a:rPr lang="en-US" altLang="ko-KR" dirty="0" smtClean="0"/>
              <a:t>(Normalization)</a:t>
            </a:r>
          </a:p>
          <a:p>
            <a:pPr lvl="1"/>
            <a:r>
              <a:rPr lang="ko-KR" altLang="en-US" dirty="0" err="1" smtClean="0"/>
              <a:t>인코딩</a:t>
            </a:r>
            <a:r>
              <a:rPr lang="en-US" altLang="ko-KR" dirty="0" smtClean="0"/>
              <a:t> (Encoding)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17766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데이터 전처리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48499"/>
          </a:xfrm>
        </p:spPr>
        <p:txBody>
          <a:bodyPr/>
          <a:lstStyle/>
          <a:p>
            <a:r>
              <a:rPr lang="ko-KR" altLang="en-US" dirty="0" smtClean="0"/>
              <a:t>이진화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수치 데이터를 </a:t>
            </a:r>
            <a:r>
              <a:rPr lang="ko-KR" altLang="en-US" dirty="0" err="1" smtClean="0"/>
              <a:t>불리안</a:t>
            </a:r>
            <a:r>
              <a:rPr lang="ko-KR" altLang="en-US" dirty="0" smtClean="0"/>
              <a:t> 데이터로 변환하는 과정</a:t>
            </a:r>
            <a:endParaRPr lang="en-US" altLang="ko-KR" dirty="0"/>
          </a:p>
          <a:p>
            <a:pPr lvl="1"/>
            <a:r>
              <a:rPr lang="en-US" altLang="ko-KR" dirty="0" err="1" smtClean="0"/>
              <a:t>sklearn.preprocessing.Binarizer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 이용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3867807"/>
            <a:ext cx="830964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import </a:t>
            </a:r>
            <a:r>
              <a:rPr lang="en-US" altLang="ko-KR" dirty="0" err="1" smtClean="0"/>
              <a:t>numpy</a:t>
            </a:r>
            <a:r>
              <a:rPr lang="en-US" altLang="ko-KR" dirty="0" smtClean="0"/>
              <a:t> as np</a:t>
            </a:r>
          </a:p>
          <a:p>
            <a:r>
              <a:rPr lang="en-US" altLang="ko-KR" dirty="0"/>
              <a:t>f</a:t>
            </a:r>
            <a:r>
              <a:rPr lang="en-US" altLang="ko-KR" dirty="0" smtClean="0"/>
              <a:t>rom </a:t>
            </a:r>
            <a:r>
              <a:rPr lang="en-US" altLang="ko-KR" dirty="0" err="1" smtClean="0"/>
              <a:t>sklearn</a:t>
            </a:r>
            <a:r>
              <a:rPr lang="en-US" altLang="ko-KR" dirty="0" smtClean="0"/>
              <a:t> import preprocessing</a:t>
            </a:r>
          </a:p>
          <a:p>
            <a:endParaRPr lang="en-US" altLang="ko-KR" dirty="0"/>
          </a:p>
          <a:p>
            <a:r>
              <a:rPr lang="en-US" altLang="ko-KR" dirty="0" err="1"/>
              <a:t>i</a:t>
            </a:r>
            <a:r>
              <a:rPr lang="en-US" altLang="ko-KR" dirty="0" err="1" smtClean="0"/>
              <a:t>nput_data</a:t>
            </a:r>
            <a:r>
              <a:rPr lang="en-US" altLang="ko-KR" dirty="0" smtClean="0"/>
              <a:t> = </a:t>
            </a:r>
            <a:r>
              <a:rPr lang="en-US" altLang="ko-KR" dirty="0" err="1" smtClean="0"/>
              <a:t>np.array</a:t>
            </a:r>
            <a:r>
              <a:rPr lang="en-US" altLang="ko-KR" dirty="0" smtClean="0"/>
              <a:t>([[3.1, -1.6, 2.3], [-2.4, 6.5, -4.4], [3.5, 1.1, 2.0]])</a:t>
            </a:r>
          </a:p>
          <a:p>
            <a:r>
              <a:rPr lang="en-US" altLang="ko-KR" dirty="0" err="1" smtClean="0"/>
              <a:t>binarized_data</a:t>
            </a:r>
            <a:r>
              <a:rPr lang="en-US" altLang="ko-KR" dirty="0" smtClean="0"/>
              <a:t> = </a:t>
            </a:r>
            <a:r>
              <a:rPr lang="en-US" altLang="ko-KR" dirty="0" err="1" smtClean="0"/>
              <a:t>preprocessing.Binarizer</a:t>
            </a:r>
            <a:r>
              <a:rPr lang="en-US" altLang="ko-KR" dirty="0" smtClean="0"/>
              <a:t>(threshold=2.0).transform(</a:t>
            </a:r>
            <a:r>
              <a:rPr lang="en-US" altLang="ko-KR" dirty="0" err="1" smtClean="0"/>
              <a:t>input_data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print(“</a:t>
            </a:r>
            <a:r>
              <a:rPr lang="ko-KR" altLang="en-US" dirty="0" smtClean="0"/>
              <a:t>이진</a:t>
            </a:r>
            <a:r>
              <a:rPr lang="en-US" altLang="ko-KR" dirty="0" smtClean="0"/>
              <a:t> </a:t>
            </a:r>
            <a:r>
              <a:rPr lang="ko-KR" altLang="en-US" dirty="0" smtClean="0"/>
              <a:t>데이터 </a:t>
            </a:r>
            <a:r>
              <a:rPr lang="en-US" altLang="ko-KR" dirty="0" smtClean="0"/>
              <a:t>: \n”, </a:t>
            </a:r>
            <a:r>
              <a:rPr lang="en-US" altLang="ko-KR" dirty="0" err="1" smtClean="0"/>
              <a:t>binarized_data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016359" y="4445876"/>
            <a:ext cx="1338828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[[1.  0.  1.]</a:t>
            </a:r>
          </a:p>
          <a:p>
            <a:r>
              <a:rPr lang="en-US" altLang="ko-KR" dirty="0"/>
              <a:t> [</a:t>
            </a:r>
            <a:r>
              <a:rPr lang="en-US" altLang="ko-KR" dirty="0" smtClean="0"/>
              <a:t>0.  1.  0.]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[1.  0.  0.]]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4425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데이터 전처리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52356"/>
            <a:ext cx="10515600" cy="2126265"/>
          </a:xfrm>
        </p:spPr>
        <p:txBody>
          <a:bodyPr/>
          <a:lstStyle/>
          <a:p>
            <a:r>
              <a:rPr lang="ko-KR" altLang="en-US" dirty="0"/>
              <a:t>평균</a:t>
            </a:r>
            <a:r>
              <a:rPr lang="en-US" altLang="ko-KR" dirty="0"/>
              <a:t> </a:t>
            </a:r>
            <a:r>
              <a:rPr lang="ko-KR" altLang="en-US" dirty="0" smtClean="0"/>
              <a:t>제거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많이 사용되는 머신 러닝 전처리 방법 중 하나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특징 벡터에서 평균을 제함으로 각 특징을 </a:t>
            </a:r>
            <a:r>
              <a:rPr lang="en-US" altLang="ko-KR" dirty="0" smtClean="0"/>
              <a:t>0 </a:t>
            </a:r>
            <a:r>
              <a:rPr lang="ko-KR" altLang="en-US" dirty="0" smtClean="0"/>
              <a:t>센터링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특징 벡터의 특징들의 편향 </a:t>
            </a:r>
            <a:r>
              <a:rPr lang="en-US" altLang="ko-KR" dirty="0" smtClean="0"/>
              <a:t>(bias)</a:t>
            </a:r>
            <a:r>
              <a:rPr lang="ko-KR" altLang="en-US" dirty="0" smtClean="0"/>
              <a:t>를</a:t>
            </a:r>
            <a:r>
              <a:rPr lang="en-US" altLang="ko-KR" dirty="0" smtClean="0"/>
              <a:t> </a:t>
            </a:r>
            <a:r>
              <a:rPr lang="ko-KR" altLang="en-US" dirty="0" smtClean="0"/>
              <a:t>제거하기 위해 사용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sklearn.preprocessing.scale</a:t>
            </a:r>
            <a:r>
              <a:rPr lang="en-US" altLang="ko-KR" dirty="0" smtClean="0"/>
              <a:t> </a:t>
            </a:r>
            <a:r>
              <a:rPr lang="ko-KR" altLang="en-US" dirty="0" smtClean="0"/>
              <a:t>함수 사용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50731" y="3774961"/>
            <a:ext cx="51710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print(“</a:t>
            </a:r>
            <a:r>
              <a:rPr lang="ko-KR" altLang="en-US" dirty="0" smtClean="0"/>
              <a:t>평균 제거 이전 </a:t>
            </a:r>
            <a:r>
              <a:rPr lang="en-US" altLang="ko-KR" dirty="0" smtClean="0"/>
              <a:t>:”)</a:t>
            </a:r>
          </a:p>
          <a:p>
            <a:r>
              <a:rPr lang="en-US" altLang="ko-KR" dirty="0"/>
              <a:t>print</a:t>
            </a:r>
            <a:r>
              <a:rPr lang="en-US" altLang="ko-KR" dirty="0" smtClean="0"/>
              <a:t>(“</a:t>
            </a:r>
            <a:r>
              <a:rPr lang="ko-KR" altLang="en-US" dirty="0" smtClean="0"/>
              <a:t>평균 </a:t>
            </a:r>
            <a:r>
              <a:rPr lang="en-US" altLang="ko-KR" dirty="0" smtClean="0"/>
              <a:t>= ”, </a:t>
            </a:r>
            <a:r>
              <a:rPr lang="en-US" altLang="ko-KR" dirty="0" err="1" smtClean="0"/>
              <a:t>input_data.mean</a:t>
            </a:r>
            <a:r>
              <a:rPr lang="en-US" altLang="ko-KR" dirty="0" smtClean="0"/>
              <a:t>(axis=0))</a:t>
            </a:r>
          </a:p>
          <a:p>
            <a:r>
              <a:rPr lang="en-US" altLang="ko-KR" dirty="0"/>
              <a:t>print</a:t>
            </a:r>
            <a:r>
              <a:rPr lang="en-US" altLang="ko-KR" dirty="0" smtClean="0"/>
              <a:t>(“</a:t>
            </a:r>
            <a:r>
              <a:rPr lang="ko-KR" altLang="en-US" dirty="0" smtClean="0"/>
              <a:t>표준편차 </a:t>
            </a:r>
            <a:r>
              <a:rPr lang="en-US" altLang="ko-KR" dirty="0" smtClean="0"/>
              <a:t>= ”, </a:t>
            </a:r>
            <a:r>
              <a:rPr lang="en-US" altLang="ko-KR" dirty="0" err="1" smtClean="0"/>
              <a:t>input_data.std</a:t>
            </a:r>
            <a:r>
              <a:rPr lang="en-US" altLang="ko-KR" dirty="0" smtClean="0"/>
              <a:t>(axis=0</a:t>
            </a:r>
            <a:r>
              <a:rPr lang="en-US" altLang="ko-KR" dirty="0"/>
              <a:t>)</a:t>
            </a:r>
            <a:r>
              <a:rPr lang="en-US" altLang="ko-KR" dirty="0" smtClean="0"/>
              <a:t>)</a:t>
            </a:r>
          </a:p>
          <a:p>
            <a:endParaRPr lang="en-US" altLang="ko-KR" dirty="0" smtClean="0"/>
          </a:p>
          <a:p>
            <a:r>
              <a:rPr lang="en-US" altLang="ko-KR" dirty="0" err="1" smtClean="0"/>
              <a:t>scaled_data</a:t>
            </a:r>
            <a:r>
              <a:rPr lang="en-US" altLang="ko-KR" dirty="0" smtClean="0"/>
              <a:t> =  </a:t>
            </a:r>
            <a:r>
              <a:rPr lang="en-US" altLang="ko-KR" dirty="0" err="1" smtClean="0"/>
              <a:t>preprocessing.scale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input_data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r>
              <a:rPr lang="en-US" altLang="ko-KR" dirty="0"/>
              <a:t>print</a:t>
            </a:r>
            <a:r>
              <a:rPr lang="en-US" altLang="ko-KR" dirty="0" smtClean="0"/>
              <a:t>(“</a:t>
            </a:r>
            <a:r>
              <a:rPr lang="ko-KR" altLang="en-US" dirty="0"/>
              <a:t>평균 제거 </a:t>
            </a:r>
            <a:r>
              <a:rPr lang="ko-KR" altLang="en-US" dirty="0" smtClean="0"/>
              <a:t>이후 </a:t>
            </a:r>
            <a:r>
              <a:rPr lang="en-US" altLang="ko-KR" dirty="0" smtClean="0"/>
              <a:t>:”)</a:t>
            </a:r>
          </a:p>
          <a:p>
            <a:r>
              <a:rPr lang="en-US" altLang="ko-KR" dirty="0"/>
              <a:t>print</a:t>
            </a:r>
            <a:r>
              <a:rPr lang="en-US" altLang="ko-KR" dirty="0" smtClean="0"/>
              <a:t>(“</a:t>
            </a:r>
            <a:r>
              <a:rPr lang="ko-KR" altLang="en-US" dirty="0"/>
              <a:t>평균 </a:t>
            </a:r>
            <a:r>
              <a:rPr lang="en-US" altLang="ko-KR" dirty="0"/>
              <a:t>= ”, </a:t>
            </a:r>
            <a:r>
              <a:rPr lang="en-US" altLang="ko-KR" dirty="0" err="1"/>
              <a:t>scaled</a:t>
            </a:r>
            <a:r>
              <a:rPr lang="en-US" altLang="ko-KR" dirty="0" err="1" smtClean="0"/>
              <a:t>_data.mean</a:t>
            </a:r>
            <a:r>
              <a:rPr lang="en-US" altLang="ko-KR" dirty="0" smtClean="0"/>
              <a:t>(axis=0))</a:t>
            </a:r>
          </a:p>
          <a:p>
            <a:r>
              <a:rPr lang="en-US" altLang="ko-KR" dirty="0" smtClean="0"/>
              <a:t>print</a:t>
            </a:r>
            <a:r>
              <a:rPr lang="en-US" altLang="ko-KR" dirty="0"/>
              <a:t> (“</a:t>
            </a:r>
            <a:r>
              <a:rPr lang="ko-KR" altLang="en-US" dirty="0"/>
              <a:t>표준편차 </a:t>
            </a:r>
            <a:r>
              <a:rPr lang="en-US" altLang="ko-KR" dirty="0"/>
              <a:t>= ”, </a:t>
            </a:r>
            <a:r>
              <a:rPr lang="en-US" altLang="ko-KR" dirty="0" err="1"/>
              <a:t>scaled</a:t>
            </a:r>
            <a:r>
              <a:rPr lang="en-US" altLang="ko-KR" dirty="0" err="1" smtClean="0"/>
              <a:t>_data.std</a:t>
            </a:r>
            <a:r>
              <a:rPr lang="en-US" altLang="ko-KR" dirty="0" smtClean="0"/>
              <a:t>(axis=0))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421821" y="3774961"/>
            <a:ext cx="5602014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평균 제거 이전 :</a:t>
            </a:r>
          </a:p>
          <a:p>
            <a:r>
              <a:rPr lang="ko-KR" altLang="en-US" dirty="0"/>
              <a:t>평균 =  [ 1.4         2.         -0.03333333]</a:t>
            </a:r>
          </a:p>
          <a:p>
            <a:r>
              <a:rPr lang="ko-KR" altLang="en-US" dirty="0"/>
              <a:t>표준편차 =  [2.69196335 3.36749165 3.09012765]</a:t>
            </a:r>
          </a:p>
          <a:p>
            <a:endParaRPr lang="ko-KR" altLang="en-US" dirty="0"/>
          </a:p>
          <a:p>
            <a:r>
              <a:rPr lang="ko-KR" altLang="en-US" dirty="0"/>
              <a:t>평균 제거 이후 :</a:t>
            </a:r>
          </a:p>
          <a:p>
            <a:r>
              <a:rPr lang="ko-KR" altLang="en-US" dirty="0"/>
              <a:t>평균 =  [-3.70074342e-17 -1.85037171e-17  3.70074342e-17]</a:t>
            </a:r>
          </a:p>
          <a:p>
            <a:r>
              <a:rPr lang="ko-KR" altLang="en-US" dirty="0"/>
              <a:t>표준편차 =  [1. 1. 1.]</a:t>
            </a:r>
          </a:p>
        </p:txBody>
      </p:sp>
    </p:spTree>
    <p:extLst>
      <p:ext uri="{BB962C8B-B14F-4D97-AF65-F5344CB8AC3E}">
        <p14:creationId xmlns:p14="http://schemas.microsoft.com/office/powerpoint/2010/main" val="1232816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전처리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스케일링</a:t>
            </a:r>
            <a:r>
              <a:rPr lang="en-US" altLang="ko-KR" dirty="0" smtClean="0"/>
              <a:t> </a:t>
            </a:r>
          </a:p>
          <a:p>
            <a:pPr lvl="1"/>
            <a:r>
              <a:rPr lang="ko-KR" altLang="en-US" dirty="0" smtClean="0"/>
              <a:t>입력 </a:t>
            </a:r>
            <a:r>
              <a:rPr lang="ko-KR" altLang="en-US" dirty="0"/>
              <a:t>데이터가 모두 수치 </a:t>
            </a:r>
            <a:r>
              <a:rPr lang="ko-KR" altLang="en-US" dirty="0" smtClean="0"/>
              <a:t>데이터라도 </a:t>
            </a:r>
            <a:r>
              <a:rPr lang="ko-KR" altLang="en-US" dirty="0"/>
              <a:t>그 스케일의 차이가 </a:t>
            </a:r>
            <a:r>
              <a:rPr lang="ko-KR" altLang="en-US" dirty="0" smtClean="0"/>
              <a:t>크면</a:t>
            </a:r>
            <a:r>
              <a:rPr lang="en-US" altLang="ko-KR" dirty="0" smtClean="0"/>
              <a:t> </a:t>
            </a:r>
            <a:r>
              <a:rPr lang="ko-KR" altLang="en-US" dirty="0" smtClean="0"/>
              <a:t>학습이 </a:t>
            </a:r>
            <a:r>
              <a:rPr lang="ko-KR" altLang="en-US" dirty="0"/>
              <a:t>제대로 이루어지지 않을 수 </a:t>
            </a:r>
            <a:r>
              <a:rPr lang="ko-KR" altLang="en-US" dirty="0" smtClean="0"/>
              <a:t>있음</a:t>
            </a:r>
            <a:endParaRPr lang="ko-KR" altLang="en-US" dirty="0"/>
          </a:p>
          <a:p>
            <a:pPr lvl="2"/>
            <a:r>
              <a:rPr lang="ko-KR" altLang="en-US" dirty="0" smtClean="0"/>
              <a:t>가격 </a:t>
            </a:r>
            <a:r>
              <a:rPr lang="ko-KR" altLang="en-US" dirty="0"/>
              <a:t>필드는 </a:t>
            </a:r>
            <a:r>
              <a:rPr lang="en-US" altLang="ko-KR" dirty="0"/>
              <a:t>0 ~ 100,000,000 </a:t>
            </a:r>
            <a:r>
              <a:rPr lang="ko-KR" altLang="en-US" dirty="0" smtClean="0"/>
              <a:t>사이</a:t>
            </a:r>
            <a:r>
              <a:rPr lang="en-US" altLang="ko-KR" dirty="0" smtClean="0"/>
              <a:t>, </a:t>
            </a:r>
            <a:r>
              <a:rPr lang="ko-KR" altLang="en-US" dirty="0"/>
              <a:t>나이 필드는 </a:t>
            </a:r>
            <a:r>
              <a:rPr lang="en-US" altLang="ko-KR" dirty="0"/>
              <a:t>0 ~ 100 </a:t>
            </a:r>
            <a:r>
              <a:rPr lang="ko-KR" altLang="en-US" dirty="0" smtClean="0"/>
              <a:t>사이</a:t>
            </a:r>
            <a:endParaRPr lang="ko-KR" altLang="en-US" dirty="0"/>
          </a:p>
          <a:p>
            <a:pPr lvl="1"/>
            <a:r>
              <a:rPr lang="ko-KR" altLang="en-US" dirty="0"/>
              <a:t>동일한 스케일로 스케일 업 또는 다운을 시켜주어야 </a:t>
            </a:r>
            <a:r>
              <a:rPr lang="ko-KR" altLang="en-US" dirty="0" smtClean="0"/>
              <a:t>함</a:t>
            </a:r>
            <a:endParaRPr lang="en-US" altLang="ko-KR" dirty="0" smtClean="0"/>
          </a:p>
          <a:p>
            <a:pPr lvl="1"/>
            <a:r>
              <a:rPr lang="en-US" altLang="ko-KR" dirty="0"/>
              <a:t>min-max </a:t>
            </a:r>
            <a:r>
              <a:rPr lang="ko-KR" altLang="en-US" dirty="0"/>
              <a:t>스케일링</a:t>
            </a:r>
          </a:p>
          <a:p>
            <a:pPr lvl="2"/>
            <a:r>
              <a:rPr lang="ko-KR" altLang="en-US" dirty="0"/>
              <a:t>해당 필드의 최소값과 최대값을 이용하여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사이로 </a:t>
            </a:r>
            <a:r>
              <a:rPr lang="ko-KR" altLang="en-US" dirty="0" smtClean="0"/>
              <a:t>변환</a:t>
            </a:r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2"/>
            <a:r>
              <a:rPr lang="ko-KR" altLang="en-US" dirty="0" smtClean="0"/>
              <a:t>직접 </a:t>
            </a:r>
            <a:r>
              <a:rPr lang="ko-KR" altLang="en-US" dirty="0" err="1"/>
              <a:t>파이썬</a:t>
            </a:r>
            <a:r>
              <a:rPr lang="ko-KR" altLang="en-US" dirty="0"/>
              <a:t> 코드로 작성해도 되지만</a:t>
            </a:r>
            <a:r>
              <a:rPr lang="en-US" altLang="ko-KR" dirty="0"/>
              <a:t>, </a:t>
            </a:r>
            <a:r>
              <a:rPr lang="ko-KR" altLang="en-US" dirty="0"/>
              <a:t>변환해야 할 필드가 여러 개가 있을 경우</a:t>
            </a:r>
            <a:r>
              <a:rPr lang="en-US" altLang="ko-KR" dirty="0"/>
              <a:t>, </a:t>
            </a:r>
            <a:r>
              <a:rPr lang="en-US" altLang="ko-KR" dirty="0" err="1"/>
              <a:t>sklearn.preprocessing</a:t>
            </a:r>
            <a:r>
              <a:rPr lang="en-US" altLang="ko-KR" dirty="0"/>
              <a:t> </a:t>
            </a:r>
            <a:r>
              <a:rPr lang="ko-KR" altLang="en-US" dirty="0"/>
              <a:t>모듈의 </a:t>
            </a:r>
            <a:r>
              <a:rPr lang="en-US" altLang="ko-KR" dirty="0" err="1" smtClean="0"/>
              <a:t>MinMaxScaler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클래스의</a:t>
            </a:r>
            <a:r>
              <a:rPr lang="en-US" altLang="ko-KR" dirty="0" smtClean="0"/>
              <a:t> </a:t>
            </a:r>
            <a:r>
              <a:rPr lang="ko-KR" altLang="en-US" dirty="0"/>
              <a:t>메서드를 이용</a:t>
            </a:r>
          </a:p>
          <a:p>
            <a:pPr marL="914400" lvl="2" indent="0">
              <a:buNone/>
            </a:pP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771" y="4514142"/>
            <a:ext cx="4619091" cy="87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16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전처리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44894" y="2002218"/>
            <a:ext cx="8707016" cy="333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from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sklearn.preprocessing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import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MinMaxScaler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import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numpy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as 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np</a:t>
            </a:r>
          </a:p>
          <a:p>
            <a:pPr algn="just" fontAlgn="base">
              <a:lnSpc>
                <a:spcPct val="130000"/>
              </a:lnSpc>
            </a:pP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my_data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np.array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([10, 3, 56, 567, 30],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dtype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="float").reshape(-1, 1)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minmax_scaler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MinMaxScaler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minmax_scaler.fit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my_data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print(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str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minmax_scaler.data_min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_) + " ~ " +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str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minmax_scaler.data_max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_))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scaled_my_data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minmax_scaler.transform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my_data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print(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scaled_my_data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</p:spTree>
    <p:extLst>
      <p:ext uri="{BB962C8B-B14F-4D97-AF65-F5344CB8AC3E}">
        <p14:creationId xmlns:p14="http://schemas.microsoft.com/office/powerpoint/2010/main" val="1836864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전처리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표준 스케일링 </a:t>
            </a:r>
            <a:r>
              <a:rPr lang="en-US" altLang="ko-KR" dirty="0"/>
              <a:t>(standardization scaling) </a:t>
            </a:r>
            <a:r>
              <a:rPr lang="ko-KR" altLang="en-US" dirty="0"/>
              <a:t>방법</a:t>
            </a:r>
          </a:p>
          <a:p>
            <a:pPr lvl="1"/>
            <a:r>
              <a:rPr lang="ko-KR" altLang="en-US" dirty="0"/>
              <a:t>주어진 값에 평균을 뺀 후 편차로 나누어 주는 방법으로 변환</a:t>
            </a:r>
          </a:p>
          <a:p>
            <a:pPr lvl="1"/>
            <a:r>
              <a:rPr lang="ko-KR" altLang="en-US" dirty="0"/>
              <a:t>직접 코딩할 수 있지만 </a:t>
            </a:r>
            <a:r>
              <a:rPr lang="en-US" altLang="ko-KR" dirty="0" err="1"/>
              <a:t>sklearn.preprocessing</a:t>
            </a:r>
            <a:r>
              <a:rPr lang="en-US" altLang="ko-KR" dirty="0"/>
              <a:t> </a:t>
            </a:r>
            <a:r>
              <a:rPr lang="ko-KR" altLang="en-US" dirty="0"/>
              <a:t>모듈에서 제공하는 </a:t>
            </a:r>
            <a:r>
              <a:rPr lang="en-US" altLang="ko-KR" dirty="0" err="1"/>
              <a:t>StandardScaler</a:t>
            </a:r>
            <a:r>
              <a:rPr lang="en-US" altLang="ko-KR" dirty="0"/>
              <a:t> </a:t>
            </a:r>
            <a:r>
              <a:rPr lang="ko-KR" altLang="en-US" dirty="0"/>
              <a:t>클래스를 이용</a:t>
            </a:r>
          </a:p>
          <a:p>
            <a:pPr lvl="2"/>
            <a:r>
              <a:rPr lang="en-US" altLang="ko-KR" dirty="0"/>
              <a:t>min-max </a:t>
            </a:r>
            <a:r>
              <a:rPr lang="ko-KR" altLang="en-US" dirty="0"/>
              <a:t>방법에서는 변환 값이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사이로 </a:t>
            </a:r>
            <a:r>
              <a:rPr lang="ko-KR" altLang="en-US" dirty="0" smtClean="0"/>
              <a:t>한정 </a:t>
            </a:r>
            <a:r>
              <a:rPr lang="ko-KR" altLang="en-US" dirty="0"/>
              <a:t>되지만 이 방법은 그렇지 </a:t>
            </a:r>
            <a:r>
              <a:rPr lang="ko-KR" altLang="en-US" dirty="0" smtClean="0"/>
              <a:t>않음</a:t>
            </a:r>
            <a:endParaRPr lang="en-US" altLang="ko-KR" dirty="0" smtClean="0"/>
          </a:p>
          <a:p>
            <a:pPr lvl="2"/>
            <a:r>
              <a:rPr lang="ko-KR" altLang="en-US" dirty="0"/>
              <a:t>보통 </a:t>
            </a:r>
            <a:r>
              <a:rPr lang="ko-KR" altLang="en-US" dirty="0" err="1"/>
              <a:t>인공신경망</a:t>
            </a:r>
            <a:r>
              <a:rPr lang="ko-KR" altLang="en-US" dirty="0"/>
              <a:t> 학습 알고리즘들은 입력 값이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 </a:t>
            </a:r>
            <a:r>
              <a:rPr lang="ko-KR" altLang="en-US" dirty="0"/>
              <a:t>사이의 값일 것을 요구하는데</a:t>
            </a:r>
            <a:r>
              <a:rPr lang="en-US" altLang="ko-KR" dirty="0"/>
              <a:t>, </a:t>
            </a:r>
            <a:r>
              <a:rPr lang="ko-KR" altLang="en-US" dirty="0"/>
              <a:t>이러한 학습 알고리즘을 사용할 경우는 이 방법을 적용할 수 </a:t>
            </a:r>
            <a:r>
              <a:rPr lang="ko-KR" altLang="en-US" dirty="0" smtClean="0"/>
              <a:t>없음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반면에 </a:t>
            </a:r>
            <a:r>
              <a:rPr lang="en-US" altLang="ko-KR" dirty="0" smtClean="0"/>
              <a:t>min-max </a:t>
            </a:r>
            <a:r>
              <a:rPr lang="ko-KR" altLang="en-US" dirty="0"/>
              <a:t>방법은 </a:t>
            </a:r>
            <a:r>
              <a:rPr lang="ko-KR" altLang="en-US" dirty="0" err="1"/>
              <a:t>특이치에</a:t>
            </a:r>
            <a:r>
              <a:rPr lang="ko-KR" altLang="en-US" dirty="0"/>
              <a:t> 의해 그 결과가 완전히 다르게 나오지만 이 방법은 평균과 편차를 사용하기 때문에 </a:t>
            </a:r>
            <a:r>
              <a:rPr lang="ko-KR" altLang="en-US" dirty="0" err="1"/>
              <a:t>특이치에</a:t>
            </a:r>
            <a:r>
              <a:rPr lang="ko-KR" altLang="en-US" dirty="0"/>
              <a:t> 상대적으로 덜 민감</a:t>
            </a:r>
          </a:p>
          <a:p>
            <a:pPr lvl="2"/>
            <a:endParaRPr lang="ko-KR" altLang="en-US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58453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전처리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38200" y="2046104"/>
            <a:ext cx="961208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from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sklearn.preprocessing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import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StandardScaler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import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numpy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as 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np</a:t>
            </a:r>
          </a:p>
          <a:p>
            <a:pPr algn="just" fontAlgn="base">
              <a:lnSpc>
                <a:spcPct val="130000"/>
              </a:lnSpc>
            </a:pP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my_data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np.array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([10, 3, 56, 567, 30],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dtype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="float").reshape(-1, 1)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scaler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StandardScaler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(copy=True,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with_mean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=True,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with_std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=True)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scaler.fit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my_data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print("</a:t>
            </a:r>
            <a:r>
              <a:rPr lang="ko-KR" altLang="en-US" kern="0" dirty="0">
                <a:solidFill>
                  <a:srgbClr val="000000"/>
                </a:solidFill>
                <a:latin typeface="함초롬바탕"/>
                <a:ea typeface="함초롬바탕"/>
              </a:rPr>
              <a:t>평균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", " : ",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scaler.mean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_)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print("</a:t>
            </a:r>
            <a:r>
              <a:rPr lang="ko-KR" altLang="en-US" kern="0" dirty="0">
                <a:solidFill>
                  <a:srgbClr val="000000"/>
                </a:solidFill>
                <a:latin typeface="함초롬바탕"/>
                <a:ea typeface="함초롬바탕"/>
              </a:rPr>
              <a:t>편차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", " : ",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scaler.var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_)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scaled_my_data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scaler.transform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my_data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print(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scaled_my_data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</p:spTree>
    <p:extLst>
      <p:ext uri="{BB962C8B-B14F-4D97-AF65-F5344CB8AC3E}">
        <p14:creationId xmlns:p14="http://schemas.microsoft.com/office/powerpoint/2010/main" val="2001683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전처리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72942"/>
            <a:ext cx="10515600" cy="2714844"/>
          </a:xfrm>
        </p:spPr>
        <p:txBody>
          <a:bodyPr/>
          <a:lstStyle/>
          <a:p>
            <a:r>
              <a:rPr lang="ko-KR" altLang="en-US" dirty="0" smtClean="0"/>
              <a:t>정규화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특징 벡터의 </a:t>
            </a:r>
            <a:r>
              <a:rPr lang="en-US" altLang="ko-KR" dirty="0" smtClean="0"/>
              <a:t>norm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이 되도록 벡터 성분들의 값을 조정하는 기술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L1 </a:t>
            </a:r>
            <a:r>
              <a:rPr lang="ko-KR" altLang="en-US" dirty="0" smtClean="0"/>
              <a:t>정규화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특징 벡터 각 성분들의 절대값 합이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이 되도록</a:t>
            </a:r>
            <a:r>
              <a:rPr lang="en-US" altLang="ko-KR" dirty="0" smtClean="0"/>
              <a:t>, </a:t>
            </a:r>
            <a:r>
              <a:rPr lang="ko-KR" altLang="en-US" dirty="0" smtClean="0"/>
              <a:t>즉 특징 벡터의 </a:t>
            </a:r>
            <a:r>
              <a:rPr lang="en-US" altLang="ko-KR" dirty="0"/>
              <a:t>L1 norm</a:t>
            </a:r>
            <a:r>
              <a:rPr lang="ko-KR" altLang="en-US" dirty="0"/>
              <a:t>이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이</a:t>
            </a:r>
            <a:r>
              <a:rPr lang="en-US" altLang="ko-KR" dirty="0" smtClean="0"/>
              <a:t> </a:t>
            </a:r>
            <a:r>
              <a:rPr lang="ko-KR" altLang="en-US" dirty="0" smtClean="0"/>
              <a:t>되도록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L2 </a:t>
            </a:r>
            <a:r>
              <a:rPr lang="ko-KR" altLang="en-US" dirty="0"/>
              <a:t>정규화 </a:t>
            </a:r>
            <a:r>
              <a:rPr lang="en-US" altLang="ko-KR" dirty="0"/>
              <a:t>: </a:t>
            </a:r>
            <a:r>
              <a:rPr lang="ko-KR" altLang="en-US" dirty="0"/>
              <a:t>특징 벡터 각 성분들의 </a:t>
            </a:r>
            <a:r>
              <a:rPr lang="ko-KR" altLang="en-US" dirty="0" smtClean="0"/>
              <a:t>제곱 </a:t>
            </a:r>
            <a:r>
              <a:rPr lang="ko-KR" altLang="en-US" dirty="0"/>
              <a:t>합이 </a:t>
            </a:r>
            <a:r>
              <a:rPr lang="en-US" altLang="ko-KR" dirty="0"/>
              <a:t>1</a:t>
            </a:r>
            <a:r>
              <a:rPr lang="ko-KR" altLang="en-US" dirty="0"/>
              <a:t>이 되도록</a:t>
            </a:r>
            <a:r>
              <a:rPr lang="en-US" altLang="ko-KR" dirty="0"/>
              <a:t>, </a:t>
            </a:r>
            <a:r>
              <a:rPr lang="ko-KR" altLang="en-US" dirty="0"/>
              <a:t>즉 특징 벡터의 </a:t>
            </a:r>
            <a:r>
              <a:rPr lang="en-US" altLang="ko-KR" dirty="0" smtClean="0"/>
              <a:t>L2 </a:t>
            </a:r>
            <a:r>
              <a:rPr lang="en-US" altLang="ko-KR" dirty="0"/>
              <a:t>norm</a:t>
            </a:r>
            <a:r>
              <a:rPr lang="ko-KR" altLang="en-US" dirty="0"/>
              <a:t>이</a:t>
            </a:r>
            <a:r>
              <a:rPr lang="ko-KR" altLang="en-US" dirty="0" smtClean="0"/>
              <a:t>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이</a:t>
            </a:r>
            <a:r>
              <a:rPr lang="en-US" altLang="ko-KR" dirty="0" smtClean="0"/>
              <a:t> </a:t>
            </a:r>
            <a:r>
              <a:rPr lang="ko-KR" altLang="en-US" dirty="0" smtClean="0"/>
              <a:t>되도록 </a:t>
            </a:r>
            <a:endParaRPr lang="ko-KR" altLang="en-US" dirty="0"/>
          </a:p>
          <a:p>
            <a:pPr lvl="1"/>
            <a:r>
              <a:rPr lang="en-US" altLang="ko-KR" dirty="0" err="1" smtClean="0"/>
              <a:t>sklearn.preprocessing.normalize</a:t>
            </a:r>
            <a:r>
              <a:rPr lang="en-US" altLang="ko-KR" dirty="0" smtClean="0"/>
              <a:t> </a:t>
            </a:r>
            <a:r>
              <a:rPr lang="ko-KR" altLang="en-US" dirty="0" smtClean="0"/>
              <a:t>함수 이용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71752" y="5297103"/>
            <a:ext cx="981666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% Norm</a:t>
            </a:r>
            <a:r>
              <a:rPr lang="ko-KR" altLang="en-US" dirty="0"/>
              <a:t>은 벡터의 길이 혹은 크기를 측정하는 방법</a:t>
            </a:r>
            <a:r>
              <a:rPr lang="en-US" altLang="ko-KR" dirty="0"/>
              <a:t>(</a:t>
            </a:r>
            <a:r>
              <a:rPr lang="ko-KR" altLang="en-US" dirty="0"/>
              <a:t>함수</a:t>
            </a:r>
            <a:r>
              <a:rPr lang="en-US" altLang="ko-KR" dirty="0" smtClean="0"/>
              <a:t>)</a:t>
            </a:r>
            <a:r>
              <a:rPr lang="ko-KR" altLang="en-US" dirty="0" smtClean="0"/>
              <a:t>임</a:t>
            </a:r>
            <a:r>
              <a:rPr lang="en-US" altLang="ko-KR" dirty="0" smtClean="0"/>
              <a:t>. </a:t>
            </a:r>
            <a:r>
              <a:rPr lang="en-US" altLang="ko-KR" dirty="0"/>
              <a:t>P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이면 </a:t>
            </a:r>
            <a:r>
              <a:rPr lang="en-US" altLang="ko-KR" dirty="0"/>
              <a:t>L1 norm</a:t>
            </a:r>
            <a:r>
              <a:rPr lang="ko-KR" altLang="en-US" dirty="0"/>
              <a:t>이고</a:t>
            </a:r>
            <a:r>
              <a:rPr lang="en-US" altLang="ko-KR" dirty="0"/>
              <a:t>, p</a:t>
            </a:r>
            <a:r>
              <a:rPr lang="ko-KR" altLang="en-US" dirty="0"/>
              <a:t>가 </a:t>
            </a:r>
            <a:r>
              <a:rPr lang="en-US" altLang="ko-KR" dirty="0"/>
              <a:t>2</a:t>
            </a:r>
            <a:r>
              <a:rPr lang="ko-KR" altLang="en-US" dirty="0"/>
              <a:t>이면  </a:t>
            </a:r>
            <a:r>
              <a:rPr lang="en-US" altLang="ko-KR" dirty="0"/>
              <a:t>L2 norm</a:t>
            </a:r>
            <a:r>
              <a:rPr lang="ko-KR" altLang="en-US" dirty="0"/>
              <a:t> </a:t>
            </a:r>
            <a:r>
              <a:rPr lang="ko-KR" altLang="en-US" dirty="0" smtClean="0"/>
              <a:t>임</a:t>
            </a: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286" y="5991387"/>
            <a:ext cx="1790700" cy="819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71752" y="4469279"/>
            <a:ext cx="981666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% </a:t>
            </a:r>
            <a:r>
              <a:rPr lang="ko-KR" altLang="en-US" dirty="0" smtClean="0"/>
              <a:t>스케일링은 특징 벡터의 한 성분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즉 필드의 값의 범위를 재조정하는 것이고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정규화는 특징 벡터의 크기를 재조정하는 것임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3010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전처리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05" y="1430149"/>
            <a:ext cx="740952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import </a:t>
            </a:r>
            <a:r>
              <a:rPr lang="en-US" altLang="ko-KR" dirty="0" err="1"/>
              <a:t>numpy</a:t>
            </a:r>
            <a:r>
              <a:rPr lang="en-US" altLang="ko-KR" dirty="0"/>
              <a:t> as np</a:t>
            </a:r>
          </a:p>
          <a:p>
            <a:r>
              <a:rPr lang="en-US" altLang="ko-KR" dirty="0"/>
              <a:t>from </a:t>
            </a:r>
            <a:r>
              <a:rPr lang="en-US" altLang="ko-KR" dirty="0" err="1"/>
              <a:t>sklearn</a:t>
            </a:r>
            <a:r>
              <a:rPr lang="en-US" altLang="ko-KR" dirty="0"/>
              <a:t> import preprocessing</a:t>
            </a:r>
          </a:p>
          <a:p>
            <a:endParaRPr lang="en-US" altLang="ko-KR" dirty="0"/>
          </a:p>
          <a:p>
            <a:r>
              <a:rPr lang="en-US" altLang="ko-KR" dirty="0" err="1"/>
              <a:t>input_data</a:t>
            </a:r>
            <a:r>
              <a:rPr lang="en-US" altLang="ko-KR" dirty="0"/>
              <a:t> = </a:t>
            </a:r>
            <a:r>
              <a:rPr lang="en-US" altLang="ko-KR" dirty="0" err="1"/>
              <a:t>np.array</a:t>
            </a:r>
            <a:r>
              <a:rPr lang="en-US" altLang="ko-KR" dirty="0"/>
              <a:t>([[3.1, -1.6, 2.3], [-2.4, 6.5, -4.4], [3.5, 1.1, 2.0]])</a:t>
            </a:r>
          </a:p>
          <a:p>
            <a:r>
              <a:rPr lang="en-US" altLang="ko-KR" dirty="0" smtClean="0"/>
              <a:t>l1_normalized_data </a:t>
            </a:r>
            <a:r>
              <a:rPr lang="en-US" altLang="ko-KR" dirty="0"/>
              <a:t>= </a:t>
            </a:r>
            <a:r>
              <a:rPr lang="en-US" altLang="ko-KR" dirty="0" err="1"/>
              <a:t>preprocessing.normalize</a:t>
            </a:r>
            <a:r>
              <a:rPr lang="en-US" altLang="ko-KR" dirty="0"/>
              <a:t>(</a:t>
            </a:r>
            <a:r>
              <a:rPr lang="en-US" altLang="ko-KR" dirty="0" err="1"/>
              <a:t>input_data</a:t>
            </a:r>
            <a:r>
              <a:rPr lang="en-US" altLang="ko-KR" dirty="0"/>
              <a:t>, norm='l1')</a:t>
            </a:r>
          </a:p>
          <a:p>
            <a:r>
              <a:rPr lang="en-US" altLang="ko-KR" dirty="0"/>
              <a:t>l2_normalized_data = </a:t>
            </a:r>
            <a:r>
              <a:rPr lang="en-US" altLang="ko-KR" dirty="0" err="1"/>
              <a:t>preprocessing.normalize</a:t>
            </a:r>
            <a:r>
              <a:rPr lang="en-US" altLang="ko-KR" dirty="0"/>
              <a:t>(</a:t>
            </a:r>
            <a:r>
              <a:rPr lang="en-US" altLang="ko-KR" dirty="0" err="1"/>
              <a:t>input_data</a:t>
            </a:r>
            <a:r>
              <a:rPr lang="en-US" altLang="ko-KR" dirty="0"/>
              <a:t>, norm='l2')</a:t>
            </a:r>
          </a:p>
          <a:p>
            <a:endParaRPr lang="en-US" altLang="ko-KR" dirty="0"/>
          </a:p>
          <a:p>
            <a:r>
              <a:rPr lang="en-US" altLang="ko-KR" dirty="0"/>
              <a:t>print("L1 </a:t>
            </a:r>
            <a:r>
              <a:rPr lang="ko-KR" altLang="en-US" dirty="0"/>
              <a:t>정규화 데이터 </a:t>
            </a:r>
            <a:r>
              <a:rPr lang="en-US" altLang="ko-KR" dirty="0"/>
              <a:t>: \n", l1_normalized_data)</a:t>
            </a:r>
          </a:p>
          <a:p>
            <a:r>
              <a:rPr lang="en-US" altLang="ko-KR" dirty="0"/>
              <a:t>print("\nL2 </a:t>
            </a:r>
            <a:r>
              <a:rPr lang="ko-KR" altLang="en-US" dirty="0"/>
              <a:t>정규화 데이터 </a:t>
            </a:r>
            <a:r>
              <a:rPr lang="en-US" altLang="ko-KR" dirty="0"/>
              <a:t>: \n", l2_normalized_data)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552498" y="4112283"/>
            <a:ext cx="6096000" cy="258532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ko-KR" altLang="en-US" dirty="0"/>
              <a:t>L1 정규화 데이터 : </a:t>
            </a:r>
          </a:p>
          <a:p>
            <a:r>
              <a:rPr lang="ko-KR" altLang="en-US" dirty="0"/>
              <a:t> [[ 0.44285714 -0.22857143  0.32857143]</a:t>
            </a:r>
          </a:p>
          <a:p>
            <a:r>
              <a:rPr lang="ko-KR" altLang="en-US" dirty="0"/>
              <a:t> [-0.18045113  0.4887218  -0.33082707]</a:t>
            </a:r>
          </a:p>
          <a:p>
            <a:r>
              <a:rPr lang="ko-KR" altLang="en-US" dirty="0"/>
              <a:t> [ 0.53030303  0.16666667  0.3030303 ]]</a:t>
            </a:r>
          </a:p>
          <a:p>
            <a:endParaRPr lang="ko-KR" altLang="en-US" dirty="0"/>
          </a:p>
          <a:p>
            <a:r>
              <a:rPr lang="ko-KR" altLang="en-US" dirty="0"/>
              <a:t>L2 정규화 데이터 : </a:t>
            </a:r>
          </a:p>
          <a:p>
            <a:r>
              <a:rPr lang="ko-KR" altLang="en-US" dirty="0"/>
              <a:t> [[ 0.7418901  -0.38291102  0.55043459]</a:t>
            </a:r>
          </a:p>
          <a:p>
            <a:r>
              <a:rPr lang="ko-KR" altLang="en-US" dirty="0"/>
              <a:t> [-0.2924004   0.79191776 -0.53606741]</a:t>
            </a:r>
          </a:p>
          <a:p>
            <a:r>
              <a:rPr lang="ko-KR" altLang="en-US" dirty="0"/>
              <a:t> [ 0.83761785  0.26325132  0.47863877]]</a:t>
            </a:r>
          </a:p>
        </p:txBody>
      </p:sp>
    </p:spTree>
    <p:extLst>
      <p:ext uri="{BB962C8B-B14F-4D97-AF65-F5344CB8AC3E}">
        <p14:creationId xmlns:p14="http://schemas.microsoft.com/office/powerpoint/2010/main" val="2338339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smtClean="0"/>
              <a:t>전처리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카테고리 데이터 </a:t>
            </a:r>
            <a:r>
              <a:rPr lang="ko-KR" altLang="en-US" b="1" dirty="0" err="1"/>
              <a:t>인코딩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학습 </a:t>
            </a:r>
            <a:r>
              <a:rPr lang="ko-KR" altLang="en-US" dirty="0"/>
              <a:t>알고리즘들은 수치 데이터를 기반으로 하기 때문에 문자열 형태의 카테고리 데이터를 수치로 변환해 </a:t>
            </a:r>
            <a:r>
              <a:rPr lang="ko-KR" altLang="en-US" dirty="0" smtClean="0"/>
              <a:t>주어야 함</a:t>
            </a:r>
            <a:endParaRPr lang="en-US" altLang="ko-KR" dirty="0" smtClean="0"/>
          </a:p>
          <a:p>
            <a:pPr lvl="1"/>
            <a:r>
              <a:rPr lang="ko-KR" altLang="en-US" dirty="0"/>
              <a:t>가장 간단한 방법은 </a:t>
            </a:r>
            <a:r>
              <a:rPr lang="en-US" altLang="ko-KR" dirty="0" err="1"/>
              <a:t>sklearn.preprocessing</a:t>
            </a:r>
            <a:r>
              <a:rPr lang="en-US" altLang="ko-KR" dirty="0"/>
              <a:t> </a:t>
            </a:r>
            <a:r>
              <a:rPr lang="ko-KR" altLang="en-US" dirty="0"/>
              <a:t>모듈의 </a:t>
            </a:r>
            <a:r>
              <a:rPr lang="en-US" altLang="ko-KR" dirty="0" err="1"/>
              <a:t>LabelEncoder</a:t>
            </a:r>
            <a:r>
              <a:rPr lang="en-US" altLang="ko-KR" dirty="0"/>
              <a:t> </a:t>
            </a:r>
            <a:r>
              <a:rPr lang="ko-KR" altLang="en-US" dirty="0"/>
              <a:t>클래스를 이용</a:t>
            </a:r>
          </a:p>
          <a:p>
            <a:pPr lvl="2"/>
            <a:r>
              <a:rPr lang="en-US" altLang="ko-KR" dirty="0"/>
              <a:t>fit </a:t>
            </a:r>
            <a:r>
              <a:rPr lang="ko-KR" altLang="en-US" dirty="0"/>
              <a:t>메서드를 이용하여 주어진 데이터 내의 카테고리 값들을 대응되는 숫자로 매핑시키도록 학습</a:t>
            </a:r>
          </a:p>
          <a:p>
            <a:pPr lvl="2"/>
            <a:r>
              <a:rPr lang="en-US" altLang="ko-KR" dirty="0"/>
              <a:t>transform </a:t>
            </a:r>
            <a:r>
              <a:rPr lang="ko-KR" altLang="en-US" dirty="0"/>
              <a:t>메서드를 이용하여 </a:t>
            </a:r>
            <a:r>
              <a:rPr lang="ko-KR" altLang="en-US" dirty="0" smtClean="0"/>
              <a:t>학습된 </a:t>
            </a:r>
            <a:r>
              <a:rPr lang="ko-KR" altLang="en-US" dirty="0"/>
              <a:t>결과를 데이터에 적용</a:t>
            </a:r>
          </a:p>
          <a:p>
            <a:pPr lvl="2"/>
            <a:r>
              <a:rPr lang="en-US" altLang="ko-KR" dirty="0" err="1"/>
              <a:t>fit_transform</a:t>
            </a:r>
            <a:r>
              <a:rPr lang="en-US" altLang="ko-KR" dirty="0"/>
              <a:t> </a:t>
            </a:r>
            <a:r>
              <a:rPr lang="ko-KR" altLang="en-US" dirty="0"/>
              <a:t>메서드를 이용하여 한 번에 학습과 변환을 </a:t>
            </a:r>
            <a:r>
              <a:rPr lang="ko-KR" altLang="en-US" dirty="0" smtClean="0"/>
              <a:t>해도 됨</a:t>
            </a:r>
            <a:endParaRPr lang="en-US" altLang="ko-KR" dirty="0" smtClean="0"/>
          </a:p>
          <a:p>
            <a:pPr lvl="2"/>
            <a:r>
              <a:rPr lang="en-US" altLang="ko-KR" dirty="0" err="1"/>
              <a:t>inverse_transform</a:t>
            </a:r>
            <a:r>
              <a:rPr lang="en-US" altLang="ko-KR" dirty="0"/>
              <a:t> </a:t>
            </a:r>
            <a:r>
              <a:rPr lang="ko-KR" altLang="en-US" dirty="0"/>
              <a:t>메서드를 사용하여 숫자로 된 데이터를 역으로 카테고리 데이터로 변환할 수도 </a:t>
            </a:r>
            <a:r>
              <a:rPr lang="ko-KR" altLang="en-US" dirty="0" smtClean="0"/>
              <a:t>있음</a:t>
            </a:r>
            <a:endParaRPr lang="ko-KR" altLang="en-US" dirty="0"/>
          </a:p>
          <a:p>
            <a:pPr lvl="2"/>
            <a:endParaRPr lang="ko-KR" altLang="en-US" dirty="0"/>
          </a:p>
          <a:p>
            <a:pPr lvl="2"/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20756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전처리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38200" y="1921915"/>
            <a:ext cx="666618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from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sklearn.preprocessing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import 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LabelEncoder</a:t>
            </a:r>
            <a:endParaRPr lang="en-US" altLang="ko-KR" kern="0" dirty="0" smtClean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fontAlgn="base" latinLnBrk="0">
              <a:lnSpc>
                <a:spcPct val="130000"/>
              </a:lnSpc>
            </a:pP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fontAlgn="base" latinLnBrk="0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encoder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LabelEncoder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data = [“a”, “a”, “b”, “c”, “c”]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#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encoder.fit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(data)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#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encoded_data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encoder.transform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(data)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encoded_data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encoder.fit_transform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(data)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print("</a:t>
            </a:r>
            <a:r>
              <a:rPr lang="ko-KR" altLang="en-US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인코딩</a:t>
            </a:r>
            <a:r>
              <a:rPr lang="ko-KR" altLang="en-US" kern="0" dirty="0">
                <a:solidFill>
                  <a:srgbClr val="000000"/>
                </a:solidFill>
                <a:latin typeface="함초롬바탕"/>
                <a:ea typeface="함초롬바탕"/>
              </a:rPr>
              <a:t> 데이터 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: ",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encoded_data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labeled_data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encoder.inverse_transform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encoded_data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print("</a:t>
            </a:r>
            <a:r>
              <a:rPr lang="ko-KR" altLang="en-US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디코딩</a:t>
            </a:r>
            <a:r>
              <a:rPr lang="ko-KR" altLang="en-US" kern="0" dirty="0">
                <a:solidFill>
                  <a:srgbClr val="000000"/>
                </a:solidFill>
                <a:latin typeface="함초롬바탕"/>
                <a:ea typeface="함초롬바탕"/>
              </a:rPr>
              <a:t> 데이터 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: ",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labeled_data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75834" y="1321356"/>
            <a:ext cx="211949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LabelEncoder</a:t>
            </a:r>
            <a:r>
              <a:rPr lang="en-US" altLang="ko-KR" dirty="0" smtClean="0"/>
              <a:t> </a:t>
            </a:r>
            <a:r>
              <a:rPr lang="ko-KR" altLang="en-US" dirty="0" smtClean="0"/>
              <a:t>예제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7359869" y="3284511"/>
            <a:ext cx="3993931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 err="1"/>
              <a:t>인코딩</a:t>
            </a:r>
            <a:r>
              <a:rPr lang="ko-KR" altLang="en-US" dirty="0"/>
              <a:t> 데이터 :  [0 0 1 2 2]</a:t>
            </a:r>
          </a:p>
          <a:p>
            <a:r>
              <a:rPr lang="ko-KR" altLang="en-US" dirty="0" err="1"/>
              <a:t>디코딩</a:t>
            </a:r>
            <a:r>
              <a:rPr lang="ko-KR" altLang="en-US" dirty="0"/>
              <a:t> 데이터 :  ['</a:t>
            </a:r>
            <a:r>
              <a:rPr lang="ko-KR" altLang="en-US" dirty="0" err="1"/>
              <a:t>a</a:t>
            </a:r>
            <a:r>
              <a:rPr lang="ko-KR" altLang="en-US" dirty="0"/>
              <a:t>' '</a:t>
            </a:r>
            <a:r>
              <a:rPr lang="ko-KR" altLang="en-US" dirty="0" err="1"/>
              <a:t>a</a:t>
            </a:r>
            <a:r>
              <a:rPr lang="ko-KR" altLang="en-US" dirty="0"/>
              <a:t>' '</a:t>
            </a:r>
            <a:r>
              <a:rPr lang="ko-KR" altLang="en-US" dirty="0" err="1"/>
              <a:t>b</a:t>
            </a:r>
            <a:r>
              <a:rPr lang="ko-KR" altLang="en-US" dirty="0"/>
              <a:t>' 'c' 'c']</a:t>
            </a:r>
          </a:p>
        </p:txBody>
      </p:sp>
    </p:spTree>
    <p:extLst>
      <p:ext uri="{BB962C8B-B14F-4D97-AF65-F5344CB8AC3E}">
        <p14:creationId xmlns:p14="http://schemas.microsoft.com/office/powerpoint/2010/main" val="23901761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전처리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카테고리 데이터 </a:t>
            </a:r>
            <a:r>
              <a:rPr lang="ko-KR" altLang="en-US" b="1" dirty="0" err="1" smtClean="0"/>
              <a:t>인코딩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계속</a:t>
            </a:r>
            <a:r>
              <a:rPr lang="en-US" altLang="ko-KR" b="1" dirty="0" smtClean="0"/>
              <a:t>)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LabelEncoder</a:t>
            </a:r>
            <a:r>
              <a:rPr lang="ko-KR" altLang="en-US" dirty="0"/>
              <a:t>처럼 카테고리 값을 숫자로 변환하면 숫자의 특성 상 값들 사이에 거리 개념이 존재하게 되어 원 데이터의 의미가 일부 손실되는 경우도 </a:t>
            </a:r>
            <a:r>
              <a:rPr lang="ko-KR" altLang="en-US" dirty="0" smtClean="0"/>
              <a:t>있음</a:t>
            </a:r>
            <a:endParaRPr lang="ko-KR" altLang="en-US" dirty="0"/>
          </a:p>
          <a:p>
            <a:pPr lvl="1"/>
            <a:r>
              <a:rPr lang="ko-KR" altLang="en-US" dirty="0"/>
              <a:t>거리가 없는 형태로 수치 데이터로 바꿀 경우는 </a:t>
            </a:r>
            <a:r>
              <a:rPr lang="en-US" altLang="ko-KR" dirty="0" err="1"/>
              <a:t>OneHotEncoder</a:t>
            </a:r>
            <a:r>
              <a:rPr lang="en-US" altLang="ko-KR" dirty="0"/>
              <a:t> </a:t>
            </a:r>
            <a:r>
              <a:rPr lang="ko-KR" altLang="en-US" dirty="0"/>
              <a:t>클래스를 이용</a:t>
            </a:r>
          </a:p>
          <a:p>
            <a:pPr lvl="2"/>
            <a:r>
              <a:rPr lang="ko-KR" altLang="en-US" dirty="0"/>
              <a:t>각 카테고리 값을 단위 벡터</a:t>
            </a:r>
            <a:r>
              <a:rPr lang="en-US" altLang="ko-KR" dirty="0"/>
              <a:t>, </a:t>
            </a:r>
            <a:r>
              <a:rPr lang="ko-KR" altLang="en-US" dirty="0"/>
              <a:t>즉 하나만 </a:t>
            </a:r>
            <a:r>
              <a:rPr lang="en-US" altLang="ko-KR" dirty="0"/>
              <a:t>1</a:t>
            </a:r>
            <a:r>
              <a:rPr lang="ko-KR" altLang="en-US" dirty="0"/>
              <a:t>이고 나머지는 </a:t>
            </a:r>
            <a:r>
              <a:rPr lang="en-US" altLang="ko-KR" dirty="0"/>
              <a:t>0</a:t>
            </a:r>
            <a:r>
              <a:rPr lang="ko-KR" altLang="en-US" dirty="0"/>
              <a:t>인 형태로 변환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06254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전처리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920835" y="1775904"/>
            <a:ext cx="8643580" cy="333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import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sklearn.preprocessing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as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prp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import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numpy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as 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np</a:t>
            </a:r>
          </a:p>
          <a:p>
            <a:pPr algn="just" fontAlgn="base">
              <a:lnSpc>
                <a:spcPct val="130000"/>
              </a:lnSpc>
            </a:pP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encoder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prp.LabelEncoder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data = ["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a","a","b","c","c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"]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encoded_data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encoder.fit_transform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(data)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encoder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prp.OneHotEncoder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onehot_encoded_data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encoder.fit_transform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encoded_data.reshape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(-1,1))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print(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onehot_encoded_data.toarray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())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75834" y="1321356"/>
            <a:ext cx="239039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OneHotEncoder</a:t>
            </a:r>
            <a:r>
              <a:rPr lang="en-US" altLang="ko-KR" dirty="0" smtClean="0"/>
              <a:t> </a:t>
            </a:r>
            <a:r>
              <a:rPr lang="ko-KR" altLang="en-US" dirty="0" smtClean="0"/>
              <a:t>예제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9690537" y="2396046"/>
            <a:ext cx="1334814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[[1. 0. 0.]</a:t>
            </a:r>
          </a:p>
          <a:p>
            <a:r>
              <a:rPr lang="ko-KR" altLang="en-US" dirty="0"/>
              <a:t> [1. 0. 0.]</a:t>
            </a:r>
          </a:p>
          <a:p>
            <a:r>
              <a:rPr lang="ko-KR" altLang="en-US" dirty="0"/>
              <a:t> [0. 1. 0.]</a:t>
            </a:r>
          </a:p>
          <a:p>
            <a:r>
              <a:rPr lang="ko-KR" altLang="en-US" dirty="0"/>
              <a:t> [0. 0. 1.]</a:t>
            </a:r>
          </a:p>
          <a:p>
            <a:r>
              <a:rPr lang="ko-KR" altLang="en-US" dirty="0"/>
              <a:t> [0. 0. 1.]]</a:t>
            </a:r>
          </a:p>
        </p:txBody>
      </p:sp>
    </p:spTree>
    <p:extLst>
      <p:ext uri="{BB962C8B-B14F-4D97-AF65-F5344CB8AC3E}">
        <p14:creationId xmlns:p14="http://schemas.microsoft.com/office/powerpoint/2010/main" val="125091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5975</TotalTime>
  <Words>2483</Words>
  <Application>Microsoft Office PowerPoint</Application>
  <PresentationFormat>와이드스크린</PresentationFormat>
  <Paragraphs>293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굴림체</vt:lpstr>
      <vt:lpstr>맑은 고딕</vt:lpstr>
      <vt:lpstr>함초롬바탕</vt:lpstr>
      <vt:lpstr>Arial</vt:lpstr>
      <vt:lpstr>Office 테마</vt:lpstr>
      <vt:lpstr>머신 러닝 데이터 전처리</vt:lpstr>
      <vt:lpstr>데이터의 입력 필드와 출력 필드 분리</vt:lpstr>
      <vt:lpstr>데이터의 입력 필드와 출력 필드 분리</vt:lpstr>
      <vt:lpstr>데이터의 입력 필드와 출력 필드 분리</vt:lpstr>
      <vt:lpstr>데이터의 입력 필드와 출력 필드 분리</vt:lpstr>
      <vt:lpstr>데이터의 입력 필드와 출력 필드 분리</vt:lpstr>
      <vt:lpstr>데이터의 입력 필드와 출력 필드 분리</vt:lpstr>
      <vt:lpstr>PowerPoint 프레젠테이션</vt:lpstr>
      <vt:lpstr>데이터의 입력 필드와 출력 필드 분리</vt:lpstr>
      <vt:lpstr>학습 데이터와 테스트 데이터 분리하기</vt:lpstr>
      <vt:lpstr>학습 데이터와 테스트 데이터 분리하기</vt:lpstr>
      <vt:lpstr>학습 데이터와 테스트 데이터 분리하기</vt:lpstr>
      <vt:lpstr>데이터 정제하기</vt:lpstr>
      <vt:lpstr>데이터 정제하기</vt:lpstr>
      <vt:lpstr>데이터 정제하기</vt:lpstr>
      <vt:lpstr>데이터 정제하기</vt:lpstr>
      <vt:lpstr>데이터 정제하기</vt:lpstr>
      <vt:lpstr>데이터 전처리</vt:lpstr>
      <vt:lpstr>데이터 전처리 </vt:lpstr>
      <vt:lpstr>데이터 전처리</vt:lpstr>
      <vt:lpstr>데이터 전처리</vt:lpstr>
      <vt:lpstr>데이터 전처리</vt:lpstr>
      <vt:lpstr>데이터 전처리</vt:lpstr>
      <vt:lpstr>데이터 전처리</vt:lpstr>
      <vt:lpstr>데이터 전처리</vt:lpstr>
      <vt:lpstr>데이터 전처리</vt:lpstr>
      <vt:lpstr>데이터 전처리</vt:lpstr>
      <vt:lpstr>데이터 전처리</vt:lpstr>
      <vt:lpstr>데이터 전처리</vt:lpstr>
      <vt:lpstr>데이터 전처리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머신 러닝 기본</dc:title>
  <dc:creator>user</dc:creator>
  <cp:lastModifiedBy>user</cp:lastModifiedBy>
  <cp:revision>96</cp:revision>
  <dcterms:created xsi:type="dcterms:W3CDTF">2019-01-30T04:26:24Z</dcterms:created>
  <dcterms:modified xsi:type="dcterms:W3CDTF">2021-02-23T01:50:52Z</dcterms:modified>
</cp:coreProperties>
</file>