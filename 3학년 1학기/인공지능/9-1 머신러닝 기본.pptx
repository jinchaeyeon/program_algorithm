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0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0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73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12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70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69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263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3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9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1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7D0CA-E856-46E4-BF29-6F061B86C0C8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66C19-58E4-4406-8BC8-E5C715A5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5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머신 러닝 기본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86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머신 러닝 </a:t>
            </a:r>
            <a:r>
              <a:rPr lang="en-US" altLang="ko-KR" dirty="0" smtClean="0"/>
              <a:t>( machine</a:t>
            </a:r>
            <a:r>
              <a:rPr lang="ko-KR" altLang="en-US" dirty="0" smtClean="0"/>
              <a:t> </a:t>
            </a:r>
            <a:r>
              <a:rPr lang="en-US" altLang="ko-KR" dirty="0" smtClean="0"/>
              <a:t>learning)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940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1959</a:t>
            </a:r>
            <a:r>
              <a:rPr lang="ko-KR" altLang="en-US" dirty="0"/>
              <a:t>년 아서 사무엘 </a:t>
            </a:r>
            <a:r>
              <a:rPr lang="en-US" altLang="ko-KR" dirty="0"/>
              <a:t>(Arthur Samuel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"</a:t>
            </a:r>
            <a:r>
              <a:rPr lang="ko-KR" altLang="en-US" dirty="0" smtClean="0"/>
              <a:t>일일이 코드로 명시하지 않아도 데이터로부터 학습하여 실행할 수 있도록 하는 알고리즘을 개발하는 연구 분야</a:t>
            </a:r>
            <a:r>
              <a:rPr lang="en-US" altLang="ko-KR" dirty="0" smtClean="0"/>
              <a:t>“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Ex : </a:t>
            </a:r>
            <a:r>
              <a:rPr lang="ko-KR" altLang="en-US" dirty="0" smtClean="0"/>
              <a:t>스팸</a:t>
            </a:r>
            <a:r>
              <a:rPr lang="en-US" altLang="ko-KR" dirty="0" smtClean="0"/>
              <a:t> </a:t>
            </a:r>
            <a:r>
              <a:rPr lang="ko-KR" altLang="en-US" dirty="0" smtClean="0"/>
              <a:t>메일 판별 프로그램</a:t>
            </a:r>
            <a:endParaRPr lang="en-US" altLang="ko-KR" dirty="0" smtClean="0"/>
          </a:p>
          <a:p>
            <a:pPr lvl="1"/>
            <a:r>
              <a:rPr lang="ko-KR" altLang="en-US" dirty="0"/>
              <a:t>프로그래머가 스팸 메일과 </a:t>
            </a:r>
            <a:r>
              <a:rPr lang="ko-KR" altLang="en-US" dirty="0" err="1"/>
              <a:t>비스팸</a:t>
            </a:r>
            <a:r>
              <a:rPr lang="ko-KR" altLang="en-US" dirty="0"/>
              <a:t> 메일을 구별할 수 있는 코드를 </a:t>
            </a:r>
            <a:r>
              <a:rPr lang="ko-KR" altLang="en-US" dirty="0" smtClean="0"/>
              <a:t>작성 않음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/>
              <a:t>스팸 메일들과 그렇지 않은 메일들을 제시해 주면</a:t>
            </a:r>
            <a:r>
              <a:rPr lang="en-US" altLang="ko-KR" dirty="0"/>
              <a:t>, </a:t>
            </a:r>
            <a:r>
              <a:rPr lang="ko-KR" altLang="en-US" dirty="0"/>
              <a:t>머신 러닝 기법을 사용하여 판별 규칙을 </a:t>
            </a:r>
            <a:r>
              <a:rPr lang="ko-KR" altLang="en-US" dirty="0" smtClean="0"/>
              <a:t>학습</a:t>
            </a:r>
            <a:r>
              <a:rPr lang="en-US" altLang="ko-KR" dirty="0" smtClean="0"/>
              <a:t>. </a:t>
            </a:r>
            <a:r>
              <a:rPr lang="ko-KR" altLang="en-US" dirty="0"/>
              <a:t>이 학습된 규칙을 이용하여 새로운 메일의 스팸 여부를 판단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682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머신 러닝과 학습 </a:t>
            </a:r>
            <a:r>
              <a:rPr lang="ko-KR" altLang="en-US" b="1" dirty="0" smtClean="0"/>
              <a:t>데이터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8966"/>
          </a:xfrm>
        </p:spPr>
        <p:txBody>
          <a:bodyPr/>
          <a:lstStyle/>
          <a:p>
            <a:r>
              <a:rPr lang="ko-KR" altLang="en-US" b="1" dirty="0"/>
              <a:t>학습 데이터</a:t>
            </a:r>
            <a:endParaRPr lang="ko-KR" altLang="en-US" dirty="0"/>
          </a:p>
          <a:p>
            <a:pPr lvl="1"/>
            <a:r>
              <a:rPr lang="ko-KR" altLang="en-US" dirty="0"/>
              <a:t>머신 러닝의 핵심은 주어진 예로부터 일반적인 규칙이나 패턴을 학습할 수 있는 일반화 </a:t>
            </a:r>
            <a:r>
              <a:rPr lang="en-US" altLang="ko-KR" dirty="0"/>
              <a:t>(generalization) </a:t>
            </a:r>
            <a:r>
              <a:rPr lang="ko-KR" altLang="en-US" dirty="0"/>
              <a:t>능력</a:t>
            </a:r>
          </a:p>
          <a:p>
            <a:pPr lvl="1"/>
            <a:r>
              <a:rPr lang="ko-KR" altLang="en-US" dirty="0"/>
              <a:t>일반화 능력은 학습용으로 주어진 데이터에 많은 영향을 </a:t>
            </a:r>
            <a:r>
              <a:rPr lang="ko-KR" altLang="en-US" dirty="0" smtClean="0"/>
              <a:t>받음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99768"/>
              </p:ext>
            </p:extLst>
          </p:nvPr>
        </p:nvGraphicFramePr>
        <p:xfrm>
          <a:off x="1515197" y="3739528"/>
          <a:ext cx="4859097" cy="2489040"/>
        </p:xfrm>
        <a:graphic>
          <a:graphicData uri="http://schemas.openxmlformats.org/drawingml/2006/table">
            <a:tbl>
              <a:tblPr/>
              <a:tblGrid>
                <a:gridCol w="1620029">
                  <a:extLst>
                    <a:ext uri="{9D8B030D-6E8A-4147-A177-3AD203B41FA5}">
                      <a16:colId xmlns:a16="http://schemas.microsoft.com/office/drawing/2014/main" val="2991721153"/>
                    </a:ext>
                  </a:extLst>
                </a:gridCol>
                <a:gridCol w="1620029">
                  <a:extLst>
                    <a:ext uri="{9D8B030D-6E8A-4147-A177-3AD203B41FA5}">
                      <a16:colId xmlns:a16="http://schemas.microsoft.com/office/drawing/2014/main" val="1965888418"/>
                    </a:ext>
                  </a:extLst>
                </a:gridCol>
                <a:gridCol w="1619039">
                  <a:extLst>
                    <a:ext uri="{9D8B030D-6E8A-4147-A177-3AD203B41FA5}">
                      <a16:colId xmlns:a16="http://schemas.microsoft.com/office/drawing/2014/main" val="2631621658"/>
                    </a:ext>
                  </a:extLst>
                </a:gridCol>
              </a:tblGrid>
              <a:tr h="49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b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불량여부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174870"/>
                  </a:ext>
                </a:extLst>
              </a:tr>
              <a:tr h="49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-3.1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4.5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533366"/>
                  </a:ext>
                </a:extLst>
              </a:tr>
              <a:tr h="49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-1.0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2.0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510100"/>
                  </a:ext>
                </a:extLst>
              </a:tr>
              <a:tr h="49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3.5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1.0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정상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943606"/>
                  </a:ext>
                </a:extLst>
              </a:tr>
              <a:tr h="49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2.1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3.2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정상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2565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82678" y="3739528"/>
            <a:ext cx="215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어떤 규칙이 존재 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50004" y="4799382"/>
            <a:ext cx="208422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가 음수이면 </a:t>
            </a:r>
            <a:r>
              <a:rPr lang="ko-KR" altLang="en-US" dirty="0" smtClean="0"/>
              <a:t>불량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8292116" y="4214191"/>
            <a:ext cx="0" cy="450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39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머신 러닝과 학습 데이터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308044"/>
              </p:ext>
            </p:extLst>
          </p:nvPr>
        </p:nvGraphicFramePr>
        <p:xfrm>
          <a:off x="1461053" y="1823781"/>
          <a:ext cx="5853011" cy="3323082"/>
        </p:xfrm>
        <a:graphic>
          <a:graphicData uri="http://schemas.openxmlformats.org/drawingml/2006/table">
            <a:tbl>
              <a:tblPr/>
              <a:tblGrid>
                <a:gridCol w="1951401">
                  <a:extLst>
                    <a:ext uri="{9D8B030D-6E8A-4147-A177-3AD203B41FA5}">
                      <a16:colId xmlns:a16="http://schemas.microsoft.com/office/drawing/2014/main" val="822617877"/>
                    </a:ext>
                  </a:extLst>
                </a:gridCol>
                <a:gridCol w="1951401">
                  <a:extLst>
                    <a:ext uri="{9D8B030D-6E8A-4147-A177-3AD203B41FA5}">
                      <a16:colId xmlns:a16="http://schemas.microsoft.com/office/drawing/2014/main" val="1968558164"/>
                    </a:ext>
                  </a:extLst>
                </a:gridCol>
                <a:gridCol w="1950209">
                  <a:extLst>
                    <a:ext uri="{9D8B030D-6E8A-4147-A177-3AD203B41FA5}">
                      <a16:colId xmlns:a16="http://schemas.microsoft.com/office/drawing/2014/main" val="1706928163"/>
                    </a:ext>
                  </a:extLst>
                </a:gridCol>
              </a:tblGrid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b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불량여부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53327"/>
                  </a:ext>
                </a:extLst>
              </a:tr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-3.1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4.5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361705"/>
                  </a:ext>
                </a:extLst>
              </a:tr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-1.0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2.0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339640"/>
                  </a:ext>
                </a:extLst>
              </a:tr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5.4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-1.6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42875"/>
                  </a:ext>
                </a:extLst>
              </a:tr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-6.7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불량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745064"/>
                  </a:ext>
                </a:extLst>
              </a:tr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3.5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1.0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정상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670362"/>
                  </a:ext>
                </a:extLst>
              </a:tr>
              <a:tr h="4104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2.1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3.2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정상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787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488" y="2043861"/>
            <a:ext cx="2940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노란색 부분이 추가된다면 어떤 규칙이 존재 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40487" y="3617843"/>
            <a:ext cx="33906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ko-KR" altLang="en-US" dirty="0"/>
              <a:t>나 </a:t>
            </a:r>
            <a:r>
              <a:rPr lang="en-US" altLang="ko-KR" dirty="0"/>
              <a:t>b </a:t>
            </a:r>
            <a:r>
              <a:rPr lang="ko-KR" altLang="en-US" dirty="0"/>
              <a:t>중 하나가 음수이면 </a:t>
            </a:r>
            <a:r>
              <a:rPr lang="ko-KR" altLang="en-US" dirty="0" smtClean="0"/>
              <a:t>불량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8722279" y="2822713"/>
            <a:ext cx="0" cy="662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5279384"/>
            <a:ext cx="10515600" cy="1578616"/>
          </a:xfrm>
        </p:spPr>
        <p:txBody>
          <a:bodyPr>
            <a:normAutofit/>
          </a:bodyPr>
          <a:lstStyle/>
          <a:p>
            <a:pPr lvl="1" fontAlgn="base"/>
            <a:r>
              <a:rPr lang="ko-KR" altLang="en-US" dirty="0"/>
              <a:t>머신 러닝에서는 사용되는 학습 데이터가 전체 데이터를 대표하지 못하면 학습을 통해 </a:t>
            </a:r>
            <a:r>
              <a:rPr lang="ko-KR" altLang="en-US" dirty="0" smtClean="0"/>
              <a:t>얻은 </a:t>
            </a:r>
            <a:r>
              <a:rPr lang="ko-KR" altLang="en-US" dirty="0"/>
              <a:t>결과는 편향될 수밖에 </a:t>
            </a:r>
            <a:r>
              <a:rPr lang="ko-KR" altLang="en-US" dirty="0" smtClean="0"/>
              <a:t>없음</a:t>
            </a:r>
            <a:endParaRPr lang="en-US" altLang="ko-KR" dirty="0" smtClean="0"/>
          </a:p>
          <a:p>
            <a:pPr lvl="1" fontAlgn="base"/>
            <a:r>
              <a:rPr lang="ko-KR" altLang="en-US" dirty="0"/>
              <a:t>학습 데이터는 </a:t>
            </a:r>
            <a:r>
              <a:rPr lang="ko-KR" altLang="en-US" dirty="0" err="1"/>
              <a:t>머신러닝에</a:t>
            </a:r>
            <a:r>
              <a:rPr lang="ko-KR" altLang="en-US" dirty="0"/>
              <a:t> 있어 아주 중요한 역할을 하기 때문에 머신 러닝 적용에 앞서 적절한 학습 데이터 확보를 위해 </a:t>
            </a:r>
            <a:r>
              <a:rPr lang="ko-KR" altLang="en-US" dirty="0" smtClean="0"/>
              <a:t>노력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619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머신 러닝과 학습 데이터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ko-KR" altLang="en-US" dirty="0"/>
              <a:t>현장에서 획득한 데이터들에는 오류나 잡음 심지어 </a:t>
            </a:r>
            <a:r>
              <a:rPr lang="ko-KR" altLang="en-US" dirty="0" err="1" smtClean="0"/>
              <a:t>특이값</a:t>
            </a:r>
            <a:r>
              <a:rPr lang="en-US" altLang="ko-KR" dirty="0" smtClean="0"/>
              <a:t> </a:t>
            </a:r>
            <a:r>
              <a:rPr lang="ko-KR" altLang="en-US" dirty="0" smtClean="0"/>
              <a:t>포함</a:t>
            </a:r>
            <a:r>
              <a:rPr lang="en-US" altLang="ko-KR" dirty="0" smtClean="0"/>
              <a:t> </a:t>
            </a:r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데이터에 </a:t>
            </a:r>
            <a:r>
              <a:rPr lang="ko-KR" altLang="en-US" dirty="0"/>
              <a:t>내재되어 있는 패턴이나 규칙이 </a:t>
            </a:r>
            <a:r>
              <a:rPr lang="ko-KR" altLang="en-US" dirty="0" smtClean="0"/>
              <a:t>학습되지 </a:t>
            </a:r>
            <a:r>
              <a:rPr lang="ko-KR" altLang="en-US" dirty="0"/>
              <a:t>않을 수 </a:t>
            </a:r>
            <a:r>
              <a:rPr lang="ko-KR" altLang="en-US" dirty="0" smtClean="0"/>
              <a:t>있음 </a:t>
            </a:r>
            <a:endParaRPr lang="en-US" altLang="ko-KR" dirty="0" smtClean="0"/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 dirty="0" smtClean="0"/>
              <a:t>일련의 </a:t>
            </a:r>
            <a:r>
              <a:rPr lang="ko-KR" altLang="en-US" dirty="0"/>
              <a:t>데이터 정제 과정을 거쳐야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 smtClean="0"/>
          </a:p>
          <a:p>
            <a:pPr lvl="1"/>
            <a:r>
              <a:rPr lang="ko-KR" altLang="en-US" dirty="0"/>
              <a:t>대부분의 학습 알고리즘들은 제대로 동작하기 위해서 많은 학습 데이터들을 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pPr lvl="1"/>
            <a:endParaRPr lang="ko-KR" altLang="en-US" dirty="0"/>
          </a:p>
          <a:p>
            <a:pPr lvl="1"/>
            <a:r>
              <a:rPr lang="ko-KR" altLang="en-US" dirty="0"/>
              <a:t>학습 알고리즘에 따라 성능이 달라지기도 하지만 학습 데이터의 크기에 따라 성능이 많이 달라질 수 </a:t>
            </a:r>
            <a:r>
              <a:rPr lang="ko-KR" altLang="en-US" dirty="0" smtClean="0"/>
              <a:t>있음 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학습 </a:t>
            </a:r>
            <a:r>
              <a:rPr lang="ko-KR" altLang="en-US" dirty="0"/>
              <a:t>알고리즘 선택과 더불어 학습 데이터 확보에도 많은 </a:t>
            </a:r>
            <a:r>
              <a:rPr lang="ko-KR" altLang="en-US" dirty="0" smtClean="0"/>
              <a:t>노력 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36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데이터와 학습 </a:t>
            </a:r>
            <a:r>
              <a:rPr lang="ko-KR" altLang="en-US" b="1" dirty="0" smtClean="0"/>
              <a:t>알고리즘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052512"/>
          </a:xfrm>
        </p:spPr>
        <p:txBody>
          <a:bodyPr/>
          <a:lstStyle/>
          <a:p>
            <a:r>
              <a:rPr lang="ko-KR" altLang="en-US" dirty="0"/>
              <a:t>같은 학습 데이터가 주어지더라도 학습 방법에 따라 그 결과가 달라질 수가 </a:t>
            </a:r>
            <a:r>
              <a:rPr lang="ko-KR" altLang="en-US" dirty="0" smtClean="0"/>
              <a:t>있음</a:t>
            </a:r>
            <a:endParaRPr lang="ko-KR" altLang="en-US" dirty="0"/>
          </a:p>
        </p:txBody>
      </p:sp>
      <p:pic>
        <p:nvPicPr>
          <p:cNvPr id="3073" name="_x86617008" descr="EMB00001e68224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26" y="2740539"/>
            <a:ext cx="4477481" cy="324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956169" y="3127512"/>
            <a:ext cx="579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두 종류의 데이터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녹색과 파란색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분리하는 선형식을 찾는다면 </a:t>
            </a:r>
            <a:r>
              <a:rPr lang="en-US" altLang="ko-KR" dirty="0" smtClean="0"/>
              <a:t>? No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56168" y="4180024"/>
            <a:ext cx="5931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두 종류의 데이터를 분리하는 다항식 </a:t>
            </a:r>
            <a:r>
              <a:rPr lang="en-US" altLang="ko-KR" dirty="0" smtClean="0"/>
              <a:t>(</a:t>
            </a:r>
            <a:r>
              <a:rPr lang="ko-KR" altLang="en-US" dirty="0" smtClean="0"/>
              <a:t>빨간색 </a:t>
            </a:r>
            <a:r>
              <a:rPr lang="ko-KR" altLang="en-US" dirty="0" err="1" smtClean="0"/>
              <a:t>이차식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찾는다면 </a:t>
            </a:r>
            <a:r>
              <a:rPr lang="en-US" altLang="ko-KR" dirty="0" smtClean="0"/>
              <a:t>? Yes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50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데이터와 학습 알고리즘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 데이터의 특성을 잘 알고 있다면 그에 맞는 학습 알고리즘을 선택해서 학습하면 </a:t>
            </a:r>
            <a:r>
              <a:rPr lang="ko-KR" altLang="en-US" dirty="0" smtClean="0"/>
              <a:t>좋지만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많은 경우 그 데이터의 특성을 알 수 없는 경우가 </a:t>
            </a:r>
            <a:r>
              <a:rPr lang="ko-KR" altLang="en-US" dirty="0" smtClean="0"/>
              <a:t>많음</a:t>
            </a:r>
            <a:endParaRPr lang="en-US" altLang="ko-KR" dirty="0" smtClean="0"/>
          </a:p>
          <a:p>
            <a:r>
              <a:rPr lang="ko-KR" altLang="en-US" dirty="0"/>
              <a:t>이런 경우는 다양한 학습 알고리즘을 적용하면서 성능이 좋은 것을 선택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97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기존 알고리즘과 학습 </a:t>
            </a:r>
            <a:r>
              <a:rPr lang="ko-KR" altLang="en-US" b="1" dirty="0" smtClean="0"/>
              <a:t>알고리즘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45227"/>
          </a:xfrm>
        </p:spPr>
        <p:txBody>
          <a:bodyPr/>
          <a:lstStyle/>
          <a:p>
            <a:r>
              <a:rPr lang="ko-KR" altLang="en-US" dirty="0" smtClean="0"/>
              <a:t>기존 알고리즘</a:t>
            </a:r>
            <a:endParaRPr lang="en-US" altLang="ko-KR" dirty="0" smtClean="0"/>
          </a:p>
          <a:p>
            <a:pPr lvl="1"/>
            <a:r>
              <a:rPr lang="ko-KR" altLang="en-US" dirty="0"/>
              <a:t>데이터 분석가가 </a:t>
            </a:r>
            <a:r>
              <a:rPr lang="ko-KR" altLang="en-US" dirty="0" smtClean="0"/>
              <a:t>데이터를 </a:t>
            </a:r>
            <a:r>
              <a:rPr lang="ko-KR" altLang="en-US" dirty="0"/>
              <a:t>분석하여 그 </a:t>
            </a:r>
            <a:r>
              <a:rPr lang="ko-KR" altLang="en-US" dirty="0" smtClean="0"/>
              <a:t>규칙을 파악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프로그래머가 규칙을 코딩</a:t>
            </a:r>
            <a:endParaRPr lang="ko-KR" altLang="en-US" dirty="0"/>
          </a:p>
          <a:p>
            <a:pPr lvl="1"/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ko-KR" altLang="en-US" dirty="0"/>
              <a:t>“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 </a:t>
            </a:r>
            <a:r>
              <a:rPr lang="ko-KR" altLang="en-US" dirty="0"/>
              <a:t>모두가 양수인 경우만 </a:t>
            </a:r>
            <a:r>
              <a:rPr lang="ko-KR" altLang="en-US" dirty="0" smtClean="0"/>
              <a:t>정상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그렇지 않은 경우는 </a:t>
            </a:r>
            <a:r>
              <a:rPr lang="ko-KR" altLang="en-US" dirty="0" smtClean="0"/>
              <a:t>불량”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563757" y="3670852"/>
            <a:ext cx="6096000" cy="223676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a = input(“a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의 값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?”)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b = input(“b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의 값 </a:t>
            </a:r>
            <a:r>
              <a:rPr lang="en-US" altLang="ko-KR" kern="0" dirty="0" smtClean="0">
                <a:solidFill>
                  <a:srgbClr val="000000"/>
                </a:solidFill>
                <a:latin typeface="함초롬바탕"/>
                <a:ea typeface="함초롬바탕"/>
              </a:rPr>
              <a:t>?”)</a:t>
            </a:r>
          </a:p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if a &gt; 0 and b &gt; 0 : print(“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정상”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else: print(“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불량”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204025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55328"/>
            <a:ext cx="10515600" cy="1325563"/>
          </a:xfrm>
        </p:spPr>
        <p:txBody>
          <a:bodyPr/>
          <a:lstStyle/>
          <a:p>
            <a:r>
              <a:rPr lang="ko-KR" altLang="en-US" b="1" dirty="0"/>
              <a:t>기존 알고리즘과 학습 알고리즘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988478"/>
            <a:ext cx="597341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// 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학습 단계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train_data_input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read_train_data_input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train_data_target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read_train_data_target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classifier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DecisionTreeClassifier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classifier.fit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train_data_input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,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train_data_target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// 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예측 단계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a = input(“a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의 값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?”)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b = input(“b</a:t>
            </a:r>
            <a:r>
              <a:rPr lang="ko-KR" altLang="en-US" kern="0" dirty="0">
                <a:solidFill>
                  <a:srgbClr val="000000"/>
                </a:solidFill>
                <a:latin typeface="함초롬바탕"/>
                <a:ea typeface="함초롬바탕"/>
              </a:rPr>
              <a:t>의 값 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?”)</a:t>
            </a:r>
            <a:endParaRPr lang="ko-KR" altLang="en-US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y = </a:t>
            </a:r>
            <a:r>
              <a:rPr lang="en-US" altLang="ko-KR" kern="0" dirty="0" err="1">
                <a:solidFill>
                  <a:srgbClr val="000000"/>
                </a:solidFill>
                <a:latin typeface="함초롬바탕"/>
                <a:ea typeface="함초롬바탕"/>
              </a:rPr>
              <a:t>classifier.predict</a:t>
            </a: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([[a, b]])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함초롬바탕"/>
                <a:ea typeface="함초롬바탕"/>
              </a:rPr>
              <a:t>print(y)</a:t>
            </a:r>
            <a:endParaRPr lang="en-US" altLang="ko-KR" kern="0" dirty="0">
              <a:solidFill>
                <a:srgbClr val="000000"/>
              </a:solidFill>
              <a:latin typeface="함초롬바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73009" y="2517913"/>
            <a:ext cx="25074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학습 입력 데이터 읽기</a:t>
            </a:r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5539409" y="2702579"/>
            <a:ext cx="1987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73009" y="3041374"/>
            <a:ext cx="25074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학습 타겟 </a:t>
            </a:r>
            <a:r>
              <a:rPr lang="ko-KR" altLang="en-US" dirty="0" smtClean="0"/>
              <a:t>데이터 읽기</a:t>
            </a:r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658678" y="3180522"/>
            <a:ext cx="1868557" cy="3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73009" y="3714470"/>
            <a:ext cx="173316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mtClean="0"/>
              <a:t>학습 객체 생성</a:t>
            </a:r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797287" y="3564835"/>
            <a:ext cx="2729948" cy="331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73009" y="4387566"/>
            <a:ext cx="11897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학습 실행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5989983" y="4083802"/>
            <a:ext cx="1537252" cy="48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04383" y="5751443"/>
            <a:ext cx="319991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학습된 모델을 이용하여 예측</a:t>
            </a:r>
            <a:endParaRPr lang="ko-KR" altLang="en-US" dirty="0"/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4306957" y="5936109"/>
            <a:ext cx="2285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xfrm>
            <a:off x="838200" y="1577840"/>
            <a:ext cx="10515600" cy="524968"/>
          </a:xfrm>
        </p:spPr>
        <p:txBody>
          <a:bodyPr/>
          <a:lstStyle/>
          <a:p>
            <a:r>
              <a:rPr lang="ko-KR" altLang="en-US" dirty="0" smtClean="0"/>
              <a:t>학습 알고리즘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448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기존 알고리즘과 학습 알고리즘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 알고리즘을 사용하는 경우가 더 코딩 양도 많고 </a:t>
            </a:r>
            <a:r>
              <a:rPr lang="ko-KR" altLang="en-US" dirty="0" smtClean="0"/>
              <a:t>복잡해 보임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실세계</a:t>
            </a:r>
            <a:r>
              <a:rPr lang="ko-KR" altLang="en-US" dirty="0" smtClean="0"/>
              <a:t> 문제에서는 </a:t>
            </a:r>
            <a:r>
              <a:rPr lang="ko-KR" altLang="en-US" dirty="0"/>
              <a:t>기존의 방식으로 프로그래밍 할 수 없을 수도 있고</a:t>
            </a:r>
            <a:r>
              <a:rPr lang="en-US" altLang="ko-KR" dirty="0"/>
              <a:t>, </a:t>
            </a:r>
            <a:r>
              <a:rPr lang="ko-KR" altLang="en-US" dirty="0"/>
              <a:t>프로그래밍 할 수 있더라도 엄청 복잡할 수도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1"/>
            <a:r>
              <a:rPr lang="ko-KR" altLang="en-US" dirty="0"/>
              <a:t>기존 알고리즘인 경우는 데이터 분석을 누군가가 해주어야만 진행</a:t>
            </a:r>
          </a:p>
          <a:p>
            <a:r>
              <a:rPr lang="ko-KR" altLang="en-US" dirty="0"/>
              <a:t>분석 전문가가 프로그래머가 아닐 경우</a:t>
            </a:r>
            <a:r>
              <a:rPr lang="en-US" altLang="ko-KR" dirty="0"/>
              <a:t>, </a:t>
            </a:r>
            <a:r>
              <a:rPr lang="ko-KR" altLang="en-US" dirty="0"/>
              <a:t>프로그래머는 분석 전문가에 의존할 수밖에 </a:t>
            </a:r>
            <a:r>
              <a:rPr lang="ko-KR" altLang="en-US" dirty="0" smtClean="0"/>
              <a:t>없음</a:t>
            </a:r>
            <a:endParaRPr lang="ko-KR" altLang="en-US" dirty="0"/>
          </a:p>
          <a:p>
            <a:pPr lvl="1"/>
            <a:r>
              <a:rPr lang="ko-KR" altLang="en-US" dirty="0"/>
              <a:t>분석 전문가가 분석한 결과가 한 번에 옳게 분석해 낸다면 그나마 다행이지만 실제 환경 하에서는 여러 번의 </a:t>
            </a:r>
            <a:r>
              <a:rPr lang="ko-KR" altLang="en-US" dirty="0" smtClean="0"/>
              <a:t>시행착오를 </a:t>
            </a:r>
            <a:r>
              <a:rPr lang="ko-KR" altLang="en-US" dirty="0"/>
              <a:t>거치게 </a:t>
            </a:r>
            <a:r>
              <a:rPr lang="ko-KR" altLang="en-US" dirty="0" smtClean="0"/>
              <a:t>됨</a:t>
            </a:r>
            <a:endParaRPr lang="ko-KR" altLang="en-US" dirty="0"/>
          </a:p>
          <a:p>
            <a:pPr lvl="1"/>
            <a:r>
              <a:rPr lang="ko-KR" altLang="en-US" dirty="0"/>
              <a:t>개발 기간이 </a:t>
            </a:r>
            <a:r>
              <a:rPr lang="ko-KR" altLang="en-US" dirty="0" smtClean="0"/>
              <a:t>길어지고 비용도 늘어나게 됨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17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기존 알고리즘과 학습 알고리즘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이전에는 학습 알고리즘을 개발하기가 그리 용이하지 않았으나</a:t>
            </a:r>
            <a:r>
              <a:rPr lang="en-US" altLang="ko-KR" dirty="0"/>
              <a:t>, </a:t>
            </a:r>
            <a:r>
              <a:rPr lang="ko-KR" altLang="en-US" dirty="0"/>
              <a:t>요즘에는 대량의 데이터로부터 빠른 속도로 학습할 수 있는 많은 라이브러리들이 제공</a:t>
            </a: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프로그래머가 </a:t>
            </a:r>
            <a:r>
              <a:rPr lang="ko-KR" altLang="en-US" dirty="0"/>
              <a:t>인공지능의 학습 알고리즘의 </a:t>
            </a:r>
            <a:r>
              <a:rPr lang="ko-KR" altLang="en-US" dirty="0" smtClean="0"/>
              <a:t>원리를 안다면 쉽게 현장에 적용</a:t>
            </a:r>
            <a:endParaRPr lang="ko-KR" altLang="en-US" dirty="0"/>
          </a:p>
          <a:p>
            <a:r>
              <a:rPr lang="ko-KR" altLang="en-US" dirty="0"/>
              <a:t>환경이 바뀌어 기존의 규칙이 잘 적용이 되지 않는 상황이 발생</a:t>
            </a:r>
          </a:p>
          <a:p>
            <a:pPr lvl="1"/>
            <a:r>
              <a:rPr lang="ko-KR" altLang="en-US" dirty="0"/>
              <a:t>그동안 운영하면서 쌓인 데이터가 잘 관리되고 </a:t>
            </a:r>
            <a:r>
              <a:rPr lang="ko-KR" altLang="en-US" dirty="0" smtClean="0"/>
              <a:t>있었다면</a:t>
            </a:r>
            <a:r>
              <a:rPr lang="en-US" altLang="ko-KR" dirty="0" smtClean="0"/>
              <a:t>, </a:t>
            </a:r>
            <a:r>
              <a:rPr lang="ko-KR" altLang="en-US" dirty="0"/>
              <a:t>동일한 학습 알고리즘을 적용시켜 새로운 모델을 만들기만 </a:t>
            </a:r>
            <a:r>
              <a:rPr lang="ko-KR" altLang="en-US" dirty="0" smtClean="0"/>
              <a:t>하면 됨</a:t>
            </a:r>
            <a:endParaRPr lang="en-US" altLang="ko-KR" dirty="0" smtClean="0"/>
          </a:p>
          <a:p>
            <a:pPr lvl="1"/>
            <a:r>
              <a:rPr lang="ko-KR" altLang="en-US" dirty="0"/>
              <a:t>프로그램 자체는 거의 변경할 필요 없이 </a:t>
            </a:r>
            <a:r>
              <a:rPr lang="ko-KR" altLang="en-US" dirty="0" smtClean="0"/>
              <a:t>모델 </a:t>
            </a:r>
            <a:r>
              <a:rPr lang="ko-KR" altLang="en-US" dirty="0"/>
              <a:t>데이터만 바꾸어 </a:t>
            </a:r>
            <a:r>
              <a:rPr lang="ko-KR" altLang="en-US" dirty="0" smtClean="0"/>
              <a:t>돌리면 됨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8455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데이터와 특징 </a:t>
            </a:r>
            <a:r>
              <a:rPr lang="ko-KR" altLang="en-US" b="1" dirty="0" smtClean="0"/>
              <a:t>벡터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6479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머신러닝에</a:t>
            </a:r>
            <a:r>
              <a:rPr lang="ko-KR" altLang="en-US" dirty="0"/>
              <a:t> 있어 학습 데이터는 여러 학습 샘플 </a:t>
            </a:r>
            <a:r>
              <a:rPr lang="en-US" altLang="ko-KR" dirty="0"/>
              <a:t>(</a:t>
            </a:r>
            <a:r>
              <a:rPr lang="ko-KR" altLang="en-US" dirty="0"/>
              <a:t>또는 인스턴스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smtClean="0"/>
              <a:t>구성</a:t>
            </a:r>
            <a:endParaRPr lang="en-US" altLang="ko-KR" dirty="0" smtClean="0"/>
          </a:p>
          <a:p>
            <a:pPr lvl="1"/>
            <a:r>
              <a:rPr lang="ko-KR" altLang="en-US" dirty="0"/>
              <a:t>한 학습 샘플은 학습 대상과 경우에 따라 그 대상의 레이블 </a:t>
            </a:r>
            <a:r>
              <a:rPr lang="en-US" altLang="ko-KR" dirty="0"/>
              <a:t>(</a:t>
            </a:r>
            <a:r>
              <a:rPr lang="ko-KR" altLang="en-US" dirty="0"/>
              <a:t>목표치 또는 클래스</a:t>
            </a:r>
            <a:r>
              <a:rPr lang="en-US" altLang="ko-KR" dirty="0"/>
              <a:t>)</a:t>
            </a:r>
            <a:r>
              <a:rPr lang="ko-KR" altLang="en-US" dirty="0"/>
              <a:t>로 구성</a:t>
            </a:r>
          </a:p>
          <a:p>
            <a:pPr lvl="1"/>
            <a:r>
              <a:rPr lang="ko-KR" altLang="en-US" dirty="0"/>
              <a:t>학습 대상은 관련된 여러 특징 </a:t>
            </a:r>
            <a:r>
              <a:rPr lang="en-US" altLang="ko-KR" dirty="0"/>
              <a:t>(feature)</a:t>
            </a:r>
            <a:r>
              <a:rPr lang="ko-KR" altLang="en-US" dirty="0"/>
              <a:t>들로 표현</a:t>
            </a:r>
          </a:p>
          <a:p>
            <a:pPr lvl="1"/>
            <a:r>
              <a:rPr lang="ko-KR" altLang="en-US" dirty="0"/>
              <a:t>한 특징은 학습 대상의 개별적인 측정 가능한 속성 또는 특성</a:t>
            </a:r>
          </a:p>
          <a:p>
            <a:pPr marL="457200" lvl="1" indent="0">
              <a:buNone/>
            </a:pPr>
            <a:r>
              <a:rPr lang="ko-KR" altLang="en-US" dirty="0" smtClean="0"/>
              <a:t>  예 </a:t>
            </a:r>
            <a:r>
              <a:rPr lang="en-US" altLang="ko-KR" dirty="0" smtClean="0"/>
              <a:t>: </a:t>
            </a:r>
            <a:r>
              <a:rPr lang="ko-KR" altLang="en-US" dirty="0"/>
              <a:t>부동산 가격 예측 시스템</a:t>
            </a:r>
          </a:p>
          <a:p>
            <a:pPr lvl="2"/>
            <a:r>
              <a:rPr lang="ko-KR" altLang="en-US" dirty="0" smtClean="0"/>
              <a:t>한 부동산 샘플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지역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크기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집 유형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평균 시세</a:t>
            </a:r>
            <a:r>
              <a:rPr lang="en-US" altLang="ko-KR" dirty="0" smtClean="0"/>
              <a:t>, …</a:t>
            </a:r>
          </a:p>
          <a:p>
            <a:pPr lvl="1"/>
            <a:r>
              <a:rPr lang="ko-KR" altLang="en-US" dirty="0"/>
              <a:t>특징은 </a:t>
            </a:r>
            <a:r>
              <a:rPr lang="ko-KR" altLang="en-US" dirty="0" err="1"/>
              <a:t>카테코리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: “</a:t>
            </a:r>
            <a:r>
              <a:rPr lang="ko-KR" altLang="en-US" dirty="0"/>
              <a:t>상”</a:t>
            </a:r>
            <a:r>
              <a:rPr lang="en-US" altLang="ko-KR" dirty="0"/>
              <a:t>, “</a:t>
            </a:r>
            <a:r>
              <a:rPr lang="ko-KR" altLang="en-US" dirty="0"/>
              <a:t>중”</a:t>
            </a:r>
            <a:r>
              <a:rPr lang="en-US" altLang="ko-KR" dirty="0"/>
              <a:t>, “</a:t>
            </a:r>
            <a:r>
              <a:rPr lang="ko-KR" altLang="en-US" dirty="0"/>
              <a:t>하”</a:t>
            </a:r>
            <a:r>
              <a:rPr lang="en-US" altLang="ko-KR" dirty="0"/>
              <a:t>) </a:t>
            </a:r>
            <a:r>
              <a:rPr lang="ko-KR" altLang="en-US" dirty="0"/>
              <a:t>값을 갖는 경우도 있지만</a:t>
            </a:r>
            <a:r>
              <a:rPr lang="en-US" altLang="ko-KR" dirty="0"/>
              <a:t>, </a:t>
            </a:r>
            <a:r>
              <a:rPr lang="ko-KR" altLang="en-US" dirty="0"/>
              <a:t>보통 수치로 </a:t>
            </a:r>
            <a:r>
              <a:rPr lang="ko-KR" altLang="en-US" dirty="0" smtClean="0"/>
              <a:t>표현</a:t>
            </a:r>
            <a:endParaRPr lang="en-US" altLang="ko-KR" dirty="0" smtClean="0"/>
          </a:p>
          <a:p>
            <a:pPr lvl="2"/>
            <a:r>
              <a:rPr lang="ko-KR" altLang="en-US" dirty="0" err="1"/>
              <a:t>카테코리</a:t>
            </a:r>
            <a:r>
              <a:rPr lang="ko-KR" altLang="en-US" dirty="0"/>
              <a:t> 값도 수치로 변환 가능</a:t>
            </a:r>
          </a:p>
          <a:p>
            <a:pPr lvl="2"/>
            <a:r>
              <a:rPr lang="ko-KR" altLang="en-US" dirty="0"/>
              <a:t>한 학습 샘플은 여러 특징 값</a:t>
            </a:r>
            <a:r>
              <a:rPr lang="en-US" altLang="ko-KR" dirty="0"/>
              <a:t>, </a:t>
            </a:r>
            <a:r>
              <a:rPr lang="ko-KR" altLang="en-US" dirty="0"/>
              <a:t>즉 특징 벡터 </a:t>
            </a:r>
            <a:r>
              <a:rPr lang="en-US" altLang="ko-KR" dirty="0"/>
              <a:t>(feature vector)</a:t>
            </a:r>
            <a:r>
              <a:rPr lang="ko-KR" altLang="en-US" dirty="0"/>
              <a:t>로 표현</a:t>
            </a:r>
          </a:p>
          <a:p>
            <a:pPr lvl="2"/>
            <a:r>
              <a:rPr lang="ko-KR" altLang="en-US" dirty="0"/>
              <a:t>한 </a:t>
            </a:r>
            <a:r>
              <a:rPr lang="ko-KR" altLang="en-US" dirty="0" smtClean="0"/>
              <a:t>부동산 </a:t>
            </a:r>
            <a:r>
              <a:rPr lang="ko-KR" altLang="en-US" dirty="0"/>
              <a:t>샘플은 </a:t>
            </a:r>
            <a:r>
              <a:rPr lang="ko-KR" altLang="en-US" dirty="0" smtClean="0"/>
              <a:t>부동산 </a:t>
            </a:r>
            <a:r>
              <a:rPr lang="ko-KR" altLang="en-US" dirty="0"/>
              <a:t>특징 벡터와 그 부동산의 </a:t>
            </a:r>
            <a:r>
              <a:rPr lang="ko-KR" altLang="en-US" dirty="0" err="1"/>
              <a:t>실거래</a:t>
            </a:r>
            <a:r>
              <a:rPr lang="ko-KR" altLang="en-US" dirty="0"/>
              <a:t> 가격으로 구성</a:t>
            </a:r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00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 데이터와 특징 벡터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특징들이 많으면 많을수록 학습 성능이 좋아질 것 같은데</a:t>
            </a:r>
            <a:r>
              <a:rPr lang="en-US" altLang="ko-KR" dirty="0"/>
              <a:t>, </a:t>
            </a:r>
            <a:r>
              <a:rPr lang="ko-KR" altLang="en-US" dirty="0"/>
              <a:t>어떠한 특징들은 학습에 방해가 되어 그렇지 </a:t>
            </a:r>
            <a:r>
              <a:rPr lang="ko-KR" altLang="en-US" dirty="0" smtClean="0"/>
              <a:t>않음</a:t>
            </a:r>
            <a:endParaRPr lang="ko-KR" altLang="en-US" dirty="0"/>
          </a:p>
          <a:p>
            <a:pPr lvl="1"/>
            <a:r>
              <a:rPr lang="ko-KR" altLang="en-US" dirty="0"/>
              <a:t>문제에 적합한 특징들을 선별 </a:t>
            </a:r>
            <a:r>
              <a:rPr lang="en-US" altLang="ko-KR" dirty="0"/>
              <a:t>(selection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기존 </a:t>
            </a:r>
            <a:r>
              <a:rPr lang="ko-KR" altLang="en-US" dirty="0"/>
              <a:t>특징들을 조합 및 변형하여 새로운 특징을 추출 </a:t>
            </a:r>
            <a:r>
              <a:rPr lang="en-US" altLang="ko-KR" dirty="0"/>
              <a:t>(extraction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/>
              <a:t>최근 </a:t>
            </a:r>
            <a:r>
              <a:rPr lang="ko-KR" altLang="en-US" dirty="0" err="1"/>
              <a:t>핫</a:t>
            </a:r>
            <a:r>
              <a:rPr lang="ko-KR" altLang="en-US" dirty="0"/>
              <a:t> 이슈가 되는 </a:t>
            </a:r>
            <a:r>
              <a:rPr lang="ko-KR" altLang="en-US" dirty="0" err="1"/>
              <a:t>딥러닝</a:t>
            </a:r>
            <a:r>
              <a:rPr lang="ko-KR" altLang="en-US" dirty="0"/>
              <a:t> 기술에서는 단지 이미지를 학습 데이터로 주면 필요한 특징 선별 및 추출 </a:t>
            </a:r>
            <a:r>
              <a:rPr lang="ko-KR" altLang="en-US" dirty="0" smtClean="0"/>
              <a:t>과정도 </a:t>
            </a:r>
            <a:r>
              <a:rPr lang="ko-KR" altLang="en-US" dirty="0"/>
              <a:t>학습을 통해서 이루어지게 </a:t>
            </a:r>
            <a:r>
              <a:rPr lang="ko-KR" altLang="en-US" dirty="0" smtClean="0"/>
              <a:t>됨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230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테스팅과</a:t>
            </a:r>
            <a:r>
              <a:rPr lang="ko-KR" altLang="en-US" b="1" dirty="0"/>
              <a:t> </a:t>
            </a:r>
            <a:r>
              <a:rPr lang="ko-KR" altLang="en-US" b="1" dirty="0" err="1" smtClean="0"/>
              <a:t>교차검증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학습이 제대로 이루어졌는지를 어떻게 평가할까</a:t>
            </a:r>
            <a:r>
              <a:rPr lang="en-US" altLang="ko-KR" dirty="0"/>
              <a:t>? </a:t>
            </a:r>
            <a:endParaRPr lang="ko-KR" altLang="en-US" dirty="0"/>
          </a:p>
          <a:p>
            <a:pPr lvl="1"/>
            <a:r>
              <a:rPr lang="ko-KR" altLang="en-US" dirty="0" smtClean="0"/>
              <a:t>학습된 </a:t>
            </a:r>
            <a:r>
              <a:rPr lang="ko-KR" altLang="en-US" dirty="0"/>
              <a:t>결과를 곧바로 실전에 </a:t>
            </a:r>
            <a:r>
              <a:rPr lang="ko-KR" altLang="en-US" dirty="0" smtClean="0"/>
              <a:t>투입 </a:t>
            </a:r>
            <a:r>
              <a:rPr lang="en-US" altLang="ko-KR" dirty="0" smtClean="0"/>
              <a:t>: </a:t>
            </a:r>
            <a:r>
              <a:rPr lang="ko-KR" altLang="en-US" dirty="0"/>
              <a:t>위험스럽고 현명하지 못한 방법</a:t>
            </a:r>
          </a:p>
          <a:p>
            <a:pPr lvl="1"/>
            <a:r>
              <a:rPr lang="ko-KR" altLang="en-US" dirty="0"/>
              <a:t>수집한 데이터를 학습 셋 </a:t>
            </a:r>
            <a:r>
              <a:rPr lang="en-US" altLang="ko-KR" dirty="0"/>
              <a:t>(train set)</a:t>
            </a:r>
            <a:r>
              <a:rPr lang="ko-KR" altLang="en-US" dirty="0"/>
              <a:t>과 테스트 셋</a:t>
            </a:r>
            <a:r>
              <a:rPr lang="en-US" altLang="ko-KR" dirty="0"/>
              <a:t>(test set)</a:t>
            </a:r>
            <a:r>
              <a:rPr lang="ko-KR" altLang="en-US" dirty="0"/>
              <a:t>으로 나눈 후 학습은 학습 </a:t>
            </a:r>
            <a:r>
              <a:rPr lang="ko-KR" altLang="en-US" dirty="0" err="1"/>
              <a:t>셋만을</a:t>
            </a:r>
            <a:r>
              <a:rPr lang="ko-KR" altLang="en-US" dirty="0"/>
              <a:t> 이용하여 </a:t>
            </a:r>
            <a:r>
              <a:rPr lang="ko-KR" altLang="en-US" dirty="0" smtClean="0"/>
              <a:t>진행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학습이 끝난 후 테스트 셋을 사용하여 그 성능을 </a:t>
            </a:r>
            <a:r>
              <a:rPr lang="ko-KR" altLang="en-US" dirty="0" smtClean="0"/>
              <a:t>평가</a:t>
            </a:r>
            <a:r>
              <a:rPr lang="en-US" altLang="ko-KR" dirty="0" smtClean="0"/>
              <a:t>. </a:t>
            </a:r>
            <a:r>
              <a:rPr lang="ko-KR" altLang="en-US" dirty="0"/>
              <a:t>학습 셋과 테스트 셋의 비율은 보통 </a:t>
            </a:r>
            <a:r>
              <a:rPr lang="en-US" altLang="ko-KR" dirty="0"/>
              <a:t>80:20</a:t>
            </a:r>
            <a:endParaRPr lang="ko-KR" altLang="en-US" dirty="0"/>
          </a:p>
          <a:p>
            <a:pPr lvl="1"/>
            <a:r>
              <a:rPr lang="ko-KR" altLang="en-US" dirty="0"/>
              <a:t>보통 테스트 셋을 사용하여 성능을 측정할 경우</a:t>
            </a:r>
            <a:r>
              <a:rPr lang="en-US" altLang="ko-KR" dirty="0"/>
              <a:t>, </a:t>
            </a:r>
            <a:r>
              <a:rPr lang="ko-KR" altLang="en-US" dirty="0"/>
              <a:t>성능이 좋지 않으면 다시 </a:t>
            </a:r>
            <a:r>
              <a:rPr lang="ko-KR" altLang="en-US" dirty="0" err="1"/>
              <a:t>하이퍼패러미터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hyperparameter</a:t>
            </a:r>
            <a:r>
              <a:rPr lang="en-US" altLang="ko-KR" dirty="0"/>
              <a:t>)</a:t>
            </a:r>
            <a:r>
              <a:rPr lang="ko-KR" altLang="en-US" dirty="0"/>
              <a:t>를 수정하여 학습 셋에 대해 </a:t>
            </a:r>
            <a:r>
              <a:rPr lang="ko-KR" altLang="en-US" dirty="0" err="1"/>
              <a:t>재학습하고</a:t>
            </a:r>
            <a:r>
              <a:rPr lang="ko-KR" altLang="en-US" dirty="0"/>
              <a:t> 다시 평가하는 과정을 </a:t>
            </a:r>
            <a:r>
              <a:rPr lang="ko-KR" altLang="en-US" dirty="0" smtClean="0"/>
              <a:t>반복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테스트 셋에 </a:t>
            </a:r>
            <a:r>
              <a:rPr lang="ko-KR" altLang="en-US" dirty="0" smtClean="0"/>
              <a:t>적응된 모델</a:t>
            </a:r>
            <a:endParaRPr lang="en-US" altLang="ko-KR" dirty="0" smtClean="0"/>
          </a:p>
          <a:p>
            <a:r>
              <a:rPr lang="ko-KR" altLang="en-US" dirty="0"/>
              <a:t>어떻게 해야 하나</a:t>
            </a:r>
            <a:r>
              <a:rPr lang="en-US" altLang="ko-KR" dirty="0"/>
              <a:t>?</a:t>
            </a:r>
            <a:endParaRPr lang="ko-KR" altLang="en-US" dirty="0"/>
          </a:p>
          <a:p>
            <a:pPr lvl="1"/>
            <a:r>
              <a:rPr lang="ko-KR" altLang="en-US" dirty="0"/>
              <a:t>테스트 셋은 단 한 번의 최종 성능 평가용으로만 사용하고 대신에 학습 셋을 이용하여 </a:t>
            </a:r>
            <a:r>
              <a:rPr lang="ko-KR" altLang="en-US" dirty="0" err="1"/>
              <a:t>교차검증</a:t>
            </a:r>
            <a:r>
              <a:rPr lang="ko-KR" altLang="en-US" dirty="0"/>
              <a:t> </a:t>
            </a:r>
            <a:r>
              <a:rPr lang="en-US" altLang="ko-KR" dirty="0"/>
              <a:t>(cross validation)</a:t>
            </a:r>
            <a:r>
              <a:rPr lang="ko-KR" altLang="en-US" dirty="0"/>
              <a:t>을 실시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1518" y="6353233"/>
            <a:ext cx="52613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하이퍼패러미터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학습 알고리즘 자체의 </a:t>
            </a:r>
            <a:r>
              <a:rPr lang="ko-KR" altLang="en-US" dirty="0" err="1" smtClean="0"/>
              <a:t>패러미터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846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테스팅과</a:t>
            </a:r>
            <a:r>
              <a:rPr lang="ko-KR" altLang="en-US" b="1" dirty="0"/>
              <a:t> </a:t>
            </a:r>
            <a:r>
              <a:rPr lang="ko-KR" altLang="en-US" b="1" dirty="0" err="1"/>
              <a:t>교차검증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761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교차 검증</a:t>
            </a:r>
            <a:endParaRPr lang="en-US" altLang="ko-KR" dirty="0" smtClean="0"/>
          </a:p>
          <a:p>
            <a:pPr lvl="1"/>
            <a:r>
              <a:rPr lang="ko-KR" altLang="en-US" dirty="0"/>
              <a:t>학습 셋을 여러 묶음 </a:t>
            </a:r>
            <a:r>
              <a:rPr lang="en-US" altLang="ko-KR" dirty="0"/>
              <a:t>(fold)</a:t>
            </a:r>
            <a:r>
              <a:rPr lang="ko-KR" altLang="en-US" dirty="0"/>
              <a:t>으로 나눈 후 그 중 한 묶음을 성능 </a:t>
            </a:r>
            <a:r>
              <a:rPr lang="ko-KR" altLang="en-US" dirty="0" err="1"/>
              <a:t>평가용으로</a:t>
            </a:r>
            <a:r>
              <a:rPr lang="ko-KR" altLang="en-US" dirty="0"/>
              <a:t> 사용하고 나머지 </a:t>
            </a:r>
            <a:r>
              <a:rPr lang="ko-KR" altLang="en-US" dirty="0" err="1"/>
              <a:t>묶음들은</a:t>
            </a:r>
            <a:r>
              <a:rPr lang="ko-KR" altLang="en-US" dirty="0"/>
              <a:t> 학습용으로 사용</a:t>
            </a:r>
          </a:p>
          <a:p>
            <a:pPr lvl="1"/>
            <a:r>
              <a:rPr lang="ko-KR" altLang="en-US" dirty="0"/>
              <a:t>각 묶음이 한 번씩 </a:t>
            </a:r>
            <a:r>
              <a:rPr lang="ko-KR" altLang="en-US" dirty="0" err="1"/>
              <a:t>평가용으로</a:t>
            </a:r>
            <a:r>
              <a:rPr lang="ko-KR" altLang="en-US" dirty="0"/>
              <a:t> 사용될 수 있도록 이 과정을 반복하고 성능은 이들의 평균을 사용</a:t>
            </a:r>
          </a:p>
          <a:p>
            <a:pPr lvl="1"/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en-US" altLang="ko-KR" dirty="0"/>
              <a:t>5-</a:t>
            </a:r>
            <a:r>
              <a:rPr lang="ko-KR" altLang="en-US" dirty="0"/>
              <a:t>묶음 </a:t>
            </a:r>
            <a:r>
              <a:rPr lang="ko-KR" altLang="en-US" dirty="0" err="1"/>
              <a:t>교차검증</a:t>
            </a:r>
            <a:r>
              <a:rPr lang="ko-KR" altLang="en-US" dirty="0"/>
              <a:t> </a:t>
            </a:r>
            <a:r>
              <a:rPr lang="en-US" altLang="ko-KR" dirty="0"/>
              <a:t>(5-fold cross validation)</a:t>
            </a:r>
          </a:p>
          <a:p>
            <a:pPr lvl="2"/>
            <a:r>
              <a:rPr lang="ko-KR" altLang="en-US" dirty="0"/>
              <a:t>학습 셋을 </a:t>
            </a:r>
            <a:r>
              <a:rPr lang="en-US" altLang="ko-KR" dirty="0"/>
              <a:t>5</a:t>
            </a:r>
            <a:r>
              <a:rPr lang="ko-KR" altLang="en-US" dirty="0"/>
              <a:t>개의 묶음으로 나누고</a:t>
            </a:r>
            <a:r>
              <a:rPr lang="en-US" altLang="ko-KR" dirty="0"/>
              <a:t>, </a:t>
            </a:r>
            <a:r>
              <a:rPr lang="ko-KR" altLang="en-US" dirty="0"/>
              <a:t>먼저 </a:t>
            </a:r>
            <a:r>
              <a:rPr lang="en-US" altLang="ko-KR" dirty="0"/>
              <a:t>2, 3, 4, 5</a:t>
            </a:r>
            <a:r>
              <a:rPr lang="ko-KR" altLang="en-US" dirty="0"/>
              <a:t>번째 묶음을 이용하여 학습</a:t>
            </a:r>
          </a:p>
          <a:p>
            <a:pPr lvl="2"/>
            <a:r>
              <a:rPr lang="ko-KR" altLang="en-US" dirty="0"/>
              <a:t>학습된 결과를 첫 번째 묶음에 대해 적용하여 첫 번째 </a:t>
            </a:r>
            <a:r>
              <a:rPr lang="ko-KR" altLang="en-US" dirty="0" smtClean="0"/>
              <a:t>성능 측정</a:t>
            </a:r>
            <a:endParaRPr lang="ko-KR" altLang="en-US" dirty="0"/>
          </a:p>
          <a:p>
            <a:pPr lvl="2"/>
            <a:r>
              <a:rPr lang="ko-KR" altLang="en-US" dirty="0" smtClean="0"/>
              <a:t>동일한 </a:t>
            </a:r>
            <a:r>
              <a:rPr lang="ko-KR" altLang="en-US" dirty="0"/>
              <a:t>방법으로 </a:t>
            </a:r>
            <a:r>
              <a:rPr lang="ko-KR" altLang="en-US" dirty="0" smtClean="0"/>
              <a:t>두 번째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세 번째</a:t>
            </a:r>
            <a:r>
              <a:rPr lang="en-US" altLang="ko-KR" dirty="0" smtClean="0"/>
              <a:t>, </a:t>
            </a:r>
            <a:r>
              <a:rPr lang="ko-KR" altLang="en-US" dirty="0"/>
              <a:t>네 </a:t>
            </a:r>
            <a:r>
              <a:rPr lang="ko-KR" altLang="en-US" dirty="0" smtClean="0"/>
              <a:t>번째</a:t>
            </a:r>
            <a:r>
              <a:rPr lang="en-US" altLang="ko-KR" dirty="0" smtClean="0"/>
              <a:t>, </a:t>
            </a:r>
            <a:r>
              <a:rPr lang="ko-KR" altLang="en-US" dirty="0"/>
              <a:t>다섯 번째 성능을 얻은 후 이 다섯 번의 평균을 </a:t>
            </a:r>
            <a:r>
              <a:rPr lang="ko-KR" altLang="en-US" dirty="0" err="1"/>
              <a:t>교차검증의</a:t>
            </a:r>
            <a:r>
              <a:rPr lang="ko-KR" altLang="en-US" dirty="0"/>
              <a:t> 최종 성능으로 </a:t>
            </a:r>
            <a:r>
              <a:rPr lang="ko-KR" altLang="en-US" dirty="0" smtClean="0"/>
              <a:t>사용</a:t>
            </a:r>
            <a:endParaRPr lang="ko-KR" altLang="en-US" dirty="0"/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6869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테스팅과</a:t>
            </a:r>
            <a:r>
              <a:rPr lang="ko-KR" altLang="en-US" b="1" dirty="0"/>
              <a:t> </a:t>
            </a:r>
            <a:r>
              <a:rPr lang="ko-KR" altLang="en-US" b="1" dirty="0" err="1"/>
              <a:t>교차검증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6966"/>
          </a:xfrm>
        </p:spPr>
        <p:txBody>
          <a:bodyPr>
            <a:normAutofit/>
          </a:bodyPr>
          <a:lstStyle/>
          <a:p>
            <a:pPr lvl="1"/>
            <a:r>
              <a:rPr lang="ko-KR" altLang="en-US" dirty="0" err="1" smtClean="0"/>
              <a:t>하이퍼패러미터들을</a:t>
            </a:r>
            <a:r>
              <a:rPr lang="ko-KR" altLang="en-US" dirty="0" smtClean="0"/>
              <a:t> </a:t>
            </a:r>
            <a:r>
              <a:rPr lang="ko-KR" altLang="en-US" dirty="0"/>
              <a:t>바꾸면서 </a:t>
            </a:r>
            <a:r>
              <a:rPr lang="ko-KR" altLang="en-US" dirty="0" err="1"/>
              <a:t>교차검증</a:t>
            </a:r>
            <a:r>
              <a:rPr lang="ko-KR" altLang="en-US" dirty="0"/>
              <a:t> 성능이 좋은 </a:t>
            </a:r>
            <a:r>
              <a:rPr lang="ko-KR" altLang="en-US" dirty="0" err="1"/>
              <a:t>하이퍼패러미터</a:t>
            </a:r>
            <a:r>
              <a:rPr lang="ko-KR" altLang="en-US" dirty="0"/>
              <a:t> 조합을 찾아 그 조합을 </a:t>
            </a:r>
            <a:r>
              <a:rPr lang="ko-KR" altLang="en-US" dirty="0" smtClean="0"/>
              <a:t>전체 </a:t>
            </a:r>
            <a:r>
              <a:rPr lang="ko-KR" altLang="en-US" dirty="0"/>
              <a:t>학습 셋에 대한 모델 </a:t>
            </a:r>
            <a:r>
              <a:rPr lang="ko-KR" altLang="en-US" dirty="0" err="1" smtClean="0"/>
              <a:t>패러미터로</a:t>
            </a:r>
            <a:r>
              <a:rPr lang="ko-KR" altLang="en-US" dirty="0" smtClean="0"/>
              <a:t>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그리고 </a:t>
            </a:r>
            <a:r>
              <a:rPr lang="ko-KR" altLang="en-US" dirty="0"/>
              <a:t>그 학습된 모델을 테스트 셋에 적용하여 최종 </a:t>
            </a:r>
            <a:r>
              <a:rPr lang="ko-KR" altLang="en-US" dirty="0" smtClean="0"/>
              <a:t>성능 얻음</a:t>
            </a:r>
            <a:endParaRPr lang="ko-KR" altLang="en-US" dirty="0"/>
          </a:p>
          <a:p>
            <a:pPr lvl="1"/>
            <a:r>
              <a:rPr lang="ko-KR" altLang="en-US" dirty="0"/>
              <a:t>수집한 데이터가 많지 않아 학습 셋과 테스트 셋으로 분리하기가 곤란할 경우는</a:t>
            </a:r>
            <a:r>
              <a:rPr lang="en-US" altLang="ko-KR" dirty="0"/>
              <a:t>, </a:t>
            </a:r>
            <a:r>
              <a:rPr lang="ko-KR" altLang="en-US" dirty="0"/>
              <a:t>분리하지 말고 전체 데이터에 대해 </a:t>
            </a:r>
            <a:r>
              <a:rPr lang="ko-KR" altLang="en-US" dirty="0" err="1" smtClean="0"/>
              <a:t>교차검증</a:t>
            </a:r>
            <a:r>
              <a:rPr lang="ko-KR" altLang="en-US" dirty="0" smtClean="0"/>
              <a:t> </a:t>
            </a:r>
            <a:r>
              <a:rPr lang="ko-KR" altLang="en-US" dirty="0"/>
              <a:t>실시</a:t>
            </a:r>
          </a:p>
          <a:p>
            <a:pPr lvl="1"/>
            <a:endParaRPr lang="ko-KR" altLang="en-US" dirty="0"/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033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ko-KR" altLang="en-US" b="1" dirty="0"/>
              <a:t> </a:t>
            </a:r>
            <a:r>
              <a:rPr lang="en-US" altLang="ko-KR" b="1" dirty="0"/>
              <a:t>(overfitting)</a:t>
            </a:r>
            <a:r>
              <a:rPr lang="ko-KR" altLang="en-US" b="1" dirty="0"/>
              <a:t>과 </a:t>
            </a:r>
            <a:r>
              <a:rPr lang="ko-KR" altLang="en-US" b="1" dirty="0" err="1"/>
              <a:t>과소적합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underfitting</a:t>
            </a:r>
            <a:r>
              <a:rPr lang="en-US" altLang="ko-KR" b="1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학습된 모델을 학습 셋에 적용하면 성능이 일반적으로 </a:t>
            </a:r>
            <a:r>
              <a:rPr lang="ko-KR" altLang="en-US" dirty="0" smtClean="0"/>
              <a:t>좋아짐</a:t>
            </a:r>
            <a:endParaRPr lang="ko-KR" altLang="en-US" dirty="0"/>
          </a:p>
          <a:p>
            <a:pPr lvl="1"/>
            <a:r>
              <a:rPr lang="ko-KR" altLang="en-US" dirty="0" smtClean="0"/>
              <a:t>학습 </a:t>
            </a:r>
            <a:r>
              <a:rPr lang="ko-KR" altLang="en-US" dirty="0"/>
              <a:t>모델 자체가 학습 데이터에 잘 들어맞도록 학습이 되었기 </a:t>
            </a:r>
            <a:r>
              <a:rPr lang="ko-KR" altLang="en-US" dirty="0" smtClean="0"/>
              <a:t>때문</a:t>
            </a:r>
            <a:endParaRPr lang="en-US" altLang="ko-KR" dirty="0" smtClean="0"/>
          </a:p>
          <a:p>
            <a:r>
              <a:rPr lang="ko-KR" altLang="en-US" dirty="0"/>
              <a:t>학습된 모델을 테스트 셋에 적용하면 제대로 학습이 되었을 경우</a:t>
            </a:r>
            <a:r>
              <a:rPr lang="en-US" altLang="ko-KR" dirty="0"/>
              <a:t>, </a:t>
            </a:r>
            <a:r>
              <a:rPr lang="ko-KR" altLang="en-US" dirty="0"/>
              <a:t>학습 셋에 대한 성능과 비슷하거나 좀 미치지 못하는 성능을 </a:t>
            </a:r>
            <a:r>
              <a:rPr lang="ko-KR" altLang="en-US" dirty="0" smtClean="0"/>
              <a:t>보임</a:t>
            </a:r>
            <a:endParaRPr lang="ko-KR" altLang="en-US" dirty="0"/>
          </a:p>
          <a:p>
            <a:r>
              <a:rPr lang="ko-KR" altLang="en-US" dirty="0"/>
              <a:t>가끔 테스트 셋 성능이 학습 셋 성능에 비해 훨씬 성능이 떨어지는 경우가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과적합</a:t>
            </a:r>
            <a:r>
              <a:rPr lang="ko-KR" altLang="en-US" dirty="0" smtClean="0"/>
              <a:t> 발생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학습 </a:t>
            </a:r>
            <a:r>
              <a:rPr lang="ko-KR" altLang="en-US" dirty="0"/>
              <a:t>모델이 학습 데이터에 너무 딱 맞게 학습되어 학습 데이터와 약간 다른 새로운 데이터가 주어졌을 경우 제대로 처리되지 </a:t>
            </a:r>
            <a:r>
              <a:rPr lang="ko-KR" altLang="en-US" dirty="0" smtClean="0"/>
              <a:t>않게 되는 현상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84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과적합</a:t>
            </a:r>
            <a:r>
              <a:rPr lang="ko-KR" altLang="en-US" b="1" dirty="0"/>
              <a:t> </a:t>
            </a:r>
            <a:r>
              <a:rPr lang="en-US" altLang="ko-KR" b="1" dirty="0"/>
              <a:t>(overfitting)</a:t>
            </a:r>
            <a:r>
              <a:rPr lang="ko-KR" altLang="en-US" b="1" dirty="0"/>
              <a:t>과 </a:t>
            </a:r>
            <a:r>
              <a:rPr lang="ko-KR" altLang="en-US" b="1" dirty="0" err="1"/>
              <a:t>과소적합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underfitting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과적합은</a:t>
            </a:r>
            <a:r>
              <a:rPr lang="ko-KR" altLang="en-US" dirty="0"/>
              <a:t> 학습 데이터에 내재된 패턴의 복잡도보다 더 복잡한 모델</a:t>
            </a:r>
            <a:r>
              <a:rPr lang="en-US" altLang="ko-KR" dirty="0"/>
              <a:t>,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선형 모델이면 충분한데 비선형 모델을 사용하거나 학습 데이터가 전체 데이터를 대표하지 못해 발생</a:t>
            </a:r>
          </a:p>
          <a:p>
            <a:pPr lvl="1"/>
            <a:r>
              <a:rPr lang="ko-KR" altLang="en-US" dirty="0"/>
              <a:t>학습 데이터를 증가시켜 전체 데이터를 대표할 수 있도록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또는</a:t>
            </a:r>
            <a:r>
              <a:rPr lang="en-US" altLang="ko-KR" dirty="0" smtClean="0"/>
              <a:t> </a:t>
            </a:r>
            <a:r>
              <a:rPr lang="ko-KR" altLang="en-US" dirty="0"/>
              <a:t>모델을 단순한 모델로 바꾸어 </a:t>
            </a:r>
            <a:r>
              <a:rPr lang="ko-KR" altLang="en-US" dirty="0" smtClean="0"/>
              <a:t>학습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또는 </a:t>
            </a:r>
            <a:r>
              <a:rPr lang="ko-KR" altLang="en-US" dirty="0"/>
              <a:t>학습 반복 횟수에 따른 성능을 모니터링 한 후 최대 성능을 보이는 반복횟수까지 학습하지 않고</a:t>
            </a:r>
            <a:r>
              <a:rPr lang="en-US" altLang="ko-KR" dirty="0"/>
              <a:t>, </a:t>
            </a:r>
            <a:r>
              <a:rPr lang="ko-KR" altLang="en-US" dirty="0"/>
              <a:t>그보다 어느 정도 앞선 횟수만큼만 </a:t>
            </a:r>
            <a:r>
              <a:rPr lang="ko-KR" altLang="en-US" dirty="0" smtClean="0"/>
              <a:t>반복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조기 멈춤 </a:t>
            </a:r>
            <a:r>
              <a:rPr lang="en-US" altLang="ko-KR" dirty="0" smtClean="0"/>
              <a:t>(early stopping)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378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과적합</a:t>
            </a:r>
            <a:r>
              <a:rPr lang="ko-KR" altLang="en-US" b="1" dirty="0"/>
              <a:t> </a:t>
            </a:r>
            <a:r>
              <a:rPr lang="en-US" altLang="ko-KR" b="1" dirty="0"/>
              <a:t>(overfitting)</a:t>
            </a:r>
            <a:r>
              <a:rPr lang="ko-KR" altLang="en-US" b="1" dirty="0"/>
              <a:t>과 </a:t>
            </a:r>
            <a:r>
              <a:rPr lang="ko-KR" altLang="en-US" b="1" dirty="0" err="1"/>
              <a:t>과소적합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underfitting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반대로 </a:t>
            </a:r>
            <a:r>
              <a:rPr lang="ko-KR" altLang="en-US" dirty="0" err="1" smtClean="0"/>
              <a:t>과소적합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데이터에 내재된 패턴을 제대로 학습 못하는 현상</a:t>
            </a:r>
            <a:r>
              <a:rPr lang="en-US" altLang="ko-KR" dirty="0" smtClean="0"/>
              <a:t>) </a:t>
            </a:r>
            <a:r>
              <a:rPr lang="ko-KR" altLang="en-US" dirty="0" smtClean="0"/>
              <a:t>발생 가능</a:t>
            </a:r>
          </a:p>
          <a:p>
            <a:pPr lvl="1"/>
            <a:r>
              <a:rPr lang="ko-KR" altLang="en-US" dirty="0" smtClean="0"/>
              <a:t>테스트 셋에 대한 성능과 학습 셋에 대한 성능이 모두 좋지 않음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데이터에 </a:t>
            </a:r>
            <a:r>
              <a:rPr lang="ko-KR" altLang="en-US" dirty="0"/>
              <a:t>내재된 패턴은 복잡한데</a:t>
            </a:r>
            <a:r>
              <a:rPr lang="en-US" altLang="ko-KR" dirty="0"/>
              <a:t>, </a:t>
            </a:r>
            <a:r>
              <a:rPr lang="ko-KR" altLang="en-US" dirty="0"/>
              <a:t>학습에 사용한 </a:t>
            </a:r>
            <a:r>
              <a:rPr lang="ko-KR" altLang="en-US" dirty="0" smtClean="0"/>
              <a:t>모델이 </a:t>
            </a:r>
            <a:r>
              <a:rPr lang="ko-KR" altLang="en-US" dirty="0"/>
              <a:t>그보다 </a:t>
            </a:r>
            <a:r>
              <a:rPr lang="ko-KR" altLang="en-US" dirty="0" smtClean="0"/>
              <a:t>단순한 경우 발생 가능</a:t>
            </a:r>
            <a:endParaRPr lang="en-US" altLang="ko-KR" dirty="0" smtClean="0"/>
          </a:p>
          <a:p>
            <a:pPr lvl="1"/>
            <a:r>
              <a:rPr lang="ko-KR" altLang="en-US" dirty="0"/>
              <a:t>학습 데이터에 노이즈가 많거나 특징이 좋지 않아 </a:t>
            </a:r>
            <a:r>
              <a:rPr lang="ko-KR" altLang="en-US" dirty="0" smtClean="0"/>
              <a:t>발생 가능</a:t>
            </a:r>
            <a:endParaRPr lang="ko-KR" altLang="en-US" dirty="0"/>
          </a:p>
          <a:p>
            <a:pPr lvl="1"/>
            <a:r>
              <a:rPr lang="ko-KR" altLang="en-US" dirty="0"/>
              <a:t>이런 경우는 데이터 정제 과정을 거치거나 특징 선별 및 추출 과정을 거쳐 새로운 학습 </a:t>
            </a:r>
            <a:r>
              <a:rPr lang="ko-KR" altLang="en-US" dirty="0" smtClean="0"/>
              <a:t>데이터 구축 필요</a:t>
            </a:r>
            <a:endParaRPr lang="ko-KR" altLang="en-US" dirty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206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머신 러닝 방법 </a:t>
            </a:r>
            <a:r>
              <a:rPr lang="ko-KR" altLang="en-US" b="1" dirty="0" smtClean="0"/>
              <a:t>분류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 시 사람의 </a:t>
            </a:r>
            <a:r>
              <a:rPr lang="ko-KR" altLang="en-US" dirty="0" smtClean="0"/>
              <a:t>감독이 필요한 지와 </a:t>
            </a:r>
            <a:r>
              <a:rPr lang="ko-KR" altLang="en-US" dirty="0"/>
              <a:t>그 형태에 따라</a:t>
            </a:r>
          </a:p>
          <a:p>
            <a:pPr lvl="1"/>
            <a:r>
              <a:rPr lang="ko-KR" altLang="en-US" dirty="0" err="1"/>
              <a:t>지도학습</a:t>
            </a:r>
            <a:r>
              <a:rPr lang="ko-KR" altLang="en-US" dirty="0"/>
              <a:t> </a:t>
            </a:r>
            <a:r>
              <a:rPr lang="en-US" altLang="ko-KR" dirty="0"/>
              <a:t>(supervised learning), </a:t>
            </a:r>
            <a:r>
              <a:rPr lang="ko-KR" altLang="en-US" dirty="0" err="1"/>
              <a:t>비지도학습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unspervised</a:t>
            </a:r>
            <a:r>
              <a:rPr lang="en-US" altLang="ko-KR" dirty="0"/>
              <a:t> learning), </a:t>
            </a:r>
            <a:r>
              <a:rPr lang="ko-KR" altLang="en-US" dirty="0" err="1"/>
              <a:t>준지도학습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semisupervised</a:t>
            </a:r>
            <a:r>
              <a:rPr lang="en-US" altLang="ko-KR" dirty="0"/>
              <a:t> learning), </a:t>
            </a:r>
            <a:r>
              <a:rPr lang="ko-KR" altLang="en-US" dirty="0" err="1"/>
              <a:t>강화학습</a:t>
            </a:r>
            <a:r>
              <a:rPr lang="ko-KR" altLang="en-US" dirty="0"/>
              <a:t> </a:t>
            </a:r>
            <a:r>
              <a:rPr lang="en-US" altLang="ko-KR" dirty="0"/>
              <a:t>(reinforcement learning)</a:t>
            </a:r>
          </a:p>
          <a:p>
            <a:r>
              <a:rPr lang="ko-KR" altLang="en-US" dirty="0"/>
              <a:t>학습 데이터 제공 방법에 따라</a:t>
            </a:r>
          </a:p>
          <a:p>
            <a:pPr lvl="1"/>
            <a:r>
              <a:rPr lang="ko-KR" altLang="en-US" dirty="0"/>
              <a:t>온라인 </a:t>
            </a:r>
            <a:r>
              <a:rPr lang="en-US" altLang="ko-KR" dirty="0"/>
              <a:t>(online) </a:t>
            </a:r>
            <a:r>
              <a:rPr lang="ko-KR" altLang="en-US" dirty="0"/>
              <a:t>학습과 배치</a:t>
            </a:r>
            <a:r>
              <a:rPr lang="en-US" altLang="ko-KR" dirty="0"/>
              <a:t>(batch) </a:t>
            </a:r>
            <a:r>
              <a:rPr lang="ko-KR" altLang="en-US" dirty="0"/>
              <a:t>학습</a:t>
            </a:r>
          </a:p>
          <a:p>
            <a:r>
              <a:rPr lang="ko-KR" altLang="en-US" dirty="0"/>
              <a:t>일반적인 모델 </a:t>
            </a:r>
            <a:r>
              <a:rPr lang="en-US" altLang="ko-KR" dirty="0"/>
              <a:t>(</a:t>
            </a:r>
            <a:r>
              <a:rPr lang="ko-KR" altLang="en-US" dirty="0"/>
              <a:t>패턴</a:t>
            </a:r>
            <a:r>
              <a:rPr lang="en-US" altLang="ko-KR" dirty="0"/>
              <a:t>)</a:t>
            </a:r>
            <a:r>
              <a:rPr lang="ko-KR" altLang="en-US" dirty="0"/>
              <a:t>을 생성하느냐 그렇지 </a:t>
            </a:r>
            <a:r>
              <a:rPr lang="ko-KR" altLang="en-US" dirty="0" err="1"/>
              <a:t>않으냐에</a:t>
            </a:r>
            <a:r>
              <a:rPr lang="ko-KR" altLang="en-US" dirty="0"/>
              <a:t> 따라</a:t>
            </a:r>
          </a:p>
          <a:p>
            <a:pPr lvl="1"/>
            <a:r>
              <a:rPr lang="ko-KR" altLang="en-US" dirty="0" err="1"/>
              <a:t>사례기반</a:t>
            </a:r>
            <a:r>
              <a:rPr lang="ko-KR" altLang="en-US" dirty="0"/>
              <a:t> </a:t>
            </a:r>
            <a:r>
              <a:rPr lang="en-US" altLang="ko-KR" dirty="0"/>
              <a:t>(instance-based) </a:t>
            </a:r>
            <a:r>
              <a:rPr lang="ko-KR" altLang="en-US" dirty="0"/>
              <a:t>학습과 </a:t>
            </a:r>
            <a:r>
              <a:rPr lang="ko-KR" altLang="en-US" dirty="0" err="1"/>
              <a:t>모델기반</a:t>
            </a:r>
            <a:r>
              <a:rPr lang="ko-KR" altLang="en-US" dirty="0"/>
              <a:t> </a:t>
            </a:r>
            <a:r>
              <a:rPr lang="en-US" altLang="ko-KR" dirty="0"/>
              <a:t>(model-based) </a:t>
            </a:r>
            <a:r>
              <a:rPr lang="ko-KR" altLang="en-US" dirty="0"/>
              <a:t>학습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5253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60625"/>
            <a:ext cx="10515600" cy="1898236"/>
          </a:xfrm>
        </p:spPr>
        <p:txBody>
          <a:bodyPr/>
          <a:lstStyle/>
          <a:p>
            <a:r>
              <a:rPr lang="ko-KR" altLang="en-US" dirty="0"/>
              <a:t>학습 시 </a:t>
            </a:r>
            <a:r>
              <a:rPr lang="ko-KR" altLang="en-US" dirty="0" err="1"/>
              <a:t>입력필드의</a:t>
            </a:r>
            <a:r>
              <a:rPr lang="ko-KR" altLang="en-US" dirty="0"/>
              <a:t> 값과 </a:t>
            </a:r>
            <a:r>
              <a:rPr lang="ko-KR" altLang="en-US" dirty="0" err="1"/>
              <a:t>출력필드의</a:t>
            </a:r>
            <a:r>
              <a:rPr lang="ko-KR" altLang="en-US" dirty="0"/>
              <a:t> 값 모두를 제시하고 학습시키는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1"/>
            <a:r>
              <a:rPr lang="ko-KR" altLang="en-US" dirty="0"/>
              <a:t>출력 필드를 타겟 </a:t>
            </a:r>
            <a:r>
              <a:rPr lang="en-US" altLang="ko-KR" dirty="0"/>
              <a:t>(target)</a:t>
            </a:r>
            <a:r>
              <a:rPr lang="ko-KR" altLang="en-US" dirty="0" smtClean="0"/>
              <a:t>이라고도 함</a:t>
            </a:r>
            <a:endParaRPr lang="ko-KR" altLang="en-US" dirty="0"/>
          </a:p>
          <a:p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en-US" altLang="ko-KR" dirty="0"/>
              <a:t>x</a:t>
            </a:r>
            <a:r>
              <a:rPr lang="ko-KR" altLang="en-US" dirty="0"/>
              <a:t>좌표 값과 </a:t>
            </a:r>
            <a:r>
              <a:rPr lang="en-US" altLang="ko-KR" dirty="0"/>
              <a:t>y </a:t>
            </a:r>
            <a:r>
              <a:rPr lang="ko-KR" altLang="en-US" dirty="0"/>
              <a:t>좌표 값을 이용하여 그 분면을 판단</a:t>
            </a:r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055279"/>
              </p:ext>
            </p:extLst>
          </p:nvPr>
        </p:nvGraphicFramePr>
        <p:xfrm>
          <a:off x="1613612" y="3291591"/>
          <a:ext cx="7278597" cy="2396275"/>
        </p:xfrm>
        <a:graphic>
          <a:graphicData uri="http://schemas.openxmlformats.org/drawingml/2006/table">
            <a:tbl>
              <a:tblPr/>
              <a:tblGrid>
                <a:gridCol w="1213343">
                  <a:extLst>
                    <a:ext uri="{9D8B030D-6E8A-4147-A177-3AD203B41FA5}">
                      <a16:colId xmlns:a16="http://schemas.microsoft.com/office/drawing/2014/main" val="1796292650"/>
                    </a:ext>
                  </a:extLst>
                </a:gridCol>
                <a:gridCol w="1213343">
                  <a:extLst>
                    <a:ext uri="{9D8B030D-6E8A-4147-A177-3AD203B41FA5}">
                      <a16:colId xmlns:a16="http://schemas.microsoft.com/office/drawing/2014/main" val="2106636691"/>
                    </a:ext>
                  </a:extLst>
                </a:gridCol>
                <a:gridCol w="1213343">
                  <a:extLst>
                    <a:ext uri="{9D8B030D-6E8A-4147-A177-3AD203B41FA5}">
                      <a16:colId xmlns:a16="http://schemas.microsoft.com/office/drawing/2014/main" val="829131655"/>
                    </a:ext>
                  </a:extLst>
                </a:gridCol>
                <a:gridCol w="1213343">
                  <a:extLst>
                    <a:ext uri="{9D8B030D-6E8A-4147-A177-3AD203B41FA5}">
                      <a16:colId xmlns:a16="http://schemas.microsoft.com/office/drawing/2014/main" val="4030907241"/>
                    </a:ext>
                  </a:extLst>
                </a:gridCol>
                <a:gridCol w="1213343">
                  <a:extLst>
                    <a:ext uri="{9D8B030D-6E8A-4147-A177-3AD203B41FA5}">
                      <a16:colId xmlns:a16="http://schemas.microsoft.com/office/drawing/2014/main" val="617043292"/>
                    </a:ext>
                  </a:extLst>
                </a:gridCol>
                <a:gridCol w="1211882">
                  <a:extLst>
                    <a:ext uri="{9D8B030D-6E8A-4147-A177-3AD203B41FA5}">
                      <a16:colId xmlns:a16="http://schemas.microsoft.com/office/drawing/2014/main" val="3752169405"/>
                    </a:ext>
                  </a:extLst>
                </a:gridCol>
              </a:tblGrid>
              <a:tr h="47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분면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분면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45467"/>
                  </a:ext>
                </a:extLst>
              </a:tr>
              <a:tr h="47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987761"/>
                  </a:ext>
                </a:extLst>
              </a:tr>
              <a:tr h="47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474690"/>
                  </a:ext>
                </a:extLst>
              </a:tr>
              <a:tr h="47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695984"/>
                  </a:ext>
                </a:extLst>
              </a:tr>
              <a:tr h="479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303333"/>
                  </a:ext>
                </a:extLst>
              </a:tr>
            </a:tbl>
          </a:graphicData>
        </a:graphic>
      </p:graphicFrame>
      <p:sp>
        <p:nvSpPr>
          <p:cNvPr id="5" name="내용 개체 틀 2"/>
          <p:cNvSpPr txBox="1">
            <a:spLocks/>
          </p:cNvSpPr>
          <p:nvPr/>
        </p:nvSpPr>
        <p:spPr>
          <a:xfrm>
            <a:off x="838200" y="6006686"/>
            <a:ext cx="10515600" cy="632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분류 </a:t>
            </a:r>
            <a:r>
              <a:rPr lang="en-US" altLang="ko-KR" dirty="0"/>
              <a:t>(classification)</a:t>
            </a:r>
            <a:r>
              <a:rPr lang="ko-KR" altLang="en-US" dirty="0"/>
              <a:t>와 회귀분석 </a:t>
            </a:r>
            <a:r>
              <a:rPr lang="en-US" altLang="ko-KR" dirty="0"/>
              <a:t>(regression)</a:t>
            </a:r>
            <a:r>
              <a:rPr lang="ko-KR" altLang="en-US" dirty="0"/>
              <a:t>으로 구분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11722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0949"/>
          </a:xfrm>
        </p:spPr>
        <p:txBody>
          <a:bodyPr>
            <a:normAutofit/>
          </a:bodyPr>
          <a:lstStyle/>
          <a:p>
            <a:r>
              <a:rPr lang="ko-KR" altLang="en-US" dirty="0"/>
              <a:t>분류 </a:t>
            </a:r>
            <a:r>
              <a:rPr lang="en-US" altLang="ko-KR" dirty="0"/>
              <a:t>(classification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분류는 </a:t>
            </a:r>
            <a:r>
              <a:rPr lang="ko-KR" altLang="en-US" dirty="0"/>
              <a:t>데이터 그룹 </a:t>
            </a:r>
            <a:r>
              <a:rPr lang="en-US" altLang="ko-KR" dirty="0"/>
              <a:t>(</a:t>
            </a:r>
            <a:r>
              <a:rPr lang="ko-KR" altLang="en-US" dirty="0"/>
              <a:t>이를 클래스 </a:t>
            </a:r>
            <a:r>
              <a:rPr lang="en-US" altLang="ko-KR" dirty="0"/>
              <a:t>(class)</a:t>
            </a:r>
            <a:r>
              <a:rPr lang="ko-KR" altLang="en-US" dirty="0"/>
              <a:t>라 함</a:t>
            </a:r>
            <a:r>
              <a:rPr lang="en-US" altLang="ko-KR" dirty="0"/>
              <a:t>)</a:t>
            </a:r>
            <a:r>
              <a:rPr lang="ko-KR" altLang="en-US" dirty="0"/>
              <a:t>을 미리 정해 놓고</a:t>
            </a:r>
            <a:r>
              <a:rPr lang="en-US" altLang="ko-KR" dirty="0"/>
              <a:t>, </a:t>
            </a:r>
            <a:r>
              <a:rPr lang="ko-KR" altLang="en-US" dirty="0"/>
              <a:t>그룹의 정해지지 않은 입력 데이터가 어떤 그룹</a:t>
            </a:r>
            <a:r>
              <a:rPr lang="en-US" altLang="ko-KR" dirty="0"/>
              <a:t>, </a:t>
            </a:r>
            <a:r>
              <a:rPr lang="ko-KR" altLang="en-US" dirty="0"/>
              <a:t>즉 클래스에 속하는지를 판별하는 방법</a:t>
            </a:r>
          </a:p>
          <a:p>
            <a:pPr lvl="1"/>
            <a:r>
              <a:rPr lang="ko-KR" altLang="en-US" dirty="0"/>
              <a:t>학습 데이터는 입력 필드의 값과 그에 대응되는 클래스로 구성</a:t>
            </a:r>
          </a:p>
          <a:p>
            <a:pPr lvl="1"/>
            <a:r>
              <a:rPr lang="ko-KR" altLang="en-US" dirty="0"/>
              <a:t>학습 데이터를 이용하여 학습을 하면 분류 모델이 만들어 지고</a:t>
            </a:r>
            <a:r>
              <a:rPr lang="en-US" altLang="ko-KR" dirty="0"/>
              <a:t>, </a:t>
            </a:r>
            <a:r>
              <a:rPr lang="ko-KR" altLang="en-US" dirty="0"/>
              <a:t>이 모델을 이용하여 새로운 입력에 대한 클래스를 판별</a:t>
            </a:r>
          </a:p>
          <a:p>
            <a:pPr lvl="1"/>
            <a:r>
              <a:rPr lang="ko-KR" altLang="en-US" dirty="0"/>
              <a:t>학습된 모델에 학습에 사용 한 입력 값을 주면 보통 그 결과가 좋을 수밖에 </a:t>
            </a:r>
            <a:r>
              <a:rPr lang="ko-KR" altLang="en-US" dirty="0" smtClean="0"/>
              <a:t>없음</a:t>
            </a:r>
            <a:endParaRPr lang="en-US" altLang="ko-KR" dirty="0"/>
          </a:p>
          <a:p>
            <a:pPr lvl="2"/>
            <a:r>
              <a:rPr lang="ko-KR" altLang="en-US" dirty="0"/>
              <a:t>분류 성능을 판단할 때는 학습에 사용되지 않는 데이터 그러면서 그 클래스를 알고 있는 데이터들을 사용하여 </a:t>
            </a:r>
            <a:r>
              <a:rPr lang="ko-KR" altLang="en-US" dirty="0" smtClean="0"/>
              <a:t>평가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1527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회귀 분석 </a:t>
            </a:r>
            <a:r>
              <a:rPr lang="en-US" altLang="ko-KR" dirty="0"/>
              <a:t>(regression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입력 </a:t>
            </a:r>
            <a:r>
              <a:rPr lang="ko-KR" altLang="en-US" dirty="0"/>
              <a:t>값들과 그에 대한 출력 값을 주어서 </a:t>
            </a:r>
            <a:r>
              <a:rPr lang="ko-KR" altLang="en-US" dirty="0" smtClean="0"/>
              <a:t>학습</a:t>
            </a:r>
            <a:r>
              <a:rPr lang="en-US" altLang="ko-KR" dirty="0" smtClean="0"/>
              <a:t>. </a:t>
            </a:r>
            <a:r>
              <a:rPr lang="ko-KR" altLang="en-US" dirty="0"/>
              <a:t>차이점은 출력 값이 몇 개의 값으로 한정이 되지 </a:t>
            </a:r>
            <a:r>
              <a:rPr lang="ko-KR" altLang="en-US" dirty="0" smtClean="0"/>
              <a:t>않다는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것</a:t>
            </a:r>
            <a:endParaRPr lang="ko-KR" altLang="en-US" dirty="0"/>
          </a:p>
          <a:p>
            <a:pPr lvl="1"/>
            <a:r>
              <a:rPr lang="ko-KR" altLang="en-US" dirty="0"/>
              <a:t>분류의 경우는 학습된 모델에 미지의 입력 값을 주면 </a:t>
            </a:r>
            <a:r>
              <a:rPr lang="ko-KR" altLang="en-US" dirty="0" smtClean="0"/>
              <a:t>제시된 클래스 중 하나를 결과로 출력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앞 예에서 </a:t>
            </a:r>
            <a:r>
              <a:rPr lang="en-US" altLang="ko-KR" dirty="0" smtClean="0"/>
              <a:t>1, 2, 3, 4 </a:t>
            </a:r>
            <a:r>
              <a:rPr lang="ko-KR" altLang="en-US" dirty="0" smtClean="0"/>
              <a:t>중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하나의 값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/>
              <a:t>회귀 분석인 경우는 이 이외의 값도 </a:t>
            </a:r>
            <a:r>
              <a:rPr lang="ko-KR" altLang="en-US" dirty="0" smtClean="0"/>
              <a:t>출력</a:t>
            </a:r>
            <a:r>
              <a:rPr lang="en-US" altLang="ko-KR" dirty="0" smtClean="0"/>
              <a:t>. </a:t>
            </a:r>
            <a:r>
              <a:rPr lang="ko-KR" altLang="en-US" dirty="0"/>
              <a:t>학습에 사용된 입력 값을 주면 학습 시 주어진 출력이 그대로 나오는 것이 아니라 그에 근접한 값이 출력</a:t>
            </a:r>
          </a:p>
          <a:p>
            <a:pPr lvl="1"/>
            <a:endParaRPr lang="ko-KR" altLang="en-US" dirty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711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_x443482008" descr="EMB000008c40ef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662" y="3961165"/>
            <a:ext cx="2370138" cy="232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_x443486648" descr="EMB000008c40e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383" y="2105508"/>
            <a:ext cx="3076575" cy="14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928802"/>
            <a:ext cx="10515600" cy="1401709"/>
          </a:xfrm>
        </p:spPr>
        <p:txBody>
          <a:bodyPr>
            <a:normAutofit/>
          </a:bodyPr>
          <a:lstStyle/>
          <a:p>
            <a:r>
              <a:rPr lang="ko-KR" altLang="en-US" dirty="0"/>
              <a:t>분류 </a:t>
            </a:r>
            <a:r>
              <a:rPr lang="en-US" altLang="ko-KR" dirty="0"/>
              <a:t>vs </a:t>
            </a:r>
            <a:r>
              <a:rPr lang="ko-KR" altLang="en-US" dirty="0"/>
              <a:t>회귀분석</a:t>
            </a:r>
            <a:r>
              <a:rPr lang="en-US" altLang="ko-KR" dirty="0"/>
              <a:t>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분류는 </a:t>
            </a:r>
            <a:r>
              <a:rPr lang="ko-KR" altLang="en-US" dirty="0"/>
              <a:t>데이터들을 클래스로 분리하는 함수를 </a:t>
            </a:r>
            <a:r>
              <a:rPr lang="ko-KR" altLang="en-US" dirty="0" smtClean="0"/>
              <a:t>학습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681410"/>
              </p:ext>
            </p:extLst>
          </p:nvPr>
        </p:nvGraphicFramePr>
        <p:xfrm>
          <a:off x="1185557" y="3227333"/>
          <a:ext cx="6394681" cy="949452"/>
        </p:xfrm>
        <a:graphic>
          <a:graphicData uri="http://schemas.openxmlformats.org/drawingml/2006/table">
            <a:tbl>
              <a:tblPr/>
              <a:tblGrid>
                <a:gridCol w="913881">
                  <a:extLst>
                    <a:ext uri="{9D8B030D-6E8A-4147-A177-3AD203B41FA5}">
                      <a16:colId xmlns:a16="http://schemas.microsoft.com/office/drawing/2014/main" val="1904936198"/>
                    </a:ext>
                  </a:extLst>
                </a:gridCol>
                <a:gridCol w="913881">
                  <a:extLst>
                    <a:ext uri="{9D8B030D-6E8A-4147-A177-3AD203B41FA5}">
                      <a16:colId xmlns:a16="http://schemas.microsoft.com/office/drawing/2014/main" val="3647895688"/>
                    </a:ext>
                  </a:extLst>
                </a:gridCol>
                <a:gridCol w="913881">
                  <a:extLst>
                    <a:ext uri="{9D8B030D-6E8A-4147-A177-3AD203B41FA5}">
                      <a16:colId xmlns:a16="http://schemas.microsoft.com/office/drawing/2014/main" val="612502942"/>
                    </a:ext>
                  </a:extLst>
                </a:gridCol>
                <a:gridCol w="913881">
                  <a:extLst>
                    <a:ext uri="{9D8B030D-6E8A-4147-A177-3AD203B41FA5}">
                      <a16:colId xmlns:a16="http://schemas.microsoft.com/office/drawing/2014/main" val="2768469261"/>
                    </a:ext>
                  </a:extLst>
                </a:gridCol>
                <a:gridCol w="913881">
                  <a:extLst>
                    <a:ext uri="{9D8B030D-6E8A-4147-A177-3AD203B41FA5}">
                      <a16:colId xmlns:a16="http://schemas.microsoft.com/office/drawing/2014/main" val="2051665565"/>
                    </a:ext>
                  </a:extLst>
                </a:gridCol>
                <a:gridCol w="913881">
                  <a:extLst>
                    <a:ext uri="{9D8B030D-6E8A-4147-A177-3AD203B41FA5}">
                      <a16:colId xmlns:a16="http://schemas.microsoft.com/office/drawing/2014/main" val="960925370"/>
                    </a:ext>
                  </a:extLst>
                </a:gridCol>
                <a:gridCol w="911395">
                  <a:extLst>
                    <a:ext uri="{9D8B030D-6E8A-4147-A177-3AD203B41FA5}">
                      <a16:colId xmlns:a16="http://schemas.microsoft.com/office/drawing/2014/main" val="902714993"/>
                    </a:ext>
                  </a:extLst>
                </a:gridCol>
              </a:tblGrid>
              <a:tr h="449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7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283458"/>
                  </a:ext>
                </a:extLst>
              </a:tr>
              <a:tr h="4493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N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N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N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P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378970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>
          <a:xfrm>
            <a:off x="838200" y="4392403"/>
            <a:ext cx="8027504" cy="948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/>
            <a:r>
              <a:rPr lang="ko-KR" altLang="en-US" dirty="0" smtClean="0"/>
              <a:t>회귀 분석은 </a:t>
            </a:r>
            <a:r>
              <a:rPr lang="ko-KR" altLang="en-US" dirty="0"/>
              <a:t>학습 입력 값이 주어졌을 때 주어진 출력 값에 가까운 값을 출력하는 </a:t>
            </a:r>
            <a:r>
              <a:rPr lang="ko-KR" altLang="en-US" dirty="0" smtClean="0"/>
              <a:t>함수를 학습</a:t>
            </a:r>
            <a:endParaRPr lang="ko-KR" altLang="en-US" sz="16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1836"/>
              </p:ext>
            </p:extLst>
          </p:nvPr>
        </p:nvGraphicFramePr>
        <p:xfrm>
          <a:off x="1185557" y="5455411"/>
          <a:ext cx="6394684" cy="949452"/>
        </p:xfrm>
        <a:graphic>
          <a:graphicData uri="http://schemas.openxmlformats.org/drawingml/2006/table">
            <a:tbl>
              <a:tblPr/>
              <a:tblGrid>
                <a:gridCol w="913681">
                  <a:extLst>
                    <a:ext uri="{9D8B030D-6E8A-4147-A177-3AD203B41FA5}">
                      <a16:colId xmlns:a16="http://schemas.microsoft.com/office/drawing/2014/main" val="610992256"/>
                    </a:ext>
                  </a:extLst>
                </a:gridCol>
                <a:gridCol w="913681">
                  <a:extLst>
                    <a:ext uri="{9D8B030D-6E8A-4147-A177-3AD203B41FA5}">
                      <a16:colId xmlns:a16="http://schemas.microsoft.com/office/drawing/2014/main" val="1606720716"/>
                    </a:ext>
                  </a:extLst>
                </a:gridCol>
                <a:gridCol w="913681">
                  <a:extLst>
                    <a:ext uri="{9D8B030D-6E8A-4147-A177-3AD203B41FA5}">
                      <a16:colId xmlns:a16="http://schemas.microsoft.com/office/drawing/2014/main" val="2717326029"/>
                    </a:ext>
                  </a:extLst>
                </a:gridCol>
                <a:gridCol w="913681">
                  <a:extLst>
                    <a:ext uri="{9D8B030D-6E8A-4147-A177-3AD203B41FA5}">
                      <a16:colId xmlns:a16="http://schemas.microsoft.com/office/drawing/2014/main" val="3204560540"/>
                    </a:ext>
                  </a:extLst>
                </a:gridCol>
                <a:gridCol w="913681">
                  <a:extLst>
                    <a:ext uri="{9D8B030D-6E8A-4147-A177-3AD203B41FA5}">
                      <a16:colId xmlns:a16="http://schemas.microsoft.com/office/drawing/2014/main" val="1068500443"/>
                    </a:ext>
                  </a:extLst>
                </a:gridCol>
                <a:gridCol w="913681">
                  <a:extLst>
                    <a:ext uri="{9D8B030D-6E8A-4147-A177-3AD203B41FA5}">
                      <a16:colId xmlns:a16="http://schemas.microsoft.com/office/drawing/2014/main" val="1155214849"/>
                    </a:ext>
                  </a:extLst>
                </a:gridCol>
                <a:gridCol w="912598">
                  <a:extLst>
                    <a:ext uri="{9D8B030D-6E8A-4147-A177-3AD203B41FA5}">
                      <a16:colId xmlns:a16="http://schemas.microsoft.com/office/drawing/2014/main" val="1112638667"/>
                    </a:ext>
                  </a:extLst>
                </a:gridCol>
              </a:tblGrid>
              <a:tr h="456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7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007892"/>
                  </a:ext>
                </a:extLst>
              </a:tr>
              <a:tr h="456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8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97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092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다양한 </a:t>
            </a:r>
            <a:r>
              <a:rPr lang="ko-KR" altLang="en-US" dirty="0" err="1" smtClean="0"/>
              <a:t>지도학습</a:t>
            </a:r>
            <a:r>
              <a:rPr lang="ko-KR" altLang="en-US" dirty="0" smtClean="0"/>
              <a:t> 알고리즘 존재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k-Nearest </a:t>
            </a:r>
            <a:r>
              <a:rPr lang="en-US" altLang="ko-KR" dirty="0"/>
              <a:t>Neighbors, Linear Regression, Logistic Regression, Support Vector Machines (SVMs), Decision </a:t>
            </a:r>
            <a:r>
              <a:rPr lang="en-US" altLang="ko-KR" dirty="0" smtClean="0"/>
              <a:t>Trees, Random </a:t>
            </a:r>
            <a:r>
              <a:rPr lang="en-US" altLang="ko-KR" dirty="0"/>
              <a:t>Forests, Neural networks </a:t>
            </a:r>
            <a:r>
              <a:rPr lang="ko-KR" altLang="en-US" dirty="0"/>
              <a:t>등</a:t>
            </a:r>
          </a:p>
          <a:p>
            <a:pPr lvl="1"/>
            <a:r>
              <a:rPr lang="ko-KR" altLang="en-US" dirty="0"/>
              <a:t>많은 </a:t>
            </a:r>
            <a:r>
              <a:rPr lang="ko-KR" altLang="en-US" dirty="0" smtClean="0"/>
              <a:t>알고리즘이 </a:t>
            </a:r>
            <a:r>
              <a:rPr lang="ko-KR" altLang="en-US" dirty="0" err="1"/>
              <a:t>분류용과</a:t>
            </a:r>
            <a:r>
              <a:rPr lang="ko-KR" altLang="en-US" dirty="0"/>
              <a:t> 회귀분석용으로 모두 </a:t>
            </a:r>
            <a:r>
              <a:rPr lang="ko-KR" altLang="en-US" dirty="0" smtClean="0"/>
              <a:t>사용 가능</a:t>
            </a:r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881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 smtClean="0"/>
              <a:t>비지도학습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8392"/>
          </a:xfrm>
        </p:spPr>
        <p:txBody>
          <a:bodyPr/>
          <a:lstStyle/>
          <a:p>
            <a:r>
              <a:rPr lang="ko-KR" altLang="en-US" dirty="0"/>
              <a:t>입력 </a:t>
            </a:r>
            <a:r>
              <a:rPr lang="ko-KR" altLang="en-US" dirty="0" err="1"/>
              <a:t>필드만을</a:t>
            </a:r>
            <a:r>
              <a:rPr lang="ko-KR" altLang="en-US" dirty="0"/>
              <a:t> 이용하여 학습하는 방법</a:t>
            </a:r>
          </a:p>
          <a:p>
            <a:pPr lvl="1"/>
            <a:r>
              <a:rPr lang="ko-KR" altLang="en-US" dirty="0"/>
              <a:t>입력이 주어졌을 때 출력으로 무엇이 나와야 하는지를 지정해 주지 않기 때문에 비지도 </a:t>
            </a:r>
            <a:r>
              <a:rPr lang="ko-KR" altLang="en-US" dirty="0" smtClean="0"/>
              <a:t>학습이라 함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57808"/>
              </p:ext>
            </p:extLst>
          </p:nvPr>
        </p:nvGraphicFramePr>
        <p:xfrm>
          <a:off x="6195314" y="2811829"/>
          <a:ext cx="5294320" cy="2373630"/>
        </p:xfrm>
        <a:graphic>
          <a:graphicData uri="http://schemas.openxmlformats.org/drawingml/2006/table">
            <a:tbl>
              <a:tblPr/>
              <a:tblGrid>
                <a:gridCol w="1359153">
                  <a:extLst>
                    <a:ext uri="{9D8B030D-6E8A-4147-A177-3AD203B41FA5}">
                      <a16:colId xmlns:a16="http://schemas.microsoft.com/office/drawing/2014/main" val="1855257675"/>
                    </a:ext>
                  </a:extLst>
                </a:gridCol>
                <a:gridCol w="1359153">
                  <a:extLst>
                    <a:ext uri="{9D8B030D-6E8A-4147-A177-3AD203B41FA5}">
                      <a16:colId xmlns:a16="http://schemas.microsoft.com/office/drawing/2014/main" val="3858902076"/>
                    </a:ext>
                  </a:extLst>
                </a:gridCol>
                <a:gridCol w="1177984">
                  <a:extLst>
                    <a:ext uri="{9D8B030D-6E8A-4147-A177-3AD203B41FA5}">
                      <a16:colId xmlns:a16="http://schemas.microsoft.com/office/drawing/2014/main" val="2834847891"/>
                    </a:ext>
                  </a:extLst>
                </a:gridCol>
                <a:gridCol w="1398030">
                  <a:extLst>
                    <a:ext uri="{9D8B030D-6E8A-4147-A177-3AD203B41FA5}">
                      <a16:colId xmlns:a16="http://schemas.microsoft.com/office/drawing/2014/main" val="2496493137"/>
                    </a:ext>
                  </a:extLst>
                </a:gridCol>
              </a:tblGrid>
              <a:tr h="399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658752"/>
                  </a:ext>
                </a:extLst>
              </a:tr>
              <a:tr h="399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629227"/>
                  </a:ext>
                </a:extLst>
              </a:tr>
              <a:tr h="399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390642"/>
                  </a:ext>
                </a:extLst>
              </a:tr>
              <a:tr h="399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17139"/>
                  </a:ext>
                </a:extLst>
              </a:tr>
              <a:tr h="3997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763873"/>
                  </a:ext>
                </a:extLst>
              </a:tr>
            </a:tbl>
          </a:graphicData>
        </a:graphic>
      </p:graphicFrame>
      <p:sp>
        <p:nvSpPr>
          <p:cNvPr id="5" name="내용 개체 틀 2"/>
          <p:cNvSpPr txBox="1">
            <a:spLocks/>
          </p:cNvSpPr>
          <p:nvPr/>
        </p:nvSpPr>
        <p:spPr>
          <a:xfrm>
            <a:off x="838200" y="3278117"/>
            <a:ext cx="5151783" cy="3215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dirty="0" err="1"/>
              <a:t>클러스터링</a:t>
            </a:r>
            <a:r>
              <a:rPr lang="ko-KR" altLang="en-US" dirty="0"/>
              <a:t> </a:t>
            </a:r>
            <a:r>
              <a:rPr lang="en-US" altLang="ko-KR" dirty="0"/>
              <a:t>(clustering)</a:t>
            </a:r>
          </a:p>
          <a:p>
            <a:pPr lvl="1"/>
            <a:r>
              <a:rPr lang="ko-KR" altLang="en-US" dirty="0" smtClean="0"/>
              <a:t>비지도 학습의 한 형태</a:t>
            </a:r>
            <a:endParaRPr lang="en-US" altLang="ko-KR" dirty="0" smtClean="0"/>
          </a:p>
          <a:p>
            <a:pPr lvl="1"/>
            <a:r>
              <a:rPr lang="ko-KR" altLang="en-US" dirty="0"/>
              <a:t>데이터들을 유사한 그룹으로 자동으로 </a:t>
            </a:r>
            <a:r>
              <a:rPr lang="ko-KR" altLang="en-US" dirty="0" smtClean="0"/>
              <a:t>묶어주게 됨</a:t>
            </a:r>
            <a:endParaRPr lang="ko-KR" altLang="en-US" dirty="0"/>
          </a:p>
          <a:p>
            <a:pPr lvl="1"/>
            <a:r>
              <a:rPr lang="en-US" altLang="ko-KR" dirty="0"/>
              <a:t>k-Means, Hierarchical Cluster Analysis (HCA), Expectation Maximization </a:t>
            </a:r>
            <a:r>
              <a:rPr lang="ko-KR" altLang="en-US" dirty="0"/>
              <a:t>방법 등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6101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비지도학습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1888"/>
          </a:xfrm>
        </p:spPr>
        <p:txBody>
          <a:bodyPr/>
          <a:lstStyle/>
          <a:p>
            <a:r>
              <a:rPr lang="en-US" altLang="ko-KR" dirty="0" smtClean="0"/>
              <a:t>k-Means </a:t>
            </a:r>
            <a:r>
              <a:rPr lang="ko-KR" altLang="en-US" dirty="0" err="1" smtClean="0"/>
              <a:t>클러스터링</a:t>
            </a:r>
            <a:endParaRPr lang="en-US" altLang="ko-KR" dirty="0" smtClean="0"/>
          </a:p>
          <a:p>
            <a:pPr lvl="1"/>
            <a:r>
              <a:rPr lang="ko-KR" altLang="en-US" dirty="0"/>
              <a:t>구현이 </a:t>
            </a:r>
            <a:r>
              <a:rPr lang="ko-KR" altLang="en-US" dirty="0" smtClean="0"/>
              <a:t>용이 하면서 </a:t>
            </a:r>
            <a:r>
              <a:rPr lang="ko-KR" altLang="en-US" dirty="0"/>
              <a:t>성능이 좋기 때문에 많이 사용</a:t>
            </a:r>
          </a:p>
          <a:p>
            <a:pPr lvl="1"/>
            <a:r>
              <a:rPr lang="ko-KR" altLang="en-US" dirty="0" smtClean="0"/>
              <a:t>그룹 수 </a:t>
            </a:r>
            <a:r>
              <a:rPr lang="en-US" altLang="ko-KR" dirty="0" smtClean="0"/>
              <a:t>k</a:t>
            </a:r>
            <a:r>
              <a:rPr lang="ko-KR" altLang="en-US" dirty="0" smtClean="0"/>
              <a:t>를 사용자가 정의</a:t>
            </a:r>
            <a:endParaRPr lang="ko-KR" altLang="en-US" dirty="0"/>
          </a:p>
        </p:txBody>
      </p:sp>
      <p:pic>
        <p:nvPicPr>
          <p:cNvPr id="2049" name="_x445288456" descr="EMB0000251023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696" y="3262449"/>
            <a:ext cx="3156153" cy="320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_x445289176" descr="EMB0000251023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852" y="3262449"/>
            <a:ext cx="3156361" cy="320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58748" y="4495423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K = 2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091531" y="4495423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K =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3708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비지도학습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차원</a:t>
            </a:r>
            <a:r>
              <a:rPr lang="en-US" altLang="ko-KR" dirty="0" smtClean="0"/>
              <a:t> </a:t>
            </a:r>
            <a:r>
              <a:rPr lang="ko-KR" altLang="en-US" dirty="0" smtClean="0"/>
              <a:t>축소</a:t>
            </a:r>
            <a:endParaRPr lang="en-US" altLang="ko-KR" dirty="0" smtClean="0"/>
          </a:p>
          <a:p>
            <a:pPr lvl="1"/>
            <a:r>
              <a:rPr lang="ko-KR" altLang="en-US" dirty="0"/>
              <a:t>비지도 학습의 또 다른 형태</a:t>
            </a:r>
          </a:p>
          <a:p>
            <a:pPr lvl="1"/>
            <a:r>
              <a:rPr lang="ko-KR" altLang="en-US" dirty="0"/>
              <a:t>일반적으로는 더 많은 특징들을 사용하면 더 좋은 성능을 얻을 수 있을 것 같은데</a:t>
            </a:r>
            <a:r>
              <a:rPr lang="en-US" altLang="ko-KR" dirty="0"/>
              <a:t>, </a:t>
            </a:r>
            <a:r>
              <a:rPr lang="ko-KR" altLang="en-US" dirty="0"/>
              <a:t>특징 선별이 안 좋은 경우</a:t>
            </a:r>
            <a:r>
              <a:rPr lang="en-US" altLang="ko-KR" dirty="0"/>
              <a:t>, </a:t>
            </a:r>
            <a:r>
              <a:rPr lang="ko-KR" altLang="en-US" dirty="0" smtClean="0"/>
              <a:t>특징들 간의 </a:t>
            </a:r>
            <a:r>
              <a:rPr lang="ko-KR" altLang="en-US" dirty="0"/>
              <a:t>간섭으로 인해 더 성능이 안 좋아질 </a:t>
            </a:r>
            <a:r>
              <a:rPr lang="ko-KR" altLang="en-US" dirty="0" smtClean="0"/>
              <a:t>수 있음</a:t>
            </a:r>
            <a:endParaRPr lang="ko-KR" altLang="en-US" dirty="0"/>
          </a:p>
          <a:p>
            <a:pPr lvl="1"/>
            <a:r>
              <a:rPr lang="ko-KR" altLang="en-US" dirty="0"/>
              <a:t>특징의 개수가 많아지면 학습 속도도 많이 </a:t>
            </a:r>
            <a:r>
              <a:rPr lang="ko-KR" altLang="en-US" dirty="0" smtClean="0"/>
              <a:t>느려지게 됨</a:t>
            </a:r>
            <a:endParaRPr lang="ko-KR" altLang="en-US" dirty="0"/>
          </a:p>
          <a:p>
            <a:pPr lvl="1"/>
            <a:r>
              <a:rPr lang="ko-KR" altLang="en-US" dirty="0"/>
              <a:t>특징 축소 알고리즘은 학습 속도를 높이는 목적 외에 데이터를 시각화 </a:t>
            </a:r>
            <a:r>
              <a:rPr lang="en-US" altLang="ko-KR" dirty="0"/>
              <a:t>(visualization)</a:t>
            </a:r>
            <a:r>
              <a:rPr lang="ko-KR" altLang="en-US" dirty="0"/>
              <a:t>할 목적으로도 아주 유용</a:t>
            </a:r>
          </a:p>
          <a:p>
            <a:pPr lvl="1"/>
            <a:r>
              <a:rPr lang="ko-KR" altLang="en-US" dirty="0"/>
              <a:t>주성분 분석 </a:t>
            </a:r>
            <a:r>
              <a:rPr lang="en-US" altLang="ko-KR" dirty="0"/>
              <a:t>(Principal Component Analysis : PCA), Locally-Linear Embedding (LLE), t-distributed Stochastic Neighbor Embedding (t-SNE) </a:t>
            </a:r>
            <a:r>
              <a:rPr lang="ko-KR" altLang="en-US" dirty="0"/>
              <a:t>등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5457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비지도학습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7603435" cy="4351338"/>
          </a:xfrm>
        </p:spPr>
        <p:txBody>
          <a:bodyPr/>
          <a:lstStyle/>
          <a:p>
            <a:r>
              <a:rPr lang="en-US" altLang="ko-KR" dirty="0"/>
              <a:t>PCA</a:t>
            </a:r>
          </a:p>
          <a:p>
            <a:pPr lvl="1"/>
            <a:r>
              <a:rPr lang="ko-KR" altLang="en-US" dirty="0"/>
              <a:t>가장 대표적인 </a:t>
            </a:r>
            <a:r>
              <a:rPr lang="ko-KR" altLang="en-US" dirty="0" smtClean="0"/>
              <a:t>차원 축소 알고리즘</a:t>
            </a:r>
            <a:endParaRPr lang="ko-KR" altLang="en-US" dirty="0"/>
          </a:p>
          <a:p>
            <a:pPr lvl="1"/>
            <a:r>
              <a:rPr lang="ko-KR" altLang="en-US" dirty="0"/>
              <a:t>훈련 세트에서 가장 큰 분산을 </a:t>
            </a:r>
            <a:r>
              <a:rPr lang="ko-KR" altLang="en-US" dirty="0" smtClean="0"/>
              <a:t>보이는 </a:t>
            </a:r>
            <a:r>
              <a:rPr lang="ko-KR" altLang="en-US" dirty="0"/>
              <a:t>축을 </a:t>
            </a:r>
            <a:r>
              <a:rPr lang="ko-KR" altLang="en-US" dirty="0" smtClean="0"/>
              <a:t>식별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이어 </a:t>
            </a:r>
            <a:r>
              <a:rPr lang="ko-KR" altLang="en-US" dirty="0"/>
              <a:t>첫 번째 축과 직교하면서 또한 가장 큰 분산을 보이는 두 번째 축을 </a:t>
            </a:r>
            <a:r>
              <a:rPr lang="ko-KR" altLang="en-US" dirty="0" smtClean="0"/>
              <a:t>찾음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이런 식으로 원하는 </a:t>
            </a:r>
            <a:r>
              <a:rPr lang="ko-KR" altLang="en-US" dirty="0"/>
              <a:t>차원의 개수의 축을 </a:t>
            </a:r>
            <a:r>
              <a:rPr lang="ko-KR" altLang="en-US" dirty="0" smtClean="0"/>
              <a:t>찾음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이렇게 찾은 각 </a:t>
            </a:r>
            <a:r>
              <a:rPr lang="ko-KR" altLang="en-US" dirty="0"/>
              <a:t>축의 단위 벡터를 </a:t>
            </a:r>
            <a:r>
              <a:rPr lang="ko-KR" altLang="en-US" dirty="0" smtClean="0"/>
              <a:t>주성분이라 함</a:t>
            </a:r>
            <a:endParaRPr lang="ko-KR" altLang="en-US" dirty="0"/>
          </a:p>
          <a:p>
            <a:pPr lvl="1"/>
            <a:r>
              <a:rPr lang="ko-KR" altLang="en-US" dirty="0"/>
              <a:t>원래의 특징 벡터들은 이 주성분들로 구성된 </a:t>
            </a:r>
            <a:r>
              <a:rPr lang="ko-KR" altLang="en-US" dirty="0" err="1"/>
              <a:t>초평면으로</a:t>
            </a:r>
            <a:r>
              <a:rPr lang="ko-KR" altLang="en-US" dirty="0"/>
              <a:t> 투영 </a:t>
            </a:r>
            <a:r>
              <a:rPr lang="en-US" altLang="ko-KR" dirty="0"/>
              <a:t>(projection)</a:t>
            </a:r>
            <a:r>
              <a:rPr lang="ko-KR" altLang="en-US" dirty="0"/>
              <a:t>함으로써 축소 벡터를 </a:t>
            </a:r>
            <a:r>
              <a:rPr lang="ko-KR" altLang="en-US" dirty="0" smtClean="0"/>
              <a:t>얻게 됨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3073" name="_x445289416" descr="EMB00002510235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635" y="2262084"/>
            <a:ext cx="3492018" cy="3317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173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비지도학습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연관 규칙 </a:t>
            </a:r>
            <a:r>
              <a:rPr lang="en-US" altLang="ko-KR" dirty="0"/>
              <a:t>(association rule) </a:t>
            </a:r>
            <a:r>
              <a:rPr lang="ko-KR" altLang="en-US" dirty="0"/>
              <a:t>학습</a:t>
            </a:r>
          </a:p>
          <a:p>
            <a:pPr lvl="1"/>
            <a:r>
              <a:rPr lang="ko-KR" altLang="en-US" dirty="0"/>
              <a:t>비지도 학습의 또 다른 유형</a:t>
            </a:r>
          </a:p>
          <a:p>
            <a:pPr lvl="1"/>
            <a:r>
              <a:rPr lang="ko-KR" altLang="en-US" dirty="0"/>
              <a:t>주어진 거래 데이터들로부터 연관 규칙들을 자동으로 생성하는 방법</a:t>
            </a:r>
          </a:p>
          <a:p>
            <a:pPr lvl="1"/>
            <a:r>
              <a:rPr lang="ko-KR" altLang="en-US" dirty="0"/>
              <a:t>데이터 </a:t>
            </a:r>
            <a:r>
              <a:rPr lang="ko-KR" altLang="en-US" dirty="0" err="1"/>
              <a:t>마이닝</a:t>
            </a:r>
            <a:r>
              <a:rPr lang="ko-KR" altLang="en-US" dirty="0"/>
              <a:t> 기법으로 빅 데이터 분석에도 많이 사용</a:t>
            </a:r>
          </a:p>
          <a:p>
            <a:pPr lvl="1"/>
            <a:r>
              <a:rPr lang="ko-KR" altLang="en-US" dirty="0"/>
              <a:t>대표적 알고리즘에는 </a:t>
            </a:r>
            <a:r>
              <a:rPr lang="en-US" altLang="ko-KR" dirty="0" err="1"/>
              <a:t>Apriori</a:t>
            </a:r>
            <a:r>
              <a:rPr lang="ko-KR" altLang="en-US" dirty="0"/>
              <a:t>와 </a:t>
            </a:r>
            <a:r>
              <a:rPr lang="en-US" altLang="ko-KR" dirty="0" err="1"/>
              <a:t>Eclat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</a:p>
          <a:p>
            <a:pPr lvl="1"/>
            <a:r>
              <a:rPr lang="ko-KR" altLang="en-US" dirty="0"/>
              <a:t>거래 항목들 간의 연관 관계와 그 </a:t>
            </a:r>
            <a:r>
              <a:rPr lang="ko-KR" altLang="en-US" dirty="0" err="1"/>
              <a:t>확신도를</a:t>
            </a:r>
            <a:r>
              <a:rPr lang="ko-KR" altLang="en-US" dirty="0"/>
              <a:t> 같이 계산</a:t>
            </a:r>
          </a:p>
          <a:p>
            <a:pPr lvl="1"/>
            <a:r>
              <a:rPr lang="ko-KR" altLang="en-US" dirty="0" err="1"/>
              <a:t>확신도는</a:t>
            </a:r>
            <a:r>
              <a:rPr lang="ko-KR" altLang="en-US" dirty="0"/>
              <a:t> 그 연관 규칙이 학습 데이터들과 얼마나 일치하는지를 나타내는 척도로 </a:t>
            </a:r>
            <a:r>
              <a:rPr lang="en-US" altLang="ko-KR" dirty="0"/>
              <a:t>(</a:t>
            </a:r>
            <a:r>
              <a:rPr lang="ko-KR" altLang="en-US" dirty="0"/>
              <a:t>규칙과 일치하는 거래의 수</a:t>
            </a:r>
            <a:r>
              <a:rPr lang="en-US" altLang="ko-KR" dirty="0"/>
              <a:t>) / (</a:t>
            </a:r>
            <a:r>
              <a:rPr lang="ko-KR" altLang="en-US" dirty="0"/>
              <a:t>규칙의 조건부를 만족하는 전체 거래 수</a:t>
            </a:r>
            <a:r>
              <a:rPr lang="en-US" altLang="ko-KR" dirty="0"/>
              <a:t>)</a:t>
            </a:r>
            <a:r>
              <a:rPr lang="ko-KR" altLang="en-US" dirty="0"/>
              <a:t>로 계산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681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비지도학습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541724"/>
              </p:ext>
            </p:extLst>
          </p:nvPr>
        </p:nvGraphicFramePr>
        <p:xfrm>
          <a:off x="838200" y="2186604"/>
          <a:ext cx="10515600" cy="4747260"/>
        </p:xfrm>
        <a:graphic>
          <a:graphicData uri="http://schemas.openxmlformats.org/drawingml/2006/table">
            <a:tbl>
              <a:tblPr/>
              <a:tblGrid>
                <a:gridCol w="789034">
                  <a:extLst>
                    <a:ext uri="{9D8B030D-6E8A-4147-A177-3AD203B41FA5}">
                      <a16:colId xmlns:a16="http://schemas.microsoft.com/office/drawing/2014/main" val="2456423389"/>
                    </a:ext>
                  </a:extLst>
                </a:gridCol>
                <a:gridCol w="4118363">
                  <a:extLst>
                    <a:ext uri="{9D8B030D-6E8A-4147-A177-3AD203B41FA5}">
                      <a16:colId xmlns:a16="http://schemas.microsoft.com/office/drawing/2014/main" val="2989572507"/>
                    </a:ext>
                  </a:extLst>
                </a:gridCol>
                <a:gridCol w="5608203">
                  <a:extLst>
                    <a:ext uri="{9D8B030D-6E8A-4147-A177-3AD203B41FA5}">
                      <a16:colId xmlns:a16="http://schemas.microsoft.com/office/drawing/2014/main" val="775535785"/>
                    </a:ext>
                  </a:extLst>
                </a:gridCol>
              </a:tblGrid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TID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Product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marL="8763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Bread =&gt; Eggs : </a:t>
                      </a:r>
                      <a:r>
                        <a:rPr 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conf</a:t>
                      </a: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=2/4 = 50%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8763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Eggs =&gt; Bread : </a:t>
                      </a:r>
                      <a:r>
                        <a:rPr 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conf</a:t>
                      </a: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=2/2 = 100%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8763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Bread, Eggs =&gt; Milk : </a:t>
                      </a:r>
                      <a:r>
                        <a:rPr 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conf</a:t>
                      </a: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=2/2 = 100%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  <a:p>
                      <a:pPr marL="8763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Eggs =&gt; Milk, Bread : </a:t>
                      </a:r>
                      <a:r>
                        <a:rPr lang="en-US" sz="1800" b="1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conf</a:t>
                      </a: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=2/2 = 100%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360901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BREAD, EGGS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56150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BREAD, SUGAR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712938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BREAD, CEREAL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611437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BREAD, SUGAR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777546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CEREAL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700754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BREAD, CEREAL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66254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7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CEREAL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41882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8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BREAD, CEREAL, EGGS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819468"/>
                  </a:ext>
                </a:extLst>
              </a:tr>
              <a:tr h="3935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MILK, BREAD, CEREAL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87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852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준지도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semisupervised</a:t>
            </a:r>
            <a:r>
              <a:rPr lang="en-US" altLang="ko-KR" b="1" dirty="0"/>
              <a:t>) </a:t>
            </a:r>
            <a:r>
              <a:rPr lang="ko-KR" altLang="en-US" b="1" dirty="0" smtClean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레이블 학습 데이터와 </a:t>
            </a:r>
            <a:r>
              <a:rPr lang="ko-KR" altLang="en-US" dirty="0" err="1"/>
              <a:t>레이블되지</a:t>
            </a:r>
            <a:r>
              <a:rPr lang="ko-KR" altLang="en-US" dirty="0"/>
              <a:t> 않는 학습 데이터를 같이 사용하여 학습하는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지도 </a:t>
            </a:r>
            <a:r>
              <a:rPr lang="ko-KR" altLang="en-US" dirty="0"/>
              <a:t>학습에서 사용되는 학습 데이터</a:t>
            </a:r>
            <a:r>
              <a:rPr lang="en-US" altLang="ko-KR" dirty="0"/>
              <a:t>, </a:t>
            </a:r>
            <a:r>
              <a:rPr lang="ko-KR" altLang="en-US" dirty="0"/>
              <a:t>즉 입력과 그 타겟이 같이 주어진 형태의 학습 데이터를 </a:t>
            </a:r>
            <a:r>
              <a:rPr lang="ko-KR" altLang="en-US" dirty="0" err="1"/>
              <a:t>레이블된</a:t>
            </a:r>
            <a:r>
              <a:rPr lang="ko-KR" altLang="en-US" dirty="0"/>
              <a:t> 학습 데이터라 </a:t>
            </a:r>
            <a:r>
              <a:rPr lang="ko-KR" altLang="en-US" dirty="0" smtClean="0"/>
              <a:t>함</a:t>
            </a:r>
            <a:endParaRPr lang="ko-KR" altLang="en-US" dirty="0"/>
          </a:p>
          <a:p>
            <a:pPr lvl="1"/>
            <a:r>
              <a:rPr lang="ko-KR" altLang="en-US" dirty="0"/>
              <a:t>비지도 학습에서 사용되는 데이터</a:t>
            </a:r>
            <a:r>
              <a:rPr lang="en-US" altLang="ko-KR" dirty="0"/>
              <a:t>, </a:t>
            </a:r>
            <a:r>
              <a:rPr lang="ko-KR" altLang="en-US" dirty="0"/>
              <a:t>즉 입력값들로만 구성된 데이터를 </a:t>
            </a:r>
            <a:r>
              <a:rPr lang="ko-KR" altLang="en-US" dirty="0" err="1"/>
              <a:t>레이블되지</a:t>
            </a:r>
            <a:r>
              <a:rPr lang="ko-KR" altLang="en-US" dirty="0"/>
              <a:t> 않은 학습 </a:t>
            </a:r>
            <a:r>
              <a:rPr lang="ko-KR" altLang="en-US" dirty="0" smtClean="0"/>
              <a:t>데이터라 함</a:t>
            </a:r>
            <a:endParaRPr lang="en-US" altLang="ko-KR" dirty="0" smtClean="0"/>
          </a:p>
          <a:p>
            <a:r>
              <a:rPr lang="ko-KR" altLang="en-US" dirty="0"/>
              <a:t>실제 환경에서는 생성되는 데이터는 엄청 많은데 비해 이 각각에 대해 레이블 </a:t>
            </a:r>
            <a:r>
              <a:rPr lang="en-US" altLang="ko-KR" dirty="0"/>
              <a:t>(</a:t>
            </a:r>
            <a:r>
              <a:rPr lang="ko-KR" altLang="en-US" dirty="0"/>
              <a:t>타겟 값</a:t>
            </a:r>
            <a:r>
              <a:rPr lang="en-US" altLang="ko-KR" dirty="0"/>
              <a:t>)</a:t>
            </a:r>
            <a:r>
              <a:rPr lang="ko-KR" altLang="en-US" dirty="0"/>
              <a:t>을 부여하는 작업이 여의치 않아 </a:t>
            </a:r>
            <a:r>
              <a:rPr lang="ko-KR" altLang="en-US" dirty="0" err="1"/>
              <a:t>레이블되지</a:t>
            </a:r>
            <a:r>
              <a:rPr lang="ko-KR" altLang="en-US" dirty="0"/>
              <a:t> 않는 학습 데이터가 </a:t>
            </a:r>
            <a:r>
              <a:rPr lang="ko-KR" altLang="en-US" dirty="0" err="1"/>
              <a:t>레이블된</a:t>
            </a:r>
            <a:r>
              <a:rPr lang="ko-KR" altLang="en-US" dirty="0"/>
              <a:t> 학습 데이터 보다 훨씬 </a:t>
            </a:r>
            <a:r>
              <a:rPr lang="ko-KR" altLang="en-US" dirty="0" smtClean="0"/>
              <a:t>많음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4140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준지도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en-US" altLang="ko-KR" b="1" dirty="0" err="1"/>
              <a:t>semisupervised</a:t>
            </a:r>
            <a:r>
              <a:rPr lang="en-US" altLang="ko-KR" b="1" dirty="0"/>
              <a:t>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867400" cy="4614932"/>
          </a:xfrm>
        </p:spPr>
        <p:txBody>
          <a:bodyPr>
            <a:normAutofit/>
          </a:bodyPr>
          <a:lstStyle/>
          <a:p>
            <a:r>
              <a:rPr lang="ko-KR" altLang="en-US" dirty="0"/>
              <a:t>대부분의 </a:t>
            </a:r>
            <a:r>
              <a:rPr lang="ko-KR" altLang="en-US" dirty="0" err="1"/>
              <a:t>준지도</a:t>
            </a:r>
            <a:r>
              <a:rPr lang="ko-KR" altLang="en-US" dirty="0"/>
              <a:t> 학습 알고리즘은 지도 학습 알고리즘과 비지도 학습 알고리즘을 결합한 형태</a:t>
            </a:r>
          </a:p>
          <a:p>
            <a:r>
              <a:rPr lang="en-US" altLang="ko-KR" dirty="0"/>
              <a:t>Deep Belief Networks (DBNs)</a:t>
            </a:r>
          </a:p>
          <a:p>
            <a:pPr lvl="1"/>
            <a:r>
              <a:rPr lang="ko-KR" altLang="en-US" dirty="0"/>
              <a:t>먼저 레이블 되지 않는 학습 데이터를 이용하여 </a:t>
            </a:r>
            <a:r>
              <a:rPr lang="en-US" altLang="ko-KR" dirty="0"/>
              <a:t>RBM</a:t>
            </a:r>
            <a:r>
              <a:rPr lang="ko-KR" altLang="en-US" dirty="0"/>
              <a:t>들을 순서대로 개별 학습시킨 후 전체를 </a:t>
            </a:r>
            <a:r>
              <a:rPr lang="ko-KR" altLang="en-US" dirty="0" err="1"/>
              <a:t>레이블된</a:t>
            </a:r>
            <a:r>
              <a:rPr lang="ko-KR" altLang="en-US" dirty="0"/>
              <a:t> 데이터를 이용하여 다시 학습</a:t>
            </a:r>
          </a:p>
          <a:p>
            <a:pPr lvl="1"/>
            <a:endParaRPr lang="ko-KR" altLang="en-US" dirty="0"/>
          </a:p>
        </p:txBody>
      </p:sp>
      <p:pic>
        <p:nvPicPr>
          <p:cNvPr id="1025" name="_x336517936" descr="EMB00000fb8415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156" y="2279374"/>
            <a:ext cx="4692819" cy="394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555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강화 </a:t>
            </a:r>
            <a:r>
              <a:rPr lang="en-US" altLang="ko-KR" b="1" dirty="0"/>
              <a:t>(reinforcement) </a:t>
            </a:r>
            <a:r>
              <a:rPr lang="ko-KR" altLang="en-US" b="1" dirty="0" smtClean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행동심리학에서 영감을 받아 만들어진 학습 방법</a:t>
            </a:r>
          </a:p>
          <a:p>
            <a:r>
              <a:rPr lang="ko-KR" altLang="en-US" dirty="0"/>
              <a:t>어떤 환경 안에서 정의된 에이전트가 현재의 상태를 인식하여</a:t>
            </a:r>
            <a:r>
              <a:rPr lang="en-US" altLang="ko-KR" dirty="0"/>
              <a:t>, </a:t>
            </a:r>
            <a:r>
              <a:rPr lang="ko-KR" altLang="en-US" dirty="0"/>
              <a:t>선택 가능한 행동들 중 보상을 최대화하는 행동 혹은 행동 순서를 선택하도록 학습하는 방법</a:t>
            </a:r>
          </a:p>
          <a:p>
            <a:pPr lvl="1"/>
            <a:r>
              <a:rPr lang="ko-KR" altLang="en-US" dirty="0"/>
              <a:t>잘한 행동에 대해 칭찬 받고 잘못한 행동에 대해 벌을 받은 경험을 통해 자신의 지식을 키워나가는 학습법</a:t>
            </a:r>
          </a:p>
          <a:p>
            <a:pPr lvl="1"/>
            <a:r>
              <a:rPr lang="ko-KR" altLang="en-US" dirty="0"/>
              <a:t>여러 번의 실패와 성공 경험을 쌓으며 주어진 문제를 잘 해결할 수 있는 </a:t>
            </a:r>
            <a:r>
              <a:rPr lang="en-US" altLang="ko-KR" dirty="0"/>
              <a:t>know-how</a:t>
            </a:r>
            <a:r>
              <a:rPr lang="ko-KR" altLang="en-US" dirty="0"/>
              <a:t>를 습득하게 되는 방식</a:t>
            </a:r>
          </a:p>
          <a:p>
            <a:pPr lvl="1"/>
            <a:r>
              <a:rPr lang="ko-KR" altLang="en-US" dirty="0" smtClean="0"/>
              <a:t>행동에 </a:t>
            </a:r>
            <a:r>
              <a:rPr lang="ko-KR" altLang="en-US" dirty="0"/>
              <a:t>대한 포상 </a:t>
            </a:r>
            <a:r>
              <a:rPr lang="en-US" altLang="ko-KR" dirty="0"/>
              <a:t>(reward)</a:t>
            </a:r>
            <a:r>
              <a:rPr lang="ko-KR" altLang="en-US" dirty="0"/>
              <a:t>이 수치 값으로 주어지고 이러한 포상들의 합이 최대가 되는 방향으로 일련의 행동들이 결정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6767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강화 </a:t>
            </a:r>
            <a:r>
              <a:rPr lang="en-US" altLang="ko-KR" b="1" dirty="0"/>
              <a:t>(reinforcement)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8479"/>
          </a:xfrm>
        </p:spPr>
        <p:txBody>
          <a:bodyPr/>
          <a:lstStyle/>
          <a:p>
            <a:r>
              <a:rPr lang="ko-KR" altLang="en-US" dirty="0" smtClean="0"/>
              <a:t>바둑처럼 주어진 </a:t>
            </a:r>
            <a:r>
              <a:rPr lang="ko-KR" altLang="en-US" dirty="0"/>
              <a:t>목표가 있고 그 목표를 이루기 위해 반복적인 행동을 해야 하는 문제에 적합</a:t>
            </a:r>
          </a:p>
          <a:p>
            <a:pPr lvl="1"/>
            <a:r>
              <a:rPr lang="ko-KR" altLang="en-US" dirty="0"/>
              <a:t>게임</a:t>
            </a:r>
            <a:r>
              <a:rPr lang="en-US" altLang="ko-KR" dirty="0"/>
              <a:t>, </a:t>
            </a:r>
            <a:r>
              <a:rPr lang="ko-KR" altLang="en-US" dirty="0"/>
              <a:t>제어</a:t>
            </a:r>
            <a:r>
              <a:rPr lang="en-US" altLang="ko-KR" dirty="0"/>
              <a:t>, </a:t>
            </a:r>
            <a:r>
              <a:rPr lang="ko-KR" altLang="en-US" dirty="0"/>
              <a:t>다중 에이전트 시스템 등에서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1"/>
            <a:r>
              <a:rPr lang="ko-KR" altLang="en-US" dirty="0"/>
              <a:t>행위를 결정할 때 현 상태만 고려하고 이전 상태는 고려하지 </a:t>
            </a:r>
            <a:r>
              <a:rPr lang="ko-KR" altLang="en-US" dirty="0" smtClean="0"/>
              <a:t>않음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2049" name="_x336516816" descr="EMB00000fb841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81" y="3949149"/>
            <a:ext cx="7519776" cy="219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0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강화 </a:t>
            </a:r>
            <a:r>
              <a:rPr lang="en-US" altLang="ko-KR" b="1" dirty="0"/>
              <a:t>(reinforcement)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강화 학습은 </a:t>
            </a:r>
            <a:r>
              <a:rPr lang="en-US" altLang="ko-KR" dirty="0"/>
              <a:t>5-</a:t>
            </a:r>
            <a:r>
              <a:rPr lang="ko-KR" altLang="en-US" dirty="0" err="1"/>
              <a:t>튜플</a:t>
            </a:r>
            <a:r>
              <a:rPr lang="ko-KR" altLang="en-US" dirty="0"/>
              <a:t> </a:t>
            </a:r>
            <a:r>
              <a:rPr lang="en-US" altLang="ko-KR" dirty="0"/>
              <a:t>(S, A, P, R, γ)</a:t>
            </a:r>
            <a:r>
              <a:rPr lang="ko-KR" altLang="en-US" dirty="0"/>
              <a:t>에 의해 정의</a:t>
            </a:r>
          </a:p>
          <a:p>
            <a:pPr lvl="1"/>
            <a:r>
              <a:rPr lang="ko-KR" altLang="en-US" dirty="0"/>
              <a:t>일련의 상태 </a:t>
            </a:r>
            <a:r>
              <a:rPr lang="en-US" altLang="ko-KR" dirty="0"/>
              <a:t>S</a:t>
            </a:r>
            <a:r>
              <a:rPr lang="ko-KR" altLang="en-US" dirty="0"/>
              <a:t>와 일련의 행동 </a:t>
            </a:r>
            <a:r>
              <a:rPr lang="en-US" altLang="ko-KR" dirty="0"/>
              <a:t>A, </a:t>
            </a:r>
            <a:r>
              <a:rPr lang="ko-KR" altLang="en-US" dirty="0"/>
              <a:t>상태 전이 확률 </a:t>
            </a:r>
            <a:r>
              <a:rPr lang="en-US" altLang="ko-KR" dirty="0"/>
              <a:t>P, </a:t>
            </a:r>
            <a:r>
              <a:rPr lang="ko-KR" altLang="en-US" dirty="0"/>
              <a:t>보상 함수 </a:t>
            </a:r>
            <a:r>
              <a:rPr lang="en-US" altLang="ko-KR" dirty="0"/>
              <a:t>R : S × A </a:t>
            </a:r>
            <a:r>
              <a:rPr lang="ko-KR" altLang="en-US" dirty="0"/>
              <a:t>→ </a:t>
            </a:r>
            <a:r>
              <a:rPr lang="en-US" altLang="ko-KR" dirty="0"/>
              <a:t>ℜ, </a:t>
            </a:r>
            <a:r>
              <a:rPr lang="ko-KR" altLang="en-US" dirty="0"/>
              <a:t>그리고 시간이 지날수록 보상의 가치를 떨어 뜨려 앞 쪽에 발생한 행위에 대한 보상을 상대적으로 키워주는 감쇄 요인 </a:t>
            </a:r>
            <a:r>
              <a:rPr lang="en-US" altLang="ko-KR" dirty="0"/>
              <a:t>(discount factor) γ</a:t>
            </a:r>
            <a:r>
              <a:rPr lang="ko-KR" altLang="en-US" dirty="0"/>
              <a:t>으로 표현</a:t>
            </a:r>
          </a:p>
          <a:p>
            <a:pPr lvl="1"/>
            <a:r>
              <a:rPr lang="ko-KR" altLang="en-US" dirty="0"/>
              <a:t>결국 강화 학습은 예상되는 보상의 총액을 최대화 되도록 상태에서 동작으로 매핑하는 정책 함수 </a:t>
            </a:r>
            <a:r>
              <a:rPr lang="en-US" altLang="ko-KR" dirty="0"/>
              <a:t>(policy function) π : S </a:t>
            </a:r>
            <a:r>
              <a:rPr lang="ko-KR" altLang="en-US" dirty="0"/>
              <a:t>→ </a:t>
            </a:r>
            <a:r>
              <a:rPr lang="en-US" altLang="ko-KR" dirty="0"/>
              <a:t>A </a:t>
            </a:r>
            <a:r>
              <a:rPr lang="ko-KR" altLang="en-US" dirty="0"/>
              <a:t>함수를 학습하는 것</a:t>
            </a:r>
          </a:p>
          <a:p>
            <a:r>
              <a:rPr lang="ko-KR" altLang="en-US" dirty="0"/>
              <a:t>일단 </a:t>
            </a:r>
            <a:r>
              <a:rPr lang="en-US" altLang="ko-KR" dirty="0"/>
              <a:t>5-</a:t>
            </a:r>
            <a:r>
              <a:rPr lang="ko-KR" altLang="en-US" dirty="0" err="1"/>
              <a:t>튜플로</a:t>
            </a:r>
            <a:r>
              <a:rPr lang="ko-KR" altLang="en-US" dirty="0"/>
              <a:t> 정의되면 </a:t>
            </a:r>
            <a:r>
              <a:rPr lang="en-US" altLang="ko-KR" dirty="0"/>
              <a:t>Bellman </a:t>
            </a:r>
            <a:r>
              <a:rPr lang="ko-KR" altLang="en-US" dirty="0"/>
              <a:t>수식을 사용하여 최적의 정책을 </a:t>
            </a:r>
            <a:r>
              <a:rPr lang="ko-KR" altLang="en-US" dirty="0" smtClean="0"/>
              <a:t>찾을 수 있음</a:t>
            </a:r>
            <a:endParaRPr lang="en-US" altLang="ko-KR" dirty="0" smtClean="0"/>
          </a:p>
          <a:p>
            <a:pPr lvl="1"/>
            <a:r>
              <a:rPr lang="ko-KR" altLang="en-US" dirty="0"/>
              <a:t>상태 전이 확률 </a:t>
            </a:r>
            <a:r>
              <a:rPr lang="en-US" altLang="ko-KR" dirty="0"/>
              <a:t>P</a:t>
            </a:r>
            <a:r>
              <a:rPr lang="ko-KR" altLang="en-US" dirty="0"/>
              <a:t>와 보상 함수 </a:t>
            </a:r>
            <a:r>
              <a:rPr lang="en-US" altLang="ko-KR" dirty="0"/>
              <a:t>R</a:t>
            </a:r>
            <a:r>
              <a:rPr lang="ko-KR" altLang="en-US" dirty="0"/>
              <a:t>은 주어진다고 가정</a:t>
            </a:r>
          </a:p>
          <a:p>
            <a:pPr lvl="1"/>
            <a:r>
              <a:rPr lang="ko-KR" altLang="en-US" dirty="0"/>
              <a:t>실제 환경에서는 </a:t>
            </a:r>
            <a:r>
              <a:rPr lang="ko-KR" altLang="en-US" dirty="0" smtClean="0"/>
              <a:t>학습 </a:t>
            </a:r>
            <a:r>
              <a:rPr lang="ko-KR" altLang="en-US" dirty="0"/>
              <a:t>데이터를 통해 상태 전이 확률 </a:t>
            </a:r>
            <a:r>
              <a:rPr lang="en-US" altLang="ko-KR" dirty="0"/>
              <a:t>P</a:t>
            </a:r>
            <a:r>
              <a:rPr lang="ko-KR" altLang="en-US" dirty="0"/>
              <a:t>와 보상 함수 </a:t>
            </a:r>
            <a:r>
              <a:rPr lang="en-US" altLang="ko-KR" dirty="0"/>
              <a:t>R</a:t>
            </a:r>
            <a:r>
              <a:rPr lang="ko-KR" altLang="en-US" dirty="0"/>
              <a:t>을 </a:t>
            </a:r>
            <a:r>
              <a:rPr lang="ko-KR" altLang="en-US" dirty="0" smtClean="0"/>
              <a:t>추정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6792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77939" cy="1325563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일괄</a:t>
            </a:r>
            <a:r>
              <a:rPr lang="en-US" altLang="ko-KR" b="1" dirty="0" smtClean="0"/>
              <a:t>(</a:t>
            </a:r>
            <a:r>
              <a:rPr lang="en-US" altLang="ko-KR" b="1" dirty="0"/>
              <a:t>Batch)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 smtClean="0"/>
              <a:t>온라인</a:t>
            </a:r>
            <a:r>
              <a:rPr lang="en-US" altLang="ko-KR" b="1" dirty="0" smtClean="0"/>
              <a:t>(</a:t>
            </a:r>
            <a:r>
              <a:rPr lang="en-US" altLang="ko-KR" b="1" dirty="0"/>
              <a:t>Online) </a:t>
            </a:r>
            <a:r>
              <a:rPr lang="ko-KR" altLang="en-US" b="1" dirty="0" smtClean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</a:t>
            </a:r>
            <a:r>
              <a:rPr lang="ko-KR" altLang="en-US" dirty="0"/>
              <a:t>학습 데이터가 주어졌을 경우</a:t>
            </a:r>
            <a:r>
              <a:rPr lang="en-US" altLang="ko-KR" dirty="0"/>
              <a:t>, </a:t>
            </a:r>
            <a:r>
              <a:rPr lang="ko-KR" altLang="en-US" dirty="0"/>
              <a:t>기존 학습 결과 위에 이 데이터만 이용하여 추가로 학습하는 방법이 점진적으로 학습하는 방법</a:t>
            </a:r>
          </a:p>
          <a:p>
            <a:r>
              <a:rPr lang="ko-KR" altLang="en-US" dirty="0"/>
              <a:t>일관 학습은 점진적 </a:t>
            </a:r>
            <a:r>
              <a:rPr lang="en-US" altLang="ko-KR" dirty="0"/>
              <a:t>(incrementally)</a:t>
            </a:r>
            <a:r>
              <a:rPr lang="ko-KR" altLang="en-US" dirty="0"/>
              <a:t>이지 않고 모든 데이터를 이용하여 학습하는 방법</a:t>
            </a:r>
          </a:p>
          <a:p>
            <a:pPr lvl="1"/>
            <a:r>
              <a:rPr lang="ko-KR" altLang="en-US" dirty="0"/>
              <a:t>추가의 학습 데이터를 이용하여 </a:t>
            </a:r>
            <a:r>
              <a:rPr lang="ko-KR" altLang="en-US" dirty="0" err="1"/>
              <a:t>재학습할</a:t>
            </a:r>
            <a:r>
              <a:rPr lang="ko-KR" altLang="en-US" dirty="0"/>
              <a:t> 시 추가의 데이터뿐만 아니라 기존 학습 데이터도 같이 이용하여 학습</a:t>
            </a:r>
          </a:p>
          <a:p>
            <a:pPr lvl="1"/>
            <a:r>
              <a:rPr lang="ko-KR" altLang="en-US" dirty="0"/>
              <a:t>일괄 학습은 많은 시간과 컴퓨팅 자원이 </a:t>
            </a:r>
            <a:r>
              <a:rPr lang="ko-KR" altLang="en-US" dirty="0" smtClean="0"/>
              <a:t>필요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대부분 오프라인 방식으로 진행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617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일괄</a:t>
            </a:r>
            <a:r>
              <a:rPr lang="en-US" altLang="ko-KR" b="1" dirty="0"/>
              <a:t>(Batch)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온라인</a:t>
            </a:r>
            <a:r>
              <a:rPr lang="en-US" altLang="ko-KR" b="1" dirty="0"/>
              <a:t>(Online)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온라인 학습에서는 개별 학습 데이터나 미니 배치 </a:t>
            </a:r>
            <a:r>
              <a:rPr lang="en-US" altLang="ko-KR" dirty="0"/>
              <a:t>(mini-batch) (</a:t>
            </a:r>
            <a:r>
              <a:rPr lang="ko-KR" altLang="en-US" dirty="0"/>
              <a:t>개별 학습 데이터의 작은 묶음</a:t>
            </a:r>
            <a:r>
              <a:rPr lang="en-US" altLang="ko-KR" dirty="0"/>
              <a:t>) </a:t>
            </a:r>
            <a:r>
              <a:rPr lang="ko-KR" altLang="en-US" dirty="0"/>
              <a:t>단위로 학습 데이터를 제공하고 이에 대해서 점진적으로 학습</a:t>
            </a:r>
          </a:p>
          <a:p>
            <a:pPr lvl="1"/>
            <a:r>
              <a:rPr lang="ko-KR" altLang="en-US" dirty="0"/>
              <a:t>주식 가격처럼 학습 데이터가 지속적으로 제공되고</a:t>
            </a:r>
            <a:r>
              <a:rPr lang="en-US" altLang="ko-KR" dirty="0"/>
              <a:t>, </a:t>
            </a:r>
            <a:r>
              <a:rPr lang="ko-KR" altLang="en-US" dirty="0"/>
              <a:t>그 데이터에 신속하게 반응할 필요가 있는 시스템에 유익</a:t>
            </a:r>
          </a:p>
          <a:p>
            <a:r>
              <a:rPr lang="ko-KR" altLang="en-US" dirty="0"/>
              <a:t>온라인 학습은 온라인으로 학습 데이터가 제공되지 않지만 메인 메모리로는 한꺼번에 처리하기 곤란한 대용량의 학습 데이터를 처리하는 경우에도 유용</a:t>
            </a:r>
          </a:p>
          <a:p>
            <a:pPr lvl="1"/>
            <a:r>
              <a:rPr lang="ko-KR" altLang="en-US" dirty="0"/>
              <a:t>전체 학습 데이터를 메모리에 맞는 크기로 나누어 점진적으로 학습</a:t>
            </a:r>
          </a:p>
          <a:p>
            <a:pPr lvl="1"/>
            <a:r>
              <a:rPr lang="ko-KR" altLang="en-US" dirty="0"/>
              <a:t>이 </a:t>
            </a:r>
            <a:r>
              <a:rPr lang="ko-KR" altLang="en-US" dirty="0" smtClean="0"/>
              <a:t>경우에 </a:t>
            </a:r>
            <a:r>
              <a:rPr lang="ko-KR" altLang="en-US" dirty="0"/>
              <a:t>학습은 보통 오프라인 상태에서 이루어지고 기존 시스템을 학습된 결과로 대체하는 방법을 사용하기 때문에 온라인 학습이라고 보다는 점진적 학습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241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일괄</a:t>
            </a:r>
            <a:r>
              <a:rPr lang="en-US" altLang="ko-KR" b="1" dirty="0"/>
              <a:t>(Batch)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온라인</a:t>
            </a:r>
            <a:r>
              <a:rPr lang="en-US" altLang="ko-KR" b="1" dirty="0"/>
              <a:t>(Online)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온라인 학습에서는 기존 학습 결과 위에 새로운 학습 데이터를 반영하는 것이기 때문에 새 학습 데이터의 변화를 얼마나 기존 결과에 반영할 것인가가 결정짓는 </a:t>
            </a:r>
            <a:r>
              <a:rPr lang="ko-KR" altLang="en-US" dirty="0" err="1"/>
              <a:t>학습율</a:t>
            </a:r>
            <a:r>
              <a:rPr lang="ko-KR" altLang="en-US" dirty="0"/>
              <a:t> </a:t>
            </a:r>
            <a:r>
              <a:rPr lang="en-US" altLang="ko-KR" dirty="0"/>
              <a:t>(learning rate)</a:t>
            </a:r>
            <a:r>
              <a:rPr lang="ko-KR" altLang="en-US" dirty="0"/>
              <a:t>이 중요한 </a:t>
            </a:r>
            <a:r>
              <a:rPr lang="ko-KR" altLang="en-US" dirty="0" smtClean="0"/>
              <a:t>요인</a:t>
            </a:r>
            <a:endParaRPr lang="en-US" altLang="ko-KR" dirty="0" smtClean="0"/>
          </a:p>
          <a:p>
            <a:pPr lvl="1"/>
            <a:r>
              <a:rPr lang="ko-KR" altLang="en-US" dirty="0" err="1"/>
              <a:t>학습율이</a:t>
            </a:r>
            <a:r>
              <a:rPr lang="ko-KR" altLang="en-US" dirty="0"/>
              <a:t> 높으면</a:t>
            </a:r>
            <a:r>
              <a:rPr lang="en-US" altLang="ko-KR" dirty="0"/>
              <a:t>, </a:t>
            </a:r>
            <a:r>
              <a:rPr lang="ko-KR" altLang="en-US" dirty="0"/>
              <a:t>즉 새 데이터의 변화 반영률이 크면 이전 학습 결과가 적게 반영되어 새 데이터에 빠르게 적응이 되게 되고</a:t>
            </a:r>
            <a:r>
              <a:rPr lang="en-US" altLang="ko-KR" dirty="0"/>
              <a:t>, </a:t>
            </a:r>
            <a:r>
              <a:rPr lang="ko-KR" altLang="en-US" dirty="0"/>
              <a:t>반대로 </a:t>
            </a:r>
            <a:r>
              <a:rPr lang="ko-KR" altLang="en-US" dirty="0" err="1"/>
              <a:t>학습율이</a:t>
            </a:r>
            <a:r>
              <a:rPr lang="ko-KR" altLang="en-US" dirty="0"/>
              <a:t> 낮으면 이전 학습 결과가 많이 반영되어 새 데이터에 느리게 적응</a:t>
            </a:r>
          </a:p>
          <a:p>
            <a:pPr lvl="1"/>
            <a:r>
              <a:rPr lang="ko-KR" altLang="en-US" dirty="0"/>
              <a:t>좋지 않는 데이터가 학습 데이터로 주어지면 시스템 성능이 점차적으로 </a:t>
            </a:r>
            <a:r>
              <a:rPr lang="ko-KR" altLang="en-US" dirty="0" smtClean="0"/>
              <a:t>나빠지게 됨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시스템 </a:t>
            </a:r>
            <a:r>
              <a:rPr lang="ko-KR" altLang="en-US" dirty="0"/>
              <a:t>성능을 지속적으로 감시하다가 성능 저하가 감지되면 학습을 중지시키거나 학습 데이터를 모니터링하면서 비정상적 데이터를 제외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721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일괄</a:t>
            </a:r>
            <a:r>
              <a:rPr lang="en-US" altLang="ko-KR" b="1" dirty="0"/>
              <a:t>(Batch)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온라인</a:t>
            </a:r>
            <a:r>
              <a:rPr lang="en-US" altLang="ko-KR" b="1" dirty="0"/>
              <a:t>(Online)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온라인 학습이 계산 시간이 빠르며 공간적으로도 효율적이지만 일관 학습만큼의 학습 </a:t>
            </a:r>
            <a:r>
              <a:rPr lang="ko-KR" altLang="en-US" dirty="0" err="1"/>
              <a:t>정확률을</a:t>
            </a:r>
            <a:r>
              <a:rPr lang="ko-KR" altLang="en-US" dirty="0"/>
              <a:t> 보장하지 </a:t>
            </a:r>
            <a:r>
              <a:rPr lang="ko-KR" altLang="en-US" dirty="0" smtClean="0"/>
              <a:t>못함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예측 속도가 중요한 응용인 경우는 정확도와 </a:t>
            </a:r>
            <a:r>
              <a:rPr lang="ko-KR" altLang="en-US" dirty="0" err="1"/>
              <a:t>속도간의</a:t>
            </a:r>
            <a:r>
              <a:rPr lang="ko-KR" altLang="en-US" dirty="0"/>
              <a:t> 절충이 필요</a:t>
            </a:r>
          </a:p>
          <a:p>
            <a:pPr marL="0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요즘처럼 </a:t>
            </a:r>
            <a:r>
              <a:rPr lang="ko-KR" altLang="en-US" dirty="0"/>
              <a:t>실시간으로 빅데이터 처리가 요구되는 상황에서는 어느 정도의 정확도를 희생하면서 속도를 높일 필요가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r>
              <a:rPr lang="ko-KR" altLang="en-US" dirty="0"/>
              <a:t>일괄 학습 </a:t>
            </a:r>
            <a:r>
              <a:rPr lang="ko-KR" altLang="en-US" dirty="0" smtClean="0"/>
              <a:t>알고리즘 </a:t>
            </a:r>
            <a:r>
              <a:rPr lang="en-US" altLang="ko-KR" dirty="0" smtClean="0"/>
              <a:t>: Logistic </a:t>
            </a:r>
            <a:r>
              <a:rPr lang="en-US" altLang="ko-KR" dirty="0"/>
              <a:t>Regression, Decision Trees, k-Nearest </a:t>
            </a:r>
            <a:r>
              <a:rPr lang="en-US" altLang="ko-KR" dirty="0" smtClean="0"/>
              <a:t>Neighbors</a:t>
            </a:r>
            <a:r>
              <a:rPr lang="en-US" altLang="ko-KR" dirty="0"/>
              <a:t>, Support Vector Machines, Deep Belief Networks </a:t>
            </a:r>
            <a:r>
              <a:rPr lang="ko-KR" altLang="en-US" dirty="0" smtClean="0"/>
              <a:t>등</a:t>
            </a:r>
            <a:endParaRPr lang="en-US" altLang="ko-KR" dirty="0" smtClean="0"/>
          </a:p>
          <a:p>
            <a:r>
              <a:rPr lang="ko-KR" altLang="en-US" dirty="0"/>
              <a:t>온라인 학습 알고리즘 </a:t>
            </a:r>
            <a:r>
              <a:rPr lang="en-US" altLang="ko-KR" dirty="0" smtClean="0"/>
              <a:t>: Stochastic </a:t>
            </a:r>
            <a:r>
              <a:rPr lang="en-US" altLang="ko-KR" dirty="0"/>
              <a:t>Gradient Decent, Perceptron, Passive-Aggressive </a:t>
            </a:r>
            <a:r>
              <a:rPr lang="ko-KR" altLang="en-US" dirty="0" smtClean="0"/>
              <a:t>등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7346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인스턴스 기반 </a:t>
            </a:r>
            <a:r>
              <a:rPr lang="en-US" altLang="ko-KR" b="1" dirty="0"/>
              <a:t>(instance-based)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모델 기반 </a:t>
            </a:r>
            <a:r>
              <a:rPr lang="en-US" altLang="ko-KR" b="1" dirty="0"/>
              <a:t>(model-based) </a:t>
            </a:r>
            <a:r>
              <a:rPr lang="ko-KR" altLang="en-US" b="1" dirty="0" smtClean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 데이터로부터 일반적인 모델을 구축하여 이 모델을 기반으로 새 데이터에 대해 </a:t>
            </a:r>
            <a:r>
              <a:rPr lang="ko-KR" altLang="en-US" dirty="0" smtClean="0"/>
              <a:t>예측하느냐 그렇지 않느냐의 차이</a:t>
            </a:r>
            <a:endParaRPr lang="en-US" altLang="ko-KR" dirty="0" smtClean="0"/>
          </a:p>
          <a:p>
            <a:pPr lvl="1"/>
            <a:r>
              <a:rPr lang="ko-KR" altLang="en-US" dirty="0"/>
              <a:t>모델을 구축하면 모델 기반이고 그렇지 않으면 인스턴스 기반</a:t>
            </a:r>
          </a:p>
          <a:p>
            <a:r>
              <a:rPr lang="ko-KR" altLang="en-US" dirty="0"/>
              <a:t>인스턴스 기반 학습에서는 학습 데이터 자체를 이용하여 새 데이터에 </a:t>
            </a:r>
            <a:r>
              <a:rPr lang="ko-KR" altLang="en-US" dirty="0" smtClean="0"/>
              <a:t>대하여 예측</a:t>
            </a:r>
            <a:endParaRPr lang="en-US" altLang="ko-KR" dirty="0" smtClean="0"/>
          </a:p>
          <a:p>
            <a:r>
              <a:rPr lang="ko-KR" altLang="en-US" dirty="0"/>
              <a:t>대표적 </a:t>
            </a:r>
            <a:r>
              <a:rPr lang="ko-KR" altLang="en-US" dirty="0" smtClean="0"/>
              <a:t>알고리즘 </a:t>
            </a:r>
            <a:r>
              <a:rPr lang="en-US" altLang="ko-KR" dirty="0"/>
              <a:t>k-</a:t>
            </a:r>
            <a:r>
              <a:rPr lang="ko-KR" altLang="en-US" dirty="0"/>
              <a:t>인접 이웃 </a:t>
            </a:r>
            <a:r>
              <a:rPr lang="en-US" altLang="ko-KR" dirty="0"/>
              <a:t>(k-Nearest </a:t>
            </a:r>
            <a:r>
              <a:rPr lang="en-US" altLang="ko-KR" dirty="0" smtClean="0"/>
              <a:t>Neighbors</a:t>
            </a:r>
            <a:r>
              <a:rPr lang="en-US" altLang="ko-KR" dirty="0"/>
              <a:t>) </a:t>
            </a:r>
            <a:r>
              <a:rPr lang="ko-KR" altLang="en-US" dirty="0"/>
              <a:t>알고리즘</a:t>
            </a:r>
          </a:p>
          <a:p>
            <a:pPr lvl="1"/>
            <a:r>
              <a:rPr lang="ko-KR" altLang="en-US" dirty="0"/>
              <a:t>주어진 입력 데이터 </a:t>
            </a:r>
            <a:r>
              <a:rPr lang="en-US" altLang="ko-KR" dirty="0"/>
              <a:t>x</a:t>
            </a:r>
            <a:r>
              <a:rPr lang="ko-KR" altLang="en-US" dirty="0"/>
              <a:t>에 대해 학습 데이터 중에서 가장 유사한 </a:t>
            </a:r>
            <a:r>
              <a:rPr lang="en-US" altLang="ko-KR" dirty="0"/>
              <a:t>(</a:t>
            </a:r>
            <a:r>
              <a:rPr lang="ko-KR" altLang="en-US" dirty="0"/>
              <a:t>또는 근접한</a:t>
            </a:r>
            <a:r>
              <a:rPr lang="en-US" altLang="ko-KR" dirty="0"/>
              <a:t>) </a:t>
            </a:r>
            <a:r>
              <a:rPr lang="ko-KR" altLang="en-US" dirty="0"/>
              <a:t>데이터들을 </a:t>
            </a:r>
            <a:r>
              <a:rPr lang="en-US" altLang="ko-KR" dirty="0"/>
              <a:t>k</a:t>
            </a:r>
            <a:r>
              <a:rPr lang="ko-KR" altLang="en-US" dirty="0"/>
              <a:t>개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이들의 </a:t>
            </a:r>
            <a:r>
              <a:rPr lang="ko-KR" altLang="en-US" dirty="0"/>
              <a:t>값을 종합하여 입력 데이터 </a:t>
            </a:r>
            <a:r>
              <a:rPr lang="en-US" altLang="ko-KR" dirty="0"/>
              <a:t>x</a:t>
            </a:r>
            <a:r>
              <a:rPr lang="ko-KR" altLang="en-US" dirty="0"/>
              <a:t>의 </a:t>
            </a:r>
            <a:r>
              <a:rPr lang="ko-KR" altLang="en-US" dirty="0" smtClean="0"/>
              <a:t>출력 값을 </a:t>
            </a:r>
            <a:r>
              <a:rPr lang="ko-KR" altLang="en-US" dirty="0"/>
              <a:t>결정</a:t>
            </a:r>
          </a:p>
          <a:p>
            <a:pPr lvl="1"/>
            <a:r>
              <a:rPr lang="ko-KR" altLang="en-US" dirty="0"/>
              <a:t>회귀 분석용으로도 사용할 수 있고 분류용으로도 사용</a:t>
            </a:r>
          </a:p>
          <a:p>
            <a:pPr lvl="2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56100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인스턴스 기반 </a:t>
            </a:r>
            <a:r>
              <a:rPr lang="en-US" altLang="ko-KR" b="1" dirty="0"/>
              <a:t>(instance-based)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모델 기반 </a:t>
            </a:r>
            <a:r>
              <a:rPr lang="en-US" altLang="ko-KR" b="1" dirty="0"/>
              <a:t>(model-based)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5140"/>
          </a:xfrm>
        </p:spPr>
        <p:txBody>
          <a:bodyPr/>
          <a:lstStyle/>
          <a:p>
            <a:r>
              <a:rPr lang="ko-KR" altLang="en-US" dirty="0" smtClean="0"/>
              <a:t>예</a:t>
            </a:r>
            <a:endParaRPr lang="en-US" altLang="ko-KR" dirty="0" smtClean="0"/>
          </a:p>
          <a:p>
            <a:pPr lvl="1"/>
            <a:r>
              <a:rPr lang="ko-KR" altLang="en-US" dirty="0"/>
              <a:t>새로운 데이터 </a:t>
            </a:r>
            <a:r>
              <a:rPr lang="en-US" altLang="ko-KR" dirty="0"/>
              <a:t>(2, 2)</a:t>
            </a:r>
            <a:r>
              <a:rPr lang="ko-KR" altLang="en-US" dirty="0"/>
              <a:t>가 주어졌을 때 어떻게 학습 데이터를 이용하여 그 해당 분면을 </a:t>
            </a:r>
            <a:r>
              <a:rPr lang="ko-KR" altLang="en-US" dirty="0" smtClean="0"/>
              <a:t>판단하는가</a:t>
            </a:r>
            <a:r>
              <a:rPr lang="en-US" altLang="ko-KR" dirty="0" smtClean="0"/>
              <a:t>?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41" y="2954613"/>
            <a:ext cx="9497253" cy="3075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8456" y="6030026"/>
            <a:ext cx="1005508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/>
              <a:t>k</a:t>
            </a:r>
            <a:r>
              <a:rPr lang="ko-KR" altLang="en-US" dirty="0"/>
              <a:t>를 </a:t>
            </a:r>
            <a:r>
              <a:rPr lang="en-US" altLang="ko-KR" dirty="0"/>
              <a:t>3</a:t>
            </a:r>
            <a:r>
              <a:rPr lang="ko-KR" altLang="en-US" dirty="0"/>
              <a:t>으로 </a:t>
            </a:r>
            <a:r>
              <a:rPr lang="ko-KR" altLang="en-US" dirty="0" smtClean="0"/>
              <a:t>한다면 </a:t>
            </a:r>
            <a:r>
              <a:rPr lang="en-US" altLang="ko-KR" dirty="0" smtClean="0"/>
              <a:t>? </a:t>
            </a:r>
            <a:r>
              <a:rPr lang="ko-KR" altLang="en-US" dirty="0"/>
              <a:t>가장 근사한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ko-KR" altLang="en-US" dirty="0" smtClean="0"/>
              <a:t>인스턴스 </a:t>
            </a:r>
            <a:r>
              <a:rPr lang="en-US" altLang="ko-KR" dirty="0" smtClean="0"/>
              <a:t>(</a:t>
            </a:r>
            <a:r>
              <a:rPr lang="en-US" altLang="ko-KR" dirty="0"/>
              <a:t>3, 2), (2, 5), (5, -2) </a:t>
            </a:r>
            <a:r>
              <a:rPr lang="ko-KR" altLang="en-US" dirty="0" smtClean="0"/>
              <a:t>이 </a:t>
            </a:r>
            <a:r>
              <a:rPr lang="ko-KR" altLang="en-US" dirty="0"/>
              <a:t>선택되고</a:t>
            </a:r>
            <a:r>
              <a:rPr lang="en-US" altLang="ko-KR" dirty="0"/>
              <a:t>, </a:t>
            </a:r>
            <a:r>
              <a:rPr lang="ko-KR" altLang="en-US" dirty="0"/>
              <a:t>각 점이 속한 분면을 보면 </a:t>
            </a:r>
            <a:r>
              <a:rPr lang="en-US" altLang="ko-KR" dirty="0"/>
              <a:t>1, 1, </a:t>
            </a:r>
            <a:r>
              <a:rPr lang="en-US" altLang="ko-KR" dirty="0" smtClean="0"/>
              <a:t>4 </a:t>
            </a:r>
            <a:r>
              <a:rPr lang="ko-KR" altLang="en-US" dirty="0" smtClean="0"/>
              <a:t>임</a:t>
            </a:r>
            <a:r>
              <a:rPr lang="en-US" altLang="ko-KR" dirty="0" smtClean="0"/>
              <a:t>. </a:t>
            </a:r>
            <a:r>
              <a:rPr lang="ko-KR" altLang="en-US" dirty="0"/>
              <a:t>다수결의 원칙에 따라 </a:t>
            </a:r>
            <a:r>
              <a:rPr lang="en-US" altLang="ko-KR" dirty="0"/>
              <a:t>(2,2)</a:t>
            </a:r>
            <a:r>
              <a:rPr lang="ko-KR" altLang="en-US" dirty="0"/>
              <a:t>의 분면을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결정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293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인스턴스 기반 </a:t>
            </a:r>
            <a:r>
              <a:rPr lang="en-US" altLang="ko-KR" b="1" dirty="0"/>
              <a:t>(instance-based)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모델 기반 </a:t>
            </a:r>
            <a:r>
              <a:rPr lang="en-US" altLang="ko-KR" b="1" dirty="0"/>
              <a:t>(model-based)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 기반에서는 학습 데이터 </a:t>
            </a:r>
            <a:r>
              <a:rPr lang="ko-KR" altLang="en-US" dirty="0" smtClean="0"/>
              <a:t>자체를 </a:t>
            </a:r>
            <a:r>
              <a:rPr lang="ko-KR" altLang="en-US" dirty="0"/>
              <a:t>그대로 이용하는 것이 아니라 학습 인스턴스들에 잘 들어맞는 모델을 구축하여 활용</a:t>
            </a:r>
          </a:p>
          <a:p>
            <a:pPr lvl="1"/>
            <a:r>
              <a:rPr lang="ko-KR" altLang="en-US" dirty="0"/>
              <a:t>먼저 모델의 유형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선형 모델</a:t>
            </a:r>
            <a:r>
              <a:rPr lang="en-US" altLang="ko-KR" dirty="0"/>
              <a:t>, </a:t>
            </a:r>
            <a:r>
              <a:rPr lang="ko-KR" altLang="en-US" dirty="0" err="1"/>
              <a:t>결정트리</a:t>
            </a:r>
            <a:r>
              <a:rPr lang="ko-KR" altLang="en-US" dirty="0"/>
              <a:t> 모델</a:t>
            </a:r>
            <a:r>
              <a:rPr lang="en-US" altLang="ko-KR" dirty="0"/>
              <a:t>, </a:t>
            </a:r>
            <a:r>
              <a:rPr lang="ko-KR" altLang="en-US" dirty="0" err="1"/>
              <a:t>인공신경망</a:t>
            </a:r>
            <a:r>
              <a:rPr lang="ko-KR" altLang="en-US" dirty="0"/>
              <a:t> 모델 등</a:t>
            </a:r>
            <a:r>
              <a:rPr lang="en-US" altLang="ko-KR" dirty="0"/>
              <a:t>)</a:t>
            </a:r>
            <a:r>
              <a:rPr lang="ko-KR" altLang="en-US" dirty="0"/>
              <a:t>을 결정한 후 모델 </a:t>
            </a:r>
            <a:r>
              <a:rPr lang="ko-KR" altLang="en-US" dirty="0" err="1"/>
              <a:t>패러미터의</a:t>
            </a:r>
            <a:r>
              <a:rPr lang="ko-KR" altLang="en-US" dirty="0"/>
              <a:t> 값을 결정</a:t>
            </a:r>
          </a:p>
          <a:p>
            <a:pPr lvl="1"/>
            <a:r>
              <a:rPr lang="ko-KR" altLang="en-US" dirty="0"/>
              <a:t>어떤 </a:t>
            </a:r>
            <a:r>
              <a:rPr lang="ko-KR" altLang="en-US" dirty="0" err="1"/>
              <a:t>패러미터가</a:t>
            </a:r>
            <a:r>
              <a:rPr lang="ko-KR" altLang="en-US" dirty="0"/>
              <a:t> 더 좋은지를 판별하기 위해 성능 평가 함수 </a:t>
            </a:r>
            <a:r>
              <a:rPr lang="en-US" altLang="ko-KR" dirty="0"/>
              <a:t>(</a:t>
            </a:r>
            <a:r>
              <a:rPr lang="ko-KR" altLang="en-US" dirty="0"/>
              <a:t>유틸리티 </a:t>
            </a:r>
            <a:r>
              <a:rPr lang="en-US" altLang="ko-KR" dirty="0"/>
              <a:t>(utility) </a:t>
            </a:r>
            <a:r>
              <a:rPr lang="ko-KR" altLang="en-US" dirty="0"/>
              <a:t>함수 또는 비용 </a:t>
            </a:r>
            <a:r>
              <a:rPr lang="en-US" altLang="ko-KR" dirty="0"/>
              <a:t>(cost) </a:t>
            </a:r>
            <a:r>
              <a:rPr lang="ko-KR" altLang="en-US" dirty="0" err="1"/>
              <a:t>함수라고도</a:t>
            </a:r>
            <a:r>
              <a:rPr lang="ko-KR" altLang="en-US" dirty="0"/>
              <a:t> 함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smtClean="0"/>
              <a:t>정의</a:t>
            </a:r>
            <a:endParaRPr lang="en-US" altLang="ko-KR" dirty="0" smtClean="0"/>
          </a:p>
          <a:p>
            <a:pPr lvl="2"/>
            <a:r>
              <a:rPr lang="ko-KR" altLang="en-US" dirty="0"/>
              <a:t>유틸리티 함수는 주어진 </a:t>
            </a:r>
            <a:r>
              <a:rPr lang="ko-KR" altLang="en-US" dirty="0" err="1"/>
              <a:t>패러미터가</a:t>
            </a:r>
            <a:r>
              <a:rPr lang="ko-KR" altLang="en-US" dirty="0"/>
              <a:t> 얼마나 좋은지를 나타내는 함수이고</a:t>
            </a:r>
            <a:r>
              <a:rPr lang="en-US" altLang="ko-KR" dirty="0"/>
              <a:t>, </a:t>
            </a:r>
            <a:r>
              <a:rPr lang="ko-KR" altLang="en-US" dirty="0"/>
              <a:t>비용 함수는 반대로 주어진 </a:t>
            </a:r>
            <a:r>
              <a:rPr lang="ko-KR" altLang="en-US" dirty="0" err="1"/>
              <a:t>패러미터가</a:t>
            </a:r>
            <a:r>
              <a:rPr lang="ko-KR" altLang="en-US" dirty="0"/>
              <a:t> 얼마나 나쁜 함수인지를 나타내는 </a:t>
            </a:r>
            <a:r>
              <a:rPr lang="ko-KR" altLang="en-US" dirty="0" smtClean="0"/>
              <a:t>함수</a:t>
            </a:r>
            <a:endParaRPr lang="ko-KR" altLang="en-US" dirty="0"/>
          </a:p>
          <a:p>
            <a:pPr lvl="1"/>
            <a:r>
              <a:rPr lang="ko-KR" altLang="en-US" dirty="0"/>
              <a:t>보통 선형 회귀 분석에서는 목표치와 </a:t>
            </a:r>
            <a:r>
              <a:rPr lang="ko-KR" altLang="en-US" dirty="0" err="1"/>
              <a:t>예측치가</a:t>
            </a:r>
            <a:r>
              <a:rPr lang="ko-KR" altLang="en-US" dirty="0"/>
              <a:t> 얼마나 차이가 나는지를 나타내는 비용 함수를 사용하며</a:t>
            </a:r>
            <a:r>
              <a:rPr lang="en-US" altLang="ko-KR" dirty="0"/>
              <a:t>, </a:t>
            </a:r>
            <a:r>
              <a:rPr lang="ko-KR" altLang="en-US" dirty="0"/>
              <a:t>이 비용 함수를 최소로 하는 </a:t>
            </a:r>
            <a:r>
              <a:rPr lang="ko-KR" altLang="en-US" dirty="0" err="1"/>
              <a:t>패러미터를</a:t>
            </a:r>
            <a:r>
              <a:rPr lang="ko-KR" altLang="en-US" dirty="0"/>
              <a:t> 찾아가도록 학습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246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인스턴스 기반 </a:t>
            </a:r>
            <a:r>
              <a:rPr lang="en-US" altLang="ko-KR" b="1" dirty="0"/>
              <a:t>(instance-based)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모델 기반 </a:t>
            </a:r>
            <a:r>
              <a:rPr lang="en-US" altLang="ko-KR" b="1" dirty="0"/>
              <a:t>(model-based)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201"/>
          </a:xfrm>
        </p:spPr>
        <p:txBody>
          <a:bodyPr/>
          <a:lstStyle/>
          <a:p>
            <a:r>
              <a:rPr lang="ko-KR" altLang="en-US" dirty="0"/>
              <a:t>모델 유형은 간단한 선형 </a:t>
            </a:r>
            <a:r>
              <a:rPr lang="ko-KR" altLang="en-US" dirty="0" smtClean="0"/>
              <a:t>모델로 가정</a:t>
            </a:r>
            <a:endParaRPr lang="ko-KR" altLang="en-US" dirty="0"/>
          </a:p>
          <a:p>
            <a:pPr marL="457200" lvl="1" indent="0">
              <a:buNone/>
            </a:pPr>
            <a:r>
              <a:rPr lang="en-US" altLang="ko-KR" dirty="0"/>
              <a:t>y</a:t>
            </a:r>
            <a:r>
              <a:rPr lang="en-US" altLang="ko-KR" dirty="0" smtClean="0"/>
              <a:t> = ax + b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259665"/>
              </p:ext>
            </p:extLst>
          </p:nvPr>
        </p:nvGraphicFramePr>
        <p:xfrm>
          <a:off x="1181746" y="3010357"/>
          <a:ext cx="7524930" cy="949452"/>
        </p:xfrm>
        <a:graphic>
          <a:graphicData uri="http://schemas.openxmlformats.org/drawingml/2006/table">
            <a:tbl>
              <a:tblPr/>
              <a:tblGrid>
                <a:gridCol w="1075172">
                  <a:extLst>
                    <a:ext uri="{9D8B030D-6E8A-4147-A177-3AD203B41FA5}">
                      <a16:colId xmlns:a16="http://schemas.microsoft.com/office/drawing/2014/main" val="2649550268"/>
                    </a:ext>
                  </a:extLst>
                </a:gridCol>
                <a:gridCol w="1075172">
                  <a:extLst>
                    <a:ext uri="{9D8B030D-6E8A-4147-A177-3AD203B41FA5}">
                      <a16:colId xmlns:a16="http://schemas.microsoft.com/office/drawing/2014/main" val="3663292341"/>
                    </a:ext>
                  </a:extLst>
                </a:gridCol>
                <a:gridCol w="1075172">
                  <a:extLst>
                    <a:ext uri="{9D8B030D-6E8A-4147-A177-3AD203B41FA5}">
                      <a16:colId xmlns:a16="http://schemas.microsoft.com/office/drawing/2014/main" val="3301665485"/>
                    </a:ext>
                  </a:extLst>
                </a:gridCol>
                <a:gridCol w="1075172">
                  <a:extLst>
                    <a:ext uri="{9D8B030D-6E8A-4147-A177-3AD203B41FA5}">
                      <a16:colId xmlns:a16="http://schemas.microsoft.com/office/drawing/2014/main" val="2973857742"/>
                    </a:ext>
                  </a:extLst>
                </a:gridCol>
                <a:gridCol w="1075172">
                  <a:extLst>
                    <a:ext uri="{9D8B030D-6E8A-4147-A177-3AD203B41FA5}">
                      <a16:colId xmlns:a16="http://schemas.microsoft.com/office/drawing/2014/main" val="3997317144"/>
                    </a:ext>
                  </a:extLst>
                </a:gridCol>
                <a:gridCol w="1075172">
                  <a:extLst>
                    <a:ext uri="{9D8B030D-6E8A-4147-A177-3AD203B41FA5}">
                      <a16:colId xmlns:a16="http://schemas.microsoft.com/office/drawing/2014/main" val="3068489455"/>
                    </a:ext>
                  </a:extLst>
                </a:gridCol>
                <a:gridCol w="1073898">
                  <a:extLst>
                    <a:ext uri="{9D8B030D-6E8A-4147-A177-3AD203B41FA5}">
                      <a16:colId xmlns:a16="http://schemas.microsoft.com/office/drawing/2014/main" val="183907151"/>
                    </a:ext>
                  </a:extLst>
                </a:gridCol>
              </a:tblGrid>
              <a:tr h="4428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x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042583"/>
                  </a:ext>
                </a:extLst>
              </a:tr>
              <a:tr h="4428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y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8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7175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81607" y="2361658"/>
            <a:ext cx="72619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결국 학습한다는 것은 학습 데이터에 맞는 </a:t>
            </a:r>
            <a:r>
              <a:rPr lang="ko-KR" altLang="en-US" dirty="0" err="1"/>
              <a:t>패러미터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를 찾는 </a:t>
            </a:r>
            <a:r>
              <a:rPr lang="ko-KR" altLang="en-US" dirty="0" smtClean="0"/>
              <a:t>것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838200" y="4233803"/>
            <a:ext cx="10515600" cy="1030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60000"/>
              </a:lnSpc>
            </a:pPr>
            <a:r>
              <a:rPr lang="ko-KR" altLang="en-US" b="1" kern="0" dirty="0">
                <a:solidFill>
                  <a:srgbClr val="000000"/>
                </a:solidFill>
                <a:ea typeface="함초롬바탕"/>
              </a:rPr>
              <a:t>비용 함수로 </a:t>
            </a:r>
            <a:r>
              <a:rPr lang="ko-KR" altLang="en-US" b="1" kern="0" dirty="0" err="1">
                <a:solidFill>
                  <a:srgbClr val="000000"/>
                </a:solidFill>
                <a:ea typeface="함초롬바탕"/>
              </a:rPr>
              <a:t>평균제곱</a:t>
            </a:r>
            <a:r>
              <a:rPr lang="ko-KR" altLang="en-US" b="1" kern="0" dirty="0">
                <a:solidFill>
                  <a:srgbClr val="000000"/>
                </a:solidFill>
                <a:ea typeface="함초롬바탕"/>
              </a:rPr>
              <a:t> 오차 </a:t>
            </a:r>
            <a:r>
              <a:rPr lang="en-US" altLang="ko-KR" kern="0" dirty="0">
                <a:solidFill>
                  <a:srgbClr val="000000"/>
                </a:solidFill>
                <a:ea typeface="함초롬바탕"/>
              </a:rPr>
              <a:t>(Mean Squared Error : MSE)</a:t>
            </a:r>
            <a:r>
              <a:rPr lang="ko-KR" altLang="en-US" b="1" kern="0" dirty="0">
                <a:solidFill>
                  <a:srgbClr val="000000"/>
                </a:solidFill>
                <a:ea typeface="함초롬바탕"/>
              </a:rPr>
              <a:t>를 사용</a:t>
            </a:r>
            <a:endParaRPr lang="ko-KR" altLang="en-US" b="1" kern="0" dirty="0">
              <a:solidFill>
                <a:srgbClr val="0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63" y="5015326"/>
            <a:ext cx="8253802" cy="117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5155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인스턴스 기반 </a:t>
            </a:r>
            <a:r>
              <a:rPr lang="en-US" altLang="ko-KR" b="1" dirty="0"/>
              <a:t>(instance-based) </a:t>
            </a:r>
            <a:r>
              <a:rPr lang="ko-KR" altLang="en-US" b="1" dirty="0"/>
              <a:t>학습 </a:t>
            </a:r>
            <a:r>
              <a:rPr lang="en-US" altLang="ko-KR" b="1" dirty="0"/>
              <a:t>vs </a:t>
            </a:r>
            <a:r>
              <a:rPr lang="ko-KR" altLang="en-US" b="1" dirty="0"/>
              <a:t>모델 기반 </a:t>
            </a:r>
            <a:r>
              <a:rPr lang="en-US" altLang="ko-KR" b="1" dirty="0"/>
              <a:t>(model-based) </a:t>
            </a:r>
            <a:r>
              <a:rPr lang="ko-KR" altLang="en-US" b="1" dirty="0"/>
              <a:t>학습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2288"/>
          </a:xfrm>
        </p:spPr>
        <p:txBody>
          <a:bodyPr/>
          <a:lstStyle/>
          <a:p>
            <a:r>
              <a:rPr lang="ko-KR" altLang="en-US" dirty="0" err="1"/>
              <a:t>패러미터에</a:t>
            </a:r>
            <a:r>
              <a:rPr lang="ko-KR" altLang="en-US" dirty="0"/>
              <a:t> 따라 비용 함수의 값이 </a:t>
            </a:r>
            <a:r>
              <a:rPr lang="ko-KR" altLang="en-US" dirty="0" smtClean="0"/>
              <a:t>달라</a:t>
            </a:r>
            <a:r>
              <a:rPr lang="ko-KR" altLang="en-US" dirty="0"/>
              <a:t>짐</a:t>
            </a:r>
          </a:p>
          <a:p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026588"/>
              </p:ext>
            </p:extLst>
          </p:nvPr>
        </p:nvGraphicFramePr>
        <p:xfrm>
          <a:off x="1086412" y="2517913"/>
          <a:ext cx="6560089" cy="2743200"/>
        </p:xfrm>
        <a:graphic>
          <a:graphicData uri="http://schemas.openxmlformats.org/drawingml/2006/table">
            <a:tbl>
              <a:tblPr/>
              <a:tblGrid>
                <a:gridCol w="1325484">
                  <a:extLst>
                    <a:ext uri="{9D8B030D-6E8A-4147-A177-3AD203B41FA5}">
                      <a16:colId xmlns:a16="http://schemas.microsoft.com/office/drawing/2014/main" val="1626261694"/>
                    </a:ext>
                  </a:extLst>
                </a:gridCol>
                <a:gridCol w="728869">
                  <a:extLst>
                    <a:ext uri="{9D8B030D-6E8A-4147-A177-3AD203B41FA5}">
                      <a16:colId xmlns:a16="http://schemas.microsoft.com/office/drawing/2014/main" val="1076854101"/>
                    </a:ext>
                  </a:extLst>
                </a:gridCol>
                <a:gridCol w="636105">
                  <a:extLst>
                    <a:ext uri="{9D8B030D-6E8A-4147-A177-3AD203B41FA5}">
                      <a16:colId xmlns:a16="http://schemas.microsoft.com/office/drawing/2014/main" val="163334105"/>
                    </a:ext>
                  </a:extLst>
                </a:gridCol>
                <a:gridCol w="545333">
                  <a:extLst>
                    <a:ext uri="{9D8B030D-6E8A-4147-A177-3AD203B41FA5}">
                      <a16:colId xmlns:a16="http://schemas.microsoft.com/office/drawing/2014/main" val="510169401"/>
                    </a:ext>
                  </a:extLst>
                </a:gridCol>
                <a:gridCol w="731505">
                  <a:extLst>
                    <a:ext uri="{9D8B030D-6E8A-4147-A177-3AD203B41FA5}">
                      <a16:colId xmlns:a16="http://schemas.microsoft.com/office/drawing/2014/main" val="155307779"/>
                    </a:ext>
                  </a:extLst>
                </a:gridCol>
                <a:gridCol w="731505">
                  <a:extLst>
                    <a:ext uri="{9D8B030D-6E8A-4147-A177-3AD203B41FA5}">
                      <a16:colId xmlns:a16="http://schemas.microsoft.com/office/drawing/2014/main" val="2357257842"/>
                    </a:ext>
                  </a:extLst>
                </a:gridCol>
                <a:gridCol w="920387">
                  <a:extLst>
                    <a:ext uri="{9D8B030D-6E8A-4147-A177-3AD203B41FA5}">
                      <a16:colId xmlns:a16="http://schemas.microsoft.com/office/drawing/2014/main" val="3440188121"/>
                    </a:ext>
                  </a:extLst>
                </a:gridCol>
                <a:gridCol w="940901">
                  <a:extLst>
                    <a:ext uri="{9D8B030D-6E8A-4147-A177-3AD203B41FA5}">
                      <a16:colId xmlns:a16="http://schemas.microsoft.com/office/drawing/2014/main" val="3864680331"/>
                    </a:ext>
                  </a:extLst>
                </a:gridCol>
              </a:tblGrid>
              <a:tr h="7869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패러미터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예측치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 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MSE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389655"/>
                  </a:ext>
                </a:extLst>
              </a:tr>
              <a:tr h="6192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a=3, b=2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-16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-13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29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169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494739"/>
                  </a:ext>
                </a:extLst>
              </a:tr>
              <a:tr h="6277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a=-1, b=1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7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-8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153.3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318972"/>
                  </a:ext>
                </a:extLst>
              </a:tr>
              <a:tr h="7091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a=1, b=0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-2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함초롬바탕"/>
                          <a:ea typeface="함초롬바탕"/>
                        </a:rPr>
                        <a:t>1.7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함초롬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765746"/>
                  </a:ext>
                </a:extLst>
              </a:tr>
            </a:tbl>
          </a:graphicData>
        </a:graphic>
      </p:graphicFrame>
      <p:pic>
        <p:nvPicPr>
          <p:cNvPr id="2049" name="_x445970768" descr="EMB000041ac08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713" y="1825625"/>
            <a:ext cx="4111758" cy="445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86411" y="5630235"/>
            <a:ext cx="656008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데이터에 최적인 </a:t>
            </a:r>
            <a:r>
              <a:rPr lang="ko-KR" altLang="en-US" dirty="0" err="1"/>
              <a:t>패러미터는</a:t>
            </a:r>
            <a:r>
              <a:rPr lang="ko-KR" altLang="en-US" dirty="0"/>
              <a:t> 학습 알고리즘에 의해 자동으로 </a:t>
            </a:r>
            <a:r>
              <a:rPr lang="ko-KR" altLang="en-US" dirty="0" smtClean="0"/>
              <a:t>찾게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4846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3330</Words>
  <Application>Microsoft Office PowerPoint</Application>
  <PresentationFormat>와이드스크린</PresentationFormat>
  <Paragraphs>465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0" baseType="lpstr">
      <vt:lpstr>맑은 고딕</vt:lpstr>
      <vt:lpstr>함초롬바탕</vt:lpstr>
      <vt:lpstr>Arial</vt:lpstr>
      <vt:lpstr>Wingdings</vt:lpstr>
      <vt:lpstr>Office 테마</vt:lpstr>
      <vt:lpstr>머신 러닝 기본</vt:lpstr>
      <vt:lpstr>머신 러닝 ( machine learning)</vt:lpstr>
      <vt:lpstr>머신 러닝과 학습 데이터</vt:lpstr>
      <vt:lpstr>머신 러닝과 학습 데이터</vt:lpstr>
      <vt:lpstr>머신 러닝과 학습 데이터</vt:lpstr>
      <vt:lpstr>학습 데이터와 학습 알고리즘</vt:lpstr>
      <vt:lpstr>학습 데이터와 학습 알고리즘</vt:lpstr>
      <vt:lpstr>기존 알고리즘과 학습 알고리즘</vt:lpstr>
      <vt:lpstr>기존 알고리즘과 학습 알고리즘</vt:lpstr>
      <vt:lpstr>기존 알고리즘과 학습 알고리즘</vt:lpstr>
      <vt:lpstr>기존 알고리즘과 학습 알고리즘</vt:lpstr>
      <vt:lpstr>학습 데이터와 특징 벡터</vt:lpstr>
      <vt:lpstr>학습 데이터와 특징 벡터</vt:lpstr>
      <vt:lpstr>테스팅과 교차검증</vt:lpstr>
      <vt:lpstr>테스팅과 교차검증</vt:lpstr>
      <vt:lpstr>테스팅과 교차검증</vt:lpstr>
      <vt:lpstr>과적합 (overfitting)과 과소적합 (underfitting)</vt:lpstr>
      <vt:lpstr>과적합 (overfitting)과 과소적합 (underfitting)</vt:lpstr>
      <vt:lpstr>과적합 (overfitting)과 과소적합 (underfitting)</vt:lpstr>
      <vt:lpstr>머신 러닝 방법 분류</vt:lpstr>
      <vt:lpstr>지도학습</vt:lpstr>
      <vt:lpstr>지도학습</vt:lpstr>
      <vt:lpstr>지도학습</vt:lpstr>
      <vt:lpstr>지도학습</vt:lpstr>
      <vt:lpstr>지도학습</vt:lpstr>
      <vt:lpstr>비지도학습</vt:lpstr>
      <vt:lpstr>비지도학습</vt:lpstr>
      <vt:lpstr>비지도학습</vt:lpstr>
      <vt:lpstr>비지도학습</vt:lpstr>
      <vt:lpstr>비지도학습</vt:lpstr>
      <vt:lpstr>비지도학습</vt:lpstr>
      <vt:lpstr>준지도 (semisupervised) 학습</vt:lpstr>
      <vt:lpstr>준지도 (semisupervised) 학습</vt:lpstr>
      <vt:lpstr>강화 (reinforcement) 학습</vt:lpstr>
      <vt:lpstr>강화 (reinforcement) 학습</vt:lpstr>
      <vt:lpstr>강화 (reinforcement) 학습</vt:lpstr>
      <vt:lpstr>일괄(Batch) 학습 vs 온라인(Online) 학습</vt:lpstr>
      <vt:lpstr>일괄(Batch) 학습 vs 온라인(Online) 학습</vt:lpstr>
      <vt:lpstr>일괄(Batch) 학습 vs 온라인(Online) 학습</vt:lpstr>
      <vt:lpstr>일괄(Batch) 학습 vs 온라인(Online) 학습</vt:lpstr>
      <vt:lpstr>인스턴스 기반 (instance-based) 학습 vs 모델 기반 (model-based) 학습</vt:lpstr>
      <vt:lpstr>인스턴스 기반 (instance-based) 학습 vs 모델 기반 (model-based) 학습</vt:lpstr>
      <vt:lpstr>인스턴스 기반 (instance-based) 학습 vs 모델 기반 (model-based) 학습</vt:lpstr>
      <vt:lpstr>인스턴스 기반 (instance-based) 학습 vs 모델 기반 (model-based) 학습</vt:lpstr>
      <vt:lpstr>인스턴스 기반 (instance-based) 학습 vs 모델 기반 (model-based) 학습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 러닝 기본</dc:title>
  <dc:creator>user</dc:creator>
  <cp:lastModifiedBy>user</cp:lastModifiedBy>
  <cp:revision>64</cp:revision>
  <dcterms:created xsi:type="dcterms:W3CDTF">2019-01-30T04:26:24Z</dcterms:created>
  <dcterms:modified xsi:type="dcterms:W3CDTF">2020-08-11T06:25:28Z</dcterms:modified>
</cp:coreProperties>
</file>