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4"/>
  </p:notesMasterIdLst>
  <p:sldIdLst>
    <p:sldId id="256" r:id="rId2"/>
    <p:sldId id="257" r:id="rId3"/>
    <p:sldId id="274" r:id="rId4"/>
    <p:sldId id="260" r:id="rId5"/>
    <p:sldId id="263" r:id="rId6"/>
    <p:sldId id="264" r:id="rId7"/>
    <p:sldId id="265" r:id="rId8"/>
    <p:sldId id="266" r:id="rId9"/>
    <p:sldId id="268" r:id="rId10"/>
    <p:sldId id="270" r:id="rId11"/>
    <p:sldId id="272" r:id="rId12"/>
    <p:sldId id="275" r:id="rId13"/>
    <p:sldId id="276" r:id="rId14"/>
    <p:sldId id="279" r:id="rId15"/>
    <p:sldId id="280" r:id="rId16"/>
    <p:sldId id="282" r:id="rId17"/>
    <p:sldId id="283" r:id="rId18"/>
    <p:sldId id="285" r:id="rId19"/>
    <p:sldId id="286" r:id="rId20"/>
    <p:sldId id="291" r:id="rId21"/>
    <p:sldId id="297" r:id="rId22"/>
    <p:sldId id="306" r:id="rId23"/>
    <p:sldId id="310" r:id="rId24"/>
    <p:sldId id="314" r:id="rId25"/>
    <p:sldId id="319" r:id="rId26"/>
    <p:sldId id="320" r:id="rId27"/>
    <p:sldId id="322" r:id="rId28"/>
    <p:sldId id="324" r:id="rId29"/>
    <p:sldId id="326" r:id="rId30"/>
    <p:sldId id="329" r:id="rId31"/>
    <p:sldId id="334" r:id="rId32"/>
    <p:sldId id="284" r:id="rId33"/>
    <p:sldId id="336" r:id="rId34"/>
    <p:sldId id="338" r:id="rId35"/>
    <p:sldId id="339" r:id="rId36"/>
    <p:sldId id="342" r:id="rId37"/>
    <p:sldId id="347" r:id="rId38"/>
    <p:sldId id="350" r:id="rId39"/>
    <p:sldId id="357" r:id="rId40"/>
    <p:sldId id="335" r:id="rId41"/>
    <p:sldId id="358" r:id="rId42"/>
    <p:sldId id="382" r:id="rId43"/>
    <p:sldId id="384" r:id="rId44"/>
    <p:sldId id="385" r:id="rId45"/>
    <p:sldId id="386" r:id="rId46"/>
    <p:sldId id="389" r:id="rId47"/>
    <p:sldId id="392" r:id="rId48"/>
    <p:sldId id="398" r:id="rId49"/>
    <p:sldId id="402" r:id="rId50"/>
    <p:sldId id="403" r:id="rId51"/>
    <p:sldId id="404" r:id="rId52"/>
    <p:sldId id="407" r:id="rId53"/>
    <p:sldId id="550" r:id="rId54"/>
    <p:sldId id="408" r:id="rId55"/>
    <p:sldId id="410" r:id="rId56"/>
    <p:sldId id="421" r:id="rId57"/>
    <p:sldId id="423" r:id="rId58"/>
    <p:sldId id="425" r:id="rId59"/>
    <p:sldId id="427" r:id="rId60"/>
    <p:sldId id="428" r:id="rId61"/>
    <p:sldId id="435" r:id="rId62"/>
    <p:sldId id="436" r:id="rId63"/>
    <p:sldId id="439" r:id="rId64"/>
    <p:sldId id="440" r:id="rId65"/>
    <p:sldId id="443" r:id="rId66"/>
    <p:sldId id="444" r:id="rId67"/>
    <p:sldId id="446" r:id="rId68"/>
    <p:sldId id="450" r:id="rId69"/>
    <p:sldId id="451" r:id="rId70"/>
    <p:sldId id="474" r:id="rId71"/>
    <p:sldId id="479" r:id="rId72"/>
    <p:sldId id="481" r:id="rId73"/>
    <p:sldId id="487" r:id="rId74"/>
    <p:sldId id="494" r:id="rId75"/>
    <p:sldId id="497" r:id="rId76"/>
    <p:sldId id="500" r:id="rId77"/>
    <p:sldId id="505" r:id="rId78"/>
    <p:sldId id="509" r:id="rId79"/>
    <p:sldId id="514" r:id="rId80"/>
    <p:sldId id="519" r:id="rId81"/>
    <p:sldId id="524" r:id="rId82"/>
    <p:sldId id="709" r:id="rId83"/>
    <p:sldId id="551" r:id="rId84"/>
    <p:sldId id="553" r:id="rId85"/>
    <p:sldId id="555" r:id="rId86"/>
    <p:sldId id="561" r:id="rId87"/>
    <p:sldId id="562" r:id="rId88"/>
    <p:sldId id="566" r:id="rId89"/>
    <p:sldId id="569" r:id="rId90"/>
    <p:sldId id="570" r:id="rId91"/>
    <p:sldId id="571" r:id="rId92"/>
    <p:sldId id="572" r:id="rId93"/>
    <p:sldId id="577" r:id="rId94"/>
    <p:sldId id="578" r:id="rId95"/>
    <p:sldId id="581" r:id="rId96"/>
    <p:sldId id="584" r:id="rId97"/>
    <p:sldId id="592" r:id="rId98"/>
    <p:sldId id="600" r:id="rId99"/>
    <p:sldId id="710" r:id="rId100"/>
    <p:sldId id="601" r:id="rId101"/>
    <p:sldId id="603" r:id="rId102"/>
    <p:sldId id="604" r:id="rId103"/>
    <p:sldId id="605" r:id="rId104"/>
    <p:sldId id="606" r:id="rId105"/>
    <p:sldId id="607" r:id="rId106"/>
    <p:sldId id="608" r:id="rId107"/>
    <p:sldId id="609" r:id="rId108"/>
    <p:sldId id="610" r:id="rId109"/>
    <p:sldId id="611" r:id="rId110"/>
    <p:sldId id="612" r:id="rId111"/>
    <p:sldId id="621" r:id="rId112"/>
    <p:sldId id="622" r:id="rId113"/>
    <p:sldId id="625" r:id="rId114"/>
    <p:sldId id="626" r:id="rId115"/>
    <p:sldId id="627" r:id="rId116"/>
    <p:sldId id="634" r:id="rId117"/>
    <p:sldId id="635" r:id="rId118"/>
    <p:sldId id="711" r:id="rId119"/>
    <p:sldId id="679" r:id="rId120"/>
    <p:sldId id="681" r:id="rId121"/>
    <p:sldId id="682" r:id="rId122"/>
    <p:sldId id="684" r:id="rId123"/>
    <p:sldId id="687" r:id="rId124"/>
    <p:sldId id="689" r:id="rId125"/>
    <p:sldId id="692" r:id="rId126"/>
    <p:sldId id="636" r:id="rId127"/>
    <p:sldId id="641" r:id="rId128"/>
    <p:sldId id="644" r:id="rId129"/>
    <p:sldId id="650" r:id="rId130"/>
    <p:sldId id="652" r:id="rId131"/>
    <p:sldId id="657" r:id="rId132"/>
    <p:sldId id="660" r:id="rId133"/>
    <p:sldId id="804" r:id="rId134"/>
    <p:sldId id="712" r:id="rId135"/>
    <p:sldId id="713" r:id="rId136"/>
    <p:sldId id="715" r:id="rId137"/>
    <p:sldId id="718" r:id="rId138"/>
    <p:sldId id="721" r:id="rId139"/>
    <p:sldId id="731" r:id="rId140"/>
    <p:sldId id="734" r:id="rId141"/>
    <p:sldId id="736" r:id="rId142"/>
    <p:sldId id="737" r:id="rId143"/>
    <p:sldId id="741" r:id="rId144"/>
    <p:sldId id="742" r:id="rId145"/>
    <p:sldId id="743" r:id="rId146"/>
    <p:sldId id="745" r:id="rId147"/>
    <p:sldId id="747" r:id="rId148"/>
    <p:sldId id="748" r:id="rId149"/>
    <p:sldId id="749" r:id="rId150"/>
    <p:sldId id="751" r:id="rId151"/>
    <p:sldId id="776" r:id="rId152"/>
    <p:sldId id="779" r:id="rId15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presProps" Target="pres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E9E352-9F4D-4789-91CB-26EB7E0D4047}" type="datetimeFigureOut">
              <a:rPr lang="ko-KR" altLang="en-US" smtClean="0"/>
              <a:t>2019-03-20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BA33C-5C03-4B6D-950C-F9CFD0C173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9424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52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8667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8908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4038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76008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30986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94302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5492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9365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708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3256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7917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33215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65968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6565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44003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22454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48740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27195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14370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5001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38666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93376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17179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843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58721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8255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7963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16502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36901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6276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99301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65543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718466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289045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592883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8238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84571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7378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1519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26214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837460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25756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031845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198317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447319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98137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1972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335947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29840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08116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6552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73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00184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434167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105039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817757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77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653080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78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883761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36147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257921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81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58387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772071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84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98984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85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274885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86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723505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87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27437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88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60414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89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69987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90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38609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91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292587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92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38589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93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906262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94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08671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95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98542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96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6076615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97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049362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98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6580089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100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6909343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9410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102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2765909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103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759025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506612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105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806080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106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88108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107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552037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108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5055733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109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429572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126710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9884196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060788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684501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564600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24173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539563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9432633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4534669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7518142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0174140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280370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0031944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750799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2487936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944196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4007332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195735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9616909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2980606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034903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88578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9723326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427950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332789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3363399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064996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9016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293304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295547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712659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390748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678596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7288156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07231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3497170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169697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178805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602302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465433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0724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42996-B085-4418-97F0-C488BFC3DC8B}" type="datetimeFigureOut">
              <a:rPr lang="ko-KR" altLang="en-US" smtClean="0"/>
              <a:t>2019-03-20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6EAD-6FEB-434D-AC4F-12595FD6DB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700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42996-B085-4418-97F0-C488BFC3DC8B}" type="datetimeFigureOut">
              <a:rPr lang="ko-KR" altLang="en-US" smtClean="0"/>
              <a:t>2019-03-20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6EAD-6FEB-434D-AC4F-12595FD6DB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848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42996-B085-4418-97F0-C488BFC3DC8B}" type="datetimeFigureOut">
              <a:rPr lang="ko-KR" altLang="en-US" smtClean="0"/>
              <a:t>2019-03-20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6EAD-6FEB-434D-AC4F-12595FD6DB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289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42996-B085-4418-97F0-C488BFC3DC8B}" type="datetimeFigureOut">
              <a:rPr lang="ko-KR" altLang="en-US" smtClean="0"/>
              <a:t>2019-03-20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6EAD-6FEB-434D-AC4F-12595FD6DB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424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42996-B085-4418-97F0-C488BFC3DC8B}" type="datetimeFigureOut">
              <a:rPr lang="ko-KR" altLang="en-US" smtClean="0"/>
              <a:t>2019-03-20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6EAD-6FEB-434D-AC4F-12595FD6DB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453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42996-B085-4418-97F0-C488BFC3DC8B}" type="datetimeFigureOut">
              <a:rPr lang="ko-KR" altLang="en-US" smtClean="0"/>
              <a:t>2019-03-20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6EAD-6FEB-434D-AC4F-12595FD6DB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825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42996-B085-4418-97F0-C488BFC3DC8B}" type="datetimeFigureOut">
              <a:rPr lang="ko-KR" altLang="en-US" smtClean="0"/>
              <a:t>2019-03-20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6EAD-6FEB-434D-AC4F-12595FD6DB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620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42996-B085-4418-97F0-C488BFC3DC8B}" type="datetimeFigureOut">
              <a:rPr lang="ko-KR" altLang="en-US" smtClean="0"/>
              <a:t>2019-03-20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6EAD-6FEB-434D-AC4F-12595FD6DB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8195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42996-B085-4418-97F0-C488BFC3DC8B}" type="datetimeFigureOut">
              <a:rPr lang="ko-KR" altLang="en-US" smtClean="0"/>
              <a:t>2019-03-20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6EAD-6FEB-434D-AC4F-12595FD6DB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2938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42996-B085-4418-97F0-C488BFC3DC8B}" type="datetimeFigureOut">
              <a:rPr lang="ko-KR" altLang="en-US" smtClean="0"/>
              <a:t>2019-03-20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6EAD-6FEB-434D-AC4F-12595FD6DB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2028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42996-B085-4418-97F0-C488BFC3DC8B}" type="datetimeFigureOut">
              <a:rPr lang="ko-KR" altLang="en-US" smtClean="0"/>
              <a:t>2019-03-20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6EAD-6FEB-434D-AC4F-12595FD6DB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562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42996-B085-4418-97F0-C488BFC3DC8B}" type="datetimeFigureOut">
              <a:rPr lang="ko-KR" altLang="en-US" smtClean="0"/>
              <a:t>2019-03-20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E6EAD-6FEB-434D-AC4F-12595FD6DB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5651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gif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 smtClean="0"/>
              <a:t>파이썬</a:t>
            </a:r>
            <a:r>
              <a:rPr lang="ko-KR" altLang="en-US" dirty="0" smtClean="0"/>
              <a:t> 기초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6049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프로그램 기본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422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787455" y="188690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2</a:t>
            </a:r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프로그램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제목 10"/>
          <p:cNvSpPr>
            <a:spLocks noGrp="1"/>
          </p:cNvSpPr>
          <p:nvPr>
            <p:ph type="title"/>
          </p:nvPr>
        </p:nvSpPr>
        <p:spPr>
          <a:xfrm>
            <a:off x="1790700" y="657225"/>
            <a:ext cx="8477250" cy="665163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rgbClr val="1D314E"/>
                </a:solidFill>
              </a:rPr>
              <a:t>프로그램 기본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003245-08FA-40E1-A7CB-275F2EB80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altLang="ko-KR" sz="2000" dirty="0"/>
              <a:t>Python </a:t>
            </a:r>
            <a:r>
              <a:rPr lang="ko-KR" altLang="en-US" sz="2000" dirty="0"/>
              <a:t>프로그램은 </a:t>
            </a:r>
            <a:r>
              <a:rPr lang="en-US" altLang="ko-KR" sz="2000" dirty="0"/>
              <a:t>C, C++, </a:t>
            </a:r>
            <a:r>
              <a:rPr lang="ko-KR" altLang="en-US" sz="2000" dirty="0"/>
              <a:t>자바</a:t>
            </a:r>
            <a:r>
              <a:rPr lang="en-US" altLang="ko-KR" sz="2000" dirty="0"/>
              <a:t>, C#</a:t>
            </a:r>
            <a:r>
              <a:rPr lang="ko-KR" altLang="en-US" sz="2000" dirty="0"/>
              <a:t>처럼 </a:t>
            </a:r>
            <a:r>
              <a:rPr lang="en-US" altLang="ko-KR" sz="2000" dirty="0"/>
              <a:t>main </a:t>
            </a:r>
            <a:r>
              <a:rPr lang="ko-KR" altLang="en-US" sz="2000" dirty="0"/>
              <a:t>함수나 </a:t>
            </a:r>
            <a:r>
              <a:rPr lang="en-US" altLang="ko-KR" sz="2000" dirty="0"/>
              <a:t>main </a:t>
            </a:r>
            <a:r>
              <a:rPr lang="ko-KR" altLang="en-US" sz="2000" dirty="0"/>
              <a:t>메서드에서부터 시작되지 않고 실행 파일의 첫 번째 문장부터 순차적으로 </a:t>
            </a:r>
            <a:r>
              <a:rPr lang="ko-KR" altLang="en-US" sz="2000" dirty="0" smtClean="0"/>
              <a:t>실행</a:t>
            </a:r>
            <a:endParaRPr lang="en-US" altLang="ko-KR" sz="2000" dirty="0"/>
          </a:p>
          <a:p>
            <a:pPr fontAlgn="base"/>
            <a:r>
              <a:rPr lang="en-US" altLang="ko-KR" sz="2000" dirty="0"/>
              <a:t> </a:t>
            </a:r>
            <a:r>
              <a:rPr lang="ko-KR" altLang="en-US" sz="2000" dirty="0" smtClean="0"/>
              <a:t>주석은 특수기호 </a:t>
            </a:r>
            <a:r>
              <a:rPr lang="en-US" altLang="ko-KR" sz="2000" dirty="0" smtClean="0"/>
              <a:t>#</a:t>
            </a:r>
            <a:r>
              <a:rPr lang="ko-KR" altLang="en-US" sz="2000" dirty="0" smtClean="0"/>
              <a:t>으로 시작</a:t>
            </a:r>
            <a:endParaRPr lang="en-US" altLang="ko-KR" sz="2000" dirty="0" smtClean="0"/>
          </a:p>
          <a:p>
            <a:pPr fontAlgn="base"/>
            <a:r>
              <a:rPr lang="ko-KR" altLang="en-US" sz="2000" dirty="0" smtClean="0"/>
              <a:t>여러 줄 주석인 경우는 아래와 같이 각 줄마다 ‘</a:t>
            </a:r>
            <a:r>
              <a:rPr lang="en-US" altLang="ko-KR" sz="2000" dirty="0" smtClean="0"/>
              <a:t>#’</a:t>
            </a:r>
            <a:r>
              <a:rPr lang="ko-KR" altLang="en-US" sz="2000" dirty="0" smtClean="0"/>
              <a:t>으로 시작하도록 하면 됨</a:t>
            </a:r>
            <a:endParaRPr lang="en-US" altLang="ko-KR" sz="2000" dirty="0"/>
          </a:p>
          <a:p>
            <a:pPr marL="0" indent="0" fontAlgn="base">
              <a:buNone/>
            </a:pPr>
            <a:r>
              <a:rPr lang="en-US" altLang="ko-KR" sz="2000" dirty="0"/>
              <a:t> </a:t>
            </a:r>
            <a:r>
              <a:rPr lang="en-US" altLang="ko-KR" sz="2000" dirty="0" smtClean="0"/>
              <a:t>  # </a:t>
            </a:r>
            <a:r>
              <a:rPr lang="ko-KR" altLang="en-US" sz="2000" dirty="0" smtClean="0"/>
              <a:t>작성자 </a:t>
            </a:r>
            <a:r>
              <a:rPr lang="en-US" altLang="ko-KR" sz="2000" dirty="0" smtClean="0"/>
              <a:t>: </a:t>
            </a:r>
            <a:r>
              <a:rPr lang="ko-KR" altLang="en-US" sz="2000" dirty="0" err="1" smtClean="0"/>
              <a:t>김개똥</a:t>
            </a:r>
            <a:endParaRPr lang="ko-KR" altLang="en-US" sz="2000" dirty="0" smtClean="0"/>
          </a:p>
          <a:p>
            <a:pPr marL="0" indent="0" fontAlgn="base">
              <a:buNone/>
            </a:pPr>
            <a:r>
              <a:rPr lang="en-US" altLang="ko-KR" sz="2000" dirty="0" smtClean="0"/>
              <a:t>   # </a:t>
            </a:r>
            <a:r>
              <a:rPr lang="ko-KR" altLang="en-US" sz="2000" dirty="0" smtClean="0"/>
              <a:t>작성일 </a:t>
            </a:r>
            <a:r>
              <a:rPr lang="en-US" altLang="ko-KR" sz="2000" dirty="0" smtClean="0"/>
              <a:t>: 2017.3.12.</a:t>
            </a:r>
            <a:endParaRPr lang="ko-KR" altLang="en-US" sz="2000" dirty="0" smtClean="0"/>
          </a:p>
          <a:p>
            <a:pPr marL="0" indent="0" fontAlgn="base">
              <a:buNone/>
            </a:pPr>
            <a:r>
              <a:rPr lang="en-US" altLang="ko-KR" sz="2000" dirty="0" smtClean="0"/>
              <a:t>   # </a:t>
            </a:r>
            <a:r>
              <a:rPr lang="ko-KR" altLang="en-US" sz="2000" dirty="0" smtClean="0"/>
              <a:t>개발 내용 </a:t>
            </a:r>
            <a:r>
              <a:rPr lang="en-US" altLang="ko-KR" sz="2000" dirty="0" smtClean="0"/>
              <a:t>: </a:t>
            </a:r>
            <a:r>
              <a:rPr lang="ko-KR" altLang="en-US" sz="2000" dirty="0" smtClean="0"/>
              <a:t>여러 줄 주석 다는 법</a:t>
            </a:r>
          </a:p>
          <a:p>
            <a:pPr fontAlgn="base"/>
            <a:endParaRPr lang="en-US" altLang="ko-KR" sz="2000" dirty="0"/>
          </a:p>
          <a:p>
            <a:pPr marL="0" indent="0" fontAlgn="base">
              <a:buNone/>
            </a:pPr>
            <a:endParaRPr lang="ko-KR" alt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4CF082-CF50-487E-A057-CB6171654138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A57BD0-A673-49D0-AFD5-6038E3EE19F2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3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8582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787455" y="188690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프로그램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제목 10"/>
          <p:cNvSpPr>
            <a:spLocks noGrp="1"/>
          </p:cNvSpPr>
          <p:nvPr>
            <p:ph type="title"/>
          </p:nvPr>
        </p:nvSpPr>
        <p:spPr>
          <a:xfrm>
            <a:off x="1790700" y="657225"/>
            <a:ext cx="8477250" cy="665163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rgbClr val="1D314E"/>
                </a:solidFill>
              </a:rPr>
              <a:t>프로그램 기본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003245-08FA-40E1-A7CB-275F2EB80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575478"/>
            <a:ext cx="8229600" cy="785167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ko-KR" altLang="en-US" sz="2000" b="1" dirty="0"/>
              <a:t>콘솔 </a:t>
            </a:r>
            <a:r>
              <a:rPr lang="ko-KR" altLang="en-US" sz="2000" b="1" dirty="0" err="1"/>
              <a:t>출력문</a:t>
            </a:r>
            <a:endParaRPr lang="ko-KR" altLang="en-US" sz="2000" dirty="0"/>
          </a:p>
          <a:p>
            <a:pPr fontAlgn="base"/>
            <a:r>
              <a:rPr lang="ko-KR" altLang="en-US" sz="2000" dirty="0" smtClean="0"/>
              <a:t>콘솔로 </a:t>
            </a:r>
            <a:r>
              <a:rPr lang="ko-KR" altLang="en-US" sz="2000" dirty="0"/>
              <a:t>출력하는 명령문은 </a:t>
            </a:r>
            <a:r>
              <a:rPr lang="en-US" altLang="ko-KR" sz="2000" dirty="0"/>
              <a:t>print</a:t>
            </a:r>
            <a:r>
              <a:rPr lang="ko-KR" altLang="en-US" sz="2000" dirty="0" smtClean="0"/>
              <a:t>임</a:t>
            </a:r>
            <a:endParaRPr lang="ko-KR" alt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4CF082-CF50-487E-A057-CB6171654138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D0BC1C6-031F-4144-869E-EB0920703B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52787"/>
              </p:ext>
            </p:extLst>
          </p:nvPr>
        </p:nvGraphicFramePr>
        <p:xfrm>
          <a:off x="2354704" y="2511099"/>
          <a:ext cx="5328158" cy="1046988"/>
        </p:xfrm>
        <a:graphic>
          <a:graphicData uri="http://schemas.openxmlformats.org/drawingml/2006/table">
            <a:tbl>
              <a:tblPr/>
              <a:tblGrid>
                <a:gridCol w="2664079">
                  <a:extLst>
                    <a:ext uri="{9D8B030D-6E8A-4147-A177-3AD203B41FA5}">
                      <a16:colId xmlns:a16="http://schemas.microsoft.com/office/drawing/2014/main" val="308606471"/>
                    </a:ext>
                  </a:extLst>
                </a:gridCol>
                <a:gridCol w="2664079">
                  <a:extLst>
                    <a:ext uri="{9D8B030D-6E8A-4147-A177-3AD203B41FA5}">
                      <a16:colId xmlns:a16="http://schemas.microsoft.com/office/drawing/2014/main" val="2748495321"/>
                    </a:ext>
                  </a:extLst>
                </a:gridCol>
              </a:tblGrid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Python 2.x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버전에서 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Python 3.x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버전에서 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862146"/>
                  </a:ext>
                </a:extLst>
              </a:tr>
              <a:tr h="56921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print 3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print ‘a’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print "Hello, #Python“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print(3)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print('a')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print("Hello, #Python")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032319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7CDDB8E-ABFC-44C7-A27B-C1BFAE4BB744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4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29003245-08FA-40E1-A7CB-275F2EB80C90}"/>
              </a:ext>
            </a:extLst>
          </p:cNvPr>
          <p:cNvSpPr txBox="1">
            <a:spLocks/>
          </p:cNvSpPr>
          <p:nvPr/>
        </p:nvSpPr>
        <p:spPr>
          <a:xfrm>
            <a:off x="2038350" y="3842817"/>
            <a:ext cx="8229600" cy="20261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dirty="0" smtClean="0"/>
              <a:t>print </a:t>
            </a:r>
            <a:r>
              <a:rPr lang="ko-KR" altLang="en-US" sz="2000" dirty="0" smtClean="0"/>
              <a:t>문을 사용하면 기본적으로 출력 후 줄이 바뀜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줄을 바꾸지 않고 싶은 경우</a:t>
            </a:r>
            <a:r>
              <a:rPr lang="en-US" altLang="ko-KR" sz="2000" dirty="0" smtClean="0"/>
              <a:t>,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end  </a:t>
            </a:r>
            <a:r>
              <a:rPr lang="ko-KR" altLang="en-US" sz="2000" dirty="0" smtClean="0"/>
              <a:t>이용</a:t>
            </a:r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en-US" altLang="ko-KR" sz="2000" dirty="0" smtClean="0"/>
              <a:t>   print("I", end=' ')</a:t>
            </a:r>
            <a:endParaRPr lang="ko-KR" altLang="en-US" sz="2000" dirty="0" smtClean="0"/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en-US" altLang="ko-KR" sz="2000" dirty="0" smtClean="0"/>
              <a:t>   print("Love", end = ' ')</a:t>
            </a:r>
            <a:endParaRPr lang="ko-KR" altLang="en-US" sz="2000" dirty="0" smtClean="0"/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en-US" altLang="ko-KR" sz="2000" dirty="0" smtClean="0"/>
              <a:t>   print("You" , end= ' ')</a:t>
            </a:r>
            <a:endParaRPr lang="ko-KR" altLang="en-US" sz="2000" dirty="0" smtClean="0"/>
          </a:p>
          <a:p>
            <a:pPr marL="0" indent="0" fontAlgn="base">
              <a:buFont typeface="Arial" panose="020B0604020202020204" pitchFamily="34" charset="0"/>
              <a:buNone/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99471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787455" y="188690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프로그램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제목 10"/>
          <p:cNvSpPr>
            <a:spLocks noGrp="1"/>
          </p:cNvSpPr>
          <p:nvPr>
            <p:ph type="title"/>
          </p:nvPr>
        </p:nvSpPr>
        <p:spPr>
          <a:xfrm>
            <a:off x="1790700" y="657225"/>
            <a:ext cx="8477250" cy="665163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rgbClr val="1D314E"/>
                </a:solidFill>
              </a:rPr>
              <a:t>프로그램 기본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003245-08FA-40E1-A7CB-275F2EB80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575478"/>
            <a:ext cx="8229600" cy="3761632"/>
          </a:xfrm>
        </p:spPr>
        <p:txBody>
          <a:bodyPr>
            <a:noAutofit/>
          </a:bodyPr>
          <a:lstStyle/>
          <a:p>
            <a:pPr fontAlgn="base"/>
            <a:r>
              <a:rPr lang="ko-KR" altLang="en-US" sz="2000" dirty="0" smtClean="0"/>
              <a:t>여러 </a:t>
            </a:r>
            <a:r>
              <a:rPr lang="ko-KR" altLang="en-US" sz="2000" dirty="0"/>
              <a:t>문자열을 한 </a:t>
            </a:r>
            <a:r>
              <a:rPr lang="en-US" altLang="ko-KR" sz="2000" dirty="0"/>
              <a:t>print</a:t>
            </a:r>
            <a:r>
              <a:rPr lang="ko-KR" altLang="en-US" sz="2000" dirty="0"/>
              <a:t>문으로 출력할 </a:t>
            </a:r>
            <a:r>
              <a:rPr lang="ko-KR" altLang="en-US" sz="2000" dirty="0" smtClean="0"/>
              <a:t>경우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 </a:t>
            </a:r>
            <a:r>
              <a:rPr lang="ko-KR" altLang="en-US" sz="2000" dirty="0"/>
              <a:t>값을 공백 또는 콤마 </a:t>
            </a:r>
            <a:r>
              <a:rPr lang="en-US" altLang="ko-KR" sz="2000" dirty="0"/>
              <a:t>(,) </a:t>
            </a:r>
            <a:r>
              <a:rPr lang="ko-KR" altLang="en-US" sz="2000" dirty="0"/>
              <a:t>또는 ‘</a:t>
            </a:r>
            <a:r>
              <a:rPr lang="en-US" altLang="ko-KR" sz="2000" dirty="0"/>
              <a:t>+’ </a:t>
            </a:r>
            <a:r>
              <a:rPr lang="ko-KR" altLang="en-US" sz="2000" dirty="0"/>
              <a:t>기호를 </a:t>
            </a:r>
            <a:r>
              <a:rPr lang="ko-KR" altLang="en-US" sz="2000" dirty="0" smtClean="0"/>
              <a:t>사용</a:t>
            </a:r>
            <a:endParaRPr lang="en-US" altLang="ko-KR" sz="2000" dirty="0"/>
          </a:p>
          <a:p>
            <a:pPr lvl="1" fontAlgn="base"/>
            <a:r>
              <a:rPr lang="en-US" altLang="ko-KR" sz="1600" dirty="0"/>
              <a:t> ‘+’ </a:t>
            </a:r>
            <a:r>
              <a:rPr lang="ko-KR" altLang="en-US" sz="1600" dirty="0"/>
              <a:t>기호는 두 문자열을 합쳐 긴 문자열을 만들 때 사용하는 연산자임</a:t>
            </a:r>
            <a:r>
              <a:rPr lang="en-US" altLang="ko-KR" sz="1600" dirty="0"/>
              <a:t>. </a:t>
            </a:r>
          </a:p>
          <a:p>
            <a:pPr lvl="1" fontAlgn="base"/>
            <a:r>
              <a:rPr lang="ko-KR" altLang="en-US" sz="1600" dirty="0" smtClean="0"/>
              <a:t>공백으로 </a:t>
            </a:r>
            <a:r>
              <a:rPr lang="ko-KR" altLang="en-US" sz="1600" dirty="0"/>
              <a:t>분리할 경우는 문자열들만 사용할 수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출력 값 사이에 공백이 없이 </a:t>
            </a:r>
            <a:r>
              <a:rPr lang="ko-KR" altLang="en-US" sz="1600" dirty="0" smtClean="0"/>
              <a:t>출력</a:t>
            </a:r>
            <a:endParaRPr lang="en-US" altLang="ko-KR" sz="1600" dirty="0"/>
          </a:p>
          <a:p>
            <a:pPr lvl="1" fontAlgn="base"/>
            <a:r>
              <a:rPr lang="ko-KR" altLang="en-US" sz="1600" dirty="0"/>
              <a:t>콤마로 분리할 경우는 숫자 값도 사용할 수 있으며 출력 값 사이에 빈 공백 하나가 출력이 </a:t>
            </a:r>
            <a:r>
              <a:rPr lang="ko-KR" altLang="en-US" sz="1600" dirty="0" smtClean="0"/>
              <a:t>됨</a:t>
            </a:r>
            <a:endParaRPr lang="en-US" altLang="ko-KR" sz="1600" dirty="0"/>
          </a:p>
          <a:p>
            <a:pPr lvl="1" fontAlgn="base"/>
            <a:r>
              <a:rPr lang="en-US" altLang="ko-KR" sz="1600" dirty="0" smtClean="0"/>
              <a:t> ‘+’ </a:t>
            </a:r>
            <a:r>
              <a:rPr lang="ko-KR" altLang="en-US" sz="1600" dirty="0" smtClean="0"/>
              <a:t>기호는 두 문자열을 합쳐 긴 문자열을 만들 때 사용하는 연산자임</a:t>
            </a:r>
            <a:r>
              <a:rPr lang="en-US" altLang="ko-KR" sz="1600" dirty="0" smtClean="0"/>
              <a:t>. ‘+’</a:t>
            </a:r>
            <a:r>
              <a:rPr lang="ko-KR" altLang="en-US" sz="1600" dirty="0"/>
              <a:t>로 여러 값들을 출력할 경우에도 문자열만 값만 사용할 </a:t>
            </a:r>
            <a:r>
              <a:rPr lang="ko-KR" altLang="en-US" sz="1600" dirty="0" smtClean="0"/>
              <a:t>있음</a:t>
            </a:r>
            <a:endParaRPr lang="en-US" altLang="ko-KR" sz="1600" dirty="0"/>
          </a:p>
          <a:p>
            <a:pPr lvl="1" fontAlgn="base"/>
            <a:endParaRPr lang="ko-KR" altLang="en-US" sz="2000" dirty="0"/>
          </a:p>
          <a:p>
            <a:pPr marL="0" indent="0" fontAlgn="base">
              <a:buNone/>
            </a:pPr>
            <a:r>
              <a:rPr lang="en-US" altLang="ko-KR" sz="2000" dirty="0" smtClean="0"/>
              <a:t>   print</a:t>
            </a:r>
            <a:r>
              <a:rPr lang="en-US" altLang="ko-KR" sz="2000" dirty="0"/>
              <a:t>("I" "2" "You")</a:t>
            </a:r>
            <a:endParaRPr lang="ko-KR" altLang="en-US" sz="2000" dirty="0"/>
          </a:p>
          <a:p>
            <a:pPr marL="0" indent="0" fontAlgn="base">
              <a:buNone/>
            </a:pPr>
            <a:r>
              <a:rPr lang="en-US" altLang="ko-KR" sz="2000" dirty="0" smtClean="0"/>
              <a:t>   print</a:t>
            </a:r>
            <a:r>
              <a:rPr lang="en-US" altLang="ko-KR" sz="2000" dirty="0"/>
              <a:t>("I", 2, "You")</a:t>
            </a:r>
            <a:endParaRPr lang="ko-KR" altLang="en-US" sz="2000" dirty="0"/>
          </a:p>
          <a:p>
            <a:pPr marL="0" indent="0" fontAlgn="base">
              <a:buNone/>
            </a:pPr>
            <a:r>
              <a:rPr lang="en-US" altLang="ko-KR" sz="2000" dirty="0" smtClean="0"/>
              <a:t>   print</a:t>
            </a:r>
            <a:r>
              <a:rPr lang="en-US" altLang="ko-KR" sz="2000" dirty="0"/>
              <a:t>("I" + </a:t>
            </a:r>
            <a:r>
              <a:rPr lang="en-US" altLang="ko-KR" sz="2000" dirty="0" err="1"/>
              <a:t>str</a:t>
            </a:r>
            <a:r>
              <a:rPr lang="en-US" altLang="ko-KR" sz="2000" dirty="0"/>
              <a:t>(2) + "You")</a:t>
            </a:r>
            <a:endParaRPr lang="ko-KR" altLang="en-US" sz="2000" dirty="0"/>
          </a:p>
          <a:p>
            <a:pPr marL="0" indent="0" fontAlgn="base">
              <a:buNone/>
            </a:pPr>
            <a:endParaRPr lang="ko-KR" alt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4CF082-CF50-487E-A057-CB6171654138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pic>
        <p:nvPicPr>
          <p:cNvPr id="5121" name="_x349992552" descr="EMB0000312c3dec">
            <a:extLst>
              <a:ext uri="{FF2B5EF4-FFF2-40B4-BE49-F238E27FC236}">
                <a16:creationId xmlns:a16="http://schemas.microsoft.com/office/drawing/2014/main" id="{CEEFD267-0695-44B4-AD0F-7F8351BAA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435" y="4142518"/>
            <a:ext cx="4544009" cy="2250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A3425D5-4676-4876-9868-E602B16686AC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5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2782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787455" y="188690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프로그램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제목 10"/>
          <p:cNvSpPr>
            <a:spLocks noGrp="1"/>
          </p:cNvSpPr>
          <p:nvPr>
            <p:ph type="title"/>
          </p:nvPr>
        </p:nvSpPr>
        <p:spPr>
          <a:xfrm>
            <a:off x="1790700" y="657225"/>
            <a:ext cx="8477250" cy="665163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rgbClr val="1D314E"/>
                </a:solidFill>
              </a:rPr>
              <a:t>프로그램 기본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003245-08FA-40E1-A7CB-275F2EB80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575478"/>
            <a:ext cx="8229600" cy="4724786"/>
          </a:xfrm>
        </p:spPr>
        <p:txBody>
          <a:bodyPr>
            <a:noAutofit/>
          </a:bodyPr>
          <a:lstStyle/>
          <a:p>
            <a:pPr fontAlgn="base"/>
            <a:r>
              <a:rPr lang="ko-KR" altLang="en-US" sz="2000" dirty="0" smtClean="0"/>
              <a:t>문자열 형식 지정 출력</a:t>
            </a:r>
            <a:endParaRPr lang="en-US" altLang="ko-KR" sz="2000" dirty="0" smtClean="0"/>
          </a:p>
          <a:p>
            <a:pPr marL="0" indent="0" fontAlgn="base">
              <a:buNone/>
            </a:pPr>
            <a:r>
              <a:rPr lang="en-US" altLang="ko-KR" sz="2000" dirty="0" smtClean="0"/>
              <a:t>   print</a:t>
            </a:r>
            <a:r>
              <a:rPr lang="en-US" altLang="ko-KR" sz="2000" dirty="0"/>
              <a:t>(</a:t>
            </a:r>
            <a:r>
              <a:rPr lang="ko-KR" altLang="en-US" sz="2000" dirty="0"/>
              <a:t>형식 문자열 </a:t>
            </a:r>
            <a:r>
              <a:rPr lang="en-US" altLang="ko-KR" sz="2000" dirty="0"/>
              <a:t>% </a:t>
            </a:r>
            <a:r>
              <a:rPr lang="ko-KR" altLang="en-US" sz="2000" dirty="0" err="1"/>
              <a:t>출력값들</a:t>
            </a:r>
            <a:r>
              <a:rPr lang="en-US" altLang="ko-KR" sz="2000" dirty="0"/>
              <a:t>)</a:t>
            </a:r>
          </a:p>
          <a:p>
            <a:pPr fontAlgn="base"/>
            <a:r>
              <a:rPr lang="ko-KR" altLang="en-US" sz="2000" dirty="0" smtClean="0"/>
              <a:t>형식 지정 문자</a:t>
            </a:r>
            <a:endParaRPr lang="ko-KR" altLang="en-US" sz="2000" dirty="0"/>
          </a:p>
          <a:p>
            <a:pPr marL="0" indent="0" fontAlgn="base">
              <a:buNone/>
            </a:pPr>
            <a:r>
              <a:rPr lang="en-US" altLang="ko-KR" sz="2000" dirty="0"/>
              <a:t>%s : </a:t>
            </a:r>
            <a:r>
              <a:rPr lang="ko-KR" altLang="en-US" sz="2000" dirty="0"/>
              <a:t>문자열 형태로 </a:t>
            </a:r>
            <a:r>
              <a:rPr lang="ko-KR" altLang="en-US" sz="2000" dirty="0" smtClean="0"/>
              <a:t>출력 </a:t>
            </a:r>
            <a:endParaRPr lang="ko-KR" altLang="en-US" sz="2000" dirty="0"/>
          </a:p>
          <a:p>
            <a:pPr marL="0" indent="0" fontAlgn="base">
              <a:buNone/>
            </a:pPr>
            <a:r>
              <a:rPr lang="en-US" altLang="ko-KR" sz="2000" dirty="0"/>
              <a:t>%d : </a:t>
            </a:r>
            <a:r>
              <a:rPr lang="ko-KR" altLang="en-US" sz="2000" dirty="0" err="1"/>
              <a:t>정수형으로</a:t>
            </a:r>
            <a:r>
              <a:rPr lang="ko-KR" altLang="en-US" sz="2000" dirty="0"/>
              <a:t> </a:t>
            </a:r>
            <a:r>
              <a:rPr lang="ko-KR" altLang="en-US" sz="2000" dirty="0" smtClean="0"/>
              <a:t>출력</a:t>
            </a:r>
            <a:endParaRPr lang="ko-KR" altLang="en-US" sz="2000" dirty="0"/>
          </a:p>
          <a:p>
            <a:pPr marL="0" indent="0" fontAlgn="base">
              <a:buNone/>
            </a:pPr>
            <a:r>
              <a:rPr lang="en-US" altLang="ko-KR" sz="2000" dirty="0"/>
              <a:t>%f : </a:t>
            </a:r>
            <a:r>
              <a:rPr lang="ko-KR" altLang="en-US" sz="2000" dirty="0"/>
              <a:t>부동소수점 형식으로 </a:t>
            </a:r>
            <a:r>
              <a:rPr lang="ko-KR" altLang="en-US" sz="2000" dirty="0" smtClean="0"/>
              <a:t>출력</a:t>
            </a:r>
            <a:endParaRPr lang="ko-KR" altLang="en-US" sz="2000" dirty="0"/>
          </a:p>
          <a:p>
            <a:pPr marL="0" indent="0" fontAlgn="base">
              <a:buNone/>
            </a:pPr>
            <a:r>
              <a:rPr lang="en-US" altLang="ko-KR" sz="2000" dirty="0"/>
              <a:t>%.</a:t>
            </a:r>
            <a:r>
              <a:rPr lang="en-US" altLang="ko-KR" sz="2000" i="1" dirty="0"/>
              <a:t>n</a:t>
            </a:r>
            <a:r>
              <a:rPr lang="en-US" altLang="ko-KR" sz="2000" dirty="0"/>
              <a:t>f : </a:t>
            </a:r>
            <a:r>
              <a:rPr lang="ko-KR" altLang="en-US" sz="2000" dirty="0"/>
              <a:t>부동소수점을 소수점 이하 </a:t>
            </a:r>
            <a:r>
              <a:rPr lang="en-US" altLang="ko-KR" sz="2000" i="1" dirty="0"/>
              <a:t>n</a:t>
            </a:r>
            <a:r>
              <a:rPr lang="ko-KR" altLang="en-US" sz="2000" dirty="0"/>
              <a:t>자리까지 </a:t>
            </a:r>
            <a:r>
              <a:rPr lang="ko-KR" altLang="en-US" sz="2000" dirty="0" smtClean="0"/>
              <a:t>출력</a:t>
            </a:r>
            <a:endParaRPr lang="ko-KR" altLang="en-US" sz="2000" dirty="0"/>
          </a:p>
          <a:p>
            <a:pPr marL="0" indent="0" fontAlgn="base">
              <a:buNone/>
            </a:pPr>
            <a:r>
              <a:rPr lang="en-US" altLang="ko-KR" sz="2000" dirty="0"/>
              <a:t>%x </a:t>
            </a:r>
            <a:r>
              <a:rPr lang="ko-KR" altLang="en-US" sz="2000" dirty="0"/>
              <a:t>또는 </a:t>
            </a:r>
            <a:r>
              <a:rPr lang="en-US" altLang="ko-KR" sz="2000" dirty="0"/>
              <a:t>%X </a:t>
            </a:r>
            <a:r>
              <a:rPr lang="en-US" altLang="ko-KR" sz="2000" dirty="0" smtClean="0"/>
              <a:t>: </a:t>
            </a:r>
            <a:r>
              <a:rPr lang="ko-KR" altLang="en-US" sz="2000" dirty="0"/>
              <a:t>정수를 </a:t>
            </a:r>
            <a:r>
              <a:rPr lang="en-US" altLang="ko-KR" sz="2000" dirty="0"/>
              <a:t>16</a:t>
            </a:r>
            <a:r>
              <a:rPr lang="ko-KR" altLang="en-US" sz="2000" dirty="0"/>
              <a:t>진수 형태 </a:t>
            </a:r>
            <a:r>
              <a:rPr lang="en-US" altLang="ko-KR" sz="2000" dirty="0"/>
              <a:t>(</a:t>
            </a:r>
            <a:r>
              <a:rPr lang="ko-KR" altLang="en-US" sz="2000" dirty="0"/>
              <a:t>소문자 또는 대문자</a:t>
            </a:r>
            <a:r>
              <a:rPr lang="en-US" altLang="ko-KR" sz="2000" dirty="0"/>
              <a:t>)</a:t>
            </a:r>
            <a:r>
              <a:rPr lang="ko-KR" altLang="en-US" sz="2000" dirty="0"/>
              <a:t>로 </a:t>
            </a:r>
            <a:r>
              <a:rPr lang="ko-KR" altLang="en-US" sz="2000" dirty="0" smtClean="0"/>
              <a:t>출력</a:t>
            </a:r>
            <a:endParaRPr lang="en-US" altLang="ko-KR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4CF082-CF50-487E-A057-CB6171654138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C6CB44-8365-415A-80BC-171DC48F206B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6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8517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787455" y="188690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프로그램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제목 10"/>
          <p:cNvSpPr>
            <a:spLocks noGrp="1"/>
          </p:cNvSpPr>
          <p:nvPr>
            <p:ph type="title"/>
          </p:nvPr>
        </p:nvSpPr>
        <p:spPr>
          <a:xfrm>
            <a:off x="1790700" y="657225"/>
            <a:ext cx="8477250" cy="665163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rgbClr val="1D314E"/>
                </a:solidFill>
              </a:rPr>
              <a:t>프로그램 기본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003245-08FA-40E1-A7CB-275F2EB80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575478"/>
            <a:ext cx="8229600" cy="4724786"/>
          </a:xfrm>
        </p:spPr>
        <p:txBody>
          <a:bodyPr>
            <a:noAutofit/>
          </a:bodyPr>
          <a:lstStyle/>
          <a:p>
            <a:pPr fontAlgn="base"/>
            <a:r>
              <a:rPr lang="ko-KR" altLang="en-US" sz="2000" dirty="0" smtClean="0"/>
              <a:t>출력 </a:t>
            </a:r>
            <a:r>
              <a:rPr lang="ko-KR" altLang="en-US" sz="2000" dirty="0"/>
              <a:t>값은 </a:t>
            </a:r>
            <a:r>
              <a:rPr lang="ko-KR" altLang="en-US" sz="2000" dirty="0" smtClean="0"/>
              <a:t>그 </a:t>
            </a:r>
            <a:r>
              <a:rPr lang="ko-KR" altLang="en-US" sz="2000" dirty="0"/>
              <a:t>값이나 변수명을 기술해 주면 되고</a:t>
            </a:r>
            <a:r>
              <a:rPr lang="en-US" altLang="ko-KR" sz="2000" dirty="0"/>
              <a:t>, </a:t>
            </a:r>
            <a:r>
              <a:rPr lang="ko-KR" altLang="en-US" sz="2000" dirty="0"/>
              <a:t>여러 개일 경우는 </a:t>
            </a:r>
            <a:r>
              <a:rPr lang="ko-KR" altLang="en-US" sz="2000" dirty="0" err="1"/>
              <a:t>튜플</a:t>
            </a:r>
            <a:r>
              <a:rPr lang="ko-KR" altLang="en-US" sz="2000" dirty="0"/>
              <a:t> 형태로</a:t>
            </a:r>
            <a:r>
              <a:rPr lang="en-US" altLang="ko-KR" sz="2000" dirty="0"/>
              <a:t>, </a:t>
            </a:r>
            <a:r>
              <a:rPr lang="ko-KR" altLang="en-US" sz="2000" dirty="0"/>
              <a:t>즉 ‘</a:t>
            </a:r>
            <a:r>
              <a:rPr lang="en-US" altLang="ko-KR" sz="2000" dirty="0"/>
              <a:t>(’</a:t>
            </a:r>
            <a:r>
              <a:rPr lang="ko-KR" altLang="en-US" sz="2000" dirty="0"/>
              <a:t>와 ‘</a:t>
            </a:r>
            <a:r>
              <a:rPr lang="en-US" altLang="ko-KR" sz="2000" dirty="0"/>
              <a:t>)’ </a:t>
            </a:r>
            <a:r>
              <a:rPr lang="ko-KR" altLang="en-US" sz="2000" dirty="0"/>
              <a:t>사이에 콤마로 구별해 주면 </a:t>
            </a:r>
            <a:r>
              <a:rPr lang="ko-KR" altLang="en-US" sz="2000" dirty="0" smtClean="0"/>
              <a:t>됨</a:t>
            </a:r>
            <a:endParaRPr lang="en-US" altLang="ko-KR" sz="2000" dirty="0"/>
          </a:p>
          <a:p>
            <a:pPr marL="0" indent="0" fontAlgn="base">
              <a:buNone/>
            </a:pPr>
            <a:endParaRPr lang="ko-KR" altLang="en-US" sz="2000" dirty="0"/>
          </a:p>
          <a:p>
            <a:pPr marL="0" indent="0" fontAlgn="base">
              <a:buNone/>
            </a:pPr>
            <a:r>
              <a:rPr lang="en-US" altLang="ko-KR" sz="2000" dirty="0"/>
              <a:t>name = "John"</a:t>
            </a:r>
            <a:endParaRPr lang="ko-KR" altLang="en-US" sz="2000" dirty="0"/>
          </a:p>
          <a:p>
            <a:pPr marL="0" indent="0" fontAlgn="base">
              <a:buNone/>
            </a:pPr>
            <a:r>
              <a:rPr lang="en-US" altLang="ko-KR" sz="2000" dirty="0"/>
              <a:t>print("Hello, %s!" % name) # Hello, </a:t>
            </a:r>
            <a:r>
              <a:rPr lang="en-US" altLang="ko-KR" sz="2000" dirty="0" err="1"/>
              <a:t>Jhun</a:t>
            </a:r>
            <a:r>
              <a:rPr lang="en-US" altLang="ko-KR" sz="2000" dirty="0"/>
              <a:t>!</a:t>
            </a:r>
            <a:endParaRPr lang="ko-KR" altLang="en-US" sz="2000" dirty="0"/>
          </a:p>
          <a:p>
            <a:pPr marL="0" indent="0" fontAlgn="base">
              <a:buNone/>
            </a:pPr>
            <a:r>
              <a:rPr lang="en-US" altLang="ko-KR" sz="2000" dirty="0"/>
              <a:t>name = "John"</a:t>
            </a:r>
            <a:endParaRPr lang="ko-KR" altLang="en-US" sz="2000" dirty="0"/>
          </a:p>
          <a:p>
            <a:pPr marL="0" indent="0" fontAlgn="base">
              <a:buNone/>
            </a:pPr>
            <a:r>
              <a:rPr lang="en-US" altLang="ko-KR" sz="2000" dirty="0"/>
              <a:t>age = 23</a:t>
            </a:r>
            <a:endParaRPr lang="ko-KR" altLang="en-US" sz="2000" dirty="0"/>
          </a:p>
          <a:p>
            <a:pPr marL="0" indent="0" fontAlgn="base">
              <a:buNone/>
            </a:pPr>
            <a:r>
              <a:rPr lang="en-US" altLang="ko-KR" sz="2000" dirty="0"/>
              <a:t>print("%s</a:t>
            </a:r>
            <a:r>
              <a:rPr lang="ko-KR" altLang="en-US" sz="2000" dirty="0"/>
              <a:t>은 </a:t>
            </a:r>
            <a:r>
              <a:rPr lang="en-US" altLang="ko-KR" sz="2000" dirty="0"/>
              <a:t>%d </a:t>
            </a:r>
            <a:r>
              <a:rPr lang="ko-KR" altLang="en-US" sz="2000" dirty="0"/>
              <a:t>살입니다</a:t>
            </a:r>
            <a:r>
              <a:rPr lang="en-US" altLang="ko-KR" sz="2000" dirty="0"/>
              <a:t>." % (name, age)) # John</a:t>
            </a:r>
            <a:r>
              <a:rPr lang="ko-KR" altLang="en-US" sz="2000" dirty="0"/>
              <a:t>은 </a:t>
            </a:r>
            <a:r>
              <a:rPr lang="en-US" altLang="ko-KR" sz="2000" dirty="0"/>
              <a:t>23 </a:t>
            </a:r>
            <a:r>
              <a:rPr lang="ko-KR" altLang="en-US" sz="2000" dirty="0"/>
              <a:t>살입니다</a:t>
            </a:r>
            <a:r>
              <a:rPr lang="en-US" altLang="ko-KR" sz="2000" dirty="0"/>
              <a:t>.</a:t>
            </a:r>
            <a:endParaRPr lang="ko-KR" altLang="en-US" sz="2000" dirty="0"/>
          </a:p>
          <a:p>
            <a:pPr marL="0" indent="0" fontAlgn="base">
              <a:buNone/>
            </a:pPr>
            <a:endParaRPr lang="ko-KR" alt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4CF082-CF50-487E-A057-CB6171654138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6F5306-F955-435D-8DFF-0A8BCAF5A2CB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7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1408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787455" y="188690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프로그램 기본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제목 10"/>
          <p:cNvSpPr>
            <a:spLocks noGrp="1"/>
          </p:cNvSpPr>
          <p:nvPr>
            <p:ph type="title"/>
          </p:nvPr>
        </p:nvSpPr>
        <p:spPr>
          <a:xfrm>
            <a:off x="1790700" y="657225"/>
            <a:ext cx="8477250" cy="665163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rgbClr val="1D314E"/>
                </a:solidFill>
              </a:rPr>
              <a:t>프로그램 기본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003245-08FA-40E1-A7CB-275F2EB80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575478"/>
            <a:ext cx="8229600" cy="841151"/>
          </a:xfrm>
        </p:spPr>
        <p:txBody>
          <a:bodyPr>
            <a:noAutofit/>
          </a:bodyPr>
          <a:lstStyle/>
          <a:p>
            <a:pPr fontAlgn="base"/>
            <a:r>
              <a:rPr lang="ko-KR" altLang="en-US" sz="2000" dirty="0" smtClean="0"/>
              <a:t>문자열 </a:t>
            </a:r>
            <a:r>
              <a:rPr lang="ko-KR" altLang="en-US" sz="2000" dirty="0"/>
              <a:t>객체의 </a:t>
            </a:r>
            <a:r>
              <a:rPr lang="en-US" altLang="ko-KR" sz="2000" dirty="0"/>
              <a:t>format </a:t>
            </a:r>
            <a:r>
              <a:rPr lang="ko-KR" altLang="en-US" sz="2000" dirty="0" err="1" smtClean="0"/>
              <a:t>메소드</a:t>
            </a:r>
            <a:r>
              <a:rPr lang="ko-KR" altLang="en-US" sz="2000" dirty="0" smtClean="0"/>
              <a:t> 이용</a:t>
            </a:r>
            <a:endParaRPr lang="en-US" altLang="ko-KR" sz="2000" dirty="0"/>
          </a:p>
          <a:p>
            <a:pPr marL="0" indent="0" fontAlgn="base">
              <a:buNone/>
            </a:pPr>
            <a:r>
              <a:rPr lang="en-US" altLang="ko-KR" sz="2000" dirty="0" smtClean="0"/>
              <a:t>  print</a:t>
            </a:r>
            <a:r>
              <a:rPr lang="en-US" altLang="ko-KR" sz="2000" dirty="0"/>
              <a:t>(</a:t>
            </a:r>
            <a:r>
              <a:rPr lang="ko-KR" altLang="en-US" sz="2000" dirty="0"/>
              <a:t>형식문자열</a:t>
            </a:r>
            <a:r>
              <a:rPr lang="en-US" altLang="ko-KR" sz="2000" dirty="0"/>
              <a:t>.format(</a:t>
            </a:r>
            <a:r>
              <a:rPr lang="ko-KR" altLang="en-US" sz="2000" dirty="0" err="1"/>
              <a:t>출력값들</a:t>
            </a:r>
            <a:r>
              <a:rPr lang="en-US" altLang="ko-KR" sz="2000" dirty="0"/>
              <a:t>))</a:t>
            </a:r>
          </a:p>
          <a:p>
            <a:pPr marL="0" indent="0" fontAlgn="base">
              <a:buNone/>
            </a:pPr>
            <a:endParaRPr lang="ko-KR" altLang="en-US" sz="2000" dirty="0"/>
          </a:p>
          <a:p>
            <a:pPr fontAlgn="base"/>
            <a:endParaRPr lang="en-US" altLang="ko-KR" sz="2000" dirty="0" smtClean="0"/>
          </a:p>
          <a:p>
            <a:pPr fontAlgn="base"/>
            <a:endParaRPr lang="en-US" altLang="ko-KR" sz="2000" dirty="0"/>
          </a:p>
          <a:p>
            <a:pPr fontAlgn="base"/>
            <a:endParaRPr lang="en-US" altLang="ko-KR" sz="2000" dirty="0" smtClean="0"/>
          </a:p>
          <a:p>
            <a:pPr fontAlgn="base"/>
            <a:endParaRPr lang="en-US" altLang="ko-KR" sz="2000" dirty="0"/>
          </a:p>
          <a:p>
            <a:pPr fontAlgn="base"/>
            <a:endParaRPr lang="en-US" altLang="ko-KR" sz="2000" dirty="0" smtClean="0"/>
          </a:p>
          <a:p>
            <a:pPr fontAlgn="base"/>
            <a:endParaRPr lang="en-US" altLang="ko-KR" sz="2000" dirty="0"/>
          </a:p>
          <a:p>
            <a:pPr fontAlgn="base"/>
            <a:endParaRPr lang="en-US" altLang="ko-KR" sz="2000" dirty="0" smtClean="0"/>
          </a:p>
          <a:p>
            <a:pPr marL="0" indent="0" fontAlgn="base">
              <a:buNone/>
            </a:pPr>
            <a:endParaRPr lang="ko-KR" alt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4CF082-CF50-487E-A057-CB6171654138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1B3996-A15E-4D7A-8316-906F4D36989C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8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AD990FC-B333-4AFD-91C9-66FF97B336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537242"/>
              </p:ext>
            </p:extLst>
          </p:nvPr>
        </p:nvGraphicFramePr>
        <p:xfrm>
          <a:off x="2058960" y="2669719"/>
          <a:ext cx="5328158" cy="3442208"/>
        </p:xfrm>
        <a:graphic>
          <a:graphicData uri="http://schemas.openxmlformats.org/drawingml/2006/table">
            <a:tbl>
              <a:tblPr/>
              <a:tblGrid>
                <a:gridCol w="1873377">
                  <a:extLst>
                    <a:ext uri="{9D8B030D-6E8A-4147-A177-3AD203B41FA5}">
                      <a16:colId xmlns:a16="http://schemas.microsoft.com/office/drawing/2014/main" val="1178400635"/>
                    </a:ext>
                  </a:extLst>
                </a:gridCol>
                <a:gridCol w="1745361">
                  <a:extLst>
                    <a:ext uri="{9D8B030D-6E8A-4147-A177-3AD203B41FA5}">
                      <a16:colId xmlns:a16="http://schemas.microsoft.com/office/drawing/2014/main" val="2180900912"/>
                    </a:ext>
                  </a:extLst>
                </a:gridCol>
                <a:gridCol w="1709420">
                  <a:extLst>
                    <a:ext uri="{9D8B030D-6E8A-4147-A177-3AD203B41FA5}">
                      <a16:colId xmlns:a16="http://schemas.microsoft.com/office/drawing/2014/main" val="1754141009"/>
                    </a:ext>
                  </a:extLst>
                </a:gridCol>
              </a:tblGrid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새로운 방식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이전 방식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결과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262411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'{} {}'.format('one', 'two')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'%s %s' % ('one', 'two')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one two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3129223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'{} {}'.format(1, 2)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'%d %d' % (1, 2)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1 2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3082070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'{:5} {:5}'.format(1, 2)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'%5d %5d' % (1, 2)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1 2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3935866"/>
                  </a:ext>
                </a:extLst>
              </a:tr>
              <a:tr h="36601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'{1} {0}'.format('one', 'two')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없음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two one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7716881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'{:.3f}'.format(3.14159)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'%.3f' % 3.14159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3.142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1247935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'{:10.3f}'.format(3.14159)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'%10.3f' % 3.14159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3.142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2106409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'{:10}'.format(3.14159)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'%10s' % 3.14159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3.14159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2873794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'{:&lt;10}'.format(3.14159)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'%-10s' % 3.14159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3.14159 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3945934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'{:_&lt;10}'.format(3.14159)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없음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3.14159___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53632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'{:^10}'.format(3.14159)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없음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3.14159 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5420550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'{:_^10}'.format(3.14159)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없음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_3.14159__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528362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753813" y="2752639"/>
            <a:ext cx="3679372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ko-KR" dirty="0" smtClean="0"/>
              <a:t>“&lt;10”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10</a:t>
            </a:r>
            <a:r>
              <a:rPr lang="ko-KR" altLang="en-US" dirty="0" smtClean="0"/>
              <a:t>자리이며 좌측 정렬을 의미</a:t>
            </a:r>
            <a:endParaRPr lang="en-US" altLang="ko-KR" dirty="0" smtClean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ko-KR" dirty="0" smtClean="0"/>
              <a:t> “_&lt;10”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10</a:t>
            </a:r>
            <a:r>
              <a:rPr lang="ko-KR" altLang="en-US" dirty="0" smtClean="0"/>
              <a:t>자리 좌측 정렬이며 빈자리는 ‘</a:t>
            </a:r>
            <a:r>
              <a:rPr lang="en-US" altLang="ko-KR" dirty="0" smtClean="0"/>
              <a:t>_’</a:t>
            </a:r>
            <a:r>
              <a:rPr lang="ko-KR" altLang="en-US" dirty="0" smtClean="0"/>
              <a:t>로 표시하라는 의미</a:t>
            </a:r>
            <a:r>
              <a:rPr lang="en-US" altLang="ko-KR" dirty="0" smtClean="0"/>
              <a:t>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ko-KR" altLang="en-US" dirty="0" smtClean="0"/>
              <a:t>“</a:t>
            </a:r>
            <a:r>
              <a:rPr lang="en-US" altLang="ko-KR" dirty="0" smtClean="0"/>
              <a:t>^10”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10</a:t>
            </a:r>
            <a:r>
              <a:rPr lang="ko-KR" altLang="en-US" dirty="0" smtClean="0"/>
              <a:t>자리 중앙 정렬을 의미</a:t>
            </a:r>
            <a:r>
              <a:rPr lang="en-US" altLang="ko-KR" dirty="0" smtClean="0"/>
              <a:t>.</a:t>
            </a:r>
            <a:endParaRPr lang="ko-KR" altLang="en-US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4545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787455" y="188690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프로그램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제목 10"/>
          <p:cNvSpPr>
            <a:spLocks noGrp="1"/>
          </p:cNvSpPr>
          <p:nvPr>
            <p:ph type="title"/>
          </p:nvPr>
        </p:nvSpPr>
        <p:spPr>
          <a:xfrm>
            <a:off x="1790700" y="657225"/>
            <a:ext cx="8477250" cy="665163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rgbClr val="1D314E"/>
                </a:solidFill>
              </a:rPr>
              <a:t>프로그램 기본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003245-08FA-40E1-A7CB-275F2EB80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199" y="1575477"/>
            <a:ext cx="8686801" cy="4480089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ko-KR" altLang="en-US" sz="2000" b="1" dirty="0"/>
              <a:t>콘솔 입력문</a:t>
            </a:r>
            <a:endParaRPr lang="ko-KR" altLang="en-US" sz="2000" dirty="0"/>
          </a:p>
          <a:p>
            <a:pPr fontAlgn="base"/>
            <a:r>
              <a:rPr lang="en-US" altLang="ko-KR" sz="2000" dirty="0" smtClean="0"/>
              <a:t>input </a:t>
            </a:r>
            <a:r>
              <a:rPr lang="ko-KR" altLang="en-US" sz="2000" dirty="0"/>
              <a:t>문이나 </a:t>
            </a:r>
            <a:r>
              <a:rPr lang="en-US" altLang="ko-KR" sz="2000" dirty="0" err="1"/>
              <a:t>raw</a:t>
            </a:r>
            <a:r>
              <a:rPr lang="en-US" altLang="ko-KR" sz="20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</a:t>
            </a:r>
            <a:r>
              <a:rPr lang="en-US" altLang="ko-KR" sz="2000" dirty="0" err="1"/>
              <a:t>input</a:t>
            </a:r>
            <a:r>
              <a:rPr lang="en-US" altLang="ko-KR" sz="2000" dirty="0"/>
              <a:t> </a:t>
            </a:r>
            <a:r>
              <a:rPr lang="ko-KR" altLang="en-US" sz="2000" dirty="0" smtClean="0"/>
              <a:t>문 이용</a:t>
            </a:r>
            <a:endParaRPr lang="en-US" altLang="ko-KR" sz="2000" dirty="0"/>
          </a:p>
          <a:p>
            <a:pPr fontAlgn="base"/>
            <a:r>
              <a:rPr lang="ko-KR" altLang="en-US" sz="2000" dirty="0" smtClean="0"/>
              <a:t>안내문은 입력문을 </a:t>
            </a:r>
            <a:r>
              <a:rPr lang="ko-KR" altLang="en-US" sz="2000" dirty="0"/>
              <a:t>호출할 시에 인수로 넘겨주면 </a:t>
            </a:r>
            <a:r>
              <a:rPr lang="ko-KR" altLang="en-US" sz="2000" dirty="0" smtClean="0"/>
              <a:t>됨</a:t>
            </a:r>
            <a:endParaRPr lang="en-US" altLang="ko-KR" sz="2000" dirty="0"/>
          </a:p>
          <a:p>
            <a:pPr marL="0" indent="0" fontAlgn="base">
              <a:buNone/>
            </a:pPr>
            <a:r>
              <a:rPr lang="en-US" altLang="ko-KR" sz="2000" dirty="0" smtClean="0"/>
              <a:t>   x = input("</a:t>
            </a:r>
            <a:r>
              <a:rPr lang="ko-KR" altLang="en-US" sz="2000" dirty="0" smtClean="0"/>
              <a:t>수식을 입력하시오 </a:t>
            </a:r>
            <a:r>
              <a:rPr lang="en-US" altLang="ko-KR" sz="2000" dirty="0" smtClean="0"/>
              <a:t>: ")</a:t>
            </a:r>
            <a:endParaRPr lang="ko-KR" altLang="en-US" sz="2000" dirty="0" smtClean="0"/>
          </a:p>
          <a:p>
            <a:pPr marL="0" indent="0" fontAlgn="base">
              <a:buNone/>
            </a:pPr>
            <a:r>
              <a:rPr lang="en-US" altLang="ko-KR" sz="2000" dirty="0" smtClean="0"/>
              <a:t>   print(x)</a:t>
            </a:r>
          </a:p>
          <a:p>
            <a:pPr fontAlgn="base"/>
            <a:r>
              <a:rPr lang="en-US" altLang="ko-KR" sz="2000" dirty="0" smtClean="0"/>
              <a:t>Python 2.x </a:t>
            </a:r>
            <a:r>
              <a:rPr lang="ko-KR" altLang="en-US" sz="2000" dirty="0" smtClean="0"/>
              <a:t>버전에서는 </a:t>
            </a:r>
            <a:r>
              <a:rPr lang="en-US" altLang="ko-KR" sz="2000" dirty="0" err="1" smtClean="0"/>
              <a:t>raw</a:t>
            </a:r>
            <a:r>
              <a:rPr lang="en-US" altLang="ko-KR" sz="20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</a:t>
            </a:r>
            <a:r>
              <a:rPr lang="en-US" altLang="ko-KR" sz="2000" dirty="0" err="1" smtClean="0"/>
              <a:t>input</a:t>
            </a:r>
            <a:r>
              <a:rPr lang="en-US" altLang="ko-KR" sz="2000" dirty="0" smtClean="0"/>
              <a:t>() </a:t>
            </a:r>
            <a:r>
              <a:rPr lang="ko-KR" altLang="en-US" sz="2000" dirty="0" smtClean="0"/>
              <a:t>문은 사용자가 입력한 값을 그대로 문자열 형태로 넘겨주며</a:t>
            </a:r>
            <a:r>
              <a:rPr lang="en-US" altLang="ko-KR" sz="2000" dirty="0" smtClean="0"/>
              <a:t>, input </a:t>
            </a:r>
            <a:r>
              <a:rPr lang="ko-KR" altLang="en-US" sz="2000" dirty="0" smtClean="0"/>
              <a:t>문은 사용자가 입력한 내용을 </a:t>
            </a:r>
            <a:r>
              <a:rPr lang="en-US" altLang="ko-KR" sz="2000" dirty="0" smtClean="0"/>
              <a:t>Python </a:t>
            </a:r>
            <a:r>
              <a:rPr lang="ko-KR" altLang="en-US" sz="2000" dirty="0" smtClean="0"/>
              <a:t>문으로 해석해서 그 결과를 반환</a:t>
            </a:r>
            <a:endParaRPr lang="en-US" altLang="ko-KR" sz="2000" dirty="0" smtClean="0"/>
          </a:p>
          <a:p>
            <a:pPr marL="0" indent="0" fontAlgn="base">
              <a:buNone/>
            </a:pPr>
            <a:r>
              <a:rPr lang="en-US" altLang="ko-KR" sz="2000" dirty="0" smtClean="0"/>
              <a:t>   x = </a:t>
            </a:r>
            <a:r>
              <a:rPr lang="en-US" altLang="ko-KR" sz="2000" dirty="0" err="1" smtClean="0"/>
              <a:t>raw</a:t>
            </a:r>
            <a:r>
              <a:rPr lang="en-US" altLang="ko-KR" sz="20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</a:t>
            </a:r>
            <a:r>
              <a:rPr lang="en-US" altLang="ko-KR" sz="2000" dirty="0" err="1" smtClean="0"/>
              <a:t>input</a:t>
            </a:r>
            <a:r>
              <a:rPr lang="en-US" altLang="ko-KR" sz="2000" dirty="0" smtClean="0"/>
              <a:t>("</a:t>
            </a:r>
            <a:r>
              <a:rPr lang="ko-KR" altLang="en-US" sz="2000" dirty="0" smtClean="0"/>
              <a:t>수식을 입력하시오 </a:t>
            </a:r>
            <a:r>
              <a:rPr lang="en-US" altLang="ko-KR" sz="2000" dirty="0" smtClean="0"/>
              <a:t>: ") #</a:t>
            </a:r>
            <a:r>
              <a:rPr lang="ko-KR" altLang="en-US" sz="2000" dirty="0" smtClean="0"/>
              <a:t>“</a:t>
            </a:r>
            <a:r>
              <a:rPr lang="en-US" altLang="ko-KR" sz="2000" dirty="0" smtClean="0"/>
              <a:t>3+4”</a:t>
            </a:r>
            <a:r>
              <a:rPr lang="ko-KR" altLang="en-US" sz="2000" dirty="0" smtClean="0"/>
              <a:t>를 입력 시 “</a:t>
            </a:r>
            <a:r>
              <a:rPr lang="en-US" altLang="ko-KR" sz="2000" dirty="0" smtClean="0"/>
              <a:t>3+4”</a:t>
            </a:r>
            <a:r>
              <a:rPr lang="ko-KR" altLang="en-US" sz="2000" dirty="0" smtClean="0"/>
              <a:t>가 저장</a:t>
            </a:r>
          </a:p>
          <a:p>
            <a:pPr marL="0" indent="0" fontAlgn="base">
              <a:buNone/>
            </a:pPr>
            <a:r>
              <a:rPr lang="en-US" altLang="ko-KR" sz="2000" dirty="0" smtClean="0"/>
              <a:t>   y = input("</a:t>
            </a:r>
            <a:r>
              <a:rPr lang="ko-KR" altLang="en-US" sz="2000" dirty="0" smtClean="0"/>
              <a:t>수식을 입력하시오 </a:t>
            </a:r>
            <a:r>
              <a:rPr lang="en-US" altLang="ko-KR" sz="2000" dirty="0" smtClean="0"/>
              <a:t>: ") # 7</a:t>
            </a:r>
            <a:r>
              <a:rPr lang="ko-KR" altLang="en-US" sz="2000" dirty="0" smtClean="0"/>
              <a:t>이 저장</a:t>
            </a:r>
          </a:p>
          <a:p>
            <a:pPr fontAlgn="base"/>
            <a:endParaRPr lang="en-US" altLang="ko-KR" sz="2000" dirty="0" smtClean="0"/>
          </a:p>
          <a:p>
            <a:pPr fontAlgn="base"/>
            <a:endParaRPr lang="ko-KR" altLang="en-US" sz="2000" dirty="0"/>
          </a:p>
          <a:p>
            <a:pPr marL="0" indent="0" fontAlgn="base">
              <a:buNone/>
            </a:pPr>
            <a:endParaRPr lang="ko-KR" alt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4CF082-CF50-487E-A057-CB6171654138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C6580A-4C27-43C2-9ABB-7DF27D7C4D05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9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3954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787455" y="188690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프로그램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제목 10"/>
          <p:cNvSpPr>
            <a:spLocks noGrp="1"/>
          </p:cNvSpPr>
          <p:nvPr>
            <p:ph type="title"/>
          </p:nvPr>
        </p:nvSpPr>
        <p:spPr>
          <a:xfrm>
            <a:off x="1790700" y="657225"/>
            <a:ext cx="8477250" cy="665163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rgbClr val="1D314E"/>
                </a:solidFill>
              </a:rPr>
              <a:t>프로그램 기본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003245-08FA-40E1-A7CB-275F2EB80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575480"/>
            <a:ext cx="8229600" cy="2436683"/>
          </a:xfrm>
        </p:spPr>
        <p:txBody>
          <a:bodyPr>
            <a:noAutofit/>
          </a:bodyPr>
          <a:lstStyle/>
          <a:p>
            <a:pPr fontAlgn="base">
              <a:lnSpc>
                <a:spcPct val="100000"/>
              </a:lnSpc>
            </a:pPr>
            <a:r>
              <a:rPr lang="en-US" altLang="ko-KR" sz="2000" dirty="0" smtClean="0"/>
              <a:t>Python </a:t>
            </a:r>
            <a:r>
              <a:rPr lang="en-US" altLang="ko-KR" sz="2000" dirty="0"/>
              <a:t>3.x </a:t>
            </a:r>
            <a:r>
              <a:rPr lang="ko-KR" altLang="en-US" sz="2000" dirty="0"/>
              <a:t>버전에서는 </a:t>
            </a:r>
            <a:r>
              <a:rPr lang="en-US" altLang="ko-KR" sz="2000" dirty="0"/>
              <a:t>Python 2.x </a:t>
            </a:r>
            <a:r>
              <a:rPr lang="ko-KR" altLang="en-US" sz="2000" dirty="0"/>
              <a:t>버전의 </a:t>
            </a:r>
            <a:r>
              <a:rPr lang="en-US" altLang="ko-KR" sz="2000" dirty="0" err="1"/>
              <a:t>raw</a:t>
            </a:r>
            <a:r>
              <a:rPr lang="en-US" altLang="ko-KR" sz="20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</a:t>
            </a:r>
            <a:r>
              <a:rPr lang="en-US" altLang="ko-KR" sz="2000" dirty="0" err="1"/>
              <a:t>input</a:t>
            </a:r>
            <a:r>
              <a:rPr lang="ko-KR" altLang="en-US" sz="2000" dirty="0"/>
              <a:t>이 </a:t>
            </a:r>
            <a:r>
              <a:rPr lang="en-US" altLang="ko-KR" sz="2000" dirty="0"/>
              <a:t>input</a:t>
            </a:r>
            <a:r>
              <a:rPr lang="ko-KR" altLang="en-US" sz="2000" dirty="0"/>
              <a:t>으로 바뀌고 원래 </a:t>
            </a:r>
            <a:r>
              <a:rPr lang="en-US" altLang="ko-KR" sz="2000" dirty="0"/>
              <a:t>input</a:t>
            </a:r>
            <a:r>
              <a:rPr lang="ko-KR" altLang="en-US" sz="2000" dirty="0"/>
              <a:t>은 제거 </a:t>
            </a:r>
            <a:r>
              <a:rPr lang="ko-KR" altLang="en-US" sz="2000" dirty="0" smtClean="0"/>
              <a:t>되었음</a:t>
            </a:r>
            <a:endParaRPr lang="en-US" altLang="ko-KR" sz="2000" dirty="0" smtClean="0"/>
          </a:p>
          <a:p>
            <a:pPr fontAlgn="base">
              <a:lnSpc>
                <a:spcPct val="100000"/>
              </a:lnSpc>
            </a:pPr>
            <a:r>
              <a:rPr lang="ko-KR" altLang="en-US" sz="2000" dirty="0" smtClean="0"/>
              <a:t>만약</a:t>
            </a:r>
            <a:r>
              <a:rPr lang="en-US" altLang="ko-KR" sz="2000" dirty="0" smtClean="0"/>
              <a:t>, Python 3.x </a:t>
            </a:r>
            <a:r>
              <a:rPr lang="ko-KR" altLang="en-US" sz="2000" dirty="0" smtClean="0"/>
              <a:t>버전에서 </a:t>
            </a:r>
            <a:r>
              <a:rPr lang="en-US" altLang="ko-KR" sz="2000" dirty="0" smtClean="0"/>
              <a:t>Python 2.x </a:t>
            </a:r>
            <a:r>
              <a:rPr lang="ko-KR" altLang="en-US" sz="2000" dirty="0" smtClean="0"/>
              <a:t>버전의 </a:t>
            </a:r>
            <a:r>
              <a:rPr lang="en-US" altLang="ko-KR" sz="2000" dirty="0" smtClean="0"/>
              <a:t>input</a:t>
            </a:r>
            <a:r>
              <a:rPr lang="ko-KR" altLang="en-US" sz="2000" dirty="0" smtClean="0"/>
              <a:t>의 기능이 필요하면 아래와 같이 </a:t>
            </a:r>
            <a:r>
              <a:rPr lang="en-US" altLang="ko-KR" sz="2000" dirty="0" err="1" smtClean="0"/>
              <a:t>eval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문을 같이 사용하면 된다</a:t>
            </a:r>
            <a:r>
              <a:rPr lang="en-US" altLang="ko-KR" sz="2000" dirty="0" smtClean="0"/>
              <a:t>.</a:t>
            </a:r>
          </a:p>
          <a:p>
            <a:pPr marL="0" indent="0" fontAlgn="base">
              <a:buNone/>
            </a:pPr>
            <a:r>
              <a:rPr lang="en-US" altLang="ko-KR" sz="2000" dirty="0" smtClean="0"/>
              <a:t>   x = </a:t>
            </a:r>
            <a:r>
              <a:rPr lang="en-US" altLang="ko-KR" sz="2000" dirty="0" err="1" smtClean="0"/>
              <a:t>eval</a:t>
            </a:r>
            <a:r>
              <a:rPr lang="en-US" altLang="ko-KR" sz="2000" dirty="0" smtClean="0"/>
              <a:t>(input("</a:t>
            </a:r>
            <a:r>
              <a:rPr lang="ko-KR" altLang="en-US" sz="2000" dirty="0" smtClean="0"/>
              <a:t>수식을 입력하시오 </a:t>
            </a:r>
            <a:r>
              <a:rPr lang="en-US" altLang="ko-KR" sz="2000" dirty="0" smtClean="0"/>
              <a:t>: "))</a:t>
            </a:r>
            <a:endParaRPr lang="ko-KR" altLang="en-US" sz="2000" dirty="0" smtClean="0"/>
          </a:p>
          <a:p>
            <a:pPr marL="0" indent="0" fontAlgn="base">
              <a:buNone/>
            </a:pPr>
            <a:r>
              <a:rPr lang="en-US" altLang="ko-KR" sz="2000" dirty="0" smtClean="0"/>
              <a:t>   print(x)</a:t>
            </a:r>
            <a:endParaRPr lang="ko-KR" altLang="en-US" sz="2000" dirty="0" smtClean="0"/>
          </a:p>
          <a:p>
            <a:pPr fontAlgn="base"/>
            <a:endParaRPr lang="en-US" altLang="ko-KR" sz="2000" dirty="0"/>
          </a:p>
          <a:p>
            <a:pPr marL="0" indent="0" fontAlgn="base">
              <a:buNone/>
            </a:pPr>
            <a:endParaRPr lang="ko-KR" alt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4CF082-CF50-487E-A057-CB6171654138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BDB28A-E9FB-4219-B7C1-712F3DAA7D2E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10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10" name="_x509880656" descr="EMB0000312c3e00">
            <a:extLst>
              <a:ext uri="{FF2B5EF4-FFF2-40B4-BE49-F238E27FC236}">
                <a16:creationId xmlns:a16="http://schemas.microsoft.com/office/drawing/2014/main" id="{CE14C721-9665-49D0-9FAC-C336F11553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0289" y="4012163"/>
            <a:ext cx="6998661" cy="237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2916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787455" y="188690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프로그램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제목 10"/>
          <p:cNvSpPr>
            <a:spLocks noGrp="1"/>
          </p:cNvSpPr>
          <p:nvPr>
            <p:ph type="title"/>
          </p:nvPr>
        </p:nvSpPr>
        <p:spPr>
          <a:xfrm>
            <a:off x="1790700" y="657225"/>
            <a:ext cx="8477250" cy="665163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rgbClr val="1D314E"/>
                </a:solidFill>
              </a:rPr>
              <a:t>프로그램 기본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003245-08FA-40E1-A7CB-275F2EB80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575480"/>
            <a:ext cx="8229600" cy="1853521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ko-KR" altLang="en-US" sz="2000" b="1" dirty="0"/>
              <a:t>한 줄에 여러 문장 표현</a:t>
            </a:r>
            <a:endParaRPr lang="ko-KR" altLang="en-US" sz="2000" dirty="0"/>
          </a:p>
          <a:p>
            <a:pPr fontAlgn="base"/>
            <a:r>
              <a:rPr lang="ko-KR" altLang="en-US" sz="2000" dirty="0"/>
              <a:t>기본적으로 한 줄에 한 문장을 </a:t>
            </a:r>
            <a:r>
              <a:rPr lang="ko-KR" altLang="en-US" sz="2000" dirty="0" smtClean="0"/>
              <a:t>표현</a:t>
            </a:r>
            <a:endParaRPr lang="en-US" altLang="ko-KR" sz="2000" dirty="0"/>
          </a:p>
          <a:p>
            <a:pPr fontAlgn="base"/>
            <a:r>
              <a:rPr lang="ko-KR" altLang="en-US" sz="2000" dirty="0"/>
              <a:t>만약</a:t>
            </a:r>
            <a:r>
              <a:rPr lang="en-US" altLang="ko-KR" sz="2000" dirty="0"/>
              <a:t>, </a:t>
            </a:r>
            <a:r>
              <a:rPr lang="ko-KR" altLang="en-US" sz="2000" dirty="0"/>
              <a:t>한 줄에 여러 문장을 표현할 </a:t>
            </a:r>
            <a:r>
              <a:rPr lang="ko-KR" altLang="en-US" sz="2000" dirty="0" smtClean="0"/>
              <a:t>경우</a:t>
            </a:r>
            <a:r>
              <a:rPr lang="en-US" altLang="ko-KR" sz="2000" dirty="0" smtClean="0"/>
              <a:t>,</a:t>
            </a:r>
            <a:r>
              <a:rPr lang="ko-KR" altLang="en-US" sz="2000" dirty="0" smtClean="0"/>
              <a:t> </a:t>
            </a:r>
            <a:r>
              <a:rPr lang="ko-KR" altLang="en-US" sz="2000" dirty="0"/>
              <a:t>문장 끝에 ‘</a:t>
            </a:r>
            <a:r>
              <a:rPr lang="en-US" altLang="ko-KR" sz="2000" dirty="0"/>
              <a:t>;’</a:t>
            </a:r>
            <a:r>
              <a:rPr lang="ko-KR" altLang="en-US" sz="2000" dirty="0"/>
              <a:t>를 붙여 다음 문장을 </a:t>
            </a:r>
            <a:r>
              <a:rPr lang="ko-KR" altLang="en-US" sz="2000" dirty="0" smtClean="0"/>
              <a:t>기술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단</a:t>
            </a:r>
            <a:r>
              <a:rPr lang="en-US" altLang="ko-KR" sz="2000" dirty="0"/>
              <a:t>, </a:t>
            </a:r>
            <a:r>
              <a:rPr lang="ko-KR" altLang="en-US" sz="2000" dirty="0"/>
              <a:t>다음 문장이 다른 블록에 속하는 문장이어서는 안 </a:t>
            </a:r>
            <a:r>
              <a:rPr lang="ko-KR" altLang="en-US" sz="2000" dirty="0" smtClean="0"/>
              <a:t>됨</a:t>
            </a:r>
            <a:r>
              <a:rPr lang="en-US" altLang="ko-KR" sz="2000" dirty="0" smtClean="0"/>
              <a:t> </a:t>
            </a:r>
            <a:endParaRPr lang="en-US" altLang="ko-KR" sz="2000" dirty="0"/>
          </a:p>
          <a:p>
            <a:pPr marL="0" indent="0" fontAlgn="base">
              <a:buNone/>
            </a:pPr>
            <a:r>
              <a:rPr lang="en-US" altLang="ko-KR" sz="2000" dirty="0" smtClean="0"/>
              <a:t>   x </a:t>
            </a:r>
            <a:r>
              <a:rPr lang="en-US" altLang="ko-KR" sz="2000" dirty="0"/>
              <a:t>= </a:t>
            </a:r>
            <a:r>
              <a:rPr lang="en-US" altLang="ko-KR" sz="2000" dirty="0" err="1"/>
              <a:t>eval</a:t>
            </a:r>
            <a:r>
              <a:rPr lang="en-US" altLang="ko-KR" sz="2000" dirty="0"/>
              <a:t>(input("</a:t>
            </a:r>
            <a:r>
              <a:rPr lang="ko-KR" altLang="en-US" sz="2000" dirty="0"/>
              <a:t>수식을 </a:t>
            </a:r>
            <a:r>
              <a:rPr lang="ko-KR" altLang="en-US" sz="2000" dirty="0" err="1"/>
              <a:t>입력하시오</a:t>
            </a:r>
            <a:r>
              <a:rPr lang="ko-KR" altLang="en-US" sz="2000" dirty="0"/>
              <a:t> </a:t>
            </a:r>
            <a:r>
              <a:rPr lang="en-US" altLang="ko-KR" sz="2000" dirty="0"/>
              <a:t>: ")); print(x)</a:t>
            </a:r>
            <a:endParaRPr lang="ko-KR" altLang="en-US" sz="2000" dirty="0"/>
          </a:p>
          <a:p>
            <a:pPr marL="0" indent="0" fontAlgn="base">
              <a:buNone/>
            </a:pPr>
            <a:endParaRPr lang="ko-KR" alt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4CF082-CF50-487E-A057-CB6171654138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0723FF-372A-420B-BA0A-D2D43BC5C5DF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11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29003245-08FA-40E1-A7CB-275F2EB80C90}"/>
              </a:ext>
            </a:extLst>
          </p:cNvPr>
          <p:cNvSpPr txBox="1">
            <a:spLocks/>
          </p:cNvSpPr>
          <p:nvPr/>
        </p:nvSpPr>
        <p:spPr>
          <a:xfrm>
            <a:off x="1981200" y="3682093"/>
            <a:ext cx="8229600" cy="22988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ko-KR" altLang="en-US" sz="2000" b="1" dirty="0" smtClean="0"/>
              <a:t>한 문장을 여러 라인에 표현</a:t>
            </a:r>
            <a:endParaRPr lang="ko-KR" altLang="en-US" sz="2000" dirty="0" smtClean="0"/>
          </a:p>
          <a:p>
            <a:pPr fontAlgn="base"/>
            <a:r>
              <a:rPr lang="ko-KR" altLang="en-US" sz="2000" dirty="0" smtClean="0"/>
              <a:t>연속 문자 </a:t>
            </a:r>
            <a:r>
              <a:rPr lang="en-US" altLang="ko-KR" sz="2000" dirty="0" smtClean="0"/>
              <a:t>(‘\’)</a:t>
            </a:r>
            <a:r>
              <a:rPr lang="ko-KR" altLang="en-US" sz="2000" dirty="0" smtClean="0"/>
              <a:t>를 사용</a:t>
            </a:r>
            <a:endParaRPr lang="en-US" altLang="ko-KR" sz="2000" dirty="0" smtClean="0"/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en-US" altLang="ko-KR" sz="2000" dirty="0" smtClean="0"/>
              <a:t>   print("Statements in Python typically end with a new line." + </a:t>
            </a:r>
            <a:r>
              <a:rPr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\</a:t>
            </a:r>
            <a:r>
              <a:rPr lang="en-US" altLang="ko-KR" sz="2000" dirty="0" smtClean="0"/>
              <a:t>	x + </a:t>
            </a:r>
            <a:r>
              <a:rPr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\</a:t>
            </a:r>
            <a:endParaRPr lang="en-US" altLang="ko-KR" sz="2000" dirty="0" smtClean="0"/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en-US" altLang="ko-KR" sz="2000" dirty="0" smtClean="0"/>
              <a:t>	"this is a test for multi-line statements.")</a:t>
            </a:r>
            <a:endParaRPr lang="ko-KR" altLang="en-US" sz="2000" dirty="0" smtClean="0"/>
          </a:p>
          <a:p>
            <a:pPr marL="0" indent="0" fontAlgn="base">
              <a:buFont typeface="Arial" panose="020B0604020202020204" pitchFamily="34" charset="0"/>
              <a:buNone/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15123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변수와 </a:t>
            </a:r>
            <a:r>
              <a:rPr lang="ko-KR" altLang="en-US" dirty="0" err="1" smtClean="0"/>
              <a:t>대입문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604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787455" y="188690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변수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제목 10"/>
          <p:cNvSpPr>
            <a:spLocks noGrp="1"/>
          </p:cNvSpPr>
          <p:nvPr>
            <p:ph type="title"/>
          </p:nvPr>
        </p:nvSpPr>
        <p:spPr>
          <a:xfrm>
            <a:off x="1790700" y="657225"/>
            <a:ext cx="8477250" cy="665163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rgbClr val="1D314E"/>
                </a:solidFill>
              </a:rPr>
              <a:t>변수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003245-08FA-40E1-A7CB-275F2EB80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575480"/>
            <a:ext cx="8229600" cy="4405443"/>
          </a:xfrm>
        </p:spPr>
        <p:txBody>
          <a:bodyPr>
            <a:noAutofit/>
          </a:bodyPr>
          <a:lstStyle/>
          <a:p>
            <a:pPr fontAlgn="base"/>
            <a:r>
              <a:rPr lang="en-US" altLang="ko-KR" sz="2000" dirty="0" smtClean="0"/>
              <a:t>C</a:t>
            </a:r>
            <a:r>
              <a:rPr lang="ko-KR" altLang="en-US" sz="2000" dirty="0"/>
              <a:t>나 자바 같은 언어에서는 변수는 사용 전에 선언해야 하는데</a:t>
            </a:r>
            <a:r>
              <a:rPr lang="en-US" altLang="ko-KR" sz="2000" dirty="0"/>
              <a:t>, Python</a:t>
            </a:r>
            <a:r>
              <a:rPr lang="ko-KR" altLang="en-US" sz="2000" dirty="0"/>
              <a:t>에서는 그럴 필요가 </a:t>
            </a:r>
            <a:r>
              <a:rPr lang="ko-KR" altLang="en-US" sz="2000" dirty="0" smtClean="0"/>
              <a:t>없음</a:t>
            </a:r>
            <a:endParaRPr lang="en-US" altLang="ko-KR" sz="2000" dirty="0"/>
          </a:p>
          <a:p>
            <a:pPr fontAlgn="base"/>
            <a:r>
              <a:rPr lang="ko-KR" altLang="en-US" sz="2000" dirty="0" smtClean="0"/>
              <a:t>다른 </a:t>
            </a:r>
            <a:r>
              <a:rPr lang="ko-KR" altLang="en-US" sz="2000" dirty="0"/>
              <a:t>언어에서는 변수의 자료형을 알려 주어야 하지만</a:t>
            </a:r>
            <a:r>
              <a:rPr lang="en-US" altLang="ko-KR" sz="2000" dirty="0"/>
              <a:t>, Python</a:t>
            </a:r>
            <a:r>
              <a:rPr lang="ko-KR" altLang="en-US" sz="2000" dirty="0"/>
              <a:t>에서는 그럴 필요가 </a:t>
            </a:r>
            <a:r>
              <a:rPr lang="ko-KR" altLang="en-US" sz="2000" dirty="0" smtClean="0"/>
              <a:t>없음</a:t>
            </a:r>
            <a:r>
              <a:rPr lang="en-US" altLang="ko-KR" sz="2000" dirty="0" smtClean="0"/>
              <a:t>.  </a:t>
            </a:r>
            <a:r>
              <a:rPr lang="ko-KR" altLang="en-US" sz="2000" dirty="0"/>
              <a:t>그냥 저장하고 싶은 시점에서 변수에 </a:t>
            </a:r>
            <a:r>
              <a:rPr lang="ko-KR" altLang="en-US" sz="2000" dirty="0" smtClean="0"/>
              <a:t>저장</a:t>
            </a:r>
            <a:endParaRPr lang="en-US" altLang="ko-KR" sz="2000" dirty="0"/>
          </a:p>
          <a:p>
            <a:pPr fontAlgn="base"/>
            <a:r>
              <a:rPr lang="ko-KR" altLang="en-US" sz="2000" dirty="0" err="1" smtClean="0"/>
              <a:t>파이썬에서는</a:t>
            </a:r>
            <a:r>
              <a:rPr lang="ko-KR" altLang="en-US" sz="2000" dirty="0" smtClean="0"/>
              <a:t> 변수에 </a:t>
            </a:r>
            <a:r>
              <a:rPr lang="ko-KR" altLang="en-US" sz="2000" dirty="0"/>
              <a:t>임의 유형의 값을 저장할 수 </a:t>
            </a:r>
            <a:r>
              <a:rPr lang="ko-KR" altLang="en-US" sz="2000" dirty="0" smtClean="0"/>
              <a:t>있음</a:t>
            </a:r>
            <a:endParaRPr lang="en-US" altLang="ko-KR" sz="2000" dirty="0"/>
          </a:p>
          <a:p>
            <a:pPr lvl="1" fontAlgn="base"/>
            <a:r>
              <a:rPr lang="ko-KR" altLang="en-US" sz="1600" dirty="0" smtClean="0"/>
              <a:t>같은 </a:t>
            </a:r>
            <a:r>
              <a:rPr lang="ko-KR" altLang="en-US" sz="1600" dirty="0"/>
              <a:t>변수에 정수 값도 저장할 수 있고</a:t>
            </a:r>
            <a:r>
              <a:rPr lang="en-US" altLang="ko-KR" sz="1600" dirty="0"/>
              <a:t>, </a:t>
            </a:r>
            <a:r>
              <a:rPr lang="ko-KR" altLang="en-US" sz="1600" dirty="0"/>
              <a:t>문자열도 저장할 수 </a:t>
            </a:r>
            <a:r>
              <a:rPr lang="ko-KR" altLang="en-US" sz="1600" dirty="0" smtClean="0"/>
              <a:t>있음</a:t>
            </a:r>
            <a:endParaRPr lang="en-US" altLang="ko-KR" sz="1600" dirty="0"/>
          </a:p>
          <a:p>
            <a:pPr fontAlgn="base"/>
            <a:r>
              <a:rPr lang="ko-KR" altLang="en-US" sz="2000" dirty="0" smtClean="0"/>
              <a:t>다른 언어 </a:t>
            </a:r>
            <a:r>
              <a:rPr lang="en-US" altLang="ko-KR" sz="2000" dirty="0" smtClean="0"/>
              <a:t>(C</a:t>
            </a:r>
            <a:r>
              <a:rPr lang="ko-KR" altLang="en-US" sz="2000" dirty="0" smtClean="0"/>
              <a:t>나 자바</a:t>
            </a:r>
            <a:r>
              <a:rPr lang="en-US" altLang="ko-KR" sz="2000" dirty="0" smtClean="0"/>
              <a:t>)</a:t>
            </a:r>
            <a:r>
              <a:rPr lang="ko-KR" altLang="en-US" sz="2000" dirty="0" smtClean="0"/>
              <a:t>에서는 변수에 대응되는 메모리 위치에 값이 저장</a:t>
            </a:r>
            <a:r>
              <a:rPr lang="en-US" altLang="ko-KR" sz="2000" dirty="0" smtClean="0"/>
              <a:t>. </a:t>
            </a:r>
            <a:r>
              <a:rPr lang="ko-KR" altLang="en-US" sz="2000" dirty="0" err="1" smtClean="0"/>
              <a:t>파이썬에서는</a:t>
            </a:r>
            <a:r>
              <a:rPr lang="ko-KR" altLang="en-US" sz="2000" dirty="0" smtClean="0"/>
              <a:t> 별도의 위치에 값에 대응되는 객체가 생성되고 그 객체에 대한 정보 </a:t>
            </a:r>
            <a:r>
              <a:rPr lang="en-US" altLang="ko-KR" sz="2000" dirty="0" smtClean="0"/>
              <a:t>(</a:t>
            </a:r>
            <a:r>
              <a:rPr lang="ko-KR" altLang="en-US" sz="2000" dirty="0" err="1" smtClean="0"/>
              <a:t>레퍼런스라</a:t>
            </a:r>
            <a:r>
              <a:rPr lang="ko-KR" altLang="en-US" sz="2000" dirty="0" smtClean="0"/>
              <a:t> 부름</a:t>
            </a:r>
            <a:r>
              <a:rPr lang="en-US" altLang="ko-KR" sz="2000" dirty="0" smtClean="0"/>
              <a:t>)</a:t>
            </a:r>
            <a:r>
              <a:rPr lang="ko-KR" altLang="en-US" sz="2000" dirty="0" smtClean="0"/>
              <a:t>가 변수에 저장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즉 </a:t>
            </a:r>
            <a:r>
              <a:rPr lang="ko-KR" altLang="en-US" sz="2000" dirty="0" err="1" smtClean="0"/>
              <a:t>파이썬에서는</a:t>
            </a:r>
            <a:r>
              <a:rPr lang="ko-KR" altLang="en-US" sz="2000" dirty="0" smtClean="0"/>
              <a:t> 숫자도 객체임</a:t>
            </a:r>
            <a:endParaRPr lang="en-US" altLang="ko-KR" sz="2000" dirty="0" smtClean="0"/>
          </a:p>
          <a:p>
            <a:pPr marL="0" indent="0" fontAlgn="base">
              <a:buNone/>
            </a:pPr>
            <a:endParaRPr lang="ko-KR" alt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4CF082-CF50-487E-A057-CB6171654138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A0B2AF-FB85-414B-9E89-67BFB81A4977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13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29003245-08FA-40E1-A7CB-275F2EB80C90}"/>
              </a:ext>
            </a:extLst>
          </p:cNvPr>
          <p:cNvSpPr txBox="1">
            <a:spLocks/>
          </p:cNvSpPr>
          <p:nvPr/>
        </p:nvSpPr>
        <p:spPr>
          <a:xfrm>
            <a:off x="10320888" y="2301225"/>
            <a:ext cx="1340499" cy="172701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fr-FR" altLang="ko-KR" sz="2000" smtClean="0"/>
              <a:t>x = 3;</a:t>
            </a:r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fr-FR" altLang="ko-KR" sz="2000" smtClean="0"/>
              <a:t>print(x);</a:t>
            </a:r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fr-FR" altLang="ko-KR" sz="2000" smtClean="0"/>
              <a:t>x = "abc"</a:t>
            </a:r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fr-FR" altLang="ko-KR" sz="2000" smtClean="0"/>
              <a:t>print(x);</a:t>
            </a:r>
          </a:p>
          <a:p>
            <a:pPr marL="0" indent="0" fontAlgn="base">
              <a:buFont typeface="Arial" panose="020B0604020202020204" pitchFamily="34" charset="0"/>
              <a:buNone/>
            </a:pPr>
            <a:endParaRPr lang="ko-KR" altLang="en-US" sz="2000" dirty="0"/>
          </a:p>
        </p:txBody>
      </p:sp>
      <p:pic>
        <p:nvPicPr>
          <p:cNvPr id="13" name="_x513929568" descr="EMB00002b342ba1">
            <a:extLst>
              <a:ext uri="{FF2B5EF4-FFF2-40B4-BE49-F238E27FC236}">
                <a16:creationId xmlns:a16="http://schemas.microsoft.com/office/drawing/2014/main" id="{5921E143-7E86-4AAF-B20A-6EC4AB9F2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1317" y="4832064"/>
            <a:ext cx="5222875" cy="95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007342" y="5790914"/>
            <a:ext cx="1558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(C </a:t>
            </a:r>
            <a:r>
              <a:rPr lang="ko-KR" altLang="en-US" dirty="0" smtClean="0"/>
              <a:t>또는</a:t>
            </a:r>
            <a:r>
              <a:rPr lang="en-US" altLang="ko-KR" dirty="0" smtClean="0"/>
              <a:t> </a:t>
            </a:r>
            <a:r>
              <a:rPr lang="ko-KR" altLang="en-US" dirty="0" smtClean="0"/>
              <a:t>자바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587413" y="5790914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(</a:t>
            </a:r>
            <a:r>
              <a:rPr lang="ko-KR" altLang="en-US" dirty="0" err="1" smtClean="0"/>
              <a:t>파이썬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5101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제목 10"/>
          <p:cNvSpPr>
            <a:spLocks noGrp="1"/>
          </p:cNvSpPr>
          <p:nvPr>
            <p:ph type="title"/>
          </p:nvPr>
        </p:nvSpPr>
        <p:spPr>
          <a:xfrm>
            <a:off x="1790700" y="657225"/>
            <a:ext cx="8477250" cy="665163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rgbClr val="1D314E"/>
                </a:solidFill>
              </a:rPr>
              <a:t>변수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003245-08FA-40E1-A7CB-275F2EB80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575480"/>
            <a:ext cx="8229600" cy="4724784"/>
          </a:xfrm>
        </p:spPr>
        <p:txBody>
          <a:bodyPr>
            <a:noAutofit/>
          </a:bodyPr>
          <a:lstStyle/>
          <a:p>
            <a:pPr fontAlgn="base">
              <a:lnSpc>
                <a:spcPct val="150000"/>
              </a:lnSpc>
            </a:pPr>
            <a:r>
              <a:rPr lang="ko-KR" altLang="en-US" sz="2000" dirty="0" err="1"/>
              <a:t>변수명은</a:t>
            </a:r>
            <a:r>
              <a:rPr lang="ko-KR" altLang="en-US" sz="2000" dirty="0"/>
              <a:t> </a:t>
            </a:r>
            <a:r>
              <a:rPr lang="ko-KR" altLang="en-US" sz="2000" dirty="0" smtClean="0"/>
              <a:t>다른 언어와 마찬가지로 </a:t>
            </a:r>
            <a:r>
              <a:rPr lang="ko-KR" altLang="en-US" sz="2000" dirty="0" err="1" smtClean="0"/>
              <a:t>식별자</a:t>
            </a:r>
            <a:r>
              <a:rPr lang="ko-KR" altLang="en-US" sz="2000" dirty="0" smtClean="0"/>
              <a:t> </a:t>
            </a:r>
            <a:r>
              <a:rPr lang="ko-KR" altLang="en-US" sz="2000" dirty="0"/>
              <a:t>규칙에 따라 </a:t>
            </a:r>
            <a:r>
              <a:rPr lang="ko-KR" altLang="en-US" sz="2000" dirty="0" smtClean="0"/>
              <a:t>작명</a:t>
            </a:r>
            <a:r>
              <a:rPr lang="en-US" altLang="ko-KR" sz="2000" dirty="0" smtClean="0"/>
              <a:t> </a:t>
            </a:r>
            <a:endParaRPr lang="en-US" altLang="ko-KR" sz="2000" dirty="0"/>
          </a:p>
          <a:p>
            <a:pPr fontAlgn="base">
              <a:lnSpc>
                <a:spcPct val="150000"/>
              </a:lnSpc>
            </a:pPr>
            <a:r>
              <a:rPr lang="ko-KR" altLang="en-US" sz="2000" dirty="0" smtClean="0"/>
              <a:t>필수 </a:t>
            </a:r>
            <a:r>
              <a:rPr lang="ko-KR" altLang="en-US" sz="2000" dirty="0"/>
              <a:t>규칙 외에 관례에 따라 이름을 부여하는 것이 좋은데</a:t>
            </a:r>
            <a:r>
              <a:rPr lang="en-US" altLang="ko-KR" sz="2000" dirty="0"/>
              <a:t>, </a:t>
            </a:r>
            <a:r>
              <a:rPr lang="ko-KR" altLang="en-US" sz="2000" dirty="0"/>
              <a:t>많이 쓰이는 관례는 아래와 </a:t>
            </a:r>
            <a:r>
              <a:rPr lang="ko-KR" altLang="en-US" sz="2000" dirty="0" smtClean="0"/>
              <a:t>같음</a:t>
            </a:r>
            <a:endParaRPr lang="ko-KR" altLang="en-US" sz="2000" dirty="0"/>
          </a:p>
          <a:p>
            <a:pPr lvl="1" fontAlgn="base">
              <a:lnSpc>
                <a:spcPct val="150000"/>
              </a:lnSpc>
            </a:pPr>
            <a:r>
              <a:rPr lang="ko-KR" altLang="en-US" sz="1600" dirty="0" smtClean="0"/>
              <a:t>클래스 </a:t>
            </a:r>
            <a:r>
              <a:rPr lang="ko-KR" altLang="en-US" sz="1600" dirty="0"/>
              <a:t>이름은 워드 단위로 첫 글자를 대문자로 정의함</a:t>
            </a:r>
            <a:r>
              <a:rPr lang="en-US" altLang="ko-KR" sz="1600" dirty="0"/>
              <a:t>. </a:t>
            </a:r>
            <a:r>
              <a:rPr lang="ko-KR" altLang="en-US" sz="1600" dirty="0"/>
              <a:t>나머지 식별자들은 소문자로 시작함</a:t>
            </a:r>
            <a:r>
              <a:rPr lang="en-US" altLang="ko-KR" sz="1600" dirty="0"/>
              <a:t>.</a:t>
            </a:r>
            <a:endParaRPr lang="ko-KR" altLang="en-US" sz="1600" dirty="0"/>
          </a:p>
          <a:p>
            <a:pPr lvl="1" fontAlgn="base">
              <a:lnSpc>
                <a:spcPct val="150000"/>
              </a:lnSpc>
            </a:pPr>
            <a:r>
              <a:rPr lang="ko-KR" altLang="en-US" sz="1600" dirty="0" smtClean="0"/>
              <a:t>하나의 </a:t>
            </a:r>
            <a:r>
              <a:rPr lang="ko-KR" altLang="en-US" sz="1600" dirty="0"/>
              <a:t>‘</a:t>
            </a:r>
            <a:r>
              <a:rPr lang="en-US" altLang="ko-KR" sz="1600" dirty="0"/>
              <a:t>_’</a:t>
            </a:r>
            <a:r>
              <a:rPr lang="ko-KR" altLang="en-US" sz="1600" dirty="0"/>
              <a:t>로 시작하는 식별자는 </a:t>
            </a:r>
            <a:r>
              <a:rPr lang="en-US" altLang="ko-KR" sz="1600" dirty="0"/>
              <a:t>private, </a:t>
            </a:r>
            <a:r>
              <a:rPr lang="ko-KR" altLang="en-US" sz="1600" dirty="0"/>
              <a:t>즉 외부로 공개하지 않고 내부에서 사용하는 식별자임을 나타냄</a:t>
            </a:r>
            <a:r>
              <a:rPr lang="en-US" altLang="ko-KR" sz="1600" dirty="0"/>
              <a:t>.</a:t>
            </a:r>
            <a:endParaRPr lang="ko-KR" altLang="en-US" sz="1600" dirty="0"/>
          </a:p>
          <a:p>
            <a:pPr lvl="1" fontAlgn="base">
              <a:lnSpc>
                <a:spcPct val="150000"/>
              </a:lnSpc>
            </a:pPr>
            <a:r>
              <a:rPr lang="ko-KR" altLang="en-US" sz="1600" dirty="0" smtClean="0"/>
              <a:t>두 </a:t>
            </a:r>
            <a:r>
              <a:rPr lang="ko-KR" altLang="en-US" sz="1600" dirty="0"/>
              <a:t>개의 ‘</a:t>
            </a:r>
            <a:r>
              <a:rPr lang="en-US" altLang="ko-KR" sz="1600" dirty="0"/>
              <a:t>_’</a:t>
            </a:r>
            <a:r>
              <a:rPr lang="ko-KR" altLang="en-US" sz="1600" dirty="0"/>
              <a:t>로 시작하는 식별자는 </a:t>
            </a:r>
            <a:r>
              <a:rPr lang="en-US" altLang="ko-KR" sz="1600" dirty="0"/>
              <a:t>strongly private</a:t>
            </a:r>
            <a:r>
              <a:rPr lang="ko-KR" altLang="en-US" sz="1600" dirty="0"/>
              <a:t>임을 나타냄</a:t>
            </a:r>
            <a:r>
              <a:rPr lang="en-US" altLang="ko-KR" sz="1600" dirty="0"/>
              <a:t>.</a:t>
            </a:r>
            <a:endParaRPr lang="ko-KR" altLang="en-US" sz="1600" dirty="0"/>
          </a:p>
          <a:p>
            <a:pPr lvl="1" fontAlgn="base">
              <a:lnSpc>
                <a:spcPct val="150000"/>
              </a:lnSpc>
            </a:pPr>
            <a:r>
              <a:rPr lang="ko-KR" altLang="en-US" sz="1600" dirty="0" smtClean="0"/>
              <a:t>두 </a:t>
            </a:r>
            <a:r>
              <a:rPr lang="ko-KR" altLang="en-US" sz="1600" dirty="0"/>
              <a:t>개의 ‘</a:t>
            </a:r>
            <a:r>
              <a:rPr lang="en-US" altLang="ko-KR" sz="1600" dirty="0"/>
              <a:t>_’</a:t>
            </a:r>
            <a:r>
              <a:rPr lang="ko-KR" altLang="en-US" sz="1600" dirty="0"/>
              <a:t>로 끝나는 식별자는 언어에서 정의한 특수 식별자임을 나타냄</a:t>
            </a:r>
            <a:r>
              <a:rPr lang="en-US" altLang="ko-KR" sz="1600" dirty="0"/>
              <a:t>.</a:t>
            </a:r>
            <a:endParaRPr lang="ko-KR" altLang="en-US" sz="1600" dirty="0"/>
          </a:p>
          <a:p>
            <a:pPr marL="0" indent="0" fontAlgn="base">
              <a:lnSpc>
                <a:spcPct val="150000"/>
              </a:lnSpc>
              <a:buNone/>
            </a:pP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4CF082-CF50-487E-A057-CB6171654138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69D047-0D78-4B74-9DCC-09B8AF7C7107}"/>
              </a:ext>
            </a:extLst>
          </p:cNvPr>
          <p:cNvSpPr txBox="1"/>
          <p:nvPr/>
        </p:nvSpPr>
        <p:spPr>
          <a:xfrm>
            <a:off x="1787455" y="188690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변수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0D6B30-BDB6-4EDA-8D75-AAD46AB144C9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14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6648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제목 10"/>
          <p:cNvSpPr>
            <a:spLocks noGrp="1"/>
          </p:cNvSpPr>
          <p:nvPr>
            <p:ph type="title"/>
          </p:nvPr>
        </p:nvSpPr>
        <p:spPr>
          <a:xfrm>
            <a:off x="1790700" y="657225"/>
            <a:ext cx="8477250" cy="665163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rgbClr val="1D314E"/>
                </a:solidFill>
              </a:rPr>
              <a:t>변수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003245-08FA-40E1-A7CB-275F2EB80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575481"/>
            <a:ext cx="8229600" cy="1043433"/>
          </a:xfrm>
        </p:spPr>
        <p:txBody>
          <a:bodyPr>
            <a:noAutofit/>
          </a:bodyPr>
          <a:lstStyle/>
          <a:p>
            <a:pPr fontAlgn="base"/>
            <a:r>
              <a:rPr lang="en-US" altLang="ko-KR" sz="2000" dirty="0"/>
              <a:t>Python </a:t>
            </a:r>
            <a:r>
              <a:rPr lang="ko-KR" altLang="en-US" sz="2000" dirty="0"/>
              <a:t>식별자는 </a:t>
            </a:r>
            <a:r>
              <a:rPr lang="ko-KR" altLang="en-US" sz="2000" dirty="0" err="1"/>
              <a:t>예약어</a:t>
            </a:r>
            <a:r>
              <a:rPr lang="ko-KR" altLang="en-US" sz="2000" dirty="0"/>
              <a:t> </a:t>
            </a:r>
            <a:r>
              <a:rPr lang="en-US" altLang="ko-KR" sz="2000" dirty="0"/>
              <a:t>(</a:t>
            </a:r>
            <a:r>
              <a:rPr lang="ko-KR" altLang="en-US" sz="2000" dirty="0" err="1"/>
              <a:t>키워드라고도</a:t>
            </a:r>
            <a:r>
              <a:rPr lang="ko-KR" altLang="en-US" sz="2000" dirty="0"/>
              <a:t> 함</a:t>
            </a:r>
            <a:r>
              <a:rPr lang="en-US" altLang="ko-KR" sz="2000" dirty="0"/>
              <a:t>)</a:t>
            </a:r>
            <a:r>
              <a:rPr lang="ko-KR" altLang="en-US" sz="2000" dirty="0"/>
              <a:t>를 사용할 수 없는데</a:t>
            </a:r>
            <a:r>
              <a:rPr lang="en-US" altLang="ko-KR" sz="2000" dirty="0"/>
              <a:t>, </a:t>
            </a:r>
            <a:r>
              <a:rPr lang="ko-KR" altLang="en-US" sz="2000" dirty="0"/>
              <a:t>그 </a:t>
            </a:r>
            <a:r>
              <a:rPr lang="ko-KR" altLang="en-US" sz="2000" dirty="0" err="1"/>
              <a:t>예약어는</a:t>
            </a:r>
            <a:r>
              <a:rPr lang="ko-KR" altLang="en-US" sz="2000" dirty="0"/>
              <a:t> 아래의 표와 같음</a:t>
            </a:r>
            <a:r>
              <a:rPr lang="en-US" altLang="ko-KR" sz="2000" dirty="0"/>
              <a:t>.</a:t>
            </a:r>
            <a:endParaRPr lang="ko-KR" altLang="en-US" sz="2000" dirty="0"/>
          </a:p>
          <a:p>
            <a:pPr marL="0" indent="0" fontAlgn="base">
              <a:buNone/>
            </a:pPr>
            <a:endParaRPr lang="ko-KR" alt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4CF082-CF50-487E-A057-CB6171654138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174BC7F-5501-4359-91F9-C070F4A3C6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395539"/>
              </p:ext>
            </p:extLst>
          </p:nvPr>
        </p:nvGraphicFramePr>
        <p:xfrm>
          <a:off x="2788783" y="2704055"/>
          <a:ext cx="5006848" cy="2186940"/>
        </p:xfrm>
        <a:graphic>
          <a:graphicData uri="http://schemas.openxmlformats.org/drawingml/2006/table">
            <a:tbl>
              <a:tblPr/>
              <a:tblGrid>
                <a:gridCol w="1973453">
                  <a:extLst>
                    <a:ext uri="{9D8B030D-6E8A-4147-A177-3AD203B41FA5}">
                      <a16:colId xmlns:a16="http://schemas.microsoft.com/office/drawing/2014/main" val="111778146"/>
                    </a:ext>
                  </a:extLst>
                </a:gridCol>
                <a:gridCol w="1681226">
                  <a:extLst>
                    <a:ext uri="{9D8B030D-6E8A-4147-A177-3AD203B41FA5}">
                      <a16:colId xmlns:a16="http://schemas.microsoft.com/office/drawing/2014/main" val="1251780224"/>
                    </a:ext>
                  </a:extLst>
                </a:gridCol>
                <a:gridCol w="1352169">
                  <a:extLst>
                    <a:ext uri="{9D8B030D-6E8A-4147-A177-3AD203B41FA5}">
                      <a16:colId xmlns:a16="http://schemas.microsoft.com/office/drawing/2014/main" val="456741580"/>
                    </a:ext>
                  </a:extLst>
                </a:gridCol>
              </a:tblGrid>
              <a:tr h="16281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and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exec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not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8439452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assert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finally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or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7070022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break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for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pass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32704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class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from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print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5375109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continue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global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raise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4227331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def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if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return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8614139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del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import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try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226166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elif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in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while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9987269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else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is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with 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9362932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except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lambda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yield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475765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BB7485C-5BCA-4D43-B74B-FFB98F607082}"/>
              </a:ext>
            </a:extLst>
          </p:cNvPr>
          <p:cNvSpPr txBox="1"/>
          <p:nvPr/>
        </p:nvSpPr>
        <p:spPr>
          <a:xfrm>
            <a:off x="1787455" y="188690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변수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F6271C-8B92-4FE6-8DEE-23CEB859D167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15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1492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제목 10"/>
          <p:cNvSpPr>
            <a:spLocks noGrp="1"/>
          </p:cNvSpPr>
          <p:nvPr>
            <p:ph type="title"/>
          </p:nvPr>
        </p:nvSpPr>
        <p:spPr>
          <a:xfrm>
            <a:off x="1790700" y="657225"/>
            <a:ext cx="8477250" cy="665163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 err="1">
                <a:solidFill>
                  <a:srgbClr val="1D314E"/>
                </a:solidFill>
              </a:rPr>
              <a:t>대입문</a:t>
            </a:r>
            <a:r>
              <a:rPr lang="ko-KR" altLang="en-US" sz="4000" b="1" spc="-150" dirty="0">
                <a:solidFill>
                  <a:srgbClr val="1D314E"/>
                </a:solidFill>
              </a:rPr>
              <a:t> 또는 </a:t>
            </a:r>
            <a:r>
              <a:rPr lang="ko-KR" altLang="en-US" sz="4000" b="1" spc="-150" dirty="0" err="1">
                <a:solidFill>
                  <a:srgbClr val="1D314E"/>
                </a:solidFill>
              </a:rPr>
              <a:t>치환문</a:t>
            </a:r>
            <a:endParaRPr lang="ko-KR" altLang="en-US" sz="4000" b="1" spc="-150" dirty="0">
              <a:solidFill>
                <a:srgbClr val="1D314E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003245-08FA-40E1-A7CB-275F2EB80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575481"/>
            <a:ext cx="8229600" cy="4861969"/>
          </a:xfrm>
        </p:spPr>
        <p:txBody>
          <a:bodyPr>
            <a:noAutofit/>
          </a:bodyPr>
          <a:lstStyle/>
          <a:p>
            <a:pPr fontAlgn="base"/>
            <a:r>
              <a:rPr lang="ko-KR" altLang="en-US" sz="2000" dirty="0" smtClean="0"/>
              <a:t>변수만 </a:t>
            </a:r>
            <a:r>
              <a:rPr lang="ko-KR" altLang="en-US" sz="2000" dirty="0"/>
              <a:t>선언할 수 없고 반드시 대입문을 사용하여 선언과 함께 초기화를 해 주어야 </a:t>
            </a:r>
            <a:r>
              <a:rPr lang="ko-KR" altLang="en-US" sz="2000" dirty="0" smtClean="0"/>
              <a:t>함</a:t>
            </a:r>
            <a:endParaRPr lang="ko-KR" altLang="en-US" sz="2000" dirty="0"/>
          </a:p>
          <a:p>
            <a:pPr marL="0" indent="0" fontAlgn="base">
              <a:buNone/>
            </a:pPr>
            <a:r>
              <a:rPr lang="en-US" altLang="ko-KR" sz="2000" dirty="0" smtClean="0"/>
              <a:t>   x </a:t>
            </a:r>
            <a:r>
              <a:rPr lang="ko-KR" altLang="en-US" sz="2000" dirty="0"/>
              <a:t>		</a:t>
            </a:r>
            <a:r>
              <a:rPr lang="en-US" altLang="ko-KR" sz="2000" dirty="0"/>
              <a:t># </a:t>
            </a:r>
            <a:r>
              <a:rPr lang="ko-KR" altLang="en-US" sz="2000" dirty="0"/>
              <a:t>오류임</a:t>
            </a:r>
          </a:p>
          <a:p>
            <a:pPr marL="0" indent="0" fontAlgn="base">
              <a:buNone/>
            </a:pPr>
            <a:r>
              <a:rPr lang="en-US" altLang="ko-KR" sz="2000" dirty="0" smtClean="0"/>
              <a:t>   x </a:t>
            </a:r>
            <a:r>
              <a:rPr lang="en-US" altLang="ko-KR" sz="2000" dirty="0"/>
              <a:t>= 10</a:t>
            </a:r>
            <a:r>
              <a:rPr lang="ko-KR" altLang="en-US" sz="2000" dirty="0"/>
              <a:t>	</a:t>
            </a:r>
            <a:r>
              <a:rPr lang="en-US" altLang="ko-KR" sz="2000" dirty="0" smtClean="0"/>
              <a:t># </a:t>
            </a:r>
            <a:r>
              <a:rPr lang="ko-KR" altLang="en-US" sz="2000" dirty="0"/>
              <a:t>초기화를 해야 함</a:t>
            </a:r>
            <a:endParaRPr lang="en-US" altLang="ko-KR" sz="2000" dirty="0"/>
          </a:p>
          <a:p>
            <a:pPr marL="0" indent="0" fontAlgn="base">
              <a:buNone/>
            </a:pPr>
            <a:endParaRPr lang="ko-KR" altLang="en-US" sz="2000" dirty="0"/>
          </a:p>
          <a:p>
            <a:pPr marL="0" indent="0" fontAlgn="base">
              <a:buNone/>
            </a:pPr>
            <a:endParaRPr lang="ko-KR" alt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4CF082-CF50-487E-A057-CB6171654138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868F60-9985-4FB4-840F-8FDB02B4A6D3}"/>
              </a:ext>
            </a:extLst>
          </p:cNvPr>
          <p:cNvSpPr txBox="1"/>
          <p:nvPr/>
        </p:nvSpPr>
        <p:spPr>
          <a:xfrm>
            <a:off x="1787455" y="188690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대입문</a:t>
            </a:r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또는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치환문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D62A1C-DEB9-472C-83DD-8A7AF9440179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16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29003245-08FA-40E1-A7CB-275F2EB80C90}"/>
              </a:ext>
            </a:extLst>
          </p:cNvPr>
          <p:cNvSpPr txBox="1">
            <a:spLocks/>
          </p:cNvSpPr>
          <p:nvPr/>
        </p:nvSpPr>
        <p:spPr>
          <a:xfrm>
            <a:off x="2038350" y="3257019"/>
            <a:ext cx="8229600" cy="30497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smtClean="0"/>
              <a:t>대입 연산자의 연산 결과 값은 변수에 저장된 </a:t>
            </a:r>
            <a:r>
              <a:rPr lang="ko-KR" altLang="en-US" sz="2000" dirty="0" err="1" smtClean="0"/>
              <a:t>레퍼런스</a:t>
            </a:r>
            <a:r>
              <a:rPr lang="ko-KR" altLang="en-US" sz="2000" dirty="0" smtClean="0"/>
              <a:t> 임</a:t>
            </a:r>
            <a:r>
              <a:rPr lang="en-US" altLang="ko-KR" sz="2000" dirty="0" smtClean="0"/>
              <a:t> </a:t>
            </a:r>
          </a:p>
          <a:p>
            <a:pPr marL="0" indent="0" fontAlgn="base">
              <a:buNone/>
            </a:pPr>
            <a:r>
              <a:rPr lang="en-US" altLang="ko-KR" sz="2000" dirty="0" smtClean="0"/>
              <a:t>   a = b = 4;</a:t>
            </a:r>
            <a:endParaRPr lang="ko-KR" altLang="en-US" sz="2000" dirty="0" smtClean="0"/>
          </a:p>
          <a:p>
            <a:pPr marL="0" indent="0" fontAlgn="base">
              <a:buFont typeface="Arial" panose="020B0604020202020204" pitchFamily="34" charset="0"/>
              <a:buNone/>
            </a:pPr>
            <a:endParaRPr lang="ko-KR" altLang="en-US" sz="1800" dirty="0"/>
          </a:p>
        </p:txBody>
      </p:sp>
      <p:pic>
        <p:nvPicPr>
          <p:cNvPr id="14" name="_x513939072" descr="EMB00002b342bea">
            <a:extLst>
              <a:ext uri="{FF2B5EF4-FFF2-40B4-BE49-F238E27FC236}">
                <a16:creationId xmlns:a16="http://schemas.microsoft.com/office/drawing/2014/main" id="{66E65E0A-E6C0-49EA-A4FA-A1E40E63B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291" y="2990714"/>
            <a:ext cx="2963863" cy="1839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DA826229-D513-4A05-88F5-B5E6D1F9CF52}"/>
              </a:ext>
            </a:extLst>
          </p:cNvPr>
          <p:cNvSpPr txBox="1">
            <a:spLocks/>
          </p:cNvSpPr>
          <p:nvPr/>
        </p:nvSpPr>
        <p:spPr>
          <a:xfrm>
            <a:off x="2065203" y="4685199"/>
            <a:ext cx="8229600" cy="9624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 latinLnBrk="0"/>
            <a:r>
              <a:rPr lang="ko-KR" altLang="en-US" sz="2000" dirty="0" smtClean="0"/>
              <a:t>한 </a:t>
            </a:r>
            <a:r>
              <a:rPr lang="ko-KR" altLang="en-US" sz="2000" dirty="0"/>
              <a:t>문장으로 여러 변수에 각기 다른 값을 저장할 수 </a:t>
            </a:r>
            <a:r>
              <a:rPr lang="ko-KR" altLang="en-US" sz="2000" dirty="0" smtClean="0"/>
              <a:t>있음</a:t>
            </a:r>
            <a:endParaRPr lang="ko-KR" altLang="en-US" sz="2000" dirty="0"/>
          </a:p>
          <a:p>
            <a:pPr marL="0" indent="0" fontAlgn="base" latinLnBrk="0">
              <a:buNone/>
            </a:pPr>
            <a:r>
              <a:rPr lang="en-US" altLang="ko-KR" sz="2000" dirty="0" smtClean="0"/>
              <a:t>    a</a:t>
            </a:r>
            <a:r>
              <a:rPr lang="en-US" altLang="ko-KR" sz="2000" dirty="0"/>
              <a:t>, b, c = 1, 1.1, '1'</a:t>
            </a:r>
            <a:endParaRPr lang="ko-KR" altLang="en-US" sz="2000" dirty="0"/>
          </a:p>
          <a:p>
            <a:pPr marL="0" indent="0" fontAlgn="base">
              <a:buNone/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581080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수식과 연산자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300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수식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수식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8"/>
            <a:ext cx="8470547" cy="19891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연산자의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종류에 따라 하나에서 세 개까지의 피연산자가 올 수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i="1" dirty="0">
                <a:latin typeface="나눔고딕" panose="020B0600000101010101" charset="-127"/>
                <a:ea typeface="나눔고딕" panose="020B0600000101010101" charset="-127"/>
              </a:rPr>
              <a:t>연산자 피연산자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또는 </a:t>
            </a:r>
            <a:r>
              <a:rPr lang="ko-KR" altLang="en-US" sz="2000" i="1" dirty="0">
                <a:latin typeface="나눔고딕" panose="020B0600000101010101" charset="-127"/>
                <a:ea typeface="나눔고딕" panose="020B0600000101010101" charset="-127"/>
              </a:rPr>
              <a:t>피연산자 연산자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	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단항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연산자인 경우</a:t>
            </a:r>
          </a:p>
          <a:p>
            <a:pPr marL="0" indent="0" fontAlgn="base">
              <a:buNone/>
            </a:pPr>
            <a:r>
              <a:rPr lang="ko-KR" altLang="en-US" sz="2000" i="1" dirty="0">
                <a:latin typeface="나눔고딕" panose="020B0600000101010101" charset="-127"/>
                <a:ea typeface="나눔고딕" panose="020B0600000101010101" charset="-127"/>
              </a:rPr>
              <a:t>피연산자</a:t>
            </a:r>
            <a:r>
              <a:rPr lang="en-US" altLang="ko-KR" sz="2000" i="1" dirty="0">
                <a:latin typeface="나눔고딕" panose="020B0600000101010101" charset="-127"/>
                <a:ea typeface="나눔고딕" panose="020B0600000101010101" charset="-127"/>
              </a:rPr>
              <a:t>1 </a:t>
            </a:r>
            <a:r>
              <a:rPr lang="ko-KR" altLang="en-US" sz="2000" i="1" dirty="0">
                <a:latin typeface="나눔고딕" panose="020B0600000101010101" charset="-127"/>
                <a:ea typeface="나눔고딕" panose="020B0600000101010101" charset="-127"/>
              </a:rPr>
              <a:t>연산자 피연산자</a:t>
            </a:r>
            <a:r>
              <a:rPr lang="en-US" altLang="ko-KR" sz="2000" i="1" dirty="0">
                <a:latin typeface="나눔고딕" panose="020B0600000101010101" charset="-127"/>
                <a:ea typeface="나눔고딕" panose="020B0600000101010101" charset="-127"/>
              </a:rPr>
              <a:t>2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		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이항 연산자인 경우</a:t>
            </a:r>
          </a:p>
          <a:p>
            <a:pPr marL="0" indent="0" fontAlgn="base">
              <a:buNone/>
            </a:pPr>
            <a:r>
              <a:rPr lang="ko-KR" altLang="en-US" sz="2000" i="1" dirty="0">
                <a:latin typeface="나눔고딕" panose="020B0600000101010101" charset="-127"/>
                <a:ea typeface="나눔고딕" panose="020B0600000101010101" charset="-127"/>
              </a:rPr>
              <a:t>피연산자</a:t>
            </a:r>
            <a:r>
              <a:rPr lang="en-US" altLang="ko-KR" sz="2000" i="1" dirty="0">
                <a:latin typeface="나눔고딕" panose="020B0600000101010101" charset="-127"/>
                <a:ea typeface="나눔고딕" panose="020B0600000101010101" charset="-127"/>
              </a:rPr>
              <a:t>1 </a:t>
            </a:r>
            <a:r>
              <a:rPr lang="en-US" altLang="ko-KR" sz="2000" b="1" i="1" dirty="0">
                <a:latin typeface="나눔고딕" panose="020B0600000101010101" charset="-127"/>
                <a:ea typeface="나눔고딕" panose="020B0600000101010101" charset="-127"/>
              </a:rPr>
              <a:t>if</a:t>
            </a:r>
            <a:r>
              <a:rPr lang="ko-KR" altLang="en-US" sz="2000" i="1" dirty="0">
                <a:latin typeface="나눔고딕" panose="020B0600000101010101" charset="-127"/>
                <a:ea typeface="나눔고딕" panose="020B0600000101010101" charset="-127"/>
              </a:rPr>
              <a:t> 피연산자</a:t>
            </a:r>
            <a:r>
              <a:rPr lang="en-US" altLang="ko-KR" sz="2000" i="1" dirty="0">
                <a:latin typeface="나눔고딕" panose="020B0600000101010101" charset="-127"/>
                <a:ea typeface="나눔고딕" panose="020B0600000101010101" charset="-127"/>
              </a:rPr>
              <a:t>2 </a:t>
            </a:r>
            <a:r>
              <a:rPr lang="en-US" altLang="ko-KR" sz="2000" b="1" i="1" dirty="0">
                <a:latin typeface="나눔고딕" panose="020B0600000101010101" charset="-127"/>
                <a:ea typeface="나눔고딕" panose="020B0600000101010101" charset="-127"/>
              </a:rPr>
              <a:t>else</a:t>
            </a:r>
            <a:r>
              <a:rPr lang="ko-KR" altLang="en-US" sz="2000" i="1" dirty="0">
                <a:latin typeface="나눔고딕" panose="020B0600000101010101" charset="-127"/>
                <a:ea typeface="나눔고딕" panose="020B0600000101010101" charset="-127"/>
              </a:rPr>
              <a:t> 피연산자</a:t>
            </a:r>
            <a:r>
              <a:rPr lang="en-US" altLang="ko-KR" sz="2000" i="1" dirty="0">
                <a:latin typeface="나눔고딕" panose="020B0600000101010101" charset="-127"/>
                <a:ea typeface="나눔고딕" panose="020B0600000101010101" charset="-127"/>
              </a:rPr>
              <a:t>3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2000" i="1" dirty="0">
                <a:latin typeface="나눔고딕" panose="020B0600000101010101" charset="-127"/>
                <a:ea typeface="나눔고딕" panose="020B0600000101010101" charset="-127"/>
              </a:rPr>
              <a:t># 3</a:t>
            </a:r>
            <a:r>
              <a:rPr lang="ko-KR" altLang="en-US" sz="2000" i="1" dirty="0">
                <a:latin typeface="나눔고딕" panose="020B0600000101010101" charset="-127"/>
                <a:ea typeface="나눔고딕" panose="020B0600000101010101" charset="-127"/>
              </a:rPr>
              <a:t>항 연산자인 경우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8ED85B-6327-4F43-B5BC-1011C72A9050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18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8193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산술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연산자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산술 연산자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8"/>
            <a:ext cx="8470547" cy="50316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덧셈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(+),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뺄셈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(-),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곱셈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(*),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나눗셈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(/),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정수 나눗셈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(//),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나머지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(%),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제곱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(**)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연산자 제공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       8/3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# 2.6666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       8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//3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# 2</a:t>
            </a:r>
          </a:p>
          <a:p>
            <a:pPr marL="0" indent="0" fontAlgn="base">
              <a:buNone/>
            </a:pP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14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323F1A-746A-4893-8A7A-BFA2D2DA3C17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19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286000" y="3331029"/>
            <a:ext cx="620394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import random</a:t>
            </a:r>
            <a:endParaRPr lang="ko-KR" altLang="en-US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x = </a:t>
            </a:r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random.randint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(0, 1000)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# 0 &lt;= x &lt;= 1000 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정수</a:t>
            </a:r>
          </a:p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y = x % 101</a:t>
            </a:r>
            <a:endParaRPr lang="ko-KR" altLang="en-US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str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(x) + " =&gt; " + </a:t>
            </a:r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str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(y))</a:t>
            </a:r>
            <a:endParaRPr lang="ko-KR" altLang="en-US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y = x % 101 + 1</a:t>
            </a:r>
            <a:endParaRPr lang="ko-KR" altLang="en-US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str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(x) + " =&gt; " + </a:t>
            </a:r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str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(y))</a:t>
            </a:r>
            <a:endParaRPr lang="ko-KR" altLang="en-US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2286000" y="5440701"/>
            <a:ext cx="8616180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seed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를 지정하지 않을 경우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시스템의 현재 시간을 초기 값으로 사용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그러므로 똑 같은 순서의 임의의 값 열 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시퀀스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)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을 얻고자 할 경우에는 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seed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 함수를 사용하여 동일한 초기 값으로 지정해 주어야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함</a:t>
            </a:r>
            <a:endParaRPr lang="en-US" altLang="ko-KR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randon.seed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(3) 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랜덤 </a:t>
            </a:r>
            <a:r>
              <a:rPr lang="ko-KR" altLang="en-US" dirty="0" err="1" smtClean="0">
                <a:latin typeface="나눔고딕" panose="020B0600000101010101" charset="-127"/>
                <a:ea typeface="나눔고딕" panose="020B0600000101010101" charset="-127"/>
              </a:rPr>
              <a:t>생성기의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 초기값을 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3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으로 설정</a:t>
            </a:r>
          </a:p>
        </p:txBody>
      </p:sp>
    </p:spTree>
    <p:extLst>
      <p:ext uri="{BB962C8B-B14F-4D97-AF65-F5344CB8AC3E}">
        <p14:creationId xmlns:p14="http://schemas.microsoft.com/office/powerpoint/2010/main" val="23877949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산술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연산자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산술 연산자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7"/>
            <a:ext cx="8470547" cy="46756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1800" dirty="0" err="1">
                <a:latin typeface="나눔고딕" panose="020B0600000101010101" charset="-127"/>
                <a:ea typeface="나눔고딕" panose="020B0600000101010101" charset="-127"/>
              </a:rPr>
              <a:t>파이썬에는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800" dirty="0" err="1">
                <a:latin typeface="나눔고딕" panose="020B0600000101010101" charset="-127"/>
                <a:ea typeface="나눔고딕" panose="020B0600000101010101" charset="-127"/>
              </a:rPr>
              <a:t>제곱승을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구하는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연산자 </a:t>
            </a:r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(**)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 제공</a:t>
            </a:r>
            <a:endParaRPr lang="en-US" altLang="ko-KR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     x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= 2 ** (0.5); print(x)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# 1.4142135623730951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     x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= 2 ** 8; print(x)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# 256</a:t>
            </a:r>
          </a:p>
          <a:p>
            <a:pPr marL="0" indent="0" fontAlgn="base">
              <a:buNone/>
            </a:pP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함수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형태로도 제곱승을 구할 수 있는데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이 경우에는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math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모듈을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import 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import math</a:t>
            </a:r>
            <a:endParaRPr lang="ko-KR" altLang="en-US" sz="18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x = </a:t>
            </a:r>
            <a:r>
              <a:rPr lang="en-US" altLang="ko-KR" sz="1800" dirty="0" err="1" smtClean="0">
                <a:latin typeface="나눔고딕" panose="020B0600000101010101" charset="-127"/>
                <a:ea typeface="나눔고딕" panose="020B0600000101010101" charset="-127"/>
              </a:rPr>
              <a:t>math.sqrt</a:t>
            </a:r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(2); print(x)</a:t>
            </a:r>
            <a:endParaRPr lang="ko-KR" altLang="en-US" sz="18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x = </a:t>
            </a:r>
            <a:r>
              <a:rPr lang="en-US" altLang="ko-KR" sz="1800" dirty="0" err="1" smtClean="0">
                <a:latin typeface="나눔고딕" panose="020B0600000101010101" charset="-127"/>
                <a:ea typeface="나눔고딕" panose="020B0600000101010101" charset="-127"/>
              </a:rPr>
              <a:t>math.pow</a:t>
            </a:r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(2, 8); print(x)</a:t>
            </a:r>
          </a:p>
          <a:p>
            <a:pPr marL="0" indent="0" fontAlgn="base">
              <a:buNone/>
            </a:pP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음수에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대한 제곱근은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math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모듈의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sqrt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함수로는 구할 수 없고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cmath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모듈의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sqrt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함수를 이용해야 구할 수 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import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cmath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x =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cmath.sqrt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(-2); print(x)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18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22E590-3062-4336-8531-F190CBC9B3EE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20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97877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비트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연산자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비트 연산자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7"/>
            <a:ext cx="8470547" cy="20824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비트 연산자에는 비트 논리 연산자와 비트 시프트 연산자가 있음</a:t>
            </a:r>
            <a:endParaRPr lang="en-US" altLang="ko-KR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비트 논리 연산자에는 비트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AND (&amp;),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비트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OR(|),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비트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XOR(^),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비트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NOT(~)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연산자가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시프트 연산자는 비트들을 오른쪽이나 왼쪽으로 이동시키는 연산자로 두 종류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(&gt;&gt;, &lt;&lt;)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의 시프트 연산자가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74F5A3-2E77-46EF-A6C2-B34F3962B4A6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21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878CDBE-217D-4883-A019-03C1C4F2BF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823197"/>
              </p:ext>
            </p:extLst>
          </p:nvPr>
        </p:nvGraphicFramePr>
        <p:xfrm>
          <a:off x="2317381" y="3540145"/>
          <a:ext cx="5328158" cy="1046988"/>
        </p:xfrm>
        <a:graphic>
          <a:graphicData uri="http://schemas.openxmlformats.org/drawingml/2006/table">
            <a:tbl>
              <a:tblPr/>
              <a:tblGrid>
                <a:gridCol w="1370203">
                  <a:extLst>
                    <a:ext uri="{9D8B030D-6E8A-4147-A177-3AD203B41FA5}">
                      <a16:colId xmlns:a16="http://schemas.microsoft.com/office/drawing/2014/main" val="3375526975"/>
                    </a:ext>
                  </a:extLst>
                </a:gridCol>
                <a:gridCol w="3957955">
                  <a:extLst>
                    <a:ext uri="{9D8B030D-6E8A-4147-A177-3AD203B41FA5}">
                      <a16:colId xmlns:a16="http://schemas.microsoft.com/office/drawing/2014/main" val="3915221937"/>
                    </a:ext>
                  </a:extLst>
                </a:gridCol>
              </a:tblGrid>
              <a:tr h="36601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 &gt;&gt; b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의 각 비트를 오른쪽으로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b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비트만큼씩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이동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최상위의 빈자리는 시프트 전의 최상위 비트로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채워짐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8035517"/>
                  </a:ext>
                </a:extLst>
              </a:tr>
              <a:tr h="36601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 &lt;&lt; b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의 각 비트를 왼쪽으로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b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비트만큼씩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이동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최하위의 빈자리는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0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으로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채워짐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269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01359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관계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연산자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관계 연산자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ADD75C7-09A9-4C3B-B250-2115B08D9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8D5519D-BAAA-4D9F-96B7-000807007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B258E8E-4D2F-49C6-9822-3D8FD684D9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415738"/>
              </p:ext>
            </p:extLst>
          </p:nvPr>
        </p:nvGraphicFramePr>
        <p:xfrm>
          <a:off x="2066083" y="1839986"/>
          <a:ext cx="6518079" cy="4896612"/>
        </p:xfrm>
        <a:graphic>
          <a:graphicData uri="http://schemas.openxmlformats.org/drawingml/2006/table">
            <a:tbl>
              <a:tblPr/>
              <a:tblGrid>
                <a:gridCol w="928757">
                  <a:extLst>
                    <a:ext uri="{9D8B030D-6E8A-4147-A177-3AD203B41FA5}">
                      <a16:colId xmlns:a16="http://schemas.microsoft.com/office/drawing/2014/main" val="3784313224"/>
                    </a:ext>
                  </a:extLst>
                </a:gridCol>
                <a:gridCol w="3695919">
                  <a:extLst>
                    <a:ext uri="{9D8B030D-6E8A-4147-A177-3AD203B41FA5}">
                      <a16:colId xmlns:a16="http://schemas.microsoft.com/office/drawing/2014/main" val="29697621"/>
                    </a:ext>
                  </a:extLst>
                </a:gridCol>
                <a:gridCol w="1893403">
                  <a:extLst>
                    <a:ext uri="{9D8B030D-6E8A-4147-A177-3AD203B41FA5}">
                      <a16:colId xmlns:a16="http://schemas.microsoft.com/office/drawing/2014/main" val="3599711798"/>
                    </a:ext>
                  </a:extLst>
                </a:gridCol>
              </a:tblGrid>
              <a:tr h="70954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 &lt; b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가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b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보다 작으면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true,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그렇지 않으면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false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a-DK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3 &lt; 5 : true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a-DK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5 &lt; 3 : false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1289885"/>
                  </a:ext>
                </a:extLst>
              </a:tr>
              <a:tr h="58028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 &gt; b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가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b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보다 크면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true,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그렇지 않으면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false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a-DK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5 &gt; 3 : true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a-DK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3 &gt; 5 : false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679209"/>
                  </a:ext>
                </a:extLst>
              </a:tr>
              <a:tr h="58028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 &lt;= b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가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b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보다 작거나 같으면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true,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그렇지 않으면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false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a-DK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3 &lt;= 5 : true 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a-DK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5 &lt;= 3 : false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9871994"/>
                  </a:ext>
                </a:extLst>
              </a:tr>
              <a:tr h="58028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 &gt;= b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가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b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보다 크거나 같으면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true,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그렇지 않으면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false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a-DK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5 &gt;= 3 : true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a-DK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3 &gt;= 5 : false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5221642"/>
                  </a:ext>
                </a:extLst>
              </a:tr>
              <a:tr h="58028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 == b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</a:t>
                      </a: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가 </a:t>
                      </a:r>
                      <a:r>
                        <a:rPr lang="en-US" altLang="ko-KR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b</a:t>
                      </a: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와 같으면 </a:t>
                      </a:r>
                      <a:r>
                        <a:rPr lang="en-US" altLang="ko-KR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true, </a:t>
                      </a: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그렇지 않으면 </a:t>
                      </a:r>
                      <a:r>
                        <a:rPr lang="en-US" altLang="ko-KR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false</a:t>
                      </a:r>
                      <a:endParaRPr lang="ko-KR" altLang="en-US" sz="1600" kern="0" spc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a-DK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5 == 5 : true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a-DK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5 == 3 : false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8283565"/>
                  </a:ext>
                </a:extLst>
              </a:tr>
              <a:tr h="58028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 != b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가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b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와 다르면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true,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그렇지 않으면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false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a-DK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5 != 3 : true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a-DK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5 != 5 : false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150111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EA21867-630B-4886-86BF-6A8B134D4128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22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1824256" y="1281053"/>
            <a:ext cx="8470547" cy="4917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C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 언어와 동일</a:t>
            </a:r>
            <a:endParaRPr lang="en-US" altLang="ko-KR" sz="18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52060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논리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연산자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논리 연산자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ADD75C7-09A9-4C3B-B250-2115B08D9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8D5519D-BAAA-4D9F-96B7-000807007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88DDABB-777F-40E5-BB72-EBC0E29F6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9C6B24D-C8ED-44AF-A5C5-1E966AC297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404067"/>
              </p:ext>
            </p:extLst>
          </p:nvPr>
        </p:nvGraphicFramePr>
        <p:xfrm>
          <a:off x="1991437" y="2467249"/>
          <a:ext cx="6378120" cy="2636595"/>
        </p:xfrm>
        <a:graphic>
          <a:graphicData uri="http://schemas.openxmlformats.org/drawingml/2006/table">
            <a:tbl>
              <a:tblPr/>
              <a:tblGrid>
                <a:gridCol w="1275624">
                  <a:extLst>
                    <a:ext uri="{9D8B030D-6E8A-4147-A177-3AD203B41FA5}">
                      <a16:colId xmlns:a16="http://schemas.microsoft.com/office/drawing/2014/main" val="2010037618"/>
                    </a:ext>
                  </a:extLst>
                </a:gridCol>
                <a:gridCol w="1275624">
                  <a:extLst>
                    <a:ext uri="{9D8B030D-6E8A-4147-A177-3AD203B41FA5}">
                      <a16:colId xmlns:a16="http://schemas.microsoft.com/office/drawing/2014/main" val="2189610746"/>
                    </a:ext>
                  </a:extLst>
                </a:gridCol>
                <a:gridCol w="1275624">
                  <a:extLst>
                    <a:ext uri="{9D8B030D-6E8A-4147-A177-3AD203B41FA5}">
                      <a16:colId xmlns:a16="http://schemas.microsoft.com/office/drawing/2014/main" val="3770078731"/>
                    </a:ext>
                  </a:extLst>
                </a:gridCol>
                <a:gridCol w="1275624">
                  <a:extLst>
                    <a:ext uri="{9D8B030D-6E8A-4147-A177-3AD203B41FA5}">
                      <a16:colId xmlns:a16="http://schemas.microsoft.com/office/drawing/2014/main" val="2970389008"/>
                    </a:ext>
                  </a:extLst>
                </a:gridCol>
                <a:gridCol w="1275624">
                  <a:extLst>
                    <a:ext uri="{9D8B030D-6E8A-4147-A177-3AD203B41FA5}">
                      <a16:colId xmlns:a16="http://schemas.microsoft.com/office/drawing/2014/main" val="3629999864"/>
                    </a:ext>
                  </a:extLst>
                </a:gridCol>
              </a:tblGrid>
              <a:tr h="52731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e1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e2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e1&amp;&amp;e2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e1||e2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!e1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858092"/>
                  </a:ext>
                </a:extLst>
              </a:tr>
              <a:tr h="52731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true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true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true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true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false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7874759"/>
                  </a:ext>
                </a:extLst>
              </a:tr>
              <a:tr h="52731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true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false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false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true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false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2506852"/>
                  </a:ext>
                </a:extLst>
              </a:tr>
              <a:tr h="52731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false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true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false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true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true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6968609"/>
                  </a:ext>
                </a:extLst>
              </a:tr>
              <a:tr h="52731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false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false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false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false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true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793087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EAF7440-26A0-4527-908D-E0C14F8C94F9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23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내용 개체 틀 2"/>
          <p:cNvSpPr txBox="1">
            <a:spLocks/>
          </p:cNvSpPr>
          <p:nvPr/>
        </p:nvSpPr>
        <p:spPr>
          <a:xfrm>
            <a:off x="1856529" y="1570503"/>
            <a:ext cx="8470547" cy="4917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C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 언어와 동일</a:t>
            </a:r>
            <a:endParaRPr lang="en-US" altLang="ko-KR" sz="18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02741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조건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연산자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조건 연산자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79153" y="1631108"/>
            <a:ext cx="8470547" cy="45267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의미는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조건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cond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를 해석해서 참이면 결과는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exp1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이고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그렇지 않으면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exp2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임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    </a:t>
            </a: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     exp2 </a:t>
            </a:r>
            <a:r>
              <a:rPr lang="en-US" altLang="ko-KR" sz="1800" b="1" dirty="0">
                <a:latin typeface="나눔고딕" panose="020B0600000101010101" charset="-127"/>
                <a:ea typeface="나눔고딕" panose="020B0600000101010101" charset="-127"/>
              </a:rPr>
              <a:t>if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cond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1800" b="1" dirty="0">
                <a:latin typeface="나눔고딕" panose="020B0600000101010101" charset="-127"/>
                <a:ea typeface="나눔고딕" panose="020B0600000101010101" charset="-127"/>
              </a:rPr>
              <a:t>else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exp2</a:t>
            </a:r>
          </a:p>
          <a:p>
            <a:pPr marL="0" indent="0" fontAlgn="base">
              <a:buNone/>
            </a:pPr>
            <a:endParaRPr lang="en-US" altLang="ko-KR" sz="1800" dirty="0" smtClean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400050" lvl="1" indent="0" fontAlgn="base">
              <a:buNone/>
            </a:pPr>
            <a:r>
              <a:rPr lang="en-US" altLang="ko-KR" sz="18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Is_fat</a:t>
            </a:r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= True;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state = "</a:t>
            </a:r>
            <a:r>
              <a:rPr lang="ko-KR" altLang="en-US" sz="1800" dirty="0" err="1">
                <a:latin typeface="나눔고딕" panose="020B0600000101010101" charset="-127"/>
                <a:ea typeface="나눔고딕" panose="020B0600000101010101" charset="-127"/>
              </a:rPr>
              <a:t>뚱뚱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" if </a:t>
            </a:r>
            <a:r>
              <a:rPr lang="en-US" altLang="ko-KR" sz="18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is_fat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 else "</a:t>
            </a:r>
            <a:r>
              <a:rPr lang="ko-KR" altLang="en-US" sz="1800" dirty="0" err="1">
                <a:latin typeface="나눔고딕" panose="020B0600000101010101" charset="-127"/>
                <a:ea typeface="나눔고딕" panose="020B0600000101010101" charset="-127"/>
              </a:rPr>
              <a:t>홀쭉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"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print(state)</a:t>
            </a:r>
          </a:p>
          <a:p>
            <a:pPr marL="0" indent="0">
              <a:buNone/>
            </a:pPr>
            <a:endParaRPr lang="en-US" altLang="ko-KR" sz="18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ADD75C7-09A9-4C3B-B250-2115B08D9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8D5519D-BAAA-4D9F-96B7-000807007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88DDABB-777F-40E5-BB72-EBC0E29F6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FCD73B-A58D-4DB8-BF77-DBCAF9F05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EE349C-5E95-4D83-898C-16D923619DF4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24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15527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축약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대입 연산자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축약 대입 연산자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ADD75C7-09A9-4C3B-B250-2115B08D9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8D5519D-BAAA-4D9F-96B7-000807007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88DDABB-777F-40E5-BB72-EBC0E29F6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FCD73B-A58D-4DB8-BF77-DBCAF9F05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E5AF99A-FEA9-407A-B00B-4FF2604E3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300F2B3F-4A5C-4237-BF55-F4A1D464DE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932973"/>
              </p:ext>
            </p:extLst>
          </p:nvPr>
        </p:nvGraphicFramePr>
        <p:xfrm>
          <a:off x="1888803" y="2626344"/>
          <a:ext cx="6912608" cy="3214930"/>
        </p:xfrm>
        <a:graphic>
          <a:graphicData uri="http://schemas.openxmlformats.org/drawingml/2006/table">
            <a:tbl>
              <a:tblPr/>
              <a:tblGrid>
                <a:gridCol w="1401734">
                  <a:extLst>
                    <a:ext uri="{9D8B030D-6E8A-4147-A177-3AD203B41FA5}">
                      <a16:colId xmlns:a16="http://schemas.microsoft.com/office/drawing/2014/main" val="4021652615"/>
                    </a:ext>
                  </a:extLst>
                </a:gridCol>
                <a:gridCol w="2054570">
                  <a:extLst>
                    <a:ext uri="{9D8B030D-6E8A-4147-A177-3AD203B41FA5}">
                      <a16:colId xmlns:a16="http://schemas.microsoft.com/office/drawing/2014/main" val="2809991995"/>
                    </a:ext>
                  </a:extLst>
                </a:gridCol>
                <a:gridCol w="1728152">
                  <a:extLst>
                    <a:ext uri="{9D8B030D-6E8A-4147-A177-3AD203B41FA5}">
                      <a16:colId xmlns:a16="http://schemas.microsoft.com/office/drawing/2014/main" val="2601176018"/>
                    </a:ext>
                  </a:extLst>
                </a:gridCol>
                <a:gridCol w="1728152">
                  <a:extLst>
                    <a:ext uri="{9D8B030D-6E8A-4147-A177-3AD203B41FA5}">
                      <a16:colId xmlns:a16="http://schemas.microsoft.com/office/drawing/2014/main" val="2818951336"/>
                    </a:ext>
                  </a:extLst>
                </a:gridCol>
              </a:tblGrid>
              <a:tr h="82002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축약 대입연산자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의미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축약 대입연산자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의미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401189"/>
                  </a:ext>
                </a:extLst>
              </a:tr>
              <a:tr h="55825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 += b;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 = a + b;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 -= b;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 = a - b;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6522719"/>
                  </a:ext>
                </a:extLst>
              </a:tr>
              <a:tr h="55825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 *= b;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 = a * b;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 /= b;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 = a / b;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7720611"/>
                  </a:ext>
                </a:extLst>
              </a:tr>
              <a:tr h="55825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 %= b;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 = a % b;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 **= b;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 = a**b;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0533189"/>
                  </a:ext>
                </a:extLst>
              </a:tr>
              <a:tr h="62653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 //= b;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 = a // b;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723523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1851739-751E-4C09-AD0C-00A11E31586D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25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4" name="내용 개체 틀 2"/>
          <p:cNvSpPr txBox="1">
            <a:spLocks/>
          </p:cNvSpPr>
          <p:nvPr/>
        </p:nvSpPr>
        <p:spPr>
          <a:xfrm>
            <a:off x="1856529" y="1570503"/>
            <a:ext cx="8470547" cy="4917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C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 언어와 동일</a:t>
            </a:r>
            <a:endParaRPr lang="en-US" altLang="ko-KR" sz="18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900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소속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연산자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소속 연산자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79153" y="1631109"/>
            <a:ext cx="8470547" cy="1653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값이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문자열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리스트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튜플과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같은 시퀀스 자료에 포함되어 있는지를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검사</a:t>
            </a: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ADD75C7-09A9-4C3B-B250-2115B08D9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8D5519D-BAAA-4D9F-96B7-000807007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88DDABB-777F-40E5-BB72-EBC0E29F6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FCD73B-A58D-4DB8-BF77-DBCAF9F05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E5AF99A-FEA9-407A-B00B-4FF2604E3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001167B8-F683-4D4F-9613-B26C638DE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781469"/>
              </p:ext>
            </p:extLst>
          </p:nvPr>
        </p:nvGraphicFramePr>
        <p:xfrm>
          <a:off x="2188814" y="2198943"/>
          <a:ext cx="6908533" cy="2058162"/>
        </p:xfrm>
        <a:graphic>
          <a:graphicData uri="http://schemas.openxmlformats.org/drawingml/2006/table">
            <a:tbl>
              <a:tblPr/>
              <a:tblGrid>
                <a:gridCol w="1220700">
                  <a:extLst>
                    <a:ext uri="{9D8B030D-6E8A-4147-A177-3AD203B41FA5}">
                      <a16:colId xmlns:a16="http://schemas.microsoft.com/office/drawing/2014/main" val="2104720722"/>
                    </a:ext>
                  </a:extLst>
                </a:gridCol>
                <a:gridCol w="5687833">
                  <a:extLst>
                    <a:ext uri="{9D8B030D-6E8A-4147-A177-3AD203B41FA5}">
                      <a16:colId xmlns:a16="http://schemas.microsoft.com/office/drawing/2014/main" val="1841131795"/>
                    </a:ext>
                  </a:extLst>
                </a:gridCol>
              </a:tblGrid>
              <a:tr h="35071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연산자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의미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205266"/>
                  </a:ext>
                </a:extLst>
              </a:tr>
              <a:tr h="69392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in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첫 번째 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피연산자가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두 번째 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피연산자의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원소이면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true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를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그렇지 않으면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false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를 반환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719713"/>
                  </a:ext>
                </a:extLst>
              </a:tr>
              <a:tr h="69392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not in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첫 번째 피연산자가 두 번째 피연산자의 원소가 아니면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true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를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그렇지 않으면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false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를 반환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31265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1F2D85A-C970-4AFE-BFCC-CF0725191D20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26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4" name="내용 개체 틀 2"/>
          <p:cNvSpPr txBox="1">
            <a:spLocks/>
          </p:cNvSpPr>
          <p:nvPr/>
        </p:nvSpPr>
        <p:spPr>
          <a:xfrm>
            <a:off x="1779153" y="4256121"/>
            <a:ext cx="8470547" cy="8477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예를 들어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변수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a, b, c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에 다음과 같이 저장되어 있을 경우</a:t>
            </a:r>
          </a:p>
          <a:p>
            <a:pPr marL="400050" lvl="1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a = 3; b=4; list = [1, 3, 5, 7]</a:t>
            </a: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956415CD-3913-4AA7-AAF8-D70CE173B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164606"/>
              </p:ext>
            </p:extLst>
          </p:nvPr>
        </p:nvGraphicFramePr>
        <p:xfrm>
          <a:off x="2212010" y="5243439"/>
          <a:ext cx="7053287" cy="1200550"/>
        </p:xfrm>
        <a:graphic>
          <a:graphicData uri="http://schemas.openxmlformats.org/drawingml/2006/table">
            <a:tbl>
              <a:tblPr/>
              <a:tblGrid>
                <a:gridCol w="1623530">
                  <a:extLst>
                    <a:ext uri="{9D8B030D-6E8A-4147-A177-3AD203B41FA5}">
                      <a16:colId xmlns:a16="http://schemas.microsoft.com/office/drawing/2014/main" val="2824008973"/>
                    </a:ext>
                  </a:extLst>
                </a:gridCol>
                <a:gridCol w="1809807">
                  <a:extLst>
                    <a:ext uri="{9D8B030D-6E8A-4147-A177-3AD203B41FA5}">
                      <a16:colId xmlns:a16="http://schemas.microsoft.com/office/drawing/2014/main" val="280513225"/>
                    </a:ext>
                  </a:extLst>
                </a:gridCol>
                <a:gridCol w="1809807">
                  <a:extLst>
                    <a:ext uri="{9D8B030D-6E8A-4147-A177-3AD203B41FA5}">
                      <a16:colId xmlns:a16="http://schemas.microsoft.com/office/drawing/2014/main" val="3475499295"/>
                    </a:ext>
                  </a:extLst>
                </a:gridCol>
                <a:gridCol w="1810143">
                  <a:extLst>
                    <a:ext uri="{9D8B030D-6E8A-4147-A177-3AD203B41FA5}">
                      <a16:colId xmlns:a16="http://schemas.microsoft.com/office/drawing/2014/main" val="542968364"/>
                    </a:ext>
                  </a:extLst>
                </a:gridCol>
              </a:tblGrid>
              <a:tr h="60027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 in c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true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 not in c</a:t>
                      </a:r>
                    </a:p>
                  </a:txBody>
                  <a:tcPr marL="64770" marR="64770" marT="17907" marB="17907" anchor="ctr">
                    <a:lnL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false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797104"/>
                  </a:ext>
                </a:extLst>
              </a:tr>
              <a:tr h="60027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b in c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false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b not in c</a:t>
                      </a:r>
                    </a:p>
                  </a:txBody>
                  <a:tcPr marL="64770" marR="64770" marT="17907" marB="17907" anchor="ctr">
                    <a:lnL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true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9934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3958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소속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연산자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소속 연산자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79153" y="1631109"/>
            <a:ext cx="8470547" cy="4903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1800" b="1" dirty="0" smtClean="0">
                <a:latin typeface="나눔고딕" panose="020B0600000101010101" charset="-127"/>
                <a:ea typeface="나눔고딕" panose="020B0600000101010101" charset="-127"/>
              </a:rPr>
              <a:t>[</a:t>
            </a:r>
            <a:r>
              <a:rPr lang="ko-KR" altLang="en-US" sz="1800" b="1" dirty="0" smtClean="0">
                <a:latin typeface="나눔고딕" panose="020B0600000101010101" charset="-127"/>
                <a:ea typeface="나눔고딕" panose="020B0600000101010101" charset="-127"/>
              </a:rPr>
              <a:t>실습</a:t>
            </a:r>
            <a:r>
              <a:rPr lang="en-US" altLang="ko-KR" sz="1800" b="1" dirty="0" smtClean="0">
                <a:latin typeface="나눔고딕" panose="020B0600000101010101" charset="-127"/>
                <a:ea typeface="나눔고딕" panose="020B0600000101010101" charset="-127"/>
              </a:rPr>
              <a:t>] </a:t>
            </a:r>
            <a:r>
              <a:rPr lang="ko-KR" altLang="en-US" sz="1800" b="1" dirty="0" smtClean="0">
                <a:latin typeface="나눔고딕" panose="020B0600000101010101" charset="-127"/>
                <a:ea typeface="나눔고딕" panose="020B0600000101010101" charset="-127"/>
              </a:rPr>
              <a:t>소속 연산자 실습하기</a:t>
            </a:r>
            <a:endParaRPr lang="ko-KR" altLang="en-US" sz="18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 err="1" smtClean="0">
                <a:latin typeface="나눔고딕" panose="020B0600000101010101" charset="-127"/>
                <a:ea typeface="나눔고딕" panose="020B0600000101010101" charset="-127"/>
              </a:rPr>
              <a:t>testStr</a:t>
            </a:r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=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"i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 love you"</a:t>
            </a: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z = '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' in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testStr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; print(z)</a:t>
            </a: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z = "love" in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testStr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; print(z)</a:t>
            </a: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z = "Love" in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testStr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; print(z)</a:t>
            </a:r>
          </a:p>
          <a:p>
            <a:pPr marL="0" indent="0" fontAlgn="base">
              <a:buNone/>
            </a:pP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testTuple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 = (1, 2, (3, 4))</a:t>
            </a: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z = 1 in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testTuple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; print(z)</a:t>
            </a: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z = (1, 2) in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testTuple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; print(z)</a:t>
            </a: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z = (3, 4) in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testTuple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; print(z)</a:t>
            </a:r>
          </a:p>
          <a:p>
            <a:pPr marL="0" indent="0" fontAlgn="base">
              <a:buNone/>
            </a:pP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testList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 = [[1, 2], 3, 4]</a:t>
            </a: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z = 1 in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testList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; print(z)</a:t>
            </a: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z = [1, 2] in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testList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; print(z)</a:t>
            </a: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z = [3, 4] in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testList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; print(z)</a:t>
            </a:r>
          </a:p>
          <a:p>
            <a:pPr marL="0" indent="0">
              <a:buNone/>
            </a:pPr>
            <a:endParaRPr lang="en-US" altLang="ko-KR" sz="18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ADD75C7-09A9-4C3B-B250-2115B08D9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8D5519D-BAAA-4D9F-96B7-000807007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88DDABB-777F-40E5-BB72-EBC0E29F6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FCD73B-A58D-4DB8-BF77-DBCAF9F05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E5AF99A-FEA9-407A-B00B-4FF2604E3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BBDB6A-ACB1-4CC8-AB90-3234D353D76D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27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13" name="_x478212056" descr="EMB000042f077fd">
            <a:extLst>
              <a:ext uri="{FF2B5EF4-FFF2-40B4-BE49-F238E27FC236}">
                <a16:creationId xmlns:a16="http://schemas.microsoft.com/office/drawing/2014/main" id="{A125EBBD-0B26-44E9-8403-662BDCD56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4426" y="2248148"/>
            <a:ext cx="5400675" cy="291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60284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객체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확인 연산자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객체 확인 연산자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79153" y="1631109"/>
            <a:ext cx="8470547" cy="850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err="1" smtClean="0">
                <a:latin typeface="나눔고딕" panose="020B0600000101010101" charset="-127"/>
                <a:ea typeface="나눔고딕" panose="020B0600000101010101" charset="-127"/>
              </a:rPr>
              <a:t>피연산자들이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가리키는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또는 피연산자에 저장된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)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객체가 동일한 객체인지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즉 객체의 </a:t>
            </a:r>
            <a:r>
              <a:rPr lang="ko-KR" altLang="en-US" sz="2000" dirty="0" err="1" smtClean="0">
                <a:latin typeface="나눔고딕" panose="020B0600000101010101" charset="-127"/>
                <a:ea typeface="나눔고딕" panose="020B0600000101010101" charset="-127"/>
              </a:rPr>
              <a:t>레퍼런스가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같은 지를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검사</a:t>
            </a: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ADD75C7-09A9-4C3B-B250-2115B08D9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8D5519D-BAAA-4D9F-96B7-000807007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88DDABB-777F-40E5-BB72-EBC0E29F6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FCD73B-A58D-4DB8-BF77-DBCAF9F05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E5AF99A-FEA9-407A-B00B-4FF2604E3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04101A9B-99F7-4AE7-8F3F-A42C4C982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1BCA8A57-384C-43FE-9A4C-90A65FA05C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107469"/>
              </p:ext>
            </p:extLst>
          </p:nvPr>
        </p:nvGraphicFramePr>
        <p:xfrm>
          <a:off x="2198143" y="2481943"/>
          <a:ext cx="8364110" cy="2058162"/>
        </p:xfrm>
        <a:graphic>
          <a:graphicData uri="http://schemas.openxmlformats.org/drawingml/2006/table">
            <a:tbl>
              <a:tblPr/>
              <a:tblGrid>
                <a:gridCol w="946273">
                  <a:extLst>
                    <a:ext uri="{9D8B030D-6E8A-4147-A177-3AD203B41FA5}">
                      <a16:colId xmlns:a16="http://schemas.microsoft.com/office/drawing/2014/main" val="2072818130"/>
                    </a:ext>
                  </a:extLst>
                </a:gridCol>
                <a:gridCol w="7417837">
                  <a:extLst>
                    <a:ext uri="{9D8B030D-6E8A-4147-A177-3AD203B41FA5}">
                      <a16:colId xmlns:a16="http://schemas.microsoft.com/office/drawing/2014/main" val="467010875"/>
                    </a:ext>
                  </a:extLst>
                </a:gridCol>
              </a:tblGrid>
              <a:tr h="36151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연산자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의미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8100056"/>
                  </a:ext>
                </a:extLst>
              </a:tr>
              <a:tr h="56102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is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첫 번째 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피연산자가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두 번째 </a:t>
                      </a:r>
                      <a:r>
                        <a:rPr lang="ko-KR" altLang="en-US" sz="16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피연산자가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동일 객체이면 </a:t>
                      </a:r>
                      <a:r>
                        <a:rPr lang="en-US" altLang="ko-KR" sz="1600" kern="0" spc="0" dirty="0" smtClean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true,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그렇지 않으면 </a:t>
                      </a:r>
                      <a:r>
                        <a:rPr lang="en-US" altLang="ko-KR" sz="1600" kern="0" spc="0" dirty="0" smtClean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false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628865"/>
                  </a:ext>
                </a:extLst>
              </a:tr>
              <a:tr h="56102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is not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첫 번째 피연산자가 두 번째 피연산자와 다른 객체이면 </a:t>
                      </a:r>
                      <a:r>
                        <a:rPr lang="en-US" altLang="ko-KR" sz="1600" kern="0" spc="0" dirty="0" smtClean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true,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그렇지 않으면 </a:t>
                      </a:r>
                      <a:r>
                        <a:rPr lang="en-US" altLang="ko-KR" sz="1600" kern="0" spc="0" dirty="0" smtClean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false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729854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5C68C40-B525-463F-A17E-C86B16E6F12C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28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" name="내용 개체 틀 2"/>
          <p:cNvSpPr txBox="1">
            <a:spLocks/>
          </p:cNvSpPr>
          <p:nvPr/>
        </p:nvSpPr>
        <p:spPr>
          <a:xfrm>
            <a:off x="1856529" y="4595541"/>
            <a:ext cx="8470547" cy="9258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예를 들어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변수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a, b, c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에 다음과 같이 저장되어 있을 경우</a:t>
            </a:r>
            <a:endParaRPr lang="en-US" altLang="ko-KR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     a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= 20; b = 20; c = 30</a:t>
            </a:r>
          </a:p>
          <a:p>
            <a:pPr marL="0" indent="0" fontAlgn="base">
              <a:buNone/>
            </a:pP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18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E097021C-70B2-49E1-9E85-8088E239A6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150177"/>
              </p:ext>
            </p:extLst>
          </p:nvPr>
        </p:nvGraphicFramePr>
        <p:xfrm>
          <a:off x="2274324" y="5343153"/>
          <a:ext cx="5641630" cy="1231642"/>
        </p:xfrm>
        <a:graphic>
          <a:graphicData uri="http://schemas.openxmlformats.org/drawingml/2006/table">
            <a:tbl>
              <a:tblPr/>
              <a:tblGrid>
                <a:gridCol w="1298594">
                  <a:extLst>
                    <a:ext uri="{9D8B030D-6E8A-4147-A177-3AD203B41FA5}">
                      <a16:colId xmlns:a16="http://schemas.microsoft.com/office/drawing/2014/main" val="1726775545"/>
                    </a:ext>
                  </a:extLst>
                </a:gridCol>
                <a:gridCol w="1447589">
                  <a:extLst>
                    <a:ext uri="{9D8B030D-6E8A-4147-A177-3AD203B41FA5}">
                      <a16:colId xmlns:a16="http://schemas.microsoft.com/office/drawing/2014/main" val="975705143"/>
                    </a:ext>
                  </a:extLst>
                </a:gridCol>
                <a:gridCol w="1447589">
                  <a:extLst>
                    <a:ext uri="{9D8B030D-6E8A-4147-A177-3AD203B41FA5}">
                      <a16:colId xmlns:a16="http://schemas.microsoft.com/office/drawing/2014/main" val="62513787"/>
                    </a:ext>
                  </a:extLst>
                </a:gridCol>
                <a:gridCol w="1447858">
                  <a:extLst>
                    <a:ext uri="{9D8B030D-6E8A-4147-A177-3AD203B41FA5}">
                      <a16:colId xmlns:a16="http://schemas.microsoft.com/office/drawing/2014/main" val="2242468548"/>
                    </a:ext>
                  </a:extLst>
                </a:gridCol>
              </a:tblGrid>
              <a:tr h="61582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 is b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true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 is not b</a:t>
                      </a:r>
                    </a:p>
                  </a:txBody>
                  <a:tcPr marL="64770" marR="64770" marT="17907" marB="17907" anchor="ctr">
                    <a:lnL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false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7521053"/>
                  </a:ext>
                </a:extLst>
              </a:tr>
              <a:tr h="61582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 is c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false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 is not c</a:t>
                      </a:r>
                    </a:p>
                  </a:txBody>
                  <a:tcPr marL="64770" marR="64770" marT="17907" marB="17907" anchor="ctr">
                    <a:lnL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true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0673101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8333749" y="5354649"/>
            <a:ext cx="3359021" cy="10772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같은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정수 숫자인 경우는 하나만 생성되어 이를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공유</a:t>
            </a:r>
            <a:r>
              <a:rPr lang="en-US" altLang="ko-KR" sz="1600" dirty="0" smtClean="0">
                <a:latin typeface="나눔고딕" panose="020B0600000101010101" charset="-127"/>
                <a:ea typeface="나눔고딕" panose="020B0600000101010101" charset="-127"/>
              </a:rPr>
              <a:t>.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1600" dirty="0" smtClean="0">
                <a:latin typeface="나눔고딕" panose="020B0600000101010101" charset="-127"/>
                <a:ea typeface="나눔고딕" panose="020B0600000101010101" charset="-127"/>
              </a:rPr>
              <a:t>a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와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b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는 같은 객체의 </a:t>
            </a:r>
            <a:r>
              <a:rPr lang="ko-KR" altLang="en-US" sz="1600" dirty="0" err="1">
                <a:latin typeface="나눔고딕" panose="020B0600000101010101" charset="-127"/>
                <a:ea typeface="나눔고딕" panose="020B0600000101010101" charset="-127"/>
              </a:rPr>
              <a:t>레퍼런스를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 갖게 되어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is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연산자를 적용하면 </a:t>
            </a:r>
            <a:r>
              <a:rPr lang="en-US" altLang="ko-KR" sz="1600" dirty="0" smtClean="0">
                <a:latin typeface="나눔고딕" panose="020B0600000101010101" charset="-127"/>
                <a:ea typeface="나눔고딕" panose="020B0600000101010101" charset="-127"/>
              </a:rPr>
              <a:t>true</a:t>
            </a:r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31053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객체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확인 연산자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객체 확인 연산자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79153" y="1631108"/>
            <a:ext cx="8470547" cy="14946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다음과 같은 경우는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와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c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가 가리키는 객체가 동일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객체일까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? 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     a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= 20; b = 10; c = b + 10; z = a is c; print(z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)</a:t>
            </a:r>
          </a:p>
          <a:p>
            <a:pPr marL="0" indent="0" fontAlgn="base">
              <a:buNone/>
            </a:pP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     a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= 2.5; b = 2.5; z = a is b; print(z)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     a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= 2.5; b = 2; c = b + 0.5; z = a is c; print(z)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en-US" altLang="ko-KR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ADD75C7-09A9-4C3B-B250-2115B08D9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8D5519D-BAAA-4D9F-96B7-000807007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88DDABB-777F-40E5-BB72-EBC0E29F6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FCD73B-A58D-4DB8-BF77-DBCAF9F05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E5AF99A-FEA9-407A-B00B-4FF2604E3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04101A9B-99F7-4AE7-8F3F-A42C4C982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9D1D82E1-1834-4707-B2C3-332337E84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4817" name="_x478228760" descr="EMB000042f0780c">
            <a:extLst>
              <a:ext uri="{FF2B5EF4-FFF2-40B4-BE49-F238E27FC236}">
                <a16:creationId xmlns:a16="http://schemas.microsoft.com/office/drawing/2014/main" id="{30678ABE-A3C3-4C92-867A-24A6F1023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54" y="3674563"/>
            <a:ext cx="4063687" cy="2220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548C9D1-4779-4996-8368-2D151C2AF31E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29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16" name="_x478211192" descr="EMB000042f07811">
            <a:extLst>
              <a:ext uri="{FF2B5EF4-FFF2-40B4-BE49-F238E27FC236}">
                <a16:creationId xmlns:a16="http://schemas.microsoft.com/office/drawing/2014/main" id="{0027511C-38F7-4224-8492-704786B3E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2244" y="3674563"/>
            <a:ext cx="3506890" cy="2220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_x478225952" descr="EMB000042f07816">
            <a:extLst>
              <a:ext uri="{FF2B5EF4-FFF2-40B4-BE49-F238E27FC236}">
                <a16:creationId xmlns:a16="http://schemas.microsoft.com/office/drawing/2014/main" id="{F8905CD3-C65C-4CD1-871F-DC148C24F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4873" y="3674563"/>
            <a:ext cx="3084349" cy="2220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07250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객체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확인 연산자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객체 확인 연산자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79153" y="1631109"/>
            <a:ext cx="8470547" cy="23717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2000" b="1" dirty="0">
                <a:latin typeface="나눔고딕" panose="020B0600000101010101" charset="-127"/>
                <a:ea typeface="나눔고딕" panose="020B0600000101010101" charset="-127"/>
              </a:rPr>
              <a:t>[</a:t>
            </a:r>
            <a:r>
              <a:rPr lang="ko-KR" altLang="en-US" sz="2000" b="1" dirty="0">
                <a:latin typeface="나눔고딕" panose="020B0600000101010101" charset="-127"/>
                <a:ea typeface="나눔고딕" panose="020B0600000101010101" charset="-127"/>
              </a:rPr>
              <a:t>실습</a:t>
            </a:r>
            <a:r>
              <a:rPr lang="en-US" altLang="ko-KR" sz="2000" b="1" dirty="0">
                <a:latin typeface="나눔고딕" panose="020B0600000101010101" charset="-127"/>
                <a:ea typeface="나눔고딕" panose="020B0600000101010101" charset="-127"/>
              </a:rPr>
              <a:t>] </a:t>
            </a:r>
            <a:r>
              <a:rPr lang="ko-KR" altLang="en-US" sz="2000" b="1" dirty="0">
                <a:latin typeface="나눔고딕" panose="020B0600000101010101" charset="-127"/>
                <a:ea typeface="나눔고딕" panose="020B0600000101010101" charset="-127"/>
              </a:rPr>
              <a:t>객체 확인 연산자 실습하기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a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= "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abc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"; b = "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abc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"; c = "a"; d = 'a'; e = "ab"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z = a is b ; print(z)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# true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z = c is d ; print(z)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# true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z = a[0] is c ; print(z)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# true 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z = a[0:2] is e; print(z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)#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false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ADD75C7-09A9-4C3B-B250-2115B08D9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8D5519D-BAAA-4D9F-96B7-000807007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88DDABB-777F-40E5-BB72-EBC0E29F6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FCD73B-A58D-4DB8-BF77-DBCAF9F05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E5AF99A-FEA9-407A-B00B-4FF2604E3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04101A9B-99F7-4AE7-8F3F-A42C4C982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9D1D82E1-1834-4707-B2C3-332337E84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7092A4DF-D60F-43C8-B1AA-15C44D07B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7B2474-3F9B-4108-B675-FBDE1030B724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30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16" name="_x478204352" descr="EMB000042f07825">
            <a:extLst>
              <a:ext uri="{FF2B5EF4-FFF2-40B4-BE49-F238E27FC236}">
                <a16:creationId xmlns:a16="http://schemas.microsoft.com/office/drawing/2014/main" id="{F19F9C26-8163-4640-889D-EC910AB76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4718" y="2447629"/>
            <a:ext cx="5400675" cy="233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직사각형 9"/>
          <p:cNvSpPr/>
          <p:nvPr/>
        </p:nvSpPr>
        <p:spPr>
          <a:xfrm>
            <a:off x="1787455" y="498860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list1 = [1, 2, [3, 4]]; list2 = [3, 4]; list3 = [3, 4]</a:t>
            </a:r>
            <a:endParaRPr lang="ko-KR" altLang="en-US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z = list2 is list3 ; print(z)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# false</a:t>
            </a:r>
            <a:endParaRPr lang="ko-KR" altLang="en-US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z = list1[2] is list2 ; print(z)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# false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62707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우선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순위 및 결합 법칙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우선 순위 및 결합 법칙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ADD75C7-09A9-4C3B-B250-2115B08D9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8D5519D-BAAA-4D9F-96B7-000807007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88DDABB-777F-40E5-BB72-EBC0E29F6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FCD73B-A58D-4DB8-BF77-DBCAF9F05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E5AF99A-FEA9-407A-B00B-4FF2604E3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04101A9B-99F7-4AE7-8F3F-A42C4C982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9D1D82E1-1834-4707-B2C3-332337E84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7092A4DF-D60F-43C8-B1AA-15C44D07B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EFB70D9C-5C61-42FF-8A9A-9F9A5B13E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3D3F3688-573C-4CE7-8C19-011E42BA3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BC348DC9-910F-41D7-B984-D45A4085AA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896294"/>
              </p:ext>
            </p:extLst>
          </p:nvPr>
        </p:nvGraphicFramePr>
        <p:xfrm>
          <a:off x="1888803" y="1530236"/>
          <a:ext cx="4897374" cy="3290824"/>
        </p:xfrm>
        <a:graphic>
          <a:graphicData uri="http://schemas.openxmlformats.org/drawingml/2006/table">
            <a:tbl>
              <a:tblPr/>
              <a:tblGrid>
                <a:gridCol w="1660017">
                  <a:extLst>
                    <a:ext uri="{9D8B030D-6E8A-4147-A177-3AD203B41FA5}">
                      <a16:colId xmlns:a16="http://schemas.microsoft.com/office/drawing/2014/main" val="482766687"/>
                    </a:ext>
                  </a:extLst>
                </a:gridCol>
                <a:gridCol w="3237357">
                  <a:extLst>
                    <a:ext uri="{9D8B030D-6E8A-4147-A177-3AD203B41FA5}">
                      <a16:colId xmlns:a16="http://schemas.microsoft.com/office/drawing/2014/main" val="3612600985"/>
                    </a:ext>
                  </a:extLst>
                </a:gridCol>
              </a:tblGrid>
              <a:tr h="22225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연산자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우선순위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356200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지수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**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9194519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단항 연산자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(bitwise NOT,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부호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+ -)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~ + -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1726622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곱셈 및 나눗셈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* / % //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2066589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덧셈 및 뺄셈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+ -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3155837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시프트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</a:t>
                      </a: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shift)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&gt;&gt; &lt;&lt;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3009385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비트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bitwise) AND 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&amp;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6847405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비트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</a:t>
                      </a: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bitwise) XOR OR 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^ |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5893065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관계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</a:t>
                      </a: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relational)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&lt;= &lt;&gt;&gt;=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1756997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동일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</a:t>
                      </a: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equal)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연산자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&lt;&gt; == !=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6023157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대입 연산자 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= %= /= //= -= += *= **=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346505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소속 연산자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is is not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9648483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동일 연산자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in not in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3770371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논리 연산자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not or and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193632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0B9BEBA-CDDB-4209-8624-25C5571D60FE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31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8" name="내용 개체 틀 2"/>
          <p:cNvSpPr txBox="1">
            <a:spLocks/>
          </p:cNvSpPr>
          <p:nvPr/>
        </p:nvSpPr>
        <p:spPr>
          <a:xfrm>
            <a:off x="1787455" y="5157392"/>
            <a:ext cx="8470547" cy="7955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결합 법칙 </a:t>
            </a:r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: 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대입연산자와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지수 연산자를 제외한 모든 연산자들은 왼쪽에서 오른쪽 순으로 계산이 되며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대입연산자와 지수 연산자는 그 반대로 계산이 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en-US" altLang="ko-KR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18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92060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조건문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0335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if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i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f 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8"/>
            <a:ext cx="8470547" cy="48128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if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문은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헤더와 슈트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(suite)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로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구성</a:t>
            </a:r>
            <a:endParaRPr lang="en-US" altLang="ko-KR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헤더는 </a:t>
            </a:r>
            <a:r>
              <a:rPr lang="en-US" altLang="ko-KR" sz="1600" dirty="0" smtClean="0">
                <a:latin typeface="나눔고딕" panose="020B0600000101010101" charset="-127"/>
                <a:ea typeface="나눔고딕" panose="020B0600000101010101" charset="-127"/>
              </a:rPr>
              <a:t>if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키워드로 시작하고 콜론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(:)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으로 끝나고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슈트는 하나 이상의 문장으로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구성</a:t>
            </a:r>
            <a:endParaRPr lang="en-US" altLang="ko-KR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b="1" i="1" dirty="0" smtClean="0">
                <a:latin typeface="나눔고딕" panose="020B0600000101010101" charset="-127"/>
                <a:ea typeface="나눔고딕" panose="020B0600000101010101" charset="-127"/>
              </a:rPr>
              <a:t>     if </a:t>
            </a:r>
            <a:r>
              <a:rPr lang="ko-KR" altLang="en-US" sz="2000" b="1" i="1" dirty="0">
                <a:latin typeface="나눔고딕" panose="020B0600000101010101" charset="-127"/>
                <a:ea typeface="나눔고딕" panose="020B0600000101010101" charset="-127"/>
              </a:rPr>
              <a:t>조건식 </a:t>
            </a:r>
            <a:r>
              <a:rPr lang="en-US" altLang="ko-KR" sz="2000" b="1" i="1" dirty="0">
                <a:latin typeface="나눔고딕" panose="020B0600000101010101" charset="-127"/>
                <a:ea typeface="나눔고딕" panose="020B0600000101010101" charset="-127"/>
              </a:rPr>
              <a:t>:</a:t>
            </a:r>
            <a:endParaRPr lang="ko-KR" altLang="en-US" sz="2000" b="1" i="1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i="1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ko-KR" altLang="en-US" sz="2000" i="1" dirty="0" err="1">
                <a:latin typeface="나눔고딕" panose="020B0600000101010101" charset="-127"/>
                <a:ea typeface="나눔고딕" panose="020B0600000101010101" charset="-127"/>
              </a:rPr>
              <a:t>실행문</a:t>
            </a:r>
            <a:r>
              <a:rPr lang="en-US" altLang="ko-KR" sz="2000" i="1" baseline="-25000" dirty="0">
                <a:latin typeface="나눔고딕" panose="020B0600000101010101" charset="-127"/>
                <a:ea typeface="나눔고딕" panose="020B0600000101010101" charset="-127"/>
              </a:rPr>
              <a:t>1</a:t>
            </a:r>
            <a:endParaRPr lang="ko-KR" altLang="en-US" sz="2000" i="1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2000" i="1" dirty="0">
                <a:latin typeface="나눔고딕" panose="020B0600000101010101" charset="-127"/>
                <a:ea typeface="나눔고딕" panose="020B0600000101010101" charset="-127"/>
              </a:rPr>
              <a:t>...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i="1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ko-KR" altLang="en-US" sz="2000" i="1" dirty="0" err="1">
                <a:latin typeface="나눔고딕" panose="020B0600000101010101" charset="-127"/>
                <a:ea typeface="나눔고딕" panose="020B0600000101010101" charset="-127"/>
              </a:rPr>
              <a:t>실행문</a:t>
            </a:r>
            <a:r>
              <a:rPr lang="en-US" altLang="ko-KR" sz="2000" i="1" baseline="-25000" dirty="0">
                <a:latin typeface="나눔고딕" panose="020B0600000101010101" charset="-127"/>
                <a:ea typeface="나눔고딕" panose="020B0600000101010101" charset="-127"/>
              </a:rPr>
              <a:t>n</a:t>
            </a:r>
            <a:endParaRPr lang="ko-KR" altLang="en-US" sz="2000" i="1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5D94F9-D4D4-4C33-B53B-E648279692DD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33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1780544" y="4251148"/>
            <a:ext cx="8470547" cy="17017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예를 들어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정수가 홀수인 경우만 “홀수입니다”를 출력하고 싶으면</a:t>
            </a:r>
            <a:endParaRPr lang="en-US" altLang="ko-KR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endParaRPr lang="ko-KR" altLang="en-US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n = 3</a:t>
            </a:r>
            <a:endParaRPr lang="ko-KR" altLang="en-US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if ((n % 2) == 1) :</a:t>
            </a:r>
            <a:endParaRPr lang="ko-KR" altLang="en-US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print(“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홀수입니다”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28818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if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if 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문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8"/>
            <a:ext cx="8470547" cy="48128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여기서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주의할 것은 조건이 만족될 경우 실행되는 문장들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즉 슈트는 헤더와 같은 라인에 기술하거나 다른 라인에 기술할 경우는 반드시 들여쓰기를 해야 한다는 것이다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헤더와 같이 기술하면서 여러 문장을 기술해야 한다면 아래와 같이 세미콜론으로 구분하여 기술하여야 함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</a:p>
          <a:p>
            <a:pPr fontAlgn="base"/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n = 3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if ((n % 2) == 1) : print(“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홀수입니다”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); n = n + 1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520B23-10BB-42F1-AA89-4440BA16A259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34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90297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if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if 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문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8"/>
            <a:ext cx="8470547" cy="29502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조건이 만족이 되었을 경우 실행될 문장들을 별도의 라인에 기술할 때는 아래처럼 같은 들여쓰기를 해야 같은 블록으로 취급이 됨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</a:p>
          <a:p>
            <a:pPr fontAlgn="base"/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n = 3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if ((n % 2) == 1) 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print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("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홀수입니다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")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n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= n + 1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print(n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520B23-10BB-42F1-AA89-4440BA16A259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35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23519" y="2768052"/>
            <a:ext cx="2815194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n = 3</a:t>
            </a:r>
            <a:endParaRPr lang="ko-KR" altLang="en-US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if ((n % 2) == 1) :</a:t>
            </a:r>
            <a:endParaRPr lang="ko-KR" altLang="en-US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print("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홀수입니다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")</a:t>
            </a:r>
            <a:endParaRPr lang="ko-KR" altLang="en-US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n = n + 1</a:t>
            </a:r>
            <a:endParaRPr lang="ko-KR" altLang="en-US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print(n)</a:t>
            </a:r>
          </a:p>
          <a:p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1888802" y="5256610"/>
            <a:ext cx="8262903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만약  왼쪽 코드를 오른쪽과 같이 작성하면 “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print(n)” 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문장은 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if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문의 </a:t>
            </a:r>
            <a:r>
              <a:rPr lang="ko-KR" altLang="en-US" dirty="0" err="1" smtClean="0">
                <a:latin typeface="나눔고딕" panose="020B0600000101010101" charset="-127"/>
                <a:ea typeface="나눔고딕" panose="020B0600000101010101" charset="-127"/>
              </a:rPr>
              <a:t>슈트가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 아니라 별개의 문장이 되어 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n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의 값에 상관없이 수행이 되게 됨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.</a:t>
            </a:r>
            <a:endParaRPr lang="en-US" altLang="ko-KR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35190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if 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else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if else 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문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8"/>
            <a:ext cx="2498955" cy="28009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1800" b="1" i="1" dirty="0">
                <a:latin typeface="나눔고딕" panose="020B0600000101010101" charset="-127"/>
                <a:ea typeface="나눔고딕" panose="020B0600000101010101" charset="-127"/>
              </a:rPr>
              <a:t>if </a:t>
            </a:r>
            <a:r>
              <a:rPr lang="ko-KR" altLang="en-US" sz="1800" b="1" i="1" dirty="0">
                <a:latin typeface="나눔고딕" panose="020B0600000101010101" charset="-127"/>
                <a:ea typeface="나눔고딕" panose="020B0600000101010101" charset="-127"/>
              </a:rPr>
              <a:t>조건식 </a:t>
            </a:r>
            <a:r>
              <a:rPr lang="en-US" altLang="ko-KR" sz="1800" b="1" i="1" dirty="0">
                <a:latin typeface="나눔고딕" panose="020B0600000101010101" charset="-127"/>
                <a:ea typeface="나눔고딕" panose="020B0600000101010101" charset="-127"/>
              </a:rPr>
              <a:t>:</a:t>
            </a:r>
            <a:endParaRPr lang="ko-KR" altLang="en-US" sz="1800" b="1" i="1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ko-KR" altLang="en-US" sz="1800" i="1" dirty="0" err="1">
                <a:latin typeface="나눔고딕" panose="020B0600000101010101" charset="-127"/>
                <a:ea typeface="나눔고딕" panose="020B0600000101010101" charset="-127"/>
              </a:rPr>
              <a:t>실행문</a:t>
            </a:r>
            <a:r>
              <a:rPr lang="en-US" altLang="ko-KR" sz="1800" i="1" baseline="-25000" dirty="0">
                <a:latin typeface="나눔고딕" panose="020B0600000101010101" charset="-127"/>
                <a:ea typeface="나눔고딕" panose="020B0600000101010101" charset="-127"/>
              </a:rPr>
              <a:t>11</a:t>
            </a:r>
            <a:r>
              <a:rPr lang="en-US" altLang="ko-KR" sz="1800" i="1" dirty="0">
                <a:latin typeface="나눔고딕" panose="020B0600000101010101" charset="-127"/>
                <a:ea typeface="나눔고딕" panose="020B0600000101010101" charset="-127"/>
              </a:rPr>
              <a:t>;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1800" i="1" dirty="0">
                <a:latin typeface="나눔고딕" panose="020B0600000101010101" charset="-127"/>
                <a:ea typeface="나눔고딕" panose="020B0600000101010101" charset="-127"/>
              </a:rPr>
              <a:t>...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1800" b="1" i="1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ko-KR" altLang="en-US" sz="1800" b="1" i="1" dirty="0" err="1">
                <a:latin typeface="나눔고딕" panose="020B0600000101010101" charset="-127"/>
                <a:ea typeface="나눔고딕" panose="020B0600000101010101" charset="-127"/>
              </a:rPr>
              <a:t>실행문</a:t>
            </a:r>
            <a:r>
              <a:rPr lang="en-US" altLang="ko-KR" sz="1800" b="1" i="1" baseline="-25000" dirty="0">
                <a:latin typeface="나눔고딕" panose="020B0600000101010101" charset="-127"/>
                <a:ea typeface="나눔고딕" panose="020B0600000101010101" charset="-127"/>
              </a:rPr>
              <a:t>1n</a:t>
            </a:r>
            <a:r>
              <a:rPr lang="en-US" altLang="ko-KR" sz="1800" b="1" i="1" dirty="0">
                <a:latin typeface="나눔고딕" panose="020B0600000101010101" charset="-127"/>
                <a:ea typeface="나눔고딕" panose="020B0600000101010101" charset="-127"/>
              </a:rPr>
              <a:t>;</a:t>
            </a:r>
            <a:endParaRPr lang="ko-KR" altLang="en-US" sz="1800" b="1" i="1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b="1" i="1" dirty="0">
                <a:latin typeface="나눔고딕" panose="020B0600000101010101" charset="-127"/>
                <a:ea typeface="나눔고딕" panose="020B0600000101010101" charset="-127"/>
              </a:rPr>
              <a:t>else :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ko-KR" altLang="en-US" sz="1800" i="1" dirty="0" err="1">
                <a:latin typeface="나눔고딕" panose="020B0600000101010101" charset="-127"/>
                <a:ea typeface="나눔고딕" panose="020B0600000101010101" charset="-127"/>
              </a:rPr>
              <a:t>실행문</a:t>
            </a:r>
            <a:r>
              <a:rPr lang="en-US" altLang="ko-KR" sz="1800" i="1" baseline="-25000" dirty="0">
                <a:latin typeface="나눔고딕" panose="020B0600000101010101" charset="-127"/>
                <a:ea typeface="나눔고딕" panose="020B0600000101010101" charset="-127"/>
              </a:rPr>
              <a:t>21</a:t>
            </a:r>
            <a:r>
              <a:rPr lang="en-US" altLang="ko-KR" sz="1800" i="1" dirty="0">
                <a:latin typeface="나눔고딕" panose="020B0600000101010101" charset="-127"/>
                <a:ea typeface="나눔고딕" panose="020B0600000101010101" charset="-127"/>
              </a:rPr>
              <a:t>;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1800" i="1" dirty="0">
                <a:latin typeface="나눔고딕" panose="020B0600000101010101" charset="-127"/>
                <a:ea typeface="나눔고딕" panose="020B0600000101010101" charset="-127"/>
              </a:rPr>
              <a:t>...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1800" b="1" i="1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ko-KR" altLang="en-US" sz="1800" b="1" i="1" dirty="0" err="1">
                <a:latin typeface="나눔고딕" panose="020B0600000101010101" charset="-127"/>
                <a:ea typeface="나눔고딕" panose="020B0600000101010101" charset="-127"/>
              </a:rPr>
              <a:t>실행문</a:t>
            </a:r>
            <a:r>
              <a:rPr lang="en-US" altLang="ko-KR" sz="1800" b="1" i="1" baseline="-25000" dirty="0">
                <a:latin typeface="나눔고딕" panose="020B0600000101010101" charset="-127"/>
                <a:ea typeface="나눔고딕" panose="020B0600000101010101" charset="-127"/>
              </a:rPr>
              <a:t>2m</a:t>
            </a:r>
            <a:r>
              <a:rPr lang="en-US" altLang="ko-KR" sz="1800" b="1" i="1" dirty="0">
                <a:latin typeface="나눔고딕" panose="020B0600000101010101" charset="-127"/>
                <a:ea typeface="나눔고딕" panose="020B0600000101010101" charset="-127"/>
              </a:rPr>
              <a:t>;</a:t>
            </a:r>
          </a:p>
          <a:p>
            <a:pPr marL="0" indent="0">
              <a:buNone/>
            </a:pPr>
            <a:endParaRPr lang="en-US" altLang="ko-KR" sz="18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FD026E-5513-4309-AE52-D0DC406F8E7F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36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4621211" y="1563947"/>
            <a:ext cx="2665087" cy="28680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1800" b="1" i="1" dirty="0" smtClean="0">
                <a:latin typeface="나눔고딕" panose="020B0600000101010101" charset="-127"/>
                <a:ea typeface="나눔고딕" panose="020B0600000101010101" charset="-127"/>
              </a:rPr>
              <a:t>if </a:t>
            </a:r>
            <a:r>
              <a:rPr lang="ko-KR" altLang="en-US" sz="1800" i="1" dirty="0">
                <a:latin typeface="나눔고딕" panose="020B0600000101010101" charset="-127"/>
                <a:ea typeface="나눔고딕" panose="020B0600000101010101" charset="-127"/>
              </a:rPr>
              <a:t>단순조건</a:t>
            </a:r>
            <a:r>
              <a:rPr lang="en-US" altLang="ko-KR" sz="1800" i="1" dirty="0">
                <a:latin typeface="나눔고딕" panose="020B0600000101010101" charset="-127"/>
                <a:ea typeface="나눔고딕" panose="020B0600000101010101" charset="-127"/>
              </a:rPr>
              <a:t>1</a:t>
            </a:r>
            <a:r>
              <a:rPr lang="ko-KR" altLang="en-US" sz="1800" b="1" i="1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1800" b="1" i="1" dirty="0">
                <a:latin typeface="나눔고딕" panose="020B0600000101010101" charset="-127"/>
                <a:ea typeface="나눔고딕" panose="020B0600000101010101" charset="-127"/>
              </a:rPr>
              <a:t>: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1800" b="1" i="1" dirty="0">
                <a:latin typeface="나눔고딕" panose="020B0600000101010101" charset="-127"/>
                <a:ea typeface="나눔고딕" panose="020B0600000101010101" charset="-127"/>
              </a:rPr>
              <a:t>if </a:t>
            </a:r>
            <a:r>
              <a:rPr lang="ko-KR" altLang="en-US" sz="1800" i="1" dirty="0">
                <a:latin typeface="나눔고딕" panose="020B0600000101010101" charset="-127"/>
                <a:ea typeface="나눔고딕" panose="020B0600000101010101" charset="-127"/>
              </a:rPr>
              <a:t>단순조건</a:t>
            </a:r>
            <a:r>
              <a:rPr lang="en-US" altLang="ko-KR" sz="1800" i="1" dirty="0">
                <a:latin typeface="나눔고딕" panose="020B0600000101010101" charset="-127"/>
                <a:ea typeface="나눔고딕" panose="020B0600000101010101" charset="-127"/>
              </a:rPr>
              <a:t>2 </a:t>
            </a:r>
            <a:r>
              <a:rPr lang="en-US" altLang="ko-KR" sz="1800" b="1" i="1" dirty="0">
                <a:latin typeface="나눔고딕" panose="020B0600000101010101" charset="-127"/>
                <a:ea typeface="나눔고딕" panose="020B0600000101010101" charset="-127"/>
              </a:rPr>
              <a:t>: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ko-KR" altLang="en-US" sz="1800" b="1" i="1" dirty="0">
                <a:latin typeface="나눔고딕" panose="020B0600000101010101" charset="-127"/>
                <a:ea typeface="나눔고딕" panose="020B0600000101010101" charset="-127"/>
              </a:rPr>
              <a:t>	슈트</a:t>
            </a:r>
            <a:r>
              <a:rPr lang="en-US" altLang="ko-KR" sz="1800" b="1" i="1" dirty="0">
                <a:latin typeface="나눔고딕" panose="020B0600000101010101" charset="-127"/>
                <a:ea typeface="나눔고딕" panose="020B0600000101010101" charset="-127"/>
              </a:rPr>
              <a:t>A</a:t>
            </a:r>
            <a:endParaRPr lang="ko-KR" altLang="en-US" sz="1800" b="1" i="1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1800" b="1" i="1" dirty="0">
                <a:latin typeface="나눔고딕" panose="020B0600000101010101" charset="-127"/>
                <a:ea typeface="나눔고딕" panose="020B0600000101010101" charset="-127"/>
              </a:rPr>
              <a:t>else :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ko-KR" altLang="en-US" sz="1800" b="1" i="1" dirty="0">
                <a:latin typeface="나눔고딕" panose="020B0600000101010101" charset="-127"/>
                <a:ea typeface="나눔고딕" panose="020B0600000101010101" charset="-127"/>
              </a:rPr>
              <a:t>	슈트</a:t>
            </a:r>
            <a:r>
              <a:rPr lang="en-US" altLang="ko-KR" sz="1800" b="1" i="1" dirty="0">
                <a:latin typeface="나눔고딕" panose="020B0600000101010101" charset="-127"/>
                <a:ea typeface="나눔고딕" panose="020B0600000101010101" charset="-127"/>
              </a:rPr>
              <a:t>B</a:t>
            </a:r>
            <a:endParaRPr lang="ko-KR" altLang="en-US" sz="1800" b="1" i="1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b="1" i="1" dirty="0">
                <a:latin typeface="나눔고딕" panose="020B0600000101010101" charset="-127"/>
                <a:ea typeface="나눔고딕" panose="020B0600000101010101" charset="-127"/>
              </a:rPr>
              <a:t>else :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ko-KR" altLang="en-US" sz="1800" i="1" dirty="0">
                <a:latin typeface="나눔고딕" panose="020B0600000101010101" charset="-127"/>
                <a:ea typeface="나눔고딕" panose="020B0600000101010101" charset="-127"/>
              </a:rPr>
              <a:t>슈트</a:t>
            </a:r>
            <a:r>
              <a:rPr lang="en-US" altLang="ko-KR" sz="1800" i="1" dirty="0">
                <a:latin typeface="나눔고딕" panose="020B0600000101010101" charset="-127"/>
                <a:ea typeface="나눔고딕" panose="020B0600000101010101" charset="-127"/>
              </a:rPr>
              <a:t>B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18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2" name="내용 개체 틀 2"/>
          <p:cNvSpPr txBox="1">
            <a:spLocks/>
          </p:cNvSpPr>
          <p:nvPr/>
        </p:nvSpPr>
        <p:spPr>
          <a:xfrm>
            <a:off x="7555585" y="1540799"/>
            <a:ext cx="4075828" cy="18865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1800" b="1" i="1" dirty="0" smtClean="0">
                <a:latin typeface="나눔고딕" panose="020B0600000101010101" charset="-127"/>
                <a:ea typeface="나눔고딕" panose="020B0600000101010101" charset="-127"/>
              </a:rPr>
              <a:t>if </a:t>
            </a:r>
            <a:r>
              <a:rPr lang="ko-KR" altLang="en-US" sz="1800" b="1" i="1" dirty="0">
                <a:latin typeface="나눔고딕" panose="020B0600000101010101" charset="-127"/>
                <a:ea typeface="나눔고딕" panose="020B0600000101010101" charset="-127"/>
              </a:rPr>
              <a:t>단순조건</a:t>
            </a:r>
            <a:r>
              <a:rPr lang="en-US" altLang="ko-KR" sz="1800" b="1" i="1" dirty="0">
                <a:latin typeface="나눔고딕" panose="020B0600000101010101" charset="-127"/>
                <a:ea typeface="나눔고딕" panose="020B0600000101010101" charset="-127"/>
              </a:rPr>
              <a:t>1 </a:t>
            </a:r>
            <a:r>
              <a:rPr lang="ko-KR" altLang="en-US" sz="1800" b="1" i="1" dirty="0">
                <a:latin typeface="나눔고딕" panose="020B0600000101010101" charset="-127"/>
                <a:ea typeface="나눔고딕" panose="020B0600000101010101" charset="-127"/>
              </a:rPr>
              <a:t>논리연산자 단순조건</a:t>
            </a:r>
            <a:r>
              <a:rPr lang="en-US" altLang="ko-KR" sz="1800" b="1" i="1" dirty="0">
                <a:latin typeface="나눔고딕" panose="020B0600000101010101" charset="-127"/>
                <a:ea typeface="나눔고딕" panose="020B0600000101010101" charset="-127"/>
              </a:rPr>
              <a:t>2 :</a:t>
            </a:r>
            <a:endParaRPr lang="ko-KR" altLang="en-US" sz="1800" b="1" i="1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ko-KR" altLang="en-US" sz="1800" i="1" dirty="0">
                <a:latin typeface="나눔고딕" panose="020B0600000101010101" charset="-127"/>
                <a:ea typeface="나눔고딕" panose="020B0600000101010101" charset="-127"/>
              </a:rPr>
              <a:t>슈트</a:t>
            </a:r>
            <a:r>
              <a:rPr lang="en-US" altLang="ko-KR" sz="1800" i="1" dirty="0">
                <a:latin typeface="나눔고딕" panose="020B0600000101010101" charset="-127"/>
                <a:ea typeface="나눔고딕" panose="020B0600000101010101" charset="-127"/>
              </a:rPr>
              <a:t>A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b="1" i="1" dirty="0">
                <a:latin typeface="나눔고딕" panose="020B0600000101010101" charset="-127"/>
                <a:ea typeface="나눔고딕" panose="020B0600000101010101" charset="-127"/>
              </a:rPr>
              <a:t>else :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1800" b="1" i="1" dirty="0">
                <a:latin typeface="나눔고딕" panose="020B0600000101010101" charset="-127"/>
                <a:ea typeface="나눔고딕" panose="020B0600000101010101" charset="-127"/>
              </a:rPr>
              <a:t>	슈트</a:t>
            </a:r>
            <a:r>
              <a:rPr lang="en-US" altLang="ko-KR" sz="1800" b="1" i="1" dirty="0">
                <a:latin typeface="나눔고딕" panose="020B0600000101010101" charset="-127"/>
                <a:ea typeface="나눔고딕" panose="020B0600000101010101" charset="-127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4053569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if 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else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if else 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문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8"/>
            <a:ext cx="8470547" cy="48128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1800" b="1" dirty="0">
                <a:latin typeface="나눔고딕" panose="020B0600000101010101" charset="-127"/>
                <a:ea typeface="나눔고딕" panose="020B0600000101010101" charset="-127"/>
              </a:rPr>
              <a:t>[</a:t>
            </a:r>
            <a:r>
              <a:rPr lang="ko-KR" altLang="en-US" sz="1800" b="1" dirty="0">
                <a:latin typeface="나눔고딕" panose="020B0600000101010101" charset="-127"/>
                <a:ea typeface="나눔고딕" panose="020B0600000101010101" charset="-127"/>
              </a:rPr>
              <a:t>실습</a:t>
            </a:r>
            <a:r>
              <a:rPr lang="en-US" altLang="ko-KR" sz="1800" b="1" dirty="0">
                <a:latin typeface="나눔고딕" panose="020B0600000101010101" charset="-127"/>
                <a:ea typeface="나눔고딕" panose="020B0600000101010101" charset="-127"/>
              </a:rPr>
              <a:t>] </a:t>
            </a:r>
            <a:r>
              <a:rPr lang="ko-KR" altLang="en-US" sz="1800" b="1" dirty="0">
                <a:latin typeface="나눔고딕" panose="020B0600000101010101" charset="-127"/>
                <a:ea typeface="나눔고딕" panose="020B0600000101010101" charset="-127"/>
              </a:rPr>
              <a:t>홀짝 맞히기 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0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과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100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사이의 임의의 숫자 하나를 생성한 후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이의 </a:t>
            </a:r>
            <a:r>
              <a:rPr lang="ko-KR" altLang="en-US" sz="1800" dirty="0" err="1">
                <a:latin typeface="나눔고딕" panose="020B0600000101010101" charset="-127"/>
                <a:ea typeface="나눔고딕" panose="020B0600000101010101" charset="-127"/>
              </a:rPr>
              <a:t>홀짝을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 예측하는 프로그램을 작성해 보자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endParaRPr lang="en-US" altLang="ko-KR" sz="18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endParaRPr lang="en-US" altLang="ko-KR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import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random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x =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random.randint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(0, 100)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# 0 &lt;= x &lt;= 100 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정수</a:t>
            </a:r>
            <a:endParaRPr lang="en-US" altLang="ko-KR" sz="18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if ((x%2) == 0) : quest = 'e'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else : quest = </a:t>
            </a:r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'o‘</a:t>
            </a:r>
          </a:p>
          <a:p>
            <a:pPr marL="0" indent="0" fontAlgn="base">
              <a:buNone/>
            </a:pP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guess = input("0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과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100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사이의 난수가 하나 생성 되었음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짝수라 생각하면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e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를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홀수라고 생각하면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o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를 입력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: </a:t>
            </a:r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")</a:t>
            </a:r>
          </a:p>
          <a:p>
            <a:pPr marL="0" indent="0" fontAlgn="base">
              <a:buNone/>
            </a:pP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if (guess == quest) : print("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축하합니다</a:t>
            </a:r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!!!")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else : print("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다음 기회에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...")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18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9FB29B-EBB2-4B3D-86EA-69D29C29C9DD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37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65875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if </a:t>
            </a:r>
            <a:r>
              <a:rPr lang="en-US" altLang="ko-KR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elif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else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if </a:t>
            </a:r>
            <a:r>
              <a:rPr lang="en-US" altLang="ko-KR" sz="4000" b="1" spc="-150" dirty="0" err="1">
                <a:solidFill>
                  <a:schemeClr val="accent4">
                    <a:lumMod val="50000"/>
                  </a:schemeClr>
                </a:solidFill>
              </a:rPr>
              <a:t>elif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 else 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문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8"/>
            <a:ext cx="8470547" cy="44500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1800" b="1" i="1" dirty="0">
                <a:latin typeface="나눔고딕" panose="020B0600000101010101" charset="-127"/>
                <a:ea typeface="나눔고딕" panose="020B0600000101010101" charset="-127"/>
              </a:rPr>
              <a:t>if </a:t>
            </a:r>
            <a:r>
              <a:rPr lang="ko-KR" altLang="en-US" sz="1800" i="1" dirty="0">
                <a:latin typeface="나눔고딕" panose="020B0600000101010101" charset="-127"/>
                <a:ea typeface="나눔고딕" panose="020B0600000101010101" charset="-127"/>
              </a:rPr>
              <a:t>조건식</a:t>
            </a:r>
            <a:r>
              <a:rPr lang="en-US" altLang="ko-KR" sz="1800" i="1" dirty="0">
                <a:latin typeface="나눔고딕" panose="020B0600000101010101" charset="-127"/>
                <a:ea typeface="나눔고딕" panose="020B0600000101010101" charset="-127"/>
              </a:rPr>
              <a:t>1</a:t>
            </a:r>
            <a:r>
              <a:rPr lang="ko-KR" altLang="en-US" sz="1800" b="1" i="1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1800" b="1" i="1" dirty="0">
                <a:latin typeface="나눔고딕" panose="020B0600000101010101" charset="-127"/>
                <a:ea typeface="나눔고딕" panose="020B0600000101010101" charset="-127"/>
              </a:rPr>
              <a:t>: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b="1" i="1" dirty="0" smtClean="0">
                <a:latin typeface="나눔고딕" panose="020B0600000101010101" charset="-127"/>
                <a:ea typeface="나눔고딕" panose="020B0600000101010101" charset="-127"/>
              </a:rPr>
              <a:t>   A</a:t>
            </a:r>
            <a:endParaRPr lang="ko-KR" altLang="en-US" sz="1800" b="1" i="1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b="1" i="1" dirty="0" err="1" smtClean="0">
                <a:latin typeface="나눔고딕" panose="020B0600000101010101" charset="-127"/>
                <a:ea typeface="나눔고딕" panose="020B0600000101010101" charset="-127"/>
              </a:rPr>
              <a:t>elif</a:t>
            </a:r>
            <a:r>
              <a:rPr lang="en-US" altLang="ko-KR" sz="1800" b="1" i="1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800" i="1" dirty="0">
                <a:latin typeface="나눔고딕" panose="020B0600000101010101" charset="-127"/>
                <a:ea typeface="나눔고딕" panose="020B0600000101010101" charset="-127"/>
              </a:rPr>
              <a:t>조건식</a:t>
            </a:r>
            <a:r>
              <a:rPr lang="en-US" altLang="ko-KR" sz="1800" i="1" dirty="0">
                <a:latin typeface="나눔고딕" panose="020B0600000101010101" charset="-127"/>
                <a:ea typeface="나눔고딕" panose="020B0600000101010101" charset="-127"/>
              </a:rPr>
              <a:t>2</a:t>
            </a:r>
            <a:r>
              <a:rPr lang="ko-KR" altLang="en-US" sz="1800" b="1" i="1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1800" b="1" i="1" dirty="0">
                <a:latin typeface="나눔고딕" panose="020B0600000101010101" charset="-127"/>
                <a:ea typeface="나눔고딕" panose="020B0600000101010101" charset="-127"/>
              </a:rPr>
              <a:t>: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b="1" i="1" dirty="0" smtClean="0">
                <a:latin typeface="나눔고딕" panose="020B0600000101010101" charset="-127"/>
                <a:ea typeface="나눔고딕" panose="020B0600000101010101" charset="-127"/>
              </a:rPr>
              <a:t>   B</a:t>
            </a:r>
            <a:endParaRPr lang="ko-KR" altLang="en-US" sz="1800" b="1" i="1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i="1" dirty="0">
                <a:latin typeface="나눔고딕" panose="020B0600000101010101" charset="-127"/>
                <a:ea typeface="나눔고딕" panose="020B0600000101010101" charset="-127"/>
              </a:rPr>
              <a:t>...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b="1" i="1" dirty="0" err="1">
                <a:latin typeface="나눔고딕" panose="020B0600000101010101" charset="-127"/>
                <a:ea typeface="나눔고딕" panose="020B0600000101010101" charset="-127"/>
              </a:rPr>
              <a:t>elif</a:t>
            </a:r>
            <a:r>
              <a:rPr lang="en-US" altLang="ko-KR" sz="1800" b="1" i="1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800" b="1" i="1" dirty="0">
                <a:latin typeface="나눔고딕" panose="020B0600000101010101" charset="-127"/>
                <a:ea typeface="나눔고딕" panose="020B0600000101010101" charset="-127"/>
              </a:rPr>
              <a:t>조건식</a:t>
            </a:r>
            <a:r>
              <a:rPr lang="en-US" altLang="ko-KR" sz="1800" b="1" i="1" dirty="0">
                <a:latin typeface="나눔고딕" panose="020B0600000101010101" charset="-127"/>
                <a:ea typeface="나눔고딕" panose="020B0600000101010101" charset="-127"/>
              </a:rPr>
              <a:t>n :</a:t>
            </a:r>
            <a:endParaRPr lang="ko-KR" altLang="en-US" sz="1800" b="1" i="1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b="1" i="1" dirty="0" smtClean="0">
                <a:latin typeface="나눔고딕" panose="020B0600000101010101" charset="-127"/>
                <a:ea typeface="나눔고딕" panose="020B0600000101010101" charset="-127"/>
              </a:rPr>
              <a:t>   N</a:t>
            </a:r>
            <a:endParaRPr lang="ko-KR" altLang="en-US" sz="1800" b="1" i="1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b="1" i="1" dirty="0">
                <a:latin typeface="나눔고딕" panose="020B0600000101010101" charset="-127"/>
                <a:ea typeface="나눔고딕" panose="020B0600000101010101" charset="-127"/>
              </a:rPr>
              <a:t>else :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b="1" i="1" dirty="0" smtClean="0">
                <a:latin typeface="나눔고딕" panose="020B0600000101010101" charset="-127"/>
                <a:ea typeface="나눔고딕" panose="020B0600000101010101" charset="-127"/>
              </a:rPr>
              <a:t>   M</a:t>
            </a:r>
            <a:endParaRPr lang="en-US" altLang="ko-KR" sz="1800" b="1" i="1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1800" b="1" i="1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18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68B4D8B-22CC-4BBE-96B3-568023B1D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08B69D-3AD5-4123-AA0F-01E48AE7949E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38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4800694" y="1764846"/>
            <a:ext cx="4903143" cy="22846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if (score &gt;= 90) : print(“A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학점 입니다”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elif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 (score &gt;= 80) : print(“B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학점 입니다”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elif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 (score &gt;= 70) : print(“C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학점 입니다”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elif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 (score &gt;= 60) : print(“D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학점 입니다”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else : print (“F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학점 입니다”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18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708732" y="5014613"/>
            <a:ext cx="9105448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b="1" dirty="0" smtClean="0"/>
              <a:t>[</a:t>
            </a:r>
            <a:r>
              <a:rPr lang="ko-KR" altLang="en-US" b="1" dirty="0" smtClean="0"/>
              <a:t>참고</a:t>
            </a:r>
            <a:r>
              <a:rPr lang="en-US" altLang="ko-KR" b="1" dirty="0" smtClean="0"/>
              <a:t>] </a:t>
            </a:r>
            <a:r>
              <a:rPr lang="en-US" altLang="ko-KR" dirty="0" smtClean="0"/>
              <a:t>Python</a:t>
            </a:r>
            <a:r>
              <a:rPr lang="ko-KR" altLang="en-US" dirty="0" smtClean="0"/>
              <a:t>에는 </a:t>
            </a:r>
            <a:r>
              <a:rPr lang="en-US" altLang="ko-KR" dirty="0" smtClean="0"/>
              <a:t>C++</a:t>
            </a:r>
            <a:r>
              <a:rPr lang="ko-KR" altLang="en-US" dirty="0" smtClean="0"/>
              <a:t>이나 자바에 있는 </a:t>
            </a:r>
            <a:r>
              <a:rPr lang="en-US" altLang="ko-KR" dirty="0" smtClean="0"/>
              <a:t>switch </a:t>
            </a:r>
            <a:r>
              <a:rPr lang="ko-KR" altLang="en-US" dirty="0" smtClean="0"/>
              <a:t>문이 없음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디션러리를</a:t>
            </a:r>
            <a:r>
              <a:rPr lang="ko-KR" altLang="en-US" dirty="0" smtClean="0"/>
              <a:t> 이용하여 우회적으로 구현하는 방법이 있으나 굳이 그럴 필요가 없음</a:t>
            </a:r>
            <a:r>
              <a:rPr lang="en-US" altLang="ko-KR" dirty="0" smtClean="0"/>
              <a:t>. switch </a:t>
            </a:r>
            <a:r>
              <a:rPr lang="ko-KR" altLang="en-US" dirty="0" smtClean="0"/>
              <a:t>문은 </a:t>
            </a:r>
            <a:r>
              <a:rPr lang="en-US" altLang="ko-KR" dirty="0" smtClean="0"/>
              <a:t>if </a:t>
            </a:r>
            <a:r>
              <a:rPr lang="en-US" altLang="ko-KR" dirty="0" err="1" smtClean="0"/>
              <a:t>elif</a:t>
            </a:r>
            <a:r>
              <a:rPr lang="en-US" altLang="ko-KR" dirty="0" smtClean="0"/>
              <a:t> else </a:t>
            </a:r>
            <a:r>
              <a:rPr lang="ko-KR" altLang="en-US" dirty="0" smtClean="0"/>
              <a:t>문으로 표현 가능하기 때문에 이를 사용하면 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251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if </a:t>
            </a:r>
            <a:r>
              <a:rPr lang="en-US" altLang="ko-KR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elif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else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if </a:t>
            </a:r>
            <a:r>
              <a:rPr lang="en-US" altLang="ko-KR" sz="4000" b="1" spc="-150" dirty="0" err="1">
                <a:solidFill>
                  <a:schemeClr val="accent4">
                    <a:lumMod val="50000"/>
                  </a:schemeClr>
                </a:solidFill>
              </a:rPr>
              <a:t>elif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 else 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문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7"/>
            <a:ext cx="8470547" cy="50744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1400" b="1" dirty="0">
                <a:latin typeface="나눔고딕" panose="020B0600000101010101" charset="-127"/>
                <a:ea typeface="나눔고딕" panose="020B0600000101010101" charset="-127"/>
              </a:rPr>
              <a:t>[</a:t>
            </a:r>
            <a:r>
              <a:rPr lang="ko-KR" altLang="en-US" sz="1400" b="1" dirty="0">
                <a:latin typeface="나눔고딕" panose="020B0600000101010101" charset="-127"/>
                <a:ea typeface="나눔고딕" panose="020B0600000101010101" charset="-127"/>
              </a:rPr>
              <a:t>실습</a:t>
            </a:r>
            <a:r>
              <a:rPr lang="en-US" altLang="ko-KR" sz="1400" b="1" dirty="0">
                <a:latin typeface="나눔고딕" panose="020B0600000101010101" charset="-127"/>
                <a:ea typeface="나눔고딕" panose="020B0600000101010101" charset="-127"/>
              </a:rPr>
              <a:t>] </a:t>
            </a:r>
            <a:r>
              <a:rPr lang="ko-KR" altLang="en-US" sz="1400" b="1" dirty="0" err="1">
                <a:latin typeface="나눔고딕" panose="020B0600000101010101" charset="-127"/>
                <a:ea typeface="나눔고딕" panose="020B0600000101010101" charset="-127"/>
              </a:rPr>
              <a:t>좌표값의</a:t>
            </a:r>
            <a:r>
              <a:rPr lang="ko-KR" altLang="en-US" sz="1400" b="1" dirty="0">
                <a:latin typeface="나눔고딕" panose="020B0600000101010101" charset="-127"/>
                <a:ea typeface="나눔고딕" panose="020B0600000101010101" charset="-127"/>
              </a:rPr>
              <a:t> 분면 결정하기</a:t>
            </a: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400" dirty="0" err="1">
                <a:latin typeface="나눔고딕" panose="020B0600000101010101" charset="-127"/>
                <a:ea typeface="나눔고딕" panose="020B0600000101010101" charset="-127"/>
              </a:rPr>
              <a:t>strX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 = input("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좌표의 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x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값 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&gt;&gt; ")</a:t>
            </a: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x = </a:t>
            </a:r>
            <a:r>
              <a:rPr lang="en-US" altLang="ko-KR" sz="1400" dirty="0" err="1">
                <a:latin typeface="나눔고딕" panose="020B0600000101010101" charset="-127"/>
                <a:ea typeface="나눔고딕" panose="020B0600000101010101" charset="-127"/>
              </a:rPr>
              <a:t>int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en-US" altLang="ko-KR" sz="1400" dirty="0" err="1">
                <a:latin typeface="나눔고딕" panose="020B0600000101010101" charset="-127"/>
                <a:ea typeface="나눔고딕" panose="020B0600000101010101" charset="-127"/>
              </a:rPr>
              <a:t>strX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400" dirty="0" err="1">
                <a:latin typeface="나눔고딕" panose="020B0600000101010101" charset="-127"/>
                <a:ea typeface="나눔고딕" panose="020B0600000101010101" charset="-127"/>
              </a:rPr>
              <a:t>strY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 = input("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좌표의 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y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값 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&gt;&gt; ")</a:t>
            </a: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y = </a:t>
            </a:r>
            <a:r>
              <a:rPr lang="en-US" altLang="ko-KR" sz="1400" dirty="0" err="1">
                <a:latin typeface="나눔고딕" panose="020B0600000101010101" charset="-127"/>
                <a:ea typeface="나눔고딕" panose="020B0600000101010101" charset="-127"/>
              </a:rPr>
              <a:t>int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en-US" altLang="ko-KR" sz="1400" dirty="0" err="1">
                <a:latin typeface="나눔고딕" panose="020B0600000101010101" charset="-127"/>
                <a:ea typeface="나눔고딕" panose="020B0600000101010101" charset="-127"/>
              </a:rPr>
              <a:t>strY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if x == 0 or y == 0 :</a:t>
            </a: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print("x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나 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y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중 하나가 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0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이면 분면을 판단할 수 없습니다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.");</a:t>
            </a: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400" dirty="0" err="1">
                <a:latin typeface="나눔고딕" panose="020B0600000101010101" charset="-127"/>
                <a:ea typeface="나눔고딕" panose="020B0600000101010101" charset="-127"/>
              </a:rPr>
              <a:t>elif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 x &gt; 0 :</a:t>
            </a: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if y &gt; 0 : </a:t>
            </a:r>
            <a:r>
              <a:rPr lang="en-US" altLang="ko-KR" sz="1400" dirty="0" err="1">
                <a:latin typeface="나눔고딕" panose="020B0600000101010101" charset="-127"/>
                <a:ea typeface="나눔고딕" panose="020B0600000101010101" charset="-127"/>
              </a:rPr>
              <a:t>qud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 = 1</a:t>
            </a: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else : </a:t>
            </a:r>
            <a:r>
              <a:rPr lang="en-US" altLang="ko-KR" sz="1400" dirty="0" err="1">
                <a:latin typeface="나눔고딕" panose="020B0600000101010101" charset="-127"/>
                <a:ea typeface="나눔고딕" panose="020B0600000101010101" charset="-127"/>
              </a:rPr>
              <a:t>qud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 = 4</a:t>
            </a: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print("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좌표 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(" + </a:t>
            </a:r>
            <a:r>
              <a:rPr lang="en-US" altLang="ko-KR" sz="1400" dirty="0" err="1">
                <a:latin typeface="나눔고딕" panose="020B0600000101010101" charset="-127"/>
                <a:ea typeface="나눔고딕" panose="020B0600000101010101" charset="-127"/>
              </a:rPr>
              <a:t>str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(x) + ", " + </a:t>
            </a:r>
            <a:r>
              <a:rPr lang="en-US" altLang="ko-KR" sz="1400" dirty="0" err="1">
                <a:latin typeface="나눔고딕" panose="020B0600000101010101" charset="-127"/>
                <a:ea typeface="나눔고딕" panose="020B0600000101010101" charset="-127"/>
              </a:rPr>
              <a:t>str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(y) + ")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의 분면은 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" + </a:t>
            </a:r>
            <a:r>
              <a:rPr lang="en-US" altLang="ko-KR" sz="1400" dirty="0" err="1">
                <a:latin typeface="나눔고딕" panose="020B0600000101010101" charset="-127"/>
                <a:ea typeface="나눔고딕" panose="020B0600000101010101" charset="-127"/>
              </a:rPr>
              <a:t>str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en-US" altLang="ko-KR" sz="1400" dirty="0" err="1">
                <a:latin typeface="나눔고딕" panose="020B0600000101010101" charset="-127"/>
                <a:ea typeface="나눔고딕" panose="020B0600000101010101" charset="-127"/>
              </a:rPr>
              <a:t>qud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) + "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분면입니다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.")</a:t>
            </a: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else :</a:t>
            </a: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if y &gt; 0 : </a:t>
            </a:r>
            <a:r>
              <a:rPr lang="en-US" altLang="ko-KR" sz="1400" dirty="0" err="1">
                <a:latin typeface="나눔고딕" panose="020B0600000101010101" charset="-127"/>
                <a:ea typeface="나눔고딕" panose="020B0600000101010101" charset="-127"/>
              </a:rPr>
              <a:t>qud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 = 2</a:t>
            </a: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else : </a:t>
            </a:r>
            <a:r>
              <a:rPr lang="en-US" altLang="ko-KR" sz="1400" dirty="0" err="1">
                <a:latin typeface="나눔고딕" panose="020B0600000101010101" charset="-127"/>
                <a:ea typeface="나눔고딕" panose="020B0600000101010101" charset="-127"/>
              </a:rPr>
              <a:t>qud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 = 3</a:t>
            </a: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print("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좌표 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(" + </a:t>
            </a:r>
            <a:r>
              <a:rPr lang="en-US" altLang="ko-KR" sz="1400" dirty="0" err="1">
                <a:latin typeface="나눔고딕" panose="020B0600000101010101" charset="-127"/>
                <a:ea typeface="나눔고딕" panose="020B0600000101010101" charset="-127"/>
              </a:rPr>
              <a:t>str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(x) + ", " + </a:t>
            </a:r>
            <a:r>
              <a:rPr lang="en-US" altLang="ko-KR" sz="1400" dirty="0" err="1">
                <a:latin typeface="나눔고딕" panose="020B0600000101010101" charset="-127"/>
                <a:ea typeface="나눔고딕" panose="020B0600000101010101" charset="-127"/>
              </a:rPr>
              <a:t>str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(y) + ")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의 분면은 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" + </a:t>
            </a:r>
            <a:r>
              <a:rPr lang="en-US" altLang="ko-KR" sz="1400" dirty="0" err="1">
                <a:latin typeface="나눔고딕" panose="020B0600000101010101" charset="-127"/>
                <a:ea typeface="나눔고딕" panose="020B0600000101010101" charset="-127"/>
              </a:rPr>
              <a:t>str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en-US" altLang="ko-KR" sz="1400" dirty="0" err="1">
                <a:latin typeface="나눔고딕" panose="020B0600000101010101" charset="-127"/>
                <a:ea typeface="나눔고딕" panose="020B0600000101010101" charset="-127"/>
              </a:rPr>
              <a:t>qud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) + "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분면입니다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.")</a:t>
            </a: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14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68B4D8B-22CC-4BBE-96B3-568023B1D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90DA45-D048-4487-A184-3CC296094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54DA78-0100-44C3-A1AA-3C4108450D8C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39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8937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반복문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72120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while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while 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8"/>
            <a:ext cx="8470547" cy="48128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while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조건식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: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반복문장</a:t>
            </a:r>
            <a:endParaRPr lang="en-US" altLang="ko-KR" sz="18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18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948300-17A1-4D10-97AD-17655B95FF44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41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5128726" y="1433318"/>
            <a:ext cx="6096000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fontAlgn="base"/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cnt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 = 0; # 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반복 변수 초기값</a:t>
            </a:r>
          </a:p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while ( </a:t>
            </a:r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cnt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 &lt; 5) :</a:t>
            </a:r>
            <a:endParaRPr lang="ko-KR" altLang="en-US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print("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사랑합니다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.")</a:t>
            </a:r>
            <a:endParaRPr lang="ko-KR" altLang="en-US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cnt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 += 1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1768103" y="2777156"/>
            <a:ext cx="8470547" cy="38646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1400" b="1" dirty="0">
                <a:latin typeface="나눔고딕" panose="020B0600000101010101" charset="-127"/>
                <a:ea typeface="나눔고딕" panose="020B0600000101010101" charset="-127"/>
              </a:rPr>
              <a:t>[</a:t>
            </a:r>
            <a:r>
              <a:rPr lang="ko-KR" altLang="en-US" sz="1400" b="1" dirty="0">
                <a:latin typeface="나눔고딕" panose="020B0600000101010101" charset="-127"/>
                <a:ea typeface="나눔고딕" panose="020B0600000101010101" charset="-127"/>
              </a:rPr>
              <a:t>실습</a:t>
            </a:r>
            <a:r>
              <a:rPr lang="en-US" altLang="ko-KR" sz="1400" b="1" dirty="0">
                <a:latin typeface="나눔고딕" panose="020B0600000101010101" charset="-127"/>
                <a:ea typeface="나눔고딕" panose="020B0600000101010101" charset="-127"/>
              </a:rPr>
              <a:t>] </a:t>
            </a:r>
            <a:r>
              <a:rPr lang="ko-KR" altLang="en-US" sz="1400" b="1" dirty="0">
                <a:latin typeface="나눔고딕" panose="020B0600000101010101" charset="-127"/>
                <a:ea typeface="나눔고딕" panose="020B0600000101010101" charset="-127"/>
              </a:rPr>
              <a:t>숫자 맞히기 게임</a:t>
            </a: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import random</a:t>
            </a:r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quest = </a:t>
            </a:r>
            <a:r>
              <a:rPr lang="en-US" altLang="ko-KR" sz="1600" dirty="0" err="1">
                <a:latin typeface="나눔고딕" panose="020B0600000101010101" charset="-127"/>
                <a:ea typeface="나눔고딕" panose="020B0600000101010101" charset="-127"/>
              </a:rPr>
              <a:t>random.randint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(1, 100) # 1 &lt;= quest &lt;= 100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정수</a:t>
            </a:r>
          </a:p>
          <a:p>
            <a:pPr marL="0" indent="0" fontAlgn="base">
              <a:buNone/>
            </a:pPr>
            <a:r>
              <a:rPr lang="en-US" altLang="ko-KR" sz="1600" dirty="0" err="1">
                <a:latin typeface="나눔고딕" panose="020B0600000101010101" charset="-127"/>
                <a:ea typeface="나눔고딕" panose="020B0600000101010101" charset="-127"/>
              </a:rPr>
              <a:t>cont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 = 'y';</a:t>
            </a:r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while (</a:t>
            </a:r>
            <a:r>
              <a:rPr lang="en-US" altLang="ko-KR" sz="1600" dirty="0" err="1">
                <a:latin typeface="나눔고딕" panose="020B0600000101010101" charset="-127"/>
                <a:ea typeface="나눔고딕" panose="020B0600000101010101" charset="-127"/>
              </a:rPr>
              <a:t>cont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 == 'y'):</a:t>
            </a:r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guess = </a:t>
            </a:r>
            <a:r>
              <a:rPr lang="en-US" altLang="ko-KR" sz="1600" dirty="0" err="1">
                <a:latin typeface="나눔고딕" panose="020B0600000101010101" charset="-127"/>
                <a:ea typeface="나눔고딕" panose="020B0600000101010101" charset="-127"/>
              </a:rPr>
              <a:t>int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(input("</a:t>
            </a:r>
            <a:r>
              <a:rPr lang="ko-KR" altLang="en-US" sz="1600" dirty="0" err="1">
                <a:latin typeface="나눔고딕" panose="020B0600000101010101" charset="-127"/>
                <a:ea typeface="나눔고딕" panose="020B0600000101010101" charset="-127"/>
              </a:rPr>
              <a:t>예측값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(1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과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100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사이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) ? "))</a:t>
            </a:r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if (guess &gt; quest):</a:t>
            </a:r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1600" dirty="0" smtClean="0">
                <a:latin typeface="나눔고딕" panose="020B0600000101010101" charset="-127"/>
                <a:ea typeface="나눔고딕" panose="020B0600000101010101" charset="-127"/>
              </a:rPr>
              <a:t>	print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("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정답보다 큽니다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.")</a:t>
            </a:r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1600" dirty="0" err="1">
                <a:latin typeface="나눔고딕" panose="020B0600000101010101" charset="-127"/>
                <a:ea typeface="나눔고딕" panose="020B0600000101010101" charset="-127"/>
              </a:rPr>
              <a:t>elif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 (guess &lt; quest) : print("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정답보다 작습니다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.")</a:t>
            </a:r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else:</a:t>
            </a:r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1600" dirty="0" smtClean="0">
                <a:latin typeface="나눔고딕" panose="020B0600000101010101" charset="-127"/>
                <a:ea typeface="나눔고딕" panose="020B0600000101010101" charset="-127"/>
              </a:rPr>
              <a:t>	print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("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정답입니다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!!!")</a:t>
            </a:r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1600" dirty="0" err="1">
                <a:latin typeface="나눔고딕" panose="020B0600000101010101" charset="-127"/>
                <a:ea typeface="나눔고딕" panose="020B0600000101010101" charset="-127"/>
              </a:rPr>
              <a:t>cont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 = 'n'</a:t>
            </a:r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38384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while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while 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0544" y="1433318"/>
            <a:ext cx="8470547" cy="40783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Python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에서는 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while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문에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else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문을 결합하여 사용할 수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. 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이 때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else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문은 반복 조건이 만족되지 않는 경우에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실행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while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조건식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반복문장들</a:t>
            </a: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else 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실행문장들 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주로 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Break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문을 사용하여 비정상적으로 반복을 빠져 나온 경우와 정상적으로 빠져 나온 경우에 달리 작업할 경우에 사용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이 때 정상적으로 빠져 나온 경우 추가의 작업을 할 것이 있으면 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else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부분에 기술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C5F6DFC-2E55-4D26-8348-0D741A233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55FBF07-22E9-42E8-A77F-5D7769B6E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41A572A-ED54-4E8E-8D02-6912F7BD3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8AA6DD0-E3E1-47A5-A424-D90D4F1CB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53E26BD-4B35-46C2-8BDF-0CBAA285F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CB6B3F0-6C58-41B7-A0AB-D15B47DEF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719612-1349-41BC-8708-575955120006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42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" name="내용 개체 틀 2"/>
          <p:cNvSpPr txBox="1">
            <a:spLocks/>
          </p:cNvSpPr>
          <p:nvPr/>
        </p:nvSpPr>
        <p:spPr>
          <a:xfrm>
            <a:off x="1787455" y="5648851"/>
            <a:ext cx="8470547" cy="7331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b="1" dirty="0">
                <a:latin typeface="나눔고딕" panose="020B0600000101010101" charset="-127"/>
                <a:ea typeface="나눔고딕" panose="020B0600000101010101" charset="-127"/>
              </a:rPr>
              <a:t>[</a:t>
            </a:r>
            <a:r>
              <a:rPr lang="ko-KR" altLang="en-US" sz="2000" b="1" dirty="0">
                <a:latin typeface="나눔고딕" panose="020B0600000101010101" charset="-127"/>
                <a:ea typeface="나눔고딕" panose="020B0600000101010101" charset="-127"/>
              </a:rPr>
              <a:t>참고</a:t>
            </a:r>
            <a:r>
              <a:rPr lang="en-US" altLang="ko-KR" sz="2000" b="1" dirty="0">
                <a:latin typeface="나눔고딕" panose="020B0600000101010101" charset="-127"/>
                <a:ea typeface="나눔고딕" panose="020B0600000101010101" charset="-127"/>
              </a:rPr>
              <a:t>] Python</a:t>
            </a:r>
            <a:r>
              <a:rPr lang="ko-KR" altLang="en-US" sz="2000" b="1" dirty="0">
                <a:latin typeface="나눔고딕" panose="020B0600000101010101" charset="-127"/>
                <a:ea typeface="나눔고딕" panose="020B0600000101010101" charset="-127"/>
              </a:rPr>
              <a:t>에는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while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문의 한 변형인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do-while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문이 제공되지 않는다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43573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for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for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9"/>
            <a:ext cx="8470547" cy="46756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for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반복변수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in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시퀀스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반복 문장들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시퀀스의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모든 항목에 대해서 반복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실행</a:t>
            </a:r>
            <a:endParaRPr lang="en-US" altLang="ko-KR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시퀀스는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리스트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튜플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문자열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딕션너리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range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객체 등이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해당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예를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들어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튜플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(1, 2, 3, 4, 5)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에 대해서 원소의 합을 구하고 싶으면 아래와 같이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코딩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t = (1, 2, 3, 4, 5)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sum = 0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for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var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in t 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sum +=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var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print(sum)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C5F6DFC-2E55-4D26-8348-0D741A233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55FBF07-22E9-42E8-A77F-5D7769B6E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41A572A-ED54-4E8E-8D02-6912F7BD3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8AA6DD0-E3E1-47A5-A424-D90D4F1CB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53E26BD-4B35-46C2-8BDF-0CBAA285F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CB6B3F0-6C58-41B7-A0AB-D15B47DEF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09FA1E-2FB8-4D62-969A-2E650B299643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43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55463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for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for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9"/>
            <a:ext cx="8470547" cy="46756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문자열에 대해서도 반복작업을 할 수 있는데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만약 어떤 문자열 안에 있는 ‘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o’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의 개수를 카운트하고 싶다면 아래와 같이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작성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str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= “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love you”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cnt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= 0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for c in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str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if c == ‘o’ :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cnt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+= 1;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cnt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C5F6DFC-2E55-4D26-8348-0D741A233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55FBF07-22E9-42E8-A77F-5D7769B6E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41A572A-ED54-4E8E-8D02-6912F7BD3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8AA6DD0-E3E1-47A5-A424-D90D4F1CB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53E26BD-4B35-46C2-8BDF-0CBAA285F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CB6B3F0-6C58-41B7-A0AB-D15B47DEF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5F1BEC-3DDD-486E-BCB8-BD096917359B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44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18819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for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for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9"/>
            <a:ext cx="8470547" cy="46756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시퀀스 내의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인덱스를 사용하여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반복할 수도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for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인덱스변수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in range(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len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시퀀스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)) 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반복 문장들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sz="1600" dirty="0" err="1" smtClean="0">
                <a:latin typeface="나눔고딕" panose="020B0600000101010101" charset="-127"/>
                <a:ea typeface="나눔고딕" panose="020B0600000101010101" charset="-127"/>
              </a:rPr>
              <a:t>len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()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함수는 시퀀스의 길이를 반환하는 함수이며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, range()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함수는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range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객체를 생성하는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함수</a:t>
            </a:r>
            <a:r>
              <a:rPr lang="en-US" altLang="ko-KR" sz="1600" dirty="0" smtClean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range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객체는 값을 반복적으로 생성해 주는 객체로 세 가지 형태가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endParaRPr lang="en-US" altLang="ko-KR" sz="16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range(n) : 0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부터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n-1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까지의 정수를 차례대로 생성하여 제공</a:t>
            </a:r>
          </a:p>
          <a:p>
            <a:pPr marL="400050" lvl="1" indent="0" fontAlgn="base">
              <a:buNone/>
            </a:pP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range(m, n) : m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부터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n-1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까지의 정수를 차례대로 생성하여 제공</a:t>
            </a:r>
          </a:p>
          <a:p>
            <a:pPr marL="400050" lvl="1" indent="0" fontAlgn="base">
              <a:buNone/>
            </a:pP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range(m, n, s) : m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부터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s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만큼 증가하면서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n-1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까지의 정수를 차례대로 생성하여 제공</a:t>
            </a:r>
            <a:endParaRPr lang="en-US" altLang="ko-KR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C5F6DFC-2E55-4D26-8348-0D741A233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55FBF07-22E9-42E8-A77F-5D7769B6E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41A572A-ED54-4E8E-8D02-6912F7BD3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8AA6DD0-E3E1-47A5-A424-D90D4F1CB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53E26BD-4B35-46C2-8BDF-0CBAA285F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CB6B3F0-6C58-41B7-A0AB-D15B47DEF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291AEE-6CD1-4A70-997E-C430B541F869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45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41568" y="1418236"/>
            <a:ext cx="2675732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t = (1, 2, 3, 4, 5)</a:t>
            </a:r>
            <a:endParaRPr lang="ko-KR" altLang="en-US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sum = 0</a:t>
            </a:r>
            <a:endParaRPr lang="ko-KR" altLang="en-US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for </a:t>
            </a:r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idx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 in range(</a:t>
            </a:r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len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(t)) :</a:t>
            </a:r>
            <a:endParaRPr lang="ko-KR" altLang="en-US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sum += t[</a:t>
            </a:r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idx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]</a:t>
            </a:r>
            <a:endParaRPr lang="ko-KR" altLang="en-US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print(sum)</a:t>
            </a:r>
            <a:endParaRPr lang="ko-KR" altLang="en-US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40367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for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for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0544" y="1433318"/>
            <a:ext cx="8470547" cy="23437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for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문을 반복변수가 감소하는 형태로도 기술할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경우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n =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int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(input("n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의 값을 </a:t>
            </a:r>
            <a:r>
              <a:rPr lang="ko-KR" altLang="en-US" sz="1800" dirty="0" err="1">
                <a:latin typeface="나눔고딕" panose="020B0600000101010101" charset="-127"/>
                <a:ea typeface="나눔고딕" panose="020B0600000101010101" charset="-127"/>
              </a:rPr>
              <a:t>입력하시오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. "))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sum = 0;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for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 in range(n, 0, -1) :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sum = sum +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;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print(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str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(n) + "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에서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" + "1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까지의 합은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" +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str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(sum) + "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입니다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.")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C5F6DFC-2E55-4D26-8348-0D741A233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55FBF07-22E9-42E8-A77F-5D7769B6E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41A572A-ED54-4E8E-8D02-6912F7BD3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8AA6DD0-E3E1-47A5-A424-D90D4F1CB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53E26BD-4B35-46C2-8BDF-0CBAA285F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CB6B3F0-6C58-41B7-A0AB-D15B47DEF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F85D81-E10F-4007-A6F6-923790022382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46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4" name="내용 개체 틀 2"/>
          <p:cNvSpPr txBox="1">
            <a:spLocks/>
          </p:cNvSpPr>
          <p:nvPr/>
        </p:nvSpPr>
        <p:spPr>
          <a:xfrm>
            <a:off x="1724371" y="4193564"/>
            <a:ext cx="8470547" cy="22504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경우에 따라서는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반복 변수의 값을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1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증가하거나 감소하는 것이 아니라 그 이상을 증가하거나 감소할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경우</a:t>
            </a:r>
            <a:endParaRPr lang="en-US" altLang="ko-KR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sum = 0;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for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 in range(3, 100, 3) :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sum = sum +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;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print( "1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에서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100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까지의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3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의 배수의 합은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" +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str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(sum) + "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입니다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.")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13151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for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for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9"/>
            <a:ext cx="8470547" cy="24370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2000" b="1" dirty="0">
                <a:latin typeface="나눔고딕" panose="020B0600000101010101" charset="-127"/>
                <a:ea typeface="나눔고딕" panose="020B0600000101010101" charset="-127"/>
              </a:rPr>
              <a:t>[</a:t>
            </a:r>
            <a:r>
              <a:rPr lang="ko-KR" altLang="en-US" sz="2000" b="1" dirty="0">
                <a:latin typeface="나눔고딕" panose="020B0600000101010101" charset="-127"/>
                <a:ea typeface="나눔고딕" panose="020B0600000101010101" charset="-127"/>
              </a:rPr>
              <a:t>실습</a:t>
            </a:r>
            <a:r>
              <a:rPr lang="en-US" altLang="ko-KR" sz="2000" b="1" dirty="0">
                <a:latin typeface="나눔고딕" panose="020B0600000101010101" charset="-127"/>
                <a:ea typeface="나눔고딕" panose="020B0600000101010101" charset="-127"/>
              </a:rPr>
              <a:t>] </a:t>
            </a:r>
            <a:r>
              <a:rPr lang="ko-KR" altLang="en-US" sz="2000" b="1" dirty="0" err="1">
                <a:latin typeface="나눔고딕" panose="020B0600000101010101" charset="-127"/>
                <a:ea typeface="나눔고딕" panose="020B0600000101010101" charset="-127"/>
              </a:rPr>
              <a:t>팩토리얼</a:t>
            </a:r>
            <a:r>
              <a:rPr lang="ko-KR" altLang="en-US" sz="2000" b="1" dirty="0">
                <a:latin typeface="나눔고딕" panose="020B0600000101010101" charset="-127"/>
                <a:ea typeface="나눔고딕" panose="020B0600000101010101" charset="-127"/>
              </a:rPr>
              <a:t> 구하기 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 latinLnBrk="0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n =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int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(input("n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의 값을 </a:t>
            </a:r>
            <a:r>
              <a:rPr lang="ko-KR" altLang="en-US" sz="1800" dirty="0" err="1">
                <a:latin typeface="나눔고딕" panose="020B0600000101010101" charset="-127"/>
                <a:ea typeface="나눔고딕" panose="020B0600000101010101" charset="-127"/>
              </a:rPr>
              <a:t>입력하시오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. "))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 latinLnBrk="0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factorial = 1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for index in range(1, n+1) :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factorial *= index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print("1 ~ " +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str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(n) + "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까지의 곱은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" +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str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(factorial) + "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입니다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.")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C5F6DFC-2E55-4D26-8348-0D741A233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55FBF07-22E9-42E8-A77F-5D7769B6E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41A572A-ED54-4E8E-8D02-6912F7BD3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8AA6DD0-E3E1-47A5-A424-D90D4F1CB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53E26BD-4B35-46C2-8BDF-0CBAA285F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CB6B3F0-6C58-41B7-A0AB-D15B47DEF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AFA47E-45E0-4A37-B5DF-6AF1A8319CA4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47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14" name="_x316422432" descr="EMB000066b43f97">
            <a:extLst>
              <a:ext uri="{FF2B5EF4-FFF2-40B4-BE49-F238E27FC236}">
                <a16:creationId xmlns:a16="http://schemas.microsoft.com/office/drawing/2014/main" id="{96BDA05C-0DD2-4369-8B1D-FF8F83567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853" y="4152424"/>
            <a:ext cx="5811641" cy="2422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96354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break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break 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0544" y="2153622"/>
            <a:ext cx="8470547" cy="15972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while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1==1 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...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if (...) : break;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...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C5F6DFC-2E55-4D26-8348-0D741A233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55FBF07-22E9-42E8-A77F-5D7769B6E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41A572A-ED54-4E8E-8D02-6912F7BD3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8AA6DD0-E3E1-47A5-A424-D90D4F1CB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53E26BD-4B35-46C2-8BDF-0CBAA285F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CB6B3F0-6C58-41B7-A0AB-D15B47DEF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DFDCCE89-CBEA-4780-8157-23DD58549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6C707214-9876-42D5-9B92-A24925BD9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E62202-9628-41CD-ACEA-382ABE2D9E1D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48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7" name="내용 개체 틀 2"/>
          <p:cNvSpPr txBox="1">
            <a:spLocks/>
          </p:cNvSpPr>
          <p:nvPr/>
        </p:nvSpPr>
        <p:spPr>
          <a:xfrm>
            <a:off x="1856529" y="1570503"/>
            <a:ext cx="8470547" cy="4917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C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 언어와 동일</a:t>
            </a:r>
            <a:endParaRPr lang="en-US" altLang="ko-KR" sz="18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953234" y="2232204"/>
            <a:ext cx="5178021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굳이 하지 않아도 되는 작업들을 생략할 경우에 유용</a:t>
            </a:r>
            <a:endParaRPr lang="ko-KR" altLang="en-US" dirty="0"/>
          </a:p>
        </p:txBody>
      </p:sp>
      <p:sp>
        <p:nvSpPr>
          <p:cNvPr id="18" name="내용 개체 틀 2"/>
          <p:cNvSpPr txBox="1">
            <a:spLocks/>
          </p:cNvSpPr>
          <p:nvPr/>
        </p:nvSpPr>
        <p:spPr>
          <a:xfrm>
            <a:off x="4953234" y="2952264"/>
            <a:ext cx="5843162" cy="31343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2000" b="1" dirty="0">
                <a:latin typeface="나눔고딕" panose="020B0600000101010101" charset="-127"/>
                <a:ea typeface="나눔고딕" panose="020B0600000101010101" charset="-127"/>
              </a:rPr>
              <a:t>[</a:t>
            </a:r>
            <a:r>
              <a:rPr lang="ko-KR" altLang="en-US" sz="2000" b="1" dirty="0">
                <a:latin typeface="나눔고딕" panose="020B0600000101010101" charset="-127"/>
                <a:ea typeface="나눔고딕" panose="020B0600000101010101" charset="-127"/>
              </a:rPr>
              <a:t>실습</a:t>
            </a:r>
            <a:r>
              <a:rPr lang="en-US" altLang="ko-KR" sz="2000" b="1" dirty="0">
                <a:latin typeface="나눔고딕" panose="020B0600000101010101" charset="-127"/>
                <a:ea typeface="나눔고딕" panose="020B0600000101010101" charset="-127"/>
              </a:rPr>
              <a:t>] </a:t>
            </a:r>
            <a:r>
              <a:rPr lang="ko-KR" altLang="en-US" sz="2000" b="1" dirty="0">
                <a:latin typeface="나눔고딕" panose="020B0600000101010101" charset="-127"/>
                <a:ea typeface="나눔고딕" panose="020B0600000101010101" charset="-127"/>
              </a:rPr>
              <a:t>소수 판별하기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n =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int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(input("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양의 정수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n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의 값을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입력하시오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 "))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if n == 1: print("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소수가 아닙니다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."); exit(0)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prime ='y'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for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in range(2, n) 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if (n %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) == 0 : prime = 'n'; break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if (prime == 'y') : print("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소수입니다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.")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else : print("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소수가 아닙니다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.")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18639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break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break 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8"/>
            <a:ext cx="8470547" cy="43790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break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문을 사용하면 반복이 완전히 끝나지 않고 중간에 반복문을 빠져 나오기 때문에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경우에 따라 이런 상황을 검사해서 달리 작업을 해 주어야 할 경우가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발생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. 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이 때 반복문과 함께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else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문을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사용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=1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while (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&lt; 5):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print("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hoho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")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+= 1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else : print("now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")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C5F6DFC-2E55-4D26-8348-0D741A233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55FBF07-22E9-42E8-A77F-5D7769B6E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41A572A-ED54-4E8E-8D02-6912F7BD3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8AA6DD0-E3E1-47A5-A424-D90D4F1CB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53E26BD-4B35-46C2-8BDF-0CBAA285F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CB6B3F0-6C58-41B7-A0AB-D15B47DEF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DFDCCE89-CBEA-4780-8157-23DD58549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6C707214-9876-42D5-9B92-A24925BD9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1D04AEB2-5DC3-4D8C-ADB1-B92FAC690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3CFD2A-6215-4AE8-9ADA-032425108A6C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49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59625" y="2712648"/>
            <a:ext cx="2515432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en-US" altLang="ko-KR" sz="2000" dirty="0" err="1" smtClean="0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 =1</a:t>
            </a:r>
            <a:endParaRPr lang="ko-KR" altLang="en-US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while (</a:t>
            </a:r>
            <a:r>
              <a:rPr lang="en-US" altLang="ko-KR" sz="2000" dirty="0" err="1" smtClean="0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 &lt; 5):</a:t>
            </a:r>
            <a:endParaRPr lang="ko-KR" altLang="en-US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print("</a:t>
            </a:r>
            <a:r>
              <a:rPr lang="en-US" altLang="ko-KR" sz="2000" dirty="0" err="1" smtClean="0">
                <a:latin typeface="나눔고딕" panose="020B0600000101010101" charset="-127"/>
                <a:ea typeface="나눔고딕" panose="020B0600000101010101" charset="-127"/>
              </a:rPr>
              <a:t>hoho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")</a:t>
            </a:r>
            <a:endParaRPr lang="ko-KR" altLang="en-US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if (</a:t>
            </a:r>
            <a:r>
              <a:rPr lang="en-US" altLang="ko-KR" sz="2000" dirty="0" err="1" smtClean="0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==2) : break;</a:t>
            </a:r>
            <a:endParaRPr lang="ko-KR" altLang="en-US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 err="1" smtClean="0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 += 1</a:t>
            </a:r>
            <a:endParaRPr lang="ko-KR" altLang="en-US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else : print("now")</a:t>
            </a:r>
            <a:endParaRPr lang="ko-KR" altLang="en-US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02174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break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break 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8"/>
            <a:ext cx="8470547" cy="43790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for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문도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while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문과 마찬가지로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else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문을 붙여 사용할 수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list = ["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김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", "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이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", "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박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", "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오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", "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최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"]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for name in list 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print(name)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#if name == "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박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" : break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else : print("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정상적으로 수행되었음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")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C5F6DFC-2E55-4D26-8348-0D741A233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55FBF07-22E9-42E8-A77F-5D7769B6E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41A572A-ED54-4E8E-8D02-6912F7BD3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8AA6DD0-E3E1-47A5-A424-D90D4F1CB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53E26BD-4B35-46C2-8BDF-0CBAA285F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CB6B3F0-6C58-41B7-A0AB-D15B47DEF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DFDCCE89-CBEA-4780-8157-23DD58549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6C707214-9876-42D5-9B92-A24925BD9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1D04AEB2-5DC3-4D8C-ADB1-B92FAC690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409497-BDAA-4DF9-AFF0-A7E1897FD0FB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50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77790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continue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continue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824256" y="2064917"/>
            <a:ext cx="8470547" cy="43790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Continue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문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다음에 오는 문장들을 실행하지 않고 다시 위로 올라가 반복을 진행하게 하는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명령문</a:t>
            </a:r>
            <a:endParaRPr lang="en-US" altLang="ko-KR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보통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반복 중에 조건을 검사해서 그 조건이 맞으면 그 이하의 문장을 수행하지 않고 다음 반복으로 진행하고자 할 경우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사용</a:t>
            </a:r>
            <a:endParaRPr lang="en-US" altLang="ko-KR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sum=0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for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in range(1, 101) 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if (i%2) == 0 : continue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sum +=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i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print("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홀수의 합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" +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str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(sum))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C5F6DFC-2E55-4D26-8348-0D741A233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55FBF07-22E9-42E8-A77F-5D7769B6E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41A572A-ED54-4E8E-8D02-6912F7BD3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8AA6DD0-E3E1-47A5-A424-D90D4F1CB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53E26BD-4B35-46C2-8BDF-0CBAA285F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CB6B3F0-6C58-41B7-A0AB-D15B47DEF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DFDCCE89-CBEA-4780-8157-23DD58549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6C707214-9876-42D5-9B92-A24925BD9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1D04AEB2-5DC3-4D8C-ADB1-B92FAC690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00A0BB-5CEC-4304-8227-BD210EA04FD2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51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7" name="내용 개체 틀 2"/>
          <p:cNvSpPr txBox="1">
            <a:spLocks/>
          </p:cNvSpPr>
          <p:nvPr/>
        </p:nvSpPr>
        <p:spPr>
          <a:xfrm>
            <a:off x="1856529" y="1570503"/>
            <a:ext cx="8470547" cy="4917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C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 언어와 동일</a:t>
            </a:r>
            <a:endParaRPr lang="en-US" altLang="ko-KR" sz="18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68993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pass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pass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8"/>
            <a:ext cx="8470547" cy="49035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실행은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되지만 아무런 작업도 하지 않는 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명령문</a:t>
            </a:r>
            <a:endParaRPr lang="en-US" altLang="ko-KR" sz="1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C5F6DFC-2E55-4D26-8348-0D741A233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55FBF07-22E9-42E8-A77F-5D7769B6E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41A572A-ED54-4E8E-8D02-6912F7BD3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8AA6DD0-E3E1-47A5-A424-D90D4F1CB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53E26BD-4B35-46C2-8BDF-0CBAA285F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CB6B3F0-6C58-41B7-A0AB-D15B47DEF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DFDCCE89-CBEA-4780-8157-23DD58549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6C707214-9876-42D5-9B92-A24925BD9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1D04AEB2-5DC3-4D8C-ADB1-B92FAC690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26D627-1D70-41A5-90A4-A8DF6EF3D394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52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133600" y="2158410"/>
            <a:ext cx="3987282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if (n % 2) == 0 : print(“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짝수입니다”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6380584" y="2158410"/>
            <a:ext cx="4080588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if (n % 2) == 0 : print(“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짝수입니다”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else : pass</a:t>
            </a:r>
            <a:endParaRPr lang="en-US" altLang="ko-KR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888803" y="5127703"/>
            <a:ext cx="79630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pass 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문은 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개발 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도중에 어떤 조건을 만족할 경우의 </a:t>
            </a:r>
            <a:r>
              <a:rPr lang="ko-KR" altLang="en-US" dirty="0" err="1">
                <a:latin typeface="나눔고딕" panose="020B0600000101010101" charset="-127"/>
                <a:ea typeface="나눔고딕" panose="020B0600000101010101" charset="-127"/>
              </a:rPr>
              <a:t>로직이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 아직 개발되지 않아 그 부분을 </a:t>
            </a:r>
            <a:r>
              <a:rPr lang="ko-KR" altLang="en-US" dirty="0" err="1">
                <a:latin typeface="나눔고딕" panose="020B0600000101010101" charset="-127"/>
                <a:ea typeface="나눔고딕" panose="020B0600000101010101" charset="-127"/>
              </a:rPr>
              <a:t>스터브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(stub)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로 취급하고 계속 진행하고자 할 경우에 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사용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133600" y="3204633"/>
            <a:ext cx="4717270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n = 1;</a:t>
            </a:r>
            <a:endParaRPr lang="ko-KR" altLang="en-US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while n &lt; 10 :</a:t>
            </a:r>
            <a:endParaRPr lang="ko-KR" altLang="en-US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if n % 2 == 1 : n += 1; continue</a:t>
            </a:r>
            <a:endParaRPr lang="ko-KR" altLang="en-US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print(n)</a:t>
            </a:r>
            <a:endParaRPr lang="ko-KR" altLang="en-US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n += 1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6850870" y="3195491"/>
            <a:ext cx="4717270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n = 1;</a:t>
            </a:r>
            <a:endParaRPr lang="ko-KR" altLang="en-US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while n &lt; 10 :</a:t>
            </a:r>
            <a:endParaRPr lang="ko-KR" altLang="en-US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if n % 2 == 1 : n += 1; pass</a:t>
            </a:r>
            <a:endParaRPr lang="ko-KR" altLang="en-US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print(n)</a:t>
            </a:r>
            <a:endParaRPr lang="ko-KR" altLang="en-US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n += 1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14140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함수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36739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함수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정의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함수 정의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7"/>
            <a:ext cx="8470547" cy="46756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함수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헤더와 함수 본체로 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구성</a:t>
            </a:r>
            <a:endParaRPr lang="en-US" altLang="ko-KR" sz="18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endParaRPr lang="en-US" altLang="ko-KR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functionname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(parameters ): 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	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"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function</a:t>
            </a:r>
            <a:r>
              <a:rPr lang="en-US" altLang="ko-KR" sz="18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docstring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"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	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function</a:t>
            </a:r>
            <a:r>
              <a:rPr lang="en-US" altLang="ko-KR" sz="18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suite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	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return [expression]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endParaRPr lang="en-US" altLang="ko-KR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함수 헤더는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def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키워드 다음에 함수이름과 함수 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매개</a:t>
            </a:r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변수로 구성</a:t>
            </a:r>
            <a:endParaRPr lang="en-US" altLang="ko-KR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함수 본체는 함수 설명문과 함수 슈트 그리고 </a:t>
            </a:r>
            <a:r>
              <a:rPr lang="ko-KR" altLang="en-US" sz="1800" dirty="0" err="1">
                <a:latin typeface="나눔고딕" panose="020B0600000101010101" charset="-127"/>
                <a:ea typeface="나눔고딕" panose="020B0600000101010101" charset="-127"/>
              </a:rPr>
              <a:t>반환문으로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구성</a:t>
            </a:r>
            <a:endParaRPr lang="en-US" altLang="ko-KR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함수 설명문은 말 그대로 함수의 기능에 대한 설명을 기술하는 부분으로 옵션이며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나중에 함수 객체의 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doc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속성이나 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help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함수를 통하여 이 값을 </a:t>
            </a:r>
            <a:r>
              <a:rPr lang="ko-KR" altLang="en-US" sz="1400" dirty="0" smtClean="0">
                <a:latin typeface="나눔고딕" panose="020B0600000101010101" charset="-127"/>
                <a:ea typeface="나눔고딕" panose="020B0600000101010101" charset="-127"/>
              </a:rPr>
              <a:t>확인</a:t>
            </a:r>
            <a:endParaRPr lang="en-US" altLang="ko-KR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함수 슈트 부분은 함수의 기능을 수행하는 일련의 코드이며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반환문은 함수 실행 결과를 넘겨주는 부분으로 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return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키워드 다음에 반환 값에 해당하는 수식을 기술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1400" dirty="0" smtClean="0">
                <a:latin typeface="나눔고딕" panose="020B0600000101010101" charset="-127"/>
                <a:ea typeface="나눔고딕" panose="020B0600000101010101" charset="-127"/>
              </a:rPr>
              <a:t>반환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값이 없을 경우는 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return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문만 기술하거나 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return None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으로 기술</a:t>
            </a:r>
            <a:r>
              <a:rPr lang="en-US" altLang="ko-KR" sz="1400" dirty="0" smtClean="0">
                <a:latin typeface="나눔고딕" panose="020B0600000101010101" charset="-127"/>
                <a:ea typeface="나눔고딕" panose="020B0600000101010101" charset="-127"/>
              </a:rPr>
              <a:t>.</a:t>
            </a:r>
            <a:endParaRPr lang="ko-KR" altLang="en-US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18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03374FC-5B1E-4BEC-9799-E8314E910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EC15D9-59D6-4B70-B23B-DBFF5FC26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2CC861-F1D7-4BF7-9E55-8D46187887C9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54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86686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함수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호출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함수 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호출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7"/>
            <a:ext cx="9133020" cy="45267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i="1" dirty="0">
                <a:latin typeface="나눔고딕" panose="020B0600000101010101" charset="-127"/>
                <a:ea typeface="나눔고딕" panose="020B0600000101010101" charset="-127"/>
              </a:rPr>
              <a:t>함수이름</a:t>
            </a:r>
            <a:r>
              <a:rPr lang="en-US" altLang="ko-KR" sz="2000" i="1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2000" i="1" dirty="0">
                <a:latin typeface="나눔고딕" panose="020B0600000101010101" charset="-127"/>
                <a:ea typeface="나눔고딕" panose="020B0600000101010101" charset="-127"/>
              </a:rPr>
              <a:t>인자</a:t>
            </a:r>
            <a:r>
              <a:rPr lang="en-US" altLang="ko-KR" sz="2000" i="1" dirty="0">
                <a:latin typeface="나눔고딕" panose="020B0600000101010101" charset="-127"/>
                <a:ea typeface="나눔고딕" panose="020B0600000101010101" charset="-127"/>
              </a:rPr>
              <a:t>1, </a:t>
            </a:r>
            <a:r>
              <a:rPr lang="ko-KR" altLang="en-US" sz="2000" i="1" dirty="0">
                <a:latin typeface="나눔고딕" panose="020B0600000101010101" charset="-127"/>
                <a:ea typeface="나눔고딕" panose="020B0600000101010101" charset="-127"/>
              </a:rPr>
              <a:t>인자</a:t>
            </a:r>
            <a:r>
              <a:rPr lang="en-US" altLang="ko-KR" sz="2000" i="1" dirty="0">
                <a:latin typeface="나눔고딕" panose="020B0600000101010101" charset="-127"/>
                <a:ea typeface="나눔고딕" panose="020B0600000101010101" charset="-127"/>
              </a:rPr>
              <a:t>2, ..., </a:t>
            </a:r>
            <a:r>
              <a:rPr lang="ko-KR" altLang="en-US" sz="2000" i="1" dirty="0">
                <a:latin typeface="나눔고딕" panose="020B0600000101010101" charset="-127"/>
                <a:ea typeface="나눔고딕" panose="020B0600000101010101" charset="-127"/>
              </a:rPr>
              <a:t>인자</a:t>
            </a:r>
            <a:r>
              <a:rPr lang="en-US" altLang="ko-KR" sz="2000" i="1" dirty="0">
                <a:latin typeface="나눔고딕" panose="020B0600000101010101" charset="-127"/>
                <a:ea typeface="나눔고딕" panose="020B0600000101010101" charset="-127"/>
              </a:rPr>
              <a:t>n)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함수 실행 결과로 값을 반환하지 않는 경우</a:t>
            </a:r>
          </a:p>
          <a:p>
            <a:pPr marL="0" indent="0" fontAlgn="base">
              <a:buNone/>
            </a:pPr>
            <a:r>
              <a:rPr lang="ko-KR" altLang="en-US" sz="2000" i="1" dirty="0" err="1">
                <a:latin typeface="나눔고딕" panose="020B0600000101010101" charset="-127"/>
                <a:ea typeface="나눔고딕" panose="020B0600000101010101" charset="-127"/>
              </a:rPr>
              <a:t>변수명</a:t>
            </a:r>
            <a:r>
              <a:rPr lang="ko-KR" altLang="en-US" sz="2000" i="1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2000" i="1" dirty="0">
                <a:latin typeface="나눔고딕" panose="020B0600000101010101" charset="-127"/>
                <a:ea typeface="나눔고딕" panose="020B0600000101010101" charset="-127"/>
              </a:rPr>
              <a:t>= </a:t>
            </a:r>
            <a:r>
              <a:rPr lang="ko-KR" altLang="en-US" sz="2000" i="1" dirty="0">
                <a:latin typeface="나눔고딕" panose="020B0600000101010101" charset="-127"/>
                <a:ea typeface="나눔고딕" panose="020B0600000101010101" charset="-127"/>
              </a:rPr>
              <a:t>함수이름</a:t>
            </a:r>
            <a:r>
              <a:rPr lang="en-US" altLang="ko-KR" sz="2000" i="1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2000" i="1" dirty="0">
                <a:latin typeface="나눔고딕" panose="020B0600000101010101" charset="-127"/>
                <a:ea typeface="나눔고딕" panose="020B0600000101010101" charset="-127"/>
              </a:rPr>
              <a:t>인자</a:t>
            </a:r>
            <a:r>
              <a:rPr lang="en-US" altLang="ko-KR" sz="2000" i="1" dirty="0">
                <a:latin typeface="나눔고딕" panose="020B0600000101010101" charset="-127"/>
                <a:ea typeface="나눔고딕" panose="020B0600000101010101" charset="-127"/>
              </a:rPr>
              <a:t>1, </a:t>
            </a:r>
            <a:r>
              <a:rPr lang="ko-KR" altLang="en-US" sz="2000" i="1" dirty="0">
                <a:latin typeface="나눔고딕" panose="020B0600000101010101" charset="-127"/>
                <a:ea typeface="나눔고딕" panose="020B0600000101010101" charset="-127"/>
              </a:rPr>
              <a:t>인자</a:t>
            </a:r>
            <a:r>
              <a:rPr lang="en-US" altLang="ko-KR" sz="2000" i="1" dirty="0">
                <a:latin typeface="나눔고딕" panose="020B0600000101010101" charset="-127"/>
                <a:ea typeface="나눔고딕" panose="020B0600000101010101" charset="-127"/>
              </a:rPr>
              <a:t>2, ..., </a:t>
            </a:r>
            <a:r>
              <a:rPr lang="ko-KR" altLang="en-US" sz="2000" i="1" dirty="0">
                <a:latin typeface="나눔고딕" panose="020B0600000101010101" charset="-127"/>
                <a:ea typeface="나눔고딕" panose="020B0600000101010101" charset="-127"/>
              </a:rPr>
              <a:t>인자</a:t>
            </a:r>
            <a:r>
              <a:rPr lang="en-US" altLang="ko-KR" sz="2000" i="1" dirty="0">
                <a:latin typeface="나눔고딕" panose="020B0600000101010101" charset="-127"/>
                <a:ea typeface="나눔고딕" panose="020B0600000101010101" charset="-127"/>
              </a:rPr>
              <a:t>n)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함수 실행 결과로 값을 반환하는 경우</a:t>
            </a: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03374FC-5B1E-4BEC-9799-E8314E910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EC15D9-59D6-4B70-B23B-DBFF5FC26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D322DB-7304-473C-BE18-F1E921F6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43B03E-410A-4771-8DF9-77DCE4417650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55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내용 개체 틀 2"/>
          <p:cNvSpPr txBox="1">
            <a:spLocks/>
          </p:cNvSpPr>
          <p:nvPr/>
        </p:nvSpPr>
        <p:spPr>
          <a:xfrm>
            <a:off x="1856529" y="1570503"/>
            <a:ext cx="8470547" cy="4917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C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 언어와 동일</a:t>
            </a: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888803" y="3346367"/>
            <a:ext cx="8985642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여기서</a:t>
            </a:r>
            <a:r>
              <a:rPr lang="en-US" altLang="ko-KR" sz="1600" dirty="0" smtClean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주의할 것은 함수를 같은 파일 내에 정의하고 이를 호출하여 사용할 때</a:t>
            </a:r>
            <a:r>
              <a:rPr lang="en-US" altLang="ko-KR" sz="1600" dirty="0" smtClean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먼저 함수의 정의부터 이루어져야 하지 그렇지 않고 함수 호출 후에 정의 부분이 나오면 함수를 인식하지 못하여 실행 오류가 발생</a:t>
            </a:r>
            <a:endParaRPr lang="ko-KR" altLang="en-US" sz="1600" dirty="0"/>
          </a:p>
        </p:txBody>
      </p:sp>
      <p:sp>
        <p:nvSpPr>
          <p:cNvPr id="13" name="내용 개체 틀 2"/>
          <p:cNvSpPr txBox="1">
            <a:spLocks/>
          </p:cNvSpPr>
          <p:nvPr/>
        </p:nvSpPr>
        <p:spPr>
          <a:xfrm>
            <a:off x="1824256" y="4165570"/>
            <a:ext cx="8470547" cy="22784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함수의 결과로 여러 개의 값을 전달할 수 있는데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그 중의 하나가 아래처럼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튜플로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묶어서 보내는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것임</a:t>
            </a:r>
            <a:endParaRPr lang="en-US" altLang="ko-KR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 err="1" smtClean="0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maxmin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(x, y):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if (x &gt; y): return x, y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else: return 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(y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x)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727664" y="5228624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data1 = 7</a:t>
            </a:r>
            <a:endParaRPr lang="ko-KR" altLang="en-US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data2 = 5</a:t>
            </a:r>
            <a:endParaRPr lang="ko-KR" altLang="en-US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max, min = </a:t>
            </a:r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maxmin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(data1, data2)</a:t>
            </a:r>
            <a:endParaRPr lang="ko-KR" altLang="en-US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print(“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최대 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: ”, max, “ 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최소 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: ”, min)</a:t>
            </a:r>
            <a:endParaRPr lang="en-US" altLang="ko-KR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98699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인자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전달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인자 전달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6"/>
            <a:ext cx="8470547" cy="41216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함수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호출 시 인자의 값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즉 대상 객체의 레퍼런스가 함수의 매개변수로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전달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함수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내부에서 매개변수의 내용을 수정하면 그 레퍼런스가 가리키는 대상의 내용이 변하게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en-US" altLang="ko-KR" sz="16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def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changeList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 list ):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"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넘어온 리스트에 새로운 항목을 추가함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"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list.append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(‘d’)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return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03374FC-5B1E-4BEC-9799-E8314E910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EC15D9-59D6-4B70-B23B-DBFF5FC26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D322DB-7304-473C-BE18-F1E921F6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11802D2-8E76-445B-8F39-3E537D0D8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9B3BF90-6BDC-4DBB-88A1-09E985517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4E0F2CA-50F7-4A49-98C4-BE467013F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0EC1C4D-5CB5-4EED-915D-FD60C689C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CD694CF-1B6D-4ED4-B351-4CB0EC7DD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2B9B97-C112-414B-BA8A-7427EFF9C05B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56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463777" y="3299176"/>
            <a:ext cx="362099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mylist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 = ['a', 'b', 'c']</a:t>
            </a:r>
            <a:endParaRPr lang="ko-KR" altLang="en-US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changeList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mylist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mylist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) # ['a', 'b', 'c', 'd']</a:t>
            </a:r>
            <a:endParaRPr lang="ko-KR" altLang="en-US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endParaRPr lang="en-US" altLang="ko-KR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68041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인자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전달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인자 전달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6"/>
            <a:ext cx="8470547" cy="41216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리스트가 아니라 정수나 실수 같은 값을 인자로 넘겼을 때는 어떻게 되겠는가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? </a:t>
            </a:r>
            <a:endParaRPr lang="en-US" altLang="ko-KR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def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changeValue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val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):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"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넘어온 리스트에 새로운 항목을 추가함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"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val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=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val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+ 1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return</a:t>
            </a: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아래와 같이 코드를 작성해서 위 함수를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호출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 = 3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changeValue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(a)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print(a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) # 4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가 아니라 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3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03374FC-5B1E-4BEC-9799-E8314E910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EC15D9-59D6-4B70-B23B-DBFF5FC26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D322DB-7304-473C-BE18-F1E921F6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11802D2-8E76-445B-8F39-3E537D0D8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9B3BF90-6BDC-4DBB-88A1-09E985517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4E0F2CA-50F7-4A49-98C4-BE467013F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0EC1C4D-5CB5-4EED-915D-FD60C689C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CD694CF-1B6D-4ED4-B351-4CB0EC7DD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599B0B-5DA5-4B41-9D51-DAD543848536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57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278104" y="5073134"/>
            <a:ext cx="6478467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숫자인 경우도 그 수에 해당하는 객체의 </a:t>
            </a:r>
            <a:r>
              <a:rPr lang="ko-KR" altLang="en-US" dirty="0" err="1" smtClean="0">
                <a:latin typeface="나눔고딕" panose="020B0600000101010101" charset="-127"/>
                <a:ea typeface="나눔고딕" panose="020B0600000101010101" charset="-127"/>
              </a:rPr>
              <a:t>레퍼런스가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 전달이 됨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하지만 숫자 객체가 변경 불가능 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(immutable) 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객체이기 때문에 객체 자체가 변경되지 않고 새로운 객체가 반환</a:t>
            </a:r>
          </a:p>
        </p:txBody>
      </p:sp>
    </p:spTree>
    <p:extLst>
      <p:ext uri="{BB962C8B-B14F-4D97-AF65-F5344CB8AC3E}">
        <p14:creationId xmlns:p14="http://schemas.microsoft.com/office/powerpoint/2010/main" val="20352129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인자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전달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인자 전달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7" y="1631106"/>
            <a:ext cx="5708686" cy="14041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위의 예에서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함수 호출 시점에서 그림에서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보는바와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같이 변수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와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val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에는 숫자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3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에 해당하는 객체의 레퍼런스가 저장되어 동일 객체를 가리키게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03374FC-5B1E-4BEC-9799-E8314E910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EC15D9-59D6-4B70-B23B-DBFF5FC26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D322DB-7304-473C-BE18-F1E921F6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11802D2-8E76-445B-8F39-3E537D0D8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9B3BF90-6BDC-4DBB-88A1-09E985517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4E0F2CA-50F7-4A49-98C4-BE467013F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0EC1C4D-5CB5-4EED-915D-FD60C689C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CD694CF-1B6D-4ED4-B351-4CB0EC7DD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DEBE67B-88CB-4BF9-9A8B-1D0A8736B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4317952-6869-4834-A36D-774BE95EF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4337" name="_x523194672" descr="EMB000068ac45b7">
            <a:extLst>
              <a:ext uri="{FF2B5EF4-FFF2-40B4-BE49-F238E27FC236}">
                <a16:creationId xmlns:a16="http://schemas.microsoft.com/office/drawing/2014/main" id="{237E10EC-E90B-4E59-BEFA-36CB6844B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330" y="1281052"/>
            <a:ext cx="3208338" cy="1754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255EC21-B505-4908-9761-027B7C3EDE66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58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9" name="내용 개체 틀 2"/>
          <p:cNvSpPr txBox="1">
            <a:spLocks/>
          </p:cNvSpPr>
          <p:nvPr/>
        </p:nvSpPr>
        <p:spPr>
          <a:xfrm>
            <a:off x="1787455" y="3506592"/>
            <a:ext cx="5543987" cy="2026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changeValue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함수 안에서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val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매개변수에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1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을 더하면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val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의 가리키는 객체의 내용이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1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증가되는 것이 아니라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가 가리키는 객체의 내용에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1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을 더한 값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즉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4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에 해당하는 숫자 객체가 새로이 만들어져 그 레퍼런스가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val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변수에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저장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pic>
        <p:nvPicPr>
          <p:cNvPr id="22" name="_x364400168" descr="EMB000068ac45bc">
            <a:extLst>
              <a:ext uri="{FF2B5EF4-FFF2-40B4-BE49-F238E27FC236}">
                <a16:creationId xmlns:a16="http://schemas.microsoft.com/office/drawing/2014/main" id="{EB30945D-F0B0-4DEE-AE6E-AFBD0A462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0864" y="3293702"/>
            <a:ext cx="3203575" cy="1970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30288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6. 4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인자 전달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인자 전달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5"/>
            <a:ext cx="8470547" cy="44057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그러면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어떻게 해야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의 값이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4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로 변하게 될까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?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어쩔 수 없이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changeValue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함수의 값으로 증가된 값을 반환하도록 하고 이를 다시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변수에 저장할 수밖에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없음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def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changeValue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val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):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val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=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val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+ 1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return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val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 = 3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 =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changeValue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(a)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print(a)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03374FC-5B1E-4BEC-9799-E8314E910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EC15D9-59D6-4B70-B23B-DBFF5FC26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D322DB-7304-473C-BE18-F1E921F6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11802D2-8E76-445B-8F39-3E537D0D8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9B3BF90-6BDC-4DBB-88A1-09E985517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4E0F2CA-50F7-4A49-98C4-BE467013F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0EC1C4D-5CB5-4EED-915D-FD60C689C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CD694CF-1B6D-4ED4-B351-4CB0EC7DD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DEBE67B-88CB-4BF9-9A8B-1D0A8736B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4317952-6869-4834-A36D-774BE95EF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B05CCF6-090E-4379-9CDC-07B816256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0044DD-832E-49D7-9FF9-65A8829F98B3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59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96445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인자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전달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인자 전달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5"/>
            <a:ext cx="8470547" cy="44057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2000" b="1" dirty="0">
                <a:latin typeface="나눔고딕" panose="020B0600000101010101" charset="-127"/>
                <a:ea typeface="나눔고딕" panose="020B0600000101010101" charset="-127"/>
              </a:rPr>
              <a:t>[</a:t>
            </a:r>
            <a:r>
              <a:rPr lang="ko-KR" altLang="en-US" sz="2000" b="1" dirty="0">
                <a:latin typeface="나눔고딕" panose="020B0600000101010101" charset="-127"/>
                <a:ea typeface="나눔고딕" panose="020B0600000101010101" charset="-127"/>
              </a:rPr>
              <a:t>실습</a:t>
            </a:r>
            <a:r>
              <a:rPr lang="en-US" altLang="ko-KR" sz="2000" b="1" dirty="0">
                <a:latin typeface="나눔고딕" panose="020B0600000101010101" charset="-127"/>
                <a:ea typeface="나눔고딕" panose="020B0600000101010101" charset="-127"/>
              </a:rPr>
              <a:t>] </a:t>
            </a:r>
            <a:r>
              <a:rPr lang="ko-KR" altLang="en-US" sz="2000" b="1" dirty="0">
                <a:latin typeface="나눔고딕" panose="020B0600000101010101" charset="-127"/>
                <a:ea typeface="나눔고딕" panose="020B0600000101010101" charset="-127"/>
              </a:rPr>
              <a:t>두 변수의 값 </a:t>
            </a:r>
            <a:r>
              <a:rPr lang="ko-KR" altLang="en-US" sz="2000" b="1" dirty="0" smtClean="0">
                <a:latin typeface="나눔고딕" panose="020B0600000101010101" charset="-127"/>
                <a:ea typeface="나눔고딕" panose="020B0600000101010101" charset="-127"/>
              </a:rPr>
              <a:t>교환하기</a:t>
            </a:r>
            <a:endParaRPr lang="en-US" altLang="ko-KR" sz="2000" b="1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en-US" altLang="ko-KR" sz="2000" b="1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swap(x, y):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tmp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= x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x = y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y =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tmp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return x, y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data1 = 7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data2 = 5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data1, data2 = swap(data1, data2)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print(data1, data2)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03374FC-5B1E-4BEC-9799-E8314E910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EC15D9-59D6-4B70-B23B-DBFF5FC26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D322DB-7304-473C-BE18-F1E921F6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11802D2-8E76-445B-8F39-3E537D0D8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9B3BF90-6BDC-4DBB-88A1-09E985517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4E0F2CA-50F7-4A49-98C4-BE467013F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0EC1C4D-5CB5-4EED-915D-FD60C689C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CD694CF-1B6D-4ED4-B351-4CB0EC7DD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DEBE67B-88CB-4BF9-9A8B-1D0A8736B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4317952-6869-4834-A36D-774BE95EF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B05CCF6-090E-4379-9CDC-07B816256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9CA1DC-E5DE-44A0-8936-8BDE792E75FE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60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313891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키워드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인자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키워드 인자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5"/>
            <a:ext cx="8470547" cy="48128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경우에 따라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함수 인자의 값을 매개변수 순서가 아닌 다른 순서로 넘겨주고 싶은 경우가 간혹 발생하는데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이런 경우는 인자를 “매개변수명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=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인자” 형태로 넘겨주면 됨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.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이런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형태의 인자를 키워드 인자라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함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endParaRPr lang="en-US" altLang="ko-KR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 err="1" smtClean="0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gap(first, second) 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“두 수의 차이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즉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first – second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를 반환”</a:t>
            </a:r>
          </a:p>
          <a:p>
            <a:pPr marL="400050" lvl="1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diff = first –second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return 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diff</a:t>
            </a:r>
          </a:p>
          <a:p>
            <a:pPr marL="400050" lvl="1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diff = gap(7, 3) 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print(diff)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diff = gap(second=3, first=7)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print(diff)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18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03374FC-5B1E-4BEC-9799-E8314E910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EC15D9-59D6-4B70-B23B-DBFF5FC26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D322DB-7304-473C-BE18-F1E921F6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11802D2-8E76-445B-8F39-3E537D0D8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9B3BF90-6BDC-4DBB-88A1-09E985517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4E0F2CA-50F7-4A49-98C4-BE467013F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0EC1C4D-5CB5-4EED-915D-FD60C689C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CD694CF-1B6D-4ED4-B351-4CB0EC7DD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DEBE67B-88CB-4BF9-9A8B-1D0A8736B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4317952-6869-4834-A36D-774BE95EF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B05CCF6-090E-4379-9CDC-07B816256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3A5BD18-D517-412E-BCF6-F91B743F3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9FCA7384-18E7-4449-B66D-22D1D1722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59D52F5-579F-4B06-B7D0-95CD9BF4E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5022" y="1118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F079AB-D499-456C-A2C6-FBE07D72A7BC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61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87295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디폴트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매개변수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디폴트 매개변수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6"/>
            <a:ext cx="8470547" cy="28662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매개변수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중 반드시 주어지지 않아도 되며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그럴 경우 기본 값으로 처리가 되는 매개변수를 디폴트 매개변수라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함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디폴트 매개변수는 함수 정의 시 “매개변수명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=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기본값” 형식으로 정의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</a:p>
          <a:p>
            <a:pPr marL="400050" lvl="1" indent="0" fontAlgn="base">
              <a:buNone/>
            </a:pPr>
            <a:r>
              <a:rPr lang="en-US" altLang="ko-KR" sz="1800" dirty="0" err="1" smtClean="0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printUser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(name, age = 18) :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	“이름과 나이를 화면에 출력”</a:t>
            </a:r>
          </a:p>
          <a:p>
            <a:pPr marL="400050" lvl="1" indent="0" fontAlgn="base">
              <a:buNone/>
            </a:pP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print(“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이름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: ” + name)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print(“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나이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: ” + age)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return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 smtClean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03374FC-5B1E-4BEC-9799-E8314E910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EC15D9-59D6-4B70-B23B-DBFF5FC26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D322DB-7304-473C-BE18-F1E921F6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11802D2-8E76-445B-8F39-3E537D0D8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9B3BF90-6BDC-4DBB-88A1-09E985517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4E0F2CA-50F7-4A49-98C4-BE467013F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0EC1C4D-5CB5-4EED-915D-FD60C689C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CD694CF-1B6D-4ED4-B351-4CB0EC7DD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DEBE67B-88CB-4BF9-9A8B-1D0A8736B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4317952-6869-4834-A36D-774BE95EF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B05CCF6-090E-4379-9CDC-07B816256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3A5BD18-D517-412E-BCF6-F91B743F3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9FCA7384-18E7-4449-B66D-22D1D1722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59D52F5-579F-4B06-B7D0-95CD9BF4E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CB8044-0EE6-40BA-8EAC-20B1A4675540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62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639743" y="2994168"/>
            <a:ext cx="33837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printUser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("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홍길동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")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printUser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("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이순신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", 55)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4" name="내용 개체 틀 2"/>
          <p:cNvSpPr txBox="1">
            <a:spLocks/>
          </p:cNvSpPr>
          <p:nvPr/>
        </p:nvSpPr>
        <p:spPr>
          <a:xfrm>
            <a:off x="1888803" y="4548852"/>
            <a:ext cx="8470547" cy="4943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그런데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디폴트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매개변수 다음에 일반 매개변수가 오면 오류가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230104" y="511704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printUser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(age = 18, name) 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“이름과 나이를 화면에 출력”</a:t>
            </a: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print(“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이름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: ” + name)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print(“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나이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: ” + age)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return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04143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디폴트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매개변수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디폴트 매개변수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08732" y="1570503"/>
            <a:ext cx="8470547" cy="48734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아래의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함수처럼 두 매개변수 모두가 디폴트로 선언된 경우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예제 코드의 첫 번째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~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세 번째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PrintUser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호출처럼 두 매개변수의 값을 넘겨주지 않아도 되고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하나만 넘겨주어도 되고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아님 모두 넘겨주어도 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en-US" altLang="ko-KR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그러나 일부만 넘겨줄 경우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네 번째 코드처럼 차례대로 대응이 되기 때문에 뒤 쪽 매개변수의 값만 넘겨주기가 불가능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이런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경우는 다섯 번째처럼 키워드 인자를 사용하여 지정해 주어야 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함</a:t>
            </a:r>
            <a:endParaRPr lang="en-US" altLang="ko-KR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def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printUser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(name="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익명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", age=18) :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"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이름과 나이를 화면에 출력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"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print("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이름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: " + name)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print("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나이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: " +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str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(age))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return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18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03374FC-5B1E-4BEC-9799-E8314E910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EC15D9-59D6-4B70-B23B-DBFF5FC26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D322DB-7304-473C-BE18-F1E921F6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11802D2-8E76-445B-8F39-3E537D0D8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9B3BF90-6BDC-4DBB-88A1-09E985517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4E0F2CA-50F7-4A49-98C4-BE467013F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0EC1C4D-5CB5-4EED-915D-FD60C689C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CD694CF-1B6D-4ED4-B351-4CB0EC7DD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DEBE67B-88CB-4BF9-9A8B-1D0A8736B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4317952-6869-4834-A36D-774BE95EF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B05CCF6-090E-4379-9CDC-07B816256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3A5BD18-D517-412E-BCF6-F91B743F3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9FCA7384-18E7-4449-B66D-22D1D1722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59D52F5-579F-4B06-B7D0-95CD9BF4E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FFFB35B3-16A2-4D84-B0E5-37AC35AB6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7FD1A033-EA20-437D-B863-50E9C750D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A6D342-F5B7-4B0D-8918-EFFC375FDC61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63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397689" y="3670050"/>
            <a:ext cx="389711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printUser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printUser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("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김병만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")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printUser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("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김병만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", 55)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printUser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(55) # 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오류</a:t>
            </a:r>
          </a:p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printUser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(age=55)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106262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가변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개수 매개변수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가변 개수 매개변수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0544" y="1349855"/>
            <a:ext cx="8470547" cy="30262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아래처럼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동작하는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printMe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함수를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파이썬에서는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정의할 수 있을까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? </a:t>
            </a:r>
          </a:p>
          <a:p>
            <a:pPr marL="400050" lvl="1" indent="0" fontAlgn="base">
              <a:buNone/>
            </a:pPr>
            <a:r>
              <a:rPr lang="en-US" altLang="ko-KR" sz="1800" dirty="0" err="1" smtClean="0">
                <a:latin typeface="나눔고딕" panose="020B0600000101010101" charset="-127"/>
                <a:ea typeface="나눔고딕" panose="020B0600000101010101" charset="-127"/>
              </a:rPr>
              <a:t>printMe</a:t>
            </a:r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(1); 	</a:t>
            </a:r>
            <a:r>
              <a:rPr lang="en-US" altLang="ko-KR" sz="1800" dirty="0" err="1" smtClean="0">
                <a:latin typeface="나눔고딕" panose="020B0600000101010101" charset="-127"/>
                <a:ea typeface="나눔고딕" panose="020B0600000101010101" charset="-127"/>
              </a:rPr>
              <a:t>printMe</a:t>
            </a:r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(1,2);	</a:t>
            </a:r>
            <a:r>
              <a:rPr lang="en-US" altLang="ko-KR" sz="1800" dirty="0" err="1" smtClean="0">
                <a:latin typeface="나눔고딕" panose="020B0600000101010101" charset="-127"/>
                <a:ea typeface="나눔고딕" panose="020B0600000101010101" charset="-127"/>
              </a:rPr>
              <a:t>printMe</a:t>
            </a:r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(1,2,3);	</a:t>
            </a:r>
            <a:r>
              <a:rPr lang="en-US" altLang="ko-KR" sz="1800" dirty="0" err="1" smtClean="0">
                <a:latin typeface="나눔고딕" panose="020B0600000101010101" charset="-127"/>
                <a:ea typeface="나눔고딕" panose="020B0600000101010101" charset="-127"/>
              </a:rPr>
              <a:t>printMe</a:t>
            </a:r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(1,2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, 3,4, 5, 6</a:t>
            </a:r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)</a:t>
            </a:r>
          </a:p>
          <a:p>
            <a:pPr marL="400050" lvl="1" indent="0" fontAlgn="base">
              <a:buNone/>
            </a:pP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함수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정의 시 가변 개수의 매개변수를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사용하면 됨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가변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개수 매개변수는 매개변수 이름 앞에 *</a:t>
            </a:r>
            <a:r>
              <a:rPr lang="ko-KR" altLang="en-US" sz="1600" dirty="0" err="1">
                <a:latin typeface="나눔고딕" panose="020B0600000101010101" charset="-127"/>
                <a:ea typeface="나눔고딕" panose="020B0600000101010101" charset="-127"/>
              </a:rPr>
              <a:t>를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 붙이면 </a:t>
            </a:r>
            <a:r>
              <a:rPr lang="en-US" altLang="ko-KR" sz="16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r>
              <a:rPr lang="en-US" altLang="ko-KR" sz="1600" dirty="0" smtClean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그러면 이 매개변수에 여러 인자들이 </a:t>
            </a:r>
            <a:r>
              <a:rPr lang="ko-KR" altLang="en-US" sz="1600" dirty="0" err="1">
                <a:latin typeface="나눔고딕" panose="020B0600000101010101" charset="-127"/>
                <a:ea typeface="나눔고딕" panose="020B0600000101010101" charset="-127"/>
              </a:rPr>
              <a:t>튜플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 형태로 저장되어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넘어옴</a:t>
            </a:r>
            <a:r>
              <a:rPr lang="en-US" altLang="ko-KR" sz="16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endParaRPr lang="en-US" altLang="ko-KR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따라서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이 매개변수에 대해서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for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문을 사용하여 각각의 값에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대하여</a:t>
            </a:r>
            <a:r>
              <a:rPr lang="en-US" altLang="ko-KR" sz="1600" dirty="0" smtClean="0">
                <a:latin typeface="나눔고딕" panose="020B0600000101010101" charset="-127"/>
                <a:ea typeface="나눔고딕" panose="020B0600000101010101" charset="-127"/>
              </a:rPr>
              <a:t>.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 처리하면 됨</a:t>
            </a:r>
            <a:r>
              <a:rPr lang="en-US" altLang="ko-KR" sz="1600" dirty="0" smtClean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만약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대응되는 인자가 없을 경우는 빈 </a:t>
            </a:r>
            <a:r>
              <a:rPr lang="ko-KR" altLang="en-US" sz="1600" dirty="0" err="1">
                <a:latin typeface="나눔고딕" panose="020B0600000101010101" charset="-127"/>
                <a:ea typeface="나눔고딕" panose="020B0600000101010101" charset="-127"/>
              </a:rPr>
              <a:t>튜플이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 되게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en-US" altLang="ko-KR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03374FC-5B1E-4BEC-9799-E8314E910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EC15D9-59D6-4B70-B23B-DBFF5FC26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D322DB-7304-473C-BE18-F1E921F6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11802D2-8E76-445B-8F39-3E537D0D8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9B3BF90-6BDC-4DBB-88A1-09E985517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4E0F2CA-50F7-4A49-98C4-BE467013F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0EC1C4D-5CB5-4EED-915D-FD60C689C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CD694CF-1B6D-4ED4-B351-4CB0EC7DD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DEBE67B-88CB-4BF9-9A8B-1D0A8736B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4317952-6869-4834-A36D-774BE95EF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B05CCF6-090E-4379-9CDC-07B816256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3A5BD18-D517-412E-BCF6-F91B743F3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9FCA7384-18E7-4449-B66D-22D1D1722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59D52F5-579F-4B06-B7D0-95CD9BF4E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FFFB35B3-16A2-4D84-B0E5-37AC35AB6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7FD1A033-EA20-437D-B863-50E9C750D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1A0FC3-AD31-4CF5-9D29-A8D9DCD9A4DE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64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107115" y="4244890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printMe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(arg1, *others) 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"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최소한 하나의 인수를 받아들여 출력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"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print(arg1, end=“”)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for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arg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in others: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arg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, end=“”)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return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2576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가변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개수 매개변수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가변 개수 매개변수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6"/>
            <a:ext cx="8470547" cy="38197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그러면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printMe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함수처럼 가변 개수 매개변수는 제일 마지막 매개변수로만 정의해야 하는 것일까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? </a:t>
            </a: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아니다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아래와 같이 가변 개수 매개변수가 다른 위치에 와도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def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printMe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(*others, arg1) 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"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최소한 하나의 인수를 받아들여 출력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"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print(arg1, end=" ")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for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arg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in others: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arg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end=" ")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print()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return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03374FC-5B1E-4BEC-9799-E8314E910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EC15D9-59D6-4B70-B23B-DBFF5FC26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D322DB-7304-473C-BE18-F1E921F6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11802D2-8E76-445B-8F39-3E537D0D8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9B3BF90-6BDC-4DBB-88A1-09E985517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4E0F2CA-50F7-4A49-98C4-BE467013F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0EC1C4D-5CB5-4EED-915D-FD60C689C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CD694CF-1B6D-4ED4-B351-4CB0EC7DD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DEBE67B-88CB-4BF9-9A8B-1D0A8736B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4317952-6869-4834-A36D-774BE95EF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B05CCF6-090E-4379-9CDC-07B816256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3A5BD18-D517-412E-BCF6-F91B743F3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9FCA7384-18E7-4449-B66D-22D1D1722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59D52F5-579F-4B06-B7D0-95CD9BF4E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FFFB35B3-16A2-4D84-B0E5-37AC35AB6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7FD1A033-EA20-437D-B863-50E9C750D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9199AECB-ACD4-4BAD-B041-6D0D7B245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C230C6-49A3-4F1D-A93B-7FAECB017E25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65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381313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가변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개수 매개변수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가변 개수 매개변수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5"/>
            <a:ext cx="8470547" cy="34914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하지만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함수 호출 시 주의하여야 한다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왜냐하면 아래처럼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printMe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함수를 호출하게 되면 모든 인자가 다 가변 개수 매개변수로 넘어가게 되고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그래서 매개변수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arg1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의 값이 주어지지 않은 것으로 해석해서 오류가 발생하게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en-US" altLang="ko-KR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printMe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(1,2,3,4,5,6</a:t>
            </a:r>
            <a:r>
              <a:rPr lang="en-US" altLang="ko-KR" sz="1600" dirty="0" smtClean="0">
                <a:latin typeface="나눔고딕" panose="020B0600000101010101" charset="-127"/>
                <a:ea typeface="나눔고딕" panose="020B0600000101010101" charset="-127"/>
              </a:rPr>
              <a:t>)</a:t>
            </a:r>
          </a:p>
          <a:p>
            <a:pPr marL="400050" lvl="1" indent="0" fontAlgn="base">
              <a:buNone/>
            </a:pPr>
            <a:endParaRPr lang="en-US" altLang="ko-KR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이럴 경우는 아래처럼 키워드 인자를 사용하여 지정하면 됨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printMe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(1,2,3,4,5,arg1=6)</a:t>
            </a:r>
          </a:p>
          <a:p>
            <a:pPr marL="400050" lvl="1" indent="0" fontAlgn="base">
              <a:buNone/>
            </a:pPr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03374FC-5B1E-4BEC-9799-E8314E910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EC15D9-59D6-4B70-B23B-DBFF5FC26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D322DB-7304-473C-BE18-F1E921F6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11802D2-8E76-445B-8F39-3E537D0D8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9B3BF90-6BDC-4DBB-88A1-09E985517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4E0F2CA-50F7-4A49-98C4-BE467013F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0EC1C4D-5CB5-4EED-915D-FD60C689C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CD694CF-1B6D-4ED4-B351-4CB0EC7DD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DEBE67B-88CB-4BF9-9A8B-1D0A8736B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4317952-6869-4834-A36D-774BE95EF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B05CCF6-090E-4379-9CDC-07B816256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3A5BD18-D517-412E-BCF6-F91B743F3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9FCA7384-18E7-4449-B66D-22D1D1722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59D52F5-579F-4B06-B7D0-95CD9BF4E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FFFB35B3-16A2-4D84-B0E5-37AC35AB6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7FD1A033-EA20-437D-B863-50E9C750D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9199AECB-ACD4-4BAD-B041-6D0D7B245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1E072742-D573-47BA-9040-95B6D4BCE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D3A9F9-87FF-44A5-8576-3363685A40B0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66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16898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가변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개수 매개변수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가변 개수 매개변수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7"/>
            <a:ext cx="8470547" cy="30901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미리 정의되지 않는 가변 키워드 인자는 **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를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매개변수 명 앞에 붙여주면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되고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보통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매개변수명은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kwargs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가 됨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def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print</a:t>
            </a:r>
            <a:r>
              <a:rPr lang="en-US" altLang="ko-KR" sz="20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keyword</a:t>
            </a:r>
            <a:r>
              <a:rPr lang="en-US" altLang="ko-KR" sz="20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args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(**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kwargs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):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for keyword, value in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kwargs.items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():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	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print( '{0} = {1}'.format(keyword, value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))</a:t>
            </a: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print</a:t>
            </a:r>
            <a:r>
              <a:rPr lang="en-US" altLang="ko-KR" sz="20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keyword</a:t>
            </a:r>
            <a:r>
              <a:rPr lang="en-US" altLang="ko-KR" sz="20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args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(cow = '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누렁이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', dog = '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멍멍이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', cat = “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야옹이”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03374FC-5B1E-4BEC-9799-E8314E910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EC15D9-59D6-4B70-B23B-DBFF5FC26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D322DB-7304-473C-BE18-F1E921F6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11802D2-8E76-445B-8F39-3E537D0D8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9B3BF90-6BDC-4DBB-88A1-09E985517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4E0F2CA-50F7-4A49-98C4-BE467013F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0EC1C4D-5CB5-4EED-915D-FD60C689C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CD694CF-1B6D-4ED4-B351-4CB0EC7DD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DEBE67B-88CB-4BF9-9A8B-1D0A8736B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4317952-6869-4834-A36D-774BE95EF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B05CCF6-090E-4379-9CDC-07B816256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3A5BD18-D517-412E-BCF6-F91B743F3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9FCA7384-18E7-4449-B66D-22D1D1722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59D52F5-579F-4B06-B7D0-95CD9BF4E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FFFB35B3-16A2-4D84-B0E5-37AC35AB6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7FD1A033-EA20-437D-B863-50E9C750D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9199AECB-ACD4-4BAD-B041-6D0D7B245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1E072742-D573-47BA-9040-95B6D4BCE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AF10E0-F313-4234-AD0E-CC7CB79DCF3D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67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5143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함수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오버로딩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함수 오버로딩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6"/>
            <a:ext cx="8470547" cy="38739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기존의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함수 이름과 동일한 이름으로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대신에 매개변수의 개수가 다르거나 매개변수의 타입이 다르게 정의하는 것을 함수 중복정의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(overloading)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이라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함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그런데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파이썬에는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매개변수의 타입이 없으므로 매개변수의 개수가 다르면서 동일한 이름으로 함수 정의가 가능할까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?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즉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아래와 같이 두 개의 함수를 정의할 수 있을까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?</a:t>
            </a:r>
          </a:p>
          <a:p>
            <a:pPr fontAlgn="base"/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def add(num1, num2) :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"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두 개의 수를 받아들여 그 합을 반환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"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res = num1 + num2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return res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03374FC-5B1E-4BEC-9799-E8314E910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EC15D9-59D6-4B70-B23B-DBFF5FC26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D322DB-7304-473C-BE18-F1E921F6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11802D2-8E76-445B-8F39-3E537D0D8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9B3BF90-6BDC-4DBB-88A1-09E985517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4E0F2CA-50F7-4A49-98C4-BE467013F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0EC1C4D-5CB5-4EED-915D-FD60C689C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CD694CF-1B6D-4ED4-B351-4CB0EC7DD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DEBE67B-88CB-4BF9-9A8B-1D0A8736B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4317952-6869-4834-A36D-774BE95EF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B05CCF6-090E-4379-9CDC-07B816256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3A5BD18-D517-412E-BCF6-F91B743F3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9FCA7384-18E7-4449-B66D-22D1D1722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59D52F5-579F-4B06-B7D0-95CD9BF4E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FFFB35B3-16A2-4D84-B0E5-37AC35AB6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7FD1A033-EA20-437D-B863-50E9C750D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9199AECB-ACD4-4BAD-B041-6D0D7B245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1E072742-D573-47BA-9040-95B6D4BCE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7C46B267-2199-41A9-B075-5B965FC70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E772AA-D356-4FE8-895E-C3B7C6D1E27B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68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481666" y="3883196"/>
            <a:ext cx="42951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add(num1, num2, num3) 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"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두 개의 수를 받아들여 그 합을 반환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"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res = num1 + num2 + num3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return res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550363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함수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오버로딩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함수 오버로딩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6"/>
            <a:ext cx="8470547" cy="34540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이렇게 정의하여도 오류가 발생하지 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않지만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아래와 같이 위 함수들을 호출하면 첫 번째 호출에 대해서 인자의 개수가 부족하다는 오류가 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발생</a:t>
            </a:r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endParaRPr lang="en-US" altLang="ko-KR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이는 같은 이름으로 함수를 정의하면 먼저 정의된 함수를 덮어 써 결국 인수 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3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개짜리 </a:t>
            </a:r>
            <a:r>
              <a:rPr lang="en-US" altLang="ko-KR" sz="1400" dirty="0">
                <a:latin typeface="나눔고딕" panose="020B0600000101010101" charset="-127"/>
                <a:ea typeface="나눔고딕" panose="020B0600000101010101" charset="-127"/>
              </a:rPr>
              <a:t>add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만 </a:t>
            </a:r>
            <a:r>
              <a:rPr lang="ko-KR" altLang="en-US" sz="1400" dirty="0" smtClean="0">
                <a:latin typeface="나눔고딕" panose="020B0600000101010101" charset="-127"/>
                <a:ea typeface="나눔고딕" panose="020B0600000101010101" charset="-127"/>
              </a:rPr>
              <a:t>존재</a:t>
            </a:r>
            <a:endParaRPr lang="en-US" altLang="ko-KR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x = add(3, 5)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print(x)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y = add(3, 5, 7)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print(y)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1800" b="1" dirty="0" smtClean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  <a:p>
            <a:endParaRPr lang="en-US" altLang="ko-KR" sz="18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우회적으로 함수 오버로딩을 구현할 수는 있지만</a:t>
            </a:r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800" dirty="0" err="1">
                <a:latin typeface="나눔고딕" panose="020B0600000101010101" charset="-127"/>
                <a:ea typeface="나눔고딕" panose="020B0600000101010101" charset="-127"/>
              </a:rPr>
              <a:t>파이썬에서는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 기본적으로 함수 중복 정의는 허용되지 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않음</a:t>
            </a:r>
            <a:endParaRPr lang="en-US" altLang="ko-KR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18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03374FC-5B1E-4BEC-9799-E8314E910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EC15D9-59D6-4B70-B23B-DBFF5FC26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D322DB-7304-473C-BE18-F1E921F6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11802D2-8E76-445B-8F39-3E537D0D8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9B3BF90-6BDC-4DBB-88A1-09E985517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4E0F2CA-50F7-4A49-98C4-BE467013F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0EC1C4D-5CB5-4EED-915D-FD60C689C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CD694CF-1B6D-4ED4-B351-4CB0EC7DD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DEBE67B-88CB-4BF9-9A8B-1D0A8736B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4317952-6869-4834-A36D-774BE95EF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B05CCF6-090E-4379-9CDC-07B816256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3A5BD18-D517-412E-BCF6-F91B743F3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9FCA7384-18E7-4449-B66D-22D1D1722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59D52F5-579F-4B06-B7D0-95CD9BF4E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FFFB35B3-16A2-4D84-B0E5-37AC35AB6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7FD1A033-EA20-437D-B863-50E9C750D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9199AECB-ACD4-4BAD-B041-6D0D7B245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1E072742-D573-47BA-9040-95B6D4BCE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7C46B267-2199-41A9-B075-5B965FC70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7B5AAA92-AF20-487D-96D8-D246144ED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66CA44-0157-452B-954E-A0C413AAD287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69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091404" y="2639858"/>
            <a:ext cx="5576596" cy="203132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# add 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함수를 디폴트 매개변수를 사용하여 구현</a:t>
            </a:r>
            <a:endParaRPr lang="en-US" altLang="ko-KR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add(num1, num2, num3 = None):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if num3 is None: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2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res = num1 + num2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else: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2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res = num1 + num2 + num3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return res</a:t>
            </a:r>
          </a:p>
        </p:txBody>
      </p:sp>
    </p:spTree>
    <p:extLst>
      <p:ext uri="{BB962C8B-B14F-4D97-AF65-F5344CB8AC3E}">
        <p14:creationId xmlns:p14="http://schemas.microsoft.com/office/powerpoint/2010/main" val="157084036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변수의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유효 범위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변수의 유효 범위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6"/>
            <a:ext cx="8470547" cy="4766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다른 언어처럼 변수는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지역변수냐 전역변수냐에 따라 생존 시기가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달라짐</a:t>
            </a:r>
            <a:endParaRPr lang="en-US" altLang="ko-KR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참고로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C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나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C++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언어인 경우는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static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지역 변수가 있어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함수 내에서만 접근 가능하지만 프로그램 실행 내내 존재하는 변수가 있음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하지만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파이썬에는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이에 대응되는 변수가 없고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우회적으로 비슷하게 구현할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수는 있음</a:t>
            </a:r>
            <a:endParaRPr lang="en-US" altLang="ko-KR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지역변수는 선언된 함수 안에서만 사용할 수 있고 그 외의 지역에서는 사용할 수 없음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03374FC-5B1E-4BEC-9799-E8314E910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EC15D9-59D6-4B70-B23B-DBFF5FC26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D322DB-7304-473C-BE18-F1E921F6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11802D2-8E76-445B-8F39-3E537D0D8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9B3BF90-6BDC-4DBB-88A1-09E985517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4E0F2CA-50F7-4A49-98C4-BE467013F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0EC1C4D-5CB5-4EED-915D-FD60C689C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CD694CF-1B6D-4ED4-B351-4CB0EC7DD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DEBE67B-88CB-4BF9-9A8B-1D0A8736B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4317952-6869-4834-A36D-774BE95EF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B05CCF6-090E-4379-9CDC-07B816256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3A5BD18-D517-412E-BCF6-F91B743F3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9FCA7384-18E7-4449-B66D-22D1D1722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59D52F5-579F-4B06-B7D0-95CD9BF4E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FFFB35B3-16A2-4D84-B0E5-37AC35AB6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7FD1A033-EA20-437D-B863-50E9C750D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9199AECB-ACD4-4BAD-B041-6D0D7B245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1E072742-D573-47BA-9040-95B6D4BCE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7C46B267-2199-41A9-B075-5B965FC70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FF7A09-882B-430D-8E65-9512CC2DAF37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70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143162" y="4387570"/>
            <a:ext cx="394864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sz="2000" b="1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ko-KR" altLang="en-US" sz="2000" b="1" dirty="0">
                <a:latin typeface="나눔고딕" panose="020B0600000101010101" charset="-127"/>
                <a:ea typeface="나눔고딕" panose="020B0600000101010101" charset="-127"/>
              </a:rPr>
              <a:t>함수 정의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add( arg1, arg2 ):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total = arg1 + arg2; 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("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함수 내 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: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", total)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return total;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6522099" y="4490206"/>
            <a:ext cx="38634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b="1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ko-KR" altLang="en-US" b="1" dirty="0">
                <a:latin typeface="나눔고딕" panose="020B0600000101010101" charset="-127"/>
                <a:ea typeface="나눔고딕" panose="020B0600000101010101" charset="-127"/>
              </a:rPr>
              <a:t>함수 호출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add(10,20);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("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함수 밖 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: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", total) # 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오류</a:t>
            </a:r>
            <a:endParaRPr lang="en-US" altLang="ko-KR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281375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변수의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유효 범위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변수의 유효 범위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6"/>
            <a:ext cx="8470547" cy="4352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아래와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같이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add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함수 밖에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total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변수를 선언하면 어떻게 될까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?</a:t>
            </a:r>
          </a:p>
          <a:p>
            <a:pPr fontAlgn="base"/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total = 0</a:t>
            </a:r>
          </a:p>
          <a:p>
            <a:pPr marL="0" indent="0" fontAlgn="base">
              <a:buNone/>
            </a:pP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b="1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ko-KR" altLang="en-US" sz="2000" b="1" dirty="0">
                <a:latin typeface="나눔고딕" panose="020B0600000101010101" charset="-127"/>
                <a:ea typeface="나눔고딕" panose="020B0600000101010101" charset="-127"/>
              </a:rPr>
              <a:t>함수 정의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b="1" dirty="0">
                <a:latin typeface="나눔고딕" panose="020B0600000101010101" charset="-127"/>
                <a:ea typeface="나눔고딕" panose="020B0600000101010101" charset="-127"/>
              </a:rPr>
              <a:t>def add( arg1, arg2 ):</a:t>
            </a: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total = arg1 + arg2; </a:t>
            </a: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("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함수 내 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: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", total)</a:t>
            </a: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return total;</a:t>
            </a:r>
          </a:p>
          <a:p>
            <a:pPr marL="0" indent="0" fontAlgn="base">
              <a:buNone/>
            </a:pPr>
            <a:r>
              <a:rPr lang="en-US" altLang="ko-KR" sz="2000" b="1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ko-KR" altLang="en-US" sz="2000" b="1" dirty="0">
                <a:latin typeface="나눔고딕" panose="020B0600000101010101" charset="-127"/>
                <a:ea typeface="나눔고딕" panose="020B0600000101010101" charset="-127"/>
              </a:rPr>
              <a:t>함수 호출</a:t>
            </a: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add(10,20);</a:t>
            </a: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("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함수 밖 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: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", total)</a:t>
            </a: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03374FC-5B1E-4BEC-9799-E8314E910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EC15D9-59D6-4B70-B23B-DBFF5FC26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D322DB-7304-473C-BE18-F1E921F6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11802D2-8E76-445B-8F39-3E537D0D8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9B3BF90-6BDC-4DBB-88A1-09E985517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4E0F2CA-50F7-4A49-98C4-BE467013F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0EC1C4D-5CB5-4EED-915D-FD60C689C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CD694CF-1B6D-4ED4-B351-4CB0EC7DD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DEBE67B-88CB-4BF9-9A8B-1D0A8736B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4317952-6869-4834-A36D-774BE95EF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B05CCF6-090E-4379-9CDC-07B816256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3A5BD18-D517-412E-BCF6-F91B743F3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9FCA7384-18E7-4449-B66D-22D1D1722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59D52F5-579F-4B06-B7D0-95CD9BF4E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FFFB35B3-16A2-4D84-B0E5-37AC35AB6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7FD1A033-EA20-437D-B863-50E9C750D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9199AECB-ACD4-4BAD-B041-6D0D7B245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1E072742-D573-47BA-9040-95B6D4BCE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7C46B267-2199-41A9-B075-5B965FC70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C9814D9D-02EB-4A36-9A96-0A8505C72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FB530A57-FA53-48EF-8CBC-60A1B99B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D575CD-713E-429D-97DF-DA419A7AC337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71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996846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변수의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유효 범위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변수의 유효 범위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6"/>
            <a:ext cx="8470547" cy="49035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만약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add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함수 안에 있는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total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변수도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add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함수 밖에 있는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total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변수를 의미하도록 하려면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어떻게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하면 될까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?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03374FC-5B1E-4BEC-9799-E8314E910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EC15D9-59D6-4B70-B23B-DBFF5FC26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D322DB-7304-473C-BE18-F1E921F6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11802D2-8E76-445B-8F39-3E537D0D8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9B3BF90-6BDC-4DBB-88A1-09E985517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4E0F2CA-50F7-4A49-98C4-BE467013F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0EC1C4D-5CB5-4EED-915D-FD60C689C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CD694CF-1B6D-4ED4-B351-4CB0EC7DD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DEBE67B-88CB-4BF9-9A8B-1D0A8736B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4317952-6869-4834-A36D-774BE95EF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B05CCF6-090E-4379-9CDC-07B816256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3A5BD18-D517-412E-BCF6-F91B743F3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9FCA7384-18E7-4449-B66D-22D1D1722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59D52F5-579F-4B06-B7D0-95CD9BF4E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FFFB35B3-16A2-4D84-B0E5-37AC35AB6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7FD1A033-EA20-437D-B863-50E9C750D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9199AECB-ACD4-4BAD-B041-6D0D7B245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1E072742-D573-47BA-9040-95B6D4BCE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7C46B267-2199-41A9-B075-5B965FC70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C9814D9D-02EB-4A36-9A96-0A8505C72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FB530A57-FA53-48EF-8CBC-60A1B99B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465D792D-C59D-4F9C-9EDC-3B952B6C5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7F211D-7934-4EE8-BB01-D86EC3A6650B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72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0" name="내용 개체 틀 2"/>
          <p:cNvSpPr txBox="1">
            <a:spLocks/>
          </p:cNvSpPr>
          <p:nvPr/>
        </p:nvSpPr>
        <p:spPr>
          <a:xfrm>
            <a:off x="1990624" y="2567035"/>
            <a:ext cx="8470547" cy="37060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2000" b="1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ko-KR" altLang="en-US" sz="2000" b="1" dirty="0">
                <a:latin typeface="나눔고딕" panose="020B0600000101010101" charset="-127"/>
                <a:ea typeface="나눔고딕" panose="020B0600000101010101" charset="-127"/>
              </a:rPr>
              <a:t>함수 정의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def add( arg1, arg2 ):</a:t>
            </a:r>
          </a:p>
          <a:p>
            <a:pPr marL="0" indent="0" fontAlgn="base">
              <a:buNone/>
            </a:pPr>
            <a:r>
              <a:rPr lang="en-US" altLang="ko-KR" sz="2000" b="1" dirty="0">
                <a:latin typeface="나눔고딕" panose="020B0600000101010101" charset="-127"/>
                <a:ea typeface="나눔고딕" panose="020B0600000101010101" charset="-127"/>
              </a:rPr>
              <a:t>global </a:t>
            </a:r>
            <a:r>
              <a:rPr lang="en-US" altLang="ko-KR" sz="2000" b="1" dirty="0" smtClean="0">
                <a:latin typeface="나눔고딕" panose="020B0600000101010101" charset="-127"/>
                <a:ea typeface="나눔고딕" panose="020B0600000101010101" charset="-127"/>
              </a:rPr>
              <a:t>total  # global </a:t>
            </a:r>
            <a:r>
              <a:rPr lang="ko-KR" altLang="en-US" sz="2000" b="1" dirty="0" smtClean="0">
                <a:latin typeface="나눔고딕" panose="020B0600000101010101" charset="-127"/>
                <a:ea typeface="나눔고딕" panose="020B0600000101010101" charset="-127"/>
              </a:rPr>
              <a:t>키워드를 사용하여 전역 변수임을 알려줘야 함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total = arg1 + arg2; </a:t>
            </a: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print("Inside the function local total : ", total)</a:t>
            </a: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return total;</a:t>
            </a:r>
          </a:p>
          <a:p>
            <a:pPr marL="0" indent="0" fontAlgn="base">
              <a:buNone/>
            </a:pP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b="1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ko-KR" altLang="en-US" sz="2000" b="1" dirty="0">
                <a:latin typeface="나눔고딕" panose="020B0600000101010101" charset="-127"/>
                <a:ea typeface="나눔고딕" panose="020B0600000101010101" charset="-127"/>
              </a:rPr>
              <a:t>함수 호출</a:t>
            </a: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add(10,20);</a:t>
            </a: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print("Outside the function global total : ", total)</a:t>
            </a: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093283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6. 12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함수 객체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함수 객체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6"/>
            <a:ext cx="8470547" cy="45267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err="1" smtClean="0">
                <a:latin typeface="나눔고딕" panose="020B0600000101010101" charset="-127"/>
                <a:ea typeface="나눔고딕" panose="020B0600000101010101" charset="-127"/>
              </a:rPr>
              <a:t>파이썬에서는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함수도 일반 데이터처럼 변수에 저장할 수도 있고 인수로 전달할 수도 있음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즉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함수도 일종의 객체로 취급이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03374FC-5B1E-4BEC-9799-E8314E910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EC15D9-59D6-4B70-B23B-DBFF5FC26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D322DB-7304-473C-BE18-F1E921F6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11802D2-8E76-445B-8F39-3E537D0D8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9B3BF90-6BDC-4DBB-88A1-09E985517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4E0F2CA-50F7-4A49-98C4-BE467013F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0EC1C4D-5CB5-4EED-915D-FD60C689C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CD694CF-1B6D-4ED4-B351-4CB0EC7DD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DEBE67B-88CB-4BF9-9A8B-1D0A8736B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4317952-6869-4834-A36D-774BE95EF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B05CCF6-090E-4379-9CDC-07B816256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3A5BD18-D517-412E-BCF6-F91B743F3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9FCA7384-18E7-4449-B66D-22D1D1722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59D52F5-579F-4B06-B7D0-95CD9BF4E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FFFB35B3-16A2-4D84-B0E5-37AC35AB6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7FD1A033-EA20-437D-B863-50E9C750D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9199AECB-ACD4-4BAD-B041-6D0D7B245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1E072742-D573-47BA-9040-95B6D4BCE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7C46B267-2199-41A9-B075-5B965FC70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C9814D9D-02EB-4A36-9A96-0A8505C72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FB530A57-FA53-48EF-8CBC-60A1B99B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465D792D-C59D-4F9C-9EDC-3B952B6C5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EDB17B34-0FE6-4646-AEA4-BE61264F4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C8A999-D12B-4503-82BD-8483FD536C2B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73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140729" y="2410568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b="1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ko-KR" altLang="en-US" b="1" dirty="0">
                <a:latin typeface="나눔고딕" panose="020B0600000101010101" charset="-127"/>
                <a:ea typeface="나눔고딕" panose="020B0600000101010101" charset="-127"/>
              </a:rPr>
              <a:t>함수 정의</a:t>
            </a:r>
          </a:p>
          <a:p>
            <a:pPr fontAlgn="base"/>
            <a:r>
              <a:rPr lang="en-US" altLang="ko-KR" b="1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b="1" dirty="0">
                <a:latin typeface="나눔고딕" panose="020B0600000101010101" charset="-127"/>
                <a:ea typeface="나눔고딕" panose="020B0600000101010101" charset="-127"/>
              </a:rPr>
              <a:t> add( arg1, arg2 ):</a:t>
            </a:r>
            <a:endParaRPr lang="ko-KR" altLang="en-US" b="1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total = arg1 + arg2 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return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total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5389983" y="245388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b="1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ko-KR" altLang="en-US" b="1" dirty="0">
                <a:latin typeface="나눔고딕" panose="020B0600000101010101" charset="-127"/>
                <a:ea typeface="나눔고딕" panose="020B0600000101010101" charset="-127"/>
              </a:rPr>
              <a:t>변수에 함수 저장 및 호출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f = add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sum = f(10, 20)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(“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합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 :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", sum)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4" name="내용 개체 틀 2"/>
          <p:cNvSpPr txBox="1">
            <a:spLocks/>
          </p:cNvSpPr>
          <p:nvPr/>
        </p:nvSpPr>
        <p:spPr>
          <a:xfrm>
            <a:off x="1824256" y="3697525"/>
            <a:ext cx="8470547" cy="21505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함수를 다른 함수의 인자로 넘겨 줄 수도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def add( arg1, arg2 ): return arg1 + arg2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def subtract( arg1, arg2 ): return arg1 - arg2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def multiply( arg1, arg2 ): return arg1 * arg2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def divide( arg1, arg2 ): return arg1 / arg2</a:t>
            </a:r>
          </a:p>
          <a:p>
            <a:pPr marL="400050" lvl="1" indent="0" fontAlgn="base">
              <a:buNone/>
            </a:pPr>
            <a:r>
              <a:rPr lang="en-US" altLang="ko-KR" sz="1800" dirty="0" err="1" smtClean="0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apply(x, y,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func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) : return </a:t>
            </a:r>
            <a:r>
              <a:rPr lang="en-US" altLang="ko-KR" sz="1800" dirty="0" err="1">
                <a:latin typeface="나눔고딕" panose="020B0600000101010101" charset="-127"/>
                <a:ea typeface="나눔고딕" panose="020B0600000101010101" charset="-127"/>
              </a:rPr>
              <a:t>func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(x, y)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2230104" y="593467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for f in (add, subtract, multiply, divide) 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print(apply(5, 3, f))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74577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익명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함수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익명 함수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5"/>
            <a:ext cx="8470547" cy="3881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익명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함수란 이름이 없는 함수로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기존의 함수 정의처럼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def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키워드를 사용하여 정의하지 않고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대신에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lambda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키워드를 사용하여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정의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익명함수는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여러 인자를 받아들여 이들을 하나의 수식에 적용하여 그 결과를 넘겨주기 때문에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다른 명령문이나 여러 수식을 사용할 수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없음</a:t>
            </a:r>
            <a:endParaRPr lang="en-US" altLang="ko-KR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lambda[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매개변수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1 [,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매개변수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2,.....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매개변수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n]] :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수식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03374FC-5B1E-4BEC-9799-E8314E910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EC15D9-59D6-4B70-B23B-DBFF5FC26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D322DB-7304-473C-BE18-F1E921F6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11802D2-8E76-445B-8F39-3E537D0D8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9B3BF90-6BDC-4DBB-88A1-09E985517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4E0F2CA-50F7-4A49-98C4-BE467013F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0EC1C4D-5CB5-4EED-915D-FD60C689C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CD694CF-1B6D-4ED4-B351-4CB0EC7DD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DEBE67B-88CB-4BF9-9A8B-1D0A8736B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4317952-6869-4834-A36D-774BE95EF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B05CCF6-090E-4379-9CDC-07B816256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3A5BD18-D517-412E-BCF6-F91B743F3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9FCA7384-18E7-4449-B66D-22D1D1722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59D52F5-579F-4B06-B7D0-95CD9BF4E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FFFB35B3-16A2-4D84-B0E5-37AC35AB6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7FD1A033-EA20-437D-B863-50E9C750D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9199AECB-ACD4-4BAD-B041-6D0D7B245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1E072742-D573-47BA-9040-95B6D4BCE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7C46B267-2199-41A9-B075-5B965FC70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C9814D9D-02EB-4A36-9A96-0A8505C72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FB530A57-FA53-48EF-8CBC-60A1B99B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465D792D-C59D-4F9C-9EDC-3B952B6C5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EDB17B34-0FE6-4646-AEA4-BE61264F4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0" name="Rectangle 2">
            <a:extLst>
              <a:ext uri="{FF2B5EF4-FFF2-40B4-BE49-F238E27FC236}">
                <a16:creationId xmlns:a16="http://schemas.microsoft.com/office/drawing/2014/main" id="{7BDBA3EB-F71D-4905-A427-70DFD81CA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254DFF-545A-489D-8448-9A541C9193FA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74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2" name="내용 개체 틀 2"/>
          <p:cNvSpPr txBox="1">
            <a:spLocks/>
          </p:cNvSpPr>
          <p:nvPr/>
        </p:nvSpPr>
        <p:spPr>
          <a:xfrm>
            <a:off x="1856529" y="3860432"/>
            <a:ext cx="8470547" cy="24463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아래의 예제는 두 수를 합하는 기능을 일반 함수와 익명 함수로 작성한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예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일반 함수</a:t>
            </a: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def add(v1, v2) : return v1 + 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v2</a:t>
            </a:r>
          </a:p>
          <a:p>
            <a:pPr marL="0" indent="0" fontAlgn="base">
              <a:buNone/>
            </a:pP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Sum = add(4,5)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173755" y="4730809"/>
            <a:ext cx="45937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익명 함수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add2 = lambda v1, v2 : v1 + 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v2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sum = add2(4, 5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en-US" altLang="ko-KR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1856529" y="6014078"/>
            <a:ext cx="8529058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익명함수인 경우는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return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문이 없으며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자동으로 수식의 결과가 반환이 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242292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익명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함수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익명 함수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5"/>
            <a:ext cx="8470547" cy="47222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익명함수는 함수 자체를 데이터처럼 취급할 수 있기 때문에 함수의 결과 값으로 익명함수를 반환할 수 있음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이런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특징을 이용하여 함수를 생성하는 함수를 작성할 수도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</a:p>
          <a:p>
            <a:pPr fontAlgn="base"/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 err="1" smtClean="0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makeIncrementor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(n) : return lambda x : x + n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03374FC-5B1E-4BEC-9799-E8314E910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EC15D9-59D6-4B70-B23B-DBFF5FC26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D322DB-7304-473C-BE18-F1E921F6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11802D2-8E76-445B-8F39-3E537D0D8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9B3BF90-6BDC-4DBB-88A1-09E985517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4E0F2CA-50F7-4A49-98C4-BE467013F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0EC1C4D-5CB5-4EED-915D-FD60C689C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CD694CF-1B6D-4ED4-B351-4CB0EC7DD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DEBE67B-88CB-4BF9-9A8B-1D0A8736B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4317952-6869-4834-A36D-774BE95EF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B05CCF6-090E-4379-9CDC-07B816256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3A5BD18-D517-412E-BCF6-F91B743F3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9FCA7384-18E7-4449-B66D-22D1D1722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59D52F5-579F-4B06-B7D0-95CD9BF4E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FFFB35B3-16A2-4D84-B0E5-37AC35AB6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7FD1A033-EA20-437D-B863-50E9C750D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9199AECB-ACD4-4BAD-B041-6D0D7B245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1E072742-D573-47BA-9040-95B6D4BCE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7C46B267-2199-41A9-B075-5B965FC70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C9814D9D-02EB-4A36-9A96-0A8505C72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FB530A57-FA53-48EF-8CBC-60A1B99B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465D792D-C59D-4F9C-9EDC-3B952B6C5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EDB17B34-0FE6-4646-AEA4-BE61264F4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0" name="Rectangle 2">
            <a:extLst>
              <a:ext uri="{FF2B5EF4-FFF2-40B4-BE49-F238E27FC236}">
                <a16:creationId xmlns:a16="http://schemas.microsoft.com/office/drawing/2014/main" id="{7BDBA3EB-F71D-4905-A427-70DFD81CA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73B8A3-4B75-4EE5-BE38-C7846CFBEAB0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75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242545" y="3751106"/>
            <a:ext cx="303555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f =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makeIncrementor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(1)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newval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f(5)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newval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6001362" y="3685792"/>
            <a:ext cx="27743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g =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makeIncrementor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(2)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newval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g(5)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newval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569828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익명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함수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익명 함수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5"/>
            <a:ext cx="8470547" cy="28849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익명함수는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filter, map, reduce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등과 같이 사용될 때 그 유용성이 높아지게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filter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는 시퀀스 데이터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리스트 등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에 대해 특정 조건을 만족시키는 원소만 추출하고자 할 경우에 사용하며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filter(function, sequence)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형식으로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사용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def f(x) : return (x % 2) == 0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print(list(filter(f, range(-5, 5))))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03374FC-5B1E-4BEC-9799-E8314E910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EC15D9-59D6-4B70-B23B-DBFF5FC26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D322DB-7304-473C-BE18-F1E921F6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11802D2-8E76-445B-8F39-3E537D0D8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9B3BF90-6BDC-4DBB-88A1-09E985517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4E0F2CA-50F7-4A49-98C4-BE467013F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0EC1C4D-5CB5-4EED-915D-FD60C689C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CD694CF-1B6D-4ED4-B351-4CB0EC7DD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DEBE67B-88CB-4BF9-9A8B-1D0A8736B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4317952-6869-4834-A36D-774BE95EF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B05CCF6-090E-4379-9CDC-07B816256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3A5BD18-D517-412E-BCF6-F91B743F3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9FCA7384-18E7-4449-B66D-22D1D1722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59D52F5-579F-4B06-B7D0-95CD9BF4E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FFFB35B3-16A2-4D84-B0E5-37AC35AB6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7FD1A033-EA20-437D-B863-50E9C750D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9199AECB-ACD4-4BAD-B041-6D0D7B245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1E072742-D573-47BA-9040-95B6D4BCE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7C46B267-2199-41A9-B075-5B965FC70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C9814D9D-02EB-4A36-9A96-0A8505C72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FB530A57-FA53-48EF-8CBC-60A1B99B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465D792D-C59D-4F9C-9EDC-3B952B6C5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EDB17B34-0FE6-4646-AEA4-BE61264F4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0" name="Rectangle 2">
            <a:extLst>
              <a:ext uri="{FF2B5EF4-FFF2-40B4-BE49-F238E27FC236}">
                <a16:creationId xmlns:a16="http://schemas.microsoft.com/office/drawing/2014/main" id="{7BDBA3EB-F71D-4905-A427-70DFD81CA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147656-A3E4-494C-A7DD-12C981EE080C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76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865845" y="3628349"/>
            <a:ext cx="5050971" cy="6463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filter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의 결과가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filter 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객체이기 때문에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list 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객체로 변환해야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 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문으로 그 결과를 확인할 수 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endParaRPr lang="en-US" altLang="ko-KR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4" name="내용 개체 틀 2"/>
          <p:cNvSpPr txBox="1">
            <a:spLocks/>
          </p:cNvSpPr>
          <p:nvPr/>
        </p:nvSpPr>
        <p:spPr>
          <a:xfrm>
            <a:off x="1787455" y="4661351"/>
            <a:ext cx="8470547" cy="15413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보통 위의 예제처럼 필터링 함수를 별도로 정의하기 보다는 익명함수 형태로 많이 사용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print(list(filter(lambda x : (x % 2) == 0, range(-5, 5))))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559990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익명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함수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익명 함수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4"/>
            <a:ext cx="8470547" cy="34380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map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은 시퀀스 데이터의 각 원소에 대해서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조작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또는 연산을 적용할 경우에 사용하며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적용할 연산을 기술할 경우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filter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와 마찬가지로 별도의 함수로 정의해도 되고 익명함수 형태로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사용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example = [1, 2, 3, 4, 5, 6]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print(list(map(lambda x: x * x, example)))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03374FC-5B1E-4BEC-9799-E8314E910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EC15D9-59D6-4B70-B23B-DBFF5FC26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D322DB-7304-473C-BE18-F1E921F6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11802D2-8E76-445B-8F39-3E537D0D8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9B3BF90-6BDC-4DBB-88A1-09E985517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4E0F2CA-50F7-4A49-98C4-BE467013F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0EC1C4D-5CB5-4EED-915D-FD60C689C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CD694CF-1B6D-4ED4-B351-4CB0EC7DD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DEBE67B-88CB-4BF9-9A8B-1D0A8736B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4317952-6869-4834-A36D-774BE95EF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B05CCF6-090E-4379-9CDC-07B816256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3A5BD18-D517-412E-BCF6-F91B743F3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9FCA7384-18E7-4449-B66D-22D1D1722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59D52F5-579F-4B06-B7D0-95CD9BF4E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FFFB35B3-16A2-4D84-B0E5-37AC35AB6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7FD1A033-EA20-437D-B863-50E9C750D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9199AECB-ACD4-4BAD-B041-6D0D7B245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1E072742-D573-47BA-9040-95B6D4BCE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7C46B267-2199-41A9-B075-5B965FC70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C9814D9D-02EB-4A36-9A96-0A8505C72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FB530A57-FA53-48EF-8CBC-60A1B99B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465D792D-C59D-4F9C-9EDC-3B952B6C5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EDB17B34-0FE6-4646-AEA4-BE61264F4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0" name="Rectangle 2">
            <a:extLst>
              <a:ext uri="{FF2B5EF4-FFF2-40B4-BE49-F238E27FC236}">
                <a16:creationId xmlns:a16="http://schemas.microsoft.com/office/drawing/2014/main" id="{7BDBA3EB-F71D-4905-A427-70DFD81CA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2" name="Rectangle 2">
            <a:extLst>
              <a:ext uri="{FF2B5EF4-FFF2-40B4-BE49-F238E27FC236}">
                <a16:creationId xmlns:a16="http://schemas.microsoft.com/office/drawing/2014/main" id="{598A8B8D-8CEF-496D-8357-F6BEED180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902D49-9B39-4DF3-A52B-2ADEA9EB96F5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77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752959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익명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함수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익명 함수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4"/>
            <a:ext cx="8470547" cy="48128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reduce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는 시퀀스 데이터의 앞 두 개의 값에 대해 주어진 연산을 적용하여 하나의 값으로 바꾸는 과정을 계속적으로 적용하여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결국 하나의 값만 남을 때까지 반복 적용하여 최종 값을 반환하는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함수임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f = lambda x, y: x + y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print(reduce(f, example))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03374FC-5B1E-4BEC-9799-E8314E910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EC15D9-59D6-4B70-B23B-DBFF5FC26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D322DB-7304-473C-BE18-F1E921F6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11802D2-8E76-445B-8F39-3E537D0D8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9B3BF90-6BDC-4DBB-88A1-09E985517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4E0F2CA-50F7-4A49-98C4-BE467013F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0EC1C4D-5CB5-4EED-915D-FD60C689C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CD694CF-1B6D-4ED4-B351-4CB0EC7DD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DEBE67B-88CB-4BF9-9A8B-1D0A8736B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4317952-6869-4834-A36D-774BE95EF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B05CCF6-090E-4379-9CDC-07B816256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3A5BD18-D517-412E-BCF6-F91B743F3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9FCA7384-18E7-4449-B66D-22D1D1722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59D52F5-579F-4B06-B7D0-95CD9BF4E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FFFB35B3-16A2-4D84-B0E5-37AC35AB6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7FD1A033-EA20-437D-B863-50E9C750D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9199AECB-ACD4-4BAD-B041-6D0D7B245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1E072742-D573-47BA-9040-95B6D4BCE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7C46B267-2199-41A9-B075-5B965FC70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C9814D9D-02EB-4A36-9A96-0A8505C72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FB530A57-FA53-48EF-8CBC-60A1B99B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465D792D-C59D-4F9C-9EDC-3B952B6C5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EDB17B34-0FE6-4646-AEA4-BE61264F4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0" name="Rectangle 2">
            <a:extLst>
              <a:ext uri="{FF2B5EF4-FFF2-40B4-BE49-F238E27FC236}">
                <a16:creationId xmlns:a16="http://schemas.microsoft.com/office/drawing/2014/main" id="{7BDBA3EB-F71D-4905-A427-70DFD81CA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2" name="Rectangle 2">
            <a:extLst>
              <a:ext uri="{FF2B5EF4-FFF2-40B4-BE49-F238E27FC236}">
                <a16:creationId xmlns:a16="http://schemas.microsoft.com/office/drawing/2014/main" id="{598A8B8D-8CEF-496D-8357-F6BEED180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13030E2F-20D5-42B3-8E69-7A266FDAD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DF83E02-0B6A-434E-984C-BA4469CD750C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78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4" name="내용 개체 틀 2"/>
          <p:cNvSpPr txBox="1">
            <a:spLocks/>
          </p:cNvSpPr>
          <p:nvPr/>
        </p:nvSpPr>
        <p:spPr>
          <a:xfrm>
            <a:off x="1780544" y="3814469"/>
            <a:ext cx="8470547" cy="28911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아래처럼 하나의 값을 결과로 반환하게 된다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</a:p>
          <a:p>
            <a:pPr fontAlgn="base"/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[</a:t>
            </a:r>
            <a:r>
              <a:rPr lang="en-US" altLang="ko-KR" sz="1800" b="1" dirty="0">
                <a:latin typeface="나눔고딕" panose="020B0600000101010101" charset="-127"/>
                <a:ea typeface="나눔고딕" panose="020B0600000101010101" charset="-127"/>
              </a:rPr>
              <a:t>1, 2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, 3, 4, 5, 6] -&gt; [</a:t>
            </a:r>
            <a:r>
              <a:rPr lang="en-US" altLang="ko-KR" sz="1800" b="1" dirty="0">
                <a:latin typeface="나눔고딕" panose="020B0600000101010101" charset="-127"/>
                <a:ea typeface="나눔고딕" panose="020B0600000101010101" charset="-127"/>
              </a:rPr>
              <a:t>3,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3, 4, 5, 6]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[</a:t>
            </a:r>
            <a:r>
              <a:rPr lang="en-US" altLang="ko-KR" sz="1800" b="1" dirty="0">
                <a:latin typeface="나눔고딕" panose="020B0600000101010101" charset="-127"/>
                <a:ea typeface="나눔고딕" panose="020B0600000101010101" charset="-127"/>
              </a:rPr>
              <a:t>3, 3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, 4, 5, 6] -&gt; [</a:t>
            </a:r>
            <a:r>
              <a:rPr lang="en-US" altLang="ko-KR" sz="1800" b="1" dirty="0">
                <a:latin typeface="나눔고딕" panose="020B0600000101010101" charset="-127"/>
                <a:ea typeface="나눔고딕" panose="020B0600000101010101" charset="-127"/>
              </a:rPr>
              <a:t>6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, 4, 5, 6]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[</a:t>
            </a:r>
            <a:r>
              <a:rPr lang="en-US" altLang="ko-KR" sz="1800" b="1" dirty="0">
                <a:latin typeface="나눔고딕" panose="020B0600000101010101" charset="-127"/>
                <a:ea typeface="나눔고딕" panose="020B0600000101010101" charset="-127"/>
              </a:rPr>
              <a:t>6, 4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, 5, 6] -&gt; [</a:t>
            </a:r>
            <a:r>
              <a:rPr lang="en-US" altLang="ko-KR" sz="1800" b="1" dirty="0">
                <a:latin typeface="나눔고딕" panose="020B0600000101010101" charset="-127"/>
                <a:ea typeface="나눔고딕" panose="020B0600000101010101" charset="-127"/>
              </a:rPr>
              <a:t>10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, 5, 6]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[</a:t>
            </a:r>
            <a:r>
              <a:rPr lang="en-US" altLang="ko-KR" sz="1800" b="1" dirty="0">
                <a:latin typeface="나눔고딕" panose="020B0600000101010101" charset="-127"/>
                <a:ea typeface="나눔고딕" panose="020B0600000101010101" charset="-127"/>
              </a:rPr>
              <a:t>10, 5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, 6] -&gt; [</a:t>
            </a:r>
            <a:r>
              <a:rPr lang="en-US" altLang="ko-KR" sz="1800" b="1" dirty="0">
                <a:latin typeface="나눔고딕" panose="020B0600000101010101" charset="-127"/>
                <a:ea typeface="나눔고딕" panose="020B0600000101010101" charset="-127"/>
              </a:rPr>
              <a:t>15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, 6]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[</a:t>
            </a:r>
            <a:r>
              <a:rPr lang="en-US" altLang="ko-KR" sz="1800" b="1" dirty="0">
                <a:latin typeface="나눔고딕" panose="020B0600000101010101" charset="-127"/>
                <a:ea typeface="나눔고딕" panose="020B0600000101010101" charset="-127"/>
              </a:rPr>
              <a:t>15, 6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] -&gt; [</a:t>
            </a:r>
            <a:r>
              <a:rPr lang="en-US" altLang="ko-KR" sz="1800" b="1" dirty="0">
                <a:latin typeface="나눔고딕" panose="020B0600000101010101" charset="-127"/>
                <a:ea typeface="나눔고딕" panose="020B0600000101010101" charset="-127"/>
              </a:rPr>
              <a:t>21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]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[</a:t>
            </a:r>
            <a:r>
              <a:rPr lang="en-US" altLang="ko-KR" sz="1800" b="1" dirty="0">
                <a:latin typeface="나눔고딕" panose="020B0600000101010101" charset="-127"/>
                <a:ea typeface="나눔고딕" panose="020B0600000101010101" charset="-127"/>
              </a:rPr>
              <a:t>21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] -&gt; 21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417164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중첩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함수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중첩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 함수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7455" y="1412324"/>
            <a:ext cx="8470547" cy="3029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함수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안에 정의된 함수를 중첩 함수라 하며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외부로 노출하지 않을 함수를 정의하기 위하여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사용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03374FC-5B1E-4BEC-9799-E8314E910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EC15D9-59D6-4B70-B23B-DBFF5FC26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D322DB-7304-473C-BE18-F1E921F6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11802D2-8E76-445B-8F39-3E537D0D8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9B3BF90-6BDC-4DBB-88A1-09E985517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4E0F2CA-50F7-4A49-98C4-BE467013F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0EC1C4D-5CB5-4EED-915D-FD60C689C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CD694CF-1B6D-4ED4-B351-4CB0EC7DD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DEBE67B-88CB-4BF9-9A8B-1D0A8736B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4317952-6869-4834-A36D-774BE95EF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B05CCF6-090E-4379-9CDC-07B816256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3A5BD18-D517-412E-BCF6-F91B743F3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9FCA7384-18E7-4449-B66D-22D1D1722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59D52F5-579F-4B06-B7D0-95CD9BF4E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FFFB35B3-16A2-4D84-B0E5-37AC35AB6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7FD1A033-EA20-437D-B863-50E9C750D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9199AECB-ACD4-4BAD-B041-6D0D7B245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1E072742-D573-47BA-9040-95B6D4BCE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7C46B267-2199-41A9-B075-5B965FC70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C9814D9D-02EB-4A36-9A96-0A8505C72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FB530A57-FA53-48EF-8CBC-60A1B99B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465D792D-C59D-4F9C-9EDC-3B952B6C5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EDB17B34-0FE6-4646-AEA4-BE61264F4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0" name="Rectangle 2">
            <a:extLst>
              <a:ext uri="{FF2B5EF4-FFF2-40B4-BE49-F238E27FC236}">
                <a16:creationId xmlns:a16="http://schemas.microsoft.com/office/drawing/2014/main" id="{7BDBA3EB-F71D-4905-A427-70DFD81CA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2" name="Rectangle 2">
            <a:extLst>
              <a:ext uri="{FF2B5EF4-FFF2-40B4-BE49-F238E27FC236}">
                <a16:creationId xmlns:a16="http://schemas.microsoft.com/office/drawing/2014/main" id="{598A8B8D-8CEF-496D-8357-F6BEED180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13030E2F-20D5-42B3-8E69-7A266FDAD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4" name="Rectangle 2">
            <a:extLst>
              <a:ext uri="{FF2B5EF4-FFF2-40B4-BE49-F238E27FC236}">
                <a16:creationId xmlns:a16="http://schemas.microsoft.com/office/drawing/2014/main" id="{9785FEB4-4466-4BAD-9D61-6F27EA7FD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F0BCBD-C5F5-4F05-9899-877B9BC94539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79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838100" y="2541817"/>
            <a:ext cx="2194832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x = inner(3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)  # 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오류</a:t>
            </a:r>
            <a:endParaRPr lang="en-US" altLang="ko-KR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outer(3)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endParaRPr lang="en-US" altLang="ko-KR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7" name="내용 개체 틀 2"/>
          <p:cNvSpPr txBox="1">
            <a:spLocks/>
          </p:cNvSpPr>
          <p:nvPr/>
        </p:nvSpPr>
        <p:spPr>
          <a:xfrm>
            <a:off x="1780544" y="4082790"/>
            <a:ext cx="8470547" cy="4331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받아들이는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형식만 다르면서 결국 같은 일을 하고자 하는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경우 유용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1708732" y="4637117"/>
            <a:ext cx="2200795" cy="14773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square(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val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):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   return </a:t>
            </a:r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val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*</a:t>
            </a:r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val</a:t>
            </a:r>
            <a:endParaRPr lang="en-US" altLang="ko-KR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print(square(3))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print(square('3'))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2218328" y="2208235"/>
            <a:ext cx="318889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outer(n1):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inner(n1): 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    return n1 + 1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n2 = inner(n1)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print(n1, n2)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9" name="오른쪽 화살표 38"/>
          <p:cNvSpPr/>
          <p:nvPr/>
        </p:nvSpPr>
        <p:spPr>
          <a:xfrm>
            <a:off x="4208106" y="510277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/>
          <p:cNvSpPr/>
          <p:nvPr/>
        </p:nvSpPr>
        <p:spPr>
          <a:xfrm>
            <a:off x="5727664" y="4615122"/>
            <a:ext cx="4330736" cy="175432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square(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val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):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innerSquare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(x):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2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return x*x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if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isinstance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val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str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):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return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innerSquare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int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val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))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else: return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innerSquare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val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312243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중첩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함수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중첩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 함수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4"/>
            <a:ext cx="8470547" cy="4029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동적으로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함수를 생성하는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경우에도 유용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03374FC-5B1E-4BEC-9799-E8314E910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EC15D9-59D6-4B70-B23B-DBFF5FC26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D322DB-7304-473C-BE18-F1E921F6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11802D2-8E76-445B-8F39-3E537D0D8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9B3BF90-6BDC-4DBB-88A1-09E985517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4E0F2CA-50F7-4A49-98C4-BE467013F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0EC1C4D-5CB5-4EED-915D-FD60C689C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CD694CF-1B6D-4ED4-B351-4CB0EC7DD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DEBE67B-88CB-4BF9-9A8B-1D0A8736B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4317952-6869-4834-A36D-774BE95EF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B05CCF6-090E-4379-9CDC-07B816256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3A5BD18-D517-412E-BCF6-F91B743F3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9FCA7384-18E7-4449-B66D-22D1D1722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59D52F5-579F-4B06-B7D0-95CD9BF4E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FFFB35B3-16A2-4D84-B0E5-37AC35AB6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7FD1A033-EA20-437D-B863-50E9C750D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9199AECB-ACD4-4BAD-B041-6D0D7B245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1E072742-D573-47BA-9040-95B6D4BCE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7C46B267-2199-41A9-B075-5B965FC70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C9814D9D-02EB-4A36-9A96-0A8505C72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FB530A57-FA53-48EF-8CBC-60A1B99B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465D792D-C59D-4F9C-9EDC-3B952B6C5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EDB17B34-0FE6-4646-AEA4-BE61264F4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0" name="Rectangle 2">
            <a:extLst>
              <a:ext uri="{FF2B5EF4-FFF2-40B4-BE49-F238E27FC236}">
                <a16:creationId xmlns:a16="http://schemas.microsoft.com/office/drawing/2014/main" id="{7BDBA3EB-F71D-4905-A427-70DFD81CA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2" name="Rectangle 2">
            <a:extLst>
              <a:ext uri="{FF2B5EF4-FFF2-40B4-BE49-F238E27FC236}">
                <a16:creationId xmlns:a16="http://schemas.microsoft.com/office/drawing/2014/main" id="{598A8B8D-8CEF-496D-8357-F6BEED180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13030E2F-20D5-42B3-8E69-7A266FDAD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4" name="Rectangle 2">
            <a:extLst>
              <a:ext uri="{FF2B5EF4-FFF2-40B4-BE49-F238E27FC236}">
                <a16:creationId xmlns:a16="http://schemas.microsoft.com/office/drawing/2014/main" id="{9785FEB4-4466-4BAD-9D61-6F27EA7FD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54FB76-3999-483B-B6BA-309E98D83BCD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80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105608" y="2204578"/>
            <a:ext cx="379133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pow</a:t>
            </a:r>
            <a:r>
              <a:rPr lang="en-US" altLang="ko-KR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factory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(p):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pow(n):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	return n**p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return 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pow</a:t>
            </a:r>
            <a:endParaRPr lang="en-US" altLang="ko-KR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6019069" y="215841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powerOfTwo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pow</a:t>
            </a:r>
            <a:r>
              <a:rPr lang="en-US" altLang="ko-KR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factory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(2)</a:t>
            </a:r>
          </a:p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powerOfThree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pow</a:t>
            </a:r>
            <a:r>
              <a:rPr lang="en-US" altLang="ko-KR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factory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(3)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powerOfTwo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(5))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powerOfThree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(5))</a:t>
            </a:r>
          </a:p>
        </p:txBody>
      </p:sp>
    </p:spTree>
    <p:extLst>
      <p:ext uri="{BB962C8B-B14F-4D97-AF65-F5344CB8AC3E}">
        <p14:creationId xmlns:p14="http://schemas.microsoft.com/office/powerpoint/2010/main" val="194552794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중첩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함수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중첩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 함수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22225"/>
            <a:ext cx="8470547" cy="9716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아래처럼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동일한 이름의 변수가 전역 변수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바깥 함수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내부함수에 정의되어 있을 경우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내부 함수에서 그를 둘러싼 바깥 함수에 정의된 동일 이름의 변수를 접근하고자 하면 어떻게 될까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? </a:t>
            </a:r>
            <a:endParaRPr lang="en-US" altLang="ko-KR" sz="18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03374FC-5B1E-4BEC-9799-E8314E910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EC15D9-59D6-4B70-B23B-DBFF5FC26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D322DB-7304-473C-BE18-F1E921F6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11802D2-8E76-445B-8F39-3E537D0D8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9B3BF90-6BDC-4DBB-88A1-09E985517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4E0F2CA-50F7-4A49-98C4-BE467013F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0EC1C4D-5CB5-4EED-915D-FD60C689C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CD694CF-1B6D-4ED4-B351-4CB0EC7DD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DEBE67B-88CB-4BF9-9A8B-1D0A8736B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4317952-6869-4834-A36D-774BE95EF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B05CCF6-090E-4379-9CDC-07B816256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3A5BD18-D517-412E-BCF6-F91B743F3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9FCA7384-18E7-4449-B66D-22D1D1722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59D52F5-579F-4B06-B7D0-95CD9BF4E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FFFB35B3-16A2-4D84-B0E5-37AC35AB6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7FD1A033-EA20-437D-B863-50E9C750D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9199AECB-ACD4-4BAD-B041-6D0D7B245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1E072742-D573-47BA-9040-95B6D4BCE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7C46B267-2199-41A9-B075-5B965FC70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C9814D9D-02EB-4A36-9A96-0A8505C72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FB530A57-FA53-48EF-8CBC-60A1B99B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465D792D-C59D-4F9C-9EDC-3B952B6C5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EDB17B34-0FE6-4646-AEA4-BE61264F4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0" name="Rectangle 2">
            <a:extLst>
              <a:ext uri="{FF2B5EF4-FFF2-40B4-BE49-F238E27FC236}">
                <a16:creationId xmlns:a16="http://schemas.microsoft.com/office/drawing/2014/main" id="{7BDBA3EB-F71D-4905-A427-70DFD81CA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2" name="Rectangle 2">
            <a:extLst>
              <a:ext uri="{FF2B5EF4-FFF2-40B4-BE49-F238E27FC236}">
                <a16:creationId xmlns:a16="http://schemas.microsoft.com/office/drawing/2014/main" id="{598A8B8D-8CEF-496D-8357-F6BEED180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13030E2F-20D5-42B3-8E69-7A266FDAD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4" name="Rectangle 2">
            <a:extLst>
              <a:ext uri="{FF2B5EF4-FFF2-40B4-BE49-F238E27FC236}">
                <a16:creationId xmlns:a16="http://schemas.microsoft.com/office/drawing/2014/main" id="{9785FEB4-4466-4BAD-9D61-6F27EA7FD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D2EFC4-B4DE-4947-A1FE-B1423B0042B7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81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142931" y="2818933"/>
            <a:ext cx="2858277" cy="31393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f():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x = 45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g():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x = 145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print(x)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# 145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g()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print(x)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45</a:t>
            </a:r>
          </a:p>
          <a:p>
            <a:pPr lvl="1" fontAlgn="base"/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x = 3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f()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print(x)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3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5352661" y="2818933"/>
            <a:ext cx="2951583" cy="31393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f():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x = 45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g():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2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global x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2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x = 145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2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print(x) # 145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g()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print(x)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# 45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x = 3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f()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print(x)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# 145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8547683" y="2818932"/>
            <a:ext cx="2951583" cy="31393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f():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x = 45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g():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2" fontAlgn="base"/>
            <a:r>
              <a:rPr lang="en-US" altLang="ko-KR" b="1" dirty="0">
                <a:latin typeface="나눔고딕" panose="020B0600000101010101" charset="-127"/>
                <a:ea typeface="나눔고딕" panose="020B0600000101010101" charset="-127"/>
              </a:rPr>
              <a:t>n</a:t>
            </a:r>
            <a:r>
              <a:rPr lang="en-US" altLang="ko-KR" b="1" dirty="0" smtClean="0">
                <a:latin typeface="나눔고딕" panose="020B0600000101010101" charset="-127"/>
                <a:ea typeface="나눔고딕" panose="020B0600000101010101" charset="-127"/>
              </a:rPr>
              <a:t>onlocal </a:t>
            </a:r>
            <a:r>
              <a:rPr lang="en-US" altLang="ko-KR" b="1" dirty="0">
                <a:latin typeface="나눔고딕" panose="020B0600000101010101" charset="-127"/>
                <a:ea typeface="나눔고딕" panose="020B0600000101010101" charset="-127"/>
              </a:rPr>
              <a:t>x</a:t>
            </a:r>
            <a:endParaRPr lang="ko-KR" altLang="en-US" b="1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2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x = 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145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2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print(x) # 145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g()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print(x)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145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x = 3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f()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print(x)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3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508389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모듈과 패키지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2245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모듈이란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?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모듈이란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?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8"/>
            <a:ext cx="8470547" cy="48128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모듈은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Python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코드로 구성된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파일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함수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클래스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변수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정의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및 실행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가능한 코드를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포함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모듈에 대응되는 파일 이름은 모듈이름에 접미사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  <a:r>
              <a:rPr lang="en-US" altLang="ko-KR" sz="1600" dirty="0" err="1">
                <a:latin typeface="나눔고딕" panose="020B0600000101010101" charset="-127"/>
                <a:ea typeface="나눔고딕" panose="020B0600000101010101" charset="-127"/>
              </a:rPr>
              <a:t>py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가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붙음</a:t>
            </a:r>
            <a:endParaRPr lang="en-US" altLang="ko-KR" sz="16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모듈도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속성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(attribute)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과 메서드들을 갖는 일종의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Python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객체</a:t>
            </a: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DADE3B-26D5-4136-8837-8698F1C851E1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83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096278" y="3190126"/>
            <a:ext cx="248505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# sum module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sum2n(n):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total=0;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=1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while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&lt;= n: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2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total +=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2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i+1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return 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total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5673142" y="3457294"/>
            <a:ext cx="303555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sumn2m(n, m):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total = 0;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n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while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&lt;= m: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2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total +=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2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=i+1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return total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978090" y="3190126"/>
            <a:ext cx="7400860" cy="26508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195353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import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i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mport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 문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8"/>
            <a:ext cx="8470547" cy="13173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import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문을 실행하여 다른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Python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소스 파일을 모듈로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사용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en-US" altLang="ko-KR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import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module1 [, module2 [, ...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moduleN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]</a:t>
            </a:r>
          </a:p>
          <a:p>
            <a:pPr fontAlgn="base"/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B293E5-F44D-43A4-B6CE-E739313DF5A0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84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1780544" y="2901843"/>
            <a:ext cx="8470547" cy="22597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인터프리터는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import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문을 발견하면 모듈이 검색 경로에 있는지를 조사한 후 있으면 그 모듈을 메모리로 적재하게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모듈을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임포트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할 때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Python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인터프리터는 다음 순서로 모듈을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검색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1600" dirty="0" smtClean="0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)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현재 디렉토리</a:t>
            </a:r>
          </a:p>
          <a:p>
            <a:pPr marL="400050" lvl="1" indent="0" fontAlgn="base">
              <a:buNone/>
            </a:pPr>
            <a:r>
              <a:rPr lang="en-US" altLang="ko-KR" sz="1600" dirty="0" smtClean="0">
                <a:latin typeface="나눔고딕" panose="020B0600000101010101" charset="-127"/>
                <a:ea typeface="나눔고딕" panose="020B0600000101010101" charset="-127"/>
              </a:rPr>
              <a:t>ii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)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현재 디렉토리에서 모듈이 발견되지 않으면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, PYTHONPATH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의 </a:t>
            </a:r>
            <a:r>
              <a:rPr lang="ko-KR" altLang="en-US" sz="1600" dirty="0" err="1" smtClean="0">
                <a:latin typeface="나눔고딕" panose="020B0600000101010101" charset="-127"/>
                <a:ea typeface="나눔고딕" panose="020B0600000101010101" charset="-127"/>
              </a:rPr>
              <a:t>쉘</a:t>
            </a:r>
            <a:r>
              <a:rPr lang="en-US" altLang="ko-KR" sz="1600" dirty="0" smtClean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변수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또는 환경변수의 각 디렉토리</a:t>
            </a:r>
          </a:p>
          <a:p>
            <a:pPr marL="400050" lvl="1" indent="0" fontAlgn="base">
              <a:buNone/>
            </a:pPr>
            <a:r>
              <a:rPr lang="en-US" altLang="ko-KR" sz="1600" dirty="0" smtClean="0">
                <a:latin typeface="나눔고딕" panose="020B0600000101010101" charset="-127"/>
                <a:ea typeface="나눔고딕" panose="020B0600000101010101" charset="-127"/>
              </a:rPr>
              <a:t>iii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) ii)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에서 찾지 못하면 기본 경로</a:t>
            </a: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802438" y="5161599"/>
            <a:ext cx="91796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모듈을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import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한 후에는 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모듈명과 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함께 원하는 </a:t>
            </a:r>
            <a:r>
              <a:rPr lang="ko-KR" altLang="en-US" dirty="0" err="1">
                <a:latin typeface="나눔고딕" panose="020B0600000101010101" charset="-127"/>
                <a:ea typeface="나눔고딕" panose="020B0600000101010101" charset="-127"/>
              </a:rPr>
              <a:t>함수명을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 기술해 주면 함수 호출이 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이루어짐</a:t>
            </a:r>
            <a:endParaRPr lang="en-US" altLang="ko-KR" dirty="0" smtClean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230104" y="566429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X = input(＂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수식을 입력하시오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: ＂)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print(sum.sum2n(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int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(x)))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814444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import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i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mport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 문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8"/>
            <a:ext cx="8470547" cy="15786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모듈 검색 경로를 확인하고 싶으면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시스템 모듈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sys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의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path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변수의 값을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확인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이 변수에는 모듈에 대한 인터프리터의 검색 경로들이 저장되어 있는데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환경 변수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PYTHONPATH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에서 가져온 기본 경로들 또는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PYTHONPATH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가 설정되지 않은 경우 기본 제공 경로로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초기화</a:t>
            </a:r>
            <a:endParaRPr lang="en-US" altLang="ko-KR" sz="16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marL="457200" lvl="1" indent="0" fontAlgn="base">
              <a:buNone/>
            </a:pPr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1F720D3-A314-429D-B485-AF8ED5A10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D591F3-3F59-4131-8091-B38983AA1803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85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836298" y="4197472"/>
            <a:ext cx="836554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원할 경우 아래와 같이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sys.path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의 내용을 코드에 의해 변경할 수도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348205" y="476521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import sys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sys.path.append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(‘c: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\\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temp’)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2348205" y="338350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import sys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sys.path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888803" y="5553077"/>
            <a:ext cx="80834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의도치 않게 같은 모듈을 여러 번 </a:t>
            </a:r>
            <a:r>
              <a:rPr lang="ko-KR" altLang="en-US" dirty="0" err="1">
                <a:latin typeface="나눔고딕" panose="020B0600000101010101" charset="-127"/>
                <a:ea typeface="나눔고딕" panose="020B0600000101010101" charset="-127"/>
              </a:rPr>
              <a:t>로드할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 수 있는데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다행히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Python 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인터프리터는 횟수에 관계없이 한 번만 로드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80883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import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</a:rPr>
              <a:t>i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mport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 문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7"/>
            <a:ext cx="8470547" cy="42547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Python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의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from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문을 사용하면 모듈의 특정 속성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함수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클래스 등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을 현재 네임 스페이스로 가져올 수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en-US" altLang="ko-KR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    from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모듈명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import name1 [, name2 [, ...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nameN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]]</a:t>
            </a: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sum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모듈의 전체를 현재 네임 스페이스로 가져 오지 않고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해당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함수나 클래스만 로딩</a:t>
            </a:r>
            <a:endParaRPr lang="en-US" altLang="ko-KR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     from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sum import 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sum2n</a:t>
            </a:r>
          </a:p>
          <a:p>
            <a:pPr marL="0" indent="0" fontAlgn="base">
              <a:buNone/>
            </a:pP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lvl="0" indent="0" fontAlgn="base">
              <a:buNone/>
            </a:pPr>
            <a:r>
              <a:rPr lang="en-US" altLang="ko-KR" sz="2000" dirty="0" smtClean="0">
                <a:solidFill>
                  <a:srgbClr val="000080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   </a:t>
            </a:r>
            <a:r>
              <a:rPr lang="ko-KR" altLang="ko-KR" sz="2000" dirty="0" smtClean="0">
                <a:solidFill>
                  <a:srgbClr val="000080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print</a:t>
            </a:r>
            <a:r>
              <a:rPr lang="ko-KR" altLang="ko-KR" sz="2000" dirty="0" smtClean="0">
                <a:solidFill>
                  <a:srgbClr val="000000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(sum2n(</a:t>
            </a:r>
            <a:r>
              <a:rPr lang="ko-KR" altLang="ko-KR" sz="2000" dirty="0" smtClean="0">
                <a:solidFill>
                  <a:srgbClr val="0000FF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5</a:t>
            </a:r>
            <a:r>
              <a:rPr lang="ko-KR" altLang="ko-KR" sz="2000" dirty="0">
                <a:solidFill>
                  <a:srgbClr val="000000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))</a:t>
            </a:r>
            <a:endParaRPr lang="ko-KR" altLang="ko-KR" sz="4800" dirty="0">
              <a:latin typeface="Arial" panose="020B0604020202020204" pitchFamily="34" charset="0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1F720D3-A314-429D-B485-AF8ED5A10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50FA14-33D4-4307-818F-49B891F14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BC8EFD-B4DA-4F8E-B5F1-75EC1889E3E5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86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16538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main</a:t>
            </a:r>
            <a:r>
              <a:rPr lang="en-US" altLang="ko-KR" sz="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__</a:t>
            </a:r>
            <a:r>
              <a:rPr lang="en-US" altLang="ko-KR" sz="800" dirty="0">
                <a:latin typeface="나눔고딕" panose="020B0600000101010101" charset="-127"/>
                <a:ea typeface="나눔고딕" panose="020B0600000101010101" charset="-127"/>
              </a:rPr>
              <a:t> module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main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__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4000" b="1" spc="-150" dirty="0" smtClean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모듈 </a:t>
            </a:r>
            <a:r>
              <a:rPr lang="ko-KR" altLang="en-US" sz="4000" b="1" spc="-150" dirty="0" smtClean="0">
                <a:solidFill>
                  <a:schemeClr val="accent4">
                    <a:lumMod val="50000"/>
                  </a:schemeClr>
                </a:solidFill>
              </a:rPr>
              <a:t>속성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6"/>
            <a:ext cx="8470547" cy="48128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모듈은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“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python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모듈명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py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”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명령을 통해 인터프리터에 의해 직접 로딩될 수도 있고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다른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Python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파일에서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import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문에 의해 로딩될 수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인터프리터에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의해 직접 로딩될 경우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현재 로딩된 모듈의 이름을 나타내는 속성 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name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의 값이 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main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로 설정되게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r>
              <a:rPr lang="en-US" altLang="ko-KR" sz="1600" dirty="0" smtClean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즉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main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모듈이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en-US" altLang="ko-KR" sz="16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같은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모듈이지만 다른 모듈에서 로딩될 경우는 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name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속성 값이 해당 </a:t>
            </a:r>
            <a:r>
              <a:rPr lang="ko-KR" altLang="en-US" sz="1600" dirty="0" err="1">
                <a:latin typeface="나눔고딕" panose="020B0600000101010101" charset="-127"/>
                <a:ea typeface="나눔고딕" panose="020B0600000101010101" charset="-127"/>
              </a:rPr>
              <a:t>모듈명으로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설정됨</a:t>
            </a:r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1F720D3-A314-429D-B485-AF8ED5A10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50FA14-33D4-4307-818F-49B891F14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2D8CF0-C983-4525-BB45-31F457AF4180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87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1780544" y="3612306"/>
            <a:ext cx="8470547" cy="10996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따라서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Python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인터프리터에 의해 직접 로딩된 경우와 다른 모듈에 의해서 로딩된 경우를 구별하여 작업하고자 한다면 모듈 내에 아래와 같은 코드를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추가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030964" y="4702628"/>
            <a:ext cx="548017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if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name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== "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main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":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직접 로딩될 경우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실행할 코드를 여기에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else 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다른 모듈에서 로딩될 경우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실행할 코드를 여기에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sum 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모듈 끝에 아래와 같은 코드를 추가한 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후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669763" y="4845793"/>
            <a:ext cx="3562597" cy="12003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if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name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== "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main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":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print("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직접 로딩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")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else 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print("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다른 모듈에서 로딩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")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049935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표준 모듈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6"/>
            <a:ext cx="8470547" cy="13173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Python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은 표준 모듈 라이브러리를 제공하는데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일부 모듈은 인터프리터에 내장되어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일부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모듈들은 기본 플랫폼에 종속적인데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예를 들어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윈도우 레지스트리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API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를 제공하는 </a:t>
            </a:r>
            <a:r>
              <a:rPr lang="en-US" altLang="ko-KR" sz="1600" dirty="0" err="1">
                <a:latin typeface="나눔고딕" panose="020B0600000101010101" charset="-127"/>
                <a:ea typeface="나눔고딕" panose="020B0600000101010101" charset="-127"/>
              </a:rPr>
              <a:t>winreg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모듈은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Windows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시스템에서만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제공</a:t>
            </a:r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1F720D3-A314-429D-B485-AF8ED5A10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50FA14-33D4-4307-818F-49B891F14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574A3F-003B-4AF2-9DD6-AA1628342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A19D689-FDB2-475F-A34A-CB101D71C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8A132F-7377-4E0C-8A89-244BB030D0A1}"/>
              </a:ext>
            </a:extLst>
          </p:cNvPr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표준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모듈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0A169D-47CF-4836-BD5C-8A77BCED8BC1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88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4" name="내용 개체 틀 2"/>
          <p:cNvSpPr txBox="1">
            <a:spLocks/>
          </p:cNvSpPr>
          <p:nvPr/>
        </p:nvSpPr>
        <p:spPr>
          <a:xfrm>
            <a:off x="1780544" y="2897915"/>
            <a:ext cx="8470547" cy="16888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대표적인 표준 모듈로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sys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가 있는데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이 모듈은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Python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인터프리터가 사용하는 변수와 인터프리터와의 상호작용을 할 수 있는 함수를 제공하며 모든 인터프리터에 내장되어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이 모듈 안에 정의되어 있는 이름들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1600" dirty="0" err="1">
                <a:latin typeface="나눔고딕" panose="020B0600000101010101" charset="-127"/>
                <a:ea typeface="나눔고딕" panose="020B0600000101010101" charset="-127"/>
              </a:rPr>
              <a:t>함수명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클래스명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전역변수명 등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은 </a:t>
            </a:r>
            <a:r>
              <a:rPr lang="en-US" altLang="ko-KR" sz="1600" dirty="0" err="1">
                <a:latin typeface="나눔고딕" panose="020B0600000101010101" charset="-127"/>
                <a:ea typeface="나눔고딕" panose="020B0600000101010101" charset="-127"/>
              </a:rPr>
              <a:t>dir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함수를 통하여 확인해 볼 수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146129" y="444011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import sys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dir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(sys))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5" name="내용 개체 틀 2"/>
          <p:cNvSpPr txBox="1">
            <a:spLocks/>
          </p:cNvSpPr>
          <p:nvPr/>
        </p:nvSpPr>
        <p:spPr>
          <a:xfrm>
            <a:off x="1856529" y="5176738"/>
            <a:ext cx="8470547" cy="748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내장 함수 및 변수는 표준 모듈인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builtins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모듈에 정의되어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참고로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en-US" altLang="ko-KR" sz="1600" dirty="0" err="1">
                <a:latin typeface="나눔고딕" panose="020B0600000101010101" charset="-127"/>
                <a:ea typeface="나눔고딕" panose="020B0600000101010101" charset="-127"/>
              </a:rPr>
              <a:t>builtins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모듈은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Python 3.x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이전에는 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1600" dirty="0" err="1">
                <a:latin typeface="나눔고딕" panose="020B0600000101010101" charset="-127"/>
                <a:ea typeface="나눔고딕" panose="020B0600000101010101" charset="-127"/>
              </a:rPr>
              <a:t>builtin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이라는 이름으로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사용</a:t>
            </a:r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146129" y="590993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import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builtins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dir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builtins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))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308632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패키지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6"/>
            <a:ext cx="8470547" cy="41837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패키지는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계층적 파일 디렉토리 구조로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모듈과 하위 패키지 및 그 하위 패키지들로 구성된 단일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Python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응용프로그램 환경을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정의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패키지는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"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점으로 구분 된 모듈 이름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"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을 사용하는데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예를 들어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모듈 이름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A.B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는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라는 패키지에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B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라는 서브 모듈을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지정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패키지를 사용하면 여러 모듈로 구성된 응용프로그램을 작성할 때 모듈의 이름에 신경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즉 다른 응용프로그램의 모듈 이름과 동일한지를 신경 쓰지 않아도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1F720D3-A314-429D-B485-AF8ED5A10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50FA14-33D4-4307-818F-49B891F14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574A3F-003B-4AF2-9DD6-AA1628342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A19D689-FDB2-475F-A34A-CB101D71C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8A132F-7377-4E0C-8A89-244BB030D0A1}"/>
              </a:ext>
            </a:extLst>
          </p:cNvPr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패키지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4E2FF8C-4DAC-42CD-856C-9D93DAAC1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96AE477-E7C3-4C62-845A-28C1E9040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412D95-76C8-4C1D-B92D-FD7C7AE81163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89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464684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패키지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6"/>
            <a:ext cx="8470547" cy="41837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간단한 예를 통하여 패키지를 구성하는 방법을 살펴보도록 하자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예를 들어 아래와 같은 세 개의 모듈을 하나의 패키지로 만든다고 하자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모듈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 (A.py)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def Func1() 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print(“module A”)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모듈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B (B.py)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def Func2() 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print(“module B”)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모듈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C (C.py)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def Func3() 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print(“module C”)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1F720D3-A314-429D-B485-AF8ED5A10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50FA14-33D4-4307-818F-49B891F14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574A3F-003B-4AF2-9DD6-AA1628342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A19D689-FDB2-475F-A34A-CB101D71C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8A132F-7377-4E0C-8A89-244BB030D0A1}"/>
              </a:ext>
            </a:extLst>
          </p:cNvPr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패키지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4E2FF8C-4DAC-42CD-856C-9D93DAAC1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96AE477-E7C3-4C62-845A-28C1E9040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5B6F67-89F4-492F-956A-9611754911EC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90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884840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패키지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6"/>
            <a:ext cx="8470547" cy="41837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먼저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패키지 이름에 해당 하는 디렉토리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여기서는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MyPackage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를 만들고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이 세 모듈을 이 디렉토리 밑에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생성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그런 다음 이 디렉토리에 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.py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파일을 생성한 후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그 파일의 내용을 아래와 같이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작성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참고로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, Python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인터프리터는 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.py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파일을 갖고 있는 디렉토리를 패키지로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인식</a:t>
            </a:r>
            <a:r>
              <a:rPr lang="en-US" altLang="ko-KR" sz="16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endParaRPr lang="en-US" altLang="ko-KR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이 파일에는 외부로 노출할 모듈이나 서브패키지의 이름이 기술이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en-US" altLang="ko-KR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.py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파일의 내용</a:t>
            </a: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from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MyPackage.A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import Func1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from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MyPackage.B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import Func2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from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MyPackage.C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import Func3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1F720D3-A314-429D-B485-AF8ED5A10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50FA14-33D4-4307-818F-49B891F14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574A3F-003B-4AF2-9DD6-AA1628342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A19D689-FDB2-475F-A34A-CB101D71C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8A132F-7377-4E0C-8A89-244BB030D0A1}"/>
              </a:ext>
            </a:extLst>
          </p:cNvPr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패키지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4E2FF8C-4DAC-42CD-856C-9D93DAAC1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96AE477-E7C3-4C62-845A-28C1E9040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BE745E-C7C2-4E02-8EE6-95EF17F2F2A7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91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390014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패키지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6"/>
            <a:ext cx="8470547" cy="41837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패키지를 사용할 경우는 아래와 같이 패키지를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import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하면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그러면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패키지 디렉토리의 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.py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에 기술된 함수나 클래스들이 불러 들여지게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원하는 함수나 기능을 패키지명과 같이 기술해 주면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# test.py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의 내용</a:t>
            </a: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import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MyPackage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MyPackage.Func1()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MyPackage.Func2()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MyPackage.Func3()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1F720D3-A314-429D-B485-AF8ED5A10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50FA14-33D4-4307-818F-49B891F14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574A3F-003B-4AF2-9DD6-AA1628342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A19D689-FDB2-475F-A34A-CB101D71C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8A132F-7377-4E0C-8A89-244BB030D0A1}"/>
              </a:ext>
            </a:extLst>
          </p:cNvPr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패키지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4E2FF8C-4DAC-42CD-856C-9D93DAAC1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96AE477-E7C3-4C62-845A-28C1E9040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E58CC1-B648-481C-AB1D-2976443A9529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92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590197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패키지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6"/>
            <a:ext cx="8470547" cy="43169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만약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패키지 내의 모듈에서 이름 충돌이 발생할 경우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즉 여러 모듈에서 동일한 이름의 함수나 클래스를 정의할 경우는 어떻게 해야 할까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? </a:t>
            </a: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예들 들어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위의 예에서 모듈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와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B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가 동일한 이름의 함수를 제공할 경우 어떻게 처리해야 할까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?</a:t>
            </a: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모듈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 (A.py)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def Func1() 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print(“module A”)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모듈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B (B.py)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def Func1() 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print(“module B”)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1F720D3-A314-429D-B485-AF8ED5A10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50FA14-33D4-4307-818F-49B891F14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574A3F-003B-4AF2-9DD6-AA1628342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A19D689-FDB2-475F-A34A-CB101D71C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8A132F-7377-4E0C-8A89-244BB030D0A1}"/>
              </a:ext>
            </a:extLst>
          </p:cNvPr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패키지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4E2FF8C-4DAC-42CD-856C-9D93DAAC1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96AE477-E7C3-4C62-845A-28C1E9040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D6EFAA89-1451-42DE-86F2-997EFE6DC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E4C548D8-F1D9-4C72-AE3A-D41C8A57F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5B51C9F5-5B65-4873-AB0B-B4DFB374E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0CC9D04B-5243-4138-A833-DB94F46CB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BEA628B9-06FB-46ED-97F5-FEA0E5B02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18D2BF-FAEB-4B27-B465-362B6C7E8AE3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93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525355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패키지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6"/>
            <a:ext cx="8470547" cy="552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.py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파일의 내용을 아래와 같이 변경한 후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실행시키면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모듈의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Func1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함수가 무시가 되고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B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모듈의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Func1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함수가 호출됨</a:t>
            </a:r>
          </a:p>
          <a:p>
            <a:pPr fontAlgn="base"/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1F720D3-A314-429D-B485-AF8ED5A10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50FA14-33D4-4307-818F-49B891F14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574A3F-003B-4AF2-9DD6-AA1628342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A19D689-FDB2-475F-A34A-CB101D71C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8A132F-7377-4E0C-8A89-244BB030D0A1}"/>
              </a:ext>
            </a:extLst>
          </p:cNvPr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패키지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4E2FF8C-4DAC-42CD-856C-9D93DAAC1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96AE477-E7C3-4C62-845A-28C1E9040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D6EFAA89-1451-42DE-86F2-997EFE6DC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E4C548D8-F1D9-4C72-AE3A-D41C8A57F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5B51C9F5-5B65-4873-AB0B-B4DFB374E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0CC9D04B-5243-4138-A833-DB94F46CB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BEA628B9-06FB-46ED-97F5-FEA0E5B02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32A41589-F2C9-4C67-A640-793E31136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85A578-36BC-4755-89C3-873449B98CE7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94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1" name="내용 개체 틀 2"/>
          <p:cNvSpPr txBox="1">
            <a:spLocks/>
          </p:cNvSpPr>
          <p:nvPr/>
        </p:nvSpPr>
        <p:spPr>
          <a:xfrm>
            <a:off x="1708732" y="3445406"/>
            <a:ext cx="8470547" cy="5294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049625" y="237967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.py 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파일의 내용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from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MyPackage.A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import Func1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from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MyPackage.B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import Func1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from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MyPackage.C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import Func3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3" name="내용 개체 틀 2"/>
          <p:cNvSpPr txBox="1">
            <a:spLocks/>
          </p:cNvSpPr>
          <p:nvPr/>
        </p:nvSpPr>
        <p:spPr>
          <a:xfrm>
            <a:off x="1787455" y="3642184"/>
            <a:ext cx="8470547" cy="8831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만약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A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모듈의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Func1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함수도 사용 가능하게 하려면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함수 호출 시에 아래와 같이 호출해 주면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2049625" y="4476839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# test.py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의 내용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import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MyPackage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MyPackage.A.Func1()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MyPackage.B.Func1()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MyPackage.Func3()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7699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패키지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6"/>
            <a:ext cx="8470547" cy="10374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패키지 중 일부만 사용할 경우는 아래와 같이 “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from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패키지명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import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아이템명” 형태로 사용하면 됨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여기서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아이템명은 패키지 내의 </a:t>
            </a:r>
            <a:r>
              <a:rPr lang="ko-KR" altLang="en-US" sz="2000" dirty="0" err="1" smtClean="0">
                <a:latin typeface="나눔고딕" panose="020B0600000101010101" charset="-127"/>
                <a:ea typeface="나눔고딕" panose="020B0600000101010101" charset="-127"/>
              </a:rPr>
              <a:t>모듈명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클래스나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함수 또는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변수명을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의미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1F720D3-A314-429D-B485-AF8ED5A10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50FA14-33D4-4307-818F-49B891F14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574A3F-003B-4AF2-9DD6-AA1628342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A19D689-FDB2-475F-A34A-CB101D71C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8A132F-7377-4E0C-8A89-244BB030D0A1}"/>
              </a:ext>
            </a:extLst>
          </p:cNvPr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패키지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4E2FF8C-4DAC-42CD-856C-9D93DAAC1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96AE477-E7C3-4C62-845A-28C1E9040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D6EFAA89-1451-42DE-86F2-997EFE6DC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E4C548D8-F1D9-4C72-AE3A-D41C8A57F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5B51C9F5-5B65-4873-AB0B-B4DFB374E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0CC9D04B-5243-4138-A833-DB94F46CB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BEA628B9-06FB-46ED-97F5-FEA0E5B02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32A41589-F2C9-4C67-A640-793E31136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7635AFFE-409D-468E-8C80-123A75AEA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BCE12D-CC98-4F64-B37F-84680D1CDE8C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95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888803" y="3751801"/>
            <a:ext cx="8406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ko-KR" altLang="en-US" dirty="0" err="1">
                <a:latin typeface="나눔고딕" panose="020B0600000101010101" charset="-127"/>
                <a:ea typeface="나눔고딕" panose="020B0600000101010101" charset="-127"/>
              </a:rPr>
              <a:t>패키지명을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 사용하지 않은 형태로 패키지 내의 모든 모듈들을 사용하고 싶을 경우는 아래와 같이 하면 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en-US" altLang="ko-KR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2114939" y="2707104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# test.py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의 내용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from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MyPackage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import A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A.Func1()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2230104" y="4484993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# test.py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의 내용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from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MyPackage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import *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A.Func1()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B.Func1()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C.Func3()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617651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모듈 소스 보기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7"/>
            <a:ext cx="8470547" cy="7388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모듈의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소스는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확인하고자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하는 모듈을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import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시킨 후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inspect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모듈의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getsource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함수를 이용하면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1F720D3-A314-429D-B485-AF8ED5A10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50FA14-33D4-4307-818F-49B891F14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574A3F-003B-4AF2-9DD6-AA1628342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A19D689-FDB2-475F-A34A-CB101D71C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8A132F-7377-4E0C-8A89-244BB030D0A1}"/>
              </a:ext>
            </a:extLst>
          </p:cNvPr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모듈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소스 보기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4E2FF8C-4DAC-42CD-856C-9D93DAAC1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96AE477-E7C3-4C62-845A-28C1E9040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D6EFAA89-1451-42DE-86F2-997EFE6DC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E4C548D8-F1D9-4C72-AE3A-D41C8A57F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5B51C9F5-5B65-4873-AB0B-B4DFB374E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0CC9D04B-5243-4138-A833-DB94F46CB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BEA628B9-06FB-46ED-97F5-FEA0E5B02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32A41589-F2C9-4C67-A640-793E31136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7635AFFE-409D-468E-8C80-123A75AEA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6E721BC-B5FF-49C6-B5B2-8056FE85C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0688BB-ADC2-42EE-AA20-241F38FA9337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96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114938" y="250226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import random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import inspect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src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inspect.getsource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(random)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src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3" name="내용 개체 틀 2"/>
          <p:cNvSpPr txBox="1">
            <a:spLocks/>
          </p:cNvSpPr>
          <p:nvPr/>
        </p:nvSpPr>
        <p:spPr>
          <a:xfrm>
            <a:off x="1824256" y="3834882"/>
            <a:ext cx="8470547" cy="1371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개발환경에서 작업한다면 보다 직관적이고 쉬운 방법으로 소스를 볼 수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sz="1600" dirty="0" err="1">
                <a:latin typeface="나눔고딕" panose="020B0600000101010101" charset="-127"/>
                <a:ea typeface="나눔고딕" panose="020B0600000101010101" charset="-127"/>
              </a:rPr>
              <a:t>PyCharm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인 경우는 마우스를 사용하여 작업 중인 소스 코드에서 보고자 하는 모듈명을 선택한 후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F4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키를 누르면 그 모듈에 대한 소스 코드를 별도의 창으로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보여줌</a:t>
            </a:r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644464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 모듈 다운로드 및 설치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6"/>
            <a:ext cx="8470547" cy="43964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Python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과 함께 제공되는 기본적인 라이브러리 모듈 외에 많은 개발자가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Python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을 더 광범위하게 사용할 수 있도록 독자적인 모듈을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개발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이 제삼자 제공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(Third Party)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모듈을 설치하는 가장 손쉬운 방법은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pip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툴을 사용하는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것임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</a:p>
          <a:p>
            <a:pPr lvl="1" fontAlgn="base"/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설치하고자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하는 모듈을 자동으로 다운로드하고 </a:t>
            </a:r>
            <a:r>
              <a:rPr lang="ko-KR" altLang="en-US" sz="1600" dirty="0" err="1">
                <a:latin typeface="나눔고딕" panose="020B0600000101010101" charset="-127"/>
                <a:ea typeface="나눔고딕" panose="020B0600000101010101" charset="-127"/>
              </a:rPr>
              <a:t>빌드하고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설치해 줌</a:t>
            </a:r>
            <a:r>
              <a:rPr lang="en-US" altLang="ko-KR" sz="16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endParaRPr lang="en-US" altLang="ko-KR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sz="1600" dirty="0" smtClean="0">
                <a:latin typeface="나눔고딕" panose="020B0600000101010101" charset="-127"/>
                <a:ea typeface="나눔고딕" panose="020B0600000101010101" charset="-127"/>
              </a:rPr>
              <a:t>Python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공식 웹사이트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(https://pypi.python.org/)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에서 다운 받아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설치</a:t>
            </a:r>
            <a:endParaRPr lang="en-US" altLang="ko-KR" sz="16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Python 3.4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부터 설치할 때 윈도우와 맥에서는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자동으로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설치되지만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600" dirty="0" err="1">
                <a:latin typeface="나눔고딕" panose="020B0600000101010101" charset="-127"/>
                <a:ea typeface="나눔고딕" panose="020B0600000101010101" charset="-127"/>
              </a:rPr>
              <a:t>리눅스는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 따로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설치</a:t>
            </a:r>
            <a:endParaRPr lang="en-US" altLang="ko-KR" sz="16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참고로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600" dirty="0" err="1">
                <a:latin typeface="나눔고딕" panose="020B0600000101010101" charset="-127"/>
                <a:ea typeface="나눔고딕" panose="020B0600000101010101" charset="-127"/>
              </a:rPr>
              <a:t>윈도우즈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 운영체제에서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python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이나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pip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설치 위치를 파악하려면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command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창에서 “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where python”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또는 “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where pip”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를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입력</a:t>
            </a:r>
            <a:endParaRPr lang="en-US" altLang="ko-KR" sz="16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install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명령어와 설치하려는 모듈 이름만 입력하면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“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pip install </a:t>
            </a:r>
            <a:r>
              <a:rPr lang="ko-KR" altLang="en-US" sz="1600" dirty="0" err="1">
                <a:latin typeface="나눔고딕" panose="020B0600000101010101" charset="-127"/>
                <a:ea typeface="나눔고딕" panose="020B0600000101010101" charset="-127"/>
              </a:rPr>
              <a:t>패키지명</a:t>
            </a:r>
            <a:r>
              <a:rPr lang="en-US" altLang="ko-KR" sz="1600" dirty="0" smtClean="0">
                <a:latin typeface="나눔고딕" panose="020B0600000101010101" charset="-127"/>
                <a:ea typeface="나눔고딕" panose="020B0600000101010101" charset="-127"/>
              </a:rPr>
              <a:t>”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을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입력</a:t>
            </a:r>
            <a:endParaRPr lang="en-US" altLang="ko-KR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최신 </a:t>
            </a:r>
            <a:r>
              <a:rPr lang="ko-KR" altLang="en-US" sz="2000" dirty="0" err="1" smtClean="0">
                <a:latin typeface="나눔고딕" panose="020B0600000101010101" charset="-127"/>
                <a:ea typeface="나눔고딕" panose="020B0600000101010101" charset="-127"/>
              </a:rPr>
              <a:t>버젼으로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 업그레이드만 하는 경우</a:t>
            </a:r>
            <a:endParaRPr lang="en-US" altLang="ko-KR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 “</a:t>
            </a:r>
            <a:r>
              <a:rPr lang="en-US" altLang="ko-KR" sz="1600" dirty="0" smtClean="0">
                <a:latin typeface="나눔고딕" panose="020B0600000101010101" charset="-127"/>
                <a:ea typeface="나눔고딕" panose="020B0600000101010101" charset="-127"/>
              </a:rPr>
              <a:t>pip </a:t>
            </a:r>
            <a:r>
              <a:rPr lang="en-US" altLang="ko-KR" sz="1600" dirty="0" smtClean="0"/>
              <a:t>install —upgrade </a:t>
            </a:r>
            <a:r>
              <a:rPr lang="ko-KR" altLang="en-US" sz="1600" dirty="0" err="1" smtClean="0">
                <a:latin typeface="나눔고딕" panose="020B0600000101010101" charset="-127"/>
                <a:ea typeface="나눔고딕" panose="020B0600000101010101" charset="-127"/>
              </a:rPr>
              <a:t>패키지명</a:t>
            </a:r>
            <a:r>
              <a:rPr lang="en-US" altLang="ko-KR" sz="1600" dirty="0" smtClean="0">
                <a:latin typeface="나눔고딕" panose="020B0600000101010101" charset="-127"/>
                <a:ea typeface="나눔고딕" panose="020B0600000101010101" charset="-127"/>
              </a:rPr>
              <a:t>”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라고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입력</a:t>
            </a:r>
            <a:endParaRPr lang="en-US" altLang="ko-KR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1F720D3-A314-429D-B485-AF8ED5A10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50FA14-33D4-4307-818F-49B891F14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574A3F-003B-4AF2-9DD6-AA1628342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A19D689-FDB2-475F-A34A-CB101D71C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8A132F-7377-4E0C-8A89-244BB030D0A1}"/>
              </a:ext>
            </a:extLst>
          </p:cNvPr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추가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모듈 다운로드 및 설치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4E2FF8C-4DAC-42CD-856C-9D93DAAC1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96AE477-E7C3-4C62-845A-28C1E9040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D6EFAA89-1451-42DE-86F2-997EFE6DC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E4C548D8-F1D9-4C72-AE3A-D41C8A57F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5B51C9F5-5B65-4873-AB0B-B4DFB374E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0CC9D04B-5243-4138-A833-DB94F46CB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BEA628B9-06FB-46ED-97F5-FEA0E5B02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32A41589-F2C9-4C67-A640-793E31136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7635AFFE-409D-468E-8C80-123A75AEA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6E721BC-B5FF-49C6-B5B2-8056FE85C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5FBE61F7-DF08-425C-8A54-E44811621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966F5EFA-895C-4B62-8CCF-3A953215F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CACAF0E4-991D-4FCF-AA65-FEC4A11E0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6DEA937E-EF1A-42B8-A650-38475C8FE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BDEEDF6F-4253-4D00-966A-963E0B26B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1834" y="292197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B8E5F338-7D71-4AAE-A7A0-3A013BEA3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1834" y="322511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D2D44B-DEEF-4900-956A-615FD7C007BC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97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912476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추가 모듈 다운로드 및 설치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1F720D3-A314-429D-B485-AF8ED5A10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50FA14-33D4-4307-818F-49B891F14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574A3F-003B-4AF2-9DD6-AA1628342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A19D689-FDB2-475F-A34A-CB101D71C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8A132F-7377-4E0C-8A89-244BB030D0A1}"/>
              </a:ext>
            </a:extLst>
          </p:cNvPr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추가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모듈 다운로드 및 설치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4E2FF8C-4DAC-42CD-856C-9D93DAAC1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96AE477-E7C3-4C62-845A-28C1E9040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D6EFAA89-1451-42DE-86F2-997EFE6DC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E4C548D8-F1D9-4C72-AE3A-D41C8A57F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5B51C9F5-5B65-4873-AB0B-B4DFB374E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0CC9D04B-5243-4138-A833-DB94F46CB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BEA628B9-06FB-46ED-97F5-FEA0E5B02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32A41589-F2C9-4C67-A640-793E31136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7635AFFE-409D-468E-8C80-123A75AEA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06E721BC-B5FF-49C6-B5B2-8056FE85C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5FBE61F7-DF08-425C-8A54-E44811621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966F5EFA-895C-4B62-8CCF-3A953215F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CACAF0E4-991D-4FCF-AA65-FEC4A11E0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6DEA937E-EF1A-42B8-A650-38475C8FE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59812ACD-59F3-4C41-8FF4-85C6B6A13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6107D4C0-F65B-420E-B125-C94AB0DB2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E15A9C6B-9AEB-4C81-BE0D-5E68CB9CE093}"/>
              </a:ext>
            </a:extLst>
          </p:cNvPr>
          <p:cNvSpPr txBox="1">
            <a:spLocks/>
          </p:cNvSpPr>
          <p:nvPr/>
        </p:nvSpPr>
        <p:spPr>
          <a:xfrm>
            <a:off x="1783796" y="1631107"/>
            <a:ext cx="8470547" cy="13340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dirty="0" err="1" smtClean="0">
                <a:latin typeface="나눔고딕" panose="020B0600000101010101" charset="-127"/>
                <a:ea typeface="나눔고딕" panose="020B0600000101010101" charset="-127"/>
              </a:rPr>
              <a:t>PyCharm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에서 </a:t>
            </a:r>
            <a:r>
              <a:rPr lang="ko-KR" altLang="en-US" sz="2000" dirty="0" err="1" smtClean="0">
                <a:latin typeface="나눔고딕" panose="020B0600000101010101" charset="-127"/>
                <a:ea typeface="나눔고딕" panose="020B0600000101010101" charset="-127"/>
              </a:rPr>
              <a:t>패키치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 설치하고자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할 경우는 아래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화면처럼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오류가 생기는 부분에 마우스를 이동시킨 후 “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Alt + Enter”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키를 누르면 문제 해결 제안 창이 뜨는데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여기서 “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Install package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numpy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”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를 선택하면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B869C17-084E-431F-89D8-0E8585A95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1985" name="_x355954312" descr="EMB000003a47575">
            <a:extLst>
              <a:ext uri="{FF2B5EF4-FFF2-40B4-BE49-F238E27FC236}">
                <a16:creationId xmlns:a16="http://schemas.microsoft.com/office/drawing/2014/main" id="{A7F50302-76CE-4CF0-B9F8-409ED64B6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152" y="3033976"/>
            <a:ext cx="8315697" cy="312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D73F611-FBEB-474B-A070-6A9F143B740B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98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491353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컨테이너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964196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컨테이너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컨테이너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8"/>
            <a:ext cx="8470547" cy="42547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Python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에는 여러 항목들을 저장할 수 있는 다양한 자료형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즉 컨테이너들을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제공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컨테이너에는 시퀀스 자료형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셋 자료형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맵 </a:t>
            </a:r>
            <a:r>
              <a:rPr lang="ko-KR" altLang="en-US" sz="1600" dirty="0" err="1">
                <a:latin typeface="나눔고딕" panose="020B0600000101010101" charset="-127"/>
                <a:ea typeface="나눔고딕" panose="020B0600000101010101" charset="-127"/>
              </a:rPr>
              <a:t>자료형등이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endParaRPr lang="en-US" altLang="ko-KR" sz="16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순서가 있는 여러 값들을 저장할 수 있는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자료형이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시퀀스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(sequence) </a:t>
            </a:r>
            <a:r>
              <a:rPr lang="ko-KR" altLang="en-US" sz="2000" dirty="0" err="1" smtClean="0">
                <a:latin typeface="나눔고딕" panose="020B0600000101010101" charset="-127"/>
                <a:ea typeface="나눔고딕" panose="020B0600000101010101" charset="-127"/>
              </a:rPr>
              <a:t>자료형임</a:t>
            </a:r>
            <a:endParaRPr lang="en-US" altLang="ko-KR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시퀀스 </a:t>
            </a:r>
            <a:r>
              <a:rPr lang="ko-KR" altLang="en-US" sz="1600" dirty="0" err="1">
                <a:latin typeface="나눔고딕" panose="020B0600000101010101" charset="-127"/>
                <a:ea typeface="나눔고딕" panose="020B0600000101010101" charset="-127"/>
              </a:rPr>
              <a:t>자료형은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 기본 시퀀스 </a:t>
            </a:r>
            <a:r>
              <a:rPr lang="ko-KR" altLang="en-US" sz="1600" dirty="0" err="1">
                <a:latin typeface="나눔고딕" panose="020B0600000101010101" charset="-127"/>
                <a:ea typeface="나눔고딕" panose="020B0600000101010101" charset="-127"/>
              </a:rPr>
              <a:t>자료형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(list, tuple, range),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문자 시퀀스 </a:t>
            </a:r>
            <a:r>
              <a:rPr lang="ko-KR" altLang="en-US" sz="1600" dirty="0" err="1" smtClean="0">
                <a:latin typeface="나눔고딕" panose="020B0600000101010101" charset="-127"/>
                <a:ea typeface="나눔고딕" panose="020B0600000101010101" charset="-127"/>
              </a:rPr>
              <a:t>자료형</a:t>
            </a:r>
            <a:r>
              <a:rPr lang="en-US" altLang="ko-KR" sz="1600" dirty="0" smtClean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바이너리 시퀀스 </a:t>
            </a:r>
            <a:r>
              <a:rPr lang="ko-KR" altLang="en-US" sz="1600" dirty="0" err="1">
                <a:latin typeface="나눔고딕" panose="020B0600000101010101" charset="-127"/>
                <a:ea typeface="나눔고딕" panose="020B0600000101010101" charset="-127"/>
              </a:rPr>
              <a:t>자료형으로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 나눌 수 있음</a:t>
            </a:r>
            <a:endParaRPr lang="en-US" altLang="ko-KR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448EB7-9A75-4B12-BC5B-3081F5418932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100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519748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6629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시퀀스 자료형 공통 사항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 시퀀스 자료형 공통 사항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8"/>
            <a:ext cx="8470547" cy="50316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기본 시퀀스 자료형에는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list, tuple, range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가 있음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리스트는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Python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자료형 중 용도가 가장 다양한 자료형으로 대괄호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([])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안에 항목들을 콤마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(,)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로 분리하여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표현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항목들이 개수는 가변적이며 항목들의 자료형은 달라도 상관이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없음</a:t>
            </a:r>
            <a:endParaRPr lang="en-US" altLang="ko-KR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튜플은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리스트와 같이 여러 값을 저장할 수 있는 자료형으로 대괄호 대신 소괄호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(())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를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사용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리스트와의 차이점은 대괄호 대신 소괄호를 사용한다는 외형적인 </a:t>
            </a:r>
            <a:r>
              <a:rPr lang="ko-KR" altLang="en-US" sz="1600" dirty="0" err="1">
                <a:latin typeface="나눔고딕" panose="020B0600000101010101" charset="-127"/>
                <a:ea typeface="나눔고딕" panose="020B0600000101010101" charset="-127"/>
              </a:rPr>
              <a:t>차이뿐만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 아니라 그 내용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즉 항목의 개수나 항목 내용을 수정할 수 없다는 차이점이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r>
              <a:rPr lang="en-US" altLang="ko-KR" sz="1600" dirty="0" smtClean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즉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600" dirty="0" err="1">
                <a:latin typeface="나눔고딕" panose="020B0600000101010101" charset="-127"/>
                <a:ea typeface="나눔고딕" panose="020B0600000101010101" charset="-127"/>
              </a:rPr>
              <a:t>튜플은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 읽기 전용의 리스트로 생각하면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en-US" altLang="ko-KR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범위형은 숫자 시퀀스를 저장할 수 있는 자료형으로 주로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for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문의 반복 횟수를 지정할 때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사용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4BB8D8-3DA2-4DFE-AFD2-E197A03FBBD3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101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847724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6629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시퀀스 자료형 공통 사항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 시퀀스 자료형 공통 사항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8"/>
            <a:ext cx="8470547" cy="7331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기본 시퀀스 자료형을 포함한 대부분의 시퀀스 자료형은 기본적으로 아래의 표와 같은 연산자와 함수를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제공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C721B4A-BCF2-4778-842F-9790A053B0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141026"/>
              </p:ext>
            </p:extLst>
          </p:nvPr>
        </p:nvGraphicFramePr>
        <p:xfrm>
          <a:off x="5551715" y="2554177"/>
          <a:ext cx="5999584" cy="3982974"/>
        </p:xfrm>
        <a:graphic>
          <a:graphicData uri="http://schemas.openxmlformats.org/drawingml/2006/table">
            <a:tbl>
              <a:tblPr/>
              <a:tblGrid>
                <a:gridCol w="851375">
                  <a:extLst>
                    <a:ext uri="{9D8B030D-6E8A-4147-A177-3AD203B41FA5}">
                      <a16:colId xmlns:a16="http://schemas.microsoft.com/office/drawing/2014/main" val="2669650460"/>
                    </a:ext>
                  </a:extLst>
                </a:gridCol>
                <a:gridCol w="5148209">
                  <a:extLst>
                    <a:ext uri="{9D8B030D-6E8A-4147-A177-3AD203B41FA5}">
                      <a16:colId xmlns:a16="http://schemas.microsoft.com/office/drawing/2014/main" val="1199600863"/>
                    </a:ext>
                  </a:extLst>
                </a:gridCol>
              </a:tblGrid>
              <a:tr h="31335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연산자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내용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4790412"/>
                  </a:ext>
                </a:extLst>
              </a:tr>
              <a:tr h="58658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x in s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x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가 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에 포함되어 있으면 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True,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그렇지 않으면 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False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i="1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print( 3 in list1); print(3 in tuple1); print(3 in range1) # T F T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0261247"/>
                  </a:ext>
                </a:extLst>
              </a:tr>
              <a:tr h="58658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x not in s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x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가 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에 포함되어 있으면 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False,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그렇지 않으면 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True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i="1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print( 3 not in list1); print(3 not in tuple1); print(3 not in range1)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2408048"/>
                  </a:ext>
                </a:extLst>
              </a:tr>
              <a:tr h="113304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 + t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와 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t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가 합쳐진 결과를 반환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i="1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print(list1 + list2) # [1, 3, 5, 7, 9, 2, 4, 6, 8]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i="1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print(tuple1 + tuple2) # (2, 4, 6, 8, 1, 3, 5, 7, 9)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i="1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print(range1 + range2) # </a:t>
                      </a:r>
                      <a:r>
                        <a:rPr lang="ko-KR" altLang="en-US" sz="1200" i="1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오류</a:t>
                      </a:r>
                      <a:r>
                        <a:rPr lang="en-US" altLang="ko-KR" sz="1200" i="1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 </a:t>
                      </a:r>
                      <a:r>
                        <a:rPr lang="ko-KR" altLang="en-US" sz="1200" i="1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지원되지 않음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3646733"/>
                  </a:ext>
                </a:extLst>
              </a:tr>
              <a:tr h="113304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 * n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또는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n * s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를 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n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번 덧 붙인 결과 반환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print(list1*2) # [1, 3, 5, 7, 9, 1, 3, 5, 7, 9]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print(2*tuple1) # (2, 4, 6, 8, 2, 4, 6, 8)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print(2*range) # </a:t>
                      </a:r>
                      <a:r>
                        <a:rPr lang="ko-KR" altLang="en-US" sz="12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오류</a:t>
                      </a:r>
                      <a:r>
                        <a:rPr lang="en-US" altLang="ko-KR" sz="12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 </a:t>
                      </a:r>
                      <a:r>
                        <a:rPr lang="ko-KR" altLang="en-US" sz="12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지원되지 않음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810845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E7B2358-B06E-4D49-87AB-B33DA24D0541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102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528735" y="3353344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list1 = [1, 3, 5, 7, 9]; list2 = [2, 4, 6, 8]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tuple1 = (2, 4, 6, 8); tuple2 = (1, 3, 5, 7, 9)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range1 = range(1, 6); range2 = range(6, 10)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882301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6629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시퀀스 자료형 공통 사항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 시퀀스 자료형 공통 사항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FEB1F71-7BC7-4415-BD3C-6245EA7617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531517"/>
              </p:ext>
            </p:extLst>
          </p:nvPr>
        </p:nvGraphicFramePr>
        <p:xfrm>
          <a:off x="1651518" y="2034157"/>
          <a:ext cx="8164286" cy="3862578"/>
        </p:xfrm>
        <a:graphic>
          <a:graphicData uri="http://schemas.openxmlformats.org/drawingml/2006/table">
            <a:tbl>
              <a:tblPr/>
              <a:tblGrid>
                <a:gridCol w="1218397">
                  <a:extLst>
                    <a:ext uri="{9D8B030D-6E8A-4147-A177-3AD203B41FA5}">
                      <a16:colId xmlns:a16="http://schemas.microsoft.com/office/drawing/2014/main" val="78853920"/>
                    </a:ext>
                  </a:extLst>
                </a:gridCol>
                <a:gridCol w="6945889">
                  <a:extLst>
                    <a:ext uri="{9D8B030D-6E8A-4147-A177-3AD203B41FA5}">
                      <a16:colId xmlns:a16="http://schemas.microsoft.com/office/drawing/2014/main" val="120655880"/>
                    </a:ext>
                  </a:extLst>
                </a:gridCol>
              </a:tblGrid>
              <a:tr h="67725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s[</a:t>
                      </a: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i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]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의 </a:t>
                      </a: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i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번째 항목을 반환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 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인덱스는 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0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에서부터 시작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print(list1[0]); print(tuple1[0]); print(range1[0]) # 1 2 1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0868586"/>
                  </a:ext>
                </a:extLst>
              </a:tr>
              <a:tr h="130818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s[</a:t>
                      </a: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i:j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]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의 항목 중 </a:t>
                      </a: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i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번째부터 </a:t>
                      </a: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j-1 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번째까지의 항목들을 같은 형식으로 반환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print(list1[0:2]) # [1, 3]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print(tuple1[0:2]) # (2, 4)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print(range1[0:2]) # range(1, 3)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5699409"/>
                  </a:ext>
                </a:extLst>
              </a:tr>
              <a:tr h="130818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s[i:j:k]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의 항목 중 </a:t>
                      </a:r>
                      <a:r>
                        <a:rPr lang="en-US" altLang="ko-KR" sz="14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i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번째부터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k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만큼 건너 뛰면서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j-1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번째까지의 항목들을 같은 형식으로 반환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print(list1[0:4:2]) # [1, 5]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print(tuple1[0:2:2]) # (2,)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print(range1[0:8:2]) # range(1, 6, 2)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842147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D9F89EF-E630-437E-9A14-52933452625F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103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005461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6629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시퀀스 자료형 공통 사항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 시퀀스 자료형 공통 사항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4470F1A-330A-42BD-B515-108A5666FE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483847"/>
              </p:ext>
            </p:extLst>
          </p:nvPr>
        </p:nvGraphicFramePr>
        <p:xfrm>
          <a:off x="1888802" y="1709785"/>
          <a:ext cx="9056005" cy="4921067"/>
        </p:xfrm>
        <a:graphic>
          <a:graphicData uri="http://schemas.openxmlformats.org/drawingml/2006/table">
            <a:tbl>
              <a:tblPr/>
              <a:tblGrid>
                <a:gridCol w="1364107">
                  <a:extLst>
                    <a:ext uri="{9D8B030D-6E8A-4147-A177-3AD203B41FA5}">
                      <a16:colId xmlns:a16="http://schemas.microsoft.com/office/drawing/2014/main" val="4174033111"/>
                    </a:ext>
                  </a:extLst>
                </a:gridCol>
                <a:gridCol w="7691898">
                  <a:extLst>
                    <a:ext uri="{9D8B030D-6E8A-4147-A177-3AD203B41FA5}">
                      <a16:colId xmlns:a16="http://schemas.microsoft.com/office/drawing/2014/main" val="1537211200"/>
                    </a:ext>
                  </a:extLst>
                </a:gridCol>
              </a:tblGrid>
              <a:tr h="27491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함수</a:t>
                      </a:r>
                    </a:p>
                  </a:txBody>
                  <a:tcPr marL="63672" marR="63672" marT="17603" marB="1760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내용</a:t>
                      </a:r>
                    </a:p>
                  </a:txBody>
                  <a:tcPr marL="63672" marR="63672" marT="17603" marB="1760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7267352"/>
                  </a:ext>
                </a:extLst>
              </a:tr>
              <a:tr h="51462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len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(s)</a:t>
                      </a:r>
                    </a:p>
                  </a:txBody>
                  <a:tcPr marL="63672" marR="63672" marT="17603" marB="1760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의 길이 반환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print(</a:t>
                      </a:r>
                      <a:r>
                        <a:rPr lang="en-US" sz="1200" i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len</a:t>
                      </a:r>
                      <a:r>
                        <a:rPr lang="en-US" sz="12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(list1)); print(</a:t>
                      </a:r>
                      <a:r>
                        <a:rPr lang="en-US" sz="1200" i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len</a:t>
                      </a:r>
                      <a:r>
                        <a:rPr lang="en-US" sz="12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(tuple1)); print(</a:t>
                      </a:r>
                      <a:r>
                        <a:rPr lang="en-US" sz="1200" i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len</a:t>
                      </a:r>
                      <a:r>
                        <a:rPr lang="en-US" sz="12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(range1)) # 5 4 5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3672" marR="63672" marT="17603" marB="1760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3002904"/>
                  </a:ext>
                </a:extLst>
              </a:tr>
              <a:tr h="51462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min(s)</a:t>
                      </a:r>
                    </a:p>
                  </a:txBody>
                  <a:tcPr marL="63672" marR="63672" marT="17603" marB="1760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항목 중 가장 작은 항목을 반환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print(min(list1)); print(min(tuple1)); print(min(range1)) # 1 2 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3672" marR="63672" marT="17603" marB="1760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4159170"/>
                  </a:ext>
                </a:extLst>
              </a:tr>
              <a:tr h="51462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max(s)</a:t>
                      </a:r>
                    </a:p>
                  </a:txBody>
                  <a:tcPr marL="63672" marR="63672" marT="17603" marB="1760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항목 중 가장 큰 항목을 반환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print(max(list1)); print(max(tuple1)); print(max(range1)) # 9 8 5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3672" marR="63672" marT="17603" marB="1760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3160092"/>
                  </a:ext>
                </a:extLst>
              </a:tr>
              <a:tr h="147344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s.index(x, i, j)</a:t>
                      </a:r>
                    </a:p>
                  </a:txBody>
                  <a:tcPr marL="63672" marR="63672" marT="17603" marB="1760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항목 중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x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가 발생하는 첫 번째 위치 값 반환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 </a:t>
                      </a:r>
                      <a:r>
                        <a:rPr lang="en-US" altLang="ko-KR" sz="12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i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와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j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로 그 범위를 한정할 수도 있음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단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range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는 범위를 지정할 수 없음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 x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가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의 지정된 범위 내에 존재하지 않을 경우 오류 발생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print(list1.index(5)) # 2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print(tuple1.index(2, 2, 4)) # </a:t>
                      </a:r>
                      <a:r>
                        <a:rPr lang="ko-KR" altLang="en-US" sz="12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오류</a:t>
                      </a:r>
                      <a:r>
                        <a:rPr lang="en-US" altLang="ko-KR" sz="12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 </a:t>
                      </a:r>
                      <a:r>
                        <a:rPr lang="ko-KR" altLang="en-US" sz="12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주어진 범위 내에 존재하지 않음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print(range1.index(3)) # 2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3672" marR="63672" marT="17603" marB="1760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6530294"/>
                  </a:ext>
                </a:extLst>
              </a:tr>
              <a:tr h="123374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s.count(x)</a:t>
                      </a:r>
                    </a:p>
                  </a:txBody>
                  <a:tcPr marL="63672" marR="63672" marT="17603" marB="1760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항목 중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x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가 발생하는 횟수 반환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 x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가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에 존재하지 않으면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0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을 반환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반드시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x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를 지정해 주어야 함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print(list1.count()) # </a:t>
                      </a:r>
                      <a:r>
                        <a:rPr lang="ko-KR" altLang="en-US" sz="12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오류</a:t>
                      </a:r>
                      <a:r>
                        <a:rPr lang="en-US" altLang="ko-KR" sz="12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 </a:t>
                      </a:r>
                      <a:r>
                        <a:rPr lang="ko-KR" altLang="en-US" sz="12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인수를 지정해 주지 않음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print(tuple1.count(3)) # 0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print(range1.count(1)) # 1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3672" marR="63672" marT="17603" marB="1760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541349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9D11671-5311-496C-AF3A-21F3A7D37427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104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932494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6629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시퀀스 자료형 공통 사항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 시퀀스 자료형 공통 사항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8"/>
            <a:ext cx="8470547" cy="10094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시퀀스 자료형은 그 저장된 값을 변경할 수 </a:t>
            </a:r>
            <a:r>
              <a:rPr lang="ko-KR" altLang="en-US" sz="1800" dirty="0" err="1">
                <a:latin typeface="나눔고딕" panose="020B0600000101010101" charset="-127"/>
                <a:ea typeface="나눔고딕" panose="020B0600000101010101" charset="-127"/>
              </a:rPr>
              <a:t>있는냐에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 따라 변경 가능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(mutable)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시퀀스 자료형과 변경 불가능 시퀀스 자료형으로 나누어 볼 수 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endParaRPr lang="en-US" altLang="ko-KR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400" dirty="0" smtClean="0">
                <a:latin typeface="나눔고딕" panose="020B0600000101010101" charset="-127"/>
                <a:ea typeface="나눔고딕" panose="020B0600000101010101" charset="-127"/>
              </a:rPr>
              <a:t>리스트는 내용을 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변경할 수 있는 </a:t>
            </a:r>
            <a:r>
              <a:rPr lang="ko-KR" altLang="en-US" sz="1400" dirty="0" err="1">
                <a:latin typeface="나눔고딕" panose="020B0600000101010101" charset="-127"/>
                <a:ea typeface="나눔고딕" panose="020B0600000101010101" charset="-127"/>
              </a:rPr>
              <a:t>자료형이지만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400" dirty="0" err="1">
                <a:latin typeface="나눔고딕" panose="020B0600000101010101" charset="-127"/>
                <a:ea typeface="나눔고딕" panose="020B0600000101010101" charset="-127"/>
              </a:rPr>
              <a:t>튜플형과</a:t>
            </a:r>
            <a:r>
              <a:rPr lang="ko-KR" altLang="en-US" sz="1400" dirty="0">
                <a:latin typeface="나눔고딕" panose="020B0600000101010101" charset="-127"/>
                <a:ea typeface="나눔고딕" panose="020B0600000101010101" charset="-127"/>
              </a:rPr>
              <a:t> 범위형은 그 내용을 변경할 수 없는 </a:t>
            </a:r>
            <a:r>
              <a:rPr lang="ko-KR" altLang="en-US" sz="1400" dirty="0" err="1" smtClean="0">
                <a:latin typeface="나눔고딕" panose="020B0600000101010101" charset="-127"/>
                <a:ea typeface="나눔고딕" panose="020B0600000101010101" charset="-127"/>
              </a:rPr>
              <a:t>자료형임</a:t>
            </a:r>
            <a:endParaRPr lang="en-US" altLang="ko-KR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18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A1CFB9B-373A-447D-AE2E-CE69D1BF7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537597"/>
              </p:ext>
            </p:extLst>
          </p:nvPr>
        </p:nvGraphicFramePr>
        <p:xfrm>
          <a:off x="2046792" y="2859701"/>
          <a:ext cx="7946293" cy="2747996"/>
        </p:xfrm>
        <a:graphic>
          <a:graphicData uri="http://schemas.openxmlformats.org/drawingml/2006/table">
            <a:tbl>
              <a:tblPr/>
              <a:tblGrid>
                <a:gridCol w="1561075">
                  <a:extLst>
                    <a:ext uri="{9D8B030D-6E8A-4147-A177-3AD203B41FA5}">
                      <a16:colId xmlns:a16="http://schemas.microsoft.com/office/drawing/2014/main" val="3837368185"/>
                    </a:ext>
                  </a:extLst>
                </a:gridCol>
                <a:gridCol w="6385218">
                  <a:extLst>
                    <a:ext uri="{9D8B030D-6E8A-4147-A177-3AD203B41FA5}">
                      <a16:colId xmlns:a16="http://schemas.microsoft.com/office/drawing/2014/main" val="1611777084"/>
                    </a:ext>
                  </a:extLst>
                </a:gridCol>
              </a:tblGrid>
              <a:tr h="39620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연산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내용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809289"/>
                  </a:ext>
                </a:extLst>
              </a:tr>
              <a:tr h="78393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s[i] = x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의 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i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번째 항목을 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x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로 치환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i="1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list1[0] = 2; print(list1) # [2, 3, 5, 7, 9]</a:t>
                      </a:r>
                      <a:endParaRPr lang="ko-KR" altLang="en-US" sz="1400" kern="0" spc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069114"/>
                  </a:ext>
                </a:extLst>
              </a:tr>
              <a:tr h="78393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s[i:j] = t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의 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i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번째부터 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j-1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번째까지의 항목을 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t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로 치환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i="1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list1[0:3] = [2, 4, 6]; print(list1) # [2, 4, 6, 7, 9]</a:t>
                      </a:r>
                      <a:endParaRPr lang="ko-KR" altLang="en-US" sz="1400" kern="0" spc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7524251"/>
                  </a:ext>
                </a:extLst>
              </a:tr>
              <a:tr h="78393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del s[i:j]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의 </a:t>
                      </a:r>
                      <a:r>
                        <a:rPr lang="en-US" altLang="ko-KR" sz="14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i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번째부터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j-1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번째까지의 항목을 삭제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del list1[0:3]; print(list1) # [7, 9]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284227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CB78D4E-D425-4969-A1FD-7B4DF7BECE5B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105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169611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6629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시퀀스 자료형 공통 사항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 시퀀스 자료형 공통 사항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FDAD586-1E5E-4469-8EE1-389A4D5201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305622"/>
              </p:ext>
            </p:extLst>
          </p:nvPr>
        </p:nvGraphicFramePr>
        <p:xfrm>
          <a:off x="1972147" y="1815019"/>
          <a:ext cx="8413439" cy="3736220"/>
        </p:xfrm>
        <a:graphic>
          <a:graphicData uri="http://schemas.openxmlformats.org/drawingml/2006/table">
            <a:tbl>
              <a:tblPr/>
              <a:tblGrid>
                <a:gridCol w="1652848">
                  <a:extLst>
                    <a:ext uri="{9D8B030D-6E8A-4147-A177-3AD203B41FA5}">
                      <a16:colId xmlns:a16="http://schemas.microsoft.com/office/drawing/2014/main" val="3155112755"/>
                    </a:ext>
                  </a:extLst>
                </a:gridCol>
                <a:gridCol w="6760591">
                  <a:extLst>
                    <a:ext uri="{9D8B030D-6E8A-4147-A177-3AD203B41FA5}">
                      <a16:colId xmlns:a16="http://schemas.microsoft.com/office/drawing/2014/main" val="2896588116"/>
                    </a:ext>
                  </a:extLst>
                </a:gridCol>
              </a:tblGrid>
              <a:tr h="80816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l-PL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s[i:j:k] = t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의 항목 중 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i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번째부터 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k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만큼 건너 뛰면서 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j-1 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번째까지의 항목들을 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t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로 치환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i="1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list1[0:6:2] = [2, 6, 8]; print(list1) # [2, 3, 6, 7, 8]</a:t>
                      </a:r>
                      <a:endParaRPr lang="ko-KR" altLang="en-US" sz="1400" kern="0" spc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4410998"/>
                  </a:ext>
                </a:extLst>
              </a:tr>
              <a:tr h="80816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l-PL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del s[i:j:k]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의 항목 중 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i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번째부터 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k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만큼 건너 뛰면서 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j-1 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번째까지의 항목들을 삭제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i="1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del list1[0:6:2]; print(list1) # [3, 7]</a:t>
                      </a:r>
                      <a:endParaRPr lang="ko-KR" altLang="en-US" sz="1400" kern="0" spc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2947927"/>
                  </a:ext>
                </a:extLst>
              </a:tr>
              <a:tr h="104618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 += t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를 </a:t>
                      </a: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t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과 합친 결과로 갱신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 = ["xxx", "yyy", "zzz"]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 += ["aaa", "bbb"]; print(s) # ["xxx", "yyy", "zzz", "aaa", "bbb"]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3280739"/>
                  </a:ext>
                </a:extLst>
              </a:tr>
              <a:tr h="104618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 *= n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를 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n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번 반복한 내용으로 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를 갱신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 = ["xxx", "</a:t>
                      </a:r>
                      <a:r>
                        <a:rPr lang="en-US" sz="1400" i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yyy</a:t>
                      </a:r>
                      <a:r>
                        <a:rPr lang="en-US" sz="14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", "</a:t>
                      </a:r>
                      <a:r>
                        <a:rPr lang="en-US" sz="1400" i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zzz</a:t>
                      </a:r>
                      <a:r>
                        <a:rPr lang="en-US" sz="14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"]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 *= 2; print(s) # ["xxx", "</a:t>
                      </a:r>
                      <a:r>
                        <a:rPr lang="en-US" sz="1400" i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yyy</a:t>
                      </a:r>
                      <a:r>
                        <a:rPr lang="en-US" sz="14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", "</a:t>
                      </a:r>
                      <a:r>
                        <a:rPr lang="en-US" sz="1400" i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zzz</a:t>
                      </a:r>
                      <a:r>
                        <a:rPr lang="en-US" sz="14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", "xxx", "</a:t>
                      </a:r>
                      <a:r>
                        <a:rPr lang="en-US" sz="1400" i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yyy</a:t>
                      </a:r>
                      <a:r>
                        <a:rPr lang="en-US" sz="14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", "</a:t>
                      </a:r>
                      <a:r>
                        <a:rPr lang="en-US" sz="1400" i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zzz</a:t>
                      </a:r>
                      <a:r>
                        <a:rPr lang="en-US" sz="14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"]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43060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F5B0536-8F8A-4A7C-A054-FFF339491EDF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106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577465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6629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시퀀스 자료형 공통 사항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 시퀀스 자료형 공통 사항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38C7B2D-70FF-46E4-B799-9AF796C8BF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172727"/>
              </p:ext>
            </p:extLst>
          </p:nvPr>
        </p:nvGraphicFramePr>
        <p:xfrm>
          <a:off x="1962818" y="1598061"/>
          <a:ext cx="7908970" cy="4298605"/>
        </p:xfrm>
        <a:graphic>
          <a:graphicData uri="http://schemas.openxmlformats.org/drawingml/2006/table">
            <a:tbl>
              <a:tblPr/>
              <a:tblGrid>
                <a:gridCol w="1553743">
                  <a:extLst>
                    <a:ext uri="{9D8B030D-6E8A-4147-A177-3AD203B41FA5}">
                      <a16:colId xmlns:a16="http://schemas.microsoft.com/office/drawing/2014/main" val="3371798577"/>
                    </a:ext>
                  </a:extLst>
                </a:gridCol>
                <a:gridCol w="6355227">
                  <a:extLst>
                    <a:ext uri="{9D8B030D-6E8A-4147-A177-3AD203B41FA5}">
                      <a16:colId xmlns:a16="http://schemas.microsoft.com/office/drawing/2014/main" val="2460766475"/>
                    </a:ext>
                  </a:extLst>
                </a:gridCol>
              </a:tblGrid>
              <a:tr h="36040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함수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내용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193931"/>
                  </a:ext>
                </a:extLst>
              </a:tr>
              <a:tr h="141848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s.append(x)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에 </a:t>
                      </a: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x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를 추가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 = ["xxx", "yyy"];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s.append("zzz"); print(s) # ["xxx", "yyy", "zzz"]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s.append(["zzz", "ccc"]); print(s) # ["xxx", "yyy", ["zzz", "ccc"]]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8990156"/>
                  </a:ext>
                </a:extLst>
              </a:tr>
              <a:tr h="71310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s.clear()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를 클리어시킴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 = ["xxx", "yyy"]; s.clear(); print(s) # []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672954"/>
                  </a:ext>
                </a:extLst>
              </a:tr>
              <a:tr h="71310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s.copy()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의 복사본을 반환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 = ["xxx", "yyy"]; t = s.copy(); print(t) # ["xxx", "yyy"]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3763165"/>
                  </a:ext>
                </a:extLst>
              </a:tr>
              <a:tr h="106579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s.extens(t)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를 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t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과 합친 결과로 갱신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 = ["xxx", "</a:t>
                      </a:r>
                      <a:r>
                        <a:rPr lang="en-US" sz="1400" i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yyy</a:t>
                      </a:r>
                      <a:r>
                        <a:rPr lang="en-US" sz="14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"]; t = ["</a:t>
                      </a:r>
                      <a:r>
                        <a:rPr lang="en-US" sz="1400" i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aaa</a:t>
                      </a:r>
                      <a:r>
                        <a:rPr lang="en-US" sz="14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", "</a:t>
                      </a:r>
                      <a:r>
                        <a:rPr lang="en-US" sz="1400" i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bbb</a:t>
                      </a:r>
                      <a:r>
                        <a:rPr lang="en-US" sz="14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"]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s.extend</a:t>
                      </a:r>
                      <a:r>
                        <a:rPr lang="en-US" sz="14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(t); print(s) # ["xxx", "</a:t>
                      </a:r>
                      <a:r>
                        <a:rPr lang="en-US" sz="1400" i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yyy</a:t>
                      </a:r>
                      <a:r>
                        <a:rPr lang="en-US" sz="14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", "</a:t>
                      </a:r>
                      <a:r>
                        <a:rPr lang="en-US" sz="1400" i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aaa</a:t>
                      </a:r>
                      <a:r>
                        <a:rPr lang="en-US" sz="14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", "</a:t>
                      </a:r>
                      <a:r>
                        <a:rPr lang="en-US" sz="1400" i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bbb</a:t>
                      </a:r>
                      <a:r>
                        <a:rPr lang="en-US" sz="14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"]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154413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D44CD40-68F0-4FAB-9694-35A9AFDC958A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107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664815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6629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시퀀스 자료형 공통 사항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 시퀀스 자료형 공통 사항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455C2B2-F3DA-4147-A3F8-CE71B569AB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922299"/>
              </p:ext>
            </p:extLst>
          </p:nvPr>
        </p:nvGraphicFramePr>
        <p:xfrm>
          <a:off x="1888803" y="1642403"/>
          <a:ext cx="8272234" cy="4515800"/>
        </p:xfrm>
        <a:graphic>
          <a:graphicData uri="http://schemas.openxmlformats.org/drawingml/2006/table">
            <a:tbl>
              <a:tblPr/>
              <a:tblGrid>
                <a:gridCol w="1625107">
                  <a:extLst>
                    <a:ext uri="{9D8B030D-6E8A-4147-A177-3AD203B41FA5}">
                      <a16:colId xmlns:a16="http://schemas.microsoft.com/office/drawing/2014/main" val="2225002647"/>
                    </a:ext>
                  </a:extLst>
                </a:gridCol>
                <a:gridCol w="6647127">
                  <a:extLst>
                    <a:ext uri="{9D8B030D-6E8A-4147-A177-3AD203B41FA5}">
                      <a16:colId xmlns:a16="http://schemas.microsoft.com/office/drawing/2014/main" val="1981891069"/>
                    </a:ext>
                  </a:extLst>
                </a:gridCol>
              </a:tblGrid>
              <a:tr h="112895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s.insert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</a:t>
                      </a: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i,x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x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를 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의 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i 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번째 항목으로 추가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 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인덱스는 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0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부터 시작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i="1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 = ["xxx", "yyy", "zzz"];</a:t>
                      </a:r>
                      <a:endParaRPr lang="ko-KR" altLang="en-US" sz="1400" kern="0" spc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i="1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s.insert(1, "ccc"); print(s) # ["xxx", "ccc", "yyy", "zzz"]</a:t>
                      </a:r>
                      <a:endParaRPr lang="ko-KR" altLang="en-US" sz="1400" kern="0" spc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6923535"/>
                  </a:ext>
                </a:extLst>
              </a:tr>
              <a:tr h="112895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s.pop(i)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x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의 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i 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번째 항목을 리스트에서 제거하고 그 값을 반환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i="1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 = ["xxx", "yyy", "zzz"];</a:t>
                      </a:r>
                      <a:endParaRPr lang="ko-KR" altLang="en-US" sz="1400" kern="0" spc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i="1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x = s.pop(1); print(x, s) # "yyy" ["xxx", "zzz"]</a:t>
                      </a:r>
                      <a:endParaRPr lang="ko-KR" altLang="en-US" sz="1400" kern="0" spc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7816278"/>
                  </a:ext>
                </a:extLst>
              </a:tr>
              <a:tr h="112895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s.remove(x)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에서 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x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를 제거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 = ["xxx", "</a:t>
                      </a:r>
                      <a:r>
                        <a:rPr lang="en-US" sz="1400" i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yyy</a:t>
                      </a:r>
                      <a:r>
                        <a:rPr lang="en-US" sz="14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", "</a:t>
                      </a:r>
                      <a:r>
                        <a:rPr lang="en-US" sz="1400" i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zzz</a:t>
                      </a:r>
                      <a:r>
                        <a:rPr lang="en-US" sz="14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"];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s.remove</a:t>
                      </a:r>
                      <a:r>
                        <a:rPr lang="en-US" sz="14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("xxx"); print(s) # ["</a:t>
                      </a:r>
                      <a:r>
                        <a:rPr lang="en-US" sz="1400" i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yyy</a:t>
                      </a:r>
                      <a:r>
                        <a:rPr lang="en-US" sz="14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", "</a:t>
                      </a:r>
                      <a:r>
                        <a:rPr lang="en-US" sz="1400" i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zzz</a:t>
                      </a:r>
                      <a:r>
                        <a:rPr lang="en-US" sz="14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"]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200584"/>
                  </a:ext>
                </a:extLst>
              </a:tr>
              <a:tr h="112895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s.reverse()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의 항목들을 역순으로 배치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 = ["xxx", "</a:t>
                      </a:r>
                      <a:r>
                        <a:rPr lang="en-US" sz="1400" i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yyy</a:t>
                      </a:r>
                      <a:r>
                        <a:rPr lang="en-US" sz="14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", "</a:t>
                      </a:r>
                      <a:r>
                        <a:rPr lang="en-US" sz="1400" i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zzz</a:t>
                      </a:r>
                      <a:r>
                        <a:rPr lang="en-US" sz="14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"];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s.reverse</a:t>
                      </a:r>
                      <a:r>
                        <a:rPr lang="en-US" sz="14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(); print(s) # ["</a:t>
                      </a:r>
                      <a:r>
                        <a:rPr lang="en-US" sz="1400" i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zzz</a:t>
                      </a:r>
                      <a:r>
                        <a:rPr lang="en-US" sz="14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", "</a:t>
                      </a:r>
                      <a:r>
                        <a:rPr lang="en-US" sz="1400" i="1" kern="0" spc="0" dirty="0" err="1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yyy</a:t>
                      </a:r>
                      <a:r>
                        <a:rPr lang="en-US" sz="1400" i="1" kern="0" spc="0" dirty="0">
                          <a:solidFill>
                            <a:srgbClr val="0000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", "xxx"]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43706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FB1DD71-9E4B-4AC1-9639-077A441A5AAD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108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806839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6629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시퀀스 자료형 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-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리스트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 시퀀스 자료형 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- 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리스트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8"/>
            <a:ext cx="8769126" cy="43524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리스트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(List)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는 다른 유형의 항목들을 저장할 수 있는 유연성이 뛰어난 자료형으로 변경 가능한 시퀀스 </a:t>
            </a:r>
            <a:r>
              <a:rPr lang="ko-KR" altLang="en-US" sz="2000" dirty="0" err="1" smtClean="0">
                <a:latin typeface="나눔고딕" panose="020B0600000101010101" charset="-127"/>
                <a:ea typeface="나눔고딕" panose="020B0600000101010101" charset="-127"/>
              </a:rPr>
              <a:t>자료형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 임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리스트는 아래의 예제와 같은 다양한 방법으로 생성 가능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list1 = []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		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빈 리스트</a:t>
            </a: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list2 = [1, 2, 3]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		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여러 항목들을 갖는 리스트</a:t>
            </a: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list3 = [x+1 for x in list2]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# [2, 3, 4],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기존 리스트로부터 생성</a:t>
            </a: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list4 = list()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		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생성자를 이용하여 빈 리스트 생성</a:t>
            </a: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list5 = list([1,2,3])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	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생성자를 이용하여 기존 리스트로부터 생성</a:t>
            </a: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384990-CAA5-4623-8DF4-CC7A27C69A13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109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742444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6629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시퀀스 자료형 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-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리스트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 시퀀스 자료형 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- 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리스트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8"/>
            <a:ext cx="8470547" cy="48128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리스트에서는 앞에서 설명한 시퀀스 자료형의 공통 연산과 변경 가능 시퀀스 자료형에서 제공하는 연산들 그리고 추가로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sort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메서드를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제공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첫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번째 인수인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key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는 각 항목에서 비교 키를 추출하는 데 사용되는 함수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예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: key = </a:t>
            </a:r>
            <a:r>
              <a:rPr lang="en-US" altLang="ko-KR" sz="1600" dirty="0" err="1">
                <a:latin typeface="나눔고딕" panose="020B0600000101010101" charset="-127"/>
                <a:ea typeface="나눔고딕" panose="020B0600000101010101" charset="-127"/>
              </a:rPr>
              <a:t>str.lower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이며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두 번째 인수는 정렬을 역순으로 하지를 지정하는 </a:t>
            </a:r>
            <a:r>
              <a:rPr lang="ko-KR" altLang="en-US" sz="1600" dirty="0" err="1">
                <a:latin typeface="나눔고딕" panose="020B0600000101010101" charset="-127"/>
                <a:ea typeface="나눔고딕" panose="020B0600000101010101" charset="-127"/>
              </a:rPr>
              <a:t>불리안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값임</a:t>
            </a:r>
            <a:endParaRPr lang="en-US" altLang="ko-KR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57200" lvl="1" indent="0" fontAlgn="base">
              <a:buNone/>
            </a:pPr>
            <a:endParaRPr lang="en-US" altLang="ko-KR" sz="16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979FBA-9E9B-4917-988E-D22DF85A084F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110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1780544" y="3487953"/>
            <a:ext cx="8470547" cy="1140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base"/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첫 번째 인수 없이 호출할 경우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항목이 숫자이며 숫자의 오름차순으로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정렬</a:t>
            </a:r>
            <a:endParaRPr lang="en-US" altLang="ko-KR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참고로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, sort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메서드 대신에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sorted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함수를 사용할 수도 있는데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이 함수는 인수로 주어진 리스트 자체를 정렬하지 않고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정렬된 새 리스트를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반환</a:t>
            </a:r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241733" y="3005118"/>
            <a:ext cx="33791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sort(key=None, reverse=False)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2241733" y="474846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list1 = [3,9,5,1,7]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list1.sort()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# [1, 3, 5, 7, 9]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list1.sort(reverse=True) # [9, 7, 5, 3, 1]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list1 = sorted(list1)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# [1, 3, 5, 7, 9]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27110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6629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시퀀스 자료형 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-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리스트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 시퀀스 자료형 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- 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리스트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8"/>
            <a:ext cx="8470547" cy="46756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2000" b="1" dirty="0">
                <a:latin typeface="나눔고딕" panose="020B0600000101010101" charset="-127"/>
                <a:ea typeface="나눔고딕" panose="020B0600000101010101" charset="-127"/>
              </a:rPr>
              <a:t>[</a:t>
            </a:r>
            <a:r>
              <a:rPr lang="ko-KR" altLang="en-US" sz="2000" b="1" dirty="0">
                <a:latin typeface="나눔고딕" panose="020B0600000101010101" charset="-127"/>
                <a:ea typeface="나눔고딕" panose="020B0600000101010101" charset="-127"/>
              </a:rPr>
              <a:t>실습</a:t>
            </a:r>
            <a:r>
              <a:rPr lang="en-US" altLang="ko-KR" sz="2000" b="1" dirty="0">
                <a:latin typeface="나눔고딕" panose="020B0600000101010101" charset="-127"/>
                <a:ea typeface="나눔고딕" panose="020B0600000101010101" charset="-127"/>
              </a:rPr>
              <a:t>] </a:t>
            </a:r>
            <a:r>
              <a:rPr lang="ko-KR" altLang="en-US" sz="2000" b="1" dirty="0">
                <a:latin typeface="나눔고딕" panose="020B0600000101010101" charset="-127"/>
                <a:ea typeface="나눔고딕" panose="020B0600000101010101" charset="-127"/>
              </a:rPr>
              <a:t>행렬 덧셈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먼저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덧셈에 사용할 두 행렬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와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B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를 리스트로 표현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</a:p>
          <a:p>
            <a:pPr marL="0" indent="0" fontAlgn="base">
              <a:buNone/>
            </a:pP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 =                  B = </a:t>
            </a:r>
          </a:p>
          <a:p>
            <a:pPr marL="0" indent="0" fontAlgn="base">
              <a:buNone/>
            </a:pP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3 x 3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행렬이므로 아래와 같이 각 행은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3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개의 항목으로 구성된 리스트로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그래서 행렬은 이러한 리스트가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3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개가 있는 형태로 표현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</a:p>
          <a:p>
            <a:pPr fontAlgn="base"/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 = [[1, 2, 3], [4, 5, 6], [7, 8, 9]]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B = [[9, 8, 7], [6, 5, 4], [3, 2, 1]]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3" name="Rectangle 30">
            <a:extLst>
              <a:ext uri="{FF2B5EF4-FFF2-40B4-BE49-F238E27FC236}">
                <a16:creationId xmlns:a16="http://schemas.microsoft.com/office/drawing/2014/main" id="{C9BBFEC3-5658-4B26-B65C-20C390BD9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8461" name="_x232050776" descr="DRW00001d386219">
            <a:extLst>
              <a:ext uri="{FF2B5EF4-FFF2-40B4-BE49-F238E27FC236}">
                <a16:creationId xmlns:a16="http://schemas.microsoft.com/office/drawing/2014/main" id="{4CF745AC-C331-45AF-9928-7DDD6B981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505" y="2364300"/>
            <a:ext cx="1119949" cy="1325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32">
            <a:extLst>
              <a:ext uri="{FF2B5EF4-FFF2-40B4-BE49-F238E27FC236}">
                <a16:creationId xmlns:a16="http://schemas.microsoft.com/office/drawing/2014/main" id="{6DA3B2BF-D29D-4363-9A2A-05E24B68C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8463" name="_x232050416" descr="DRW00001d386223">
            <a:extLst>
              <a:ext uri="{FF2B5EF4-FFF2-40B4-BE49-F238E27FC236}">
                <a16:creationId xmlns:a16="http://schemas.microsoft.com/office/drawing/2014/main" id="{F6C575F2-240D-4445-B6DC-508ED4B0A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0669" y="2368660"/>
            <a:ext cx="1119949" cy="1325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01F2E31-FECD-4694-A76F-BB4B1FC2B618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111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468856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6629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시퀀스 자료형 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-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리스트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 시퀀스 자료형 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- 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리스트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3" name="Rectangle 30">
            <a:extLst>
              <a:ext uri="{FF2B5EF4-FFF2-40B4-BE49-F238E27FC236}">
                <a16:creationId xmlns:a16="http://schemas.microsoft.com/office/drawing/2014/main" id="{C9BBFEC3-5658-4B26-B65C-20C390BD9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32">
            <a:extLst>
              <a:ext uri="{FF2B5EF4-FFF2-40B4-BE49-F238E27FC236}">
                <a16:creationId xmlns:a16="http://schemas.microsoft.com/office/drawing/2014/main" id="{6DA3B2BF-D29D-4363-9A2A-05E24B68C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4459D1-D281-41AF-B7D2-24EFAFD47C5D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112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708732" y="1844151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C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= [[0,0,0], [0,0,0], [0,0,0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]]</a:t>
            </a:r>
          </a:p>
          <a:p>
            <a:pPr fontAlgn="base"/>
            <a:endParaRPr lang="en-US" altLang="ko-KR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방법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 1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for r in range(0,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len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(A)) 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for c in range(0,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len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(A[r])):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2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C[r][c] = A[r][c] + B[r][c]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print(C)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787455" y="429258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방법 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2</a:t>
            </a:r>
          </a:p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C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= [[A[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][j] + B[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][j] for j in 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range(</a:t>
            </a:r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len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(A[</a:t>
            </a:r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]))]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for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in range(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len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(A))]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print(C)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15960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6629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시퀀스 자료형 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-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튜플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 시퀀스 자료형 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- </a:t>
            </a:r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튜플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9"/>
            <a:ext cx="8470547" cy="18772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err="1" smtClean="0">
                <a:latin typeface="나눔고딕" panose="020B0600000101010101" charset="-127"/>
                <a:ea typeface="나눔고딕" panose="020B0600000101010101" charset="-127"/>
              </a:rPr>
              <a:t>튜플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(tuple)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은 이종의 데이터들을 시퀀스 형태로 저장할 수 있는 자료형 중의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하나임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리스트와는 다르게 변경 불가능하기 때문에 처음에 초기화된 대로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사용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항목의 내용을 변경하거나 항목의 개수를 변경할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경우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새로운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튜플을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생성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튜플은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다양한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방법으로 생성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가능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en-US" altLang="ko-KR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3" name="Rectangle 30">
            <a:extLst>
              <a:ext uri="{FF2B5EF4-FFF2-40B4-BE49-F238E27FC236}">
                <a16:creationId xmlns:a16="http://schemas.microsoft.com/office/drawing/2014/main" id="{C9BBFEC3-5658-4B26-B65C-20C390BD9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32">
            <a:extLst>
              <a:ext uri="{FF2B5EF4-FFF2-40B4-BE49-F238E27FC236}">
                <a16:creationId xmlns:a16="http://schemas.microsoft.com/office/drawing/2014/main" id="{6DA3B2BF-D29D-4363-9A2A-05E24B68C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FEB7D8-FBD9-4EDB-9888-CBBE3538D535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113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136798" y="4142421"/>
            <a:ext cx="937717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tuple1 = () # 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빈 </a:t>
            </a:r>
            <a:r>
              <a:rPr lang="ko-KR" altLang="en-US" dirty="0" err="1">
                <a:latin typeface="나눔고딕" panose="020B0600000101010101" charset="-127"/>
                <a:ea typeface="나눔고딕" panose="020B0600000101010101" charset="-127"/>
              </a:rPr>
              <a:t>튜플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tuple2 = (1, 2, 3) # 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여러 항목들을 갖는 </a:t>
            </a:r>
            <a:r>
              <a:rPr lang="ko-KR" altLang="en-US" dirty="0" err="1">
                <a:latin typeface="나눔고딕" panose="020B0600000101010101" charset="-127"/>
                <a:ea typeface="나눔고딕" panose="020B0600000101010101" charset="-127"/>
              </a:rPr>
              <a:t>튜플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tuple3 = 1, 2, 3 # tuple3 = (1, 2, 3)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과 동일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tuple4 = tuple()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ko-KR" altLang="en-US" dirty="0" err="1">
                <a:latin typeface="나눔고딕" panose="020B0600000101010101" charset="-127"/>
                <a:ea typeface="나눔고딕" panose="020B0600000101010101" charset="-127"/>
              </a:rPr>
              <a:t>생성자를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 이용하여 빈 </a:t>
            </a:r>
            <a:r>
              <a:rPr lang="ko-KR" altLang="en-US" dirty="0" err="1">
                <a:latin typeface="나눔고딕" panose="020B0600000101010101" charset="-127"/>
                <a:ea typeface="나눔고딕" panose="020B0600000101010101" charset="-127"/>
              </a:rPr>
              <a:t>튜플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 생성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tuple5 = tuple([1,2,3])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ko-KR" altLang="en-US" dirty="0" err="1">
                <a:latin typeface="나눔고딕" panose="020B0600000101010101" charset="-127"/>
                <a:ea typeface="나눔고딕" panose="020B0600000101010101" charset="-127"/>
              </a:rPr>
              <a:t>생성자를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 이용하여 기존 리스트로부터 생성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tuple6 = tuple((1,2,3))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ko-KR" altLang="en-US" dirty="0" err="1">
                <a:latin typeface="나눔고딕" panose="020B0600000101010101" charset="-127"/>
                <a:ea typeface="나눔고딕" panose="020B0600000101010101" charset="-127"/>
              </a:rPr>
              <a:t>생성자를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 이용하여 기존 </a:t>
            </a:r>
            <a:r>
              <a:rPr lang="ko-KR" altLang="en-US" dirty="0" err="1">
                <a:latin typeface="나눔고딕" panose="020B0600000101010101" charset="-127"/>
                <a:ea typeface="나눔고딕" panose="020B0600000101010101" charset="-127"/>
              </a:rPr>
              <a:t>튜플로부터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 생성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tuple7 = tuple("123") # ('1', '2', '3')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5361273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6629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시퀀스 자료형 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-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튜플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 시퀀스 자료형 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- </a:t>
            </a:r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튜플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8"/>
            <a:ext cx="8470547" cy="46756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튜플에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대해서는 위에서 설명한 공통 연산과 함수들을 모두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적용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가능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일예로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튜플의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짝수 번째 항목의 합을 구하는 코드는 다음과 같이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작성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tuple1 = (1,2,3,4,5,6,7,8,9)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tuple2 = tuple1[0::2]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sum=0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for x in tuple2: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sum += x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print(tuple2, "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평균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: ",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str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(sum/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len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(tuple2)))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3" name="Rectangle 30">
            <a:extLst>
              <a:ext uri="{FF2B5EF4-FFF2-40B4-BE49-F238E27FC236}">
                <a16:creationId xmlns:a16="http://schemas.microsoft.com/office/drawing/2014/main" id="{C9BBFEC3-5658-4B26-B65C-20C390BD9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32">
            <a:extLst>
              <a:ext uri="{FF2B5EF4-FFF2-40B4-BE49-F238E27FC236}">
                <a16:creationId xmlns:a16="http://schemas.microsoft.com/office/drawing/2014/main" id="{6DA3B2BF-D29D-4363-9A2A-05E24B68C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0F8872-F9EF-42A4-B77B-6AD565950408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114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985874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6629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시퀀스 자료형 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-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튜플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 시퀀스 자료형 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- </a:t>
            </a:r>
            <a:r>
              <a:rPr lang="ko-KR" altLang="en-US" sz="4000" b="1" spc="-150" dirty="0" err="1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튜플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8"/>
            <a:ext cx="8470547" cy="33794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2000" b="1" dirty="0">
                <a:latin typeface="나눔고딕" panose="020B0600000101010101" charset="-127"/>
                <a:ea typeface="나눔고딕" panose="020B0600000101010101" charset="-127"/>
              </a:rPr>
              <a:t>[</a:t>
            </a:r>
            <a:r>
              <a:rPr lang="ko-KR" altLang="en-US" sz="2000" b="1" dirty="0">
                <a:latin typeface="나눔고딕" panose="020B0600000101010101" charset="-127"/>
                <a:ea typeface="나눔고딕" panose="020B0600000101010101" charset="-127"/>
              </a:rPr>
              <a:t>실습</a:t>
            </a:r>
            <a:r>
              <a:rPr lang="en-US" altLang="ko-KR" sz="2000" b="1" dirty="0">
                <a:latin typeface="나눔고딕" panose="020B0600000101010101" charset="-127"/>
                <a:ea typeface="나눔고딕" panose="020B0600000101010101" charset="-127"/>
              </a:rPr>
              <a:t>] </a:t>
            </a:r>
            <a:r>
              <a:rPr lang="ko-KR" altLang="en-US" sz="2000" b="1" dirty="0">
                <a:latin typeface="나눔고딕" panose="020B0600000101010101" charset="-127"/>
                <a:ea typeface="나눔고딕" panose="020B0600000101010101" charset="-127"/>
              </a:rPr>
              <a:t>행렬 덧셈 </a:t>
            </a:r>
            <a:r>
              <a:rPr lang="en-US" altLang="ko-KR" sz="2000" b="1" dirty="0">
                <a:latin typeface="나눔고딕" panose="020B0600000101010101" charset="-127"/>
                <a:ea typeface="나눔고딕" panose="020B0600000101010101" charset="-127"/>
              </a:rPr>
              <a:t>– </a:t>
            </a:r>
            <a:r>
              <a:rPr lang="ko-KR" altLang="en-US" sz="2000" b="1" dirty="0" err="1">
                <a:latin typeface="나눔고딕" panose="020B0600000101010101" charset="-127"/>
                <a:ea typeface="나눔고딕" panose="020B0600000101010101" charset="-127"/>
              </a:rPr>
              <a:t>튜플</a:t>
            </a:r>
            <a:r>
              <a:rPr lang="ko-KR" altLang="en-US" sz="2000" b="1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b="1" dirty="0" err="1">
                <a:latin typeface="나눔고딕" panose="020B0600000101010101" charset="-127"/>
                <a:ea typeface="나눔고딕" panose="020B0600000101010101" charset="-127"/>
              </a:rPr>
              <a:t>버젼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입력 행렬은 아래와 같이 각 행은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3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개의 항목으로 구성된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튜플로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그래서 행렬은 이러한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튜플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3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개가 있는 형태로 표현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</a:p>
          <a:p>
            <a:pPr fontAlgn="base"/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 = ((1, 2, 3), (4, 5, 6), (7, 8, 9))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B = ((9, 8, 7), (6, 5, 4), (3, 2, 1))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3" name="Rectangle 30">
            <a:extLst>
              <a:ext uri="{FF2B5EF4-FFF2-40B4-BE49-F238E27FC236}">
                <a16:creationId xmlns:a16="http://schemas.microsoft.com/office/drawing/2014/main" id="{C9BBFEC3-5658-4B26-B65C-20C390BD9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32">
            <a:extLst>
              <a:ext uri="{FF2B5EF4-FFF2-40B4-BE49-F238E27FC236}">
                <a16:creationId xmlns:a16="http://schemas.microsoft.com/office/drawing/2014/main" id="{6DA3B2BF-D29D-4363-9A2A-05E24B68C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78CB33-B4F1-402B-86EF-6DAA1CB2935A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115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780544" y="420976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 = [[A[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][j] + B[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][j] for j in range(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len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(A[0]))] for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in range(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len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(A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))]; C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= tuple(C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); print(C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780544" y="5228272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 = [[A[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][j] + B[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][j] for j in 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range(</a:t>
            </a:r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len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(A[</a:t>
            </a:r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]))]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for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in range(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len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(A))]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 = [tuple(l) for l in C] # 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리스트 항목들을 </a:t>
            </a:r>
            <a:r>
              <a:rPr lang="ko-KR" altLang="en-US" dirty="0" err="1">
                <a:latin typeface="나눔고딕" panose="020B0600000101010101" charset="-127"/>
                <a:ea typeface="나눔고딕" panose="020B0600000101010101" charset="-127"/>
              </a:rPr>
              <a:t>튜플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 항목으로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 = tuple(C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); print(C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77965" y="4469766"/>
            <a:ext cx="4232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#([10, 10, 10], </a:t>
            </a:r>
            <a:r>
              <a:rPr lang="en-US" altLang="ko-KR" dirty="0"/>
              <a:t>[10, 10, 10], [10, 10, 10</a:t>
            </a:r>
            <a:r>
              <a:rPr lang="en-US" altLang="ko-KR" dirty="0" smtClean="0"/>
              <a:t>])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598311" y="6104883"/>
            <a:ext cx="4232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#((10, 10, 10), (10</a:t>
            </a:r>
            <a:r>
              <a:rPr lang="en-US" altLang="ko-KR" dirty="0"/>
              <a:t>, 10, </a:t>
            </a:r>
            <a:r>
              <a:rPr lang="en-US" altLang="ko-KR" dirty="0" smtClean="0"/>
              <a:t>10), (10</a:t>
            </a:r>
            <a:r>
              <a:rPr lang="en-US" altLang="ko-KR" dirty="0"/>
              <a:t>, 10, </a:t>
            </a:r>
            <a:r>
              <a:rPr lang="en-US" altLang="ko-KR" dirty="0" smtClean="0"/>
              <a:t>10</a:t>
            </a:r>
            <a:r>
              <a:rPr lang="en-US" altLang="ko-KR" dirty="0"/>
              <a:t>)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441257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6629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시퀀스 자료형 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-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범위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 시퀀스 자료형 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- 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범위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0545" y="1631108"/>
            <a:ext cx="8470547" cy="11587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범위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자료형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(range)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은 수들의 시퀀스를 저장할 수 있는 자료형으로 수정 불가능하며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주로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for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문에서 반복 횟수를 지정할 때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사용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range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객체는 아래의 예제처럼 인수 하나에서 세 개 까지 사용하여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생성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3" name="Rectangle 30">
            <a:extLst>
              <a:ext uri="{FF2B5EF4-FFF2-40B4-BE49-F238E27FC236}">
                <a16:creationId xmlns:a16="http://schemas.microsoft.com/office/drawing/2014/main" id="{C9BBFEC3-5658-4B26-B65C-20C390BD9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32">
            <a:extLst>
              <a:ext uri="{FF2B5EF4-FFF2-40B4-BE49-F238E27FC236}">
                <a16:creationId xmlns:a16="http://schemas.microsoft.com/office/drawing/2014/main" id="{6DA3B2BF-D29D-4363-9A2A-05E24B68C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CBA767F-1264-4814-B336-575E4A6E3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844DAF-250A-4DCF-BC69-332DEF7AD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92D2BB8-E128-4212-9AD6-71533F261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1D35D5-951D-4BD8-BEA7-ADED2707D59E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116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230104" y="294977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range1 = range(5) # 0 ~ 4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range2 = range(1, 5) # 1 ~ 4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range3 = range(1, 5, 2) # 1, 3 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4" name="내용 개체 틀 2"/>
          <p:cNvSpPr txBox="1">
            <a:spLocks/>
          </p:cNvSpPr>
          <p:nvPr/>
        </p:nvSpPr>
        <p:spPr>
          <a:xfrm>
            <a:off x="1780544" y="3873101"/>
            <a:ext cx="8470547" cy="14476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리스트나 </a:t>
            </a:r>
            <a:r>
              <a:rPr lang="ko-KR" altLang="en-US" sz="2000" dirty="0" err="1" smtClean="0">
                <a:latin typeface="나눔고딕" panose="020B0600000101010101" charset="-127"/>
                <a:ea typeface="나눔고딕" panose="020B0600000101010101" charset="-127"/>
              </a:rPr>
              <a:t>튜플로도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 수의 시퀀스를 표현할 수 있지만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이들은 표현하는 수의 범위에 따라 내부적으로 사용하는 메모리가 달라짐</a:t>
            </a:r>
            <a:endParaRPr lang="en-US" altLang="ko-KR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리스트나 </a:t>
            </a:r>
            <a:r>
              <a:rPr lang="ko-KR" altLang="en-US" sz="1600" dirty="0" err="1" smtClean="0">
                <a:latin typeface="나눔고딕" panose="020B0600000101010101" charset="-127"/>
                <a:ea typeface="나눔고딕" panose="020B0600000101010101" charset="-127"/>
              </a:rPr>
              <a:t>튜플인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 경우 수의 범위가 넓으면 넓을 수로 그 수를 저장하기 위한 공간이 늘어나지만</a:t>
            </a:r>
            <a:r>
              <a:rPr lang="en-US" altLang="ko-KR" sz="1600" dirty="0" smtClean="0">
                <a:latin typeface="나눔고딕" panose="020B0600000101010101" charset="-127"/>
                <a:ea typeface="나눔고딕" panose="020B0600000101010101" charset="-127"/>
              </a:rPr>
              <a:t>, range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인 경우는 범위에 상관없이 일정한 메모리만 사용되어짐</a:t>
            </a:r>
            <a:r>
              <a:rPr lang="en-US" altLang="ko-KR" sz="1600" dirty="0" smtClean="0">
                <a:latin typeface="나눔고딕" panose="020B0600000101010101" charset="-127"/>
                <a:ea typeface="나눔고딕" panose="020B0600000101010101" charset="-127"/>
              </a:rPr>
              <a:t>.</a:t>
            </a:r>
            <a:endParaRPr lang="ko-KR" altLang="en-US" sz="16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1955381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5" y="195231"/>
            <a:ext cx="16629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시퀀스 자료형 </a:t>
            </a:r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-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범위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기본 시퀀스 자료형 </a:t>
            </a:r>
            <a:r>
              <a:rPr lang="en-US" altLang="ko-KR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- </a:t>
            </a:r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범위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0545" y="1631108"/>
            <a:ext cx="8470547" cy="4496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range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객체에 대해서도 앞에서 설명한 공통의 연산 및 함수를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적용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3" name="Rectangle 30">
            <a:extLst>
              <a:ext uri="{FF2B5EF4-FFF2-40B4-BE49-F238E27FC236}">
                <a16:creationId xmlns:a16="http://schemas.microsoft.com/office/drawing/2014/main" id="{C9BBFEC3-5658-4B26-B65C-20C390BD9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Rectangle 32">
            <a:extLst>
              <a:ext uri="{FF2B5EF4-FFF2-40B4-BE49-F238E27FC236}">
                <a16:creationId xmlns:a16="http://schemas.microsoft.com/office/drawing/2014/main" id="{6DA3B2BF-D29D-4363-9A2A-05E24B68C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CBA767F-1264-4814-B336-575E4A6E3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844DAF-250A-4DCF-BC69-332DEF7AD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92D2BB8-E128-4212-9AD6-71533F261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D9FB6D-CEB6-4E6D-844D-15AFCDFFFB58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117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42930" y="2080727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r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= range(0, 10, 2) 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print(2 in r) # True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print(10 in r) # False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r.index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(2)) # 1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print(r[2]) # 4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print(r[:3]) # range(0, 6, 2)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5" name="내용 개체 틀 2"/>
          <p:cNvSpPr txBox="1">
            <a:spLocks/>
          </p:cNvSpPr>
          <p:nvPr/>
        </p:nvSpPr>
        <p:spPr>
          <a:xfrm>
            <a:off x="1780545" y="3941637"/>
            <a:ext cx="8470547" cy="11155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두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range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객체가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같은지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또는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다른지를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‘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==“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와 ’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!=”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를 사용하여 검사할 수 있는데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이 때 두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range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객체가 동일한 객체인지를 검사하는 것이 아니라 두 객체가 표현하는 수의 범위가 동일한지를 검사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142930" y="508930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r = range(0, 10, 2) 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print(r[:3] == range(0, 6, 2)) # True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print(r[1:3] == range(0, 6, 2)) # False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851638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클래스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73319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4" y="195231"/>
            <a:ext cx="2852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클래스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정의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780925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39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클래스 정의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7"/>
            <a:ext cx="8470547" cy="50316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클래스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정의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형식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class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클래스명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문서화 문자열</a:t>
            </a:r>
          </a:p>
          <a:p>
            <a:pPr marL="0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클래스 슈트</a:t>
            </a:r>
          </a:p>
          <a:p>
            <a:pPr lvl="1" fontAlgn="base"/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문서화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문자열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(documentation string)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은 클래스에 대한 내용을 기술하는 문자열로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나중에 이 내용을 클래스명</a:t>
            </a:r>
            <a:r>
              <a:rPr lang="en-US" altLang="ko-KR" sz="1600" i="1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  <a:r>
              <a:rPr lang="en-US" altLang="ko-KR" sz="1600" i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1600" i="1" dirty="0">
                <a:latin typeface="나눔고딕" panose="020B0600000101010101" charset="-127"/>
                <a:ea typeface="나눔고딕" panose="020B0600000101010101" charset="-127"/>
              </a:rPr>
              <a:t>doc</a:t>
            </a:r>
            <a:r>
              <a:rPr lang="en-US" altLang="ko-KR" sz="1600" i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1600" i="1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형태로 접근할 수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r>
              <a:rPr lang="ko-KR" altLang="en-US" sz="1600" i="1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endParaRPr lang="en-US" altLang="ko-KR" sz="1600" i="1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클래스 슈트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(class suite)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에는 클래스를 구성하는 데이터 </a:t>
            </a:r>
            <a:r>
              <a:rPr lang="ko-KR" altLang="en-US" sz="1600" dirty="0" err="1">
                <a:latin typeface="나눔고딕" panose="020B0600000101010101" charset="-127"/>
                <a:ea typeface="나눔고딕" panose="020B0600000101010101" charset="-127"/>
              </a:rPr>
              <a:t>애트리뷰트와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 함수 </a:t>
            </a:r>
            <a:r>
              <a:rPr lang="ko-KR" altLang="en-US" sz="1600" dirty="0" err="1">
                <a:latin typeface="나눔고딕" panose="020B0600000101010101" charset="-127"/>
                <a:ea typeface="나눔고딕" panose="020B0600000101010101" charset="-127"/>
              </a:rPr>
              <a:t>애트리뷰트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메서드라 함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로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구성</a:t>
            </a:r>
            <a:endParaRPr lang="en-US" altLang="ko-KR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문서화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문자열은 옵션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사항임</a:t>
            </a:r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3203EA-D9D0-4B6D-8313-475948AF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1EBA8B-F1FE-43DD-B69F-750D7E50F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5D52264-4651-4A72-9BC9-CBF3B4F34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E83AD2D-3A95-4921-8821-16FEA4059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025F154-4B73-4ECB-9263-7F0DBE4DB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826B26-A5A2-4390-BC85-ED5B44BFB43E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119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4" name="내용 개체 틀 2"/>
          <p:cNvSpPr txBox="1">
            <a:spLocks/>
          </p:cNvSpPr>
          <p:nvPr/>
        </p:nvSpPr>
        <p:spPr>
          <a:xfrm>
            <a:off x="1787454" y="4625025"/>
            <a:ext cx="8470547" cy="1643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6242606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4" y="195231"/>
            <a:ext cx="2852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클래스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정의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780925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39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클래스 정의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7"/>
            <a:ext cx="8470547" cy="4343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메서드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정의 형식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메서드명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(self,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인수선언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1, ...,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인수선언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n) 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메서드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슈트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</a:p>
          <a:p>
            <a:pPr lvl="1" fontAlgn="base"/>
            <a:endParaRPr lang="en-US" altLang="ko-KR" sz="16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 err="1" smtClean="0">
                <a:latin typeface="나눔고딕" panose="020B0600000101010101" charset="-127"/>
                <a:ea typeface="나눔고딕" panose="020B0600000101010101" charset="-127"/>
              </a:rPr>
              <a:t>메서드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정의 형식은 첫 번째 인수가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self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라는 점을 제외하고는 일반 함수와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같음</a:t>
            </a:r>
            <a:endParaRPr lang="en-US" altLang="ko-KR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self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는 메서드 실행 객체를 의미하는 인수이며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, Python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은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self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인수를 메서드 호출 시에 자동으로 추가해 주기 때문에 메서드 호출 시에는 별도로 기술해 줄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필요 없음</a:t>
            </a:r>
            <a:endParaRPr lang="en-US" altLang="ko-KR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아래의 예는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f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라는 메서드 하나로 구성된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MyTest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클래스를 정의한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예임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class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MyTest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def f(self, x, y):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	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return x + y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3203EA-D9D0-4B6D-8313-475948AF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1EBA8B-F1FE-43DD-B69F-750D7E50F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5D52264-4651-4A72-9BC9-CBF3B4F34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E83AD2D-3A95-4921-8821-16FEA4059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025F154-4B73-4ECB-9263-7F0DBE4DB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70E114-68C6-40B5-B3AF-9341062DE68B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120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9495175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4" y="195231"/>
            <a:ext cx="2852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클래스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정의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780925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39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클래스 정의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8"/>
            <a:ext cx="8470547" cy="21291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ko-KR" altLang="en-US" sz="2000" b="1" dirty="0">
                <a:latin typeface="나눔고딕" panose="020B0600000101010101" charset="-127"/>
                <a:ea typeface="나눔고딕" panose="020B0600000101010101" charset="-127"/>
              </a:rPr>
              <a:t>인스턴스 변수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데이터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애트리뷰트는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인스턴스 변수와 클래스 변수로 나눌 수 있는데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인스턴스 변수는 임시 데이터가 아니라 객체가 유지해야 할 고유한 데이터들 저장할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변수임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 err="1" smtClean="0">
                <a:latin typeface="나눔고딕" panose="020B0600000101010101" charset="-127"/>
                <a:ea typeface="나눔고딕" panose="020B0600000101010101" charset="-127"/>
              </a:rPr>
              <a:t>인스턴스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변수들은 별도로 선언해 주지는 않지만 일반 변수와 구별하기 위해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사용 시 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self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변수명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형태로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기술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3203EA-D9D0-4B6D-8313-475948AF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1EBA8B-F1FE-43DD-B69F-750D7E50F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5D52264-4651-4A72-9BC9-CBF3B4F34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E83AD2D-3A95-4921-8821-16FEA4059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025F154-4B73-4ECB-9263-7F0DBE4DB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3DE460-F597-43B2-9192-38DB0CCB64D1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121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105608" y="3858667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Point: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getX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return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self.x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getY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return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self.y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setX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(self, x):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self.x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x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setY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(self, y):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self.y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y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597091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4" y="195231"/>
            <a:ext cx="2852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객체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생성 및 메서드 호출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780925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3900" b="1" spc="-150" dirty="0">
                <a:solidFill>
                  <a:schemeClr val="accent4">
                    <a:lumMod val="50000"/>
                  </a:schemeClr>
                </a:solidFill>
              </a:rPr>
              <a:t>객체 생성 및 메서드 호출</a:t>
            </a:r>
            <a:endParaRPr lang="ko-KR" altLang="en-US" sz="39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0544" y="1603116"/>
            <a:ext cx="8470547" cy="7855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err="1" smtClean="0">
                <a:latin typeface="나눔고딕" panose="020B0600000101010101" charset="-127"/>
                <a:ea typeface="나눔고딕" panose="020B0600000101010101" charset="-127"/>
              </a:rPr>
              <a:t>메서드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호출은 먼저 객체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또는 인스턴스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를 생성하여 그 레퍼런스를 변수에 저장한 후에 그 변수를 이용하여 원하는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메서드를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호출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3203EA-D9D0-4B6D-8313-475948AF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1EBA8B-F1FE-43DD-B69F-750D7E50F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5D52264-4651-4A72-9BC9-CBF3B4F34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E83AD2D-3A95-4921-8821-16FEA4059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025F154-4B73-4ECB-9263-7F0DBE4DB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6A0B3E-4EC4-4402-95C6-E744EA6EB2B8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122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" name="내용 개체 틀 2"/>
          <p:cNvSpPr txBox="1">
            <a:spLocks/>
          </p:cNvSpPr>
          <p:nvPr/>
        </p:nvSpPr>
        <p:spPr>
          <a:xfrm>
            <a:off x="1780543" y="2474100"/>
            <a:ext cx="8470547" cy="41039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아래와 같이 객체를 생성하여 그 객체의 레퍼런스를 변수에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저장</a:t>
            </a:r>
            <a:endParaRPr lang="en-US" altLang="ko-KR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class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MyTest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f(self, x, y):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		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return x + 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y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ob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=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MyTest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()</a:t>
            </a: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그 변수를 이용하여 원하는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메서드를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호출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val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=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ob.f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(3, 4.5)</a:t>
            </a: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이렇게 호출하면 내부적으로 아래와 같은 함수 호출로 바뀌어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실행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val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= f(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ob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3, 4.5)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121683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4" y="195231"/>
            <a:ext cx="2852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생성자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780925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3900" b="1" spc="-150" dirty="0">
                <a:solidFill>
                  <a:schemeClr val="accent4">
                    <a:lumMod val="50000"/>
                  </a:schemeClr>
                </a:solidFill>
              </a:rPr>
              <a:t>생성자</a:t>
            </a:r>
            <a:endParaRPr lang="ko-KR" altLang="en-US" sz="39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6"/>
            <a:ext cx="8470547" cy="10094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() </a:t>
            </a:r>
            <a:r>
              <a:rPr lang="ko-KR" altLang="en-US" sz="2000" dirty="0" err="1" smtClean="0">
                <a:latin typeface="나눔고딕" panose="020B0600000101010101" charset="-127"/>
                <a:ea typeface="나눔고딕" panose="020B0600000101010101" charset="-127"/>
              </a:rPr>
              <a:t>메서드가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 err="1" smtClean="0">
                <a:latin typeface="나눔고딕" panose="020B0600000101010101" charset="-127"/>
                <a:ea typeface="나눔고딕" panose="020B0600000101010101" charset="-127"/>
              </a:rPr>
              <a:t>생성자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 임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이 메서드는 클래스로부터 새 인스턴스를 만들 때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Python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이 자동으로 호출하는 메서드로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클래스 생성자 또는 초기화 </a:t>
            </a:r>
            <a:r>
              <a:rPr lang="ko-KR" altLang="en-US" sz="1600" dirty="0" err="1">
                <a:latin typeface="나눔고딕" panose="020B0600000101010101" charset="-127"/>
                <a:ea typeface="나눔고딕" panose="020B0600000101010101" charset="-127"/>
              </a:rPr>
              <a:t>메서드라고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함</a:t>
            </a:r>
            <a:endParaRPr lang="en-US" altLang="ko-KR" sz="16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3203EA-D9D0-4B6D-8313-475948AF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1EBA8B-F1FE-43DD-B69F-750D7E50F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5D52264-4651-4A72-9BC9-CBF3B4F34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E83AD2D-3A95-4921-8821-16FEA4059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025F154-4B73-4ECB-9263-7F0DBE4DB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19016F-4FBF-45FD-BEE1-A303686057A8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123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077616" y="2739910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Point: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self.x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0;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self.y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0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getX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return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self.x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getY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return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self.y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5" name="내용 개체 틀 2"/>
          <p:cNvSpPr txBox="1">
            <a:spLocks/>
          </p:cNvSpPr>
          <p:nvPr/>
        </p:nvSpPr>
        <p:spPr>
          <a:xfrm>
            <a:off x="1856529" y="5084480"/>
            <a:ext cx="8470547" cy="4891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생성자도</a:t>
            </a:r>
            <a:r>
              <a:rPr lang="ko-KR" altLang="en-US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일종의 함수이므로 </a:t>
            </a:r>
            <a:r>
              <a:rPr lang="ko-KR" altLang="en-US" sz="2000" dirty="0" err="1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생성자</a:t>
            </a:r>
            <a:r>
              <a:rPr lang="ko-KR" altLang="en-US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오버로딩이 되지 않음</a:t>
            </a:r>
            <a:endParaRPr lang="en-US" altLang="ko-KR" sz="2000" dirty="0" smtClean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282386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4" y="195231"/>
            <a:ext cx="2852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spc="-150" dirty="0" err="1">
                <a:solidFill>
                  <a:schemeClr val="accent4">
                    <a:lumMod val="50000"/>
                  </a:schemeClr>
                </a:solidFill>
              </a:rPr>
              <a:t>인스턴스</a:t>
            </a:r>
            <a:r>
              <a:rPr lang="ko-KR" altLang="en-US" sz="800" b="1" spc="-150" dirty="0">
                <a:solidFill>
                  <a:schemeClr val="accent4">
                    <a:lumMod val="50000"/>
                  </a:schemeClr>
                </a:solidFill>
              </a:rPr>
              <a:t> 변수 접근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780925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3900" b="1" spc="-150" dirty="0" err="1" smtClean="0">
                <a:solidFill>
                  <a:schemeClr val="accent4">
                    <a:lumMod val="50000"/>
                  </a:schemeClr>
                </a:solidFill>
              </a:rPr>
              <a:t>인스턴스</a:t>
            </a:r>
            <a:r>
              <a:rPr lang="ko-KR" altLang="en-US" sz="3900" b="1" spc="-150" dirty="0" smtClean="0">
                <a:solidFill>
                  <a:schemeClr val="accent4">
                    <a:lumMod val="50000"/>
                  </a:schemeClr>
                </a:solidFill>
              </a:rPr>
              <a:t> 변수 접근</a:t>
            </a:r>
            <a:endParaRPr lang="ko-KR" altLang="en-US" sz="39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6"/>
            <a:ext cx="8470547" cy="1662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err="1" smtClean="0">
                <a:latin typeface="나눔고딕" panose="020B0600000101010101" charset="-127"/>
                <a:ea typeface="나눔고딕" panose="020B0600000101010101" charset="-127"/>
              </a:rPr>
              <a:t>인스턴스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변수를 접근할 때는 객체식별자와 함께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변수명을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기술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p1 = Point()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p2 = Point()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p1.x = p1.x + 3; p1.y = p1.y + 3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3203EA-D9D0-4B6D-8313-475948AF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1EBA8B-F1FE-43DD-B69F-750D7E50F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5D52264-4651-4A72-9BC9-CBF3B4F34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E83AD2D-3A95-4921-8821-16FEA4059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025F154-4B73-4ECB-9263-7F0DBE4DB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DC5B45-385E-41A2-A6AF-FE57BCAE154E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124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" name="내용 개체 틀 2"/>
          <p:cNvSpPr txBox="1">
            <a:spLocks/>
          </p:cNvSpPr>
          <p:nvPr/>
        </p:nvSpPr>
        <p:spPr>
          <a:xfrm>
            <a:off x="1787663" y="3477985"/>
            <a:ext cx="9207665" cy="26703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인스턴스 변수는 위에 설명한 방법으로 접근해도 되지만 아래와 같은 함수를 사용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단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인스턴스 변수명은 문자열 형태로 주어져야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함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getattr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obj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name) :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obj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객체의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name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인스턴스 변수 값 반환</a:t>
            </a:r>
          </a:p>
          <a:p>
            <a:pPr marL="0" indent="0" fontAlgn="base">
              <a:buNone/>
            </a:pP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hasattr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obj,name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) :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obj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객체의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name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인스턴스 변수 존재 여부 </a:t>
            </a:r>
          </a:p>
          <a:p>
            <a:pPr marL="0" indent="0" fontAlgn="base">
              <a:buNone/>
            </a:pP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setattr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obj,name,value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) :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obj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객체의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name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인스턴스 변수의 값을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value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로 지정 </a:t>
            </a:r>
          </a:p>
          <a:p>
            <a:pPr marL="0" indent="0" fontAlgn="base">
              <a:buNone/>
            </a:pP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delattr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obj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name) :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obj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객체의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name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인스턴스 변수를 제거</a:t>
            </a: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391496" y="2074677"/>
            <a:ext cx="460260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str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(p1.getX()) + “, ” + p1.getY())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p2.x = p2.x + 6; p2.y = p2.y + 6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str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(p2.getX()) + “, ” + p2.getY())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6770002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4" y="195231"/>
            <a:ext cx="2852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spc="-150" dirty="0" err="1">
                <a:solidFill>
                  <a:schemeClr val="accent4">
                    <a:lumMod val="50000"/>
                  </a:schemeClr>
                </a:solidFill>
              </a:rPr>
              <a:t>인스턴스</a:t>
            </a:r>
            <a:r>
              <a:rPr lang="ko-KR" altLang="en-US" sz="800" b="1" spc="-150" dirty="0">
                <a:solidFill>
                  <a:schemeClr val="accent4">
                    <a:lumMod val="50000"/>
                  </a:schemeClr>
                </a:solidFill>
              </a:rPr>
              <a:t> 변수 접근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780925" cy="580926"/>
          </a:xfrm>
        </p:spPr>
        <p:txBody>
          <a:bodyPr>
            <a:noAutofit/>
          </a:bodyPr>
          <a:lstStyle/>
          <a:p>
            <a:r>
              <a:rPr lang="ko-KR" altLang="en-US" sz="3900" b="1" spc="-150" dirty="0" err="1">
                <a:solidFill>
                  <a:schemeClr val="accent4">
                    <a:lumMod val="50000"/>
                  </a:schemeClr>
                </a:solidFill>
              </a:rPr>
              <a:t>인스턴스</a:t>
            </a:r>
            <a:r>
              <a:rPr lang="ko-KR" altLang="en-US" sz="3900" b="1" spc="-150" dirty="0">
                <a:solidFill>
                  <a:schemeClr val="accent4">
                    <a:lumMod val="50000"/>
                  </a:schemeClr>
                </a:solidFill>
              </a:rPr>
              <a:t> 변수 접근</a:t>
            </a:r>
            <a:endParaRPr lang="ko-KR" altLang="en-US" sz="39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6"/>
            <a:ext cx="8470547" cy="49035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Python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에서는 객체 생성 후에 객체의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인스턴스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변수를 동적으로 삭제할 수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endParaRPr lang="en-US" altLang="ko-KR" sz="14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14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3203EA-D9D0-4B6D-8313-475948AF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1EBA8B-F1FE-43DD-B69F-750D7E50F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5D52264-4651-4A72-9BC9-CBF3B4F34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E83AD2D-3A95-4921-8821-16FEA4059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025F154-4B73-4ECB-9263-7F0DBE4DB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F6D894-9C1A-417F-A5F7-FE9689BB1314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125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330950" y="2322529"/>
            <a:ext cx="423051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setattr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, "y", 3)			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getattr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, "y"))	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3</a:t>
            </a:r>
          </a:p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delattr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, "y")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hasattr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,"y"))	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False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979320" y="2331066"/>
            <a:ext cx="381499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Point();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getattr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, "x"))	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0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hasattr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,"y"))	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True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hasattr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,"z"))	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False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1815549" y="3819287"/>
            <a:ext cx="903080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ko-KR" altLang="en-US" dirty="0" err="1">
                <a:latin typeface="나눔고딕" panose="020B0600000101010101" charset="-127"/>
                <a:ea typeface="나눔고딕" panose="020B0600000101010101" charset="-127"/>
              </a:rPr>
              <a:t>인스턴스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 변수를 동적으로 추가하는 함수는 없고 아래와 같이 추가하고자 하는 </a:t>
            </a:r>
            <a:r>
              <a:rPr lang="ko-KR" altLang="en-US" dirty="0" err="1">
                <a:latin typeface="나눔고딕" panose="020B0600000101010101" charset="-127"/>
                <a:ea typeface="나눔고딕" panose="020B0600000101010101" charset="-127"/>
              </a:rPr>
              <a:t>인스턴스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 변수를 초기화 해주면 됨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</a:p>
          <a:p>
            <a:pPr fontAlgn="base"/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Point();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ob.z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5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hasattr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,"z"))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# True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9930865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4" y="195231"/>
            <a:ext cx="2852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소멸자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780925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3900" b="1" spc="-150" dirty="0" err="1">
                <a:solidFill>
                  <a:schemeClr val="accent4">
                    <a:lumMod val="50000"/>
                  </a:schemeClr>
                </a:solidFill>
              </a:rPr>
              <a:t>소멸자</a:t>
            </a:r>
            <a:endParaRPr lang="ko-KR" altLang="en-US" sz="39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6"/>
            <a:ext cx="8470547" cy="11120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Python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에서 </a:t>
            </a:r>
            <a:r>
              <a:rPr lang="ko-KR" altLang="en-US" sz="2000" dirty="0" err="1" smtClean="0">
                <a:latin typeface="나눔고딕" panose="020B0600000101010101" charset="-127"/>
                <a:ea typeface="나눔고딕" panose="020B0600000101010101" charset="-127"/>
              </a:rPr>
              <a:t>소멸자는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del</a:t>
            </a:r>
            <a:r>
              <a:rPr lang="en-US" altLang="ko-KR" sz="20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(self)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형태로 정의</a:t>
            </a:r>
            <a:endParaRPr lang="en-US" altLang="ko-KR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800" dirty="0" err="1" smtClean="0">
                <a:latin typeface="나눔고딕" panose="020B0600000101010101" charset="-127"/>
                <a:ea typeface="나눔고딕" panose="020B0600000101010101" charset="-127"/>
              </a:rPr>
              <a:t>생성자는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self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외에 다른 인수를 받아들이는 형태로 정의할 수 있으나 소멸자는 그렇지 않고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오로지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self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인수만 받아들이는 형태로 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정의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en-US" altLang="ko-KR" sz="12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14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3203EA-D9D0-4B6D-8313-475948AF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1EBA8B-F1FE-43DD-B69F-750D7E50F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5D52264-4651-4A72-9BC9-CBF3B4F34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E83AD2D-3A95-4921-8821-16FEA4059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025F154-4B73-4ECB-9263-7F0DBE4DB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B83C1F7D-DEAD-4ED4-B55E-4953B3B21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975572D2-0662-4D23-BDA8-CC52D267C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78C032-F098-49EF-B806-EF5447846AB2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126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787454" y="2840661"/>
            <a:ext cx="496171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# MyInteger.py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MyInteger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 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self.val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0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	print(“</a:t>
            </a:r>
            <a:r>
              <a:rPr lang="ko-KR" altLang="en-US" dirty="0" err="1">
                <a:latin typeface="나눔고딕" panose="020B0600000101010101" charset="-127"/>
                <a:ea typeface="나눔고딕" panose="020B0600000101010101" charset="-127"/>
              </a:rPr>
              <a:t>생성자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 호출됨”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del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 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	print(“</a:t>
            </a:r>
            <a:r>
              <a:rPr lang="ko-KR" altLang="en-US" dirty="0" err="1">
                <a:latin typeface="나눔고딕" panose="020B0600000101010101" charset="-127"/>
                <a:ea typeface="나눔고딕" panose="020B0600000101010101" charset="-127"/>
              </a:rPr>
              <a:t>소멸자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 호출됨”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endParaRPr lang="en-US" altLang="ko-KR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6019069" y="3110402"/>
            <a:ext cx="496171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add(self,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) 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	return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self.val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+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ob.val</a:t>
            </a:r>
            <a:endParaRPr lang="en-US" altLang="ko-KR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subtract(self,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) 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	return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self.val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-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ob.val</a:t>
            </a:r>
            <a:endParaRPr lang="en-US" altLang="ko-KR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multiply(self,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) 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	return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self.val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*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ob.val</a:t>
            </a:r>
            <a:endParaRPr lang="en-US" altLang="ko-KR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divide(self,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) 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	return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self.val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/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ob.val</a:t>
            </a:r>
            <a:endParaRPr lang="en-US" altLang="ko-KR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376865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4" y="195231"/>
            <a:ext cx="2852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클래스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변수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780925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39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클래스 변수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7"/>
            <a:ext cx="8470547" cy="414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같은 클래스에서 생성된 객체끼리 공유되는 변수</a:t>
            </a:r>
            <a:endParaRPr lang="en-US" altLang="ko-KR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sz="1600" dirty="0" smtClean="0">
                <a:latin typeface="나눔고딕" panose="020B0600000101010101" charset="-127"/>
                <a:ea typeface="나눔고딕" panose="020B0600000101010101" charset="-127"/>
              </a:rPr>
              <a:t>C++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에서의 정적 변수에 해당</a:t>
            </a:r>
            <a:r>
              <a:rPr lang="en-US" altLang="ko-KR" sz="16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endParaRPr lang="en-US" altLang="ko-KR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클래스 변수는 메서드와 동일한 레벨에서 “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변수명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=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최기값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” 형태로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선언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3203EA-D9D0-4B6D-8313-475948AF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1EBA8B-F1FE-43DD-B69F-750D7E50F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5D52264-4651-4A72-9BC9-CBF3B4F34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E83AD2D-3A95-4921-8821-16FEA4059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025F154-4B73-4ECB-9263-7F0DBE4DB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B83C1F7D-DEAD-4ED4-B55E-4953B3B21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975572D2-0662-4D23-BDA8-CC52D267C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85C43A61-2905-42EA-BE76-05F7D3DA7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FC524C-9FDC-44F9-8BF9-736C3DCC8517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127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7" name="내용 개체 틀 2"/>
          <p:cNvSpPr txBox="1">
            <a:spLocks/>
          </p:cNvSpPr>
          <p:nvPr/>
        </p:nvSpPr>
        <p:spPr>
          <a:xfrm>
            <a:off x="1787454" y="2769442"/>
            <a:ext cx="8470547" cy="26236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클래스 변수는 객체마다 생기지 않으며 클래스 당 하나가 생성되며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이를 같은 클래스의 객체가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공유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클래스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변수는 특정 객체와 무관하기 때문에 객체 생성과 상관없이 사용할 수 있으며 다음과 같이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접근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ko-KR" altLang="en-US" sz="2000" i="1" dirty="0">
                <a:latin typeface="나눔고딕" panose="020B0600000101010101" charset="-127"/>
                <a:ea typeface="나눔고딕" panose="020B0600000101010101" charset="-127"/>
              </a:rPr>
              <a:t>클래스명</a:t>
            </a:r>
            <a:r>
              <a:rPr lang="en-US" altLang="ko-KR" sz="2000" i="1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  <a:r>
              <a:rPr lang="ko-KR" altLang="en-US" sz="2000" i="1" dirty="0">
                <a:latin typeface="나눔고딕" panose="020B0600000101010101" charset="-127"/>
                <a:ea typeface="나눔고딕" panose="020B0600000101010101" charset="-127"/>
              </a:rPr>
              <a:t>클래스변수명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3439669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4" y="195231"/>
            <a:ext cx="2852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12. 6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클래스 변수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780925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39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클래스 변수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7" y="1631107"/>
            <a:ext cx="4253110" cy="47663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클래스 정의</a:t>
            </a:r>
          </a:p>
          <a:p>
            <a:pPr marL="0" indent="0" fontAlgn="base">
              <a:buNone/>
            </a:pP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class </a:t>
            </a:r>
            <a:r>
              <a:rPr lang="en-US" altLang="ko-KR" sz="1600" dirty="0" err="1">
                <a:latin typeface="나눔고딕" panose="020B0600000101010101" charset="-127"/>
                <a:ea typeface="나눔고딕" panose="020B0600000101010101" charset="-127"/>
              </a:rPr>
              <a:t>ClassVariable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:</a:t>
            </a:r>
          </a:p>
          <a:p>
            <a:pPr marL="400050" lvl="1" indent="0" fontAlgn="base">
              <a:buNone/>
            </a:pPr>
            <a:r>
              <a:rPr lang="en-US" altLang="ko-KR" sz="1600" dirty="0" err="1">
                <a:latin typeface="나눔고딕" panose="020B0600000101010101" charset="-127"/>
                <a:ea typeface="나눔고딕" panose="020B0600000101010101" charset="-127"/>
              </a:rPr>
              <a:t>classVariable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 = 0</a:t>
            </a:r>
          </a:p>
          <a:p>
            <a:pPr marL="400050" lvl="1" indent="0" fontAlgn="base">
              <a:buNone/>
            </a:pP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def 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1600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(self):</a:t>
            </a:r>
          </a:p>
          <a:p>
            <a:pPr marL="800100" lvl="2" indent="0" fontAlgn="base">
              <a:buNone/>
            </a:pPr>
            <a:r>
              <a:rPr lang="en-US" altLang="ko-KR" sz="1600" dirty="0" err="1">
                <a:latin typeface="나눔고딕" panose="020B0600000101010101" charset="-127"/>
                <a:ea typeface="나눔고딕" panose="020B0600000101010101" charset="-127"/>
              </a:rPr>
              <a:t>self.instVariable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 = 0</a:t>
            </a:r>
          </a:p>
          <a:p>
            <a:pPr marL="400050" lvl="1" indent="0" fontAlgn="base">
              <a:buNone/>
            </a:pP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def </a:t>
            </a:r>
            <a:r>
              <a:rPr lang="en-US" altLang="ko-KR" sz="1600" dirty="0" err="1">
                <a:latin typeface="나눔고딕" panose="020B0600000101010101" charset="-127"/>
                <a:ea typeface="나눔고딕" panose="020B0600000101010101" charset="-127"/>
              </a:rPr>
              <a:t>setVariable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(self, n):</a:t>
            </a:r>
          </a:p>
          <a:p>
            <a:pPr marL="800100" lvl="2" indent="0" fontAlgn="base">
              <a:buNone/>
            </a:pPr>
            <a:r>
              <a:rPr lang="en-US" altLang="ko-KR" sz="1600" dirty="0" err="1">
                <a:latin typeface="나눔고딕" panose="020B0600000101010101" charset="-127"/>
                <a:ea typeface="나눔고딕" panose="020B0600000101010101" charset="-127"/>
              </a:rPr>
              <a:t>ClassVariable.classVariable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 = n</a:t>
            </a:r>
          </a:p>
          <a:p>
            <a:pPr marL="400050" lvl="1" indent="0" fontAlgn="base">
              <a:buNone/>
            </a:pP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def </a:t>
            </a:r>
            <a:r>
              <a:rPr lang="en-US" altLang="ko-KR" sz="1600" dirty="0" err="1">
                <a:latin typeface="나눔고딕" panose="020B0600000101010101" charset="-127"/>
                <a:ea typeface="나눔고딕" panose="020B0600000101010101" charset="-127"/>
              </a:rPr>
              <a:t>getVariable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(self):</a:t>
            </a:r>
          </a:p>
          <a:p>
            <a:pPr marL="800100" lvl="2" indent="0" fontAlgn="base">
              <a:buNone/>
            </a:pP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return </a:t>
            </a:r>
            <a:r>
              <a:rPr lang="en-US" altLang="ko-KR" sz="1600" dirty="0" err="1">
                <a:latin typeface="나눔고딕" panose="020B0600000101010101" charset="-127"/>
                <a:ea typeface="나눔고딕" panose="020B0600000101010101" charset="-127"/>
              </a:rPr>
              <a:t>ClassVariable.classVariable</a:t>
            </a:r>
            <a:endParaRPr lang="en-US" altLang="ko-KR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400050" lvl="1" indent="0" fontAlgn="base">
              <a:buNone/>
            </a:pP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def </a:t>
            </a:r>
            <a:r>
              <a:rPr lang="en-US" altLang="ko-KR" sz="1600" dirty="0" err="1">
                <a:latin typeface="나눔고딕" panose="020B0600000101010101" charset="-127"/>
                <a:ea typeface="나눔고딕" panose="020B0600000101010101" charset="-127"/>
              </a:rPr>
              <a:t>setInstVariable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(self, n):</a:t>
            </a:r>
          </a:p>
          <a:p>
            <a:pPr marL="800100" lvl="2" indent="0" fontAlgn="base">
              <a:buNone/>
            </a:pPr>
            <a:r>
              <a:rPr lang="en-US" altLang="ko-KR" sz="1600" dirty="0" err="1">
                <a:latin typeface="나눔고딕" panose="020B0600000101010101" charset="-127"/>
                <a:ea typeface="나눔고딕" panose="020B0600000101010101" charset="-127"/>
              </a:rPr>
              <a:t>self.instVariablel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 = n</a:t>
            </a:r>
          </a:p>
          <a:p>
            <a:pPr marL="400050" lvl="1" indent="0" fontAlgn="base">
              <a:buNone/>
            </a:pP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def </a:t>
            </a:r>
            <a:r>
              <a:rPr lang="en-US" altLang="ko-KR" sz="1600" dirty="0" err="1">
                <a:latin typeface="나눔고딕" panose="020B0600000101010101" charset="-127"/>
                <a:ea typeface="나눔고딕" panose="020B0600000101010101" charset="-127"/>
              </a:rPr>
              <a:t>getInstVariable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(self):</a:t>
            </a:r>
          </a:p>
          <a:p>
            <a:pPr marL="800100" lvl="2" indent="0" fontAlgn="base">
              <a:buNone/>
            </a:pP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return </a:t>
            </a:r>
            <a:r>
              <a:rPr lang="en-US" altLang="ko-KR" sz="1600" dirty="0" err="1">
                <a:latin typeface="나눔고딕" panose="020B0600000101010101" charset="-127"/>
                <a:ea typeface="나눔고딕" panose="020B0600000101010101" charset="-127"/>
              </a:rPr>
              <a:t>self.instVariable</a:t>
            </a:r>
            <a:endParaRPr lang="en-US" altLang="ko-KR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3203EA-D9D0-4B6D-8313-475948AF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1EBA8B-F1FE-43DD-B69F-750D7E50F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5D52264-4651-4A72-9BC9-CBF3B4F34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E83AD2D-3A95-4921-8821-16FEA4059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025F154-4B73-4ECB-9263-7F0DBE4DB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B83C1F7D-DEAD-4ED4-B55E-4953B3B21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975572D2-0662-4D23-BDA8-CC52D267C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85C43A61-2905-42EA-BE76-05F7D3DA7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43A6EE-0C98-43CD-BB73-730361AE8979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128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699407" y="1722874"/>
            <a:ext cx="350828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# </a:t>
            </a:r>
            <a:r>
              <a:rPr lang="ko-KR" altLang="en-US" dirty="0" err="1">
                <a:latin typeface="나눔고딕" panose="020B0600000101010101" charset="-127"/>
                <a:ea typeface="나눔고딕" panose="020B0600000101010101" charset="-127"/>
              </a:rPr>
              <a:t>실행문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ob1 =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ClassVariable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()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ob2 =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ClassVariable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()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ob1.setVariable(3)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print(ob2.getVariable())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ob1.setInstVariable(5)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print(ob2.getInstVariable())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6808236" y="4196021"/>
            <a:ext cx="4528458" cy="175432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클래스 변수는 특정 객체와 무관하기 때문에 객체 생성 없이도 접근 가능한데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위의 예에서 객체 생성 전에 아래의 코드를 삽입해도 별 문제 없이 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동작함</a:t>
            </a:r>
            <a:endParaRPr lang="en-US" altLang="ko-KR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ClassVariable.classVariable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372013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4" y="195231"/>
            <a:ext cx="2852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12. 7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클래스 기본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애트리뷰트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780925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3900" b="1" spc="-150" dirty="0">
                <a:solidFill>
                  <a:schemeClr val="accent4">
                    <a:lumMod val="50000"/>
                  </a:schemeClr>
                </a:solidFill>
              </a:rPr>
              <a:t>클래스 기본 </a:t>
            </a:r>
            <a:r>
              <a:rPr lang="ko-KR" altLang="en-US" sz="3900" b="1" spc="-150" dirty="0" err="1">
                <a:solidFill>
                  <a:schemeClr val="accent4">
                    <a:lumMod val="50000"/>
                  </a:schemeClr>
                </a:solidFill>
              </a:rPr>
              <a:t>애트리뷰트</a:t>
            </a:r>
            <a:endParaRPr lang="ko-KR" altLang="en-US" sz="39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7"/>
            <a:ext cx="8470547" cy="47663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모든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Python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클래스는 다음과 같은 기본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또는 내장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)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애트리뷰트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인스턴스 변수와 클래스 변수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를 제공하는데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다른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애트리뷰트처럼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점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(.)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연산자를 사용하여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접근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 err="1" smtClean="0">
                <a:latin typeface="나눔고딕" panose="020B0600000101010101" charset="-127"/>
                <a:ea typeface="나눔고딕" panose="020B0600000101010101" charset="-127"/>
              </a:rPr>
              <a:t>파이썬에서는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 클래스도 객체임</a:t>
            </a:r>
            <a:endParaRPr lang="en-US" altLang="ko-KR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dict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: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객체에 정의된 인스턴스 변수들 목록 </a:t>
            </a:r>
          </a:p>
          <a:p>
            <a:pPr marL="0" indent="0" fontAlgn="base">
              <a:buNone/>
            </a:pP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doc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: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클래스 다큐먼트 문자열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정의 안되어 있으면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none 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name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: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클래스 이름</a:t>
            </a:r>
          </a:p>
          <a:p>
            <a:pPr marL="0" indent="0" fontAlgn="base">
              <a:buNone/>
            </a:pP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module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: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클래스가 정의된 모듈 이름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대화식 모드에서는 모듈명은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"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main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"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임</a:t>
            </a:r>
          </a:p>
          <a:p>
            <a:pPr marL="0" indent="0" fontAlgn="base">
              <a:buNone/>
            </a:pP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bases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: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상위 클래스 목록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상속 부분 참고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3203EA-D9D0-4B6D-8313-475948AF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1EBA8B-F1FE-43DD-B69F-750D7E50F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5D52264-4651-4A72-9BC9-CBF3B4F34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E83AD2D-3A95-4921-8821-16FEA4059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025F154-4B73-4ECB-9263-7F0DBE4DB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B83C1F7D-DEAD-4ED4-B55E-4953B3B21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975572D2-0662-4D23-BDA8-CC52D267C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85C43A61-2905-42EA-BE76-05F7D3DA7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0C919D-51EC-4BE1-A4A7-5880D7B86A8C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129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688245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4" y="195231"/>
            <a:ext cx="2852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멤버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접근자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780925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39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멤버 </a:t>
            </a:r>
            <a:r>
              <a:rPr lang="ko-KR" altLang="en-US" sz="3900" b="1" spc="-150" dirty="0" err="1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접근자</a:t>
            </a:r>
            <a:endParaRPr lang="ko-KR" altLang="en-US" sz="39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7"/>
            <a:ext cx="8470547" cy="47663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Python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에서는 클래스 변수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인스턴스 변수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메서드가 모두 외부로 공개가 되어 어디서든지 필요할 경우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접근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. 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즉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모든 클래스의 멤버들이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public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으로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취급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Python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에서는 접근성을 제어할 수 있는 방법이 제공되지 않는가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? </a:t>
            </a:r>
            <a:endParaRPr lang="en-US" altLang="ko-KR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 err="1" smtClean="0">
                <a:latin typeface="나눔고딕" panose="020B0600000101010101" charset="-127"/>
                <a:ea typeface="나눔고딕" panose="020B0600000101010101" charset="-127"/>
              </a:rPr>
              <a:t>접근자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(public, private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등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를 별도로 제공하지는 않지만 이름을 내부적으로 바꾸어 치는 방법을 사용하여 접근성 제어를 할 수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endParaRPr lang="en-US" altLang="ko-KR" sz="16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접근을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허용하지 않고자 하는 변수의 이름을 “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__”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로 시작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endParaRPr lang="en-US" altLang="ko-KR" sz="12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3203EA-D9D0-4B6D-8313-475948AF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1EBA8B-F1FE-43DD-B69F-750D7E50F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5D52264-4651-4A72-9BC9-CBF3B4F34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E83AD2D-3A95-4921-8821-16FEA4059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025F154-4B73-4ECB-9263-7F0DBE4DB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B83C1F7D-DEAD-4ED4-B55E-4953B3B21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975572D2-0662-4D23-BDA8-CC52D267C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85C43A61-2905-42EA-BE76-05F7D3DA7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AEBEB9F8-73F7-46C2-A3B3-2ADBE35F9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B66BB2-E879-49FE-99C6-6B86CC416CCE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130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525486" y="3904833"/>
            <a:ext cx="6096000" cy="2800767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# FirstClass.py</a:t>
            </a:r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class </a:t>
            </a:r>
            <a:r>
              <a:rPr lang="en-US" altLang="ko-KR" sz="1600" dirty="0" err="1">
                <a:latin typeface="나눔고딕" panose="020B0600000101010101" charset="-127"/>
                <a:ea typeface="나눔고딕" panose="020B0600000101010101" charset="-127"/>
              </a:rPr>
              <a:t>FirstClass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 :</a:t>
            </a:r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1600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1600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(self) :</a:t>
            </a:r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		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self.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field1 = -1</a:t>
            </a:r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		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self.field1 = 0</a:t>
            </a:r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1600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 method1(self) :</a:t>
            </a:r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		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self.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field1 = 1</a:t>
            </a:r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		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self.field1 = 3</a:t>
            </a:r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sz="1600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 method2(self) :</a:t>
            </a:r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		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print(self.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field1)</a:t>
            </a:r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		</a:t>
            </a:r>
            <a:r>
              <a:rPr lang="en-US" altLang="ko-KR" sz="1600" dirty="0">
                <a:latin typeface="나눔고딕" panose="020B0600000101010101" charset="-127"/>
                <a:ea typeface="나눔고딕" panose="020B0600000101010101" charset="-127"/>
              </a:rPr>
              <a:t>print(self.field1)</a:t>
            </a:r>
            <a:endParaRPr lang="ko-KR" altLang="en-US" sz="16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7113037" y="4751040"/>
            <a:ext cx="4811486" cy="12003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FirstClass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()</a:t>
            </a:r>
          </a:p>
          <a:p>
            <a:pPr fontAlgn="base"/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print(ob.field1)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print(ob.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field1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) # 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오류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1626597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4" y="195231"/>
            <a:ext cx="2852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멤버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접근자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780925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39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멤버 </a:t>
            </a:r>
            <a:r>
              <a:rPr lang="ko-KR" altLang="en-US" sz="3900" b="1" spc="-150" dirty="0" err="1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접근자</a:t>
            </a:r>
            <a:endParaRPr lang="ko-KR" altLang="en-US" sz="39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8"/>
            <a:ext cx="8470547" cy="13733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어떻게 이런 일이 가능할까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?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단지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800" dirty="0" err="1">
                <a:latin typeface="나눔고딕" panose="020B0600000101010101" charset="-127"/>
                <a:ea typeface="나눔고딕" panose="020B0600000101010101" charset="-127"/>
              </a:rPr>
              <a:t>변수명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 앞에 “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__”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만 붙였을 뿐인데 말이다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</a:p>
          <a:p>
            <a:pPr fontAlgn="base"/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이는 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Python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인터프리터가 “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__”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로 시작하는 변수명을 다른 이름으로 바꾸어 버리기 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때문</a:t>
            </a:r>
            <a:endParaRPr lang="en-US" altLang="ko-KR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이를 확인하기 위해 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객체의 </a:t>
            </a:r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__</a:t>
            </a:r>
            <a:r>
              <a:rPr lang="en-US" altLang="ko-KR" sz="1800" dirty="0" err="1" smtClean="0">
                <a:latin typeface="나눔고딕" panose="020B0600000101010101" charset="-127"/>
                <a:ea typeface="나눔고딕" panose="020B0600000101010101" charset="-127"/>
              </a:rPr>
              <a:t>dict</a:t>
            </a:r>
            <a:r>
              <a:rPr lang="en-US" altLang="ko-KR" sz="1800" dirty="0" smtClean="0">
                <a:latin typeface="나눔고딕" panose="020B0600000101010101" charset="-127"/>
                <a:ea typeface="나눔고딕" panose="020B0600000101010101" charset="-127"/>
              </a:rPr>
              <a:t>__ </a:t>
            </a:r>
            <a:r>
              <a:rPr lang="ko-KR" altLang="en-US" sz="1800" dirty="0" err="1" smtClean="0">
                <a:latin typeface="나눔고딕" panose="020B0600000101010101" charset="-127"/>
                <a:ea typeface="나눔고딕" panose="020B0600000101010101" charset="-127"/>
              </a:rPr>
              <a:t>인스턴스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 변수를 출력</a:t>
            </a:r>
            <a:endParaRPr lang="en-US" altLang="ko-KR" sz="1800" dirty="0" smtClean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3203EA-D9D0-4B6D-8313-475948AF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1EBA8B-F1FE-43DD-B69F-750D7E50F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5D52264-4651-4A72-9BC9-CBF3B4F34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E83AD2D-3A95-4921-8821-16FEA4059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025F154-4B73-4ECB-9263-7F0DBE4DB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B83C1F7D-DEAD-4ED4-B55E-4953B3B21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975572D2-0662-4D23-BDA8-CC52D267C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85C43A61-2905-42EA-BE76-05F7D3DA7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AEBEB9F8-73F7-46C2-A3B3-2ADBE35F9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E224C5E0-B605-4008-8B5E-3A94FC8C4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53F6E9E9-7B97-4FE0-A3BE-70347B37E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BDCF35-65D9-4C12-96CB-6421904351A6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131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189584" y="302594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FirstClass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dict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1" name="내용 개체 틀 2"/>
          <p:cNvSpPr txBox="1">
            <a:spLocks/>
          </p:cNvSpPr>
          <p:nvPr/>
        </p:nvSpPr>
        <p:spPr>
          <a:xfrm>
            <a:off x="1708732" y="3795588"/>
            <a:ext cx="8470547" cy="19152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“__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field1__”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변수명이 “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_FirstClass__field1”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으로 변경되어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일반적으로 “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변수명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__”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형태의 변수는 “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클래스명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변수명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” 형태로 이름이 바뀌게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만약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이런 사실을 알고 아래와 같이 작성하면 “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__field1__”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변수의 접근을 막을 수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없음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094303" y="3171700"/>
            <a:ext cx="4110421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fontAlgn="base"/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# {'</a:t>
            </a:r>
            <a:r>
              <a:rPr lang="en-US" altLang="ko-KR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FirstClass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field1': -1, 'field1': 0}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2189584" y="568164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FirstClass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print(ob.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FirstClass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field1)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674144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4" y="195231"/>
            <a:ext cx="2852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멤버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접근자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780925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39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멤버 </a:t>
            </a:r>
            <a:r>
              <a:rPr lang="ko-KR" altLang="en-US" sz="3900" b="1" spc="-150" dirty="0" err="1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접근자</a:t>
            </a:r>
            <a:endParaRPr lang="ko-KR" altLang="en-US" sz="39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6"/>
            <a:ext cx="8470547" cy="4171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err="1" smtClean="0">
                <a:latin typeface="나눔고딕" panose="020B0600000101010101" charset="-127"/>
                <a:ea typeface="나눔고딕" panose="020B0600000101010101" charset="-127"/>
              </a:rPr>
              <a:t>메서드도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 동일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2000" dirty="0" err="1" smtClean="0">
                <a:latin typeface="나눔고딕" panose="020B0600000101010101" charset="-127"/>
                <a:ea typeface="나눔고딕" panose="020B0600000101010101" charset="-127"/>
              </a:rPr>
              <a:t>메서드명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앞에 “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__”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를 붙여주면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private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메서드가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3203EA-D9D0-4B6D-8313-475948AF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1EBA8B-F1FE-43DD-B69F-750D7E50F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5D52264-4651-4A72-9BC9-CBF3B4F34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E83AD2D-3A95-4921-8821-16FEA4059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025F154-4B73-4ECB-9263-7F0DBE4DB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B83C1F7D-DEAD-4ED4-B55E-4953B3B21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975572D2-0662-4D23-BDA8-CC52D267C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85C43A61-2905-42EA-BE76-05F7D3DA7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AEBEB9F8-73F7-46C2-A3B3-2ADBE35F9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E224C5E0-B605-4008-8B5E-3A94FC8C4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53F6E9E9-7B97-4FE0-A3BE-70347B37E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0DFC5C-91FE-44AF-965B-218BAF4F2C7C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132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152261" y="2181531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# FirstClass.py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FirstClass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 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self.field1 = 0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method1(self) 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self.field1 = 3;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method2(self) 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self.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method1()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131265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상속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3845107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4" y="195231"/>
            <a:ext cx="2852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상속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780925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3900" b="1" spc="-150" dirty="0" smtClean="0">
                <a:solidFill>
                  <a:schemeClr val="accent4">
                    <a:lumMod val="50000"/>
                  </a:schemeClr>
                </a:solidFill>
              </a:rPr>
              <a:t>상속</a:t>
            </a:r>
            <a:endParaRPr lang="ko-KR" altLang="en-US" sz="39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8"/>
            <a:ext cx="8470547" cy="3429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Python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에서는 아래와 같이 부모 클래스를 지정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3203EA-D9D0-4B6D-8313-475948AF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564BE8-04B6-4CAB-A7A6-9BF23D8F26F9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134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100050" y="2139470"/>
            <a:ext cx="33942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ChildClass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ParentClass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) : 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1787455" y="2571145"/>
            <a:ext cx="8470547" cy="7958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상속을 받으면 부모 클래스에 있는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애트리뷰트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인스턴스 변수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메서드 등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)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모두를 마음대로 사용할 수 있을까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? </a:t>
            </a: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229028" y="3367043"/>
            <a:ext cx="700327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A 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 :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self.a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3;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self.b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5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m1(self) : return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self.a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+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self.b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B(A) 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test1(self) 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self.a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test2(self) 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str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(self.m1()))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24357" y="5996080"/>
            <a:ext cx="2358338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결론은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“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그렇다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”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 이다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0612244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4" y="195231"/>
            <a:ext cx="2852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상속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780925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3900" b="1" spc="-150" dirty="0" smtClean="0">
                <a:solidFill>
                  <a:schemeClr val="accent4">
                    <a:lumMod val="50000"/>
                  </a:schemeClr>
                </a:solidFill>
              </a:rPr>
              <a:t>상속</a:t>
            </a:r>
            <a:endParaRPr lang="ko-KR" altLang="en-US" sz="39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8"/>
            <a:ext cx="8470547" cy="701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모든 클래스는 기본적으로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object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클래스를 상속 받는데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이를 확인하기 아래와 같이 코드를 작성한 후 실행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3203EA-D9D0-4B6D-8313-475948AF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1E2E39-E1EF-4A96-B756-356B085C5574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135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086947" y="245955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A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: pass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B(A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): pass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A.</a:t>
            </a:r>
            <a:r>
              <a:rPr lang="en-US" altLang="ko-KR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base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B.</a:t>
            </a:r>
            <a:r>
              <a:rPr lang="en-US" altLang="ko-KR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base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pic>
        <p:nvPicPr>
          <p:cNvPr id="10" name="_x523714640" descr="EMB000009347aae">
            <a:extLst>
              <a:ext uri="{FF2B5EF4-FFF2-40B4-BE49-F238E27FC236}">
                <a16:creationId xmlns:a16="http://schemas.microsoft.com/office/drawing/2014/main" id="{98BEA728-6F3F-48E7-AF75-47342DC86D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695" y="3898757"/>
            <a:ext cx="6238286" cy="2312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3958518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4" y="195231"/>
            <a:ext cx="2852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메서드</a:t>
            </a:r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재정의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780925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39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메서드 재정의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8"/>
            <a:ext cx="8470547" cy="4496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C++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과 마찬가지로 </a:t>
            </a:r>
            <a:r>
              <a:rPr lang="ko-KR" altLang="en-US" sz="2000" dirty="0" err="1" smtClean="0">
                <a:latin typeface="나눔고딕" panose="020B0600000101010101" charset="-127"/>
                <a:ea typeface="나눔고딕" panose="020B0600000101010101" charset="-127"/>
              </a:rPr>
              <a:t>메서드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 재정의를 허용</a:t>
            </a:r>
            <a:endParaRPr lang="en-US" altLang="ko-KR" sz="2000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3203EA-D9D0-4B6D-8313-475948AF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FCA14F-043E-482D-BF2F-D7F903866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ACF3F8-750F-4406-8ED0-0920F7D104EC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136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096277" y="2221774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smtClean="0">
                <a:latin typeface="나눔고딕" panose="020B0600000101010101" charset="-127"/>
                <a:ea typeface="나눔고딕" panose="020B0600000101010101" charset="-127"/>
              </a:rPr>
              <a:t>class A :</a:t>
            </a:r>
          </a:p>
          <a:p>
            <a:pPr fontAlgn="base"/>
            <a:r>
              <a:rPr lang="en-US" altLang="ko-KR" smtClean="0">
                <a:latin typeface="나눔고딕" panose="020B0600000101010101" charset="-127"/>
                <a:ea typeface="나눔고딕" panose="020B0600000101010101" charset="-127"/>
              </a:rPr>
              <a:t>	def </a:t>
            </a:r>
            <a:r>
              <a:rPr lang="en-US" altLang="ko-KR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mtClean="0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mtClean="0">
                <a:latin typeface="나눔고딕" panose="020B0600000101010101" charset="-127"/>
                <a:ea typeface="나눔고딕" panose="020B0600000101010101" charset="-127"/>
              </a:rPr>
              <a:t>(self) : self.a = 3; self.b = 5</a:t>
            </a:r>
          </a:p>
          <a:p>
            <a:pPr fontAlgn="base"/>
            <a:r>
              <a:rPr lang="en-US" altLang="ko-KR" smtClean="0">
                <a:latin typeface="나눔고딕" panose="020B0600000101010101" charset="-127"/>
                <a:ea typeface="나눔고딕" panose="020B0600000101010101" charset="-127"/>
              </a:rPr>
              <a:t>	def m1(self) : return self.a + self.b</a:t>
            </a:r>
          </a:p>
          <a:p>
            <a:pPr fontAlgn="base"/>
            <a:r>
              <a:rPr lang="en-US" altLang="ko-KR" smtClean="0">
                <a:latin typeface="나눔고딕" panose="020B0600000101010101" charset="-127"/>
                <a:ea typeface="나눔고딕" panose="020B0600000101010101" charset="-127"/>
              </a:rPr>
              <a:t>class B(A) :</a:t>
            </a:r>
          </a:p>
          <a:p>
            <a:pPr fontAlgn="base"/>
            <a:r>
              <a:rPr lang="en-US" altLang="ko-KR" smtClean="0">
                <a:latin typeface="나눔고딕" panose="020B0600000101010101" charset="-127"/>
                <a:ea typeface="나눔고딕" panose="020B0600000101010101" charset="-127"/>
              </a:rPr>
              <a:t>	def m1(self) :</a:t>
            </a:r>
          </a:p>
          <a:p>
            <a:pPr fontAlgn="base"/>
            <a:r>
              <a:rPr lang="en-US" altLang="ko-KR" smtClean="0">
                <a:latin typeface="나눔고딕" panose="020B0600000101010101" charset="-127"/>
                <a:ea typeface="나눔고딕" panose="020B0600000101010101" charset="-127"/>
              </a:rPr>
              <a:t>		return 7</a:t>
            </a:r>
          </a:p>
          <a:p>
            <a:pPr fontAlgn="base"/>
            <a:r>
              <a:rPr lang="en-US" altLang="ko-KR" smtClean="0">
                <a:latin typeface="나눔고딕" panose="020B0600000101010101" charset="-127"/>
                <a:ea typeface="나눔고딕" panose="020B0600000101010101" charset="-127"/>
              </a:rPr>
              <a:t>	def test1(self) :</a:t>
            </a:r>
          </a:p>
          <a:p>
            <a:pPr fontAlgn="base"/>
            <a:r>
              <a:rPr lang="en-US" altLang="ko-KR" smtClean="0">
                <a:latin typeface="나눔고딕" panose="020B0600000101010101" charset="-127"/>
                <a:ea typeface="나눔고딕" panose="020B0600000101010101" charset="-127"/>
              </a:rPr>
              <a:t>		print(self.a)</a:t>
            </a:r>
          </a:p>
          <a:p>
            <a:pPr fontAlgn="base"/>
            <a:r>
              <a:rPr lang="en-US" altLang="ko-KR" smtClean="0">
                <a:latin typeface="나눔고딕" panose="020B0600000101010101" charset="-127"/>
                <a:ea typeface="나눔고딕" panose="020B0600000101010101" charset="-127"/>
              </a:rPr>
              <a:t>	def test2(self) :</a:t>
            </a:r>
          </a:p>
          <a:p>
            <a:pPr fontAlgn="base"/>
            <a:r>
              <a:rPr lang="en-US" altLang="ko-KR" smtClean="0">
                <a:latin typeface="나눔고딕" panose="020B0600000101010101" charset="-127"/>
                <a:ea typeface="나눔고딕" panose="020B0600000101010101" charset="-127"/>
              </a:rPr>
              <a:t>		print(str(self.m1()))</a:t>
            </a:r>
            <a:endParaRPr lang="en-US" altLang="ko-KR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502637" y="3399396"/>
            <a:ext cx="3479494" cy="6463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B()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ob.test2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() # 8</a:t>
            </a:r>
            <a:r>
              <a:rPr lang="ko-KR" altLang="en-US" dirty="0" err="1" smtClean="0">
                <a:latin typeface="나눔고딕" panose="020B0600000101010101" charset="-127"/>
                <a:ea typeface="나눔고딕" panose="020B0600000101010101" charset="-127"/>
              </a:rPr>
              <a:t>이아닌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7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0221925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4" y="195231"/>
            <a:ext cx="2852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메서드</a:t>
            </a:r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재정의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780925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39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메서드 재정의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7"/>
            <a:ext cx="8470547" cy="13920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여기서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주의할 것은 하위 클래스에서 상위 클래스의 메서드와 동일한 이름으로 형식이 다른 형태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즉 인수의 개수가 다른 형태로 정의할 경우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상위 클래스의 동일 이름의 메서드가 하위 클래스에서 재정의 되지 않아 그 메서드가 하위 클래스에서 유효할 것처럼 생각하기 쉬운데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그렇지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않음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3203EA-D9D0-4B6D-8313-475948AF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FCA14F-043E-482D-BF2F-D7F903866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F0D66F-8FFB-4959-9954-57601A7276FB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137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021633" y="3260935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A 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 :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self.a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3;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self.b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5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m1(self) : return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self.a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+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self.b</a:t>
            </a:r>
            <a:endParaRPr lang="en-US" altLang="ko-KR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B(A) 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m1(self, n) 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	return 7 + n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test1(self) 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	print(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self.a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test2(self) 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	print(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str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(self.m1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()))</a:t>
            </a:r>
            <a:endParaRPr lang="en-US" altLang="ko-KR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875065" y="3837886"/>
            <a:ext cx="2419738" cy="6463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B()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ob.test2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() # 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오류</a:t>
            </a:r>
            <a:endParaRPr lang="en-US" altLang="ko-KR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038405" y="5002438"/>
            <a:ext cx="4615530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 err="1" smtClean="0">
                <a:latin typeface="나눔고딕" panose="020B0600000101010101" charset="-127"/>
                <a:ea typeface="나눔고딕" panose="020B0600000101010101" charset="-127"/>
              </a:rPr>
              <a:t>메서드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오버로딩이 허용되지 않기 때문에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099934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4" y="195231"/>
            <a:ext cx="2852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14. 2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메서드 재정의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780925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39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메서드 재정의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0544" y="1433318"/>
            <a:ext cx="8470547" cy="740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자식 클래스에서 상위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클래스의 메서드를 호출할 때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super()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함수를 사용하여 호출해 주면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18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3203EA-D9D0-4B6D-8313-475948AF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FCA14F-043E-482D-BF2F-D7F903866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E4284CD-9236-4550-82C4-F42140C8D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64262B-D6E4-4B27-8189-E77047946416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138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096278" y="2174033"/>
            <a:ext cx="525624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A 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 :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self.a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3;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self.b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5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m1(self) : return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self.a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+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self.b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B(A) 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m1(self, n) 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k = </a:t>
            </a:r>
            <a:r>
              <a:rPr lang="en-US" altLang="ko-KR" b="1" dirty="0">
                <a:latin typeface="나눔고딕" panose="020B0600000101010101" charset="-127"/>
                <a:ea typeface="나눔고딕" panose="020B0600000101010101" charset="-127"/>
              </a:rPr>
              <a:t>super().m1()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return k + n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test1(self) 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self.a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test2(self) 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	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str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en-US" altLang="ko-KR" b="1" dirty="0">
                <a:latin typeface="나눔고딕" panose="020B0600000101010101" charset="-127"/>
                <a:ea typeface="나눔고딕" panose="020B0600000101010101" charset="-127"/>
              </a:rPr>
              <a:t>super().m1</a:t>
            </a:r>
            <a:r>
              <a:rPr lang="en-US" altLang="ko-KR" b="1" dirty="0" smtClean="0">
                <a:latin typeface="나눔고딕" panose="020B0600000101010101" charset="-127"/>
                <a:ea typeface="나눔고딕" panose="020B0600000101010101" charset="-127"/>
              </a:rPr>
              <a:t>()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))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769289" y="3400856"/>
            <a:ext cx="2481802" cy="92333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B()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ob.test1()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ob.test2()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2742620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4" y="195231"/>
            <a:ext cx="2852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상위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클래스 </a:t>
            </a:r>
            <a:r>
              <a:rPr lang="ko-KR" altLang="en-US" sz="800" spc="-3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생성자</a:t>
            </a:r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및 </a:t>
            </a:r>
            <a:r>
              <a:rPr lang="ko-KR" altLang="en-US" sz="800" spc="-3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소멸자</a:t>
            </a:r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호출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780925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3900" b="1" spc="-150" dirty="0">
                <a:solidFill>
                  <a:schemeClr val="accent4">
                    <a:lumMod val="50000"/>
                  </a:schemeClr>
                </a:solidFill>
              </a:rPr>
              <a:t>상위 클래스 </a:t>
            </a:r>
            <a:r>
              <a:rPr lang="ko-KR" altLang="en-US" sz="3900" b="1" spc="-150" dirty="0" err="1" smtClean="0">
                <a:solidFill>
                  <a:schemeClr val="accent4">
                    <a:lumMod val="50000"/>
                  </a:schemeClr>
                </a:solidFill>
              </a:rPr>
              <a:t>생성자</a:t>
            </a:r>
            <a:r>
              <a:rPr lang="ko-KR" altLang="en-US" sz="3900" b="1" spc="-150" dirty="0" smtClean="0">
                <a:solidFill>
                  <a:schemeClr val="accent4">
                    <a:lumMod val="50000"/>
                  </a:schemeClr>
                </a:solidFill>
              </a:rPr>
              <a:t> 및 </a:t>
            </a:r>
            <a:r>
              <a:rPr lang="ko-KR" altLang="en-US" sz="3900" b="1" spc="-150" dirty="0" err="1" smtClean="0">
                <a:solidFill>
                  <a:schemeClr val="accent4">
                    <a:lumMod val="50000"/>
                  </a:schemeClr>
                </a:solidFill>
              </a:rPr>
              <a:t>소멸자</a:t>
            </a:r>
            <a:r>
              <a:rPr lang="ko-KR" altLang="en-US" sz="3900" b="1" spc="-150" dirty="0" smtClean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ko-KR" altLang="en-US" sz="3900" b="1" spc="-150" dirty="0">
                <a:solidFill>
                  <a:schemeClr val="accent4">
                    <a:lumMod val="50000"/>
                  </a:schemeClr>
                </a:solidFill>
              </a:rPr>
              <a:t>호출</a:t>
            </a:r>
            <a:endParaRPr lang="ko-KR" altLang="en-US" sz="39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7"/>
            <a:ext cx="8470547" cy="9907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자식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클래스의 객체가 생성될 시 당연히 그 클래스의 생성자가 호출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그런데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자식 클래스에는 부모클래스로부터 상속 받은 멤버들이 있기 때문에 이들을 초기화하기 위해 부모클래스의 생성자가 자동으로 호출이 될까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?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3203EA-D9D0-4B6D-8313-475948AF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FCA14F-043E-482D-BF2F-D7F903866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E4284CD-9236-4550-82C4-F42140C8D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9E0BBF-4224-42E3-9D73-E0AF4F359CA4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139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068286" y="2730579"/>
            <a:ext cx="323150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Shape: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2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print("Shape </a:t>
            </a:r>
            <a:r>
              <a:rPr lang="ko-KR" altLang="en-US" dirty="0" err="1">
                <a:latin typeface="나눔고딕" panose="020B0600000101010101" charset="-127"/>
                <a:ea typeface="나눔고딕" panose="020B0600000101010101" charset="-127"/>
              </a:rPr>
              <a:t>생성자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")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2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self.x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0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2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self.y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0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del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2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print("Shape </a:t>
            </a:r>
            <a:r>
              <a:rPr lang="ko-KR" altLang="en-US" dirty="0" err="1">
                <a:latin typeface="나눔고딕" panose="020B0600000101010101" charset="-127"/>
                <a:ea typeface="나눔고딕" panose="020B0600000101010101" charset="-127"/>
              </a:rPr>
              <a:t>소멸자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")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5299788" y="2692435"/>
            <a:ext cx="376334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Rectangle(Shape):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2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print("Rectangle </a:t>
            </a:r>
            <a:r>
              <a:rPr lang="ko-KR" altLang="en-US" dirty="0" err="1">
                <a:latin typeface="나눔고딕" panose="020B0600000101010101" charset="-127"/>
                <a:ea typeface="나눔고딕" panose="020B0600000101010101" charset="-127"/>
              </a:rPr>
              <a:t>생성자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")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2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self.width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0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2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self.height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0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del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2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print("Rectangle </a:t>
            </a:r>
            <a:r>
              <a:rPr lang="ko-KR" altLang="en-US" dirty="0" err="1">
                <a:latin typeface="나눔고딕" panose="020B0600000101010101" charset="-127"/>
                <a:ea typeface="나눔고딕" panose="020B0600000101010101" charset="-127"/>
              </a:rPr>
              <a:t>소멸자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")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9503775" y="3338765"/>
            <a:ext cx="1763624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r = Rectangle()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4" name="내용 개체 틀 2"/>
          <p:cNvSpPr txBox="1">
            <a:spLocks/>
          </p:cNvSpPr>
          <p:nvPr/>
        </p:nvSpPr>
        <p:spPr>
          <a:xfrm>
            <a:off x="1787454" y="5243296"/>
            <a:ext cx="9399950" cy="10450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그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결과를 확인해 보면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부모 클래스의 생성자가 호출되지 않았음을 알 수 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endParaRPr lang="en-US" altLang="ko-KR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따라서</a:t>
            </a:r>
            <a:r>
              <a:rPr lang="en-US" altLang="ko-KR" sz="18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부모 클래스에서 상속 받은 인스턴스 변수들을 초기화하려면 자식 클래스에서 명시적으로 부모 클래스의 </a:t>
            </a:r>
            <a:r>
              <a:rPr lang="ko-KR" altLang="en-US" sz="1800" dirty="0" err="1">
                <a:latin typeface="나눔고딕" panose="020B0600000101010101" charset="-127"/>
                <a:ea typeface="나눔고딕" panose="020B0600000101010101" charset="-127"/>
              </a:rPr>
              <a:t>생성자를</a:t>
            </a:r>
            <a:r>
              <a:rPr lang="ko-KR" altLang="en-US" sz="18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1800" dirty="0" smtClean="0">
                <a:latin typeface="나눔고딕" panose="020B0600000101010101" charset="-127"/>
                <a:ea typeface="나눔고딕" panose="020B0600000101010101" charset="-127"/>
              </a:rPr>
              <a:t>호출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18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7723532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4" y="195231"/>
            <a:ext cx="2852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상위 클래스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생성자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및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소멸자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호출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780925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3900" b="1" spc="-150" dirty="0">
                <a:solidFill>
                  <a:schemeClr val="accent4">
                    <a:lumMod val="50000"/>
                  </a:schemeClr>
                </a:solidFill>
              </a:rPr>
              <a:t>상위 클래스 생성자 호출</a:t>
            </a:r>
            <a:endParaRPr lang="ko-KR" altLang="en-US" sz="39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7"/>
            <a:ext cx="8470547" cy="655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부모 클래스의 생성자를 호출할 경우는 아래처럼 “부모클래스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생성자” 형태로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호출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2000" dirty="0" err="1" smtClean="0">
                <a:latin typeface="나눔고딕" panose="020B0600000101010101" charset="-127"/>
                <a:ea typeface="나눔고딕" panose="020B0600000101010101" charset="-127"/>
              </a:rPr>
              <a:t>소멸자도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 동일</a:t>
            </a: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12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18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3203EA-D9D0-4B6D-8313-475948AF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FCA14F-043E-482D-BF2F-D7F903866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E4284CD-9236-4550-82C4-F42140C8D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F61959-6942-4CDB-BDAF-7FBADD5625B3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140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058955" y="2543967"/>
            <a:ext cx="352075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Shape:</a:t>
            </a:r>
          </a:p>
          <a:p>
            <a:pPr lvl="1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(self):</a:t>
            </a:r>
          </a:p>
          <a:p>
            <a:pPr lvl="2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print("Shape </a:t>
            </a:r>
            <a:r>
              <a:rPr lang="ko-KR" altLang="en-US" dirty="0" err="1">
                <a:latin typeface="나눔고딕" panose="020B0600000101010101" charset="-127"/>
                <a:ea typeface="나눔고딕" panose="020B0600000101010101" charset="-127"/>
              </a:rPr>
              <a:t>생성자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")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2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self.x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0</a:t>
            </a:r>
            <a:endParaRPr lang="en-US" altLang="ko-KR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2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self.y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0</a:t>
            </a:r>
          </a:p>
          <a:p>
            <a:pPr lvl="1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del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(self):</a:t>
            </a:r>
          </a:p>
          <a:p>
            <a:pPr lvl="2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print("Shape </a:t>
            </a:r>
            <a:r>
              <a:rPr lang="ko-KR" altLang="en-US" dirty="0" err="1">
                <a:latin typeface="나눔고딕" panose="020B0600000101010101" charset="-127"/>
                <a:ea typeface="나눔고딕" panose="020B0600000101010101" charset="-127"/>
              </a:rPr>
              <a:t>소멸자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")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6171006" y="2543967"/>
            <a:ext cx="449699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Rectangle(Shape):</a:t>
            </a:r>
          </a:p>
          <a:p>
            <a:pPr lvl="1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(self):</a:t>
            </a:r>
          </a:p>
          <a:p>
            <a:pPr lvl="2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Shape.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</a:t>
            </a:r>
          </a:p>
          <a:p>
            <a:pPr lvl="2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print("Rectangle </a:t>
            </a:r>
            <a:r>
              <a:rPr lang="ko-KR" altLang="en-US" dirty="0" err="1">
                <a:latin typeface="나눔고딕" panose="020B0600000101010101" charset="-127"/>
                <a:ea typeface="나눔고딕" panose="020B0600000101010101" charset="-127"/>
              </a:rPr>
              <a:t>생성자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")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2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self.width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0;</a:t>
            </a:r>
          </a:p>
          <a:p>
            <a:pPr lvl="2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self.height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0</a:t>
            </a:r>
          </a:p>
          <a:p>
            <a:pPr lvl="1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del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(self):</a:t>
            </a:r>
          </a:p>
          <a:p>
            <a:pPr lvl="2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print("Rectangle </a:t>
            </a:r>
            <a:r>
              <a:rPr lang="ko-KR" altLang="en-US" dirty="0" err="1">
                <a:latin typeface="나눔고딕" panose="020B0600000101010101" charset="-127"/>
                <a:ea typeface="나눔고딕" panose="020B0600000101010101" charset="-127"/>
              </a:rPr>
              <a:t>소멸자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")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2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Shape.</a:t>
            </a:r>
            <a:r>
              <a:rPr lang="en-US" altLang="ko-KR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del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en-US" altLang="ko-KR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64702" y="5467738"/>
            <a:ext cx="194578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err="1"/>
              <a:t>ob</a:t>
            </a:r>
            <a:r>
              <a:rPr lang="en-US" altLang="ko-KR" dirty="0"/>
              <a:t> = Rectangle()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4954556" y="5186475"/>
            <a:ext cx="1977849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Shape </a:t>
            </a:r>
            <a:r>
              <a:rPr lang="ko-KR" altLang="en-US" dirty="0" err="1"/>
              <a:t>생성자</a:t>
            </a:r>
            <a:endParaRPr lang="ko-KR" altLang="en-US" dirty="0"/>
          </a:p>
          <a:p>
            <a:r>
              <a:rPr lang="en-US" altLang="ko-KR" dirty="0"/>
              <a:t>Rectangle </a:t>
            </a:r>
            <a:r>
              <a:rPr lang="ko-KR" altLang="en-US" dirty="0" err="1"/>
              <a:t>생성자</a:t>
            </a:r>
            <a:endParaRPr lang="ko-KR" altLang="en-US" dirty="0"/>
          </a:p>
          <a:p>
            <a:r>
              <a:rPr lang="en-US" altLang="ko-KR" dirty="0"/>
              <a:t>Rectangle </a:t>
            </a:r>
            <a:r>
              <a:rPr lang="ko-KR" altLang="en-US" dirty="0" err="1"/>
              <a:t>소멸자</a:t>
            </a:r>
            <a:endParaRPr lang="ko-KR" altLang="en-US" dirty="0"/>
          </a:p>
          <a:p>
            <a:r>
              <a:rPr lang="en-US" altLang="ko-KR" dirty="0"/>
              <a:t>Shape </a:t>
            </a:r>
            <a:r>
              <a:rPr lang="ko-KR" altLang="en-US" dirty="0" err="1"/>
              <a:t>소멸자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496942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4" y="195231"/>
            <a:ext cx="2852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상위 클래스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생성자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및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소멸자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호출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780925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3900" b="1" spc="-150" dirty="0">
                <a:solidFill>
                  <a:schemeClr val="accent4">
                    <a:lumMod val="50000"/>
                  </a:schemeClr>
                </a:solidFill>
              </a:rPr>
              <a:t>상위 클래스 생성자 호출</a:t>
            </a:r>
            <a:endParaRPr lang="ko-KR" altLang="en-US" sz="39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7"/>
            <a:ext cx="8470547" cy="10747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클래스 객체를 통하여 부모 클래스의 생성자나 소멸자를 호출해도 되지만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앞에서 배운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super()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함수를 이용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단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생성자와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소멸자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호출 시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self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인수가 없는 형태로 호출해야 함을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주의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12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18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3203EA-D9D0-4B6D-8313-475948AF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FCA14F-043E-482D-BF2F-D7F903866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E4284CD-9236-4550-82C4-F42140C8D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1ED9BAA-14AC-44DD-9D6B-B90F1807A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58573F-D550-4480-AF0C-AE48BA4D2E13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141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114939" y="2846858"/>
            <a:ext cx="372602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Shape:</a:t>
            </a:r>
          </a:p>
          <a:p>
            <a:pPr lvl="1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(self):</a:t>
            </a:r>
          </a:p>
          <a:p>
            <a:pPr lvl="1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print("Shape </a:t>
            </a:r>
            <a:r>
              <a:rPr lang="ko-KR" altLang="en-US" dirty="0" err="1">
                <a:latin typeface="나눔고딕" panose="020B0600000101010101" charset="-127"/>
                <a:ea typeface="나눔고딕" panose="020B0600000101010101" charset="-127"/>
              </a:rPr>
              <a:t>생성자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")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self.x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0</a:t>
            </a:r>
            <a:endParaRPr lang="en-US" altLang="ko-KR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self.y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0</a:t>
            </a:r>
          </a:p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del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(self):</a:t>
            </a:r>
          </a:p>
          <a:p>
            <a:pPr lvl="1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print("Shape </a:t>
            </a:r>
            <a:r>
              <a:rPr lang="ko-KR" altLang="en-US" dirty="0" err="1">
                <a:latin typeface="나눔고딕" panose="020B0600000101010101" charset="-127"/>
                <a:ea typeface="나눔고딕" panose="020B0600000101010101" charset="-127"/>
              </a:rPr>
              <a:t>소멸자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")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6171006" y="2854811"/>
            <a:ext cx="397795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Rectangle(Shape):</a:t>
            </a:r>
          </a:p>
          <a:p>
            <a:pPr lvl="1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(self):</a:t>
            </a:r>
          </a:p>
          <a:p>
            <a:pPr lvl="2" fontAlgn="base"/>
            <a:r>
              <a:rPr lang="en-US" altLang="ko-KR" b="1" dirty="0">
                <a:latin typeface="나눔고딕" panose="020B0600000101010101" charset="-127"/>
                <a:ea typeface="나눔고딕" panose="020B0600000101010101" charset="-127"/>
              </a:rPr>
              <a:t>super().</a:t>
            </a:r>
            <a:r>
              <a:rPr lang="en-US" altLang="ko-KR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b="1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b="1" dirty="0">
                <a:latin typeface="나눔고딕" panose="020B0600000101010101" charset="-127"/>
                <a:ea typeface="나눔고딕" panose="020B0600000101010101" charset="-127"/>
              </a:rPr>
              <a:t>()</a:t>
            </a:r>
            <a:endParaRPr lang="en-US" altLang="ko-KR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2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print("Rectangle </a:t>
            </a:r>
            <a:r>
              <a:rPr lang="ko-KR" altLang="en-US" dirty="0" err="1">
                <a:latin typeface="나눔고딕" panose="020B0600000101010101" charset="-127"/>
                <a:ea typeface="나눔고딕" panose="020B0600000101010101" charset="-127"/>
              </a:rPr>
              <a:t>생성자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")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2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self.width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0</a:t>
            </a:r>
            <a:endParaRPr lang="en-US" altLang="ko-KR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2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self.height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0</a:t>
            </a:r>
          </a:p>
          <a:p>
            <a:pPr lvl="1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del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(self):</a:t>
            </a:r>
          </a:p>
          <a:p>
            <a:pPr lvl="2"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print("Rectangle </a:t>
            </a:r>
            <a:r>
              <a:rPr lang="ko-KR" altLang="en-US" dirty="0" err="1">
                <a:latin typeface="나눔고딕" panose="020B0600000101010101" charset="-127"/>
                <a:ea typeface="나눔고딕" panose="020B0600000101010101" charset="-127"/>
              </a:rPr>
              <a:t>소멸자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")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2" fontAlgn="base"/>
            <a:r>
              <a:rPr lang="en-US" altLang="ko-KR" b="1" dirty="0">
                <a:latin typeface="나눔고딕" panose="020B0600000101010101" charset="-127"/>
                <a:ea typeface="나눔고딕" panose="020B0600000101010101" charset="-127"/>
              </a:rPr>
              <a:t>super().</a:t>
            </a:r>
            <a:r>
              <a:rPr lang="en-US" altLang="ko-KR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b="1" dirty="0">
                <a:latin typeface="나눔고딕" panose="020B0600000101010101" charset="-127"/>
                <a:ea typeface="나눔고딕" panose="020B0600000101010101" charset="-127"/>
              </a:rPr>
              <a:t>del</a:t>
            </a:r>
            <a:r>
              <a:rPr lang="en-US" altLang="ko-KR" b="1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b="1" dirty="0" smtClean="0">
                <a:latin typeface="나눔고딕" panose="020B0600000101010101" charset="-127"/>
                <a:ea typeface="나눔고딕" panose="020B0600000101010101" charset="-127"/>
              </a:rPr>
              <a:t>()</a:t>
            </a:r>
            <a:endParaRPr lang="en-US" altLang="ko-KR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1879980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4" y="195231"/>
            <a:ext cx="2852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다중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상속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780925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39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다중 상속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3203EA-D9D0-4B6D-8313-475948AF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FCA14F-043E-482D-BF2F-D7F903866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E4284CD-9236-4550-82C4-F42140C8D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1ED9BAA-14AC-44DD-9D6B-B90F1807A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CB74D1-E823-4895-9405-118D1B63E23E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142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내용 개체 틀 2"/>
          <p:cNvSpPr txBox="1">
            <a:spLocks/>
          </p:cNvSpPr>
          <p:nvPr/>
        </p:nvSpPr>
        <p:spPr>
          <a:xfrm>
            <a:off x="1780544" y="1570503"/>
            <a:ext cx="8470547" cy="7714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Python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에서 다중 상속을 할 경우에는 아래와 같이 부모 클래스를 추가로 나열해 주기만 하면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021631" y="3041982"/>
            <a:ext cx="8960499" cy="347787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A 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(self, x) :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self.x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x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getX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 : return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self.x</a:t>
            </a:r>
            <a:endParaRPr lang="en-US" altLang="ko-KR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B 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(self, x) :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self.x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x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getSquare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 : return </a:t>
            </a:r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self.x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*</a:t>
            </a:r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self.x</a:t>
            </a:r>
            <a:endParaRPr lang="en-US" altLang="ko-KR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C(A, B):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(self, x): A.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(self, x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); B.</a:t>
            </a:r>
            <a:r>
              <a:rPr lang="en-US" altLang="ko-KR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(self, x)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getTriple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(self): return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self.getX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() *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self.getSquare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()</a:t>
            </a:r>
          </a:p>
          <a:p>
            <a:pPr lvl="1" fontAlgn="base"/>
            <a:endParaRPr lang="en-US" altLang="ko-KR" dirty="0" smtClean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C(3)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ob.getTriple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())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021632" y="2362558"/>
            <a:ext cx="937104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class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ChildClass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(ParentClass1, ParentClass2, ... ,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ParentClassn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) : </a:t>
            </a:r>
          </a:p>
        </p:txBody>
      </p:sp>
    </p:spTree>
    <p:extLst>
      <p:ext uri="{BB962C8B-B14F-4D97-AF65-F5344CB8AC3E}">
        <p14:creationId xmlns:p14="http://schemas.microsoft.com/office/powerpoint/2010/main" val="45527587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4" y="195231"/>
            <a:ext cx="2852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다중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상속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780925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39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다중 상속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7"/>
            <a:ext cx="8470547" cy="10281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위의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코드를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보면 생성자 구현 시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클래스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와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B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의 생성자를 호출하도록 구현되어 있는데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이렇게 하지 않고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super()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함수를 사용하면 한 번의 호출로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가능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3203EA-D9D0-4B6D-8313-475948AF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FCA14F-043E-482D-BF2F-D7F903866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E4284CD-9236-4550-82C4-F42140C8D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1ED9BAA-14AC-44DD-9D6B-B90F1807A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70BD13-509A-4748-BA5A-E45A74D6F052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143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105608" y="293919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C(A, B):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(self, x): super().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(x)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getTriple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(self): return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self.getX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() *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self.getSquare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8174121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4" y="195231"/>
            <a:ext cx="2852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다중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상속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780925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39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다중 상속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0544" y="1529794"/>
            <a:ext cx="8470547" cy="9721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다중 상속을 할 경우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주의해야 할 사항이 몇 가지가 있는데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그 중에 하나가 여러 부모 클래스에서 동일한 이름의 인스턴스 변수나 메서드를 제공할 가능성이 있고 이로 인해 뜻하지 않는 메서드가 실행이 될 수도 있다는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것임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>
              <a:buNone/>
            </a:pPr>
            <a:endParaRPr lang="en-US" altLang="ko-KR" sz="1800" b="1" dirty="0">
              <a:solidFill>
                <a:srgbClr val="3D3C3E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3203EA-D9D0-4B6D-8313-475948AF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FCA14F-043E-482D-BF2F-D7F903866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E4284CD-9236-4550-82C4-F42140C8D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1ED9BAA-14AC-44DD-9D6B-B90F1807A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14E5EA-0625-4D91-ADCB-8D22E859E7CD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144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077616" y="2750671"/>
            <a:ext cx="896049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A 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(self, x) :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self.x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x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getX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 : return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self.x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print(self) : print("A")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B 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(self, x) :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self.x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x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getSquare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 : return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self.x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*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self.x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print(self) : print("B")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C(A, B):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(self, x): super().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(x)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getTriple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(self): return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self.getX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() *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self.getSquare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()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582678" y="3301778"/>
            <a:ext cx="3380792" cy="6463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C(3)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ob.print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() # ?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6013976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4" y="195231"/>
            <a:ext cx="2852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다중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상속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780925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39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다중 상속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7"/>
            <a:ext cx="8470547" cy="45267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위의 코드를 실행시켜 보면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ob.print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()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호출 시에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클래스의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메서드가 실행됨을 알 수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원래 의도가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클래스의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print()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메서드가 호출되는 것이었으면 다행이지만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그렇지 않을 경우는 엉뚱한 결과를 얻게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3203EA-D9D0-4B6D-8313-475948AF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FCA14F-043E-482D-BF2F-D7F903866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E4284CD-9236-4550-82C4-F42140C8D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1ED9BAA-14AC-44DD-9D6B-B90F1807A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DAD51D7-7F5A-4DB4-9914-3ABD026AD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E69F85-F5A8-40CD-9B52-ACF66CC231F0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145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" name="내용 개체 틀 2"/>
          <p:cNvSpPr txBox="1">
            <a:spLocks/>
          </p:cNvSpPr>
          <p:nvPr/>
        </p:nvSpPr>
        <p:spPr>
          <a:xfrm>
            <a:off x="1787454" y="3106733"/>
            <a:ext cx="8470547" cy="9707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이처럼 여러 부모 클래스에서 동일한 메서드나 변수를 제공할 경우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Python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에서는 해당 클래스의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MRO (method resolution order)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를 이용하여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해결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124270" y="4337404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A.mro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())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B.mro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())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print(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C.mro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())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pic>
        <p:nvPicPr>
          <p:cNvPr id="16" name="_x523694624" descr="EMB000009347b01">
            <a:extLst>
              <a:ext uri="{FF2B5EF4-FFF2-40B4-BE49-F238E27FC236}">
                <a16:creationId xmlns:a16="http://schemas.microsoft.com/office/drawing/2014/main" id="{131048BB-64C2-4E57-A75C-16225D6A8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577" y="3937862"/>
            <a:ext cx="6124892" cy="2506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6195027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4" y="195231"/>
            <a:ext cx="2852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다중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상속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780925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39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다중 상속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7"/>
            <a:ext cx="8470547" cy="20824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위의 실행 화면을 보면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C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클래스의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MRO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는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[&lt;class '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main</a:t>
            </a:r>
            <a:r>
              <a:rPr lang="en-US" altLang="ko-KR" sz="20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.C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'&gt;, &lt;class '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main</a:t>
            </a:r>
            <a:r>
              <a:rPr lang="en-US" altLang="ko-KR" sz="20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.A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'&gt;, &lt;class '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main</a:t>
            </a:r>
            <a:r>
              <a:rPr lang="en-US" altLang="ko-KR" sz="20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.B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'&gt;, &lt;class 'object'&gt;]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임을 알 수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이는 여러 클래스에서 동일한 이름의 변수나 메서드가 있을 경우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먼저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C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클래스에서 찾고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없으면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에서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그 다음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B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에서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최종적으로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object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클래스에서 찾음을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의미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3203EA-D9D0-4B6D-8313-475948AF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FCA14F-043E-482D-BF2F-D7F903866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E4284CD-9236-4550-82C4-F42140C8D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1ED9BAA-14AC-44DD-9D6B-B90F1807A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DAD51D7-7F5A-4DB4-9914-3ABD026AD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AE470F01-24E2-4C1A-A1F2-6717E80EC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69E8EE-EC24-4CCC-9D03-C34910263AA3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146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4" name="내용 개체 틀 2"/>
          <p:cNvSpPr txBox="1">
            <a:spLocks/>
          </p:cNvSpPr>
          <p:nvPr/>
        </p:nvSpPr>
        <p:spPr>
          <a:xfrm>
            <a:off x="1780544" y="3697117"/>
            <a:ext cx="8470547" cy="14813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위의 예인 경우는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메서드가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와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B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클래스 모두에 정의되어 있지만 우선순위가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가 먼저 임으로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A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의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메서드가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실행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만약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B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클래스의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print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메서드를 실행시키고 싶다면 “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ob.print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()”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대신에 아래와 같이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작성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140607" y="5178490"/>
            <a:ext cx="13420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B.print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5868934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4" y="195231"/>
            <a:ext cx="2852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다중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상속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780925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39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다중 상속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7"/>
            <a:ext cx="8470547" cy="7388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또 다른 문제점은 클래스 계층구조가 다이아몬드 형태일 경우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상위 클래스에 있는 메서드가 두 번 이상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실행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ko-KR" altLang="en-US" sz="18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3203EA-D9D0-4B6D-8313-475948AF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FCA14F-043E-482D-BF2F-D7F903866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E4284CD-9236-4550-82C4-F42140C8D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1ED9BAA-14AC-44DD-9D6B-B90F1807A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DAD51D7-7F5A-4DB4-9914-3ABD026AD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AE470F01-24E2-4C1A-A1F2-6717E80EC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E22558-9A6A-4034-A6F9-60062F14F4F8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147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086947" y="2632320"/>
            <a:ext cx="829864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A 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__(self) : print(“A”)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B(A) 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__(self) : print(“B”); A.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C(A) 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b="1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b="1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b="1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b="1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b="1" dirty="0">
                <a:latin typeface="나눔고딕" panose="020B0600000101010101" charset="-127"/>
                <a:ea typeface="나눔고딕" panose="020B0600000101010101" charset="-127"/>
              </a:rPr>
              <a:t>__(self) : print(“C”); A.</a:t>
            </a:r>
            <a:r>
              <a:rPr lang="en-US" altLang="ko-KR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b="1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b="1" dirty="0">
                <a:latin typeface="나눔고딕" panose="020B0600000101010101" charset="-127"/>
                <a:ea typeface="나눔고딕" panose="020B0600000101010101" charset="-127"/>
              </a:rPr>
              <a:t>(self)</a:t>
            </a:r>
            <a:endParaRPr lang="ko-KR" altLang="en-US" b="1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D(B, C) :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__(self) : print(“D”); B.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);C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)</a:t>
            </a:r>
          </a:p>
          <a:p>
            <a:pPr fontAlgn="base"/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D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() # A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의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생성자가 두 번 호출됨</a:t>
            </a:r>
            <a:endParaRPr lang="ko-KR" altLang="en-US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146497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4" y="195231"/>
            <a:ext cx="2852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다중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상속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780925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39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다중 상속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3203EA-D9D0-4B6D-8313-475948AF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FCA14F-043E-482D-BF2F-D7F903866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E4284CD-9236-4550-82C4-F42140C8D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1ED9BAA-14AC-44DD-9D6B-B90F1807A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DAD51D7-7F5A-4DB4-9914-3ABD026AD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AE470F01-24E2-4C1A-A1F2-6717E80EC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40D98197-ADFB-467B-BEE2-465B669F4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2769" name="_x350753248" descr="EMB000009347b0c">
            <a:extLst>
              <a:ext uri="{FF2B5EF4-FFF2-40B4-BE49-F238E27FC236}">
                <a16:creationId xmlns:a16="http://schemas.microsoft.com/office/drawing/2014/main" id="{7DCDEAF1-FAEC-4D75-B736-20B36CEC3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657" y="1492178"/>
            <a:ext cx="8474687" cy="3873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932B186-6D6F-4308-BC22-20B0ED526070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148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7382974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4" y="195231"/>
            <a:ext cx="2852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다중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상속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780925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39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다중 상속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8"/>
            <a:ext cx="8470547" cy="430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위의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코드를 아래와 같이 바꾸어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수행하면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3203EA-D9D0-4B6D-8313-475948AF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FCA14F-043E-482D-BF2F-D7F903866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E4284CD-9236-4550-82C4-F42140C8D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1ED9BAA-14AC-44DD-9D6B-B90F1807A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DAD51D7-7F5A-4DB4-9914-3ABD026AD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AE470F01-24E2-4C1A-A1F2-6717E80EC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D8E2C0-086B-48EE-BCFC-71FE80AF9883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149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086947" y="2179352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A 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 : print("A")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B(A) 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 : print("B"); super().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()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C(A) 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 : print("C"); super().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()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D(B, C) 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 : print("D"); super().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()</a:t>
            </a:r>
          </a:p>
          <a:p>
            <a:pPr fontAlgn="base"/>
            <a:endParaRPr lang="en-US" altLang="ko-KR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= D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() # A </a:t>
            </a:r>
            <a:r>
              <a:rPr lang="ko-KR" altLang="en-US" dirty="0" smtClean="0">
                <a:latin typeface="나눔고딕" panose="020B0600000101010101" charset="-127"/>
                <a:ea typeface="나눔고딕" panose="020B0600000101010101" charset="-127"/>
              </a:rPr>
              <a:t>생성자가 한 번만 호출됨</a:t>
            </a:r>
            <a:endParaRPr lang="en-US" altLang="ko-KR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6" name="내용 개체 틀 2"/>
          <p:cNvSpPr txBox="1">
            <a:spLocks/>
          </p:cNvSpPr>
          <p:nvPr/>
        </p:nvSpPr>
        <p:spPr>
          <a:xfrm>
            <a:off x="1708732" y="5319935"/>
            <a:ext cx="8470547" cy="10155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따라서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앞으로 클래스를 정의할 경우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특히 클래스의 생성자를 정의할 경우는 이러한 다이아몬드 계층구조에 따른 문제점을 고려하여 부모 클래스의 생성자 호출 시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super()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함수를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사용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9124723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4" y="195231"/>
            <a:ext cx="2852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다중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상속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780925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39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다중 상속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0544" y="1397775"/>
            <a:ext cx="8470547" cy="11774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altLang="ko-KR" sz="2000" b="1" dirty="0">
                <a:latin typeface="나눔고딕" panose="020B0600000101010101" charset="-127"/>
                <a:ea typeface="나눔고딕" panose="020B0600000101010101" charset="-127"/>
              </a:rPr>
              <a:t>[</a:t>
            </a:r>
            <a:r>
              <a:rPr lang="ko-KR" altLang="en-US" sz="2000" b="1" dirty="0">
                <a:latin typeface="나눔고딕" panose="020B0600000101010101" charset="-127"/>
                <a:ea typeface="나눔고딕" panose="020B0600000101010101" charset="-127"/>
              </a:rPr>
              <a:t>참고</a:t>
            </a:r>
            <a:r>
              <a:rPr lang="en-US" altLang="ko-KR" sz="2000" b="1" dirty="0">
                <a:latin typeface="나눔고딕" panose="020B0600000101010101" charset="-127"/>
                <a:ea typeface="나눔고딕" panose="020B0600000101010101" charset="-127"/>
              </a:rPr>
              <a:t>] super()</a:t>
            </a:r>
            <a:r>
              <a:rPr lang="ko-KR" altLang="en-US" sz="2000" b="1" dirty="0">
                <a:latin typeface="나눔고딕" panose="020B0600000101010101" charset="-127"/>
                <a:ea typeface="나눔고딕" panose="020B0600000101010101" charset="-127"/>
              </a:rPr>
              <a:t>와 </a:t>
            </a:r>
            <a:r>
              <a:rPr lang="en-US" altLang="ko-KR" sz="2000" b="1" dirty="0">
                <a:latin typeface="나눔고딕" panose="020B0600000101010101" charset="-127"/>
                <a:ea typeface="나눔고딕" panose="020B0600000101010101" charset="-127"/>
              </a:rPr>
              <a:t>super(</a:t>
            </a:r>
            <a:r>
              <a:rPr lang="ko-KR" altLang="en-US" sz="2000" b="1" dirty="0">
                <a:latin typeface="나눔고딕" panose="020B0600000101010101" charset="-127"/>
                <a:ea typeface="나눔고딕" panose="020B0600000101010101" charset="-127"/>
              </a:rPr>
              <a:t>자식클래스</a:t>
            </a:r>
            <a:r>
              <a:rPr lang="en-US" altLang="ko-KR" sz="2000" b="1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b="1" dirty="0">
                <a:latin typeface="나눔고딕" panose="020B0600000101010101" charset="-127"/>
                <a:ea typeface="나눔고딕" panose="020B0600000101010101" charset="-127"/>
              </a:rPr>
              <a:t>인스턴스</a:t>
            </a:r>
            <a:r>
              <a:rPr lang="en-US" altLang="ko-KR" sz="2000" b="1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r>
              <a:rPr lang="ko-KR" altLang="en-US" sz="2000" b="1" dirty="0">
                <a:latin typeface="나눔고딕" panose="020B0600000101010101" charset="-127"/>
                <a:ea typeface="나눔고딕" panose="020B0600000101010101" charset="-127"/>
              </a:rPr>
              <a:t>의 차이점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전자는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Python 3.0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이상에서 사용하는 구문이며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후자는 그 이전 버전에서 사용하던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구문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3203EA-D9D0-4B6D-8313-475948AF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FCA14F-043E-482D-BF2F-D7F903866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E4284CD-9236-4550-82C4-F42140C8D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1ED9BAA-14AC-44DD-9D6B-B90F1807A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DAD51D7-7F5A-4DB4-9914-3ABD026AD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AE470F01-24E2-4C1A-A1F2-6717E80EC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6F9E61FA-5A75-468C-BEC9-A64C9CBCF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49F2C5-EC21-416D-9C91-52925B29DFFE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150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708732" y="2846858"/>
            <a:ext cx="567178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# 3.0 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이전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MyParentClass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(object):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	pass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SubClass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MyParentClass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):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	super(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SubClass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, self).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()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7284098" y="2846858"/>
            <a:ext cx="433251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# 3.0 </a:t>
            </a:r>
            <a:r>
              <a:rPr lang="ko-KR" altLang="en-US" dirty="0">
                <a:latin typeface="나눔고딕" panose="020B0600000101010101" charset="-127"/>
                <a:ea typeface="나눔고딕" panose="020B0600000101010101" charset="-127"/>
              </a:rPr>
              <a:t>이상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MyParentClass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(object):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	pass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SubClass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MyParentClass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):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	super().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860700503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4" y="195231"/>
            <a:ext cx="2852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상속과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바인딩 그리고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다형성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780925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39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상속과 바인딩 그리고 </a:t>
            </a:r>
            <a:r>
              <a:rPr lang="ko-KR" altLang="en-US" sz="3900" b="1" spc="-150" dirty="0" err="1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다형성</a:t>
            </a:r>
            <a:endParaRPr lang="ko-KR" altLang="en-US" sz="39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7"/>
            <a:ext cx="8470547" cy="45921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Python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에서는 동적 바인딩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(dynamic binding),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즉 실행할 메서드나 데이터 </a:t>
            </a:r>
            <a:r>
              <a:rPr lang="ko-KR" altLang="en-US" sz="2000" dirty="0" err="1">
                <a:latin typeface="나눔고딕" panose="020B0600000101010101" charset="-127"/>
                <a:ea typeface="나눔고딕" panose="020B0600000101010101" charset="-127"/>
              </a:rPr>
              <a:t>애트리뷰트가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 실행 시에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결정됨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lvl="1" fontAlgn="base"/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변수에 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어떤 객체의 레퍼런스가 저장되어 있냐에 따라 다른 메서드나 데이터 </a:t>
            </a:r>
            <a:r>
              <a:rPr lang="ko-KR" altLang="en-US" sz="1600" dirty="0" err="1">
                <a:latin typeface="나눔고딕" panose="020B0600000101010101" charset="-127"/>
                <a:ea typeface="나눔고딕" panose="020B0600000101010101" charset="-127"/>
              </a:rPr>
              <a:t>애트리뷰트가</a:t>
            </a:r>
            <a:r>
              <a:rPr lang="ko-KR" altLang="en-US" sz="1600" dirty="0">
                <a:latin typeface="나눔고딕" panose="020B0600000101010101" charset="-127"/>
                <a:ea typeface="나눔고딕" panose="020B0600000101010101" charset="-127"/>
              </a:rPr>
              <a:t> 접근이 되게 </a:t>
            </a:r>
            <a:r>
              <a:rPr lang="ko-KR" altLang="en-US" sz="16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en-US" altLang="ko-KR" sz="16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이러한 점을 이용하여 아래와 같이 부모 클래스 타입의 객체와 자식 클래스 타입의 객체를 같은 변수에 저장한 후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동일한 방법으로 조작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3203EA-D9D0-4B6D-8313-475948AF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FCA14F-043E-482D-BF2F-D7F903866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E4284CD-9236-4550-82C4-F42140C8D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1ED9BAA-14AC-44DD-9D6B-B90F1807A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DAD51D7-7F5A-4DB4-9914-3ABD026AD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AE470F01-24E2-4C1A-A1F2-6717E80EC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6F9E61FA-5A75-468C-BEC9-A64C9CBCF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733F6FCD-9C8C-49A7-9326-AE00875B5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7057BA73-3DFE-4F9C-AAEF-4BDF6F774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C499FD1C-8D5F-48A1-93FF-F4F87485C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F80C186D-15E2-4A00-95B2-0E2B7E61F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AA062BBF-38B1-4475-B8B6-9FE469DF3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F51B57E6-8772-44A1-8465-90881AC37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BF735F-8D51-4E2D-87EB-5F793DE60591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151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012302" y="3836542"/>
            <a:ext cx="381933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A :</a:t>
            </a:r>
          </a:p>
          <a:p>
            <a:pPr lvl="1" fontAlgn="base"/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self.x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= 2</a:t>
            </a:r>
          </a:p>
          <a:p>
            <a:pPr lvl="1" fontAlgn="base"/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f(self): print("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kkk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")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5408645" y="3836542"/>
            <a:ext cx="397030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B(A) :</a:t>
            </a:r>
          </a:p>
          <a:p>
            <a:pPr lvl="1" fontAlgn="base"/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self.x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= 0</a:t>
            </a:r>
          </a:p>
          <a:p>
            <a:pPr lvl="1" fontAlgn="base"/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f(self): print("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hhh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")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8816323" y="3829566"/>
            <a:ext cx="2414303" cy="12003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 = [B(), A()]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for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in c 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print(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ob.x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ob.f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625434714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7454" y="195231"/>
            <a:ext cx="2852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3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상속과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바인딩 그리고 </a:t>
            </a:r>
            <a:r>
              <a:rPr lang="ko-KR" altLang="en-US" sz="8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다형성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1888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1780544" y="700126"/>
            <a:ext cx="8780925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39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상속과 바인딩 그리고 </a:t>
            </a:r>
            <a:r>
              <a:rPr lang="ko-KR" altLang="en-US" sz="3900" b="1" spc="-150" dirty="0" err="1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다형성</a:t>
            </a:r>
            <a:endParaRPr lang="ko-KR" altLang="en-US" sz="39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783796" y="1631107"/>
            <a:ext cx="8470547" cy="20638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위처럼 여러 클래스 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또는 자료형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)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의 객체에 대해서 같은 방법으로 조작할 수 있게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해줌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그런데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어떤 경우에는 대상 객체를 특정 클래스로부터 유도된 클래스들의 인스턴스로 한정하고 싶은 경우가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있음</a:t>
            </a: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이러한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경우는 </a:t>
            </a:r>
            <a:r>
              <a:rPr lang="en-US" altLang="ko-KR" sz="2000" dirty="0" err="1">
                <a:latin typeface="나눔고딕" panose="020B0600000101010101" charset="-127"/>
                <a:ea typeface="나눔고딕" panose="020B0600000101010101" charset="-127"/>
              </a:rPr>
              <a:t>issubclass</a:t>
            </a:r>
            <a:r>
              <a:rPr lang="en-US" altLang="ko-KR" sz="2000" dirty="0">
                <a:latin typeface="나눔고딕" panose="020B0600000101010101" charset="-127"/>
                <a:ea typeface="나눔고딕" panose="020B0600000101010101" charset="-127"/>
              </a:rPr>
              <a:t>()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함수를 사용하여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특정</a:t>
            </a:r>
            <a:r>
              <a:rPr lang="en-US" altLang="ko-KR" sz="2000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ko-KR" altLang="en-US" sz="2000" dirty="0">
                <a:latin typeface="나눔고딕" panose="020B0600000101010101" charset="-127"/>
                <a:ea typeface="나눔고딕" panose="020B0600000101010101" charset="-127"/>
              </a:rPr>
              <a:t>클래스로부터 유도된 클래스에서부터 생성된 객체에 대해서만 적용하도록 하면 </a:t>
            </a:r>
            <a:r>
              <a:rPr lang="ko-KR" altLang="en-US" sz="2000" dirty="0" smtClean="0">
                <a:latin typeface="나눔고딕" panose="020B0600000101010101" charset="-127"/>
                <a:ea typeface="나눔고딕" panose="020B0600000101010101" charset="-127"/>
              </a:rPr>
              <a:t>됨</a:t>
            </a:r>
            <a:endParaRPr lang="ko-KR" altLang="en-US" sz="2000" dirty="0">
              <a:latin typeface="나눔고딕" panose="020B0600000101010101" charset="-127"/>
              <a:ea typeface="나눔고딕" panose="020B0600000101010101" charset="-127"/>
            </a:endParaRPr>
          </a:p>
          <a:p>
            <a:pPr marL="0" indent="0" fontAlgn="base">
              <a:buNone/>
            </a:pPr>
            <a:endParaRPr lang="en-US" altLang="ko-KR" sz="2000" dirty="0"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5F3C8-EEF2-4BA6-9FA7-BD40D9236BAB}"/>
              </a:ext>
            </a:extLst>
          </p:cNvPr>
          <p:cNvSpPr txBox="1"/>
          <p:nvPr/>
        </p:nvSpPr>
        <p:spPr>
          <a:xfrm>
            <a:off x="9378950" y="6443990"/>
            <a:ext cx="1289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err="1">
                <a:latin typeface="나눔고딕" panose="020B0600000101010101" charset="-127"/>
                <a:ea typeface="나눔고딕" panose="020B0600000101010101" charset="-127"/>
              </a:rPr>
              <a:t>파이썬만</a:t>
            </a:r>
            <a:r>
              <a:rPr lang="ko-KR" altLang="en-US" sz="1100" b="1" dirty="0">
                <a:latin typeface="나눔고딕" panose="020B0600000101010101" charset="-127"/>
                <a:ea typeface="나눔고딕" panose="020B0600000101010101" charset="-127"/>
              </a:rPr>
              <a:t> 잡아도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F3203EA-D9D0-4B6D-8313-475948AF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FCA14F-043E-482D-BF2F-D7F903866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E4284CD-9236-4550-82C4-F42140C8D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1ED9BAA-14AC-44DD-9D6B-B90F1807A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DAD51D7-7F5A-4DB4-9914-3ABD026AD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AE470F01-24E2-4C1A-A1F2-6717E80EC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6F9E61FA-5A75-468C-BEC9-A64C9CBCF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733F6FCD-9C8C-49A7-9326-AE00875B5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7057BA73-3DFE-4F9C-AAEF-4BDF6F774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C499FD1C-8D5F-48A1-93FF-F4F87485C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F80C186D-15E2-4A00-95B2-0E2B7E61F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AA062BBF-38B1-4475-B8B6-9FE469DF3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F51B57E6-8772-44A1-8465-90881AC37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81B90D-1900-4CCA-86A4-422E6A882B3B}"/>
              </a:ext>
            </a:extLst>
          </p:cNvPr>
          <p:cNvSpPr txBox="1"/>
          <p:nvPr/>
        </p:nvSpPr>
        <p:spPr>
          <a:xfrm>
            <a:off x="8801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152</a:t>
            </a:fld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708732" y="3869126"/>
            <a:ext cx="335129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A :</a:t>
            </a:r>
          </a:p>
          <a:p>
            <a:pPr lvl="1" fontAlgn="base"/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self.x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= 2</a:t>
            </a:r>
          </a:p>
          <a:p>
            <a:pPr lvl="1" fontAlgn="base"/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f(self): print("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kkk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")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4711681" y="3869126"/>
            <a:ext cx="36420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B(A) :</a:t>
            </a:r>
          </a:p>
          <a:p>
            <a:pPr lvl="1" fontAlgn="base"/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self.x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= 0</a:t>
            </a:r>
          </a:p>
          <a:p>
            <a:pPr lvl="1" fontAlgn="base"/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f(self): print("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hhh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")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8004675" y="3869126"/>
            <a:ext cx="38939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class C:</a:t>
            </a:r>
          </a:p>
          <a:p>
            <a:pPr lvl="1" fontAlgn="base"/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init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(self):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self.x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= 7</a:t>
            </a:r>
          </a:p>
          <a:p>
            <a:pPr lvl="1" fontAlgn="base"/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def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f(self): print("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ooo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")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3282950" y="5243659"/>
            <a:ext cx="5070781" cy="12003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l = [B(), A(), C()]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for 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 in l :</a:t>
            </a: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</a:t>
            </a:r>
            <a:r>
              <a:rPr lang="en-US" altLang="ko-KR" b="1" dirty="0">
                <a:latin typeface="나눔고딕" panose="020B0600000101010101" charset="-127"/>
                <a:ea typeface="나눔고딕" panose="020B0600000101010101" charset="-127"/>
              </a:rPr>
              <a:t>if (</a:t>
            </a:r>
            <a:r>
              <a:rPr lang="en-US" altLang="ko-KR" b="1" dirty="0" err="1">
                <a:latin typeface="나눔고딕" panose="020B0600000101010101" charset="-127"/>
                <a:ea typeface="나눔고딕" panose="020B0600000101010101" charset="-127"/>
              </a:rPr>
              <a:t>issubclass</a:t>
            </a:r>
            <a:r>
              <a:rPr lang="en-US" altLang="ko-KR" b="1" dirty="0">
                <a:latin typeface="나눔고딕" panose="020B0600000101010101" charset="-127"/>
                <a:ea typeface="나눔고딕" panose="020B0600000101010101" charset="-127"/>
              </a:rPr>
              <a:t>(</a:t>
            </a:r>
            <a:r>
              <a:rPr lang="en-US" altLang="ko-KR" b="1" dirty="0" err="1">
                <a:latin typeface="나눔고딕" panose="020B0600000101010101" charset="-127"/>
                <a:ea typeface="나눔고딕" panose="020B0600000101010101" charset="-127"/>
              </a:rPr>
              <a:t>ob</a:t>
            </a:r>
            <a:r>
              <a:rPr lang="en-US" altLang="ko-KR" b="1" dirty="0">
                <a:latin typeface="나눔고딕" panose="020B0600000101010101" charset="-127"/>
                <a:ea typeface="나눔고딕" panose="020B0600000101010101" charset="-127"/>
              </a:rPr>
              <a:t>.</a:t>
            </a:r>
            <a:r>
              <a:rPr lang="en-US" altLang="ko-KR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b="1" dirty="0">
                <a:latin typeface="나눔고딕" panose="020B0600000101010101" charset="-127"/>
                <a:ea typeface="나눔고딕" panose="020B0600000101010101" charset="-127"/>
              </a:rPr>
              <a:t>class</a:t>
            </a:r>
            <a:r>
              <a:rPr lang="en-US" altLang="ko-KR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__</a:t>
            </a:r>
            <a:r>
              <a:rPr lang="en-US" altLang="ko-KR" b="1" dirty="0">
                <a:latin typeface="나눔고딕" panose="020B0600000101010101" charset="-127"/>
                <a:ea typeface="나눔고딕" panose="020B0600000101010101" charset="-127"/>
              </a:rPr>
              <a:t>, A)):</a:t>
            </a:r>
            <a:endParaRPr lang="en-US" altLang="ko-KR" dirty="0">
              <a:latin typeface="나눔고딕" panose="020B0600000101010101" charset="-127"/>
              <a:ea typeface="나눔고딕" panose="020B0600000101010101" charset="-127"/>
            </a:endParaRPr>
          </a:p>
          <a:p>
            <a:pPr fontAlgn="base"/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		print(</a:t>
            </a:r>
            <a:r>
              <a:rPr lang="en-US" altLang="ko-KR" dirty="0" err="1">
                <a:latin typeface="나눔고딕" panose="020B0600000101010101" charset="-127"/>
                <a:ea typeface="나눔고딕" panose="020B0600000101010101" charset="-127"/>
              </a:rPr>
              <a:t>ob.x</a:t>
            </a:r>
            <a:r>
              <a:rPr lang="en-US" altLang="ko-KR" dirty="0" smtClean="0">
                <a:latin typeface="나눔고딕" panose="020B0600000101010101" charset="-127"/>
                <a:ea typeface="나눔고딕" panose="020B0600000101010101" charset="-127"/>
              </a:rPr>
              <a:t>); </a:t>
            </a:r>
            <a:r>
              <a:rPr lang="en-US" altLang="ko-KR" dirty="0" err="1" smtClean="0">
                <a:latin typeface="나눔고딕" panose="020B0600000101010101" charset="-127"/>
                <a:ea typeface="나눔고딕" panose="020B0600000101010101" charset="-127"/>
              </a:rPr>
              <a:t>ob.f</a:t>
            </a:r>
            <a:r>
              <a:rPr lang="en-US" altLang="ko-KR" dirty="0">
                <a:latin typeface="나눔고딕" panose="020B0600000101010101" charset="-127"/>
                <a:ea typeface="나눔고딕" panose="020B0600000101010101" charset="-127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406233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2557</TotalTime>
  <Words>11749</Words>
  <Application>Microsoft Office PowerPoint</Application>
  <PresentationFormat>와이드스크린</PresentationFormat>
  <Paragraphs>2418</Paragraphs>
  <Slides>152</Slides>
  <Notes>128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152</vt:i4>
      </vt:variant>
    </vt:vector>
  </HeadingPairs>
  <TitlesOfParts>
    <vt:vector size="158" baseType="lpstr">
      <vt:lpstr>굴림체</vt:lpstr>
      <vt:lpstr>나눔고딕</vt:lpstr>
      <vt:lpstr>나눔바른고딕</vt:lpstr>
      <vt:lpstr>맑은 고딕</vt:lpstr>
      <vt:lpstr>Arial</vt:lpstr>
      <vt:lpstr>Office 테마</vt:lpstr>
      <vt:lpstr>파이썬 기초</vt:lpstr>
      <vt:lpstr>프로그램 기본</vt:lpstr>
      <vt:lpstr>프로그램 기본</vt:lpstr>
      <vt:lpstr>프로그램 기본</vt:lpstr>
      <vt:lpstr>프로그램 기본</vt:lpstr>
      <vt:lpstr>프로그램 기본</vt:lpstr>
      <vt:lpstr>프로그램 기본</vt:lpstr>
      <vt:lpstr>프로그램 기본</vt:lpstr>
      <vt:lpstr>프로그램 기본</vt:lpstr>
      <vt:lpstr>프로그램 기본</vt:lpstr>
      <vt:lpstr>프로그램 기본</vt:lpstr>
      <vt:lpstr>변수와 대입문</vt:lpstr>
      <vt:lpstr>변수</vt:lpstr>
      <vt:lpstr>변수</vt:lpstr>
      <vt:lpstr>변수</vt:lpstr>
      <vt:lpstr>대입문 또는 치환문</vt:lpstr>
      <vt:lpstr>수식과 연산자</vt:lpstr>
      <vt:lpstr>수식</vt:lpstr>
      <vt:lpstr>산술 연산자</vt:lpstr>
      <vt:lpstr>산술 연산자</vt:lpstr>
      <vt:lpstr>비트 연산자</vt:lpstr>
      <vt:lpstr>관계 연산자</vt:lpstr>
      <vt:lpstr>논리 연산자</vt:lpstr>
      <vt:lpstr>조건 연산자</vt:lpstr>
      <vt:lpstr>축약 대입 연산자</vt:lpstr>
      <vt:lpstr>소속 연산자</vt:lpstr>
      <vt:lpstr>소속 연산자</vt:lpstr>
      <vt:lpstr>객체 확인 연산자</vt:lpstr>
      <vt:lpstr>객체 확인 연산자</vt:lpstr>
      <vt:lpstr>객체 확인 연산자</vt:lpstr>
      <vt:lpstr>우선 순위 및 결합 법칙</vt:lpstr>
      <vt:lpstr>조건문</vt:lpstr>
      <vt:lpstr>if 문</vt:lpstr>
      <vt:lpstr>if 문</vt:lpstr>
      <vt:lpstr>if 문</vt:lpstr>
      <vt:lpstr>if else 문</vt:lpstr>
      <vt:lpstr>if else 문</vt:lpstr>
      <vt:lpstr>if elif else 문</vt:lpstr>
      <vt:lpstr>if elif else 문</vt:lpstr>
      <vt:lpstr>반복문</vt:lpstr>
      <vt:lpstr>while 문</vt:lpstr>
      <vt:lpstr>while 문</vt:lpstr>
      <vt:lpstr>for 문</vt:lpstr>
      <vt:lpstr>for 문</vt:lpstr>
      <vt:lpstr>for 문</vt:lpstr>
      <vt:lpstr>for 문</vt:lpstr>
      <vt:lpstr>for 문</vt:lpstr>
      <vt:lpstr>break 문</vt:lpstr>
      <vt:lpstr>break 문</vt:lpstr>
      <vt:lpstr>break 문</vt:lpstr>
      <vt:lpstr>continue 문</vt:lpstr>
      <vt:lpstr>pass문</vt:lpstr>
      <vt:lpstr>함수</vt:lpstr>
      <vt:lpstr>함수 정의</vt:lpstr>
      <vt:lpstr>함수 호출</vt:lpstr>
      <vt:lpstr>인자 전달</vt:lpstr>
      <vt:lpstr>인자 전달</vt:lpstr>
      <vt:lpstr>인자 전달</vt:lpstr>
      <vt:lpstr>인자 전달</vt:lpstr>
      <vt:lpstr>인자 전달</vt:lpstr>
      <vt:lpstr>키워드 인자</vt:lpstr>
      <vt:lpstr>디폴트 매개변수</vt:lpstr>
      <vt:lpstr>디폴트 매개변수</vt:lpstr>
      <vt:lpstr>가변 개수 매개변수</vt:lpstr>
      <vt:lpstr>가변 개수 매개변수</vt:lpstr>
      <vt:lpstr>가변 개수 매개변수</vt:lpstr>
      <vt:lpstr>가변 개수 매개변수</vt:lpstr>
      <vt:lpstr>함수 오버로딩</vt:lpstr>
      <vt:lpstr>함수 오버로딩</vt:lpstr>
      <vt:lpstr>변수의 유효 범위</vt:lpstr>
      <vt:lpstr>변수의 유효 범위</vt:lpstr>
      <vt:lpstr>변수의 유효 범위</vt:lpstr>
      <vt:lpstr>함수 객체</vt:lpstr>
      <vt:lpstr>익명 함수</vt:lpstr>
      <vt:lpstr>익명 함수</vt:lpstr>
      <vt:lpstr>익명 함수</vt:lpstr>
      <vt:lpstr>익명 함수</vt:lpstr>
      <vt:lpstr>익명 함수</vt:lpstr>
      <vt:lpstr>중첩 함수</vt:lpstr>
      <vt:lpstr>중첩 함수</vt:lpstr>
      <vt:lpstr>중첩 함수</vt:lpstr>
      <vt:lpstr>모듈과 패키지</vt:lpstr>
      <vt:lpstr>모듈이란?</vt:lpstr>
      <vt:lpstr>import 문</vt:lpstr>
      <vt:lpstr>import 문</vt:lpstr>
      <vt:lpstr>import 문</vt:lpstr>
      <vt:lpstr>__main __ 모듈 속성</vt:lpstr>
      <vt:lpstr>표준 모듈</vt:lpstr>
      <vt:lpstr>패키지</vt:lpstr>
      <vt:lpstr>패키지</vt:lpstr>
      <vt:lpstr>패키지</vt:lpstr>
      <vt:lpstr>패키지</vt:lpstr>
      <vt:lpstr>패키지</vt:lpstr>
      <vt:lpstr>패키지</vt:lpstr>
      <vt:lpstr>패키지</vt:lpstr>
      <vt:lpstr>모듈 소스 보기</vt:lpstr>
      <vt:lpstr>추가 모듈 다운로드 및 설치</vt:lpstr>
      <vt:lpstr>추가 모듈 다운로드 및 설치</vt:lpstr>
      <vt:lpstr>컨테이너</vt:lpstr>
      <vt:lpstr>컨테이너</vt:lpstr>
      <vt:lpstr>기본 시퀀스 자료형 공통 사항</vt:lpstr>
      <vt:lpstr>기본 시퀀스 자료형 공통 사항</vt:lpstr>
      <vt:lpstr>기본 시퀀스 자료형 공통 사항</vt:lpstr>
      <vt:lpstr>기본 시퀀스 자료형 공통 사항</vt:lpstr>
      <vt:lpstr>기본 시퀀스 자료형 공통 사항</vt:lpstr>
      <vt:lpstr>기본 시퀀스 자료형 공통 사항</vt:lpstr>
      <vt:lpstr>기본 시퀀스 자료형 공통 사항</vt:lpstr>
      <vt:lpstr>기본 시퀀스 자료형 공통 사항</vt:lpstr>
      <vt:lpstr>기본 시퀀스 자료형 - 리스트</vt:lpstr>
      <vt:lpstr>기본 시퀀스 자료형 - 리스트</vt:lpstr>
      <vt:lpstr>기본 시퀀스 자료형 - 리스트</vt:lpstr>
      <vt:lpstr>기본 시퀀스 자료형 - 리스트</vt:lpstr>
      <vt:lpstr>기본 시퀀스 자료형 - 튜플</vt:lpstr>
      <vt:lpstr>기본 시퀀스 자료형 - 튜플</vt:lpstr>
      <vt:lpstr>기본 시퀀스 자료형 - 튜플</vt:lpstr>
      <vt:lpstr>기본 시퀀스 자료형 - 범위</vt:lpstr>
      <vt:lpstr>기본 시퀀스 자료형 - 범위</vt:lpstr>
      <vt:lpstr>클래스</vt:lpstr>
      <vt:lpstr>클래스 정의</vt:lpstr>
      <vt:lpstr>클래스 정의</vt:lpstr>
      <vt:lpstr>클래스 정의</vt:lpstr>
      <vt:lpstr>객체 생성 및 메서드 호출</vt:lpstr>
      <vt:lpstr>생성자</vt:lpstr>
      <vt:lpstr>인스턴스 변수 접근</vt:lpstr>
      <vt:lpstr>인스턴스 변수 접근</vt:lpstr>
      <vt:lpstr>소멸자</vt:lpstr>
      <vt:lpstr>클래스 변수</vt:lpstr>
      <vt:lpstr>클래스 변수</vt:lpstr>
      <vt:lpstr>클래스 기본 애트리뷰트</vt:lpstr>
      <vt:lpstr>멤버 접근자</vt:lpstr>
      <vt:lpstr>멤버 접근자</vt:lpstr>
      <vt:lpstr>멤버 접근자</vt:lpstr>
      <vt:lpstr>상속</vt:lpstr>
      <vt:lpstr>상속</vt:lpstr>
      <vt:lpstr>상속</vt:lpstr>
      <vt:lpstr>메서드 재정의</vt:lpstr>
      <vt:lpstr>메서드 재정의</vt:lpstr>
      <vt:lpstr>메서드 재정의</vt:lpstr>
      <vt:lpstr>상위 클래스 생성자 및 소멸자 호출</vt:lpstr>
      <vt:lpstr>상위 클래스 생성자 호출</vt:lpstr>
      <vt:lpstr>상위 클래스 생성자 호출</vt:lpstr>
      <vt:lpstr>다중 상속</vt:lpstr>
      <vt:lpstr>다중 상속</vt:lpstr>
      <vt:lpstr>다중 상속</vt:lpstr>
      <vt:lpstr>다중 상속</vt:lpstr>
      <vt:lpstr>다중 상속</vt:lpstr>
      <vt:lpstr>다중 상속</vt:lpstr>
      <vt:lpstr>다중 상속</vt:lpstr>
      <vt:lpstr>다중 상속</vt:lpstr>
      <vt:lpstr>다중 상속</vt:lpstr>
      <vt:lpstr>상속과 바인딩 그리고 다형성</vt:lpstr>
      <vt:lpstr>상속과 바인딩 그리고 다형성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bmKim</dc:creator>
  <cp:lastModifiedBy>user</cp:lastModifiedBy>
  <cp:revision>84</cp:revision>
  <dcterms:created xsi:type="dcterms:W3CDTF">2018-02-06T01:44:40Z</dcterms:created>
  <dcterms:modified xsi:type="dcterms:W3CDTF">2019-03-20T01:41:32Z</dcterms:modified>
</cp:coreProperties>
</file>