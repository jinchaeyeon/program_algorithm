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81" r:id="rId3"/>
    <p:sldId id="282" r:id="rId4"/>
    <p:sldId id="283" r:id="rId5"/>
    <p:sldId id="285" r:id="rId6"/>
    <p:sldId id="287" r:id="rId7"/>
    <p:sldId id="289" r:id="rId8"/>
    <p:sldId id="290" r:id="rId9"/>
    <p:sldId id="292" r:id="rId10"/>
    <p:sldId id="293" r:id="rId11"/>
    <p:sldId id="294" r:id="rId12"/>
    <p:sldId id="295" r:id="rId13"/>
    <p:sldId id="299" r:id="rId14"/>
    <p:sldId id="301" r:id="rId15"/>
    <p:sldId id="302" r:id="rId16"/>
    <p:sldId id="259" r:id="rId17"/>
    <p:sldId id="312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304" r:id="rId34"/>
    <p:sldId id="305" r:id="rId35"/>
    <p:sldId id="277" r:id="rId36"/>
    <p:sldId id="278" r:id="rId37"/>
    <p:sldId id="279" r:id="rId38"/>
    <p:sldId id="280" r:id="rId39"/>
    <p:sldId id="310" r:id="rId40"/>
    <p:sldId id="307" r:id="rId41"/>
    <p:sldId id="308" r:id="rId42"/>
    <p:sldId id="311" r:id="rId4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2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809BB-BAB5-4F78-8FB6-C9673AB34317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577B8-1481-44D8-A039-5E3B3C83A72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60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577B8-1481-44D8-A039-5E3B3C83A72F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236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97E628-5808-46AC-AB73-1ECF0499CD01}" type="slidenum">
              <a:rPr lang="en-US"/>
              <a:pPr/>
              <a:t>3</a:t>
            </a:fld>
            <a:endParaRPr lang="en-US"/>
          </a:p>
        </p:txBody>
      </p:sp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8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2BCC2C-D867-435D-8B18-A98BB94509DE}" type="slidenum">
              <a:rPr lang="en-US"/>
              <a:pPr/>
              <a:t>4</a:t>
            </a:fld>
            <a:endParaRPr lang="en-US"/>
          </a:p>
        </p:txBody>
      </p:sp>
      <p:sp>
        <p:nvSpPr>
          <p:cNvPr id="608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8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0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9844A8-D16F-4806-94F7-817EB5B33537}" type="slidenum">
              <a:rPr lang="en-US"/>
              <a:pPr/>
              <a:t>5</a:t>
            </a:fld>
            <a:endParaRPr lang="en-US"/>
          </a:p>
        </p:txBody>
      </p:sp>
      <p:sp>
        <p:nvSpPr>
          <p:cNvPr id="612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2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00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540603-5FA1-472C-A688-7F1585462C82}" type="slidenum">
              <a:rPr lang="en-US"/>
              <a:pPr/>
              <a:t>6</a:t>
            </a:fld>
            <a:endParaRPr lang="en-US"/>
          </a:p>
        </p:txBody>
      </p:sp>
      <p:sp>
        <p:nvSpPr>
          <p:cNvPr id="616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6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37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8DEDE8-512F-44B0-B6A7-F3D0EFE704A0}" type="slidenum">
              <a:rPr lang="en-US"/>
              <a:pPr/>
              <a:t>7</a:t>
            </a:fld>
            <a:endParaRPr lang="en-US"/>
          </a:p>
        </p:txBody>
      </p:sp>
      <p:sp>
        <p:nvSpPr>
          <p:cNvPr id="620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0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12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45C00B-B03A-4BA3-9FD9-D835FCBCE142}" type="slidenum">
              <a:rPr lang="en-US"/>
              <a:pPr/>
              <a:t>8</a:t>
            </a:fld>
            <a:endParaRPr lang="en-US"/>
          </a:p>
        </p:txBody>
      </p:sp>
      <p:sp>
        <p:nvSpPr>
          <p:cNvPr id="622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2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54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3CDF57-E575-480F-BAB7-26738D3041CB}" type="slidenum">
              <a:rPr lang="en-US"/>
              <a:pPr/>
              <a:t>9</a:t>
            </a:fld>
            <a:endParaRPr lang="en-US"/>
          </a:p>
        </p:txBody>
      </p:sp>
      <p:sp>
        <p:nvSpPr>
          <p:cNvPr id="626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80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4D6BC-992B-4022-A6B9-BC8E36F74930}" type="slidenum">
              <a:rPr lang="en-US"/>
              <a:pPr/>
              <a:t>10</a:t>
            </a:fld>
            <a:endParaRPr lang="en-US"/>
          </a:p>
        </p:txBody>
      </p:sp>
      <p:sp>
        <p:nvSpPr>
          <p:cNvPr id="628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r>
              <a:rPr lang="ko-KR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장애물의 벽에 붙어 이동하게 되는 문제</a:t>
            </a:r>
            <a:r>
              <a:rPr lang="en-US" altLang="ko-KR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(wall-hugging problem)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750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FE904-7815-4027-A6BA-481E30F02224}" type="slidenum">
              <a:rPr lang="en-US"/>
              <a:pPr/>
              <a:t>11</a:t>
            </a:fld>
            <a:endParaRPr lang="en-US"/>
          </a:p>
        </p:txBody>
      </p:sp>
      <p:sp>
        <p:nvSpPr>
          <p:cNvPr id="630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79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7CA454-FAA1-4241-B7B3-E318C39E065D}" type="slidenum">
              <a:rPr lang="en-US"/>
              <a:pPr/>
              <a:t>12</a:t>
            </a:fld>
            <a:endParaRPr lang="en-US"/>
          </a:p>
        </p:txBody>
      </p:sp>
      <p:sp>
        <p:nvSpPr>
          <p:cNvPr id="632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67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33B531-5597-4D89-BF20-843A1D0EC84E}" type="slidenum">
              <a:rPr lang="en-US"/>
              <a:pPr/>
              <a:t>13</a:t>
            </a:fld>
            <a:endParaRPr lang="en-US"/>
          </a:p>
        </p:txBody>
      </p:sp>
      <p:sp>
        <p:nvSpPr>
          <p:cNvPr id="643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7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594536-9307-4A51-B561-81ADB509D2B9}" type="slidenum">
              <a:rPr lang="en-US"/>
              <a:pPr/>
              <a:t>14</a:t>
            </a:fld>
            <a:endParaRPr lang="en-US"/>
          </a:p>
        </p:txBody>
      </p:sp>
      <p:sp>
        <p:nvSpPr>
          <p:cNvPr id="64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59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05F7F9-70ED-4C4E-8F78-2DAAADC40203}" type="slidenum">
              <a:rPr lang="en-US"/>
              <a:pPr/>
              <a:t>15</a:t>
            </a:fld>
            <a:endParaRPr lang="en-US"/>
          </a:p>
        </p:txBody>
      </p:sp>
      <p:sp>
        <p:nvSpPr>
          <p:cNvPr id="64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1" y="4343085"/>
            <a:ext cx="5487019" cy="41157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02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435850" cy="1384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1625" y="1981200"/>
            <a:ext cx="42037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981200"/>
            <a:ext cx="4205288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54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435850" cy="1384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1625" y="1981200"/>
            <a:ext cx="42037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57725" y="1981200"/>
            <a:ext cx="4205288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57725" y="4114800"/>
            <a:ext cx="4205288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0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41C0F-ABD7-44BF-A11F-B4ADE4A6ABC1}" type="datetimeFigureOut">
              <a:rPr lang="ko-KR" altLang="en-US" smtClean="0"/>
              <a:pPr/>
              <a:t>2021-03-23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CAAE4-05AC-4F1A-882A-9C63D8CEBA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mpleai-team/simplea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길 찾기 </a:t>
            </a:r>
            <a:r>
              <a:rPr lang="en-US" altLang="ko-KR" dirty="0" smtClean="0"/>
              <a:t>(Pathfinding)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탐색공간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dirty="0" smtClean="0"/>
              <a:t>Search space)</a:t>
            </a:r>
            <a:endParaRPr lang="en-US" dirty="0"/>
          </a:p>
        </p:txBody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06104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dirty="0" smtClean="0"/>
              <a:t>길 </a:t>
            </a:r>
            <a:r>
              <a:rPr lang="ko-KR" altLang="en-US" dirty="0" smtClean="0"/>
              <a:t>찾기 </a:t>
            </a:r>
            <a:r>
              <a:rPr lang="en-US" altLang="ko-KR" dirty="0" smtClean="0"/>
              <a:t>(path finding)</a:t>
            </a:r>
            <a:r>
              <a:rPr lang="ko-KR" altLang="en-US" dirty="0" smtClean="0"/>
              <a:t>의 </a:t>
            </a:r>
            <a:r>
              <a:rPr lang="ko-KR" altLang="en-US" dirty="0"/>
              <a:t>경우 길의 미학은 </a:t>
            </a:r>
            <a:r>
              <a:rPr lang="ko-KR" altLang="en-US" dirty="0" smtClean="0"/>
              <a:t>탐색 </a:t>
            </a:r>
            <a:r>
              <a:rPr lang="ko-KR" altLang="en-US" dirty="0"/>
              <a:t>공간에 크게 </a:t>
            </a:r>
            <a:r>
              <a:rPr lang="ko-KR" altLang="en-US" dirty="0" smtClean="0"/>
              <a:t>영향을 </a:t>
            </a:r>
            <a:r>
              <a:rPr lang="ko-KR" altLang="en-US" dirty="0" smtClean="0"/>
              <a:t>받음</a:t>
            </a:r>
            <a:endParaRPr lang="en-US" altLang="ko-KR" dirty="0" smtClean="0"/>
          </a:p>
          <a:p>
            <a:pPr lvl="1">
              <a:lnSpc>
                <a:spcPct val="90000"/>
              </a:lnSpc>
            </a:pPr>
            <a:r>
              <a:rPr lang="en-US" altLang="ko-KR" dirty="0" smtClean="0"/>
              <a:t>Regular Grid</a:t>
            </a:r>
          </a:p>
          <a:p>
            <a:pPr lvl="1">
              <a:lnSpc>
                <a:spcPct val="90000"/>
              </a:lnSpc>
            </a:pPr>
            <a:r>
              <a:rPr lang="en-US" altLang="ko-KR" dirty="0" smtClean="0"/>
              <a:t>Graph</a:t>
            </a:r>
          </a:p>
          <a:p>
            <a:pPr lvl="2">
              <a:lnSpc>
                <a:spcPct val="90000"/>
              </a:lnSpc>
            </a:pPr>
            <a:r>
              <a:rPr lang="en-US" altLang="ko-KR" dirty="0" smtClean="0"/>
              <a:t>Corner Graph</a:t>
            </a:r>
          </a:p>
          <a:p>
            <a:pPr lvl="2">
              <a:lnSpc>
                <a:spcPct val="90000"/>
              </a:lnSpc>
            </a:pPr>
            <a:r>
              <a:rPr lang="en-US" altLang="ko-KR" dirty="0" smtClean="0"/>
              <a:t>Waypoint Graph</a:t>
            </a:r>
          </a:p>
          <a:p>
            <a:pPr lvl="2">
              <a:lnSpc>
                <a:spcPct val="90000"/>
              </a:lnSpc>
            </a:pPr>
            <a:r>
              <a:rPr lang="en-US" altLang="ko-KR" dirty="0" smtClean="0"/>
              <a:t>Navigation mesh (or </a:t>
            </a:r>
            <a:r>
              <a:rPr lang="en-US" altLang="ko-KR" dirty="0" err="1" smtClean="0"/>
              <a:t>navmesh</a:t>
            </a:r>
            <a:r>
              <a:rPr lang="en-US" altLang="ko-KR" dirty="0" smtClean="0"/>
              <a:t>)</a:t>
            </a:r>
          </a:p>
          <a:p>
            <a:pPr lvl="2"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07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Grids</a:t>
            </a:r>
          </a:p>
        </p:txBody>
      </p:sp>
      <p:pic>
        <p:nvPicPr>
          <p:cNvPr id="605187" name="Picture 3" descr="civ3_screen00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600200"/>
            <a:ext cx="627697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631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Grids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2700" dirty="0" smtClean="0"/>
              <a:t>수정 없이는 </a:t>
            </a:r>
            <a:r>
              <a:rPr lang="en-US" altLang="ko-KR" sz="2700" dirty="0" smtClean="0"/>
              <a:t>3D </a:t>
            </a:r>
            <a:r>
              <a:rPr lang="ko-KR" altLang="en-US" sz="2700" dirty="0" smtClean="0"/>
              <a:t>게임에서는 사용할 수 없음</a:t>
            </a:r>
            <a:endParaRPr lang="en-US" sz="2700" dirty="0" smtClean="0"/>
          </a:p>
          <a:p>
            <a:pPr>
              <a:lnSpc>
                <a:spcPct val="90000"/>
              </a:lnSpc>
            </a:pPr>
            <a:r>
              <a:rPr lang="ko-KR" altLang="en-US" sz="2700" dirty="0"/>
              <a:t>주로 전략 게임에 </a:t>
            </a:r>
            <a:r>
              <a:rPr lang="ko-KR" altLang="en-US" sz="2700" dirty="0" smtClean="0"/>
              <a:t>사용됨</a:t>
            </a:r>
            <a:endParaRPr lang="en-US" sz="2700" dirty="0" smtClean="0"/>
          </a:p>
          <a:p>
            <a:pPr>
              <a:lnSpc>
                <a:spcPct val="90000"/>
              </a:lnSpc>
            </a:pPr>
            <a:endParaRPr lang="en-US" sz="2700" dirty="0" smtClean="0"/>
          </a:p>
          <a:p>
            <a:pPr>
              <a:lnSpc>
                <a:spcPct val="90000"/>
              </a:lnSpc>
            </a:pPr>
            <a:r>
              <a:rPr lang="ko-KR" altLang="en-US" sz="2700" dirty="0"/>
              <a:t>단점 </a:t>
            </a:r>
            <a:r>
              <a:rPr lang="en-US" altLang="ko-KR" sz="2700" dirty="0"/>
              <a:t>: </a:t>
            </a:r>
            <a:r>
              <a:rPr lang="ko-KR" altLang="en-US" sz="2700" dirty="0"/>
              <a:t>고해상도 그리드에는 대용량 </a:t>
            </a:r>
            <a:r>
              <a:rPr lang="ko-KR" altLang="en-US" sz="2700" dirty="0" smtClean="0"/>
              <a:t>메모리가 필요</a:t>
            </a:r>
            <a:endParaRPr lang="en-US" altLang="ko-KR" sz="2700" dirty="0" smtClean="0"/>
          </a:p>
          <a:p>
            <a:pPr>
              <a:lnSpc>
                <a:spcPct val="90000"/>
              </a:lnSpc>
            </a:pPr>
            <a:r>
              <a:rPr lang="ko-KR" altLang="en-US" sz="2700" dirty="0"/>
              <a:t>장점 </a:t>
            </a:r>
            <a:r>
              <a:rPr lang="en-US" altLang="ko-KR" sz="2700" dirty="0"/>
              <a:t>: </a:t>
            </a:r>
            <a:r>
              <a:rPr lang="ko-KR" altLang="en-US" sz="2700" dirty="0"/>
              <a:t>단순</a:t>
            </a:r>
            <a:endParaRPr lang="en-US" sz="27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149080"/>
            <a:ext cx="4048125" cy="21431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4149080"/>
            <a:ext cx="3971925" cy="2162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9672" y="646673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사각형 그리드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12160" y="6486322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6</a:t>
            </a:r>
            <a:r>
              <a:rPr lang="ko-KR" altLang="en-US" dirty="0" smtClean="0"/>
              <a:t>각형 그리드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013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Movement</a:t>
            </a:r>
            <a:endParaRPr lang="en-US" dirty="0"/>
          </a:p>
        </p:txBody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5338936" cy="1108720"/>
          </a:xfrm>
        </p:spPr>
        <p:txBody>
          <a:bodyPr>
            <a:noAutofit/>
          </a:bodyPr>
          <a:lstStyle/>
          <a:p>
            <a:r>
              <a:rPr lang="en-US" altLang="ko-KR" dirty="0"/>
              <a:t>4 </a:t>
            </a:r>
            <a:r>
              <a:rPr lang="ko-KR" altLang="en-US" dirty="0"/>
              <a:t>개의 기본 </a:t>
            </a:r>
            <a:r>
              <a:rPr lang="ko-KR" altLang="en-US" dirty="0" smtClean="0"/>
              <a:t>방향으로만 </a:t>
            </a:r>
            <a:r>
              <a:rPr lang="ko-KR" altLang="en-US" dirty="0"/>
              <a:t>이동하면 </a:t>
            </a:r>
            <a:r>
              <a:rPr lang="ko-KR" altLang="en-US" dirty="0" err="1"/>
              <a:t>매력없는</a:t>
            </a:r>
            <a:r>
              <a:rPr lang="ko-KR" altLang="en-US" dirty="0"/>
              <a:t> 각도 경로가 </a:t>
            </a:r>
            <a:r>
              <a:rPr lang="ko-KR" altLang="en-US" dirty="0" smtClean="0"/>
              <a:t>제공</a:t>
            </a:r>
            <a:endParaRPr 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6372200" y="1261675"/>
            <a:ext cx="2160240" cy="2095317"/>
            <a:chOff x="3276600" y="3581400"/>
            <a:chExt cx="2133600" cy="2133600"/>
          </a:xfrm>
        </p:grpSpPr>
        <p:sp>
          <p:nvSpPr>
            <p:cNvPr id="611332" name="Rectangle 4"/>
            <p:cNvSpPr>
              <a:spLocks noChangeArrowheads="1"/>
            </p:cNvSpPr>
            <p:nvPr/>
          </p:nvSpPr>
          <p:spPr bwMode="auto">
            <a:xfrm>
              <a:off x="3276600" y="35814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33" name="Rectangle 5"/>
            <p:cNvSpPr>
              <a:spLocks noChangeArrowheads="1"/>
            </p:cNvSpPr>
            <p:nvPr/>
          </p:nvSpPr>
          <p:spPr bwMode="auto">
            <a:xfrm>
              <a:off x="3810000" y="35814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34" name="Rectangle 6"/>
            <p:cNvSpPr>
              <a:spLocks noChangeArrowheads="1"/>
            </p:cNvSpPr>
            <p:nvPr/>
          </p:nvSpPr>
          <p:spPr bwMode="auto">
            <a:xfrm>
              <a:off x="4343400" y="35814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35" name="Rectangle 7"/>
            <p:cNvSpPr>
              <a:spLocks noChangeArrowheads="1"/>
            </p:cNvSpPr>
            <p:nvPr/>
          </p:nvSpPr>
          <p:spPr bwMode="auto">
            <a:xfrm>
              <a:off x="4876800" y="35814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36" name="Rectangle 8"/>
            <p:cNvSpPr>
              <a:spLocks noChangeArrowheads="1"/>
            </p:cNvSpPr>
            <p:nvPr/>
          </p:nvSpPr>
          <p:spPr bwMode="auto">
            <a:xfrm>
              <a:off x="3276600" y="41148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37" name="Rectangle 9"/>
            <p:cNvSpPr>
              <a:spLocks noChangeArrowheads="1"/>
            </p:cNvSpPr>
            <p:nvPr/>
          </p:nvSpPr>
          <p:spPr bwMode="auto">
            <a:xfrm>
              <a:off x="3810000" y="41148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38" name="Rectangle 10"/>
            <p:cNvSpPr>
              <a:spLocks noChangeArrowheads="1"/>
            </p:cNvSpPr>
            <p:nvPr/>
          </p:nvSpPr>
          <p:spPr bwMode="auto">
            <a:xfrm>
              <a:off x="4343400" y="41148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39" name="Rectangle 11"/>
            <p:cNvSpPr>
              <a:spLocks noChangeArrowheads="1"/>
            </p:cNvSpPr>
            <p:nvPr/>
          </p:nvSpPr>
          <p:spPr bwMode="auto">
            <a:xfrm>
              <a:off x="4876800" y="41148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40" name="Rectangle 12"/>
            <p:cNvSpPr>
              <a:spLocks noChangeArrowheads="1"/>
            </p:cNvSpPr>
            <p:nvPr/>
          </p:nvSpPr>
          <p:spPr bwMode="auto">
            <a:xfrm>
              <a:off x="3276600" y="46482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41" name="Rectangle 13"/>
            <p:cNvSpPr>
              <a:spLocks noChangeArrowheads="1"/>
            </p:cNvSpPr>
            <p:nvPr/>
          </p:nvSpPr>
          <p:spPr bwMode="auto">
            <a:xfrm>
              <a:off x="3810000" y="46482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42" name="Rectangle 14"/>
            <p:cNvSpPr>
              <a:spLocks noChangeArrowheads="1"/>
            </p:cNvSpPr>
            <p:nvPr/>
          </p:nvSpPr>
          <p:spPr bwMode="auto">
            <a:xfrm>
              <a:off x="4343400" y="46482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43" name="Rectangle 15"/>
            <p:cNvSpPr>
              <a:spLocks noChangeArrowheads="1"/>
            </p:cNvSpPr>
            <p:nvPr/>
          </p:nvSpPr>
          <p:spPr bwMode="auto">
            <a:xfrm>
              <a:off x="4876800" y="46482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44" name="Rectangle 16"/>
            <p:cNvSpPr>
              <a:spLocks noChangeArrowheads="1"/>
            </p:cNvSpPr>
            <p:nvPr/>
          </p:nvSpPr>
          <p:spPr bwMode="auto">
            <a:xfrm>
              <a:off x="3276600" y="51816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45" name="Rectangle 17"/>
            <p:cNvSpPr>
              <a:spLocks noChangeArrowheads="1"/>
            </p:cNvSpPr>
            <p:nvPr/>
          </p:nvSpPr>
          <p:spPr bwMode="auto">
            <a:xfrm>
              <a:off x="3810000" y="51816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46" name="Rectangle 18"/>
            <p:cNvSpPr>
              <a:spLocks noChangeArrowheads="1"/>
            </p:cNvSpPr>
            <p:nvPr/>
          </p:nvSpPr>
          <p:spPr bwMode="auto">
            <a:xfrm>
              <a:off x="4343400" y="51816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47" name="Rectangle 19"/>
            <p:cNvSpPr>
              <a:spLocks noChangeArrowheads="1"/>
            </p:cNvSpPr>
            <p:nvPr/>
          </p:nvSpPr>
          <p:spPr bwMode="auto">
            <a:xfrm>
              <a:off x="4876800" y="5181600"/>
              <a:ext cx="533400" cy="533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1348" name="Line 20"/>
            <p:cNvSpPr>
              <a:spLocks noChangeShapeType="1"/>
            </p:cNvSpPr>
            <p:nvPr/>
          </p:nvSpPr>
          <p:spPr bwMode="auto">
            <a:xfrm>
              <a:off x="5181600" y="3886200"/>
              <a:ext cx="0" cy="1600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1349" name="Line 21"/>
            <p:cNvSpPr>
              <a:spLocks noChangeShapeType="1"/>
            </p:cNvSpPr>
            <p:nvPr/>
          </p:nvSpPr>
          <p:spPr bwMode="auto">
            <a:xfrm flipH="1">
              <a:off x="3505200" y="5486400"/>
              <a:ext cx="1676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1350" name="Line 22"/>
            <p:cNvSpPr>
              <a:spLocks noChangeShapeType="1"/>
            </p:cNvSpPr>
            <p:nvPr/>
          </p:nvSpPr>
          <p:spPr bwMode="auto">
            <a:xfrm flipV="1">
              <a:off x="3505200" y="4419600"/>
              <a:ext cx="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1351" name="Line 23"/>
            <p:cNvSpPr>
              <a:spLocks noChangeShapeType="1"/>
            </p:cNvSpPr>
            <p:nvPr/>
          </p:nvSpPr>
          <p:spPr bwMode="auto">
            <a:xfrm>
              <a:off x="3505200" y="441960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1352" name="Line 24"/>
            <p:cNvSpPr>
              <a:spLocks noChangeShapeType="1"/>
            </p:cNvSpPr>
            <p:nvPr/>
          </p:nvSpPr>
          <p:spPr bwMode="auto">
            <a:xfrm flipV="1">
              <a:off x="4191000" y="3810000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497768" y="4063413"/>
            <a:ext cx="5257800" cy="604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대각선을 추가하면 움직임이 다소 향상</a:t>
            </a:r>
            <a:endParaRPr lang="en-US" dirty="0"/>
          </a:p>
        </p:txBody>
      </p:sp>
      <p:grpSp>
        <p:nvGrpSpPr>
          <p:cNvPr id="27" name="그룹 26"/>
          <p:cNvGrpSpPr/>
          <p:nvPr/>
        </p:nvGrpSpPr>
        <p:grpSpPr>
          <a:xfrm>
            <a:off x="6372200" y="4221088"/>
            <a:ext cx="2160240" cy="1872208"/>
            <a:chOff x="3581400" y="3352800"/>
            <a:chExt cx="2133600" cy="2133600"/>
          </a:xfrm>
        </p:grpSpPr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3581400" y="3352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5"/>
            <p:cNvSpPr>
              <a:spLocks noChangeArrowheads="1"/>
            </p:cNvSpPr>
            <p:nvPr/>
          </p:nvSpPr>
          <p:spPr bwMode="auto">
            <a:xfrm>
              <a:off x="4114800" y="3352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6"/>
            <p:cNvSpPr>
              <a:spLocks noChangeArrowheads="1"/>
            </p:cNvSpPr>
            <p:nvPr/>
          </p:nvSpPr>
          <p:spPr bwMode="auto">
            <a:xfrm>
              <a:off x="4648200" y="33528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7"/>
            <p:cNvSpPr>
              <a:spLocks noChangeArrowheads="1"/>
            </p:cNvSpPr>
            <p:nvPr/>
          </p:nvSpPr>
          <p:spPr bwMode="auto">
            <a:xfrm>
              <a:off x="5181600" y="3352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3581400" y="3886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4114800" y="3886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10"/>
            <p:cNvSpPr>
              <a:spLocks noChangeArrowheads="1"/>
            </p:cNvSpPr>
            <p:nvPr/>
          </p:nvSpPr>
          <p:spPr bwMode="auto">
            <a:xfrm>
              <a:off x="4648200" y="38862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5181600" y="3886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3581400" y="4419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Rectangle 13"/>
            <p:cNvSpPr>
              <a:spLocks noChangeArrowheads="1"/>
            </p:cNvSpPr>
            <p:nvPr/>
          </p:nvSpPr>
          <p:spPr bwMode="auto">
            <a:xfrm>
              <a:off x="4114800" y="44196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auto">
            <a:xfrm>
              <a:off x="4648200" y="4419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ectangle 15"/>
            <p:cNvSpPr>
              <a:spLocks noChangeArrowheads="1"/>
            </p:cNvSpPr>
            <p:nvPr/>
          </p:nvSpPr>
          <p:spPr bwMode="auto">
            <a:xfrm>
              <a:off x="5181600" y="4419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Rectangle 16"/>
            <p:cNvSpPr>
              <a:spLocks noChangeArrowheads="1"/>
            </p:cNvSpPr>
            <p:nvPr/>
          </p:nvSpPr>
          <p:spPr bwMode="auto">
            <a:xfrm>
              <a:off x="3581400" y="49530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Rectangle 17"/>
            <p:cNvSpPr>
              <a:spLocks noChangeArrowheads="1"/>
            </p:cNvSpPr>
            <p:nvPr/>
          </p:nvSpPr>
          <p:spPr bwMode="auto">
            <a:xfrm>
              <a:off x="4114800" y="49530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Rectangle 18"/>
            <p:cNvSpPr>
              <a:spLocks noChangeArrowheads="1"/>
            </p:cNvSpPr>
            <p:nvPr/>
          </p:nvSpPr>
          <p:spPr bwMode="auto">
            <a:xfrm>
              <a:off x="4648200" y="49530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Rectangle 19"/>
            <p:cNvSpPr>
              <a:spLocks noChangeArrowheads="1"/>
            </p:cNvSpPr>
            <p:nvPr/>
          </p:nvSpPr>
          <p:spPr bwMode="auto">
            <a:xfrm>
              <a:off x="5181600" y="49530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20"/>
            <p:cNvSpPr>
              <a:spLocks noChangeShapeType="1"/>
            </p:cNvSpPr>
            <p:nvPr/>
          </p:nvSpPr>
          <p:spPr bwMode="auto">
            <a:xfrm>
              <a:off x="5486400" y="3657600"/>
              <a:ext cx="0" cy="990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21"/>
            <p:cNvSpPr>
              <a:spLocks noChangeShapeType="1"/>
            </p:cNvSpPr>
            <p:nvPr/>
          </p:nvSpPr>
          <p:spPr bwMode="auto">
            <a:xfrm flipH="1">
              <a:off x="4876800" y="4648200"/>
              <a:ext cx="6096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 flipH="1">
              <a:off x="3810000" y="5181600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23"/>
            <p:cNvSpPr>
              <a:spLocks noChangeShapeType="1"/>
            </p:cNvSpPr>
            <p:nvPr/>
          </p:nvSpPr>
          <p:spPr bwMode="auto">
            <a:xfrm flipV="1">
              <a:off x="3810000" y="4267200"/>
              <a:ext cx="0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4"/>
            <p:cNvSpPr>
              <a:spLocks noChangeShapeType="1"/>
            </p:cNvSpPr>
            <p:nvPr/>
          </p:nvSpPr>
          <p:spPr bwMode="auto">
            <a:xfrm flipV="1">
              <a:off x="3810000" y="3657600"/>
              <a:ext cx="53340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856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Optimization</a:t>
            </a:r>
          </a:p>
        </p:txBody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4" y="1143000"/>
            <a:ext cx="8734871" cy="22828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ko-KR" altLang="en-US" sz="2800" dirty="0"/>
              <a:t>스트링 </a:t>
            </a:r>
            <a:r>
              <a:rPr lang="ko-KR" altLang="en-US" sz="2800" dirty="0" err="1"/>
              <a:t>풀링</a:t>
            </a:r>
            <a:r>
              <a:rPr lang="ko-KR" altLang="en-US" sz="2800" dirty="0"/>
              <a:t> 또는 가시선 테스트를 </a:t>
            </a:r>
            <a:r>
              <a:rPr lang="ko-KR" altLang="en-US" sz="2800" dirty="0" smtClean="0"/>
              <a:t>사용하여 추가 개선 가능</a:t>
            </a:r>
            <a:endParaRPr lang="en-US" altLang="ko-KR" sz="2800" dirty="0" smtClean="0"/>
          </a:p>
          <a:p>
            <a:pPr lvl="1">
              <a:lnSpc>
                <a:spcPct val="90000"/>
              </a:lnSpc>
            </a:pPr>
            <a:r>
              <a:rPr lang="en-US" altLang="ko-KR" sz="2400" dirty="0"/>
              <a:t>Pn-1</a:t>
            </a:r>
            <a:r>
              <a:rPr lang="ko-KR" altLang="en-US" sz="2400" dirty="0"/>
              <a:t>에서 </a:t>
            </a:r>
            <a:r>
              <a:rPr lang="en-US" altLang="ko-KR" sz="2400" dirty="0" err="1" smtClean="0"/>
              <a:t>Pn</a:t>
            </a:r>
            <a:r>
              <a:rPr lang="en-US" altLang="ko-KR" sz="2400" dirty="0" smtClean="0"/>
              <a:t> </a:t>
            </a:r>
            <a:r>
              <a:rPr lang="en-US" altLang="ko-KR" sz="2400" dirty="0"/>
              <a:t>+ 1</a:t>
            </a:r>
            <a:r>
              <a:rPr lang="ko-KR" altLang="en-US" sz="2400" dirty="0"/>
              <a:t>로 직접 이동할 </a:t>
            </a:r>
            <a:r>
              <a:rPr lang="ko-KR" altLang="en-US" sz="2400" dirty="0" smtClean="0"/>
              <a:t>수 있는 </a:t>
            </a:r>
            <a:r>
              <a:rPr lang="ko-KR" altLang="en-US" sz="2400" dirty="0"/>
              <a:t>경우 </a:t>
            </a:r>
            <a:r>
              <a:rPr lang="en-US" altLang="ko-KR" sz="2400" dirty="0" err="1" smtClean="0"/>
              <a:t>Pn</a:t>
            </a:r>
            <a:r>
              <a:rPr lang="ko-KR" altLang="en-US" sz="2400" dirty="0"/>
              <a:t>을 </a:t>
            </a:r>
            <a:r>
              <a:rPr lang="ko-KR" altLang="en-US" sz="2400" dirty="0" smtClean="0"/>
              <a:t>삭제</a:t>
            </a:r>
            <a:endParaRPr lang="en-US" altLang="ko-KR" sz="2400" dirty="0" smtClean="0"/>
          </a:p>
          <a:p>
            <a:pPr lvl="1">
              <a:lnSpc>
                <a:spcPct val="90000"/>
              </a:lnSpc>
            </a:pPr>
            <a:r>
              <a:rPr lang="ko-KR" altLang="en-US" sz="2400" dirty="0"/>
              <a:t>노드 센터를 통과 할 </a:t>
            </a:r>
            <a:r>
              <a:rPr lang="ko-KR" altLang="en-US" sz="2400" dirty="0" smtClean="0"/>
              <a:t>필요 없음</a:t>
            </a:r>
            <a:endParaRPr lang="en-US" sz="2400" dirty="0"/>
          </a:p>
        </p:txBody>
      </p:sp>
      <p:grpSp>
        <p:nvGrpSpPr>
          <p:cNvPr id="2" name="그룹 1"/>
          <p:cNvGrpSpPr/>
          <p:nvPr/>
        </p:nvGrpSpPr>
        <p:grpSpPr>
          <a:xfrm>
            <a:off x="1547664" y="2967825"/>
            <a:ext cx="4680520" cy="1484368"/>
            <a:chOff x="1905000" y="4343400"/>
            <a:chExt cx="5562600" cy="2133600"/>
          </a:xfrm>
        </p:grpSpPr>
        <p:sp>
          <p:nvSpPr>
            <p:cNvPr id="615428" name="Rectangle 4"/>
            <p:cNvSpPr>
              <a:spLocks noChangeArrowheads="1"/>
            </p:cNvSpPr>
            <p:nvPr/>
          </p:nvSpPr>
          <p:spPr bwMode="auto">
            <a:xfrm>
              <a:off x="5334000" y="43434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29" name="Rectangle 5"/>
            <p:cNvSpPr>
              <a:spLocks noChangeArrowheads="1"/>
            </p:cNvSpPr>
            <p:nvPr/>
          </p:nvSpPr>
          <p:spPr bwMode="auto">
            <a:xfrm>
              <a:off x="5867400" y="43434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0" name="Rectangle 6"/>
            <p:cNvSpPr>
              <a:spLocks noChangeArrowheads="1"/>
            </p:cNvSpPr>
            <p:nvPr/>
          </p:nvSpPr>
          <p:spPr bwMode="auto">
            <a:xfrm>
              <a:off x="6400800" y="43434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1" name="Rectangle 7"/>
            <p:cNvSpPr>
              <a:spLocks noChangeArrowheads="1"/>
            </p:cNvSpPr>
            <p:nvPr/>
          </p:nvSpPr>
          <p:spPr bwMode="auto">
            <a:xfrm>
              <a:off x="6934200" y="43434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2" name="Rectangle 8"/>
            <p:cNvSpPr>
              <a:spLocks noChangeArrowheads="1"/>
            </p:cNvSpPr>
            <p:nvPr/>
          </p:nvSpPr>
          <p:spPr bwMode="auto">
            <a:xfrm>
              <a:off x="5334000" y="4876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3" name="Rectangle 9"/>
            <p:cNvSpPr>
              <a:spLocks noChangeArrowheads="1"/>
            </p:cNvSpPr>
            <p:nvPr/>
          </p:nvSpPr>
          <p:spPr bwMode="auto">
            <a:xfrm>
              <a:off x="5867400" y="4876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4" name="Rectangle 10"/>
            <p:cNvSpPr>
              <a:spLocks noChangeArrowheads="1"/>
            </p:cNvSpPr>
            <p:nvPr/>
          </p:nvSpPr>
          <p:spPr bwMode="auto">
            <a:xfrm>
              <a:off x="6400800" y="48768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5" name="Rectangle 11"/>
            <p:cNvSpPr>
              <a:spLocks noChangeArrowheads="1"/>
            </p:cNvSpPr>
            <p:nvPr/>
          </p:nvSpPr>
          <p:spPr bwMode="auto">
            <a:xfrm>
              <a:off x="6934200" y="4876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6" name="Rectangle 12"/>
            <p:cNvSpPr>
              <a:spLocks noChangeArrowheads="1"/>
            </p:cNvSpPr>
            <p:nvPr/>
          </p:nvSpPr>
          <p:spPr bwMode="auto">
            <a:xfrm>
              <a:off x="5334000" y="5410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7" name="Rectangle 13"/>
            <p:cNvSpPr>
              <a:spLocks noChangeArrowheads="1"/>
            </p:cNvSpPr>
            <p:nvPr/>
          </p:nvSpPr>
          <p:spPr bwMode="auto">
            <a:xfrm>
              <a:off x="5867400" y="54102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8" name="Rectangle 14"/>
            <p:cNvSpPr>
              <a:spLocks noChangeArrowheads="1"/>
            </p:cNvSpPr>
            <p:nvPr/>
          </p:nvSpPr>
          <p:spPr bwMode="auto">
            <a:xfrm>
              <a:off x="6400800" y="5410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39" name="Rectangle 15"/>
            <p:cNvSpPr>
              <a:spLocks noChangeArrowheads="1"/>
            </p:cNvSpPr>
            <p:nvPr/>
          </p:nvSpPr>
          <p:spPr bwMode="auto">
            <a:xfrm>
              <a:off x="6934200" y="5410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40" name="Rectangle 16"/>
            <p:cNvSpPr>
              <a:spLocks noChangeArrowheads="1"/>
            </p:cNvSpPr>
            <p:nvPr/>
          </p:nvSpPr>
          <p:spPr bwMode="auto">
            <a:xfrm>
              <a:off x="5334000" y="5943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41" name="Rectangle 17"/>
            <p:cNvSpPr>
              <a:spLocks noChangeArrowheads="1"/>
            </p:cNvSpPr>
            <p:nvPr/>
          </p:nvSpPr>
          <p:spPr bwMode="auto">
            <a:xfrm>
              <a:off x="5867400" y="5943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42" name="Rectangle 18"/>
            <p:cNvSpPr>
              <a:spLocks noChangeArrowheads="1"/>
            </p:cNvSpPr>
            <p:nvPr/>
          </p:nvSpPr>
          <p:spPr bwMode="auto">
            <a:xfrm>
              <a:off x="6400800" y="5943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43" name="Rectangle 19"/>
            <p:cNvSpPr>
              <a:spLocks noChangeArrowheads="1"/>
            </p:cNvSpPr>
            <p:nvPr/>
          </p:nvSpPr>
          <p:spPr bwMode="auto">
            <a:xfrm>
              <a:off x="6934200" y="5943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44" name="Line 20"/>
            <p:cNvSpPr>
              <a:spLocks noChangeShapeType="1"/>
            </p:cNvSpPr>
            <p:nvPr/>
          </p:nvSpPr>
          <p:spPr bwMode="auto">
            <a:xfrm>
              <a:off x="7162800" y="4648200"/>
              <a:ext cx="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45" name="Line 21"/>
            <p:cNvSpPr>
              <a:spLocks noChangeShapeType="1"/>
            </p:cNvSpPr>
            <p:nvPr/>
          </p:nvSpPr>
          <p:spPr bwMode="auto">
            <a:xfrm flipH="1">
              <a:off x="6629400" y="5181600"/>
              <a:ext cx="5334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46" name="Line 22"/>
            <p:cNvSpPr>
              <a:spLocks noChangeShapeType="1"/>
            </p:cNvSpPr>
            <p:nvPr/>
          </p:nvSpPr>
          <p:spPr bwMode="auto">
            <a:xfrm flipH="1">
              <a:off x="5638800" y="6248400"/>
              <a:ext cx="990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47" name="Line 23"/>
            <p:cNvSpPr>
              <a:spLocks noChangeShapeType="1"/>
            </p:cNvSpPr>
            <p:nvPr/>
          </p:nvSpPr>
          <p:spPr bwMode="auto">
            <a:xfrm flipV="1">
              <a:off x="5638800" y="5638800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48" name="Line 24"/>
            <p:cNvSpPr>
              <a:spLocks noChangeShapeType="1"/>
            </p:cNvSpPr>
            <p:nvPr/>
          </p:nvSpPr>
          <p:spPr bwMode="auto">
            <a:xfrm flipV="1">
              <a:off x="5638800" y="4572000"/>
              <a:ext cx="53340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49" name="Rectangle 25"/>
            <p:cNvSpPr>
              <a:spLocks noChangeArrowheads="1"/>
            </p:cNvSpPr>
            <p:nvPr/>
          </p:nvSpPr>
          <p:spPr bwMode="auto">
            <a:xfrm>
              <a:off x="1905000" y="43434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0" name="Rectangle 26"/>
            <p:cNvSpPr>
              <a:spLocks noChangeArrowheads="1"/>
            </p:cNvSpPr>
            <p:nvPr/>
          </p:nvSpPr>
          <p:spPr bwMode="auto">
            <a:xfrm>
              <a:off x="2438400" y="43434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1" name="Rectangle 27"/>
            <p:cNvSpPr>
              <a:spLocks noChangeArrowheads="1"/>
            </p:cNvSpPr>
            <p:nvPr/>
          </p:nvSpPr>
          <p:spPr bwMode="auto">
            <a:xfrm>
              <a:off x="2971800" y="43434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2" name="Rectangle 28"/>
            <p:cNvSpPr>
              <a:spLocks noChangeArrowheads="1"/>
            </p:cNvSpPr>
            <p:nvPr/>
          </p:nvSpPr>
          <p:spPr bwMode="auto">
            <a:xfrm>
              <a:off x="3505200" y="43434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3" name="Rectangle 29"/>
            <p:cNvSpPr>
              <a:spLocks noChangeArrowheads="1"/>
            </p:cNvSpPr>
            <p:nvPr/>
          </p:nvSpPr>
          <p:spPr bwMode="auto">
            <a:xfrm>
              <a:off x="1905000" y="4876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4" name="Rectangle 30"/>
            <p:cNvSpPr>
              <a:spLocks noChangeArrowheads="1"/>
            </p:cNvSpPr>
            <p:nvPr/>
          </p:nvSpPr>
          <p:spPr bwMode="auto">
            <a:xfrm>
              <a:off x="2438400" y="4876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5" name="Rectangle 31"/>
            <p:cNvSpPr>
              <a:spLocks noChangeArrowheads="1"/>
            </p:cNvSpPr>
            <p:nvPr/>
          </p:nvSpPr>
          <p:spPr bwMode="auto">
            <a:xfrm>
              <a:off x="2971800" y="48768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6" name="Rectangle 32"/>
            <p:cNvSpPr>
              <a:spLocks noChangeArrowheads="1"/>
            </p:cNvSpPr>
            <p:nvPr/>
          </p:nvSpPr>
          <p:spPr bwMode="auto">
            <a:xfrm>
              <a:off x="3505200" y="4876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7" name="Rectangle 33"/>
            <p:cNvSpPr>
              <a:spLocks noChangeArrowheads="1"/>
            </p:cNvSpPr>
            <p:nvPr/>
          </p:nvSpPr>
          <p:spPr bwMode="auto">
            <a:xfrm>
              <a:off x="1905000" y="5410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8" name="Rectangle 34"/>
            <p:cNvSpPr>
              <a:spLocks noChangeArrowheads="1"/>
            </p:cNvSpPr>
            <p:nvPr/>
          </p:nvSpPr>
          <p:spPr bwMode="auto">
            <a:xfrm>
              <a:off x="2438400" y="54102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59" name="Rectangle 35"/>
            <p:cNvSpPr>
              <a:spLocks noChangeArrowheads="1"/>
            </p:cNvSpPr>
            <p:nvPr/>
          </p:nvSpPr>
          <p:spPr bwMode="auto">
            <a:xfrm>
              <a:off x="2971800" y="5410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60" name="Rectangle 36"/>
            <p:cNvSpPr>
              <a:spLocks noChangeArrowheads="1"/>
            </p:cNvSpPr>
            <p:nvPr/>
          </p:nvSpPr>
          <p:spPr bwMode="auto">
            <a:xfrm>
              <a:off x="3505200" y="5410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61" name="Rectangle 37"/>
            <p:cNvSpPr>
              <a:spLocks noChangeArrowheads="1"/>
            </p:cNvSpPr>
            <p:nvPr/>
          </p:nvSpPr>
          <p:spPr bwMode="auto">
            <a:xfrm>
              <a:off x="1905000" y="5943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62" name="Rectangle 38"/>
            <p:cNvSpPr>
              <a:spLocks noChangeArrowheads="1"/>
            </p:cNvSpPr>
            <p:nvPr/>
          </p:nvSpPr>
          <p:spPr bwMode="auto">
            <a:xfrm>
              <a:off x="2438400" y="5943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63" name="Rectangle 39"/>
            <p:cNvSpPr>
              <a:spLocks noChangeArrowheads="1"/>
            </p:cNvSpPr>
            <p:nvPr/>
          </p:nvSpPr>
          <p:spPr bwMode="auto">
            <a:xfrm>
              <a:off x="2971800" y="5943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64" name="Rectangle 40"/>
            <p:cNvSpPr>
              <a:spLocks noChangeArrowheads="1"/>
            </p:cNvSpPr>
            <p:nvPr/>
          </p:nvSpPr>
          <p:spPr bwMode="auto">
            <a:xfrm>
              <a:off x="3505200" y="5943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465" name="Line 41"/>
            <p:cNvSpPr>
              <a:spLocks noChangeShapeType="1"/>
            </p:cNvSpPr>
            <p:nvPr/>
          </p:nvSpPr>
          <p:spPr bwMode="auto">
            <a:xfrm>
              <a:off x="3810000" y="4648200"/>
              <a:ext cx="0" cy="990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66" name="Line 42"/>
            <p:cNvSpPr>
              <a:spLocks noChangeShapeType="1"/>
            </p:cNvSpPr>
            <p:nvPr/>
          </p:nvSpPr>
          <p:spPr bwMode="auto">
            <a:xfrm flipH="1">
              <a:off x="3200400" y="5638800"/>
              <a:ext cx="6096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67" name="Line 43"/>
            <p:cNvSpPr>
              <a:spLocks noChangeShapeType="1"/>
            </p:cNvSpPr>
            <p:nvPr/>
          </p:nvSpPr>
          <p:spPr bwMode="auto">
            <a:xfrm flipH="1">
              <a:off x="2133600" y="6172200"/>
              <a:ext cx="1066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68" name="Line 44"/>
            <p:cNvSpPr>
              <a:spLocks noChangeShapeType="1"/>
            </p:cNvSpPr>
            <p:nvPr/>
          </p:nvSpPr>
          <p:spPr bwMode="auto">
            <a:xfrm flipV="1">
              <a:off x="2133600" y="5105400"/>
              <a:ext cx="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69" name="Line 45"/>
            <p:cNvSpPr>
              <a:spLocks noChangeShapeType="1"/>
            </p:cNvSpPr>
            <p:nvPr/>
          </p:nvSpPr>
          <p:spPr bwMode="auto">
            <a:xfrm flipV="1">
              <a:off x="2133600" y="4648200"/>
              <a:ext cx="5334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70" name="Line 46"/>
            <p:cNvSpPr>
              <a:spLocks noChangeShapeType="1"/>
            </p:cNvSpPr>
            <p:nvPr/>
          </p:nvSpPr>
          <p:spPr bwMode="auto">
            <a:xfrm>
              <a:off x="4191000" y="5410200"/>
              <a:ext cx="914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Rectangle 20"/>
          <p:cNvSpPr txBox="1">
            <a:spLocks noChangeArrowheads="1"/>
          </p:cNvSpPr>
          <p:nvPr/>
        </p:nvSpPr>
        <p:spPr>
          <a:xfrm>
            <a:off x="387302" y="4950228"/>
            <a:ext cx="6392526" cy="8926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 err="1" smtClean="0"/>
              <a:t>Catmull</a:t>
            </a:r>
            <a:r>
              <a:rPr lang="en-US" altLang="ko-KR" sz="2800" dirty="0" smtClean="0"/>
              <a:t>-Rom </a:t>
            </a:r>
            <a:r>
              <a:rPr lang="ko-KR" altLang="en-US" sz="2800" dirty="0" err="1" smtClean="0"/>
              <a:t>스플라인을</a:t>
            </a:r>
            <a:r>
              <a:rPr lang="ko-KR" altLang="en-US" sz="2800" dirty="0" smtClean="0"/>
              <a:t> 사용하면 부드러운 곡선 경로를 만들 수 있음</a:t>
            </a:r>
            <a:endParaRPr lang="en-US" sz="2800" dirty="0"/>
          </a:p>
        </p:txBody>
      </p:sp>
      <p:grpSp>
        <p:nvGrpSpPr>
          <p:cNvPr id="49" name="그룹 48"/>
          <p:cNvGrpSpPr/>
          <p:nvPr/>
        </p:nvGrpSpPr>
        <p:grpSpPr>
          <a:xfrm>
            <a:off x="7051500" y="4869160"/>
            <a:ext cx="1573825" cy="1765351"/>
            <a:chOff x="3429000" y="3200400"/>
            <a:chExt cx="2133600" cy="2133600"/>
          </a:xfrm>
        </p:grpSpPr>
        <p:sp>
          <p:nvSpPr>
            <p:cNvPr id="50" name="Rectangle 3"/>
            <p:cNvSpPr>
              <a:spLocks noChangeArrowheads="1"/>
            </p:cNvSpPr>
            <p:nvPr/>
          </p:nvSpPr>
          <p:spPr bwMode="auto">
            <a:xfrm>
              <a:off x="3429000" y="32004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Rectangle 4"/>
            <p:cNvSpPr>
              <a:spLocks noChangeArrowheads="1"/>
            </p:cNvSpPr>
            <p:nvPr/>
          </p:nvSpPr>
          <p:spPr bwMode="auto">
            <a:xfrm>
              <a:off x="3962400" y="32004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5"/>
            <p:cNvSpPr>
              <a:spLocks noChangeArrowheads="1"/>
            </p:cNvSpPr>
            <p:nvPr/>
          </p:nvSpPr>
          <p:spPr bwMode="auto">
            <a:xfrm>
              <a:off x="4495800" y="32004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Rectangle 6"/>
            <p:cNvSpPr>
              <a:spLocks noChangeArrowheads="1"/>
            </p:cNvSpPr>
            <p:nvPr/>
          </p:nvSpPr>
          <p:spPr bwMode="auto">
            <a:xfrm>
              <a:off x="5029200" y="32004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7"/>
            <p:cNvSpPr>
              <a:spLocks noChangeArrowheads="1"/>
            </p:cNvSpPr>
            <p:nvPr/>
          </p:nvSpPr>
          <p:spPr bwMode="auto">
            <a:xfrm>
              <a:off x="3429000" y="3733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Rectangle 8"/>
            <p:cNvSpPr>
              <a:spLocks noChangeArrowheads="1"/>
            </p:cNvSpPr>
            <p:nvPr/>
          </p:nvSpPr>
          <p:spPr bwMode="auto">
            <a:xfrm>
              <a:off x="3962400" y="3733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9"/>
            <p:cNvSpPr>
              <a:spLocks noChangeArrowheads="1"/>
            </p:cNvSpPr>
            <p:nvPr/>
          </p:nvSpPr>
          <p:spPr bwMode="auto">
            <a:xfrm>
              <a:off x="4495800" y="37338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10"/>
            <p:cNvSpPr>
              <a:spLocks noChangeArrowheads="1"/>
            </p:cNvSpPr>
            <p:nvPr/>
          </p:nvSpPr>
          <p:spPr bwMode="auto">
            <a:xfrm>
              <a:off x="5029200" y="37338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3429000" y="4267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3962400" y="4267200"/>
              <a:ext cx="533400" cy="53340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Rectangle 13"/>
            <p:cNvSpPr>
              <a:spLocks noChangeArrowheads="1"/>
            </p:cNvSpPr>
            <p:nvPr/>
          </p:nvSpPr>
          <p:spPr bwMode="auto">
            <a:xfrm>
              <a:off x="4495800" y="4267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Rectangle 14"/>
            <p:cNvSpPr>
              <a:spLocks noChangeArrowheads="1"/>
            </p:cNvSpPr>
            <p:nvPr/>
          </p:nvSpPr>
          <p:spPr bwMode="auto">
            <a:xfrm>
              <a:off x="5029200" y="42672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Rectangle 15"/>
            <p:cNvSpPr>
              <a:spLocks noChangeArrowheads="1"/>
            </p:cNvSpPr>
            <p:nvPr/>
          </p:nvSpPr>
          <p:spPr bwMode="auto">
            <a:xfrm>
              <a:off x="3429000" y="4800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Rectangle 16"/>
            <p:cNvSpPr>
              <a:spLocks noChangeArrowheads="1"/>
            </p:cNvSpPr>
            <p:nvPr/>
          </p:nvSpPr>
          <p:spPr bwMode="auto">
            <a:xfrm>
              <a:off x="3962400" y="4800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Rectangle 17"/>
            <p:cNvSpPr>
              <a:spLocks noChangeArrowheads="1"/>
            </p:cNvSpPr>
            <p:nvPr/>
          </p:nvSpPr>
          <p:spPr bwMode="auto">
            <a:xfrm>
              <a:off x="4495800" y="4800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Rectangle 18"/>
            <p:cNvSpPr>
              <a:spLocks noChangeArrowheads="1"/>
            </p:cNvSpPr>
            <p:nvPr/>
          </p:nvSpPr>
          <p:spPr bwMode="auto">
            <a:xfrm>
              <a:off x="5029200" y="4800600"/>
              <a:ext cx="533400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Freeform 19"/>
            <p:cNvSpPr>
              <a:spLocks/>
            </p:cNvSpPr>
            <p:nvPr/>
          </p:nvSpPr>
          <p:spPr bwMode="auto">
            <a:xfrm>
              <a:off x="3594100" y="3276600"/>
              <a:ext cx="1689100" cy="1892300"/>
            </a:xfrm>
            <a:custGeom>
              <a:avLst/>
              <a:gdLst>
                <a:gd name="T0" fmla="*/ 1048 w 1064"/>
                <a:gd name="T1" fmla="*/ 144 h 1192"/>
                <a:gd name="T2" fmla="*/ 904 w 1064"/>
                <a:gd name="T3" fmla="*/ 1056 h 1192"/>
                <a:gd name="T4" fmla="*/ 88 w 1064"/>
                <a:gd name="T5" fmla="*/ 960 h 1192"/>
                <a:gd name="T6" fmla="*/ 376 w 1064"/>
                <a:gd name="T7" fmla="*/ 144 h 1192"/>
                <a:gd name="T8" fmla="*/ 424 w 1064"/>
                <a:gd name="T9" fmla="*/ 96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4" h="1192">
                  <a:moveTo>
                    <a:pt x="1048" y="144"/>
                  </a:moveTo>
                  <a:cubicBezTo>
                    <a:pt x="1056" y="532"/>
                    <a:pt x="1064" y="920"/>
                    <a:pt x="904" y="1056"/>
                  </a:cubicBezTo>
                  <a:cubicBezTo>
                    <a:pt x="744" y="1192"/>
                    <a:pt x="176" y="1112"/>
                    <a:pt x="88" y="960"/>
                  </a:cubicBezTo>
                  <a:cubicBezTo>
                    <a:pt x="0" y="808"/>
                    <a:pt x="320" y="288"/>
                    <a:pt x="376" y="144"/>
                  </a:cubicBezTo>
                  <a:cubicBezTo>
                    <a:pt x="432" y="0"/>
                    <a:pt x="428" y="48"/>
                    <a:pt x="424" y="96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430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304800"/>
            <a:ext cx="7435850" cy="1384300"/>
          </a:xfrm>
        </p:spPr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619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937459"/>
            <a:ext cx="8323263" cy="1665848"/>
          </a:xfrm>
        </p:spPr>
        <p:txBody>
          <a:bodyPr>
            <a:normAutofit/>
          </a:bodyPr>
          <a:lstStyle/>
          <a:p>
            <a:r>
              <a:rPr lang="ko-KR" altLang="en-US" sz="2800" dirty="0" smtClean="0"/>
              <a:t>또 다른 탐색 공간 표현 방법은 그래프임</a:t>
            </a:r>
            <a:endParaRPr lang="en-US" altLang="ko-KR" sz="2800" dirty="0" smtClean="0"/>
          </a:p>
          <a:p>
            <a:r>
              <a:rPr lang="ko-KR" altLang="en-US" sz="2800" dirty="0" smtClean="0"/>
              <a:t>그리드도 </a:t>
            </a:r>
            <a:r>
              <a:rPr lang="ko-KR" altLang="en-US" sz="2800" dirty="0"/>
              <a:t>그래프로 생각할 </a:t>
            </a:r>
            <a:r>
              <a:rPr lang="ko-KR" altLang="en-US" sz="2800" dirty="0" smtClean="0"/>
              <a:t>수 있음</a:t>
            </a:r>
            <a:endParaRPr lang="en-US" sz="2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002223"/>
            <a:ext cx="847725" cy="8096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2492896"/>
            <a:ext cx="2295525" cy="1666875"/>
          </a:xfrm>
          <a:prstGeom prst="rect">
            <a:avLst/>
          </a:prstGeom>
        </p:spPr>
      </p:pic>
      <p:cxnSp>
        <p:nvCxnSpPr>
          <p:cNvPr id="6" name="직선 화살표 연결선 5"/>
          <p:cNvCxnSpPr/>
          <p:nvPr/>
        </p:nvCxnSpPr>
        <p:spPr>
          <a:xfrm>
            <a:off x="2267744" y="3407035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31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28600"/>
            <a:ext cx="7435850" cy="1384300"/>
          </a:xfrm>
        </p:spPr>
        <p:txBody>
          <a:bodyPr/>
          <a:lstStyle/>
          <a:p>
            <a:r>
              <a:rPr lang="en-US" dirty="0"/>
              <a:t>Corner graphs</a:t>
            </a:r>
          </a:p>
        </p:txBody>
      </p:sp>
      <p:sp>
        <p:nvSpPr>
          <p:cNvPr id="6215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1625" y="914400"/>
            <a:ext cx="8164513" cy="2079625"/>
          </a:xfrm>
        </p:spPr>
        <p:txBody>
          <a:bodyPr/>
          <a:lstStyle/>
          <a:p>
            <a:r>
              <a:rPr lang="ko-KR" altLang="en-US" sz="2800" dirty="0"/>
              <a:t>장애물 모서리에 웨이 </a:t>
            </a:r>
            <a:r>
              <a:rPr lang="ko-KR" altLang="en-US" sz="2800" dirty="0" smtClean="0"/>
              <a:t>포인트 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노드</a:t>
            </a:r>
            <a:r>
              <a:rPr lang="en-US" altLang="ko-KR" sz="2800" dirty="0" smtClean="0"/>
              <a:t>)</a:t>
            </a:r>
            <a:r>
              <a:rPr lang="ko-KR" altLang="en-US" sz="2800" dirty="0" smtClean="0"/>
              <a:t>를 배치</a:t>
            </a:r>
            <a:endParaRPr lang="en-US" altLang="ko-KR" sz="2800" dirty="0" smtClean="0"/>
          </a:p>
          <a:p>
            <a:r>
              <a:rPr lang="ko-KR" altLang="en-US" sz="2800" dirty="0"/>
              <a:t>캐릭터가 직선으로 걸을 </a:t>
            </a:r>
            <a:r>
              <a:rPr lang="ko-KR" altLang="en-US" sz="2800" dirty="0" smtClean="0"/>
              <a:t>수 있는 </a:t>
            </a:r>
            <a:r>
              <a:rPr lang="ko-KR" altLang="en-US" sz="2800" dirty="0"/>
              <a:t>노드 사이에 에지를 배치</a:t>
            </a:r>
            <a:endParaRPr lang="en-US" sz="2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994025"/>
            <a:ext cx="5616624" cy="260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9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304800"/>
            <a:ext cx="7435850" cy="1384300"/>
          </a:xfrm>
        </p:spPr>
        <p:txBody>
          <a:bodyPr/>
          <a:lstStyle/>
          <a:p>
            <a:r>
              <a:rPr lang="en-US" sz="3300" dirty="0"/>
              <a:t>Corner </a:t>
            </a:r>
            <a:r>
              <a:rPr lang="en-US" sz="3300" dirty="0" smtClean="0"/>
              <a:t>Graphs</a:t>
            </a:r>
            <a:endParaRPr lang="en-US" sz="3300" dirty="0"/>
          </a:p>
        </p:txBody>
      </p:sp>
      <p:sp>
        <p:nvSpPr>
          <p:cNvPr id="6256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1625" y="990600"/>
            <a:ext cx="8482013" cy="23737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sz="2800" dirty="0"/>
              <a:t>Sub-optimal </a:t>
            </a:r>
            <a:r>
              <a:rPr lang="ko-KR" altLang="en-US" sz="2800" dirty="0"/>
              <a:t>경로 </a:t>
            </a:r>
            <a:r>
              <a:rPr lang="ko-KR" altLang="en-US" sz="2800" dirty="0" smtClean="0"/>
              <a:t>생성</a:t>
            </a:r>
            <a:endParaRPr lang="en-US" altLang="ko-KR" sz="2800" dirty="0" smtClean="0"/>
          </a:p>
          <a:p>
            <a:pPr>
              <a:lnSpc>
                <a:spcPct val="90000"/>
              </a:lnSpc>
            </a:pPr>
            <a:r>
              <a:rPr lang="en-US" altLang="ko-KR" sz="2800" dirty="0" smtClean="0"/>
              <a:t>String-pulling</a:t>
            </a:r>
            <a:r>
              <a:rPr lang="ko-KR" altLang="en-US" sz="2800" dirty="0"/>
              <a:t>을 사용하여 경우에 따라 최적의 경로에 근접 할 수 </a:t>
            </a:r>
            <a:r>
              <a:rPr lang="ko-KR" altLang="en-US" sz="2800" dirty="0" smtClean="0"/>
              <a:t>있음</a:t>
            </a:r>
            <a:endParaRPr lang="en-US" altLang="ko-KR" sz="2800" dirty="0" smtClean="0"/>
          </a:p>
          <a:p>
            <a:pPr lvl="1">
              <a:lnSpc>
                <a:spcPct val="90000"/>
              </a:lnSpc>
            </a:pPr>
            <a:r>
              <a:rPr lang="ko-KR" altLang="en-US" sz="2400" dirty="0"/>
              <a:t>값 비싼 가시선 </a:t>
            </a:r>
            <a:r>
              <a:rPr lang="ko-KR" altLang="en-US" sz="2400" dirty="0" smtClean="0"/>
              <a:t>테스트 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또는</a:t>
            </a:r>
            <a:r>
              <a:rPr lang="en-US" altLang="ko-KR" sz="2400" dirty="0" smtClean="0"/>
              <a:t> String-pulling)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필요</a:t>
            </a:r>
            <a:endParaRPr lang="en-US" sz="2400" dirty="0"/>
          </a:p>
        </p:txBody>
      </p:sp>
      <p:pic>
        <p:nvPicPr>
          <p:cNvPr id="625668" name="Picture 4" descr="Picture5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57" b="26968"/>
          <a:stretch>
            <a:fillRect/>
          </a:stretch>
        </p:blipFill>
        <p:spPr>
          <a:xfrm>
            <a:off x="4500166" y="3530146"/>
            <a:ext cx="4200525" cy="167728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25669" name="Text Box 5"/>
          <p:cNvSpPr txBox="1">
            <a:spLocks noChangeArrowheads="1"/>
          </p:cNvSpPr>
          <p:nvPr/>
        </p:nvSpPr>
        <p:spPr bwMode="auto">
          <a:xfrm>
            <a:off x="5724128" y="5373216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Arial" charset="0"/>
              </a:rPr>
              <a:t>String-pulling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88" y="3530146"/>
            <a:ext cx="3076575" cy="1647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12044" y="5555263"/>
            <a:ext cx="1566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Optimal</a:t>
            </a:r>
            <a:r>
              <a:rPr lang="ko-KR" altLang="en-US" dirty="0" smtClean="0"/>
              <a:t> </a:t>
            </a:r>
            <a:r>
              <a:rPr lang="en-US" altLang="ko-KR" dirty="0" smtClean="0"/>
              <a:t>path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727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41300"/>
            <a:ext cx="7435850" cy="1384300"/>
          </a:xfrm>
        </p:spPr>
        <p:txBody>
          <a:bodyPr/>
          <a:lstStyle/>
          <a:p>
            <a:r>
              <a:rPr lang="en-US" dirty="0"/>
              <a:t>Waypoint Graphs</a:t>
            </a:r>
          </a:p>
        </p:txBody>
      </p:sp>
      <p:sp>
        <p:nvSpPr>
          <p:cNvPr id="6277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1625" y="1066800"/>
            <a:ext cx="8561388" cy="2216150"/>
          </a:xfrm>
        </p:spPr>
        <p:txBody>
          <a:bodyPr>
            <a:normAutofit/>
          </a:bodyPr>
          <a:lstStyle/>
          <a:p>
            <a:r>
              <a:rPr lang="en-US" altLang="ko-KR" dirty="0"/>
              <a:t>3D </a:t>
            </a:r>
            <a:r>
              <a:rPr lang="ko-KR" altLang="en-US" dirty="0"/>
              <a:t>게임 및 좁은 공간에서 잘 </a:t>
            </a:r>
            <a:r>
              <a:rPr lang="ko-KR" altLang="en-US" dirty="0" smtClean="0"/>
              <a:t>작동</a:t>
            </a:r>
            <a:endParaRPr lang="en-US" altLang="ko-KR" dirty="0" smtClean="0"/>
          </a:p>
          <a:p>
            <a:r>
              <a:rPr lang="en-US" dirty="0" smtClean="0"/>
              <a:t>Corner Graph</a:t>
            </a:r>
            <a:r>
              <a:rPr lang="ko-KR" altLang="en-US" dirty="0" smtClean="0"/>
              <a:t>와 유사</a:t>
            </a:r>
            <a:endParaRPr lang="en-US" dirty="0"/>
          </a:p>
          <a:p>
            <a:pPr lvl="1"/>
            <a:r>
              <a:rPr lang="ko-KR" altLang="en-US" dirty="0"/>
              <a:t>노드가 벽과 장애물에서 더 멀다는 </a:t>
            </a:r>
            <a:r>
              <a:rPr lang="ko-KR" altLang="en-US" dirty="0" smtClean="0"/>
              <a:t>점이 다름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벽</a:t>
            </a:r>
            <a:r>
              <a:rPr lang="en-US" altLang="ko-KR" dirty="0" smtClean="0"/>
              <a:t>-</a:t>
            </a:r>
            <a:r>
              <a:rPr lang="ko-KR" altLang="en-US" dirty="0" smtClean="0"/>
              <a:t>껴안기</a:t>
            </a:r>
            <a:r>
              <a:rPr lang="en-US" altLang="ko-KR" dirty="0" smtClean="0"/>
              <a:t>(</a:t>
            </a:r>
            <a:r>
              <a:rPr lang="en-US" dirty="0" smtClean="0"/>
              <a:t>wall-hugging) </a:t>
            </a:r>
            <a:r>
              <a:rPr lang="ko-KR" altLang="en-US" dirty="0" smtClean="0"/>
              <a:t>문제를 해결할 수 있음</a:t>
            </a:r>
            <a:endParaRPr lang="en-US" dirty="0"/>
          </a:p>
        </p:txBody>
      </p:sp>
      <p:pic>
        <p:nvPicPr>
          <p:cNvPr id="627716" name="Picture 4" descr="Picture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1" t="2461" r="7547" b="15773"/>
          <a:stretch>
            <a:fillRect/>
          </a:stretch>
        </p:blipFill>
        <p:spPr>
          <a:xfrm>
            <a:off x="2286000" y="3657600"/>
            <a:ext cx="4191000" cy="2460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3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28600"/>
            <a:ext cx="7435850" cy="1384300"/>
          </a:xfrm>
        </p:spPr>
        <p:txBody>
          <a:bodyPr/>
          <a:lstStyle/>
          <a:p>
            <a:r>
              <a:rPr lang="en-US" dirty="0"/>
              <a:t>Waypoint Graphs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1625" y="990600"/>
            <a:ext cx="8402638" cy="1522413"/>
          </a:xfrm>
        </p:spPr>
        <p:txBody>
          <a:bodyPr/>
          <a:lstStyle/>
          <a:p>
            <a:r>
              <a:rPr lang="ko-KR" altLang="en-US" sz="2800" dirty="0"/>
              <a:t>스트링 </a:t>
            </a:r>
            <a:r>
              <a:rPr lang="ko-KR" altLang="en-US" sz="2800" dirty="0" err="1"/>
              <a:t>풀링</a:t>
            </a:r>
            <a:r>
              <a:rPr lang="ko-KR" altLang="en-US" sz="2800" dirty="0"/>
              <a:t> 기술로도 항상 최적의 경로를 쉽게 찾을 </a:t>
            </a:r>
            <a:r>
              <a:rPr lang="ko-KR" altLang="en-US" sz="2800" dirty="0" smtClean="0"/>
              <a:t>수 없음</a:t>
            </a:r>
            <a:endParaRPr lang="en-US" sz="2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132856"/>
            <a:ext cx="7258050" cy="1819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75656" y="4181480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String-pulling </a:t>
            </a:r>
            <a:r>
              <a:rPr lang="ko-KR" altLang="en-US" dirty="0" smtClean="0"/>
              <a:t>전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32040" y="4181480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String-pulling </a:t>
            </a:r>
            <a:r>
              <a:rPr lang="ko-KR" altLang="en-US" dirty="0" smtClean="0"/>
              <a:t>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426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Circle-based Waypoint Graphs</a:t>
            </a:r>
          </a:p>
        </p:txBody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1625" y="1066800"/>
            <a:ext cx="8561388" cy="34423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smtClean="0"/>
              <a:t>waypoint graph</a:t>
            </a:r>
            <a:r>
              <a:rPr lang="ko-KR" altLang="en-US" sz="2800" dirty="0" smtClean="0"/>
              <a:t>와</a:t>
            </a:r>
            <a:r>
              <a:rPr lang="en-US" sz="2800" dirty="0" smtClean="0"/>
              <a:t> </a:t>
            </a:r>
            <a:r>
              <a:rPr lang="ko-KR" altLang="en-US" sz="2800" dirty="0" smtClean="0"/>
              <a:t>유사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ko-KR" altLang="en-US" sz="2400" dirty="0" smtClean="0"/>
              <a:t>단</a:t>
            </a:r>
            <a:r>
              <a:rPr lang="en-US" altLang="ko-KR" sz="2400" dirty="0" smtClean="0"/>
              <a:t>,</a:t>
            </a:r>
            <a:r>
              <a:rPr lang="en-US" sz="2400" dirty="0" smtClean="0"/>
              <a:t> </a:t>
            </a:r>
            <a:r>
              <a:rPr lang="ko-KR" altLang="en-US" sz="2400" dirty="0" smtClean="0"/>
              <a:t>열린 공간을 의미하는 원을 노드를 중심으로 추가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ko-KR" altLang="en-US" sz="2400" dirty="0" smtClean="0"/>
              <a:t>에지</a:t>
            </a:r>
            <a:r>
              <a:rPr lang="ko-KR" altLang="ko-KR" sz="2400" dirty="0" smtClean="0"/>
              <a:t>는 </a:t>
            </a:r>
            <a:r>
              <a:rPr lang="ko-KR" altLang="ko-KR" sz="2400" dirty="0"/>
              <a:t>원이 겹치는 노드 사이에만 </a:t>
            </a:r>
            <a:r>
              <a:rPr lang="ko-KR" altLang="en-US" sz="2400" dirty="0" smtClean="0"/>
              <a:t>존재</a:t>
            </a:r>
            <a:endParaRPr lang="en-US" altLang="ko-KR" sz="2400" dirty="0" smtClean="0"/>
          </a:p>
          <a:p>
            <a:pPr>
              <a:lnSpc>
                <a:spcPct val="90000"/>
              </a:lnSpc>
            </a:pPr>
            <a:r>
              <a:rPr lang="ko-KR" altLang="ko-KR" sz="2800" dirty="0"/>
              <a:t>탁 트인 지형에서 </a:t>
            </a:r>
            <a:r>
              <a:rPr lang="ko-KR" altLang="en-US" sz="2800" dirty="0" smtClean="0"/>
              <a:t>좋음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ko-KR" altLang="en-US" sz="2800" dirty="0"/>
              <a:t>일부 게임은 원 기반 웨이 포인트 그래프와 일반 웨이 포인트 그래프의 </a:t>
            </a:r>
            <a:r>
              <a:rPr lang="ko-KR" altLang="en-US" sz="2800" dirty="0" err="1" smtClean="0"/>
              <a:t>하이브리드</a:t>
            </a:r>
            <a:r>
              <a:rPr lang="ko-KR" altLang="en-US" sz="2800" dirty="0" smtClean="0"/>
              <a:t> 방식을 사용</a:t>
            </a:r>
            <a:endParaRPr lang="en-US" altLang="ko-KR" sz="2800" dirty="0" smtClean="0"/>
          </a:p>
          <a:p>
            <a:pPr lvl="1">
              <a:lnSpc>
                <a:spcPct val="90000"/>
              </a:lnSpc>
            </a:pPr>
            <a:r>
              <a:rPr lang="ko-KR" altLang="en-US" sz="2400" dirty="0" smtClean="0"/>
              <a:t>실외 </a:t>
            </a:r>
            <a:r>
              <a:rPr lang="ko-KR" altLang="en-US" sz="2400" dirty="0"/>
              <a:t>개방 지형에는 원 기반을 사용하고 실내 환경에는 일반 웨이 포인트를 </a:t>
            </a:r>
            <a:r>
              <a:rPr lang="ko-KR" altLang="en-US" sz="2400" dirty="0" smtClean="0"/>
              <a:t>사용</a:t>
            </a:r>
            <a:endParaRPr lang="en-US" sz="2400" dirty="0"/>
          </a:p>
        </p:txBody>
      </p:sp>
      <p:pic>
        <p:nvPicPr>
          <p:cNvPr id="4" name="Picture 4" descr="Picture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3" r="1888" b="23094"/>
          <a:stretch>
            <a:fillRect/>
          </a:stretch>
        </p:blipFill>
        <p:spPr>
          <a:xfrm>
            <a:off x="2132261" y="4413809"/>
            <a:ext cx="4309551" cy="21835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99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Meshes</a:t>
            </a:r>
          </a:p>
        </p:txBody>
      </p:sp>
      <p:sp>
        <p:nvSpPr>
          <p:cNvPr id="64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37111"/>
          </a:xfrm>
        </p:spPr>
        <p:txBody>
          <a:bodyPr>
            <a:normAutofit/>
          </a:bodyPr>
          <a:lstStyle/>
          <a:p>
            <a:r>
              <a:rPr lang="ko-KR" altLang="ko-KR" sz="2800" dirty="0"/>
              <a:t>실내 및 실외 환경을 동일하게 </a:t>
            </a:r>
            <a:r>
              <a:rPr lang="ko-KR" altLang="ko-KR" sz="2800" dirty="0" smtClean="0"/>
              <a:t>잘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동작</a:t>
            </a:r>
            <a:endParaRPr lang="en-US" sz="2800" dirty="0"/>
          </a:p>
          <a:p>
            <a:r>
              <a:rPr lang="ko-KR" altLang="ko-KR" sz="2800" dirty="0" smtClean="0"/>
              <a:t>걸어 </a:t>
            </a:r>
            <a:r>
              <a:rPr lang="ko-KR" altLang="ko-KR" sz="2800" dirty="0"/>
              <a:t>갈 </a:t>
            </a:r>
            <a:r>
              <a:rPr lang="ko-KR" altLang="ko-KR" sz="2800" dirty="0" smtClean="0"/>
              <a:t>수</a:t>
            </a:r>
            <a:r>
              <a:rPr lang="en-US" altLang="ko-KR" sz="2800" dirty="0" smtClean="0"/>
              <a:t> </a:t>
            </a:r>
            <a:r>
              <a:rPr lang="ko-KR" altLang="ko-KR" sz="2800" dirty="0" smtClean="0"/>
              <a:t>있는 표면</a:t>
            </a:r>
            <a:r>
              <a:rPr lang="ko-KR" altLang="en-US" sz="2800" dirty="0" smtClean="0"/>
              <a:t>을 </a:t>
            </a:r>
            <a:r>
              <a:rPr lang="ko-KR" altLang="ko-KR" sz="2800" dirty="0"/>
              <a:t>볼록한 다각형으로 </a:t>
            </a:r>
            <a:r>
              <a:rPr lang="ko-KR" altLang="ko-KR" sz="2800" dirty="0" smtClean="0"/>
              <a:t>덮</a:t>
            </a:r>
            <a:r>
              <a:rPr lang="ko-KR" altLang="en-US" sz="2800" dirty="0" smtClean="0"/>
              <a:t>음</a:t>
            </a:r>
            <a:endParaRPr lang="ko-KR" altLang="ko-KR" sz="2800" dirty="0"/>
          </a:p>
          <a:p>
            <a:r>
              <a:rPr lang="ko-KR" altLang="ko-KR" sz="2800" dirty="0" smtClean="0"/>
              <a:t>특히 </a:t>
            </a:r>
            <a:r>
              <a:rPr lang="ko-KR" altLang="ko-KR" sz="2800" dirty="0"/>
              <a:t>넓은 세계 또는 기하학적으로 복잡한 </a:t>
            </a:r>
            <a:r>
              <a:rPr lang="ko-KR" altLang="ko-KR" sz="2800" dirty="0" smtClean="0"/>
              <a:t>영역에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대해</a:t>
            </a:r>
            <a:r>
              <a:rPr lang="ko-KR" altLang="ko-KR" sz="2800" dirty="0" smtClean="0"/>
              <a:t> </a:t>
            </a:r>
            <a:r>
              <a:rPr lang="ko-KR" altLang="ko-KR" sz="2800" dirty="0"/>
              <a:t>많은 수의 다각형을 </a:t>
            </a:r>
            <a:r>
              <a:rPr lang="ko-KR" altLang="en-US" sz="2800" dirty="0" smtClean="0"/>
              <a:t>위한 메모리 필요</a:t>
            </a:r>
            <a:endParaRPr lang="en-US" altLang="ko-KR" sz="2800" dirty="0" smtClean="0"/>
          </a:p>
          <a:p>
            <a:r>
              <a:rPr lang="ko-KR" altLang="ko-KR" sz="2800" dirty="0"/>
              <a:t>에이전트가 </a:t>
            </a:r>
            <a:r>
              <a:rPr lang="ko-KR" altLang="en-US" sz="2800" dirty="0" smtClean="0"/>
              <a:t>다각형</a:t>
            </a:r>
            <a:r>
              <a:rPr lang="ko-KR" altLang="ko-KR" sz="2800" dirty="0" smtClean="0"/>
              <a:t> </a:t>
            </a:r>
            <a:r>
              <a:rPr lang="ko-KR" altLang="ko-KR" sz="2800" dirty="0"/>
              <a:t>내의 모든 지점에서 동일한 </a:t>
            </a:r>
            <a:r>
              <a:rPr lang="ko-KR" altLang="en-US" sz="2800" dirty="0"/>
              <a:t>다각형</a:t>
            </a:r>
            <a:r>
              <a:rPr lang="ko-KR" altLang="ko-KR" sz="2800" dirty="0" smtClean="0"/>
              <a:t> </a:t>
            </a:r>
            <a:r>
              <a:rPr lang="ko-KR" altLang="ko-KR" sz="2800" dirty="0"/>
              <a:t>내의 다른 지점까지 걸을 수 있도록 다각형은 </a:t>
            </a:r>
            <a:r>
              <a:rPr lang="ko-KR" altLang="en-US" sz="2800" dirty="0" smtClean="0"/>
              <a:t>볼록해야 함</a:t>
            </a:r>
            <a:endParaRPr lang="en-US" altLang="ko-KR" sz="2800" dirty="0" smtClean="0"/>
          </a:p>
          <a:p>
            <a:r>
              <a:rPr lang="ko-KR" altLang="ko-KR" sz="2800" dirty="0"/>
              <a:t>자동화 도구로 </a:t>
            </a:r>
            <a:r>
              <a:rPr lang="ko-KR" altLang="ko-KR" sz="2800" dirty="0" err="1"/>
              <a:t>NavMesh</a:t>
            </a:r>
            <a:r>
              <a:rPr lang="ko-KR" altLang="ko-KR" sz="2800" dirty="0"/>
              <a:t> 생성 </a:t>
            </a:r>
            <a:r>
              <a:rPr lang="ko-KR" altLang="en-US" sz="2800" dirty="0" smtClean="0"/>
              <a:t>가능</a:t>
            </a:r>
            <a:endParaRPr lang="en-US" sz="2800" dirty="0" smtClean="0"/>
          </a:p>
          <a:p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34177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types of NavMeshs</a:t>
            </a:r>
          </a:p>
        </p:txBody>
      </p:sp>
      <p:sp>
        <p:nvSpPr>
          <p:cNvPr id="64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Triangle based</a:t>
            </a:r>
          </a:p>
          <a:p>
            <a:pPr lvl="1">
              <a:lnSpc>
                <a:spcPct val="90000"/>
              </a:lnSpc>
            </a:pPr>
            <a:r>
              <a:rPr lang="ko-KR" altLang="en-US" sz="2400" dirty="0"/>
              <a:t>모든 다각형은 </a:t>
            </a:r>
            <a:r>
              <a:rPr lang="ko-KR" altLang="en-US" sz="2400" dirty="0" smtClean="0"/>
              <a:t>삼각형이어야</a:t>
            </a:r>
            <a:endParaRPr lang="en-US" altLang="ko-KR" sz="2400" dirty="0" smtClean="0"/>
          </a:p>
          <a:p>
            <a:pPr lvl="1">
              <a:lnSpc>
                <a:spcPct val="90000"/>
              </a:lnSpc>
            </a:pPr>
            <a:r>
              <a:rPr lang="ko-KR" altLang="en-US" sz="2400" dirty="0" smtClean="0"/>
              <a:t>제대로 되었을 경우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벽을 꽉 껴안지 않아도 됨</a:t>
            </a:r>
            <a:endParaRPr lang="en-US" altLang="ko-KR" sz="2400" dirty="0" smtClean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N-Sided-Poly-based</a:t>
            </a:r>
          </a:p>
          <a:p>
            <a:pPr lvl="1">
              <a:lnSpc>
                <a:spcPct val="90000"/>
              </a:lnSpc>
            </a:pPr>
            <a:r>
              <a:rPr lang="ko-KR" altLang="en-US" sz="2400" dirty="0" smtClean="0"/>
              <a:t>임의의 다각형을 </a:t>
            </a:r>
            <a:r>
              <a:rPr lang="ko-KR" altLang="en-US" sz="2400" dirty="0"/>
              <a:t>가질 수 있지만 볼록한 상태를 </a:t>
            </a:r>
            <a:r>
              <a:rPr lang="ko-KR" altLang="en-US" sz="2400" dirty="0" smtClean="0"/>
              <a:t>유지해야</a:t>
            </a:r>
            <a:endParaRPr lang="en-US" altLang="ko-KR" sz="2400" dirty="0" smtClean="0"/>
          </a:p>
          <a:p>
            <a:pPr lvl="1">
              <a:lnSpc>
                <a:spcPct val="90000"/>
              </a:lnSpc>
            </a:pPr>
            <a:r>
              <a:rPr lang="ko-KR" altLang="en-US" sz="2400" dirty="0"/>
              <a:t>일반적으로 삼각형 </a:t>
            </a:r>
            <a:r>
              <a:rPr lang="ko-KR" altLang="en-US" sz="2400" dirty="0" smtClean="0"/>
              <a:t>기반보다 </a:t>
            </a:r>
            <a:r>
              <a:rPr lang="ko-KR" altLang="en-US" sz="2400" dirty="0"/>
              <a:t>더 간단하게 </a:t>
            </a:r>
            <a:r>
              <a:rPr lang="ko-KR" altLang="en-US" sz="2400" dirty="0" smtClean="0"/>
              <a:t>탐색 </a:t>
            </a:r>
            <a:r>
              <a:rPr lang="ko-KR" altLang="en-US" sz="2400" dirty="0"/>
              <a:t>공간을 나타낼 수 </a:t>
            </a:r>
            <a:r>
              <a:rPr lang="ko-KR" altLang="en-US" sz="2400" dirty="0" smtClean="0"/>
              <a:t>있음 </a:t>
            </a:r>
            <a:r>
              <a:rPr lang="en-US" altLang="ko-KR" sz="2400" dirty="0"/>
              <a:t>(</a:t>
            </a:r>
            <a:r>
              <a:rPr lang="ko-KR" altLang="en-US" sz="2400" dirty="0"/>
              <a:t>더 작은 메모리 공간</a:t>
            </a:r>
            <a:r>
              <a:rPr lang="en-US" altLang="ko-KR" sz="2400" dirty="0"/>
              <a:t>) </a:t>
            </a:r>
            <a:endParaRPr lang="en-US" altLang="ko-KR" sz="2400" dirty="0" smtClean="0"/>
          </a:p>
          <a:p>
            <a:pPr lvl="1">
              <a:lnSpc>
                <a:spcPct val="90000"/>
              </a:lnSpc>
            </a:pPr>
            <a:r>
              <a:rPr lang="ko-KR" altLang="en-US" sz="2400" dirty="0"/>
              <a:t>벽을 너무 꽉 껴안는 경로로 이어질 수 </a:t>
            </a:r>
            <a:r>
              <a:rPr lang="ko-KR" altLang="en-US" sz="2400" dirty="0" smtClean="0"/>
              <a:t>있음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51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types of NavMeshs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484784"/>
            <a:ext cx="3990975" cy="20097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336" y="1484784"/>
            <a:ext cx="3819525" cy="19621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403648" y="3789040"/>
            <a:ext cx="1695401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dirty="0"/>
              <a:t>Triangle based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148064" y="3789040"/>
            <a:ext cx="2275303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ko-KR" dirty="0"/>
              <a:t>N-Sided-Poly-based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4293096"/>
            <a:ext cx="5724525" cy="1933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7784" y="6416795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String-pulling </a:t>
            </a:r>
            <a:r>
              <a:rPr lang="ko-KR" altLang="en-US" dirty="0" smtClean="0"/>
              <a:t>전 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992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16632"/>
            <a:ext cx="8748464" cy="1143000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균일 비용 탐색 </a:t>
            </a:r>
            <a:r>
              <a:rPr lang="en-US" altLang="ko-KR" dirty="0" smtClean="0"/>
              <a:t>(</a:t>
            </a:r>
            <a:r>
              <a:rPr lang="en-US" dirty="0" smtClean="0"/>
              <a:t>Uniform </a:t>
            </a:r>
            <a:r>
              <a:rPr lang="en-US" dirty="0"/>
              <a:t>cost </a:t>
            </a:r>
            <a:r>
              <a:rPr lang="en-US" dirty="0" smtClean="0"/>
              <a:t>search)</a:t>
            </a:r>
            <a:endParaRPr lang="en-US" dirty="0"/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59632"/>
            <a:ext cx="8363272" cy="5409728"/>
          </a:xfrm>
        </p:spPr>
        <p:txBody>
          <a:bodyPr>
            <a:normAutofit/>
          </a:bodyPr>
          <a:lstStyle/>
          <a:p>
            <a:r>
              <a:rPr lang="en-US" altLang="ko-KR" sz="2800" dirty="0" err="1" smtClean="0"/>
              <a:t>Dijkstra</a:t>
            </a:r>
            <a:r>
              <a:rPr lang="en-US" altLang="ko-KR" sz="2800" dirty="0" smtClean="0"/>
              <a:t> </a:t>
            </a:r>
            <a:r>
              <a:rPr lang="ko-KR" altLang="en-US" sz="2800" dirty="0" smtClean="0"/>
              <a:t>알고리즘을 이용해서 비용 그래프에서 노드 간의 최소 비용 경로를 찾아주는 탐색 방법</a:t>
            </a:r>
            <a:endParaRPr lang="en-US" altLang="ko-KR" sz="2800" dirty="0" smtClean="0"/>
          </a:p>
          <a:p>
            <a:pPr lvl="1"/>
            <a:r>
              <a:rPr lang="ko-KR" altLang="en-US" sz="2400" dirty="0" smtClean="0"/>
              <a:t>모든 노드들을 다 우선순위 큐에 집어 넣고 시작하는 대신에 시작 노드만 집어넣고 시작</a:t>
            </a:r>
            <a:endParaRPr lang="en-US" sz="2400" dirty="0" smtClean="0"/>
          </a:p>
          <a:p>
            <a:pPr lvl="1"/>
            <a:r>
              <a:rPr lang="ko-KR" altLang="en-US" sz="2400" dirty="0" smtClean="0"/>
              <a:t>우선순위 큐에 들어 있는 노드들 중에서 현재까지의 총 비용이 가장 적은 노드를 확장</a:t>
            </a:r>
            <a:endParaRPr lang="en-US" altLang="ko-KR" sz="2400" dirty="0" smtClean="0"/>
          </a:p>
          <a:p>
            <a:r>
              <a:rPr lang="ko-KR" altLang="en-US" sz="2800" dirty="0" smtClean="0"/>
              <a:t>시작</a:t>
            </a:r>
            <a:r>
              <a:rPr lang="en-US" sz="2800" dirty="0" smtClean="0"/>
              <a:t> </a:t>
            </a:r>
            <a:r>
              <a:rPr lang="ko-KR" altLang="en-US" sz="2800" dirty="0" smtClean="0"/>
              <a:t>노드와 목적 노드가 정해진 </a:t>
            </a:r>
            <a:r>
              <a:rPr lang="en-US" altLang="ko-KR" sz="2800" dirty="0" err="1"/>
              <a:t>Dijkstra</a:t>
            </a:r>
            <a:r>
              <a:rPr lang="en-US" altLang="ko-KR" sz="2800" dirty="0"/>
              <a:t> </a:t>
            </a:r>
            <a:r>
              <a:rPr lang="ko-KR" altLang="en-US" sz="2800" dirty="0" smtClean="0"/>
              <a:t>알고리즘이라고 생각하면 됨</a:t>
            </a:r>
            <a:endParaRPr lang="en-US" sz="2800" dirty="0"/>
          </a:p>
          <a:p>
            <a:pPr lvl="1"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5429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균일 비용 탐색 </a:t>
            </a:r>
            <a:r>
              <a:rPr lang="en-US" altLang="ko-KR" sz="3600" dirty="0"/>
              <a:t>(Uniform cost search)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sz="2800" dirty="0"/>
              <a:t>Main loop</a:t>
            </a:r>
          </a:p>
          <a:p>
            <a:pPr lvl="1">
              <a:lnSpc>
                <a:spcPct val="90000"/>
              </a:lnSpc>
            </a:pPr>
            <a:r>
              <a:rPr lang="en-US" altLang="ko-KR" sz="2400" dirty="0"/>
              <a:t>Pop least cost state from PQ (the open list)</a:t>
            </a:r>
          </a:p>
          <a:p>
            <a:pPr lvl="1">
              <a:lnSpc>
                <a:spcPct val="90000"/>
              </a:lnSpc>
            </a:pPr>
            <a:r>
              <a:rPr lang="en-US" altLang="ko-KR" sz="2400" dirty="0"/>
              <a:t>Add the successors</a:t>
            </a:r>
          </a:p>
          <a:p>
            <a:pPr lvl="1">
              <a:lnSpc>
                <a:spcPct val="90000"/>
              </a:lnSpc>
            </a:pPr>
            <a:r>
              <a:rPr lang="en-US" altLang="ko-KR" sz="2400" dirty="0"/>
              <a:t>Stop when the goal is popped from the PQ (the open list)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6167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US" dirty="0" smtClean="0"/>
              <a:t>Example graph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pSp>
        <p:nvGrpSpPr>
          <p:cNvPr id="3" name="Group 9"/>
          <p:cNvGrpSpPr/>
          <p:nvPr/>
        </p:nvGrpSpPr>
        <p:grpSpPr>
          <a:xfrm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11" name="Oval 10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D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3" name="Straight Arrow Connector 12"/>
          <p:cNvCxnSpPr>
            <a:stCxn id="4" idx="6"/>
            <a:endCxn id="6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5"/>
            <a:endCxn id="8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4"/>
            <a:endCxn id="11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 bwMode="auto">
          <a:xfrm>
            <a:off x="2589705" y="1691965"/>
            <a:ext cx="10038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2484557" y="2749748"/>
            <a:ext cx="10038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1.6</a:t>
            </a:r>
          </a:p>
        </p:txBody>
      </p:sp>
      <p:sp>
        <p:nvSpPr>
          <p:cNvPr id="19" name="TextBox 18"/>
          <p:cNvSpPr txBox="1"/>
          <p:nvPr/>
        </p:nvSpPr>
        <p:spPr bwMode="auto">
          <a:xfrm>
            <a:off x="955507" y="3549289"/>
            <a:ext cx="10038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3.3</a:t>
            </a:r>
          </a:p>
        </p:txBody>
      </p:sp>
      <p:grpSp>
        <p:nvGrpSpPr>
          <p:cNvPr id="10" name="Group 22"/>
          <p:cNvGrpSpPr/>
          <p:nvPr/>
        </p:nvGrpSpPr>
        <p:grpSpPr>
          <a:xfrm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24" name="Oval 2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 bwMode="auto"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E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6" name="Group 25"/>
          <p:cNvGrpSpPr/>
          <p:nvPr/>
        </p:nvGrpSpPr>
        <p:grpSpPr>
          <a:xfrm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27" name="Oval 2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F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29" name="Straight Arrow Connector 28"/>
          <p:cNvCxnSpPr>
            <a:stCxn id="6" idx="6"/>
            <a:endCxn id="24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6"/>
            <a:endCxn id="27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 bwMode="auto">
          <a:xfrm>
            <a:off x="5096203" y="1163982"/>
            <a:ext cx="10038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34" name="TextBox 33"/>
          <p:cNvSpPr txBox="1"/>
          <p:nvPr/>
        </p:nvSpPr>
        <p:spPr bwMode="auto">
          <a:xfrm>
            <a:off x="5096202" y="2266656"/>
            <a:ext cx="10038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1.9</a:t>
            </a:r>
          </a:p>
        </p:txBody>
      </p:sp>
      <p:cxnSp>
        <p:nvCxnSpPr>
          <p:cNvPr id="36" name="Straight Arrow Connector 35"/>
          <p:cNvCxnSpPr>
            <a:stCxn id="8" idx="3"/>
            <a:endCxn id="11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986457" y="4216481"/>
            <a:ext cx="10038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grpSp>
        <p:nvGrpSpPr>
          <p:cNvPr id="20" name="Group 37"/>
          <p:cNvGrpSpPr/>
          <p:nvPr/>
        </p:nvGrpSpPr>
        <p:grpSpPr>
          <a:xfrm>
            <a:off x="6478133" y="3823813"/>
            <a:ext cx="762000" cy="762000"/>
            <a:chOff x="1259114" y="1219200"/>
            <a:chExt cx="762000" cy="762000"/>
          </a:xfrm>
        </p:grpSpPr>
        <p:sp>
          <p:nvSpPr>
            <p:cNvPr id="39" name="Oval 3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1458814" y="136936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noProof="0" dirty="0" smtClean="0">
                  <a:solidFill>
                    <a:srgbClr val="161A1C"/>
                  </a:solidFill>
                  <a:latin typeface="Calibri" pitchFamily="34" charset="0"/>
                </a:rPr>
                <a:t>G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42" name="Straight Arrow Connector 41"/>
          <p:cNvCxnSpPr>
            <a:stCxn id="27" idx="4"/>
            <a:endCxn id="39" idx="0"/>
          </p:cNvCxnSpPr>
          <p:nvPr/>
        </p:nvCxnSpPr>
        <p:spPr>
          <a:xfrm>
            <a:off x="6850659" y="2832322"/>
            <a:ext cx="8474" cy="99149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 bwMode="auto">
          <a:xfrm>
            <a:off x="2661031" y="5410200"/>
            <a:ext cx="42162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Searching for a path from A to G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6858000" y="3157769"/>
            <a:ext cx="10038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1.4</a:t>
            </a:r>
          </a:p>
        </p:txBody>
      </p:sp>
    </p:spTree>
    <p:extLst>
      <p:ext uri="{BB962C8B-B14F-4D97-AF65-F5344CB8AC3E}">
        <p14:creationId xmlns:p14="http://schemas.microsoft.com/office/powerpoint/2010/main" val="52343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dirty="0" smtClean="0"/>
              <a:t>Uniform cost example</a:t>
            </a:r>
            <a:endParaRPr lang="en-US" dirty="0"/>
          </a:p>
        </p:txBody>
      </p:sp>
      <p:grpSp>
        <p:nvGrpSpPr>
          <p:cNvPr id="3" name="Group 23"/>
          <p:cNvGrpSpPr/>
          <p:nvPr/>
        </p:nvGrpSpPr>
        <p:grpSpPr>
          <a:xfrm>
            <a:off x="1568007" y="1607457"/>
            <a:ext cx="762000" cy="762000"/>
            <a:chOff x="878114" y="1607457"/>
            <a:chExt cx="762000" cy="762000"/>
          </a:xfrm>
        </p:grpSpPr>
        <p:sp>
          <p:nvSpPr>
            <p:cNvPr id="4" name="Oval 3"/>
            <p:cNvSpPr/>
            <p:nvPr/>
          </p:nvSpPr>
          <p:spPr>
            <a:xfrm>
              <a:off x="878114" y="1607457"/>
              <a:ext cx="762000" cy="762000"/>
            </a:xfrm>
            <a:prstGeom prst="ellipse">
              <a:avLst/>
            </a:prstGeom>
            <a:noFill/>
            <a:ln w="635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 bwMode="auto">
            <a:xfrm>
              <a:off x="1077814" y="1757624"/>
              <a:ext cx="362600" cy="461665"/>
            </a:xfrm>
            <a:prstGeom prst="rect">
              <a:avLst/>
            </a:prstGeom>
            <a:noFill/>
            <a:ln w="63500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161A1C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" name="Group 7"/>
          <p:cNvGrpSpPr/>
          <p:nvPr/>
        </p:nvGrpSpPr>
        <p:grpSpPr>
          <a:xfrm>
            <a:off x="4191000" y="995624"/>
            <a:ext cx="762000" cy="762000"/>
            <a:chOff x="1259114" y="1219200"/>
            <a:chExt cx="762000" cy="762000"/>
          </a:xfrm>
        </p:grpSpPr>
        <p:sp>
          <p:nvSpPr>
            <p:cNvPr id="9" name="Oval 8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1458814" y="1369367"/>
              <a:ext cx="35137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B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" name="Group 10"/>
          <p:cNvGrpSpPr/>
          <p:nvPr/>
        </p:nvGrpSpPr>
        <p:grpSpPr>
          <a:xfrm>
            <a:off x="3819956" y="2590800"/>
            <a:ext cx="762000" cy="762000"/>
            <a:chOff x="1259114" y="1219200"/>
            <a:chExt cx="762000" cy="762000"/>
          </a:xfrm>
        </p:grpSpPr>
        <p:sp>
          <p:nvSpPr>
            <p:cNvPr id="12" name="Oval 11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1458814" y="1369367"/>
              <a:ext cx="34817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noProof="0" dirty="0" smtClean="0">
                  <a:solidFill>
                    <a:srgbClr val="161A1C"/>
                  </a:solidFill>
                  <a:latin typeface="Calibri" pitchFamily="34" charset="0"/>
                </a:rPr>
                <a:t>C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" name="Group 13"/>
          <p:cNvGrpSpPr/>
          <p:nvPr/>
        </p:nvGrpSpPr>
        <p:grpSpPr>
          <a:xfrm>
            <a:off x="1949007" y="3657600"/>
            <a:ext cx="762000" cy="762000"/>
            <a:chOff x="1259114" y="1219200"/>
            <a:chExt cx="762000" cy="762000"/>
          </a:xfrm>
        </p:grpSpPr>
        <p:sp>
          <p:nvSpPr>
            <p:cNvPr id="15" name="Oval 14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D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9" name="Straight Arrow Connector 18"/>
          <p:cNvCxnSpPr>
            <a:stCxn id="4" idx="6"/>
            <a:endCxn id="9" idx="2"/>
          </p:cNvCxnSpPr>
          <p:nvPr/>
        </p:nvCxnSpPr>
        <p:spPr>
          <a:xfrm flipV="1">
            <a:off x="2330007" y="1376624"/>
            <a:ext cx="1860993" cy="611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5"/>
            <a:endCxn id="12" idx="2"/>
          </p:cNvCxnSpPr>
          <p:nvPr/>
        </p:nvCxnSpPr>
        <p:spPr>
          <a:xfrm>
            <a:off x="2218415" y="2257865"/>
            <a:ext cx="1601541" cy="71393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4"/>
            <a:endCxn id="15" idx="0"/>
          </p:cNvCxnSpPr>
          <p:nvPr/>
        </p:nvCxnSpPr>
        <p:spPr>
          <a:xfrm>
            <a:off x="1949007" y="2369457"/>
            <a:ext cx="381000" cy="128814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226450" y="2057400"/>
            <a:ext cx="183095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ost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-so-far: 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onnection: none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726706" y="964362"/>
            <a:ext cx="1433406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27" name="TextBox 26"/>
          <p:cNvSpPr txBox="1"/>
          <p:nvPr/>
        </p:nvSpPr>
        <p:spPr bwMode="auto">
          <a:xfrm>
            <a:off x="2776086" y="1965269"/>
            <a:ext cx="149111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1.6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685800" y="2955869"/>
            <a:ext cx="154882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3.3</a:t>
            </a:r>
          </a:p>
        </p:txBody>
      </p:sp>
      <p:sp>
        <p:nvSpPr>
          <p:cNvPr id="29" name="TextBox 28"/>
          <p:cNvSpPr txBox="1"/>
          <p:nvPr/>
        </p:nvSpPr>
        <p:spPr bwMode="auto">
          <a:xfrm>
            <a:off x="4967514" y="1023836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4581956" y="2614832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2711007" y="3717869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3.3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III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2859723" y="4648200"/>
            <a:ext cx="2319866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A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B, C, D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06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dirty="0" smtClean="0"/>
              <a:t>Uniform cost 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pSp>
        <p:nvGrpSpPr>
          <p:cNvPr id="3" name="Group 13"/>
          <p:cNvGrpSpPr/>
          <p:nvPr/>
        </p:nvGrpSpPr>
        <p:grpSpPr>
          <a:xfrm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15" name="Oval 14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D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9" name="Straight Arrow Connector 18"/>
          <p:cNvCxnSpPr>
            <a:stCxn id="4" idx="6"/>
            <a:endCxn id="9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5"/>
            <a:endCxn id="12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4"/>
            <a:endCxn id="15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0" y="2600337"/>
            <a:ext cx="183095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ost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-so-far: 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onnection: none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500256" y="1507299"/>
            <a:ext cx="1433406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27" name="TextBox 26"/>
          <p:cNvSpPr txBox="1"/>
          <p:nvPr/>
        </p:nvSpPr>
        <p:spPr bwMode="auto">
          <a:xfrm>
            <a:off x="2549636" y="2508206"/>
            <a:ext cx="149111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1.6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59350" y="3498806"/>
            <a:ext cx="154882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3.3</a:t>
            </a:r>
          </a:p>
        </p:txBody>
      </p:sp>
      <p:sp>
        <p:nvSpPr>
          <p:cNvPr id="30" name="TextBox 29"/>
          <p:cNvSpPr txBox="1"/>
          <p:nvPr/>
        </p:nvSpPr>
        <p:spPr bwMode="auto">
          <a:xfrm>
            <a:off x="4355506" y="3157769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192360" y="4840271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3.3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III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3581400" y="5191137"/>
            <a:ext cx="2659702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A,B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C, D, E, F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pSp>
        <p:nvGrpSpPr>
          <p:cNvPr id="5" name="Group 32"/>
          <p:cNvGrpSpPr/>
          <p:nvPr/>
        </p:nvGrpSpPr>
        <p:grpSpPr>
          <a:xfrm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34" name="Oval 3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 bwMode="auto"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E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" name="Group 35"/>
          <p:cNvGrpSpPr/>
          <p:nvPr/>
        </p:nvGrpSpPr>
        <p:grpSpPr>
          <a:xfrm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37" name="Oval 3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 bwMode="auto"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F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Arrow Connector 6"/>
          <p:cNvCxnSpPr>
            <a:stCxn id="9" idx="6"/>
            <a:endCxn id="34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6"/>
            <a:endCxn id="37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 bwMode="auto">
          <a:xfrm>
            <a:off x="4775070" y="888164"/>
            <a:ext cx="156485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40" name="TextBox 39"/>
          <p:cNvSpPr txBox="1"/>
          <p:nvPr/>
        </p:nvSpPr>
        <p:spPr bwMode="auto">
          <a:xfrm>
            <a:off x="7315200" y="968922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2.6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3066710" y="805568"/>
            <a:ext cx="1617751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4639160" y="2243713"/>
            <a:ext cx="150714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1.9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7267902" y="2099071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3.2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80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dirty="0" smtClean="0"/>
              <a:t>Uniform cost 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pSp>
        <p:nvGrpSpPr>
          <p:cNvPr id="3" name="Group 13"/>
          <p:cNvGrpSpPr/>
          <p:nvPr/>
        </p:nvGrpSpPr>
        <p:grpSpPr>
          <a:xfrm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15" name="Oval 14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D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9" name="Straight Arrow Connector 18"/>
          <p:cNvCxnSpPr>
            <a:stCxn id="4" idx="6"/>
            <a:endCxn id="9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5"/>
            <a:endCxn id="12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4"/>
            <a:endCxn id="15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0" y="2600337"/>
            <a:ext cx="183095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ost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-so-far: 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onnection: none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500256" y="1507299"/>
            <a:ext cx="1433406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27" name="TextBox 26"/>
          <p:cNvSpPr txBox="1"/>
          <p:nvPr/>
        </p:nvSpPr>
        <p:spPr bwMode="auto">
          <a:xfrm>
            <a:off x="2549636" y="2508206"/>
            <a:ext cx="149111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1.6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59350" y="3498806"/>
            <a:ext cx="154882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3.3</a:t>
            </a:r>
          </a:p>
        </p:txBody>
      </p:sp>
      <p:sp>
        <p:nvSpPr>
          <p:cNvPr id="30" name="TextBox 29"/>
          <p:cNvSpPr txBox="1"/>
          <p:nvPr/>
        </p:nvSpPr>
        <p:spPr bwMode="auto">
          <a:xfrm>
            <a:off x="4355506" y="3157769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184088" y="4962537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</a:rPr>
              <a:t> 2.9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FF0000"/>
                </a:solidFill>
                <a:latin typeface="Calibri" pitchFamily="34" charset="0"/>
              </a:rPr>
              <a:t>Connection: VI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3581400" y="5191137"/>
            <a:ext cx="2521844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A, B, C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D, E, F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pSp>
        <p:nvGrpSpPr>
          <p:cNvPr id="5" name="Group 32"/>
          <p:cNvGrpSpPr/>
          <p:nvPr/>
        </p:nvGrpSpPr>
        <p:grpSpPr>
          <a:xfrm>
            <a:off x="6476873" y="968922"/>
            <a:ext cx="762000" cy="762000"/>
            <a:chOff x="1259114" y="1219200"/>
            <a:chExt cx="762000" cy="762000"/>
          </a:xfrm>
        </p:grpSpPr>
        <p:sp>
          <p:nvSpPr>
            <p:cNvPr id="34" name="Oval 33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 bwMode="auto">
            <a:xfrm>
              <a:off x="1458814" y="1369367"/>
              <a:ext cx="3353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E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" name="Group 35"/>
          <p:cNvGrpSpPr/>
          <p:nvPr/>
        </p:nvGrpSpPr>
        <p:grpSpPr>
          <a:xfrm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37" name="Oval 3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 bwMode="auto"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F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Arrow Connector 6"/>
          <p:cNvCxnSpPr>
            <a:stCxn id="9" idx="6"/>
            <a:endCxn id="34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6"/>
            <a:endCxn id="37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 bwMode="auto">
          <a:xfrm>
            <a:off x="4775070" y="888164"/>
            <a:ext cx="156485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40" name="TextBox 39"/>
          <p:cNvSpPr txBox="1"/>
          <p:nvPr/>
        </p:nvSpPr>
        <p:spPr bwMode="auto">
          <a:xfrm>
            <a:off x="7315200" y="968922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2.6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3066710" y="805568"/>
            <a:ext cx="1617751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4639160" y="2243713"/>
            <a:ext cx="150714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1.9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7267902" y="2099071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3.2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cxnSp>
        <p:nvCxnSpPr>
          <p:cNvPr id="44" name="Straight Arrow Connector 43"/>
          <p:cNvCxnSpPr>
            <a:stCxn id="12" idx="3"/>
            <a:endCxn id="15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 bwMode="auto">
          <a:xfrm>
            <a:off x="2895600" y="4175069"/>
            <a:ext cx="156485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</p:spTree>
    <p:extLst>
      <p:ext uri="{BB962C8B-B14F-4D97-AF65-F5344CB8AC3E}">
        <p14:creationId xmlns:p14="http://schemas.microsoft.com/office/powerpoint/2010/main" val="333913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r>
              <a:rPr lang="en-US" dirty="0" smtClean="0"/>
              <a:t>Uniform cost 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pSp>
        <p:nvGrpSpPr>
          <p:cNvPr id="3" name="Group 13"/>
          <p:cNvGrpSpPr/>
          <p:nvPr/>
        </p:nvGrpSpPr>
        <p:grpSpPr>
          <a:xfrm>
            <a:off x="1722557" y="4200537"/>
            <a:ext cx="762000" cy="762000"/>
            <a:chOff x="1259114" y="1219200"/>
            <a:chExt cx="762000" cy="762000"/>
          </a:xfrm>
        </p:grpSpPr>
        <p:sp>
          <p:nvSpPr>
            <p:cNvPr id="15" name="Oval 14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1458814" y="1369367"/>
              <a:ext cx="37382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D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9" name="Straight Arrow Connector 18"/>
          <p:cNvCxnSpPr>
            <a:stCxn id="4" idx="6"/>
            <a:endCxn id="9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5"/>
            <a:endCxn id="12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4"/>
            <a:endCxn id="15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0" y="2600337"/>
            <a:ext cx="183095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ost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-so-far: 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onnection: none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500256" y="1507299"/>
            <a:ext cx="1433406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27" name="TextBox 26"/>
          <p:cNvSpPr txBox="1"/>
          <p:nvPr/>
        </p:nvSpPr>
        <p:spPr bwMode="auto">
          <a:xfrm>
            <a:off x="2549636" y="2508206"/>
            <a:ext cx="149111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1.6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59350" y="3498806"/>
            <a:ext cx="154882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3.3</a:t>
            </a:r>
          </a:p>
        </p:txBody>
      </p:sp>
      <p:sp>
        <p:nvSpPr>
          <p:cNvPr id="30" name="TextBox 29"/>
          <p:cNvSpPr txBox="1"/>
          <p:nvPr/>
        </p:nvSpPr>
        <p:spPr bwMode="auto">
          <a:xfrm>
            <a:off x="4355506" y="3157769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184088" y="4962537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 2.9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000000"/>
                </a:solidFill>
                <a:latin typeface="Calibri" pitchFamily="34" charset="0"/>
              </a:rPr>
              <a:t>Connection: VI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3581400" y="5191137"/>
            <a:ext cx="2755883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A, B, C, E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D, F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76873" y="968922"/>
            <a:ext cx="762000" cy="762000"/>
          </a:xfrm>
          <a:prstGeom prst="ellipse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 bwMode="auto">
          <a:xfrm>
            <a:off x="6676573" y="1119089"/>
            <a:ext cx="335348" cy="461665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E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pSp>
        <p:nvGrpSpPr>
          <p:cNvPr id="5" name="Group 35"/>
          <p:cNvGrpSpPr/>
          <p:nvPr/>
        </p:nvGrpSpPr>
        <p:grpSpPr>
          <a:xfrm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37" name="Oval 3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 bwMode="auto"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F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Arrow Connector 6"/>
          <p:cNvCxnSpPr>
            <a:stCxn id="9" idx="6"/>
            <a:endCxn id="34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6"/>
            <a:endCxn id="37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 bwMode="auto">
          <a:xfrm>
            <a:off x="4775070" y="888164"/>
            <a:ext cx="156485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40" name="TextBox 39"/>
          <p:cNvSpPr txBox="1"/>
          <p:nvPr/>
        </p:nvSpPr>
        <p:spPr bwMode="auto">
          <a:xfrm>
            <a:off x="7315200" y="968922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2.6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3066710" y="805568"/>
            <a:ext cx="1617751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4639160" y="2243713"/>
            <a:ext cx="150714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1.9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7267902" y="2099071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3.2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cxnSp>
        <p:nvCxnSpPr>
          <p:cNvPr id="44" name="Straight Arrow Connector 43"/>
          <p:cNvCxnSpPr>
            <a:stCxn id="12" idx="3"/>
            <a:endCxn id="15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 bwMode="auto">
          <a:xfrm>
            <a:off x="2895600" y="4175069"/>
            <a:ext cx="156485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</p:spTree>
    <p:extLst>
      <p:ext uri="{BB962C8B-B14F-4D97-AF65-F5344CB8AC3E}">
        <p14:creationId xmlns:p14="http://schemas.microsoft.com/office/powerpoint/2010/main" val="116013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Uniform cost 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722557" y="4200537"/>
            <a:ext cx="762000" cy="762000"/>
          </a:xfrm>
          <a:prstGeom prst="ellipse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 bwMode="auto">
          <a:xfrm>
            <a:off x="1922257" y="4350704"/>
            <a:ext cx="3738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D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19" name="Straight Arrow Connector 18"/>
          <p:cNvCxnSpPr>
            <a:stCxn id="4" idx="6"/>
            <a:endCxn id="9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5"/>
            <a:endCxn id="12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4"/>
            <a:endCxn id="15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0" y="2600337"/>
            <a:ext cx="183095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ost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-so-far: 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onnection: none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500256" y="1507299"/>
            <a:ext cx="1433406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27" name="TextBox 26"/>
          <p:cNvSpPr txBox="1"/>
          <p:nvPr/>
        </p:nvSpPr>
        <p:spPr bwMode="auto">
          <a:xfrm>
            <a:off x="2549636" y="2508206"/>
            <a:ext cx="149111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1.6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59350" y="3498806"/>
            <a:ext cx="154882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3.3</a:t>
            </a:r>
          </a:p>
        </p:txBody>
      </p:sp>
      <p:sp>
        <p:nvSpPr>
          <p:cNvPr id="30" name="TextBox 29"/>
          <p:cNvSpPr txBox="1"/>
          <p:nvPr/>
        </p:nvSpPr>
        <p:spPr bwMode="auto">
          <a:xfrm>
            <a:off x="4355506" y="3157769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184088" y="4962537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 2.9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000000"/>
                </a:solidFill>
                <a:latin typeface="Calibri" pitchFamily="34" charset="0"/>
              </a:rPr>
              <a:t>Connection: VI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3581400" y="5191137"/>
            <a:ext cx="3090911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A, B, C, E, D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F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76873" y="968922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 bwMode="auto">
          <a:xfrm>
            <a:off x="6676573" y="1119089"/>
            <a:ext cx="335348" cy="461665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E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grpSp>
        <p:nvGrpSpPr>
          <p:cNvPr id="3" name="Group 35"/>
          <p:cNvGrpSpPr/>
          <p:nvPr/>
        </p:nvGrpSpPr>
        <p:grpSpPr>
          <a:xfrm>
            <a:off x="6469659" y="2070322"/>
            <a:ext cx="762000" cy="762000"/>
            <a:chOff x="1259114" y="1219200"/>
            <a:chExt cx="762000" cy="762000"/>
          </a:xfrm>
        </p:grpSpPr>
        <p:sp>
          <p:nvSpPr>
            <p:cNvPr id="37" name="Oval 36"/>
            <p:cNvSpPr/>
            <p:nvPr/>
          </p:nvSpPr>
          <p:spPr>
            <a:xfrm>
              <a:off x="1259114" y="1219200"/>
              <a:ext cx="762000" cy="7620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 bwMode="auto">
            <a:xfrm>
              <a:off x="1458814" y="1369367"/>
              <a:ext cx="3257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FF33"/>
                </a:buClr>
                <a:buSzTx/>
                <a:buFont typeface="Wingdings" pitchFamily="2" charset="2"/>
                <a:buNone/>
                <a:tabLst/>
              </a:pPr>
              <a:r>
                <a:rPr lang="en-US" sz="2400" kern="0" dirty="0">
                  <a:solidFill>
                    <a:srgbClr val="161A1C"/>
                  </a:solidFill>
                  <a:latin typeface="Calibri" pitchFamily="34" charset="0"/>
                </a:rPr>
                <a:t>F</a:t>
              </a:r>
              <a:endPara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7" name="Straight Arrow Connector 6"/>
          <p:cNvCxnSpPr>
            <a:stCxn id="9" idx="6"/>
            <a:endCxn id="34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6"/>
            <a:endCxn id="37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 bwMode="auto">
          <a:xfrm>
            <a:off x="4775070" y="888164"/>
            <a:ext cx="156485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40" name="TextBox 39"/>
          <p:cNvSpPr txBox="1"/>
          <p:nvPr/>
        </p:nvSpPr>
        <p:spPr bwMode="auto">
          <a:xfrm>
            <a:off x="7315200" y="968922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2.6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3066710" y="805568"/>
            <a:ext cx="1617751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4639160" y="2243713"/>
            <a:ext cx="150714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1.9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7267902" y="2099071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3.2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cxnSp>
        <p:nvCxnSpPr>
          <p:cNvPr id="44" name="Straight Arrow Connector 43"/>
          <p:cNvCxnSpPr>
            <a:stCxn id="12" idx="3"/>
            <a:endCxn id="15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 bwMode="auto">
          <a:xfrm>
            <a:off x="2895600" y="4175069"/>
            <a:ext cx="156485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</p:spTree>
    <p:extLst>
      <p:ext uri="{BB962C8B-B14F-4D97-AF65-F5344CB8AC3E}">
        <p14:creationId xmlns:p14="http://schemas.microsoft.com/office/powerpoint/2010/main" val="108736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dirty="0" smtClean="0"/>
              <a:t>Uniform cost 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9" name="Oval 8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 bwMode="auto">
          <a:xfrm>
            <a:off x="4164250" y="1688728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593506" y="3133737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793206" y="3283904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722557" y="4200537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 bwMode="auto">
          <a:xfrm>
            <a:off x="1922257" y="4350704"/>
            <a:ext cx="3738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D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19" name="Straight Arrow Connector 18"/>
          <p:cNvCxnSpPr>
            <a:stCxn id="4" idx="6"/>
            <a:endCxn id="9" idx="2"/>
          </p:cNvCxnSpPr>
          <p:nvPr/>
        </p:nvCxnSpPr>
        <p:spPr>
          <a:xfrm flipV="1">
            <a:off x="2103557" y="1919561"/>
            <a:ext cx="1860993" cy="611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5"/>
            <a:endCxn id="12" idx="2"/>
          </p:cNvCxnSpPr>
          <p:nvPr/>
        </p:nvCxnSpPr>
        <p:spPr>
          <a:xfrm>
            <a:off x="1991965" y="2800802"/>
            <a:ext cx="1601541" cy="71393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" idx="4"/>
            <a:endCxn id="15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0" y="2600337"/>
            <a:ext cx="183095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kumimoji="0" 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ost</a:t>
            </a:r>
            <a:r>
              <a:rPr kumimoji="0" 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-so-far: 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onnection: none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500256" y="1507299"/>
            <a:ext cx="1433406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27" name="TextBox 26"/>
          <p:cNvSpPr txBox="1"/>
          <p:nvPr/>
        </p:nvSpPr>
        <p:spPr bwMode="auto">
          <a:xfrm>
            <a:off x="2549636" y="2508206"/>
            <a:ext cx="149111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1.6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59350" y="3498806"/>
            <a:ext cx="154882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3.3</a:t>
            </a:r>
          </a:p>
        </p:txBody>
      </p:sp>
      <p:sp>
        <p:nvSpPr>
          <p:cNvPr id="30" name="TextBox 29"/>
          <p:cNvSpPr txBox="1"/>
          <p:nvPr/>
        </p:nvSpPr>
        <p:spPr bwMode="auto">
          <a:xfrm>
            <a:off x="4355506" y="3157769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1" name="TextBox 30"/>
          <p:cNvSpPr txBox="1"/>
          <p:nvPr/>
        </p:nvSpPr>
        <p:spPr bwMode="auto">
          <a:xfrm>
            <a:off x="184088" y="4962537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</a:rPr>
              <a:t> 2.9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000000"/>
                </a:solidFill>
                <a:latin typeface="Calibri" pitchFamily="34" charset="0"/>
              </a:rPr>
              <a:t>Connection: VI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1600200" y="5495937"/>
            <a:ext cx="3090911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Closed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List: A, B, C, E, D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baseline="0" dirty="0" smtClean="0">
                <a:solidFill>
                  <a:srgbClr val="161A1C"/>
                </a:solidFill>
                <a:latin typeface="Calibri" pitchFamily="34" charset="0"/>
              </a:rPr>
              <a:t>Open</a:t>
            </a:r>
            <a:r>
              <a:rPr lang="en-US" sz="2400" kern="0" dirty="0" smtClean="0">
                <a:solidFill>
                  <a:srgbClr val="161A1C"/>
                </a:solidFill>
                <a:latin typeface="Calibri" pitchFamily="34" charset="0"/>
              </a:rPr>
              <a:t> List: 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76873" y="968922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 bwMode="auto">
          <a:xfrm>
            <a:off x="6676573" y="1119089"/>
            <a:ext cx="335348" cy="461665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E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469659" y="2070322"/>
            <a:ext cx="762000" cy="762000"/>
          </a:xfrm>
          <a:prstGeom prst="ellipse">
            <a:avLst/>
          </a:prstGeom>
          <a:noFill/>
          <a:ln w="635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6669359" y="2220489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F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>
            <a:stCxn id="9" idx="6"/>
            <a:endCxn id="34" idx="2"/>
          </p:cNvCxnSpPr>
          <p:nvPr/>
        </p:nvCxnSpPr>
        <p:spPr>
          <a:xfrm flipV="1">
            <a:off x="4726550" y="1349922"/>
            <a:ext cx="1750323" cy="56963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6"/>
            <a:endCxn id="37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 bwMode="auto">
          <a:xfrm>
            <a:off x="4775070" y="888164"/>
            <a:ext cx="156485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40" name="TextBox 39"/>
          <p:cNvSpPr txBox="1"/>
          <p:nvPr/>
        </p:nvSpPr>
        <p:spPr bwMode="auto">
          <a:xfrm>
            <a:off x="7315200" y="968922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2.6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IV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3066710" y="805568"/>
            <a:ext cx="1617751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1.3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I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4639160" y="2243713"/>
            <a:ext cx="1507144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1.9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7267902" y="2099071"/>
            <a:ext cx="163859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3.2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V</a:t>
            </a:r>
            <a:endParaRPr kumimoji="0" lang="en-US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cxnSp>
        <p:nvCxnSpPr>
          <p:cNvPr id="44" name="Straight Arrow Connector 43"/>
          <p:cNvCxnSpPr>
            <a:stCxn id="12" idx="3"/>
            <a:endCxn id="15" idx="6"/>
          </p:cNvCxnSpPr>
          <p:nvPr/>
        </p:nvCxnSpPr>
        <p:spPr>
          <a:xfrm flipH="1">
            <a:off x="2484557" y="3784145"/>
            <a:ext cx="1220541" cy="797392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 bwMode="auto">
          <a:xfrm>
            <a:off x="2895600" y="4175069"/>
            <a:ext cx="1564852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1.3</a:t>
            </a:r>
          </a:p>
        </p:txBody>
      </p:sp>
      <p:sp>
        <p:nvSpPr>
          <p:cNvPr id="45" name="Oval 44"/>
          <p:cNvSpPr/>
          <p:nvPr/>
        </p:nvSpPr>
        <p:spPr>
          <a:xfrm>
            <a:off x="6458856" y="3899459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 bwMode="auto">
          <a:xfrm>
            <a:off x="6676573" y="4049626"/>
            <a:ext cx="378630" cy="461665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G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5" name="Straight Arrow Connector 4"/>
          <p:cNvCxnSpPr>
            <a:stCxn id="37" idx="4"/>
            <a:endCxn id="45" idx="0"/>
          </p:cNvCxnSpPr>
          <p:nvPr/>
        </p:nvCxnSpPr>
        <p:spPr>
          <a:xfrm flipH="1">
            <a:off x="6839856" y="2832322"/>
            <a:ext cx="10803" cy="106713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 bwMode="auto">
          <a:xfrm>
            <a:off x="7056423" y="3017100"/>
            <a:ext cx="1622560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Connection: VII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Cost: 1.4</a:t>
            </a:r>
          </a:p>
        </p:txBody>
      </p:sp>
      <p:sp>
        <p:nvSpPr>
          <p:cNvPr id="49" name="TextBox 48"/>
          <p:cNvSpPr txBox="1"/>
          <p:nvPr/>
        </p:nvSpPr>
        <p:spPr bwMode="auto">
          <a:xfrm>
            <a:off x="7220856" y="3999838"/>
            <a:ext cx="1646605" cy="70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Cost-so-far:</a:t>
            </a:r>
            <a:r>
              <a:rPr kumimoji="0" lang="en-US" b="1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</a:rPr>
              <a:t> 4.6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b="1" kern="0" baseline="0" dirty="0" smtClean="0">
                <a:solidFill>
                  <a:srgbClr val="161A1C"/>
                </a:solidFill>
                <a:latin typeface="Calibri" pitchFamily="34" charset="0"/>
              </a:rPr>
              <a:t>Connection: VII</a:t>
            </a:r>
            <a:endParaRPr kumimoji="0" lang="en-US" b="1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50" name="TextBox 49"/>
          <p:cNvSpPr txBox="1"/>
          <p:nvPr/>
        </p:nvSpPr>
        <p:spPr bwMode="auto">
          <a:xfrm>
            <a:off x="4800600" y="5495937"/>
            <a:ext cx="3698448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Connections from G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: VII, V, I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Path: I, V, VII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979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Heuristic search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ko-KR" altLang="en-US" sz="3000" dirty="0" smtClean="0"/>
              <a:t>기존 탐색 </a:t>
            </a:r>
            <a:r>
              <a:rPr lang="ko-KR" altLang="en-US" sz="3000" dirty="0" err="1" smtClean="0"/>
              <a:t>방법외에</a:t>
            </a:r>
            <a:r>
              <a:rPr lang="ko-KR" altLang="en-US" sz="3000" dirty="0" smtClean="0"/>
              <a:t> </a:t>
            </a:r>
            <a:r>
              <a:rPr lang="ko-KR" altLang="en-US" sz="3000" dirty="0" err="1" smtClean="0"/>
              <a:t>휴리스틱</a:t>
            </a:r>
            <a:r>
              <a:rPr lang="ko-KR" altLang="en-US" sz="3000" dirty="0" smtClean="0"/>
              <a:t> 탐색 방법이 존재</a:t>
            </a:r>
            <a:endParaRPr lang="en-US" sz="3000" i="1" dirty="0"/>
          </a:p>
          <a:p>
            <a:pPr>
              <a:lnSpc>
                <a:spcPct val="80000"/>
              </a:lnSpc>
            </a:pPr>
            <a:r>
              <a:rPr lang="ko-KR" altLang="en-US" sz="3000" b="1" i="1" dirty="0" err="1">
                <a:solidFill>
                  <a:srgbClr val="000000"/>
                </a:solidFill>
              </a:rPr>
              <a:t>휴리스틱</a:t>
            </a:r>
            <a:r>
              <a:rPr lang="ko-KR" altLang="en-US" sz="3000" b="1" i="1" dirty="0">
                <a:solidFill>
                  <a:srgbClr val="000000"/>
                </a:solidFill>
              </a:rPr>
              <a:t> 함수는 </a:t>
            </a:r>
            <a:r>
              <a:rPr lang="ko-KR" altLang="en-US" sz="3000" b="1" i="1" dirty="0" smtClean="0">
                <a:solidFill>
                  <a:srgbClr val="000000"/>
                </a:solidFill>
              </a:rPr>
              <a:t>주어진 상태를 </a:t>
            </a:r>
            <a:r>
              <a:rPr lang="ko-KR" altLang="en-US" sz="3000" b="1" i="1" dirty="0">
                <a:solidFill>
                  <a:srgbClr val="000000"/>
                </a:solidFill>
              </a:rPr>
              <a:t>해당 상태의 목표에 대한 비용 </a:t>
            </a:r>
            <a:r>
              <a:rPr lang="ko-KR" altLang="en-US" sz="3000" b="1" i="1" dirty="0" smtClean="0">
                <a:solidFill>
                  <a:srgbClr val="000000"/>
                </a:solidFill>
              </a:rPr>
              <a:t>추정치로 매핑</a:t>
            </a:r>
            <a:endParaRPr lang="en-US" altLang="ko-KR" sz="3000" b="1" i="1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50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first “greedy” search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59632"/>
            <a:ext cx="8686800" cy="519370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 dirty="0">
                <a:latin typeface="Courier New" pitchFamily="49" charset="0"/>
              </a:rPr>
              <a:t>insert-</a:t>
            </a:r>
            <a:r>
              <a:rPr lang="en-US" sz="2400" b="1" dirty="0" err="1">
                <a:latin typeface="Courier New" pitchFamily="49" charset="0"/>
              </a:rPr>
              <a:t>PriQueue</a:t>
            </a:r>
            <a:r>
              <a:rPr lang="en-US" sz="2400" b="1" dirty="0">
                <a:latin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</a:rPr>
              <a:t>PQ,START,h</a:t>
            </a:r>
            <a:r>
              <a:rPr lang="en-US" sz="2400" b="1" dirty="0">
                <a:latin typeface="Courier New" pitchFamily="49" charset="0"/>
              </a:rPr>
              <a:t>(START))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while (PQ is not empty and PQ does not contain a goal state)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(s , h ) := pop-least(PQ)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foreach</a:t>
            </a:r>
            <a:r>
              <a:rPr lang="en-US" sz="1800" dirty="0">
                <a:latin typeface="Courier New" pitchFamily="49" charset="0"/>
              </a:rPr>
              <a:t> s’ in </a:t>
            </a:r>
            <a:r>
              <a:rPr lang="en-US" sz="1800" dirty="0" err="1">
                <a:latin typeface="Courier New" pitchFamily="49" charset="0"/>
              </a:rPr>
              <a:t>succs</a:t>
            </a:r>
            <a:r>
              <a:rPr lang="en-US" sz="1800" dirty="0">
                <a:latin typeface="Courier New" pitchFamily="49" charset="0"/>
              </a:rPr>
              <a:t>(s)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	if s’ is not already in PQ and s’ never previously 	been visited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1800" dirty="0">
                <a:latin typeface="Courier New" pitchFamily="49" charset="0"/>
              </a:rPr>
              <a:t>			insert-</a:t>
            </a:r>
            <a:r>
              <a:rPr lang="en-US" sz="1800" dirty="0" err="1">
                <a:latin typeface="Courier New" pitchFamily="49" charset="0"/>
              </a:rPr>
              <a:t>PriQueue</a:t>
            </a:r>
            <a:r>
              <a:rPr lang="en-US" sz="1800" dirty="0">
                <a:latin typeface="Courier New" pitchFamily="49" charset="0"/>
              </a:rPr>
              <a:t>(PQ, </a:t>
            </a:r>
            <a:r>
              <a:rPr lang="en-US" sz="1800" dirty="0" err="1">
                <a:latin typeface="Courier New" pitchFamily="49" charset="0"/>
              </a:rPr>
              <a:t>s’,h</a:t>
            </a:r>
            <a:r>
              <a:rPr lang="en-US" sz="1800" dirty="0">
                <a:latin typeface="Courier New" pitchFamily="49" charset="0"/>
              </a:rPr>
              <a:t>(s’))</a:t>
            </a:r>
          </a:p>
          <a:p>
            <a:pPr>
              <a:lnSpc>
                <a:spcPct val="90000"/>
              </a:lnSpc>
            </a:pPr>
            <a:endParaRPr lang="en-US" sz="1800" dirty="0" smtClean="0">
              <a:latin typeface="Courier New" pitchFamily="49" charset="0"/>
            </a:endParaRPr>
          </a:p>
          <a:p>
            <a:pPr>
              <a:lnSpc>
                <a:spcPct val="90000"/>
              </a:lnSpc>
            </a:pPr>
            <a:endParaRPr lang="en-US" sz="1800" dirty="0">
              <a:latin typeface="Courier New" pitchFamily="49" charset="0"/>
            </a:endParaRPr>
          </a:p>
          <a:p>
            <a:pPr>
              <a:lnSpc>
                <a:spcPct val="90000"/>
              </a:lnSpc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/>
              <a:t>Greedy ignores the actual costs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smtClean="0"/>
              <a:t>An </a:t>
            </a:r>
            <a:r>
              <a:rPr lang="en-US" dirty="0"/>
              <a:t>improvement to this algorithm becomes A*!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95536" y="3856483"/>
            <a:ext cx="7920880" cy="4124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1">
              <a:lnSpc>
                <a:spcPct val="80000"/>
              </a:lnSpc>
            </a:pPr>
            <a:r>
              <a:rPr lang="en-US" altLang="ko-KR" sz="2600" dirty="0" smtClean="0"/>
              <a:t>h(s) : </a:t>
            </a:r>
            <a:r>
              <a:rPr lang="ko-KR" altLang="en-US" sz="2600" dirty="0" smtClean="0"/>
              <a:t>상태</a:t>
            </a:r>
            <a:r>
              <a:rPr lang="en-US" altLang="ko-KR" sz="2600" dirty="0" smtClean="0"/>
              <a:t> s</a:t>
            </a:r>
            <a:r>
              <a:rPr lang="ko-KR" altLang="en-US" sz="2600" dirty="0" smtClean="0"/>
              <a:t>의 </a:t>
            </a:r>
            <a:r>
              <a:rPr lang="ko-KR" altLang="en-US" sz="2600" dirty="0" err="1" smtClean="0"/>
              <a:t>휴리스틱</a:t>
            </a:r>
            <a:r>
              <a:rPr lang="ko-KR" altLang="en-US" sz="2600" dirty="0" smtClean="0"/>
              <a:t> 값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8574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</a:t>
            </a:r>
          </a:p>
        </p:txBody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Uniform-cost (</a:t>
            </a:r>
            <a:r>
              <a:rPr lang="en-US" sz="2800" dirty="0" err="1" smtClean="0"/>
              <a:t>Dijkstra</a:t>
            </a:r>
            <a:r>
              <a:rPr lang="en-US" sz="2800" dirty="0" smtClean="0"/>
              <a:t>): </a:t>
            </a:r>
            <a:r>
              <a:rPr lang="ko-KR" altLang="en-US" sz="2800" dirty="0" smtClean="0"/>
              <a:t>노드 </a:t>
            </a:r>
            <a:r>
              <a:rPr lang="en-US" altLang="ko-KR" sz="2800" dirty="0" smtClean="0"/>
              <a:t>n </a:t>
            </a:r>
            <a:r>
              <a:rPr lang="ko-KR" altLang="en-US" sz="2800" dirty="0" smtClean="0"/>
              <a:t>확장 시</a:t>
            </a:r>
            <a:r>
              <a:rPr lang="en-US" altLang="ko-KR" sz="2800" dirty="0" smtClean="0"/>
              <a:t>, </a:t>
            </a:r>
            <a:r>
              <a:rPr lang="ko-KR" altLang="en-US" sz="2800" dirty="0" smtClean="0"/>
              <a:t>각 </a:t>
            </a:r>
            <a:r>
              <a:rPr lang="en-US" altLang="ko-KR" sz="2800" dirty="0" smtClean="0"/>
              <a:t>successor </a:t>
            </a:r>
            <a:r>
              <a:rPr lang="en-US" altLang="ko-KR" sz="2800" dirty="0"/>
              <a:t>n’ </a:t>
            </a:r>
            <a:r>
              <a:rPr lang="ko-KR" altLang="en-US" sz="2800" dirty="0" smtClean="0"/>
              <a:t>을 취해 우선순위 큐에 집어 넣음</a:t>
            </a:r>
            <a:r>
              <a:rPr lang="en-US" altLang="ko-KR" sz="2800" dirty="0" smtClean="0"/>
              <a:t>. </a:t>
            </a:r>
            <a:r>
              <a:rPr lang="ko-KR" altLang="en-US" sz="2800" dirty="0" smtClean="0"/>
              <a:t>이 때 우선순위는 </a:t>
            </a:r>
            <a:r>
              <a:rPr lang="en-US" altLang="ko-KR" sz="2800" dirty="0" smtClean="0"/>
              <a:t>g(n’), </a:t>
            </a:r>
            <a:r>
              <a:rPr lang="ko-KR" altLang="en-US" sz="2800" dirty="0" smtClean="0"/>
              <a:t>즉 </a:t>
            </a:r>
            <a:r>
              <a:rPr lang="en-US" altLang="ko-KR" sz="2800" dirty="0" smtClean="0"/>
              <a:t>n’</a:t>
            </a:r>
            <a:r>
              <a:rPr lang="ko-KR" altLang="en-US" sz="2800" dirty="0" smtClean="0"/>
              <a:t>에 도착하는데 걸리는 비용으로</a:t>
            </a:r>
            <a:endParaRPr lang="en-US" sz="2800" dirty="0"/>
          </a:p>
          <a:p>
            <a:r>
              <a:rPr lang="en-US" sz="2800" dirty="0" smtClean="0"/>
              <a:t>Best-first greedy: </a:t>
            </a:r>
            <a:r>
              <a:rPr lang="ko-KR" altLang="en-US" sz="2800" dirty="0"/>
              <a:t>노드 </a:t>
            </a:r>
            <a:r>
              <a:rPr lang="en-US" altLang="ko-KR" sz="2800" dirty="0"/>
              <a:t>n </a:t>
            </a:r>
            <a:r>
              <a:rPr lang="ko-KR" altLang="en-US" sz="2800" dirty="0"/>
              <a:t>확장 시</a:t>
            </a:r>
            <a:r>
              <a:rPr lang="en-US" altLang="ko-KR" sz="2800" dirty="0"/>
              <a:t>, </a:t>
            </a:r>
            <a:r>
              <a:rPr lang="ko-KR" altLang="en-US" sz="2800" dirty="0"/>
              <a:t>각 </a:t>
            </a:r>
            <a:r>
              <a:rPr lang="en-US" altLang="ko-KR" sz="2800" dirty="0"/>
              <a:t>successor n’ </a:t>
            </a:r>
            <a:r>
              <a:rPr lang="ko-KR" altLang="en-US" sz="2800" dirty="0"/>
              <a:t>을 취해 우선순위 큐에 집어 넣음</a:t>
            </a:r>
            <a:r>
              <a:rPr lang="en-US" altLang="ko-KR" sz="2800" dirty="0"/>
              <a:t>. </a:t>
            </a:r>
            <a:r>
              <a:rPr lang="ko-KR" altLang="en-US" sz="2800" dirty="0"/>
              <a:t>이 때 우선순위는 </a:t>
            </a:r>
            <a:r>
              <a:rPr lang="en-US" altLang="ko-KR" sz="2800" dirty="0" smtClean="0"/>
              <a:t>h(n</a:t>
            </a:r>
            <a:r>
              <a:rPr lang="en-US" altLang="ko-KR" sz="2800" dirty="0"/>
              <a:t>’), </a:t>
            </a:r>
            <a:r>
              <a:rPr lang="ko-KR" altLang="en-US" sz="2800" dirty="0"/>
              <a:t>즉 </a:t>
            </a:r>
            <a:r>
              <a:rPr lang="en-US" altLang="ko-KR" sz="2800" dirty="0"/>
              <a:t>n’</a:t>
            </a:r>
            <a:r>
              <a:rPr lang="ko-KR" altLang="en-US" sz="2800" dirty="0" smtClean="0"/>
              <a:t>에</a:t>
            </a:r>
            <a:r>
              <a:rPr lang="ko-KR" altLang="en-US" sz="2800" dirty="0"/>
              <a:t>서</a:t>
            </a:r>
            <a:r>
              <a:rPr lang="ko-KR" altLang="en-US" sz="2800" dirty="0" smtClean="0"/>
              <a:t> 목표상태까지 </a:t>
            </a:r>
            <a:r>
              <a:rPr lang="ko-KR" altLang="en-US" sz="2800" dirty="0"/>
              <a:t>걸리는 </a:t>
            </a:r>
            <a:r>
              <a:rPr lang="ko-KR" altLang="en-US" sz="2800" dirty="0" smtClean="0"/>
              <a:t>비용으로</a:t>
            </a:r>
            <a:endParaRPr lang="en-US" sz="2800" dirty="0"/>
          </a:p>
          <a:p>
            <a:r>
              <a:rPr lang="en-US" sz="2800" dirty="0" smtClean="0"/>
              <a:t>A*: </a:t>
            </a:r>
            <a:r>
              <a:rPr lang="ko-KR" altLang="en-US" sz="2800" dirty="0"/>
              <a:t>노드 </a:t>
            </a:r>
            <a:r>
              <a:rPr lang="en-US" altLang="ko-KR" sz="2800" dirty="0"/>
              <a:t>n </a:t>
            </a:r>
            <a:r>
              <a:rPr lang="ko-KR" altLang="en-US" sz="2800" dirty="0"/>
              <a:t>확장 시</a:t>
            </a:r>
            <a:r>
              <a:rPr lang="en-US" altLang="ko-KR" sz="2800" dirty="0"/>
              <a:t>, </a:t>
            </a:r>
            <a:r>
              <a:rPr lang="ko-KR" altLang="en-US" sz="2800" dirty="0"/>
              <a:t>각 </a:t>
            </a:r>
            <a:r>
              <a:rPr lang="en-US" altLang="ko-KR" sz="2800" dirty="0"/>
              <a:t>successor n’ </a:t>
            </a:r>
            <a:r>
              <a:rPr lang="ko-KR" altLang="en-US" sz="2800" dirty="0"/>
              <a:t>을 취해 우선순위 큐에 집어 넣음</a:t>
            </a:r>
            <a:r>
              <a:rPr lang="en-US" altLang="ko-KR" sz="2800" dirty="0"/>
              <a:t>. </a:t>
            </a:r>
            <a:r>
              <a:rPr lang="ko-KR" altLang="en-US" sz="2800" dirty="0"/>
              <a:t>이 때 우선순위는 </a:t>
            </a:r>
            <a:r>
              <a:rPr lang="en-US" sz="2800" dirty="0" smtClean="0"/>
              <a:t>f(n’) = g(n’) + h(n’)</a:t>
            </a:r>
            <a:r>
              <a:rPr lang="ko-KR" altLang="en-US" sz="2800" dirty="0" smtClean="0"/>
              <a:t>으로</a:t>
            </a:r>
            <a:endParaRPr lang="en-US" sz="2800" dirty="0" smtClean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3881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should A* terminate?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4164250" y="1688728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S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4699075" y="4175952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 bwMode="auto">
          <a:xfrm>
            <a:off x="4898775" y="4326119"/>
            <a:ext cx="3738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D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722557" y="4200537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 bwMode="auto">
          <a:xfrm>
            <a:off x="1922257" y="4350704"/>
            <a:ext cx="3786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G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14" name="Straight Arrow Connector 13"/>
          <p:cNvCxnSpPr>
            <a:stCxn id="4" idx="4"/>
            <a:endCxn id="10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 bwMode="auto">
          <a:xfrm>
            <a:off x="2883210" y="1813922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6469659" y="2070322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 bwMode="auto">
          <a:xfrm>
            <a:off x="6669359" y="2220489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26" name="Straight Arrow Connector 25"/>
          <p:cNvCxnSpPr>
            <a:stCxn id="6" idx="6"/>
            <a:endCxn id="23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 bwMode="auto">
          <a:xfrm>
            <a:off x="4004751" y="1135121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8</a:t>
            </a:r>
          </a:p>
        </p:txBody>
      </p:sp>
      <p:cxnSp>
        <p:nvCxnSpPr>
          <p:cNvPr id="32" name="Straight Arrow Connector 31"/>
          <p:cNvCxnSpPr>
            <a:stCxn id="8" idx="2"/>
            <a:endCxn id="10" idx="6"/>
          </p:cNvCxnSpPr>
          <p:nvPr/>
        </p:nvCxnSpPr>
        <p:spPr>
          <a:xfrm flipH="1">
            <a:off x="2484557" y="4556952"/>
            <a:ext cx="2214518" cy="24585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458856" y="3899459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 bwMode="auto">
          <a:xfrm>
            <a:off x="6676573" y="4049626"/>
            <a:ext cx="348172" cy="461665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36" name="Straight Arrow Connector 35"/>
          <p:cNvCxnSpPr>
            <a:stCxn id="23" idx="4"/>
            <a:endCxn id="34" idx="0"/>
          </p:cNvCxnSpPr>
          <p:nvPr/>
        </p:nvCxnSpPr>
        <p:spPr>
          <a:xfrm flipH="1">
            <a:off x="6839856" y="2832322"/>
            <a:ext cx="10803" cy="106713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6" idx="2"/>
            <a:endCxn id="4" idx="6"/>
          </p:cNvCxnSpPr>
          <p:nvPr/>
        </p:nvCxnSpPr>
        <p:spPr>
          <a:xfrm flipH="1">
            <a:off x="2103557" y="1919561"/>
            <a:ext cx="1860993" cy="61183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4" idx="2"/>
            <a:endCxn id="8" idx="6"/>
          </p:cNvCxnSpPr>
          <p:nvPr/>
        </p:nvCxnSpPr>
        <p:spPr>
          <a:xfrm flipH="1">
            <a:off x="5461075" y="4280459"/>
            <a:ext cx="997781" cy="276493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 bwMode="auto">
          <a:xfrm>
            <a:off x="5461075" y="184353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2008172" y="2647656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7</a:t>
            </a:r>
          </a:p>
        </p:txBody>
      </p:sp>
      <p:sp>
        <p:nvSpPr>
          <p:cNvPr id="48" name="TextBox 47"/>
          <p:cNvSpPr txBox="1"/>
          <p:nvPr/>
        </p:nvSpPr>
        <p:spPr bwMode="auto">
          <a:xfrm>
            <a:off x="2341836" y="3956787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0</a:t>
            </a:r>
          </a:p>
        </p:txBody>
      </p:sp>
      <p:sp>
        <p:nvSpPr>
          <p:cNvPr id="49" name="TextBox 48"/>
          <p:cNvSpPr txBox="1"/>
          <p:nvPr/>
        </p:nvSpPr>
        <p:spPr bwMode="auto">
          <a:xfrm>
            <a:off x="3440973" y="414145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 bwMode="auto">
          <a:xfrm>
            <a:off x="6513791" y="318713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 bwMode="auto">
          <a:xfrm>
            <a:off x="7220856" y="1734895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3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274043" y="3831205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2</a:t>
            </a:r>
          </a:p>
        </p:txBody>
      </p:sp>
      <p:sp>
        <p:nvSpPr>
          <p:cNvPr id="53" name="TextBox 52"/>
          <p:cNvSpPr txBox="1"/>
          <p:nvPr/>
        </p:nvSpPr>
        <p:spPr bwMode="auto">
          <a:xfrm>
            <a:off x="5461075" y="4661459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1</a:t>
            </a: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2171" y="3527751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55" name="Rectangle 3"/>
          <p:cNvSpPr txBox="1">
            <a:spLocks noChangeArrowheads="1"/>
          </p:cNvSpPr>
          <p:nvPr/>
        </p:nvSpPr>
        <p:spPr bwMode="auto">
          <a:xfrm>
            <a:off x="248022" y="5410200"/>
            <a:ext cx="8229600" cy="619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Char char="§"/>
              <a:defRPr sz="3200">
                <a:solidFill>
                  <a:srgbClr val="3D4449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3E7FF"/>
              </a:buClr>
              <a:buFont typeface="Wingdings" pitchFamily="2" charset="2"/>
              <a:buChar char="§"/>
              <a:defRPr sz="2800">
                <a:solidFill>
                  <a:srgbClr val="3D4449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2400">
                <a:solidFill>
                  <a:srgbClr val="3D4449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2000">
                <a:solidFill>
                  <a:srgbClr val="3D4449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2000">
                <a:solidFill>
                  <a:srgbClr val="3D4449"/>
                </a:solidFill>
                <a:latin typeface="+mj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ko-KR" altLang="en-US" sz="2800" dirty="0"/>
              <a:t>목표 상태를 생성하자마자 </a:t>
            </a:r>
            <a:r>
              <a:rPr lang="ko-KR" altLang="en-US" sz="2800" dirty="0" smtClean="0"/>
              <a:t>종료해야하나</a:t>
            </a:r>
            <a:r>
              <a:rPr lang="en-US" altLang="ko-KR" sz="2800" dirty="0" smtClean="0"/>
              <a:t>?</a:t>
            </a:r>
            <a:endParaRPr lang="en-US" sz="2800" dirty="0" smtClean="0"/>
          </a:p>
          <a:p>
            <a:endParaRPr lang="en-US" sz="2800" dirty="0"/>
          </a:p>
        </p:txBody>
      </p:sp>
      <p:sp>
        <p:nvSpPr>
          <p:cNvPr id="56" name="TextBox 55"/>
          <p:cNvSpPr txBox="1"/>
          <p:nvPr/>
        </p:nvSpPr>
        <p:spPr bwMode="auto">
          <a:xfrm>
            <a:off x="5809122" y="3978132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392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Correct A* termination rule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341557" y="2150394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 bwMode="auto">
          <a:xfrm>
            <a:off x="1541257" y="2300561"/>
            <a:ext cx="362600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3964550" y="1538561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4164250" y="1688728"/>
            <a:ext cx="3257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S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4699075" y="4175952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 bwMode="auto">
          <a:xfrm>
            <a:off x="4898775" y="4326119"/>
            <a:ext cx="3738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D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722557" y="4200537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 bwMode="auto">
          <a:xfrm>
            <a:off x="1922257" y="4350704"/>
            <a:ext cx="3786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G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14" name="Straight Arrow Connector 13"/>
          <p:cNvCxnSpPr>
            <a:stCxn id="4" idx="4"/>
            <a:endCxn id="10" idx="0"/>
          </p:cNvCxnSpPr>
          <p:nvPr/>
        </p:nvCxnSpPr>
        <p:spPr>
          <a:xfrm>
            <a:off x="1722557" y="2912394"/>
            <a:ext cx="381000" cy="1288143"/>
          </a:xfrm>
          <a:prstGeom prst="straightConnector1">
            <a:avLst/>
          </a:prstGeom>
          <a:ln w="508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 bwMode="auto">
          <a:xfrm>
            <a:off x="2883210" y="1813922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6469659" y="2070322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 bwMode="auto">
          <a:xfrm>
            <a:off x="6669359" y="2220489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26" name="Straight Arrow Connector 25"/>
          <p:cNvCxnSpPr>
            <a:stCxn id="6" idx="6"/>
            <a:endCxn id="23" idx="2"/>
          </p:cNvCxnSpPr>
          <p:nvPr/>
        </p:nvCxnSpPr>
        <p:spPr>
          <a:xfrm>
            <a:off x="4726550" y="1919561"/>
            <a:ext cx="1743109" cy="5317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 bwMode="auto">
          <a:xfrm>
            <a:off x="4004751" y="1135121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8</a:t>
            </a:r>
          </a:p>
        </p:txBody>
      </p:sp>
      <p:cxnSp>
        <p:nvCxnSpPr>
          <p:cNvPr id="32" name="Straight Arrow Connector 31"/>
          <p:cNvCxnSpPr>
            <a:stCxn id="8" idx="2"/>
            <a:endCxn id="10" idx="6"/>
          </p:cNvCxnSpPr>
          <p:nvPr/>
        </p:nvCxnSpPr>
        <p:spPr>
          <a:xfrm flipH="1">
            <a:off x="2484557" y="4556952"/>
            <a:ext cx="2214518" cy="245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458856" y="3899459"/>
            <a:ext cx="762000" cy="762000"/>
          </a:xfrm>
          <a:prstGeom prst="ellipse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 bwMode="auto">
          <a:xfrm>
            <a:off x="6676573" y="4049626"/>
            <a:ext cx="348172" cy="461665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cxnSp>
        <p:nvCxnSpPr>
          <p:cNvPr id="36" name="Straight Arrow Connector 35"/>
          <p:cNvCxnSpPr>
            <a:stCxn id="23" idx="4"/>
            <a:endCxn id="34" idx="0"/>
          </p:cNvCxnSpPr>
          <p:nvPr/>
        </p:nvCxnSpPr>
        <p:spPr>
          <a:xfrm flipH="1">
            <a:off x="6839856" y="2832322"/>
            <a:ext cx="10803" cy="106713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6" idx="2"/>
            <a:endCxn id="4" idx="6"/>
          </p:cNvCxnSpPr>
          <p:nvPr/>
        </p:nvCxnSpPr>
        <p:spPr>
          <a:xfrm flipH="1">
            <a:off x="2103557" y="1919561"/>
            <a:ext cx="1860993" cy="611833"/>
          </a:xfrm>
          <a:prstGeom prst="straightConnector1">
            <a:avLst/>
          </a:prstGeom>
          <a:ln w="50800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4" idx="2"/>
            <a:endCxn id="8" idx="6"/>
          </p:cNvCxnSpPr>
          <p:nvPr/>
        </p:nvCxnSpPr>
        <p:spPr>
          <a:xfrm flipH="1">
            <a:off x="5461075" y="4280459"/>
            <a:ext cx="997781" cy="27649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 bwMode="auto">
          <a:xfrm>
            <a:off x="5461075" y="1843536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2008172" y="2647656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7</a:t>
            </a:r>
          </a:p>
        </p:txBody>
      </p:sp>
      <p:sp>
        <p:nvSpPr>
          <p:cNvPr id="48" name="TextBox 47"/>
          <p:cNvSpPr txBox="1"/>
          <p:nvPr/>
        </p:nvSpPr>
        <p:spPr bwMode="auto">
          <a:xfrm>
            <a:off x="2341836" y="3956787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0</a:t>
            </a:r>
          </a:p>
        </p:txBody>
      </p:sp>
      <p:sp>
        <p:nvSpPr>
          <p:cNvPr id="49" name="TextBox 48"/>
          <p:cNvSpPr txBox="1"/>
          <p:nvPr/>
        </p:nvSpPr>
        <p:spPr bwMode="auto">
          <a:xfrm>
            <a:off x="3440973" y="414145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 bwMode="auto">
          <a:xfrm>
            <a:off x="6513791" y="318713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 bwMode="auto">
          <a:xfrm>
            <a:off x="7220856" y="1734895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3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274043" y="3831205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2</a:t>
            </a:r>
          </a:p>
        </p:txBody>
      </p:sp>
      <p:sp>
        <p:nvSpPr>
          <p:cNvPr id="53" name="TextBox 52"/>
          <p:cNvSpPr txBox="1"/>
          <p:nvPr/>
        </p:nvSpPr>
        <p:spPr bwMode="auto">
          <a:xfrm>
            <a:off x="5461075" y="4661459"/>
            <a:ext cx="6447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>
                <a:solidFill>
                  <a:srgbClr val="161A1C"/>
                </a:solidFill>
                <a:latin typeface="Calibri" pitchFamily="34" charset="0"/>
              </a:rPr>
              <a:t>h</a:t>
            </a: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 = 1</a:t>
            </a: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2171" y="3527751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7</a:t>
            </a:r>
          </a:p>
        </p:txBody>
      </p:sp>
      <p:sp>
        <p:nvSpPr>
          <p:cNvPr id="55" name="Rectangle 3"/>
          <p:cNvSpPr txBox="1">
            <a:spLocks noChangeArrowheads="1"/>
          </p:cNvSpPr>
          <p:nvPr/>
        </p:nvSpPr>
        <p:spPr bwMode="auto">
          <a:xfrm>
            <a:off x="248022" y="5410200"/>
            <a:ext cx="8229600" cy="101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Char char="§"/>
              <a:defRPr sz="3200">
                <a:solidFill>
                  <a:srgbClr val="3D4449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3E7FF"/>
              </a:buClr>
              <a:buFont typeface="Wingdings" pitchFamily="2" charset="2"/>
              <a:buChar char="§"/>
              <a:defRPr sz="2800">
                <a:solidFill>
                  <a:srgbClr val="3D4449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2400">
                <a:solidFill>
                  <a:srgbClr val="3D4449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2000">
                <a:solidFill>
                  <a:srgbClr val="3D4449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2000">
                <a:solidFill>
                  <a:srgbClr val="3D4449"/>
                </a:solidFill>
                <a:latin typeface="+mj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ko-KR" sz="2800" dirty="0"/>
              <a:t>A *</a:t>
            </a:r>
            <a:r>
              <a:rPr lang="ko-KR" altLang="en-US" sz="2800" dirty="0"/>
              <a:t>는 우선 순위 </a:t>
            </a:r>
            <a:r>
              <a:rPr lang="ko-KR" altLang="en-US" sz="2800" dirty="0" smtClean="0"/>
              <a:t>큐 </a:t>
            </a:r>
            <a:r>
              <a:rPr lang="en-US" altLang="ko-KR" sz="2800" dirty="0" smtClean="0"/>
              <a:t>(open list)</a:t>
            </a:r>
            <a:r>
              <a:rPr lang="ko-KR" altLang="en-US" sz="2800" dirty="0"/>
              <a:t>에서 목표 상태가 </a:t>
            </a:r>
            <a:r>
              <a:rPr lang="ko-KR" altLang="en-US" sz="2800" dirty="0" err="1"/>
              <a:t>팝되면</a:t>
            </a:r>
            <a:r>
              <a:rPr lang="ko-KR" altLang="en-US" sz="2800" dirty="0"/>
              <a:t> </a:t>
            </a:r>
            <a:r>
              <a:rPr lang="ko-KR" altLang="en-US" sz="2800" dirty="0" smtClean="0"/>
              <a:t>종료</a:t>
            </a:r>
            <a:endParaRPr lang="en-US" sz="2800" dirty="0" smtClean="0"/>
          </a:p>
          <a:p>
            <a:endParaRPr lang="en-US" sz="2800" dirty="0"/>
          </a:p>
        </p:txBody>
      </p:sp>
      <p:sp>
        <p:nvSpPr>
          <p:cNvPr id="33" name="TextBox 32"/>
          <p:cNvSpPr txBox="1"/>
          <p:nvPr/>
        </p:nvSpPr>
        <p:spPr bwMode="auto">
          <a:xfrm>
            <a:off x="5820745" y="3962392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kern="0" dirty="0" smtClean="0">
                <a:solidFill>
                  <a:srgbClr val="161A1C"/>
                </a:solidFill>
                <a:latin typeface="Calibri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504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A* </a:t>
            </a:r>
            <a:r>
              <a:rPr lang="ko-KR" altLang="en-US" dirty="0" smtClean="0"/>
              <a:t>재방문 상태 처리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340768"/>
            <a:ext cx="8058101" cy="4615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4293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A* </a:t>
            </a:r>
            <a:r>
              <a:rPr lang="ko-KR" altLang="en-US" dirty="0"/>
              <a:t>재방문 상태 처리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196752"/>
            <a:ext cx="683895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직사각형 2"/>
          <p:cNvSpPr/>
          <p:nvPr/>
        </p:nvSpPr>
        <p:spPr>
          <a:xfrm>
            <a:off x="4355976" y="3140968"/>
            <a:ext cx="2880320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427984" y="3645024"/>
            <a:ext cx="280831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47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A* algorithm</a:t>
            </a:r>
            <a:endParaRPr lang="en-US" dirty="0"/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 bwMode="auto">
          <a:xfrm>
            <a:off x="179512" y="1196752"/>
            <a:ext cx="8229600" cy="5438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Font typeface="Wingdings" pitchFamily="2" charset="2"/>
              <a:buChar char="§"/>
              <a:defRPr sz="3200">
                <a:solidFill>
                  <a:srgbClr val="3D4449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3E7FF"/>
              </a:buClr>
              <a:buFont typeface="Wingdings" pitchFamily="2" charset="2"/>
              <a:buChar char="§"/>
              <a:defRPr sz="2800">
                <a:solidFill>
                  <a:srgbClr val="3D4449"/>
                </a:solidFill>
                <a:latin typeface="+mj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2400">
                <a:solidFill>
                  <a:srgbClr val="3D4449"/>
                </a:solidFill>
                <a:latin typeface="+mj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2000">
                <a:solidFill>
                  <a:srgbClr val="3D4449"/>
                </a:solidFill>
                <a:latin typeface="+mj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2000">
                <a:solidFill>
                  <a:srgbClr val="3D4449"/>
                </a:solidFill>
                <a:latin typeface="+mj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ko-KR" altLang="en-US" sz="1800" dirty="0" smtClean="0"/>
              <a:t>우선순위 큐 </a:t>
            </a:r>
            <a:r>
              <a:rPr lang="en-US" sz="1800" dirty="0" smtClean="0"/>
              <a:t>Open </a:t>
            </a:r>
            <a:r>
              <a:rPr lang="ko-KR" altLang="en-US" sz="1800" dirty="0" smtClean="0"/>
              <a:t>과</a:t>
            </a:r>
            <a:r>
              <a:rPr lang="en-US" sz="1800" dirty="0" smtClean="0"/>
              <a:t> Closed</a:t>
            </a:r>
            <a:r>
              <a:rPr lang="ko-KR" altLang="en-US" sz="1800" dirty="0" smtClean="0"/>
              <a:t>를 빈 큐로 시작</a:t>
            </a:r>
            <a:endParaRPr lang="en-US" sz="1800" dirty="0" smtClean="0"/>
          </a:p>
          <a:p>
            <a:r>
              <a:rPr lang="ko-KR" altLang="en-US" sz="1800" dirty="0" smtClean="0"/>
              <a:t>시작 노드 </a:t>
            </a:r>
            <a:r>
              <a:rPr lang="en-US" altLang="ko-KR" sz="1800" dirty="0" smtClean="0"/>
              <a:t>S</a:t>
            </a:r>
            <a:r>
              <a:rPr lang="ko-KR" altLang="en-US" sz="1800" dirty="0" smtClean="0"/>
              <a:t>의 우선순위를 </a:t>
            </a:r>
            <a:r>
              <a:rPr lang="en-US" altLang="ko-KR" sz="1800" dirty="0"/>
              <a:t>f(s) = g(s) + h(s) = </a:t>
            </a:r>
            <a:r>
              <a:rPr lang="en-US" altLang="ko-KR" sz="1800" dirty="0" smtClean="0"/>
              <a:t>h(s)</a:t>
            </a:r>
            <a:r>
              <a:rPr lang="ko-KR" altLang="en-US" sz="1800" dirty="0" smtClean="0"/>
              <a:t>로 해서 </a:t>
            </a:r>
            <a:r>
              <a:rPr lang="en-US" altLang="ko-KR" sz="1800" dirty="0" smtClean="0"/>
              <a:t>Open</a:t>
            </a:r>
            <a:r>
              <a:rPr lang="ko-KR" altLang="en-US" sz="1800" dirty="0" smtClean="0"/>
              <a:t> 큐에 집어 넣음</a:t>
            </a:r>
            <a:endParaRPr lang="en-US" sz="1800" dirty="0" smtClean="0"/>
          </a:p>
          <a:p>
            <a:r>
              <a:rPr lang="en-US" sz="1800" dirty="0" smtClean="0"/>
              <a:t>Open</a:t>
            </a:r>
            <a:r>
              <a:rPr lang="ko-KR" altLang="en-US" sz="1800" dirty="0" smtClean="0"/>
              <a:t>이 비어 있는가</a:t>
            </a:r>
            <a:r>
              <a:rPr lang="en-US" sz="1800" dirty="0" smtClean="0"/>
              <a:t>?</a:t>
            </a:r>
            <a:endParaRPr lang="en-US" sz="1800" dirty="0" smtClean="0"/>
          </a:p>
          <a:p>
            <a:pPr lvl="1"/>
            <a:r>
              <a:rPr lang="ko-KR" altLang="en-US" sz="1800" dirty="0" smtClean="0"/>
              <a:t>그렇다면</a:t>
            </a:r>
            <a:r>
              <a:rPr lang="en-US" sz="1800" dirty="0" smtClean="0"/>
              <a:t> </a:t>
            </a:r>
            <a:r>
              <a:rPr lang="ko-KR" altLang="en-US" sz="1800" dirty="0" smtClean="0"/>
              <a:t>해가 존재하지 않음</a:t>
            </a:r>
            <a:r>
              <a:rPr lang="en-US" sz="1800" dirty="0" smtClean="0"/>
              <a:t> </a:t>
            </a:r>
            <a:endParaRPr lang="en-US" sz="1800" dirty="0" smtClean="0"/>
          </a:p>
          <a:p>
            <a:pPr lvl="1"/>
            <a:r>
              <a:rPr lang="ko-KR" altLang="en-US" sz="1800" dirty="0" smtClean="0"/>
              <a:t>그렇지 않다면 가장 작은 </a:t>
            </a:r>
            <a:r>
              <a:rPr lang="en-US" altLang="ko-KR" sz="1800" dirty="0"/>
              <a:t>f(n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을 갖는 노드를 </a:t>
            </a:r>
            <a:r>
              <a:rPr lang="en-US" altLang="ko-KR" sz="1800" dirty="0" smtClean="0"/>
              <a:t>Open </a:t>
            </a:r>
            <a:r>
              <a:rPr lang="ko-KR" altLang="en-US" sz="1800" dirty="0" smtClean="0"/>
              <a:t>큐에서 제거</a:t>
            </a:r>
            <a:r>
              <a:rPr lang="en-US" altLang="ko-KR" sz="1800" dirty="0" smtClean="0"/>
              <a:t> (</a:t>
            </a:r>
            <a:r>
              <a:rPr lang="ko-KR" altLang="en-US" sz="1800" dirty="0" smtClean="0"/>
              <a:t>그 노드를 </a:t>
            </a:r>
            <a:r>
              <a:rPr lang="en-US" sz="1800" dirty="0" smtClean="0"/>
              <a:t>n</a:t>
            </a:r>
            <a:r>
              <a:rPr lang="ko-KR" altLang="en-US" sz="1800" dirty="0" smtClean="0"/>
              <a:t>이라 하자</a:t>
            </a:r>
            <a:r>
              <a:rPr lang="en-US" altLang="ko-KR" sz="1800" dirty="0" smtClean="0"/>
              <a:t>)</a:t>
            </a:r>
            <a:endParaRPr lang="en-US" sz="1800" dirty="0"/>
          </a:p>
          <a:p>
            <a:pPr lvl="1"/>
            <a:r>
              <a:rPr lang="en-US" sz="1800" dirty="0" smtClean="0"/>
              <a:t>If </a:t>
            </a:r>
            <a:r>
              <a:rPr lang="en-US" sz="1800" dirty="0" smtClean="0"/>
              <a:t>n </a:t>
            </a:r>
            <a:r>
              <a:rPr lang="ko-KR" altLang="en-US" sz="1800" dirty="0" smtClean="0"/>
              <a:t>이 목표 노드이면 진행을 멈추고 성공했음을 </a:t>
            </a:r>
            <a:r>
              <a:rPr lang="ko-KR" altLang="en-US" sz="1800" dirty="0" err="1" smtClean="0"/>
              <a:t>리포팅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길 찾기라면 경로를 반환</a:t>
            </a:r>
            <a:r>
              <a:rPr lang="en-US" altLang="ko-KR" sz="1800" dirty="0" smtClean="0"/>
              <a:t>)</a:t>
            </a:r>
            <a:endParaRPr lang="en-US" sz="1800" dirty="0" smtClean="0"/>
          </a:p>
          <a:p>
            <a:pPr lvl="1"/>
            <a:r>
              <a:rPr lang="ko-KR" altLang="en-US" sz="1800" dirty="0" smtClean="0"/>
              <a:t>그렇지 않다면 </a:t>
            </a:r>
            <a:r>
              <a:rPr lang="en-US" altLang="ko-KR" sz="1800" dirty="0" smtClean="0"/>
              <a:t>n</a:t>
            </a:r>
            <a:r>
              <a:rPr lang="ko-KR" altLang="en-US" sz="1800" dirty="0" smtClean="0"/>
              <a:t>을 확장</a:t>
            </a:r>
            <a:r>
              <a:rPr lang="en-US" altLang="ko-KR" sz="1800" dirty="0" smtClean="0"/>
              <a:t>. n</a:t>
            </a:r>
            <a:r>
              <a:rPr lang="ko-KR" altLang="en-US" sz="1800" dirty="0" smtClean="0"/>
              <a:t>의 각 </a:t>
            </a:r>
            <a:r>
              <a:rPr lang="ko-KR" altLang="en-US" sz="1800" dirty="0" err="1" smtClean="0"/>
              <a:t>후속자</a:t>
            </a:r>
            <a:r>
              <a:rPr lang="en-US" altLang="ko-KR" sz="1800" dirty="0"/>
              <a:t>(</a:t>
            </a:r>
            <a:r>
              <a:rPr lang="en-US" altLang="ko-KR" sz="1800" dirty="0" smtClean="0"/>
              <a:t>successors) n</a:t>
            </a:r>
            <a:r>
              <a:rPr lang="en-US" altLang="ko-KR" sz="1800" dirty="0" smtClean="0"/>
              <a:t>’</a:t>
            </a:r>
            <a:r>
              <a:rPr lang="ko-KR" altLang="en-US" sz="1800" dirty="0" smtClean="0"/>
              <a:t>에 대해 아래의 작업 </a:t>
            </a:r>
            <a:endParaRPr lang="en-US" sz="1800" dirty="0" smtClean="0"/>
          </a:p>
          <a:p>
            <a:pPr lvl="2"/>
            <a:r>
              <a:rPr lang="en-US" sz="1800" dirty="0" smtClean="0"/>
              <a:t>f</a:t>
            </a:r>
            <a:r>
              <a:rPr lang="en-US" sz="1800" dirty="0" smtClean="0"/>
              <a:t>’ = g(n’) + h(n’) = g(n) + cost (n, n’) + h(n</a:t>
            </a:r>
            <a:r>
              <a:rPr lang="en-US" sz="1800" dirty="0" smtClean="0"/>
              <a:t>’)</a:t>
            </a:r>
            <a:r>
              <a:rPr lang="ko-KR" altLang="en-US" sz="1800" dirty="0" smtClean="0"/>
              <a:t>을 계산</a:t>
            </a:r>
            <a:endParaRPr lang="en-US" sz="1800" dirty="0" smtClean="0"/>
          </a:p>
          <a:p>
            <a:pPr lvl="2"/>
            <a:r>
              <a:rPr lang="en-US" sz="1800" dirty="0" smtClean="0"/>
              <a:t>n</a:t>
            </a:r>
            <a:r>
              <a:rPr lang="en-US" sz="1800" dirty="0" smtClean="0"/>
              <a:t>’ </a:t>
            </a:r>
            <a:r>
              <a:rPr lang="ko-KR" altLang="en-US" sz="1800" dirty="0" smtClean="0"/>
              <a:t>이 처음 생성된 노드이거나 </a:t>
            </a:r>
            <a:r>
              <a:rPr lang="en-US" altLang="ko-KR" sz="1800" dirty="0"/>
              <a:t>f’ </a:t>
            </a:r>
            <a:r>
              <a:rPr lang="ko-KR" altLang="en-US" sz="1800" dirty="0" smtClean="0"/>
              <a:t>보다 큰 값으로 이전에 확장되거나 </a:t>
            </a:r>
            <a:r>
              <a:rPr lang="en-US" altLang="ko-KR" sz="1800" dirty="0" smtClean="0"/>
              <a:t>Open</a:t>
            </a:r>
            <a:r>
              <a:rPr lang="ko-KR" altLang="en-US" sz="1800" dirty="0" smtClean="0"/>
              <a:t>에 존재하면서 그 값이 </a:t>
            </a:r>
            <a:r>
              <a:rPr lang="en-US" altLang="ko-KR" sz="1800" dirty="0" smtClean="0"/>
              <a:t>f’</a:t>
            </a:r>
            <a:r>
              <a:rPr lang="ko-KR" altLang="en-US" sz="1800" dirty="0" smtClean="0"/>
              <a:t>보다 크면 </a:t>
            </a:r>
            <a:r>
              <a:rPr lang="en-US" altLang="ko-KR" sz="1800" dirty="0" smtClean="0"/>
              <a:t>n＇</a:t>
            </a:r>
            <a:r>
              <a:rPr lang="ko-KR" altLang="en-US" sz="1800" dirty="0" smtClean="0"/>
              <a:t>의 </a:t>
            </a:r>
            <a:r>
              <a:rPr lang="ko-KR" altLang="en-US" sz="1800" dirty="0"/>
              <a:t>우선순위를 </a:t>
            </a:r>
            <a:r>
              <a:rPr lang="en-US" altLang="ko-KR" sz="1800" dirty="0"/>
              <a:t>f</a:t>
            </a:r>
            <a:r>
              <a:rPr lang="en-US" altLang="ko-KR" sz="1800" dirty="0" smtClean="0"/>
              <a:t>’</a:t>
            </a:r>
            <a:r>
              <a:rPr lang="ko-KR" altLang="en-US" sz="1800" dirty="0" smtClean="0"/>
              <a:t>로 해서</a:t>
            </a:r>
            <a:r>
              <a:rPr lang="en-US" altLang="ko-KR" sz="1800" dirty="0" smtClean="0"/>
              <a:t> Open</a:t>
            </a:r>
            <a:r>
              <a:rPr lang="ko-KR" altLang="en-US" sz="1800" dirty="0" smtClean="0"/>
              <a:t>에 넣거나 이미 있을 경우 우선 순위를 </a:t>
            </a:r>
            <a:r>
              <a:rPr lang="en-US" altLang="ko-KR" sz="1800" dirty="0" smtClean="0"/>
              <a:t>f’</a:t>
            </a:r>
            <a:r>
              <a:rPr lang="ko-KR" altLang="en-US" sz="1800" dirty="0" smtClean="0"/>
              <a:t>으로 변경</a:t>
            </a:r>
            <a:endParaRPr lang="en-US" sz="1800" dirty="0" smtClean="0"/>
          </a:p>
          <a:p>
            <a:pPr lvl="2"/>
            <a:r>
              <a:rPr lang="ko-KR" altLang="en-US" sz="1800" dirty="0" smtClean="0"/>
              <a:t>그렇지 않을 경우</a:t>
            </a:r>
            <a:r>
              <a:rPr lang="en-US" sz="1800" dirty="0" smtClean="0"/>
              <a:t>  </a:t>
            </a:r>
            <a:r>
              <a:rPr lang="en-US" sz="1800" dirty="0" smtClean="0"/>
              <a:t>n</a:t>
            </a:r>
            <a:r>
              <a:rPr lang="en-US" sz="1800" dirty="0" smtClean="0"/>
              <a:t>’</a:t>
            </a:r>
            <a:r>
              <a:rPr lang="ko-KR" altLang="en-US" sz="1800" dirty="0" smtClean="0"/>
              <a:t>을 무시</a:t>
            </a:r>
            <a:endParaRPr lang="en-US" sz="1800" dirty="0" smtClean="0"/>
          </a:p>
          <a:p>
            <a:pPr lvl="1"/>
            <a:r>
              <a:rPr lang="en-US" altLang="ko-KR" sz="1800" dirty="0" smtClean="0"/>
              <a:t>n</a:t>
            </a:r>
            <a:r>
              <a:rPr lang="ko-KR" altLang="en-US" sz="1800" dirty="0" smtClean="0"/>
              <a:t>을</a:t>
            </a:r>
            <a:r>
              <a:rPr lang="en-US" sz="1800" dirty="0" smtClean="0"/>
              <a:t> Closed</a:t>
            </a:r>
            <a:r>
              <a:rPr lang="ko-KR" altLang="en-US" sz="1800" dirty="0" smtClean="0"/>
              <a:t>에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집어 넣음</a:t>
            </a:r>
            <a:endParaRPr lang="en-US" sz="1800" dirty="0" smtClean="0"/>
          </a:p>
          <a:p>
            <a:endParaRPr lang="en-US" sz="2100" dirty="0" smtClean="0"/>
          </a:p>
          <a:p>
            <a:endParaRPr lang="en-US" sz="2100" dirty="0" smtClean="0"/>
          </a:p>
          <a:p>
            <a:pPr marL="0" indent="0">
              <a:buNone/>
            </a:pPr>
            <a:endParaRPr lang="en-US" sz="2100" dirty="0" smtClean="0"/>
          </a:p>
          <a:p>
            <a:endParaRPr lang="en-US" sz="2100" dirty="0" smtClean="0"/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89974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Pseudo Code</a:t>
            </a:r>
            <a:endParaRPr lang="ko-KR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196752"/>
            <a:ext cx="3960440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1268760"/>
            <a:ext cx="4536504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070752"/>
            <a:ext cx="4104456" cy="5643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r>
              <a:rPr lang="en-US" altLang="ko-KR" dirty="0" smtClean="0"/>
              <a:t>Pseudo Code</a:t>
            </a:r>
            <a:endParaRPr lang="ko-KR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052736"/>
            <a:ext cx="3785220" cy="173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2924945"/>
            <a:ext cx="3883321" cy="1021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9992" y="4005064"/>
            <a:ext cx="4164579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712968" cy="7921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Is A* guaranteed to find the optimal path?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379" y="5661248"/>
            <a:ext cx="8229600" cy="868363"/>
          </a:xfrm>
        </p:spPr>
        <p:txBody>
          <a:bodyPr>
            <a:normAutofit fontScale="92500" lnSpcReduction="20000"/>
          </a:bodyPr>
          <a:lstStyle/>
          <a:p>
            <a:r>
              <a:rPr lang="ko-KR" altLang="ko-KR" dirty="0" err="1" smtClean="0"/>
              <a:t>휴리스틱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함수가</a:t>
            </a:r>
            <a:r>
              <a:rPr lang="ko-KR" altLang="ko-KR" dirty="0" smtClean="0"/>
              <a:t> </a:t>
            </a:r>
            <a:r>
              <a:rPr lang="ko-KR" altLang="ko-KR" dirty="0"/>
              <a:t>비용을 </a:t>
            </a:r>
            <a:r>
              <a:rPr lang="ko-KR" altLang="ko-KR" dirty="0" smtClean="0"/>
              <a:t>과</a:t>
            </a:r>
            <a:r>
              <a:rPr lang="ko-KR" altLang="en-US" dirty="0" smtClean="0"/>
              <a:t>다</a:t>
            </a:r>
            <a:r>
              <a:rPr lang="ko-KR" altLang="ko-KR" dirty="0" smtClean="0"/>
              <a:t> </a:t>
            </a:r>
            <a:r>
              <a:rPr lang="ko-KR" altLang="ko-KR" dirty="0"/>
              <a:t>평가하는 경우는 </a:t>
            </a:r>
            <a:r>
              <a:rPr lang="ko-KR" altLang="en-US" dirty="0" err="1" smtClean="0"/>
              <a:t>보장못함</a:t>
            </a:r>
            <a:endParaRPr lang="en-US" dirty="0"/>
          </a:p>
        </p:txBody>
      </p:sp>
      <p:sp>
        <p:nvSpPr>
          <p:cNvPr id="19" name="직사각형 26"/>
          <p:cNvSpPr>
            <a:spLocks noChangeArrowheads="1"/>
          </p:cNvSpPr>
          <p:nvPr/>
        </p:nvSpPr>
        <p:spPr bwMode="auto">
          <a:xfrm>
            <a:off x="6011863" y="1412875"/>
            <a:ext cx="323850" cy="3603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A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직사각형 27"/>
          <p:cNvSpPr>
            <a:spLocks noChangeArrowheads="1"/>
          </p:cNvSpPr>
          <p:nvPr/>
        </p:nvSpPr>
        <p:spPr bwMode="auto">
          <a:xfrm>
            <a:off x="5148263" y="2276475"/>
            <a:ext cx="323850" cy="3603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B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직사각형 28"/>
          <p:cNvSpPr>
            <a:spLocks noChangeArrowheads="1"/>
          </p:cNvSpPr>
          <p:nvPr/>
        </p:nvSpPr>
        <p:spPr bwMode="auto">
          <a:xfrm>
            <a:off x="6011863" y="2276475"/>
            <a:ext cx="323850" cy="3603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C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9"/>
          <p:cNvSpPr>
            <a:spLocks noChangeArrowheads="1"/>
          </p:cNvSpPr>
          <p:nvPr/>
        </p:nvSpPr>
        <p:spPr bwMode="auto">
          <a:xfrm>
            <a:off x="6804025" y="2276475"/>
            <a:ext cx="323850" cy="3603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D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직사각형 30"/>
          <p:cNvSpPr>
            <a:spLocks noChangeArrowheads="1"/>
          </p:cNvSpPr>
          <p:nvPr/>
        </p:nvSpPr>
        <p:spPr bwMode="auto">
          <a:xfrm>
            <a:off x="5076825" y="3213100"/>
            <a:ext cx="322263" cy="3603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E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직사각형 31"/>
          <p:cNvSpPr>
            <a:spLocks noChangeArrowheads="1"/>
          </p:cNvSpPr>
          <p:nvPr/>
        </p:nvSpPr>
        <p:spPr bwMode="auto">
          <a:xfrm>
            <a:off x="4859338" y="4076700"/>
            <a:ext cx="323850" cy="3603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F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8" name="직선 연결선 32"/>
          <p:cNvCxnSpPr>
            <a:cxnSpLocks noChangeShapeType="1"/>
            <a:stCxn id="19" idx="1"/>
            <a:endCxn id="20" idx="0"/>
          </p:cNvCxnSpPr>
          <p:nvPr/>
        </p:nvCxnSpPr>
        <p:spPr bwMode="auto">
          <a:xfrm rot="10800000" flipV="1">
            <a:off x="5310188" y="1592263"/>
            <a:ext cx="701675" cy="6842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직선 연결선 33"/>
          <p:cNvCxnSpPr>
            <a:cxnSpLocks noChangeShapeType="1"/>
            <a:stCxn id="20" idx="2"/>
            <a:endCxn id="26" idx="0"/>
          </p:cNvCxnSpPr>
          <p:nvPr/>
        </p:nvCxnSpPr>
        <p:spPr bwMode="auto">
          <a:xfrm rot="5400000">
            <a:off x="4985545" y="2888456"/>
            <a:ext cx="576262" cy="730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직선 연결선 34"/>
          <p:cNvCxnSpPr>
            <a:cxnSpLocks noChangeShapeType="1"/>
            <a:stCxn id="19" idx="2"/>
            <a:endCxn id="21" idx="0"/>
          </p:cNvCxnSpPr>
          <p:nvPr/>
        </p:nvCxnSpPr>
        <p:spPr bwMode="auto">
          <a:xfrm rot="5400000">
            <a:off x="5922169" y="2024857"/>
            <a:ext cx="50323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직선 연결선 35"/>
          <p:cNvCxnSpPr>
            <a:cxnSpLocks noChangeShapeType="1"/>
            <a:stCxn id="19" idx="3"/>
            <a:endCxn id="23" idx="0"/>
          </p:cNvCxnSpPr>
          <p:nvPr/>
        </p:nvCxnSpPr>
        <p:spPr bwMode="auto">
          <a:xfrm>
            <a:off x="6335713" y="1592263"/>
            <a:ext cx="630237" cy="68421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직선 연결선 36"/>
          <p:cNvCxnSpPr>
            <a:cxnSpLocks noChangeShapeType="1"/>
            <a:stCxn id="26" idx="2"/>
            <a:endCxn id="27" idx="0"/>
          </p:cNvCxnSpPr>
          <p:nvPr/>
        </p:nvCxnSpPr>
        <p:spPr bwMode="auto">
          <a:xfrm rot="5400000">
            <a:off x="4877594" y="3717132"/>
            <a:ext cx="503237" cy="2159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TextBox 37"/>
          <p:cNvSpPr txBox="1">
            <a:spLocks noChangeArrowheads="1"/>
          </p:cNvSpPr>
          <p:nvPr/>
        </p:nvSpPr>
        <p:spPr bwMode="auto">
          <a:xfrm>
            <a:off x="4716463" y="1989138"/>
            <a:ext cx="6064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(1+3)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TextBox 38"/>
          <p:cNvSpPr txBox="1">
            <a:spLocks noChangeArrowheads="1"/>
          </p:cNvSpPr>
          <p:nvPr/>
        </p:nvSpPr>
        <p:spPr bwMode="auto">
          <a:xfrm>
            <a:off x="5580063" y="1989138"/>
            <a:ext cx="6064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(1+4)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TextBox 39"/>
          <p:cNvSpPr txBox="1">
            <a:spLocks noChangeArrowheads="1"/>
          </p:cNvSpPr>
          <p:nvPr/>
        </p:nvSpPr>
        <p:spPr bwMode="auto">
          <a:xfrm>
            <a:off x="6300788" y="1989138"/>
            <a:ext cx="6064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(1+5)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TextBox 40"/>
          <p:cNvSpPr txBox="1">
            <a:spLocks noChangeArrowheads="1"/>
          </p:cNvSpPr>
          <p:nvPr/>
        </p:nvSpPr>
        <p:spPr bwMode="auto">
          <a:xfrm>
            <a:off x="4643438" y="2924175"/>
            <a:ext cx="6064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(2+2)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직사각형 42"/>
          <p:cNvSpPr>
            <a:spLocks noChangeArrowheads="1"/>
          </p:cNvSpPr>
          <p:nvPr/>
        </p:nvSpPr>
        <p:spPr bwMode="auto">
          <a:xfrm>
            <a:off x="4716463" y="4941888"/>
            <a:ext cx="323850" cy="358775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>
                <a:solidFill>
                  <a:schemeClr val="tx1"/>
                </a:solidFill>
              </a:rPr>
              <a:t>G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0" name="직선 연결선 45"/>
          <p:cNvCxnSpPr>
            <a:cxnSpLocks noChangeShapeType="1"/>
            <a:stCxn id="27" idx="2"/>
            <a:endCxn id="39" idx="0"/>
          </p:cNvCxnSpPr>
          <p:nvPr/>
        </p:nvCxnSpPr>
        <p:spPr bwMode="auto">
          <a:xfrm rot="5400000">
            <a:off x="4697413" y="4618038"/>
            <a:ext cx="504825" cy="1428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TextBox 46"/>
          <p:cNvSpPr txBox="1">
            <a:spLocks noChangeArrowheads="1"/>
          </p:cNvSpPr>
          <p:nvPr/>
        </p:nvSpPr>
        <p:spPr bwMode="auto">
          <a:xfrm>
            <a:off x="4427538" y="3789363"/>
            <a:ext cx="6064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(3+1)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TextBox 47"/>
          <p:cNvSpPr txBox="1">
            <a:spLocks noChangeArrowheads="1"/>
          </p:cNvSpPr>
          <p:nvPr/>
        </p:nvSpPr>
        <p:spPr bwMode="auto">
          <a:xfrm>
            <a:off x="4284663" y="4652963"/>
            <a:ext cx="604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bg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(4+0)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/>
          <p:cNvCxnSpPr>
            <a:stCxn id="23" idx="2"/>
            <a:endCxn id="39" idx="3"/>
          </p:cNvCxnSpPr>
          <p:nvPr/>
        </p:nvCxnSpPr>
        <p:spPr>
          <a:xfrm flipH="1">
            <a:off x="5040313" y="2636838"/>
            <a:ext cx="1925637" cy="2484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7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Admissible heuristics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h(n</a:t>
            </a:r>
            <a:r>
              <a:rPr lang="en-US" dirty="0" smtClean="0"/>
              <a:t>) = n</a:t>
            </a:r>
            <a:r>
              <a:rPr lang="ko-KR" altLang="en-US" dirty="0" smtClean="0"/>
              <a:t>에서 목표 상태까지의 실제 최소 비용 </a:t>
            </a:r>
            <a:endParaRPr lang="en-US" dirty="0" smtClean="0"/>
          </a:p>
          <a:p>
            <a:r>
              <a:rPr lang="ko-KR" altLang="en-US" dirty="0" smtClean="0"/>
              <a:t>모든 상태 </a:t>
            </a:r>
            <a:r>
              <a:rPr lang="en-US" altLang="ko-KR" dirty="0" smtClean="0"/>
              <a:t>n</a:t>
            </a:r>
            <a:r>
              <a:rPr lang="ko-KR" altLang="en-US" dirty="0" smtClean="0"/>
              <a:t>에 대해 </a:t>
            </a:r>
            <a:r>
              <a:rPr lang="en-US" dirty="0" smtClean="0"/>
              <a:t>h</a:t>
            </a:r>
            <a:r>
              <a:rPr lang="ko-KR" altLang="en-US" dirty="0" smtClean="0"/>
              <a:t>*</a:t>
            </a:r>
            <a:r>
              <a:rPr lang="en-US" dirty="0" smtClean="0"/>
              <a:t>(</a:t>
            </a:r>
            <a:r>
              <a:rPr lang="en-US" dirty="0" smtClean="0"/>
              <a:t>n) &lt;= </a:t>
            </a:r>
            <a:r>
              <a:rPr lang="en-US" dirty="0" smtClean="0"/>
              <a:t>h(n</a:t>
            </a:r>
            <a:r>
              <a:rPr lang="en-US" dirty="0" smtClean="0"/>
              <a:t>)</a:t>
            </a:r>
            <a:r>
              <a:rPr lang="ko-KR" altLang="en-US" dirty="0"/>
              <a:t>을 만족하면 </a:t>
            </a:r>
            <a:r>
              <a:rPr lang="ko-KR" altLang="en-US" dirty="0" smtClean="0"/>
              <a:t>그 </a:t>
            </a:r>
            <a:r>
              <a:rPr lang="ko-KR" altLang="en-US" dirty="0" err="1" smtClean="0"/>
              <a:t>휴리스틱이</a:t>
            </a:r>
            <a:r>
              <a:rPr lang="ko-KR" altLang="en-US" dirty="0" smtClean="0"/>
              <a:t> </a:t>
            </a:r>
            <a:r>
              <a:rPr lang="en-US" altLang="ko-KR" dirty="0" smtClean="0"/>
              <a:t>admissible</a:t>
            </a:r>
            <a:r>
              <a:rPr lang="ko-KR" altLang="en-US" dirty="0" smtClean="0"/>
              <a:t>하다고 함</a:t>
            </a:r>
            <a:endParaRPr lang="en-US" altLang="ko-KR" dirty="0" smtClean="0"/>
          </a:p>
          <a:p>
            <a:r>
              <a:rPr lang="ko-KR" altLang="en-US" dirty="0" err="1"/>
              <a:t>휴리스틱이</a:t>
            </a:r>
            <a:r>
              <a:rPr lang="ko-KR" altLang="en-US" dirty="0"/>
              <a:t> </a:t>
            </a:r>
            <a:r>
              <a:rPr lang="en-US" altLang="ko-KR" dirty="0"/>
              <a:t>admissible </a:t>
            </a:r>
            <a:r>
              <a:rPr lang="ko-KR" altLang="en-US" dirty="0" smtClean="0"/>
              <a:t>함은 목표상태까지의 비용을 결코 과대평가하지 않음을 보장하는 것임</a:t>
            </a:r>
            <a:endParaRPr lang="en-US" altLang="ko-KR" dirty="0" smtClean="0"/>
          </a:p>
          <a:p>
            <a:r>
              <a:rPr lang="en-US" dirty="0" smtClean="0"/>
              <a:t>admissible </a:t>
            </a:r>
            <a:r>
              <a:rPr lang="ko-KR" altLang="en-US" dirty="0" err="1" smtClean="0"/>
              <a:t>휴리스틱은</a:t>
            </a:r>
            <a:r>
              <a:rPr lang="ko-KR" altLang="en-US" dirty="0" smtClean="0"/>
              <a:t> </a:t>
            </a:r>
            <a:r>
              <a:rPr lang="en-US" dirty="0" smtClean="0"/>
              <a:t>optimistic </a:t>
            </a:r>
            <a:r>
              <a:rPr lang="ko-KR" altLang="en-US" dirty="0" smtClean="0"/>
              <a:t>함</a:t>
            </a:r>
            <a:r>
              <a:rPr lang="en-US" altLang="ko-KR" dirty="0" smtClean="0"/>
              <a:t>. </a:t>
            </a:r>
            <a:r>
              <a:rPr lang="ko-KR" altLang="en-US" dirty="0" smtClean="0"/>
              <a:t>즉 최적의 해를 찾아 </a:t>
            </a:r>
            <a:r>
              <a:rPr lang="ko-KR" altLang="en-US" dirty="0" smtClean="0"/>
              <a:t>줌</a:t>
            </a:r>
            <a:endParaRPr lang="en-US" dirty="0"/>
          </a:p>
          <a:p>
            <a:r>
              <a:rPr lang="ko-KR" altLang="en-US" dirty="0" smtClean="0"/>
              <a:t>그러면 </a:t>
            </a:r>
            <a:r>
              <a:rPr lang="en-US" altLang="ko-KR" dirty="0" smtClean="0"/>
              <a:t>path finding</a:t>
            </a:r>
            <a:r>
              <a:rPr lang="ko-KR" altLang="en-US" dirty="0" smtClean="0"/>
              <a:t>에서 사용할 수 있는 공통의 </a:t>
            </a:r>
            <a:r>
              <a:rPr lang="en-US" dirty="0" smtClean="0"/>
              <a:t>admissible </a:t>
            </a:r>
            <a:r>
              <a:rPr lang="ko-KR" altLang="en-US" dirty="0" smtClean="0"/>
              <a:t>휴리스틱에는 </a:t>
            </a:r>
            <a:r>
              <a:rPr lang="ko-KR" altLang="en-US" dirty="0" smtClean="0"/>
              <a:t>어떤 게 </a:t>
            </a:r>
            <a:r>
              <a:rPr lang="ko-KR" altLang="en-US" dirty="0" smtClean="0"/>
              <a:t>있을까</a:t>
            </a:r>
            <a:r>
              <a:rPr lang="en-US" altLang="ko-KR" dirty="0" smtClean="0"/>
              <a:t>?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7224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Euclidian distance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389437"/>
            <a:ext cx="8229600" cy="2011363"/>
          </a:xfrm>
        </p:spPr>
        <p:txBody>
          <a:bodyPr>
            <a:normAutofit lnSpcReduction="10000"/>
          </a:bodyPr>
          <a:lstStyle/>
          <a:p>
            <a:r>
              <a:rPr lang="ko-KR" altLang="en-US" sz="2400" dirty="0"/>
              <a:t>과소 </a:t>
            </a:r>
            <a:r>
              <a:rPr lang="ko-KR" altLang="en-US" sz="2400" dirty="0" smtClean="0"/>
              <a:t>평가됨 </a:t>
            </a:r>
            <a:r>
              <a:rPr lang="en-US" altLang="ko-KR" sz="2400" dirty="0" smtClean="0"/>
              <a:t>(underestimate)</a:t>
            </a:r>
            <a:r>
              <a:rPr lang="ko-KR" altLang="en-US" sz="2400" dirty="0" smtClean="0"/>
              <a:t>이 보장됨</a:t>
            </a:r>
            <a:endParaRPr lang="en-US" altLang="ko-KR" sz="2400" dirty="0" smtClean="0"/>
          </a:p>
          <a:p>
            <a:r>
              <a:rPr lang="ko-KR" altLang="en-US" sz="2400" dirty="0"/>
              <a:t>제약이 </a:t>
            </a:r>
            <a:r>
              <a:rPr lang="ko-KR" altLang="en-US" sz="2400" dirty="0" smtClean="0"/>
              <a:t>거의 없이 실외에서 </a:t>
            </a:r>
            <a:r>
              <a:rPr lang="ko-KR" altLang="en-US" sz="2400" dirty="0"/>
              <a:t>빠른 경로 계획을 제공 할 수 </a:t>
            </a:r>
            <a:r>
              <a:rPr lang="ko-KR" altLang="en-US" sz="2400" dirty="0" smtClean="0"/>
              <a:t>있음</a:t>
            </a:r>
            <a:endParaRPr lang="en-US" altLang="ko-KR" sz="2400" dirty="0" smtClean="0"/>
          </a:p>
          <a:p>
            <a:r>
              <a:rPr lang="ko-KR" altLang="en-US" sz="2400" dirty="0" smtClean="0"/>
              <a:t>실내에서는 </a:t>
            </a:r>
            <a:r>
              <a:rPr lang="ko-KR" altLang="en-US" sz="2400" dirty="0"/>
              <a:t>최적의 경로 </a:t>
            </a:r>
            <a:r>
              <a:rPr lang="ko-KR" altLang="en-US" sz="2400" dirty="0" smtClean="0"/>
              <a:t>보다 훨씬 더 낮은 </a:t>
            </a:r>
            <a:r>
              <a:rPr lang="ko-KR" altLang="en-US" sz="2400" dirty="0" err="1" smtClean="0"/>
              <a:t>평가치를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제공 할 </a:t>
            </a:r>
            <a:r>
              <a:rPr lang="ko-KR" altLang="en-US" sz="2400" dirty="0" smtClean="0"/>
              <a:t>수 있음</a:t>
            </a:r>
            <a:endParaRPr lang="en-US" sz="2400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524000" y="1600200"/>
            <a:ext cx="5486400" cy="0"/>
          </a:xfrm>
          <a:prstGeom prst="line">
            <a:avLst/>
          </a:prstGeom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895600" y="1600200"/>
            <a:ext cx="0" cy="1371600"/>
          </a:xfrm>
          <a:prstGeom prst="line">
            <a:avLst/>
          </a:prstGeom>
          <a:ln w="101600" cap="rnd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895600" y="2971800"/>
            <a:ext cx="457200" cy="0"/>
          </a:xfrm>
          <a:prstGeom prst="line">
            <a:avLst/>
          </a:prstGeom>
          <a:ln w="101600" cap="rnd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800600" y="1600200"/>
            <a:ext cx="0" cy="1371600"/>
          </a:xfrm>
          <a:prstGeom prst="line">
            <a:avLst/>
          </a:prstGeom>
          <a:ln w="101600" cap="rnd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4267200" y="2971800"/>
            <a:ext cx="533400" cy="0"/>
          </a:xfrm>
          <a:prstGeom prst="line">
            <a:avLst/>
          </a:prstGeom>
          <a:ln w="101600" cap="rnd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800600" y="3657600"/>
            <a:ext cx="0" cy="685800"/>
          </a:xfrm>
          <a:prstGeom prst="line">
            <a:avLst/>
          </a:prstGeom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99328" y="2057400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867400" y="2041074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981200" y="3276600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708400" y="3276600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865586" y="3276600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>
            <a:stCxn id="19" idx="6"/>
            <a:endCxn id="20" idx="2"/>
          </p:cNvCxnSpPr>
          <p:nvPr/>
        </p:nvCxnSpPr>
        <p:spPr>
          <a:xfrm>
            <a:off x="2209800" y="3390900"/>
            <a:ext cx="14986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0" idx="0"/>
            <a:endCxn id="17" idx="4"/>
          </p:cNvCxnSpPr>
          <p:nvPr/>
        </p:nvCxnSpPr>
        <p:spPr>
          <a:xfrm flipH="1" flipV="1">
            <a:off x="3813628" y="2286000"/>
            <a:ext cx="9072" cy="9906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20" idx="6"/>
            <a:endCxn id="23" idx="2"/>
          </p:cNvCxnSpPr>
          <p:nvPr/>
        </p:nvCxnSpPr>
        <p:spPr>
          <a:xfrm>
            <a:off x="3937000" y="3390900"/>
            <a:ext cx="1928586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23" idx="0"/>
            <a:endCxn id="18" idx="4"/>
          </p:cNvCxnSpPr>
          <p:nvPr/>
        </p:nvCxnSpPr>
        <p:spPr>
          <a:xfrm flipV="1">
            <a:off x="5979886" y="2269674"/>
            <a:ext cx="1814" cy="100692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9" idx="7"/>
            <a:endCxn id="18" idx="2"/>
          </p:cNvCxnSpPr>
          <p:nvPr/>
        </p:nvCxnSpPr>
        <p:spPr>
          <a:xfrm flipV="1">
            <a:off x="2176322" y="2155374"/>
            <a:ext cx="3691078" cy="115470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20" idx="7"/>
            <a:endCxn id="18" idx="3"/>
          </p:cNvCxnSpPr>
          <p:nvPr/>
        </p:nvCxnSpPr>
        <p:spPr>
          <a:xfrm flipV="1">
            <a:off x="3903522" y="2236196"/>
            <a:ext cx="1997356" cy="107388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23" idx="7"/>
            <a:endCxn id="18" idx="5"/>
          </p:cNvCxnSpPr>
          <p:nvPr/>
        </p:nvCxnSpPr>
        <p:spPr>
          <a:xfrm flipV="1">
            <a:off x="6060708" y="2236196"/>
            <a:ext cx="1814" cy="107388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7" idx="6"/>
            <a:endCxn id="18" idx="2"/>
          </p:cNvCxnSpPr>
          <p:nvPr/>
        </p:nvCxnSpPr>
        <p:spPr>
          <a:xfrm flipV="1">
            <a:off x="3927928" y="2155374"/>
            <a:ext cx="1939472" cy="1632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 bwMode="auto">
          <a:xfrm>
            <a:off x="2751169" y="3390900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4757769" y="3369129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 bwMode="auto">
          <a:xfrm>
            <a:off x="5691024" y="2633246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 bwMode="auto">
          <a:xfrm>
            <a:off x="3524766" y="2394172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 bwMode="auto">
          <a:xfrm>
            <a:off x="2306817" y="2837712"/>
            <a:ext cx="4443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1600" kern="0" dirty="0" smtClean="0">
                <a:solidFill>
                  <a:schemeClr val="accent3"/>
                </a:solidFill>
                <a:latin typeface="Calibri" pitchFamily="34" charset="0"/>
              </a:rPr>
              <a:t>2.2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51" name="TextBox 50"/>
          <p:cNvSpPr txBox="1"/>
          <p:nvPr/>
        </p:nvSpPr>
        <p:spPr bwMode="auto">
          <a:xfrm>
            <a:off x="4953000" y="1830783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1600" kern="0" noProof="0" dirty="0">
                <a:solidFill>
                  <a:schemeClr val="accent3"/>
                </a:solidFill>
                <a:latin typeface="Calibri" pitchFamily="34" charset="0"/>
              </a:rPr>
              <a:t>1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52" name="TextBox 51"/>
          <p:cNvSpPr txBox="1"/>
          <p:nvPr/>
        </p:nvSpPr>
        <p:spPr bwMode="auto">
          <a:xfrm>
            <a:off x="6084684" y="2586075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1600" kern="0" noProof="0" dirty="0">
                <a:solidFill>
                  <a:schemeClr val="accent3"/>
                </a:solidFill>
                <a:latin typeface="Calibri" pitchFamily="34" charset="0"/>
              </a:rPr>
              <a:t>1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53" name="TextBox 52"/>
          <p:cNvSpPr txBox="1"/>
          <p:nvPr/>
        </p:nvSpPr>
        <p:spPr bwMode="auto">
          <a:xfrm flipH="1">
            <a:off x="4955768" y="2679870"/>
            <a:ext cx="53063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1600" kern="0" noProof="0" dirty="0" smtClean="0">
                <a:solidFill>
                  <a:schemeClr val="accent3"/>
                </a:solidFill>
                <a:latin typeface="Calibri" pitchFamily="34" charset="0"/>
              </a:rPr>
              <a:t>1.4</a:t>
            </a: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45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r>
              <a:rPr lang="en-US" dirty="0" smtClean="0"/>
              <a:t>Cluster heuristic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181600"/>
            <a:ext cx="8229600" cy="1653750"/>
          </a:xfrm>
        </p:spPr>
        <p:txBody>
          <a:bodyPr>
            <a:normAutofit/>
          </a:bodyPr>
          <a:lstStyle/>
          <a:p>
            <a:r>
              <a:rPr lang="ko-KR" altLang="en-US" sz="2000" dirty="0" smtClean="0"/>
              <a:t>실내에 적합</a:t>
            </a:r>
            <a:endParaRPr lang="en-US" altLang="ko-KR" sz="2000" dirty="0" smtClean="0"/>
          </a:p>
          <a:p>
            <a:r>
              <a:rPr lang="ko-KR" altLang="en-US" sz="2000" dirty="0" smtClean="0"/>
              <a:t>클러스터 간 정확한 </a:t>
            </a:r>
            <a:r>
              <a:rPr lang="ko-KR" altLang="en-US" sz="2000" dirty="0" err="1" smtClean="0"/>
              <a:t>휴리스틱을</a:t>
            </a:r>
            <a:r>
              <a:rPr lang="ko-KR" altLang="en-US" sz="2000" dirty="0" smtClean="0"/>
              <a:t> 미리 계산</a:t>
            </a:r>
            <a:endParaRPr lang="en-US" altLang="ko-KR" sz="2000" dirty="0" smtClean="0"/>
          </a:p>
          <a:p>
            <a:r>
              <a:rPr lang="ko-KR" altLang="en-US" sz="2000" dirty="0" smtClean="0"/>
              <a:t>클러스터 간에는 미리 계산된 값을 사용하고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클러스터 내에서는 </a:t>
            </a:r>
            <a:r>
              <a:rPr lang="ko-KR" altLang="en-US" sz="2000" dirty="0" err="1" smtClean="0"/>
              <a:t>유클리디안</a:t>
            </a:r>
            <a:r>
              <a:rPr lang="ko-KR" altLang="en-US" sz="2000" dirty="0" smtClean="0"/>
              <a:t> 거리 사용</a:t>
            </a:r>
            <a:endParaRPr lang="en-US" sz="2000" dirty="0" smtClean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241268" y="1650004"/>
            <a:ext cx="0" cy="2350496"/>
          </a:xfrm>
          <a:prstGeom prst="line">
            <a:avLst/>
          </a:prstGeom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1241268" y="1650004"/>
            <a:ext cx="1806732" cy="0"/>
          </a:xfrm>
          <a:prstGeom prst="line">
            <a:avLst/>
          </a:prstGeom>
          <a:ln w="101600" cap="rnd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048000" y="3472543"/>
            <a:ext cx="0" cy="500743"/>
          </a:xfrm>
          <a:prstGeom prst="line">
            <a:avLst/>
          </a:prstGeom>
          <a:ln w="101600" cap="rnd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41268" y="3973286"/>
            <a:ext cx="1806732" cy="0"/>
          </a:xfrm>
          <a:prstGeom prst="line">
            <a:avLst/>
          </a:prstGeom>
          <a:ln w="101600" cap="rnd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3060702" y="5029200"/>
            <a:ext cx="2001452" cy="0"/>
          </a:xfrm>
          <a:prstGeom prst="line">
            <a:avLst/>
          </a:prstGeom>
          <a:ln w="101600" cap="rnd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048000" y="1650004"/>
            <a:ext cx="0" cy="585376"/>
          </a:xfrm>
          <a:prstGeom prst="line">
            <a:avLst/>
          </a:prstGeom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535395" y="2123570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2514600" y="2118590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565526" y="3256643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595422" y="3256643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/>
          <p:cNvCxnSpPr/>
          <p:nvPr/>
        </p:nvCxnSpPr>
        <p:spPr>
          <a:xfrm>
            <a:off x="3048000" y="914400"/>
            <a:ext cx="0" cy="735604"/>
          </a:xfrm>
          <a:prstGeom prst="line">
            <a:avLst/>
          </a:prstGeom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048000" y="957945"/>
            <a:ext cx="2057400" cy="0"/>
          </a:xfrm>
          <a:prstGeom prst="line">
            <a:avLst/>
          </a:prstGeom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3060700" y="3973286"/>
            <a:ext cx="1492985" cy="0"/>
          </a:xfrm>
          <a:prstGeom prst="line">
            <a:avLst/>
          </a:prstGeom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5062154" y="945154"/>
            <a:ext cx="0" cy="4084046"/>
          </a:xfrm>
          <a:prstGeom prst="line">
            <a:avLst/>
          </a:prstGeom>
          <a:ln w="1016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3040743" y="3956957"/>
            <a:ext cx="0" cy="1072243"/>
          </a:xfrm>
          <a:prstGeom prst="line">
            <a:avLst/>
          </a:prstGeom>
          <a:ln w="101600" cap="rnd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2023398" y="2710952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3339616" y="1524000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4553685" y="1524000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3369747" y="3492500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4667985" y="3472543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3941919" y="2784386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3369747" y="4513035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4667985" y="4493078"/>
            <a:ext cx="228600" cy="228600"/>
          </a:xfrm>
          <a:prstGeom prst="ellipse">
            <a:avLst/>
          </a:prstGeom>
          <a:pattFill prst="solidDmnd">
            <a:fgClr>
              <a:srgbClr val="000000"/>
            </a:fgClr>
            <a:bgClr>
              <a:schemeClr val="bg1"/>
            </a:bgClr>
          </a:patt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 bwMode="auto">
          <a:xfrm>
            <a:off x="1445071" y="1656925"/>
            <a:ext cx="11272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Cluster A</a:t>
            </a:r>
          </a:p>
        </p:txBody>
      </p:sp>
      <p:sp>
        <p:nvSpPr>
          <p:cNvPr id="88" name="TextBox 87"/>
          <p:cNvSpPr txBox="1"/>
          <p:nvPr/>
        </p:nvSpPr>
        <p:spPr bwMode="auto">
          <a:xfrm>
            <a:off x="3400430" y="957945"/>
            <a:ext cx="1117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Cluster B</a:t>
            </a:r>
          </a:p>
        </p:txBody>
      </p:sp>
      <p:sp>
        <p:nvSpPr>
          <p:cNvPr id="89" name="TextBox 88"/>
          <p:cNvSpPr txBox="1"/>
          <p:nvPr/>
        </p:nvSpPr>
        <p:spPr bwMode="auto">
          <a:xfrm>
            <a:off x="3429000" y="4000500"/>
            <a:ext cx="11144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Cluster C</a:t>
            </a:r>
          </a:p>
        </p:txBody>
      </p:sp>
      <p:cxnSp>
        <p:nvCxnSpPr>
          <p:cNvPr id="91" name="Straight Connector 90"/>
          <p:cNvCxnSpPr>
            <a:stCxn id="17" idx="6"/>
            <a:endCxn id="18" idx="2"/>
          </p:cNvCxnSpPr>
          <p:nvPr/>
        </p:nvCxnSpPr>
        <p:spPr>
          <a:xfrm flipV="1">
            <a:off x="1763995" y="2232890"/>
            <a:ext cx="750605" cy="49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8" idx="4"/>
            <a:endCxn id="20" idx="0"/>
          </p:cNvCxnSpPr>
          <p:nvPr/>
        </p:nvCxnSpPr>
        <p:spPr>
          <a:xfrm>
            <a:off x="2628900" y="2347190"/>
            <a:ext cx="80822" cy="909453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9" idx="6"/>
            <a:endCxn id="20" idx="2"/>
          </p:cNvCxnSpPr>
          <p:nvPr/>
        </p:nvCxnSpPr>
        <p:spPr>
          <a:xfrm>
            <a:off x="1794126" y="3370943"/>
            <a:ext cx="801296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19" idx="0"/>
            <a:endCxn id="17" idx="4"/>
          </p:cNvCxnSpPr>
          <p:nvPr/>
        </p:nvCxnSpPr>
        <p:spPr>
          <a:xfrm flipH="1" flipV="1">
            <a:off x="1649695" y="2352170"/>
            <a:ext cx="30131" cy="904473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78" idx="1"/>
            <a:endCxn id="17" idx="5"/>
          </p:cNvCxnSpPr>
          <p:nvPr/>
        </p:nvCxnSpPr>
        <p:spPr>
          <a:xfrm flipH="1" flipV="1">
            <a:off x="1730517" y="2318692"/>
            <a:ext cx="326359" cy="425738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78" idx="6"/>
            <a:endCxn id="18" idx="4"/>
          </p:cNvCxnSpPr>
          <p:nvPr/>
        </p:nvCxnSpPr>
        <p:spPr>
          <a:xfrm flipV="1">
            <a:off x="2251998" y="2347190"/>
            <a:ext cx="376902" cy="47806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78" idx="3"/>
            <a:endCxn id="19" idx="7"/>
          </p:cNvCxnSpPr>
          <p:nvPr/>
        </p:nvCxnSpPr>
        <p:spPr>
          <a:xfrm flipH="1">
            <a:off x="1760648" y="2906074"/>
            <a:ext cx="296228" cy="38404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8" idx="5"/>
            <a:endCxn id="20" idx="1"/>
          </p:cNvCxnSpPr>
          <p:nvPr/>
        </p:nvCxnSpPr>
        <p:spPr>
          <a:xfrm>
            <a:off x="2218520" y="2906074"/>
            <a:ext cx="410380" cy="38404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20" idx="7"/>
            <a:endCxn id="83" idx="3"/>
          </p:cNvCxnSpPr>
          <p:nvPr/>
        </p:nvCxnSpPr>
        <p:spPr>
          <a:xfrm flipV="1">
            <a:off x="2790544" y="2979508"/>
            <a:ext cx="1184853" cy="310613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18" idx="5"/>
            <a:endCxn id="83" idx="1"/>
          </p:cNvCxnSpPr>
          <p:nvPr/>
        </p:nvCxnSpPr>
        <p:spPr>
          <a:xfrm>
            <a:off x="2709722" y="2313712"/>
            <a:ext cx="1265675" cy="50415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83" idx="0"/>
            <a:endCxn id="79" idx="5"/>
          </p:cNvCxnSpPr>
          <p:nvPr/>
        </p:nvCxnSpPr>
        <p:spPr>
          <a:xfrm flipH="1" flipV="1">
            <a:off x="3534738" y="1719122"/>
            <a:ext cx="521481" cy="106526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83" idx="6"/>
            <a:endCxn id="80" idx="4"/>
          </p:cNvCxnSpPr>
          <p:nvPr/>
        </p:nvCxnSpPr>
        <p:spPr>
          <a:xfrm flipV="1">
            <a:off x="4170519" y="1752600"/>
            <a:ext cx="497466" cy="114608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stCxn id="81" idx="7"/>
            <a:endCxn id="83" idx="4"/>
          </p:cNvCxnSpPr>
          <p:nvPr/>
        </p:nvCxnSpPr>
        <p:spPr>
          <a:xfrm flipV="1">
            <a:off x="3564869" y="3012986"/>
            <a:ext cx="491350" cy="51299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stCxn id="82" idx="1"/>
            <a:endCxn id="83" idx="5"/>
          </p:cNvCxnSpPr>
          <p:nvPr/>
        </p:nvCxnSpPr>
        <p:spPr>
          <a:xfrm flipH="1" flipV="1">
            <a:off x="4137041" y="2979508"/>
            <a:ext cx="564422" cy="526513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81" idx="6"/>
            <a:endCxn id="82" idx="2"/>
          </p:cNvCxnSpPr>
          <p:nvPr/>
        </p:nvCxnSpPr>
        <p:spPr>
          <a:xfrm flipV="1">
            <a:off x="3598347" y="3586843"/>
            <a:ext cx="1069638" cy="1995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79" idx="6"/>
            <a:endCxn id="80" idx="2"/>
          </p:cNvCxnSpPr>
          <p:nvPr/>
        </p:nvCxnSpPr>
        <p:spPr>
          <a:xfrm>
            <a:off x="3568216" y="1638300"/>
            <a:ext cx="985469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80" idx="5"/>
            <a:endCxn id="82" idx="7"/>
          </p:cNvCxnSpPr>
          <p:nvPr/>
        </p:nvCxnSpPr>
        <p:spPr>
          <a:xfrm>
            <a:off x="4748807" y="1719122"/>
            <a:ext cx="114300" cy="1786899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/>
          <p:cNvCxnSpPr>
            <a:stCxn id="82" idx="4"/>
            <a:endCxn id="86" idx="0"/>
          </p:cNvCxnSpPr>
          <p:nvPr/>
        </p:nvCxnSpPr>
        <p:spPr>
          <a:xfrm>
            <a:off x="4782285" y="3701143"/>
            <a:ext cx="0" cy="791935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stCxn id="86" idx="2"/>
            <a:endCxn id="85" idx="6"/>
          </p:cNvCxnSpPr>
          <p:nvPr/>
        </p:nvCxnSpPr>
        <p:spPr>
          <a:xfrm flipH="1">
            <a:off x="3598347" y="4607378"/>
            <a:ext cx="1069638" cy="19957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0" name="Table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400246"/>
              </p:ext>
            </p:extLst>
          </p:nvPr>
        </p:nvGraphicFramePr>
        <p:xfrm>
          <a:off x="5791201" y="2612571"/>
          <a:ext cx="1828799" cy="13879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64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643"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1" name="TextBox 130"/>
          <p:cNvSpPr txBox="1"/>
          <p:nvPr/>
        </p:nvSpPr>
        <p:spPr bwMode="auto">
          <a:xfrm>
            <a:off x="5870771" y="2165524"/>
            <a:ext cx="3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161A1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</a:t>
            </a:r>
          </a:p>
        </p:txBody>
      </p:sp>
      <p:sp>
        <p:nvSpPr>
          <p:cNvPr id="132" name="TextBox 131"/>
          <p:cNvSpPr txBox="1"/>
          <p:nvPr/>
        </p:nvSpPr>
        <p:spPr bwMode="auto">
          <a:xfrm>
            <a:off x="6503918" y="2165524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33" name="TextBox 132"/>
          <p:cNvSpPr txBox="1"/>
          <p:nvPr/>
        </p:nvSpPr>
        <p:spPr bwMode="auto">
          <a:xfrm>
            <a:off x="7086600" y="2133600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34" name="TextBox 133"/>
          <p:cNvSpPr txBox="1"/>
          <p:nvPr/>
        </p:nvSpPr>
        <p:spPr bwMode="auto">
          <a:xfrm>
            <a:off x="5334000" y="2636432"/>
            <a:ext cx="3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A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35" name="TextBox 134"/>
          <p:cNvSpPr txBox="1"/>
          <p:nvPr/>
        </p:nvSpPr>
        <p:spPr bwMode="auto">
          <a:xfrm>
            <a:off x="5345222" y="3098097"/>
            <a:ext cx="3513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dirty="0">
                <a:solidFill>
                  <a:srgbClr val="161A1C"/>
                </a:solidFill>
                <a:latin typeface="Calibri" pitchFamily="34" charset="0"/>
              </a:rPr>
              <a:t>B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36" name="TextBox 135"/>
          <p:cNvSpPr txBox="1"/>
          <p:nvPr/>
        </p:nvSpPr>
        <p:spPr bwMode="auto">
          <a:xfrm>
            <a:off x="5351886" y="3523621"/>
            <a:ext cx="348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FF33"/>
              </a:buClr>
              <a:buSzTx/>
              <a:buFont typeface="Wingdings" pitchFamily="2" charset="2"/>
              <a:buNone/>
              <a:tabLst/>
            </a:pPr>
            <a:r>
              <a:rPr lang="en-US" sz="2400" kern="0" noProof="0" dirty="0" smtClean="0">
                <a:solidFill>
                  <a:srgbClr val="161A1C"/>
                </a:solidFill>
                <a:latin typeface="Calibri" pitchFamily="34" charset="0"/>
              </a:rPr>
              <a:t>C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161A1C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979712" y="22048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11</a:t>
            </a:r>
            <a:endParaRPr lang="ko-KR" alt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1691680" y="242088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331640" y="256490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1907704" y="292494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2339752" y="256490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6</a:t>
            </a:r>
            <a:endParaRPr lang="ko-KR" alt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2195736" y="299695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2699792" y="26369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2051720" y="335699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</a:t>
            </a:r>
            <a:endParaRPr lang="ko-KR" alt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3203848" y="22048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14</a:t>
            </a:r>
            <a:endParaRPr lang="ko-KR" alt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3203848" y="285293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13</a:t>
            </a:r>
            <a:endParaRPr lang="ko-KR" alt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3923928" y="16288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3707904" y="198884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4139952" y="22048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11</a:t>
            </a:r>
            <a:endParaRPr lang="ko-KR" alt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4572000" y="249289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15</a:t>
            </a:r>
            <a:endParaRPr lang="ko-KR" alt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3851920" y="314096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4355976" y="292494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9</a:t>
            </a:r>
            <a:endParaRPr lang="ko-KR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4139952" y="350100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4716016" y="40050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3995936" y="458112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14870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Hierarchical Pathfinding</a:t>
            </a:r>
            <a:endParaRPr lang="ko-KR" alt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4104456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사람과 거의 같은 방식으로 경로를 </a:t>
            </a:r>
            <a:r>
              <a:rPr lang="ko-KR" altLang="en-US" sz="2400" dirty="0" smtClean="0"/>
              <a:t>계획</a:t>
            </a:r>
            <a:endParaRPr lang="en-US" sz="2400" dirty="0" smtClean="0"/>
          </a:p>
          <a:p>
            <a:pPr lvl="1"/>
            <a:r>
              <a:rPr lang="ko-KR" altLang="en-US" sz="2000" dirty="0" smtClean="0"/>
              <a:t>대략적 </a:t>
            </a:r>
            <a:r>
              <a:rPr lang="ko-KR" altLang="ko-KR" sz="2000" dirty="0" smtClean="0"/>
              <a:t>경로를 </a:t>
            </a:r>
            <a:r>
              <a:rPr lang="ko-KR" altLang="ko-KR" sz="2000" dirty="0"/>
              <a:t>먼저 </a:t>
            </a:r>
            <a:r>
              <a:rPr lang="ko-KR" altLang="en-US" sz="2000" dirty="0" smtClean="0"/>
              <a:t>구한</a:t>
            </a:r>
            <a:r>
              <a:rPr lang="ko-KR" altLang="ko-KR" sz="2000" dirty="0" smtClean="0"/>
              <a:t> </a:t>
            </a:r>
            <a:r>
              <a:rPr lang="ko-KR" altLang="en-US" sz="2000" dirty="0" smtClean="0"/>
              <a:t>후</a:t>
            </a:r>
            <a:r>
              <a:rPr lang="ko-KR" altLang="ko-KR" sz="2000" dirty="0" smtClean="0"/>
              <a:t> </a:t>
            </a:r>
            <a:r>
              <a:rPr lang="ko-KR" altLang="ko-KR" sz="2000" dirty="0"/>
              <a:t>개선 </a:t>
            </a:r>
            <a:r>
              <a:rPr lang="ko-KR" altLang="ko-KR" sz="2000" dirty="0" smtClean="0"/>
              <a:t>된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경로를 구함</a:t>
            </a:r>
            <a:endParaRPr lang="en-US" sz="2000" dirty="0" smtClean="0"/>
          </a:p>
          <a:p>
            <a:r>
              <a:rPr lang="ko-KR" altLang="en-US" sz="2400" dirty="0" smtClean="0"/>
              <a:t>계층적 그래프를 구성해야 함</a:t>
            </a:r>
            <a:r>
              <a:rPr lang="en-US" sz="2400" dirty="0" smtClean="0"/>
              <a:t> </a:t>
            </a:r>
          </a:p>
          <a:p>
            <a:endParaRPr lang="en-US" sz="2400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708920"/>
            <a:ext cx="675322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734738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Hierarchical Pathfinding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84784"/>
          </a:xfrm>
        </p:spPr>
        <p:txBody>
          <a:bodyPr/>
          <a:lstStyle/>
          <a:p>
            <a:r>
              <a:rPr lang="en-US" altLang="ko-KR" dirty="0" smtClean="0"/>
              <a:t>Connection</a:t>
            </a: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11560" y="3429000"/>
            <a:ext cx="8229600" cy="5760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Connection Costs</a:t>
            </a:r>
            <a:endParaRPr kumimoji="0" lang="ko-KR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005064"/>
            <a:ext cx="321945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99592" y="2259098"/>
            <a:ext cx="6408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그룹 </a:t>
            </a:r>
            <a:r>
              <a:rPr lang="ko-KR" altLang="en-US" dirty="0"/>
              <a:t>사이의 연결은 낮은 레벨의 그래프에서 노드 간의 연결이 하나라도 존재하면 그 두 그룹 사이의 연결도 </a:t>
            </a:r>
            <a:r>
              <a:rPr lang="ko-KR" altLang="en-US" dirty="0" smtClean="0"/>
              <a:t>존재하게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60640" y="4153136"/>
            <a:ext cx="4680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457200"/>
            <a:r>
              <a:rPr lang="ko-KR" altLang="en-US" dirty="0"/>
              <a:t>최소 거리 </a:t>
            </a:r>
            <a:r>
              <a:rPr lang="en-US" altLang="ko-KR" dirty="0"/>
              <a:t>: </a:t>
            </a:r>
            <a:r>
              <a:rPr lang="ko-KR" altLang="en-US" dirty="0"/>
              <a:t>두 그룹 노드 간의 거리 중 가장 짧은 거리로</a:t>
            </a:r>
            <a:r>
              <a:rPr lang="en-US" altLang="ko-KR" dirty="0"/>
              <a:t>. </a:t>
            </a:r>
            <a:r>
              <a:rPr lang="ko-KR" altLang="en-US" dirty="0"/>
              <a:t>예를 들어 옆 그림에서 </a:t>
            </a:r>
            <a:r>
              <a:rPr lang="en-US" altLang="ko-KR" dirty="0"/>
              <a:t>C </a:t>
            </a:r>
            <a:r>
              <a:rPr lang="ko-KR" altLang="en-US" dirty="0"/>
              <a:t>그룹과 </a:t>
            </a:r>
            <a:r>
              <a:rPr lang="en-US" altLang="ko-KR" dirty="0"/>
              <a:t>D </a:t>
            </a:r>
            <a:r>
              <a:rPr lang="ko-KR" altLang="en-US" dirty="0"/>
              <a:t>그룹 사이의 최소 거리는  </a:t>
            </a:r>
            <a:r>
              <a:rPr lang="en-US" altLang="ko-KR" dirty="0"/>
              <a:t>(C1, D1), (C2, D1), (C3, D1), (C4, D1), (C5, D1), (C6, D1), (C7, D1), (C1, D2), (C2, D2), (C3, D2), (C4, D2), (C5, D2), (C6, D2), (C7, D2) </a:t>
            </a:r>
            <a:r>
              <a:rPr lang="ko-KR" altLang="en-US" dirty="0"/>
              <a:t>중 가장 </a:t>
            </a:r>
            <a:r>
              <a:rPr lang="ko-KR" altLang="en-US" dirty="0" smtClean="0"/>
              <a:t>짧은 </a:t>
            </a:r>
            <a:r>
              <a:rPr lang="ko-KR" altLang="en-US" dirty="0"/>
              <a:t>거리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1</a:t>
            </a:r>
            <a:endParaRPr lang="ko-KR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Hierarchical Pathfinding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5058" y="1700808"/>
            <a:ext cx="73448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457200"/>
            <a:r>
              <a:rPr lang="ko-KR" altLang="en-US" dirty="0"/>
              <a:t>최대 거리 </a:t>
            </a:r>
            <a:r>
              <a:rPr lang="en-US" altLang="ko-KR" dirty="0"/>
              <a:t>: </a:t>
            </a:r>
            <a:r>
              <a:rPr lang="ko-KR" altLang="en-US" dirty="0"/>
              <a:t>시작 그룹의 각 진입 노드에 대해 목표 그룹으로의 진출 노드까지의 최소 거리를 구한 후 </a:t>
            </a:r>
            <a:r>
              <a:rPr lang="ko-KR" altLang="en-US" dirty="0" smtClean="0"/>
              <a:t>그 값을 해당 진출 노드에서 목표 그룹의 진입노드까지의 거리에 합산</a:t>
            </a:r>
            <a:r>
              <a:rPr lang="en-US" altLang="ko-KR" dirty="0"/>
              <a:t>. </a:t>
            </a:r>
            <a:r>
              <a:rPr lang="ko-KR" altLang="en-US" dirty="0" smtClean="0"/>
              <a:t>이렇게 구한 값 중 </a:t>
            </a:r>
            <a:r>
              <a:rPr lang="ko-KR" altLang="en-US" dirty="0"/>
              <a:t>최대값을 </a:t>
            </a:r>
            <a:r>
              <a:rPr lang="ko-KR" altLang="en-US" dirty="0" smtClean="0"/>
              <a:t>구함</a:t>
            </a:r>
            <a:r>
              <a:rPr lang="en-US" altLang="ko-KR" dirty="0" smtClean="0"/>
              <a:t>.</a:t>
            </a:r>
            <a:r>
              <a:rPr lang="ko-KR" altLang="en-US" dirty="0" smtClean="0"/>
              <a:t>앞 </a:t>
            </a:r>
            <a:r>
              <a:rPr lang="ko-KR" altLang="en-US" dirty="0"/>
              <a:t>예서 </a:t>
            </a:r>
            <a:r>
              <a:rPr lang="en-US" altLang="ko-KR" dirty="0"/>
              <a:t>C</a:t>
            </a:r>
            <a:r>
              <a:rPr lang="ko-KR" altLang="en-US" dirty="0"/>
              <a:t>에서 </a:t>
            </a:r>
            <a:r>
              <a:rPr lang="en-US" altLang="ko-KR" dirty="0"/>
              <a:t>D</a:t>
            </a:r>
            <a:r>
              <a:rPr lang="ko-KR" altLang="en-US" dirty="0"/>
              <a:t>까지의 </a:t>
            </a:r>
            <a:r>
              <a:rPr lang="ko-KR" altLang="en-US" dirty="0" smtClean="0"/>
              <a:t>거리는 </a:t>
            </a:r>
            <a:r>
              <a:rPr lang="ko-KR" altLang="en-US" dirty="0"/>
              <a:t>먼저 진입 노드 </a:t>
            </a:r>
            <a:r>
              <a:rPr lang="en-US" altLang="ko-KR" dirty="0"/>
              <a:t>C1</a:t>
            </a:r>
            <a:r>
              <a:rPr lang="ko-KR" altLang="en-US" dirty="0"/>
              <a:t>에 대해 </a:t>
            </a:r>
            <a:r>
              <a:rPr lang="en-US" altLang="ko-KR" dirty="0"/>
              <a:t>(C1, C5)</a:t>
            </a:r>
            <a:r>
              <a:rPr lang="ko-KR" altLang="en-US" dirty="0"/>
              <a:t>와 </a:t>
            </a:r>
            <a:r>
              <a:rPr lang="en-US" altLang="ko-KR" dirty="0"/>
              <a:t>(C1, C7) </a:t>
            </a:r>
            <a:r>
              <a:rPr lang="ko-KR" altLang="en-US" dirty="0"/>
              <a:t>의 </a:t>
            </a:r>
            <a:r>
              <a:rPr lang="ko-KR" altLang="en-US" dirty="0" smtClean="0"/>
              <a:t>거리 중 </a:t>
            </a:r>
            <a:r>
              <a:rPr lang="ko-KR" altLang="en-US" dirty="0"/>
              <a:t>최소 거리 </a:t>
            </a:r>
            <a:r>
              <a:rPr lang="en-US" altLang="ko-KR" dirty="0"/>
              <a:t>4</a:t>
            </a:r>
            <a:r>
              <a:rPr lang="ko-KR" altLang="en-US" dirty="0"/>
              <a:t>를 </a:t>
            </a:r>
            <a:r>
              <a:rPr lang="ko-KR" altLang="en-US" dirty="0" smtClean="0"/>
              <a:t>선택하고 </a:t>
            </a:r>
            <a:r>
              <a:rPr lang="en-US" altLang="ko-KR" dirty="0" smtClean="0"/>
              <a:t>C5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D1</a:t>
            </a:r>
            <a:r>
              <a:rPr lang="ko-KR" altLang="en-US" dirty="0" smtClean="0"/>
              <a:t>까지 거리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을 더해 </a:t>
            </a:r>
            <a:r>
              <a:rPr lang="en-US" altLang="ko-KR" dirty="0" smtClean="0"/>
              <a:t>5, </a:t>
            </a:r>
            <a:r>
              <a:rPr lang="ko-KR" altLang="en-US" dirty="0"/>
              <a:t>노드 </a:t>
            </a:r>
            <a:r>
              <a:rPr lang="en-US" altLang="ko-KR" dirty="0"/>
              <a:t>C6</a:t>
            </a:r>
            <a:r>
              <a:rPr lang="ko-KR" altLang="en-US" dirty="0"/>
              <a:t>에 대해 </a:t>
            </a:r>
            <a:r>
              <a:rPr lang="en-US" altLang="ko-KR" dirty="0"/>
              <a:t>(C6, C5)</a:t>
            </a:r>
            <a:r>
              <a:rPr lang="ko-KR" altLang="en-US" dirty="0"/>
              <a:t>와 </a:t>
            </a:r>
            <a:r>
              <a:rPr lang="en-US" altLang="ko-KR" dirty="0"/>
              <a:t>(C6, C7) </a:t>
            </a:r>
            <a:r>
              <a:rPr lang="ko-KR" altLang="en-US" dirty="0"/>
              <a:t>의 </a:t>
            </a:r>
            <a:r>
              <a:rPr lang="ko-KR" altLang="en-US" dirty="0" smtClean="0"/>
              <a:t>거리 중 </a:t>
            </a:r>
            <a:r>
              <a:rPr lang="ko-KR" altLang="en-US" dirty="0"/>
              <a:t>최소 거리 </a:t>
            </a:r>
            <a:r>
              <a:rPr lang="en-US" altLang="ko-KR" dirty="0"/>
              <a:t>1</a:t>
            </a:r>
            <a:r>
              <a:rPr lang="ko-KR" altLang="en-US" dirty="0"/>
              <a:t>를 </a:t>
            </a:r>
            <a:r>
              <a:rPr lang="ko-KR" altLang="en-US" dirty="0" smtClean="0"/>
              <a:t>선택하고 이를 </a:t>
            </a:r>
            <a:r>
              <a:rPr lang="en-US" altLang="ko-KR" dirty="0" smtClean="0"/>
              <a:t>C7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D2</a:t>
            </a:r>
            <a:r>
              <a:rPr lang="ko-KR" altLang="en-US" dirty="0" smtClean="0"/>
              <a:t>까지 거리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을 더해 </a:t>
            </a:r>
            <a:r>
              <a:rPr lang="en-US" altLang="ko-KR" dirty="0" smtClean="0"/>
              <a:t>2, </a:t>
            </a:r>
            <a:r>
              <a:rPr lang="ko-KR" altLang="en-US" dirty="0" smtClean="0"/>
              <a:t>이중 최대값인 </a:t>
            </a:r>
            <a:r>
              <a:rPr lang="en-US" altLang="ko-KR" dirty="0" smtClean="0"/>
              <a:t>5</a:t>
            </a:r>
            <a:r>
              <a:rPr lang="ko-KR" altLang="en-US" dirty="0" smtClean="0"/>
              <a:t>를 </a:t>
            </a:r>
            <a:r>
              <a:rPr lang="ko-KR" altLang="en-US" dirty="0"/>
              <a:t>그룹 </a:t>
            </a:r>
            <a:r>
              <a:rPr lang="en-US" altLang="ko-KR" dirty="0"/>
              <a:t>C</a:t>
            </a:r>
            <a:r>
              <a:rPr lang="ko-KR" altLang="en-US" dirty="0"/>
              <a:t>와 그룹 </a:t>
            </a:r>
            <a:r>
              <a:rPr lang="en-US" altLang="ko-KR" dirty="0"/>
              <a:t>D </a:t>
            </a:r>
            <a:r>
              <a:rPr lang="ko-KR" altLang="en-US" dirty="0"/>
              <a:t>사이의 </a:t>
            </a:r>
            <a:r>
              <a:rPr lang="ko-KR" altLang="en-US" dirty="0" smtClean="0"/>
              <a:t>거리로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5057" y="4450308"/>
            <a:ext cx="73448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457200"/>
            <a:r>
              <a:rPr lang="ko-KR" altLang="en-US" dirty="0"/>
              <a:t>평균 </a:t>
            </a:r>
            <a:r>
              <a:rPr lang="ko-KR" altLang="en-US" dirty="0" smtClean="0"/>
              <a:t>최소 거리 </a:t>
            </a:r>
            <a:r>
              <a:rPr lang="en-US" altLang="ko-KR" dirty="0" smtClean="0"/>
              <a:t>(Average</a:t>
            </a:r>
            <a:r>
              <a:rPr lang="ko-KR" altLang="en-US" dirty="0" smtClean="0"/>
              <a:t>  </a:t>
            </a:r>
            <a:r>
              <a:rPr lang="en-US" altLang="ko-KR" dirty="0" smtClean="0"/>
              <a:t>Minimum Distance) : </a:t>
            </a:r>
            <a:r>
              <a:rPr lang="ko-KR" altLang="en-US" dirty="0"/>
              <a:t>종종 </a:t>
            </a:r>
            <a:r>
              <a:rPr lang="ko-KR" altLang="en-US" dirty="0" smtClean="0"/>
              <a:t>최소 거리나 </a:t>
            </a:r>
            <a:r>
              <a:rPr lang="ko-KR" altLang="en-US" dirty="0"/>
              <a:t>최대 거리보다 나음</a:t>
            </a:r>
            <a:r>
              <a:rPr lang="en-US" altLang="ko-KR" dirty="0"/>
              <a:t>. </a:t>
            </a:r>
            <a:r>
              <a:rPr lang="ko-KR" altLang="en-US" dirty="0"/>
              <a:t>최대 거리를 구하는 방법과 유사</a:t>
            </a:r>
            <a:r>
              <a:rPr lang="en-US" altLang="ko-KR" dirty="0"/>
              <a:t>. </a:t>
            </a:r>
            <a:r>
              <a:rPr lang="ko-KR" altLang="en-US" dirty="0"/>
              <a:t>최대를 선택하는 대신에 평균을 이용</a:t>
            </a:r>
            <a:r>
              <a:rPr lang="en-US" altLang="ko-KR" dirty="0"/>
              <a:t>. C2</a:t>
            </a:r>
            <a:r>
              <a:rPr lang="ko-KR" altLang="en-US" dirty="0"/>
              <a:t>에서 </a:t>
            </a:r>
            <a:r>
              <a:rPr lang="en-US" altLang="ko-KR" dirty="0"/>
              <a:t>C5</a:t>
            </a:r>
            <a:r>
              <a:rPr lang="ko-KR" altLang="en-US" dirty="0"/>
              <a:t>를 거쳐 </a:t>
            </a:r>
            <a:r>
              <a:rPr lang="en-US" altLang="ko-KR" dirty="0"/>
              <a:t>D</a:t>
            </a:r>
            <a:r>
              <a:rPr lang="ko-KR" altLang="en-US" dirty="0"/>
              <a:t>로 진입하는 비용 </a:t>
            </a:r>
            <a:r>
              <a:rPr lang="en-US" altLang="ko-KR" dirty="0"/>
              <a:t>5, C6</a:t>
            </a:r>
            <a:r>
              <a:rPr lang="ko-KR" altLang="en-US" dirty="0"/>
              <a:t>에서 </a:t>
            </a:r>
            <a:r>
              <a:rPr lang="en-US" altLang="ko-KR" dirty="0"/>
              <a:t>C7</a:t>
            </a:r>
            <a:r>
              <a:rPr lang="ko-KR" altLang="en-US" dirty="0"/>
              <a:t>을 거쳐 </a:t>
            </a:r>
            <a:r>
              <a:rPr lang="en-US" altLang="ko-KR" dirty="0"/>
              <a:t>D</a:t>
            </a:r>
            <a:r>
              <a:rPr lang="ko-KR" altLang="en-US" dirty="0"/>
              <a:t>로 진입하는 비용 </a:t>
            </a:r>
            <a:r>
              <a:rPr lang="en-US" altLang="ko-KR" dirty="0"/>
              <a:t>2, </a:t>
            </a:r>
            <a:r>
              <a:rPr lang="ko-KR" altLang="en-US" dirty="0"/>
              <a:t>그래서 </a:t>
            </a:r>
            <a:r>
              <a:rPr lang="en-US" altLang="ko-KR" dirty="0"/>
              <a:t>C</a:t>
            </a:r>
            <a:r>
              <a:rPr lang="ko-KR" altLang="en-US" dirty="0"/>
              <a:t>에서 </a:t>
            </a:r>
            <a:r>
              <a:rPr lang="en-US" altLang="ko-KR" dirty="0"/>
              <a:t>D</a:t>
            </a:r>
            <a:r>
              <a:rPr lang="ko-KR" altLang="en-US" dirty="0"/>
              <a:t>로의 평균 비용은 </a:t>
            </a:r>
            <a:r>
              <a:rPr lang="en-US" altLang="ko-KR" dirty="0"/>
              <a:t>7/2</a:t>
            </a:r>
            <a:endParaRPr lang="ko-KR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및 과제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92896"/>
          </a:xfrm>
        </p:spPr>
        <p:txBody>
          <a:bodyPr/>
          <a:lstStyle/>
          <a:p>
            <a:r>
              <a:rPr lang="en-US" altLang="ko-KR" dirty="0" smtClean="0"/>
              <a:t>8-puzzle</a:t>
            </a:r>
          </a:p>
          <a:p>
            <a:pPr lvl="1"/>
            <a:r>
              <a:rPr lang="en-US" altLang="ko-KR" dirty="0" smtClean="0"/>
              <a:t>Greedy </a:t>
            </a:r>
            <a:r>
              <a:rPr lang="ko-KR" altLang="en-US" dirty="0" smtClean="0"/>
              <a:t>알고리즘으로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Uniform</a:t>
            </a:r>
            <a:r>
              <a:rPr lang="ko-KR" altLang="en-US" dirty="0" smtClean="0"/>
              <a:t> </a:t>
            </a:r>
            <a:r>
              <a:rPr lang="en-US" altLang="ko-KR" dirty="0" smtClean="0"/>
              <a:t>Cost </a:t>
            </a:r>
            <a:r>
              <a:rPr lang="ko-KR" altLang="en-US" dirty="0" smtClean="0"/>
              <a:t>알고리즘으로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A* </a:t>
            </a:r>
            <a:r>
              <a:rPr lang="ko-KR" altLang="en-US" dirty="0" smtClean="0"/>
              <a:t>알고리즘으로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결과 비교 분석하기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99592" y="5013176"/>
            <a:ext cx="703237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simpleai</a:t>
            </a:r>
            <a:r>
              <a:rPr lang="en-US" altLang="ko-KR" dirty="0" smtClean="0"/>
              <a:t> </a:t>
            </a:r>
            <a:r>
              <a:rPr lang="ko-KR" altLang="en-US" dirty="0" smtClean="0"/>
              <a:t>패키지 이용 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</a:t>
            </a:r>
            <a:r>
              <a:rPr lang="en-US" altLang="ko-KR" dirty="0" smtClean="0">
                <a:hlinkClick r:id="rId2"/>
              </a:rPr>
              <a:t>github.com/simpleai-team/simpleai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en-US" altLang="ko-KR" dirty="0"/>
              <a:t>from </a:t>
            </a:r>
            <a:r>
              <a:rPr lang="en-US" altLang="ko-KR" dirty="0" err="1"/>
              <a:t>simpleai.search</a:t>
            </a:r>
            <a:r>
              <a:rPr lang="en-US" altLang="ko-KR" dirty="0"/>
              <a:t> import </a:t>
            </a:r>
            <a:r>
              <a:rPr lang="en-US" altLang="ko-KR" dirty="0" err="1"/>
              <a:t>astar</a:t>
            </a:r>
            <a:r>
              <a:rPr lang="en-US" altLang="ko-KR" dirty="0"/>
              <a:t>, </a:t>
            </a:r>
            <a:r>
              <a:rPr lang="en-US" altLang="ko-KR" dirty="0" err="1"/>
              <a:t>SearchProblem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351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10623</TotalTime>
  <Words>2161</Words>
  <Application>Microsoft Office PowerPoint</Application>
  <PresentationFormat>화면 슬라이드 쇼(4:3)</PresentationFormat>
  <Paragraphs>475</Paragraphs>
  <Slides>42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9" baseType="lpstr">
      <vt:lpstr>굴림</vt:lpstr>
      <vt:lpstr>맑은 고딕</vt:lpstr>
      <vt:lpstr>Arial</vt:lpstr>
      <vt:lpstr>Calibri</vt:lpstr>
      <vt:lpstr>Courier New</vt:lpstr>
      <vt:lpstr>Wingdings</vt:lpstr>
      <vt:lpstr>Office 테마</vt:lpstr>
      <vt:lpstr>길 찾기 (Pathfinding)</vt:lpstr>
      <vt:lpstr>탐색공간 (Search space)</vt:lpstr>
      <vt:lpstr>Regular Grids</vt:lpstr>
      <vt:lpstr>Regular Grids</vt:lpstr>
      <vt:lpstr>Movement</vt:lpstr>
      <vt:lpstr>An Optimization</vt:lpstr>
      <vt:lpstr>Graphs</vt:lpstr>
      <vt:lpstr>Corner graphs</vt:lpstr>
      <vt:lpstr>Corner Graphs</vt:lpstr>
      <vt:lpstr>Waypoint Graphs</vt:lpstr>
      <vt:lpstr>Waypoint Graphs</vt:lpstr>
      <vt:lpstr>Circle-based Waypoint Graphs</vt:lpstr>
      <vt:lpstr>Navigation Meshes</vt:lpstr>
      <vt:lpstr>2 types of NavMeshs</vt:lpstr>
      <vt:lpstr>2 types of NavMeshs</vt:lpstr>
      <vt:lpstr>균일 비용 탐색 (Uniform cost search)</vt:lpstr>
      <vt:lpstr>균일 비용 탐색 (Uniform cost search)</vt:lpstr>
      <vt:lpstr>Example graph</vt:lpstr>
      <vt:lpstr>Uniform cost example</vt:lpstr>
      <vt:lpstr>Uniform cost example</vt:lpstr>
      <vt:lpstr>Uniform cost example</vt:lpstr>
      <vt:lpstr>Uniform cost example</vt:lpstr>
      <vt:lpstr>Uniform cost example</vt:lpstr>
      <vt:lpstr>Uniform cost example</vt:lpstr>
      <vt:lpstr>Heuristic search</vt:lpstr>
      <vt:lpstr>Best first “greedy” search</vt:lpstr>
      <vt:lpstr>A* search</vt:lpstr>
      <vt:lpstr>When should A* terminate?</vt:lpstr>
      <vt:lpstr>Correct A* termination rule</vt:lpstr>
      <vt:lpstr>A* 재방문 상태 처리</vt:lpstr>
      <vt:lpstr>A* 재방문 상태 처리</vt:lpstr>
      <vt:lpstr>A* algorithm</vt:lpstr>
      <vt:lpstr>Pseudo Code</vt:lpstr>
      <vt:lpstr>Pseudo Code</vt:lpstr>
      <vt:lpstr>Is A* guaranteed to find the optimal path?</vt:lpstr>
      <vt:lpstr>Admissible heuristics</vt:lpstr>
      <vt:lpstr>Euclidian distance</vt:lpstr>
      <vt:lpstr>Cluster heuristic</vt:lpstr>
      <vt:lpstr>Hierarchical Pathfinding</vt:lpstr>
      <vt:lpstr>Hierarchical Pathfinding</vt:lpstr>
      <vt:lpstr>Hierarchical Pathfinding</vt:lpstr>
      <vt:lpstr>실습 및 과제</vt:lpstr>
    </vt:vector>
  </TitlesOfParts>
  <Company>금오공과대학교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김병만</dc:creator>
  <cp:lastModifiedBy>user</cp:lastModifiedBy>
  <cp:revision>70</cp:revision>
  <dcterms:created xsi:type="dcterms:W3CDTF">2012-09-06T03:19:52Z</dcterms:created>
  <dcterms:modified xsi:type="dcterms:W3CDTF">2021-03-24T06:22:55Z</dcterms:modified>
</cp:coreProperties>
</file>