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60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50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73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2020-03-09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12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2020-03-09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70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2020-03-09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692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2020-03-09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4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2020-03-09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263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2020-03-09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63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795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15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7D0CA-E856-46E4-BF29-6F061B86C0C8}" type="datetimeFigureOut">
              <a:rPr lang="ko-KR" altLang="en-US" smtClean="0"/>
              <a:t>2020-03-09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35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학습 데이터 구축 및 살펴보기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386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 </a:t>
            </a:r>
            <a:r>
              <a:rPr lang="ko-KR" altLang="en-US" b="1" dirty="0" smtClean="0"/>
              <a:t>구축하기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자체 학습 데이터를 파일로 작성할 경우 </a:t>
            </a:r>
            <a:r>
              <a:rPr lang="en-US" altLang="ko-KR" dirty="0"/>
              <a:t>CSV </a:t>
            </a:r>
            <a:r>
              <a:rPr lang="ko-KR" altLang="en-US" dirty="0"/>
              <a:t>파일 형식으로 저장하면 </a:t>
            </a:r>
            <a:r>
              <a:rPr lang="en-US" altLang="ko-KR" dirty="0"/>
              <a:t>pandas </a:t>
            </a:r>
            <a:r>
              <a:rPr lang="ko-KR" altLang="en-US" dirty="0"/>
              <a:t>라이브러리에서 제공하는 함수를 이용하여 여러 작업들을 할 수 있는 장점이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r>
              <a:rPr lang="ko-KR" altLang="en-US" dirty="0"/>
              <a:t>아래와 같은 </a:t>
            </a:r>
            <a:r>
              <a:rPr lang="en-US" altLang="ko-KR" dirty="0"/>
              <a:t>1</a:t>
            </a:r>
            <a:r>
              <a:rPr lang="ko-KR" altLang="en-US" dirty="0" err="1"/>
              <a:t>차식에</a:t>
            </a:r>
            <a:r>
              <a:rPr lang="ko-KR" altLang="en-US" dirty="0"/>
              <a:t> 의해 만들어지는 데이터를 학습 데이터로 쓴다고 가정</a:t>
            </a:r>
          </a:p>
          <a:p>
            <a:pPr marL="0" indent="0">
              <a:buNone/>
            </a:pPr>
            <a:r>
              <a:rPr lang="es-ES" altLang="ko-KR" dirty="0"/>
              <a:t>	</a:t>
            </a:r>
            <a:r>
              <a:rPr lang="es-ES" altLang="ko-KR" dirty="0" smtClean="0"/>
              <a:t>z </a:t>
            </a:r>
            <a:r>
              <a:rPr lang="es-ES" altLang="ko-KR" dirty="0"/>
              <a:t>= 3 * x + 2 * y + 4 +ℯ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932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2122" y="1033002"/>
            <a:ext cx="8189843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os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numpy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as 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np</a:t>
            </a:r>
          </a:p>
          <a:p>
            <a:pPr algn="just" fontAlgn="base">
              <a:lnSpc>
                <a:spcPct val="13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def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create_learning_data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file_name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):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f = open(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file_name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, "w")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f.write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("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x,y,z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\n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")</a:t>
            </a:r>
          </a:p>
          <a:p>
            <a:pPr lvl="1" algn="just" fontAlgn="base">
              <a:lnSpc>
                <a:spcPct val="130000"/>
              </a:lnSpc>
            </a:pPr>
            <a:endParaRPr lang="ko-KR" altLang="en-US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np.random.seed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(30) 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x = 50 *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np.random.rand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(100) </a:t>
            </a: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y 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 50 *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np.random.rand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(100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ko-KR" altLang="en-US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z = 3*x + 2*y + 4 + </a:t>
            </a:r>
            <a:r>
              <a:rPr lang="en-US" altLang="ko-KR" u="sng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np.random.randn</a:t>
            </a:r>
            <a:r>
              <a:rPr lang="en-US" altLang="ko-KR" u="sng" kern="0" dirty="0">
                <a:solidFill>
                  <a:srgbClr val="000000"/>
                </a:solidFill>
                <a:latin typeface="함초롬바탕"/>
                <a:ea typeface="함초롬바탕"/>
              </a:rPr>
              <a:t>(100</a:t>
            </a:r>
            <a:r>
              <a:rPr lang="en-US" altLang="ko-KR" u="sng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</a:p>
          <a:p>
            <a:pPr lvl="1" algn="just" fontAlgn="base">
              <a:lnSpc>
                <a:spcPct val="13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for v1, v2, v3 in zip(x, y, z):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	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f.write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str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(v1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 + "," +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str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(v2) + "," +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str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(v3) + "\n")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f.close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42122" y="448227"/>
            <a:ext cx="8719930" cy="5847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2000" b="1" kern="0" dirty="0">
                <a:solidFill>
                  <a:srgbClr val="000000"/>
                </a:solidFill>
                <a:latin typeface="함초롬바탕"/>
                <a:ea typeface="함초롬바탕"/>
              </a:rPr>
              <a:t>100</a:t>
            </a:r>
            <a:r>
              <a:rPr lang="ko-KR" altLang="en-US" sz="2000" b="1" kern="0" dirty="0">
                <a:solidFill>
                  <a:srgbClr val="000000"/>
                </a:solidFill>
                <a:latin typeface="함초롬바탕"/>
                <a:ea typeface="함초롬바탕"/>
              </a:rPr>
              <a:t>개의 샘플 데이터를 생성한 후 이를 </a:t>
            </a:r>
            <a:r>
              <a:rPr lang="en-US" altLang="ko-KR" sz="2000" b="1" kern="0" dirty="0">
                <a:solidFill>
                  <a:srgbClr val="000000"/>
                </a:solidFill>
                <a:latin typeface="함초롬바탕"/>
                <a:ea typeface="함초롬바탕"/>
              </a:rPr>
              <a:t>csv </a:t>
            </a:r>
            <a:r>
              <a:rPr lang="ko-KR" altLang="en-US" sz="2000" b="1" kern="0" dirty="0">
                <a:solidFill>
                  <a:srgbClr val="000000"/>
                </a:solidFill>
                <a:latin typeface="함초롬바탕"/>
                <a:ea typeface="함초롬바탕"/>
              </a:rPr>
              <a:t>형식으로 저장하는 </a:t>
            </a:r>
            <a:r>
              <a:rPr lang="ko-KR" altLang="en-US" sz="2000" b="1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파이썬</a:t>
            </a:r>
            <a:r>
              <a:rPr lang="ko-KR" altLang="en-US" sz="2000" b="1" kern="0" dirty="0">
                <a:solidFill>
                  <a:srgbClr val="000000"/>
                </a:solidFill>
                <a:latin typeface="함초롬바탕"/>
                <a:ea typeface="함초롬바탕"/>
              </a:rPr>
              <a:t> 코드</a:t>
            </a:r>
            <a:endParaRPr lang="ko-KR" altLang="en-US" sz="2000" b="1" kern="0" spc="0" dirty="0">
              <a:solidFill>
                <a:srgbClr val="000000"/>
              </a:solidFill>
              <a:effectLst/>
              <a:latin typeface="함초롬바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02637" y="2585903"/>
            <a:ext cx="11849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헤더 작성</a:t>
            </a:r>
            <a:endParaRPr lang="en-US" altLang="ko-KR" kern="0" dirty="0">
              <a:solidFill>
                <a:srgbClr val="000000"/>
              </a:solidFill>
              <a:latin typeface="함초롬바탕"/>
              <a:ea typeface="함초롬바탕"/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 flipV="1">
            <a:off x="3352800" y="2862470"/>
            <a:ext cx="2385391" cy="185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00004" y="3225910"/>
            <a:ext cx="372409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[0, 50) 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사이의 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100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개의 랜덤 </a:t>
            </a:r>
            <a:r>
              <a:rPr lang="ko-KR" altLang="en-US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생성</a:t>
            </a:r>
            <a:endParaRPr lang="ko-KR" altLang="en-US" kern="0" dirty="0">
              <a:solidFill>
                <a:srgbClr val="000000"/>
              </a:solidFill>
              <a:latin typeface="함초롬바탕"/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 flipV="1">
            <a:off x="4691270" y="3379304"/>
            <a:ext cx="2643691" cy="400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88945" y="4691696"/>
            <a:ext cx="530305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[-1,1] </a:t>
            </a:r>
            <a:r>
              <a:rPr lang="ko-KR" altLang="en-US" dirty="0"/>
              <a:t>사이의 정규 분포를 따르는 랜덤 값을 </a:t>
            </a:r>
            <a:r>
              <a:rPr lang="ko-KR" altLang="en-US" dirty="0" smtClean="0"/>
              <a:t>추가 </a:t>
            </a:r>
            <a:endParaRPr lang="ko-KR" altLang="en-US" dirty="0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5902637" y="4876362"/>
            <a:ext cx="1014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0004" y="5332256"/>
            <a:ext cx="409492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r>
              <a:rPr lang="ko-KR" altLang="en-US" dirty="0"/>
              <a:t>값 하나</a:t>
            </a:r>
            <a:r>
              <a:rPr lang="en-US" altLang="ko-KR" dirty="0"/>
              <a:t>, y</a:t>
            </a:r>
            <a:r>
              <a:rPr lang="ko-KR" altLang="en-US" dirty="0"/>
              <a:t>값 하나 그리고 </a:t>
            </a:r>
            <a:r>
              <a:rPr lang="en-US" altLang="ko-KR" dirty="0"/>
              <a:t>z</a:t>
            </a:r>
            <a:r>
              <a:rPr lang="ko-KR" altLang="en-US" dirty="0"/>
              <a:t>의 값 하나를 </a:t>
            </a:r>
            <a:r>
              <a:rPr lang="ko-KR" altLang="en-US" dirty="0" err="1"/>
              <a:t>튜플</a:t>
            </a:r>
            <a:r>
              <a:rPr lang="ko-KR" altLang="en-US" dirty="0"/>
              <a:t> 형태로 묶기 위해 </a:t>
            </a:r>
            <a:r>
              <a:rPr lang="en-US" altLang="ko-KR" dirty="0"/>
              <a:t>zip </a:t>
            </a:r>
            <a:r>
              <a:rPr lang="ko-KR" altLang="en-US" dirty="0"/>
              <a:t>함수를 </a:t>
            </a:r>
            <a:r>
              <a:rPr lang="ko-KR" altLang="en-US" dirty="0" smtClean="0"/>
              <a:t>사용</a:t>
            </a:r>
            <a:endParaRPr lang="ko-KR" altLang="en-US" dirty="0"/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4320209" y="5539409"/>
            <a:ext cx="31805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53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예제 학습 데이터 </a:t>
            </a:r>
            <a:r>
              <a:rPr lang="ko-KR" altLang="en-US" b="1" dirty="0" smtClean="0"/>
              <a:t>다운로드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825624"/>
            <a:ext cx="4568687" cy="4858785"/>
          </a:xfrm>
        </p:spPr>
        <p:txBody>
          <a:bodyPr>
            <a:normAutofit/>
          </a:bodyPr>
          <a:lstStyle/>
          <a:p>
            <a:r>
              <a:rPr lang="ko-KR" altLang="en-US" dirty="0"/>
              <a:t>아무리 좋은 학습 알고리즘을 사용하더라도 학습 데이터가 시원치 않으면 학습 결과도 좋을 </a:t>
            </a:r>
            <a:r>
              <a:rPr lang="ko-KR" altLang="en-US" dirty="0" smtClean="0"/>
              <a:t>수 없음</a:t>
            </a:r>
            <a:endParaRPr lang="ko-KR" altLang="en-US" dirty="0"/>
          </a:p>
          <a:p>
            <a:pPr lvl="1"/>
            <a:r>
              <a:rPr lang="ko-KR" altLang="en-US" dirty="0"/>
              <a:t>좋은 학습 데이터를 얻기 위해 </a:t>
            </a:r>
            <a:r>
              <a:rPr lang="ko-KR" altLang="en-US" dirty="0" smtClean="0"/>
              <a:t>노력</a:t>
            </a:r>
            <a:endParaRPr lang="en-US" altLang="ko-KR" dirty="0" smtClean="0"/>
          </a:p>
          <a:p>
            <a:r>
              <a:rPr lang="ko-KR" altLang="en-US" dirty="0" smtClean="0"/>
              <a:t>다양한 </a:t>
            </a:r>
            <a:r>
              <a:rPr lang="ko-KR" altLang="en-US" dirty="0"/>
              <a:t>도메인에서 여러 공개 데이터 셋을 제공</a:t>
            </a:r>
          </a:p>
          <a:p>
            <a:pPr lvl="1"/>
            <a:r>
              <a:rPr lang="ko-KR" altLang="en-US" dirty="0"/>
              <a:t>학습 기능을 배우고자 하는 사람들에게 많은 도움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854164"/>
              </p:ext>
            </p:extLst>
          </p:nvPr>
        </p:nvGraphicFramePr>
        <p:xfrm>
          <a:off x="5620951" y="1489233"/>
          <a:ext cx="6345761" cy="5195176"/>
        </p:xfrm>
        <a:graphic>
          <a:graphicData uri="http://schemas.openxmlformats.org/drawingml/2006/table">
            <a:tbl>
              <a:tblPr/>
              <a:tblGrid>
                <a:gridCol w="1336440">
                  <a:extLst>
                    <a:ext uri="{9D8B030D-6E8A-4147-A177-3AD203B41FA5}">
                      <a16:colId xmlns:a16="http://schemas.microsoft.com/office/drawing/2014/main" val="4247899168"/>
                    </a:ext>
                  </a:extLst>
                </a:gridCol>
                <a:gridCol w="3419061">
                  <a:extLst>
                    <a:ext uri="{9D8B030D-6E8A-4147-A177-3AD203B41FA5}">
                      <a16:colId xmlns:a16="http://schemas.microsoft.com/office/drawing/2014/main" val="525661105"/>
                    </a:ext>
                  </a:extLst>
                </a:gridCol>
                <a:gridCol w="1590260">
                  <a:extLst>
                    <a:ext uri="{9D8B030D-6E8A-4147-A177-3AD203B41FA5}">
                      <a16:colId xmlns:a16="http://schemas.microsoft.com/office/drawing/2014/main" val="401598211"/>
                    </a:ext>
                  </a:extLst>
                </a:gridCol>
              </a:tblGrid>
              <a:tr h="2710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사이트명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URL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비고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131732"/>
                  </a:ext>
                </a:extLst>
              </a:tr>
              <a:tr h="2710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UCI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https://archive.ics.uci.edu/ml/index.html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  <a:ea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80461"/>
                  </a:ext>
                </a:extLst>
              </a:tr>
              <a:tr h="2710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KEEL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http://sci2s.ugr.es/keel/datasets.php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  <a:ea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591865"/>
                  </a:ext>
                </a:extLst>
              </a:tr>
              <a:tr h="2710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OpenML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https://www.openml.org/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  <a:ea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065739"/>
                  </a:ext>
                </a:extLst>
              </a:tr>
              <a:tr h="5074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Kaggle public datasets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https://www.kaggle.com/datasets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  <a:ea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130244"/>
                  </a:ext>
                </a:extLst>
              </a:tr>
              <a:tr h="2710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Quandl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https://www.quandl.com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  <a:ea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4539858"/>
                  </a:ext>
                </a:extLst>
              </a:tr>
              <a:tr h="2710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Amazon’s AWS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http://aws.amazon.com/fr/datasets/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  <a:ea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701929"/>
                  </a:ext>
                </a:extLst>
              </a:tr>
              <a:tr h="2710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Wikipedia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https://goo.gl/SJHN2k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  <a:ea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978722"/>
                  </a:ext>
                </a:extLst>
              </a:tr>
              <a:tr h="2710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UCR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http://timeseriesclassification.com/ 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Time Series Data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167773"/>
                  </a:ext>
                </a:extLst>
              </a:tr>
              <a:tr h="2710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Deep Learning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http://deeplearning.net/datasets/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Deep Learning Data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655213"/>
                  </a:ext>
                </a:extLst>
              </a:tr>
              <a:tr h="2710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AI WiKi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https://skymind.ai/wiki/open-datasets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Deep Learning Data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2327174"/>
                  </a:ext>
                </a:extLst>
              </a:tr>
              <a:tr h="35477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Extended MNIST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https://www.kaggle.com/crawford/emnist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Deep Learning Data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508705"/>
                  </a:ext>
                </a:extLst>
              </a:tr>
              <a:tr h="2710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HealthData.gov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https://healthdata.gov/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Health Data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35824"/>
                  </a:ext>
                </a:extLst>
              </a:tr>
              <a:tr h="5074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nature.com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https://www.nature.com/sdata/policies/repositories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Scientific Data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2781" marR="62781" marT="17357" marB="173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3751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60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예제 학습 데이터 다운로드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사이트에 따라 다운로드 파일 형식이 다를 수가 </a:t>
            </a:r>
            <a:r>
              <a:rPr lang="ko-KR" altLang="en-US" dirty="0" smtClean="0"/>
              <a:t>있음</a:t>
            </a:r>
            <a:endParaRPr lang="ko-KR" altLang="en-US" dirty="0"/>
          </a:p>
          <a:p>
            <a:pPr lvl="1"/>
            <a:r>
              <a:rPr lang="en-US" altLang="ko-KR" dirty="0" err="1"/>
              <a:t>OpenML</a:t>
            </a:r>
            <a:r>
              <a:rPr lang="ko-KR" altLang="en-US" dirty="0"/>
              <a:t>인 경우는 </a:t>
            </a:r>
            <a:r>
              <a:rPr lang="en-US" altLang="ko-KR" dirty="0"/>
              <a:t>ARFF, CSV, JSON, XML, RDF </a:t>
            </a:r>
            <a:r>
              <a:rPr lang="ko-KR" altLang="en-US" dirty="0"/>
              <a:t>형식으로 데이터를 다운로드</a:t>
            </a:r>
          </a:p>
          <a:p>
            <a:pPr lvl="1"/>
            <a:r>
              <a:rPr lang="en-US" altLang="ko-KR" dirty="0"/>
              <a:t>CSV </a:t>
            </a:r>
            <a:r>
              <a:rPr lang="ko-KR" altLang="en-US" dirty="0"/>
              <a:t>형식을 지원해 준다면 그 형식으로 다운로드 받은 후 그 파일을 </a:t>
            </a:r>
            <a:r>
              <a:rPr lang="en-US" altLang="ko-KR" dirty="0"/>
              <a:t>pandas </a:t>
            </a:r>
            <a:r>
              <a:rPr lang="ko-KR" altLang="en-US" dirty="0"/>
              <a:t>모듈의 </a:t>
            </a:r>
            <a:r>
              <a:rPr lang="en-US" altLang="ko-KR" dirty="0" err="1"/>
              <a:t>read_csv</a:t>
            </a:r>
            <a:r>
              <a:rPr lang="en-US" altLang="ko-KR" dirty="0"/>
              <a:t> </a:t>
            </a:r>
            <a:r>
              <a:rPr lang="ko-KR" altLang="en-US" dirty="0"/>
              <a:t>함수를 통해서 메모리로 읽어 </a:t>
            </a:r>
            <a:r>
              <a:rPr lang="ko-KR" altLang="en-US" dirty="0" smtClean="0"/>
              <a:t>들이면 됨</a:t>
            </a:r>
            <a:endParaRPr lang="en-US" altLang="ko-KR" dirty="0" smtClean="0"/>
          </a:p>
          <a:p>
            <a:pPr lvl="1"/>
            <a:r>
              <a:rPr lang="en-US" altLang="ko-KR" dirty="0"/>
              <a:t>CSV </a:t>
            </a:r>
            <a:r>
              <a:rPr lang="ko-KR" altLang="en-US" dirty="0"/>
              <a:t>파일을 지원하지 않는다면 지원 형식 중 하나로 다운로드 받은 후 이를 </a:t>
            </a:r>
            <a:r>
              <a:rPr lang="en-US" altLang="ko-KR" dirty="0"/>
              <a:t>CSV</a:t>
            </a:r>
            <a:r>
              <a:rPr lang="ko-KR" altLang="en-US" dirty="0"/>
              <a:t>로 변환</a:t>
            </a:r>
          </a:p>
          <a:p>
            <a:pPr lvl="1"/>
            <a:r>
              <a:rPr lang="ko-KR" altLang="en-US" dirty="0"/>
              <a:t>데이터를 다운로드 받는 기능은 </a:t>
            </a:r>
            <a:r>
              <a:rPr lang="en-US" altLang="ko-KR" dirty="0" err="1"/>
              <a:t>urllib.request</a:t>
            </a:r>
            <a:r>
              <a:rPr lang="en-US" altLang="ko-KR" dirty="0"/>
              <a:t> </a:t>
            </a:r>
            <a:r>
              <a:rPr lang="ko-KR" altLang="en-US" dirty="0"/>
              <a:t>모듈의 </a:t>
            </a:r>
            <a:r>
              <a:rPr lang="en-US" altLang="ko-KR" dirty="0" err="1"/>
              <a:t>urlretrieve</a:t>
            </a:r>
            <a:r>
              <a:rPr lang="en-US" altLang="ko-KR" dirty="0"/>
              <a:t> </a:t>
            </a:r>
            <a:r>
              <a:rPr lang="ko-KR" altLang="en-US" dirty="0"/>
              <a:t>함수를 이용</a:t>
            </a:r>
          </a:p>
          <a:p>
            <a:pPr lvl="2"/>
            <a:r>
              <a:rPr lang="ko-KR" altLang="en-US" dirty="0"/>
              <a:t>첫 번째 인수로 다운로드할 데이터 파일의 </a:t>
            </a:r>
            <a:r>
              <a:rPr lang="en-US" altLang="ko-KR" dirty="0" err="1"/>
              <a:t>url</a:t>
            </a:r>
            <a:r>
              <a:rPr lang="ko-KR" altLang="en-US" dirty="0"/>
              <a:t>을</a:t>
            </a:r>
            <a:r>
              <a:rPr lang="en-US" altLang="ko-KR" dirty="0"/>
              <a:t>, </a:t>
            </a:r>
            <a:r>
              <a:rPr lang="ko-KR" altLang="en-US" dirty="0"/>
              <a:t>두 번째 인수로 다운로드한 파일을 저장할 파일 이름</a:t>
            </a:r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439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예제 학습 데이터 다운로드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2122489"/>
            <a:ext cx="10515600" cy="2973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os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from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six.moves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import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urllib</a:t>
            </a: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3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def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download_data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url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dir_name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file_name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):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if not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os.path.isdir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dir_name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):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	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os.makedirs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dir_name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file_path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os.path.join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dir_name,file_name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urllib.request.urlretrieve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url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file_path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3286539" y="2663687"/>
            <a:ext cx="2517913" cy="689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17884" y="2307607"/>
            <a:ext cx="223490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다운로드 대상의 </a:t>
            </a:r>
            <a:r>
              <a:rPr lang="en-US" altLang="ko-KR" dirty="0" err="1" smtClean="0"/>
              <a:t>url</a:t>
            </a:r>
            <a:endParaRPr lang="ko-KR" altLang="en-US" dirty="0"/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4253948" y="3511826"/>
            <a:ext cx="2782956" cy="569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68209" y="4081670"/>
            <a:ext cx="188224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저장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디렉토리명</a:t>
            </a:r>
            <a:endParaRPr lang="ko-KR" altLang="en-US" dirty="0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5539409" y="3511826"/>
            <a:ext cx="2014330" cy="97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4770" y="3437061"/>
            <a:ext cx="142058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저장 파일명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38200" y="5527412"/>
            <a:ext cx="106509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dirty="0" err="1"/>
              <a:t>dir_name</a:t>
            </a:r>
            <a:r>
              <a:rPr lang="en-US" altLang="ko-KR" dirty="0"/>
              <a:t> = "datasets/iris"</a:t>
            </a:r>
          </a:p>
          <a:p>
            <a:pPr fontAlgn="base"/>
            <a:r>
              <a:rPr lang="en-US" altLang="ko-KR" dirty="0" err="1"/>
              <a:t>file_name</a:t>
            </a:r>
            <a:r>
              <a:rPr lang="en-US" altLang="ko-KR" dirty="0"/>
              <a:t> = "iris.csv"</a:t>
            </a:r>
          </a:p>
          <a:p>
            <a:pPr fontAlgn="base"/>
            <a:r>
              <a:rPr lang="en-US" altLang="ko-KR" dirty="0" err="1"/>
              <a:t>download_data</a:t>
            </a:r>
            <a:r>
              <a:rPr lang="en-US" altLang="ko-KR" dirty="0"/>
              <a:t>("https://www.openml.org/data/get_csv/61/dataset_61_iris.arff", </a:t>
            </a:r>
            <a:r>
              <a:rPr lang="en-US" altLang="ko-KR" dirty="0" err="1"/>
              <a:t>dir_name</a:t>
            </a:r>
            <a:r>
              <a:rPr lang="en-US" altLang="ko-KR" dirty="0"/>
              <a:t>, </a:t>
            </a:r>
            <a:r>
              <a:rPr lang="en-US" altLang="ko-KR" dirty="0" err="1"/>
              <a:t>file_name</a:t>
            </a:r>
            <a:r>
              <a:rPr lang="en-US" altLang="ko-KR" dirty="0"/>
              <a:t> 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25250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예제 학습 데이터 다운로드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3309730" cy="4734201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OpenML</a:t>
            </a:r>
            <a:r>
              <a:rPr lang="ko-KR" altLang="en-US" dirty="0"/>
              <a:t>에서 다른 데이터를 다운로드 받을 경우</a:t>
            </a:r>
            <a:r>
              <a:rPr lang="en-US" altLang="ko-KR" dirty="0"/>
              <a:t>, </a:t>
            </a:r>
            <a:r>
              <a:rPr lang="ko-KR" altLang="en-US" dirty="0"/>
              <a:t>그에 대응되는 </a:t>
            </a:r>
            <a:r>
              <a:rPr lang="en-US" altLang="ko-KR" dirty="0" err="1"/>
              <a:t>url</a:t>
            </a:r>
            <a:r>
              <a:rPr lang="ko-KR" altLang="en-US" dirty="0"/>
              <a:t>은 </a:t>
            </a:r>
            <a:r>
              <a:rPr lang="en-US" altLang="ko-KR" dirty="0" err="1"/>
              <a:t>OpenML</a:t>
            </a:r>
            <a:r>
              <a:rPr lang="en-US" altLang="ko-KR" dirty="0"/>
              <a:t> </a:t>
            </a:r>
            <a:r>
              <a:rPr lang="ko-KR" altLang="en-US" dirty="0"/>
              <a:t>사이트에서 원하는 데이터를 찾아 들어간 후 </a:t>
            </a:r>
            <a:r>
              <a:rPr lang="en-US" altLang="ko-KR" dirty="0"/>
              <a:t>html </a:t>
            </a:r>
            <a:r>
              <a:rPr lang="ko-KR" altLang="en-US" dirty="0"/>
              <a:t>문서의 소스 </a:t>
            </a:r>
            <a:r>
              <a:rPr lang="ko-KR" altLang="en-US" dirty="0" smtClean="0"/>
              <a:t>코드를 조사</a:t>
            </a:r>
            <a:r>
              <a:rPr lang="en-US" altLang="ko-KR" dirty="0" smtClean="0"/>
              <a:t> 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4097" name="_x445965408" descr="EMB000041ac088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087" y="2080591"/>
            <a:ext cx="7136530" cy="4479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81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예제 학습 데이터 다운로드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4323"/>
          </a:xfrm>
        </p:spPr>
        <p:txBody>
          <a:bodyPr/>
          <a:lstStyle/>
          <a:p>
            <a:r>
              <a:rPr lang="ko-KR" altLang="en-US" dirty="0"/>
              <a:t>다운로드할 파일이 </a:t>
            </a:r>
            <a:r>
              <a:rPr lang="en-US" altLang="ko-KR" dirty="0"/>
              <a:t>tar </a:t>
            </a:r>
            <a:r>
              <a:rPr lang="ko-KR" altLang="en-US" dirty="0" smtClean="0"/>
              <a:t>파일인 경우</a:t>
            </a:r>
            <a:r>
              <a:rPr lang="en-US" altLang="ko-KR" dirty="0" smtClean="0"/>
              <a:t>, </a:t>
            </a:r>
            <a:r>
              <a:rPr lang="en-US" altLang="ko-KR" dirty="0" err="1"/>
              <a:t>download_data</a:t>
            </a:r>
            <a:r>
              <a:rPr lang="en-US" altLang="ko-KR" dirty="0"/>
              <a:t> </a:t>
            </a:r>
            <a:r>
              <a:rPr lang="ko-KR" altLang="en-US" dirty="0"/>
              <a:t>함수를 이용하여 원하는 위치에 </a:t>
            </a:r>
            <a:r>
              <a:rPr lang="en-US" altLang="ko-KR" dirty="0"/>
              <a:t>tar </a:t>
            </a:r>
            <a:r>
              <a:rPr lang="ko-KR" altLang="en-US" dirty="0"/>
              <a:t>파일을 저장한 후에 </a:t>
            </a:r>
            <a:r>
              <a:rPr lang="ko-KR" altLang="en-US" dirty="0" smtClean="0"/>
              <a:t>압축을 </a:t>
            </a:r>
            <a:r>
              <a:rPr lang="ko-KR" altLang="en-US" dirty="0"/>
              <a:t>해제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46922" y="3018919"/>
            <a:ext cx="7129670" cy="273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30000"/>
              </a:lnSpc>
            </a:pPr>
            <a:r>
              <a:rPr lang="en-US" altLang="ko-KR" sz="2400" kern="0" dirty="0">
                <a:solidFill>
                  <a:srgbClr val="000000"/>
                </a:solidFill>
                <a:latin typeface="함초롬바탕"/>
                <a:ea typeface="함초롬바탕"/>
              </a:rPr>
              <a:t>i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mport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tarfile</a:t>
            </a: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Import</a:t>
            </a:r>
            <a:r>
              <a:rPr lang="ko-KR" altLang="en-US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os</a:t>
            </a: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3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def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extract_all_from_tarfile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file_name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):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tar_file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tarfile.open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file_name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tar_file.extractall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(path=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os.path.splitext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file_name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)[0])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lvl="1"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tar_file.close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140367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 메모리 </a:t>
            </a:r>
            <a:r>
              <a:rPr lang="ko-KR" altLang="en-US" b="1" dirty="0" smtClean="0"/>
              <a:t>로드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3349"/>
          </a:xfrm>
        </p:spPr>
        <p:txBody>
          <a:bodyPr/>
          <a:lstStyle/>
          <a:p>
            <a:r>
              <a:rPr lang="ko-KR" altLang="en-US" dirty="0"/>
              <a:t>파일명을 인수로 해서 </a:t>
            </a:r>
            <a:r>
              <a:rPr lang="en-US" altLang="ko-KR" dirty="0"/>
              <a:t>pandas </a:t>
            </a:r>
            <a:r>
              <a:rPr lang="ko-KR" altLang="en-US" dirty="0"/>
              <a:t>모듈의 </a:t>
            </a:r>
            <a:r>
              <a:rPr lang="en-US" altLang="ko-KR" dirty="0" err="1"/>
              <a:t>read_csv</a:t>
            </a:r>
            <a:r>
              <a:rPr lang="en-US" altLang="ko-KR" dirty="0"/>
              <a:t> </a:t>
            </a:r>
            <a:r>
              <a:rPr lang="ko-KR" altLang="en-US" dirty="0"/>
              <a:t>함수를 이용</a:t>
            </a:r>
          </a:p>
          <a:p>
            <a:pPr lvl="1"/>
            <a:r>
              <a:rPr lang="ko-KR" altLang="en-US" dirty="0"/>
              <a:t>함수의 결과로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타입의 객체가 </a:t>
            </a:r>
            <a:r>
              <a:rPr lang="ko-KR" altLang="en-US" dirty="0" smtClean="0"/>
              <a:t>넘어 옴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28870" y="3050415"/>
            <a:ext cx="6096000" cy="148194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base">
              <a:lnSpc>
                <a:spcPct val="13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pandas as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pd</a:t>
            </a: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3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create_learning_data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(“sample1”)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3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pd.read_csv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(“sample1”)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29670" y="3791387"/>
            <a:ext cx="242566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mtClean="0"/>
              <a:t>앞에서 정의한 함수임</a:t>
            </a:r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4439478" y="3988904"/>
            <a:ext cx="2385392" cy="39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50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</a:t>
            </a:r>
            <a:r>
              <a:rPr lang="ko-KR" altLang="en-US" b="1" dirty="0" smtClean="0"/>
              <a:t>데이터</a:t>
            </a:r>
            <a:r>
              <a:rPr lang="ko-KR" altLang="en-US" dirty="0"/>
              <a:t> </a:t>
            </a:r>
            <a:r>
              <a:rPr lang="ko-KR" altLang="en-US" b="1" dirty="0" smtClean="0"/>
              <a:t>살펴보기</a:t>
            </a:r>
            <a:endParaRPr lang="ko-KR" altLang="en-US" dirty="0"/>
          </a:p>
        </p:txBody>
      </p:sp>
      <p:pic>
        <p:nvPicPr>
          <p:cNvPr id="1025" name="_x325943528" descr="EMB0000286445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292" y="2234722"/>
            <a:ext cx="7256835" cy="3834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/>
          <p:cNvSpPr txBox="1">
            <a:spLocks/>
          </p:cNvSpPr>
          <p:nvPr/>
        </p:nvSpPr>
        <p:spPr>
          <a:xfrm>
            <a:off x="838200" y="1473554"/>
            <a:ext cx="11261036" cy="102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학습 데이터를 간략히 살펴볼 필요성이 있을 경우</a:t>
            </a:r>
            <a:r>
              <a:rPr lang="en-US" altLang="ko-KR" dirty="0" smtClean="0"/>
              <a:t>, pandas </a:t>
            </a:r>
            <a:r>
              <a:rPr lang="ko-KR" altLang="en-US" dirty="0" smtClean="0"/>
              <a:t>라이브러리의 메서드들을 활용</a:t>
            </a:r>
          </a:p>
          <a:p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838200" y="2499767"/>
            <a:ext cx="37603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info() </a:t>
            </a:r>
            <a:r>
              <a:rPr lang="ko-KR" altLang="en-US" dirty="0" smtClean="0"/>
              <a:t>메서드는 데이터에 대한 전체 행수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학습 샘플 수</a:t>
            </a:r>
            <a:r>
              <a:rPr lang="en-US" altLang="ko-KR" dirty="0" smtClean="0"/>
              <a:t>), </a:t>
            </a:r>
            <a:r>
              <a:rPr lang="ko-KR" altLang="en-US" dirty="0" smtClean="0"/>
              <a:t>각 필드 </a:t>
            </a:r>
            <a:r>
              <a:rPr lang="en-US" altLang="ko-KR" dirty="0" smtClean="0"/>
              <a:t>(</a:t>
            </a:r>
            <a:r>
              <a:rPr lang="ko-KR" altLang="en-US" dirty="0" smtClean="0"/>
              <a:t>특징</a:t>
            </a:r>
            <a:r>
              <a:rPr lang="en-US" altLang="ko-KR" dirty="0" smtClean="0"/>
              <a:t>)</a:t>
            </a:r>
            <a:r>
              <a:rPr lang="ko-KR" altLang="en-US" dirty="0" smtClean="0"/>
              <a:t>의 타입과 </a:t>
            </a:r>
            <a:r>
              <a:rPr lang="en-US" altLang="ko-KR" dirty="0" smtClean="0"/>
              <a:t>null</a:t>
            </a:r>
            <a:r>
              <a:rPr lang="ko-KR" altLang="en-US" dirty="0" smtClean="0"/>
              <a:t>이 아닌 데이터 개수 등을 제공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 smtClean="0"/>
              <a:t>  my_data.info()</a:t>
            </a:r>
          </a:p>
          <a:p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30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</a:t>
            </a:r>
            <a:r>
              <a:rPr lang="ko-KR" altLang="en-US" dirty="0"/>
              <a:t> </a:t>
            </a:r>
            <a:r>
              <a:rPr lang="ko-KR" altLang="en-US" b="1" dirty="0"/>
              <a:t>살펴보기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2775"/>
          </a:xfrm>
        </p:spPr>
        <p:txBody>
          <a:bodyPr/>
          <a:lstStyle/>
          <a:p>
            <a:r>
              <a:rPr lang="en-US" altLang="ko-KR" dirty="0"/>
              <a:t>head() </a:t>
            </a:r>
            <a:r>
              <a:rPr lang="ko-KR" altLang="en-US" dirty="0"/>
              <a:t>메서드는 앞 </a:t>
            </a:r>
            <a:r>
              <a:rPr lang="en-US" altLang="ko-KR" dirty="0"/>
              <a:t>5</a:t>
            </a:r>
            <a:r>
              <a:rPr lang="ko-KR" altLang="en-US" dirty="0"/>
              <a:t>개의 학습 샘플 데이터를 제공</a:t>
            </a:r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2183" y="3840128"/>
            <a:ext cx="270939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dirty="0"/>
              <a:t>heads = </a:t>
            </a:r>
            <a:r>
              <a:rPr lang="en-US" altLang="ko-KR" dirty="0" err="1"/>
              <a:t>my_data.head</a:t>
            </a:r>
            <a:r>
              <a:rPr lang="en-US" altLang="ko-KR" dirty="0"/>
              <a:t>()</a:t>
            </a:r>
          </a:p>
          <a:p>
            <a:pPr fontAlgn="base"/>
            <a:r>
              <a:rPr lang="en-US" altLang="ko-KR" dirty="0"/>
              <a:t>print(heads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pic>
        <p:nvPicPr>
          <p:cNvPr id="2049" name="_x325944008" descr="EMB0000286445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364" y="2626346"/>
            <a:ext cx="8154627" cy="38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56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</a:t>
            </a:r>
            <a:r>
              <a:rPr lang="ko-KR" altLang="en-US" dirty="0"/>
              <a:t> </a:t>
            </a:r>
            <a:r>
              <a:rPr lang="ko-KR" altLang="en-US" b="1" dirty="0"/>
              <a:t>살펴보기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2288"/>
          </a:xfrm>
        </p:spPr>
        <p:txBody>
          <a:bodyPr/>
          <a:lstStyle/>
          <a:p>
            <a:r>
              <a:rPr lang="en-US" altLang="ko-KR" dirty="0"/>
              <a:t>tail() </a:t>
            </a:r>
            <a:r>
              <a:rPr lang="ko-KR" altLang="en-US" dirty="0"/>
              <a:t>메서드는 끝 </a:t>
            </a:r>
            <a:r>
              <a:rPr lang="en-US" altLang="ko-KR" dirty="0"/>
              <a:t>5</a:t>
            </a:r>
            <a:r>
              <a:rPr lang="ko-KR" altLang="en-US" dirty="0"/>
              <a:t>개의 학습 샘플 데이터를 제공</a:t>
            </a:r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0174" y="3299791"/>
            <a:ext cx="230223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dirty="0"/>
              <a:t>tails = </a:t>
            </a:r>
            <a:r>
              <a:rPr lang="en-US" altLang="ko-KR" dirty="0" err="1"/>
              <a:t>my_data.tail</a:t>
            </a:r>
            <a:r>
              <a:rPr lang="en-US" altLang="ko-KR" dirty="0"/>
              <a:t>()</a:t>
            </a:r>
          </a:p>
          <a:p>
            <a:pPr fontAlgn="base"/>
            <a:r>
              <a:rPr lang="en-US" altLang="ko-KR" dirty="0"/>
              <a:t>print(tails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pic>
        <p:nvPicPr>
          <p:cNvPr id="3073" name="_x189505912" descr="EMB0000286445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591" y="2517913"/>
            <a:ext cx="8262891" cy="3849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78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</a:t>
            </a:r>
            <a:r>
              <a:rPr lang="ko-KR" altLang="en-US" dirty="0"/>
              <a:t> </a:t>
            </a:r>
            <a:r>
              <a:rPr lang="ko-KR" altLang="en-US" b="1" dirty="0"/>
              <a:t>살펴보기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6845"/>
          </a:xfrm>
        </p:spPr>
        <p:txBody>
          <a:bodyPr/>
          <a:lstStyle/>
          <a:p>
            <a:r>
              <a:rPr lang="en-US" altLang="ko-KR" dirty="0"/>
              <a:t>describe() </a:t>
            </a:r>
            <a:r>
              <a:rPr lang="ko-KR" altLang="en-US" dirty="0"/>
              <a:t>메서드는 각 필드의 평균</a:t>
            </a:r>
            <a:r>
              <a:rPr lang="en-US" altLang="ko-KR" dirty="0"/>
              <a:t>, </a:t>
            </a:r>
            <a:r>
              <a:rPr lang="ko-KR" altLang="en-US" dirty="0"/>
              <a:t>표준편차</a:t>
            </a:r>
            <a:r>
              <a:rPr lang="en-US" altLang="ko-KR" dirty="0"/>
              <a:t>, min </a:t>
            </a:r>
            <a:r>
              <a:rPr lang="ko-KR" altLang="en-US" dirty="0"/>
              <a:t>값</a:t>
            </a:r>
            <a:r>
              <a:rPr lang="en-US" altLang="ko-KR" dirty="0"/>
              <a:t>, 1/4</a:t>
            </a:r>
            <a:r>
              <a:rPr lang="ko-KR" altLang="en-US" dirty="0"/>
              <a:t>분위 값</a:t>
            </a:r>
            <a:r>
              <a:rPr lang="en-US" altLang="ko-KR" dirty="0"/>
              <a:t>, 2/4</a:t>
            </a:r>
            <a:r>
              <a:rPr lang="ko-KR" altLang="en-US" dirty="0"/>
              <a:t>분위 값</a:t>
            </a:r>
            <a:r>
              <a:rPr lang="en-US" altLang="ko-KR" dirty="0"/>
              <a:t>, 3/4</a:t>
            </a:r>
            <a:r>
              <a:rPr lang="ko-KR" altLang="en-US" dirty="0"/>
              <a:t>분위 값</a:t>
            </a:r>
            <a:r>
              <a:rPr lang="en-US" altLang="ko-KR" dirty="0"/>
              <a:t>, max </a:t>
            </a:r>
            <a:r>
              <a:rPr lang="ko-KR" altLang="en-US" dirty="0"/>
              <a:t>값을 제공</a:t>
            </a: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3220278"/>
            <a:ext cx="291938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dirty="0" err="1"/>
              <a:t>desc</a:t>
            </a:r>
            <a:r>
              <a:rPr lang="en-US" altLang="ko-KR" dirty="0"/>
              <a:t> = </a:t>
            </a:r>
            <a:r>
              <a:rPr lang="en-US" altLang="ko-KR" dirty="0" err="1"/>
              <a:t>my_data.describe</a:t>
            </a:r>
            <a:r>
              <a:rPr lang="en-US" altLang="ko-KR" dirty="0"/>
              <a:t>()</a:t>
            </a:r>
          </a:p>
          <a:p>
            <a:pPr fontAlgn="base"/>
            <a:r>
              <a:rPr lang="en-US" altLang="ko-KR" dirty="0"/>
              <a:t>print(</a:t>
            </a:r>
            <a:r>
              <a:rPr lang="en-US" altLang="ko-KR" dirty="0" err="1"/>
              <a:t>desc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pic>
        <p:nvPicPr>
          <p:cNvPr id="4097" name="_x437569848" descr="EMB00002864455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155" y="2777583"/>
            <a:ext cx="7859907" cy="366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713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</a:t>
            </a:r>
            <a:r>
              <a:rPr lang="ko-KR" altLang="en-US" dirty="0"/>
              <a:t> </a:t>
            </a:r>
            <a:r>
              <a:rPr lang="ko-KR" altLang="en-US" b="1" dirty="0"/>
              <a:t>살펴보기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74451"/>
          </a:xfrm>
        </p:spPr>
        <p:txBody>
          <a:bodyPr/>
          <a:lstStyle/>
          <a:p>
            <a:r>
              <a:rPr lang="en-US" altLang="ko-KR" dirty="0" err="1"/>
              <a:t>hist</a:t>
            </a:r>
            <a:r>
              <a:rPr lang="en-US" altLang="ko-KR" dirty="0"/>
              <a:t>() </a:t>
            </a:r>
            <a:r>
              <a:rPr lang="ko-KR" altLang="en-US" dirty="0"/>
              <a:t>메서드는 </a:t>
            </a:r>
            <a:r>
              <a:rPr lang="ko-KR" altLang="en-US" dirty="0" smtClean="0"/>
              <a:t>필드들의 </a:t>
            </a:r>
            <a:r>
              <a:rPr lang="ko-KR" altLang="en-US" dirty="0"/>
              <a:t>히스토그램을 </a:t>
            </a:r>
            <a:r>
              <a:rPr lang="ko-KR" altLang="en-US" dirty="0" smtClean="0"/>
              <a:t>보여줌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수치 </a:t>
            </a:r>
            <a:r>
              <a:rPr lang="ko-KR" altLang="en-US" dirty="0"/>
              <a:t>필드의 분포를 빠르게 이해하고자 하는 </a:t>
            </a:r>
            <a:r>
              <a:rPr lang="ko-KR" altLang="en-US" dirty="0" smtClean="0"/>
              <a:t>경우에 종종 사용</a:t>
            </a:r>
            <a:endParaRPr lang="ko-KR" altLang="en-US" dirty="0"/>
          </a:p>
          <a:p>
            <a:pPr lvl="1"/>
            <a:r>
              <a:rPr lang="en-US" altLang="ko-KR" dirty="0"/>
              <a:t>bins </a:t>
            </a:r>
            <a:r>
              <a:rPr lang="ko-KR" altLang="en-US" dirty="0"/>
              <a:t>인자로 빈의 개수를</a:t>
            </a:r>
            <a:r>
              <a:rPr lang="en-US" altLang="ko-KR" dirty="0"/>
              <a:t>, layout </a:t>
            </a:r>
            <a:r>
              <a:rPr lang="ko-KR" altLang="en-US" dirty="0"/>
              <a:t>인자를 통해 필드들을 배치 형태를</a:t>
            </a:r>
            <a:r>
              <a:rPr lang="en-US" altLang="ko-KR" dirty="0"/>
              <a:t>, </a:t>
            </a:r>
            <a:r>
              <a:rPr lang="ko-KR" altLang="en-US" dirty="0"/>
              <a:t>그리고 전체 크기를 인치 단위로 지정</a:t>
            </a:r>
          </a:p>
          <a:p>
            <a:pPr lvl="1"/>
            <a:r>
              <a:rPr lang="ko-KR" altLang="en-US" dirty="0"/>
              <a:t>결과가 그래픽 버퍼에만 출력이 되고 화면으로는 출력이 되지 </a:t>
            </a:r>
            <a:r>
              <a:rPr lang="ko-KR" altLang="en-US" dirty="0" smtClean="0"/>
              <a:t>않음</a:t>
            </a:r>
            <a:r>
              <a:rPr lang="en-US" altLang="ko-KR" dirty="0" smtClean="0"/>
              <a:t>. </a:t>
            </a:r>
            <a:r>
              <a:rPr lang="en-US" altLang="ko-KR" dirty="0" err="1"/>
              <a:t>matplotlib</a:t>
            </a:r>
            <a:r>
              <a:rPr lang="en-US" altLang="ko-KR" dirty="0"/>
              <a:t> </a:t>
            </a:r>
            <a:r>
              <a:rPr lang="ko-KR" altLang="en-US" dirty="0"/>
              <a:t>라이브러리의 </a:t>
            </a:r>
            <a:r>
              <a:rPr lang="en-US" altLang="ko-KR" dirty="0" err="1"/>
              <a:t>pyplot</a:t>
            </a:r>
            <a:r>
              <a:rPr lang="en-US" altLang="ko-KR" dirty="0"/>
              <a:t> </a:t>
            </a:r>
            <a:r>
              <a:rPr lang="ko-KR" altLang="en-US" dirty="0"/>
              <a:t>모듈의 </a:t>
            </a:r>
            <a:r>
              <a:rPr lang="en-US" altLang="ko-KR" dirty="0"/>
              <a:t>show </a:t>
            </a:r>
            <a:r>
              <a:rPr lang="ko-KR" altLang="en-US" dirty="0"/>
              <a:t>함수를 </a:t>
            </a:r>
            <a:r>
              <a:rPr lang="ko-KR" altLang="en-US" dirty="0" smtClean="0"/>
              <a:t>추가 호출</a:t>
            </a:r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pic>
        <p:nvPicPr>
          <p:cNvPr id="5121" name="_x436839408" descr="EMB00002864455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200076"/>
            <a:ext cx="6808304" cy="248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30086" y="4335013"/>
            <a:ext cx="4293704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matplotlib.pyplot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as 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plt</a:t>
            </a: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60000"/>
              </a:lnSpc>
            </a:pP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my_data.hist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(bins=50, layout=(1,3), </a:t>
            </a: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	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	</a:t>
            </a: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figsize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=(10,3))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plt.show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1543035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</a:t>
            </a:r>
            <a:r>
              <a:rPr lang="ko-KR" altLang="en-US" dirty="0"/>
              <a:t> </a:t>
            </a:r>
            <a:r>
              <a:rPr lang="ko-KR" altLang="en-US" b="1" dirty="0"/>
              <a:t>살펴보기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3262"/>
          </a:xfrm>
        </p:spPr>
        <p:txBody>
          <a:bodyPr/>
          <a:lstStyle/>
          <a:p>
            <a:pPr lvl="1"/>
            <a:r>
              <a:rPr lang="ko-KR" altLang="en-US" dirty="0"/>
              <a:t>특정 필드만 보고자 할 경우는 </a:t>
            </a:r>
            <a:r>
              <a:rPr lang="en-US" altLang="ko-KR" dirty="0"/>
              <a:t>column </a:t>
            </a:r>
            <a:r>
              <a:rPr lang="ko-KR" altLang="en-US" dirty="0"/>
              <a:t>인자를 사용</a:t>
            </a:r>
          </a:p>
          <a:p>
            <a:pPr lvl="1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258957" y="2493824"/>
            <a:ext cx="4267200" cy="14219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matplotlib.pyplot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as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plt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my_data.hist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(bins=50, column="z")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plt.show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pic>
        <p:nvPicPr>
          <p:cNvPr id="6145" name="_x437199632" descr="EMB00002864456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686" y="2398644"/>
            <a:ext cx="6104587" cy="375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620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</a:t>
            </a:r>
            <a:r>
              <a:rPr lang="ko-KR" altLang="en-US" dirty="0"/>
              <a:t> </a:t>
            </a:r>
            <a:r>
              <a:rPr lang="ko-KR" altLang="en-US" b="1" dirty="0"/>
              <a:t>살펴보기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5714"/>
          </a:xfrm>
        </p:spPr>
        <p:txBody>
          <a:bodyPr/>
          <a:lstStyle/>
          <a:p>
            <a:r>
              <a:rPr lang="en-US" altLang="ko-KR" dirty="0"/>
              <a:t>plot() </a:t>
            </a:r>
            <a:r>
              <a:rPr lang="ko-KR" altLang="en-US" dirty="0"/>
              <a:t>메서드는 데이터를 시각화 하는 기능</a:t>
            </a:r>
            <a:r>
              <a:rPr lang="en-US" altLang="ko-KR" dirty="0"/>
              <a:t>, </a:t>
            </a:r>
            <a:r>
              <a:rPr lang="ko-KR" altLang="en-US" dirty="0"/>
              <a:t>즉 다양한 형태의 그래프 출력 기능을 </a:t>
            </a:r>
            <a:r>
              <a:rPr lang="ko-KR" altLang="en-US" dirty="0" smtClean="0"/>
              <a:t>제공</a:t>
            </a:r>
            <a:endParaRPr lang="en-US" altLang="ko-KR" dirty="0" smtClean="0"/>
          </a:p>
          <a:p>
            <a:pPr lvl="1"/>
            <a:r>
              <a:rPr lang="en-US" altLang="ko-KR" dirty="0" err="1"/>
              <a:t>hist</a:t>
            </a:r>
            <a:r>
              <a:rPr lang="en-US" altLang="ko-KR" dirty="0"/>
              <a:t> </a:t>
            </a:r>
            <a:r>
              <a:rPr lang="ko-KR" altLang="en-US" dirty="0"/>
              <a:t>메서드와 마찬가지로 결과가 그래픽 버퍼에만 출력</a:t>
            </a:r>
          </a:p>
          <a:p>
            <a:pPr lvl="1"/>
            <a:r>
              <a:rPr lang="en-US" altLang="ko-KR" dirty="0" err="1"/>
              <a:t>matplotlib</a:t>
            </a:r>
            <a:r>
              <a:rPr lang="en-US" altLang="ko-KR" dirty="0"/>
              <a:t> </a:t>
            </a:r>
            <a:r>
              <a:rPr lang="ko-KR" altLang="en-US" dirty="0"/>
              <a:t>라이브러리의 </a:t>
            </a:r>
            <a:r>
              <a:rPr lang="en-US" altLang="ko-KR" dirty="0" err="1"/>
              <a:t>pyplot</a:t>
            </a:r>
            <a:r>
              <a:rPr lang="en-US" altLang="ko-KR" dirty="0"/>
              <a:t> </a:t>
            </a:r>
            <a:r>
              <a:rPr lang="ko-KR" altLang="en-US" dirty="0"/>
              <a:t>모듈의 </a:t>
            </a:r>
            <a:r>
              <a:rPr lang="en-US" altLang="ko-KR" dirty="0"/>
              <a:t>show </a:t>
            </a:r>
            <a:r>
              <a:rPr lang="ko-KR" altLang="en-US" dirty="0"/>
              <a:t>함수를 </a:t>
            </a:r>
            <a:r>
              <a:rPr lang="ko-KR" altLang="en-US" dirty="0" smtClean="0"/>
              <a:t>추가 호출</a:t>
            </a:r>
            <a:endParaRPr lang="ko-KR" altLang="en-US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192696" y="3726276"/>
            <a:ext cx="4678017" cy="14219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import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matplotlib.pyplot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as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plt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my_data.plot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(kind="scatter", x ='x', y='z') </a:t>
            </a:r>
            <a:endParaRPr lang="en-US" altLang="ko-KR" kern="0" dirty="0" smtClean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 smtClean="0">
                <a:solidFill>
                  <a:srgbClr val="000000"/>
                </a:solidFill>
                <a:latin typeface="함초롬바탕"/>
                <a:ea typeface="함초롬바탕"/>
              </a:rPr>
              <a:t>plt.show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pic>
        <p:nvPicPr>
          <p:cNvPr id="7169" name="_x436834768" descr="EMB00002864457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835" y="3591339"/>
            <a:ext cx="4922786" cy="3034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/>
          <p:cNvCxnSpPr/>
          <p:nvPr/>
        </p:nvCxnSpPr>
        <p:spPr>
          <a:xfrm>
            <a:off x="3511826" y="4651513"/>
            <a:ext cx="53009" cy="940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2697107" y="5805675"/>
            <a:ext cx="2954655" cy="5355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>
                <a:solidFill>
                  <a:srgbClr val="000000"/>
                </a:solidFill>
                <a:latin typeface="함초롬바탕"/>
                <a:ea typeface="함초롬바탕"/>
              </a:rPr>
              <a:t>데이터를 분산 형태로 표시</a:t>
            </a:r>
            <a:endParaRPr lang="ko-KR" altLang="en-US" kern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3353223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821</Words>
  <Application>Microsoft Office PowerPoint</Application>
  <PresentationFormat>와이드스크린</PresentationFormat>
  <Paragraphs>148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함초롬바탕</vt:lpstr>
      <vt:lpstr>Arial</vt:lpstr>
      <vt:lpstr>Office 테마</vt:lpstr>
      <vt:lpstr>학습 데이터 구축 및 살펴보기</vt:lpstr>
      <vt:lpstr>학습 데이터 구축하기</vt:lpstr>
      <vt:lpstr>PowerPoint 프레젠테이션</vt:lpstr>
      <vt:lpstr>예제 학습 데이터 다운로드</vt:lpstr>
      <vt:lpstr>예제 학습 데이터 다운로드</vt:lpstr>
      <vt:lpstr>예제 학습 데이터 다운로드</vt:lpstr>
      <vt:lpstr>예제 학습 데이터 다운로드</vt:lpstr>
      <vt:lpstr>예제 학습 데이터 다운로드</vt:lpstr>
      <vt:lpstr>학습 데이터 메모리 로드</vt:lpstr>
      <vt:lpstr>학습 데이터 살펴보기</vt:lpstr>
      <vt:lpstr>학습 데이터 살펴보기</vt:lpstr>
      <vt:lpstr>학습 데이터 살펴보기</vt:lpstr>
      <vt:lpstr>학습 데이터 살펴보기</vt:lpstr>
      <vt:lpstr>학습 데이터 살펴보기</vt:lpstr>
      <vt:lpstr>학습 데이터 살펴보기</vt:lpstr>
      <vt:lpstr>학습 데이터 살펴보기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머신 러닝 기본</dc:title>
  <dc:creator>user</dc:creator>
  <cp:lastModifiedBy>user</cp:lastModifiedBy>
  <cp:revision>64</cp:revision>
  <dcterms:created xsi:type="dcterms:W3CDTF">2019-01-30T04:26:24Z</dcterms:created>
  <dcterms:modified xsi:type="dcterms:W3CDTF">2020-03-09T08:18:36Z</dcterms:modified>
</cp:coreProperties>
</file>