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3" r:id="rId25"/>
    <p:sldId id="294" r:id="rId26"/>
    <p:sldId id="295" r:id="rId27"/>
    <p:sldId id="296" r:id="rId28"/>
    <p:sldId id="297" r:id="rId29"/>
    <p:sldId id="298" r:id="rId30"/>
    <p:sldId id="258" r:id="rId31"/>
    <p:sldId id="259" r:id="rId32"/>
    <p:sldId id="261" r:id="rId33"/>
    <p:sldId id="263" r:id="rId34"/>
    <p:sldId id="268" r:id="rId35"/>
    <p:sldId id="269" r:id="rId36"/>
    <p:sldId id="299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74005-1076-41BF-A806-088B57DE1526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EFE0B-F703-4795-A626-3D800DBAAE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79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DD67C1-1BC1-4EDD-A4CB-04424A793C0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de-CH" altLang="ko-KR" smtClean="0"/>
          </a:p>
        </p:txBody>
      </p:sp>
    </p:spTree>
    <p:extLst>
      <p:ext uri="{BB962C8B-B14F-4D97-AF65-F5344CB8AC3E}">
        <p14:creationId xmlns:p14="http://schemas.microsoft.com/office/powerpoint/2010/main" val="3319488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9C08B0-018C-4FBB-B7CA-669DA2A523CA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  <p:extLst>
      <p:ext uri="{BB962C8B-B14F-4D97-AF65-F5344CB8AC3E}">
        <p14:creationId xmlns:p14="http://schemas.microsoft.com/office/powerpoint/2010/main" val="50700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62FB53-4BEC-4B0B-B5A4-2A1842420448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  <p:extLst>
      <p:ext uri="{BB962C8B-B14F-4D97-AF65-F5344CB8AC3E}">
        <p14:creationId xmlns:p14="http://schemas.microsoft.com/office/powerpoint/2010/main" val="179578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45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05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42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21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2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29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72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0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6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5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17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D9551-7EC8-4686-9C5B-DFDA2D515CC5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88BDA-A0DE-4D11-AC98-A536E1D7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0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2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7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SVM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97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</a:t>
            </a:r>
            <a:r>
              <a:rPr lang="en-US" altLang="ko-KR" dirty="0" smtClean="0"/>
              <a:t>Classifiers</a:t>
            </a: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918" y="1964521"/>
            <a:ext cx="842968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24034" y="1785926"/>
            <a:ext cx="4000528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18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Linear Classifiers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35" y="1714489"/>
            <a:ext cx="821536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95472" y="1857364"/>
            <a:ext cx="4000528" cy="42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4024298" y="3429000"/>
            <a:ext cx="2714644" cy="2428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39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Linear Classifiers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35" y="1714489"/>
            <a:ext cx="821536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95472" y="1857364"/>
            <a:ext cx="4000528" cy="42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rot="10800000" flipV="1">
            <a:off x="3809984" y="3643314"/>
            <a:ext cx="3286148" cy="171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5400000">
            <a:off x="4060017" y="3536157"/>
            <a:ext cx="2643206" cy="2000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10800000" flipV="1">
            <a:off x="3881422" y="3357562"/>
            <a:ext cx="3000396" cy="2428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rot="5400000">
            <a:off x="3881422" y="3286124"/>
            <a:ext cx="2714644" cy="2714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3809984" y="3357562"/>
            <a:ext cx="3429024" cy="2214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7739074" y="4857761"/>
            <a:ext cx="2214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Any of these</a:t>
            </a:r>
          </a:p>
          <a:p>
            <a:r>
              <a:rPr lang="en-US" altLang="ko-KR" dirty="0"/>
              <a:t>would be fine..</a:t>
            </a:r>
          </a:p>
          <a:p>
            <a:r>
              <a:rPr lang="en-US" altLang="ko-KR" dirty="0"/>
              <a:t>..but which is</a:t>
            </a:r>
          </a:p>
          <a:p>
            <a:r>
              <a:rPr lang="en-US" altLang="ko-KR" dirty="0"/>
              <a:t>best?</a:t>
            </a:r>
          </a:p>
        </p:txBody>
      </p:sp>
    </p:spTree>
    <p:extLst>
      <p:ext uri="{BB962C8B-B14F-4D97-AF65-F5344CB8AC3E}">
        <p14:creationId xmlns:p14="http://schemas.microsoft.com/office/powerpoint/2010/main" val="360737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Classifier </a:t>
            </a:r>
            <a:r>
              <a:rPr lang="en-US" altLang="ko-KR" dirty="0" smtClean="0"/>
              <a:t>Margin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96" y="1571612"/>
            <a:ext cx="8286808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95472" y="1705805"/>
            <a:ext cx="4000528" cy="42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Maximum </a:t>
            </a:r>
            <a:r>
              <a:rPr lang="en-US" altLang="ko-KR" dirty="0" smtClean="0"/>
              <a:t>Margin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7139" y="1571612"/>
            <a:ext cx="8215370" cy="460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95472" y="1687875"/>
            <a:ext cx="4000528" cy="42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34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Maximum Margin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491" y="1571612"/>
            <a:ext cx="821537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095472" y="1732700"/>
            <a:ext cx="4000528" cy="42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35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Why Maximum Margin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직</a:t>
            </a:r>
            <a:r>
              <a:rPr lang="ko-KR" altLang="en-US" dirty="0" smtClean="0"/>
              <a:t>관적으로 안전해 보임</a:t>
            </a:r>
            <a:endParaRPr lang="en-US" altLang="ko-KR" dirty="0"/>
          </a:p>
          <a:p>
            <a:r>
              <a:rPr lang="ko-KR" altLang="en-US" dirty="0"/>
              <a:t>경계 위치에 약간의 오류가 </a:t>
            </a:r>
            <a:r>
              <a:rPr lang="ko-KR" altLang="en-US" dirty="0" smtClean="0"/>
              <a:t>발생하더라도 </a:t>
            </a:r>
            <a:r>
              <a:rPr lang="en-US" altLang="ko-KR" dirty="0"/>
              <a:t>(</a:t>
            </a:r>
            <a:r>
              <a:rPr lang="ko-KR" altLang="en-US" dirty="0"/>
              <a:t>수직 방향으로 흔들린 경우</a:t>
            </a:r>
            <a:r>
              <a:rPr lang="en-US" altLang="ko-KR" dirty="0"/>
              <a:t>) </a:t>
            </a:r>
            <a:r>
              <a:rPr lang="ko-KR" altLang="en-US" dirty="0" err="1" smtClean="0"/>
              <a:t>오분류가</a:t>
            </a:r>
            <a:r>
              <a:rPr lang="ko-KR" altLang="en-US" dirty="0" smtClean="0"/>
              <a:t> </a:t>
            </a:r>
            <a:r>
              <a:rPr lang="ko-KR" altLang="en-US" dirty="0"/>
              <a:t>발생할 가능성이 가장 </a:t>
            </a:r>
            <a:r>
              <a:rPr lang="ko-KR" altLang="en-US" dirty="0" smtClean="0"/>
              <a:t>적음</a:t>
            </a:r>
            <a:endParaRPr lang="en-US" altLang="ko-KR" dirty="0"/>
          </a:p>
          <a:p>
            <a:r>
              <a:rPr lang="ko-KR" altLang="en-US" dirty="0" smtClean="0"/>
              <a:t>최대 마진이</a:t>
            </a:r>
            <a:r>
              <a:rPr lang="ko-KR" altLang="ko-KR" dirty="0" smtClean="0"/>
              <a:t> </a:t>
            </a:r>
            <a:r>
              <a:rPr lang="ko-KR" altLang="ko-KR" dirty="0"/>
              <a:t>좋은 것이라는 </a:t>
            </a:r>
            <a:r>
              <a:rPr lang="ko-KR" altLang="en-US" dirty="0" smtClean="0"/>
              <a:t>것과</a:t>
            </a:r>
            <a:r>
              <a:rPr lang="ko-KR" altLang="ko-KR" dirty="0" smtClean="0"/>
              <a:t> </a:t>
            </a:r>
            <a:r>
              <a:rPr lang="ko-KR" altLang="ko-KR" dirty="0"/>
              <a:t>관련된 </a:t>
            </a:r>
            <a:r>
              <a:rPr lang="ko-KR" altLang="ko-KR" dirty="0" smtClean="0"/>
              <a:t>몇 </a:t>
            </a:r>
            <a:r>
              <a:rPr lang="ko-KR" altLang="ko-KR" dirty="0"/>
              <a:t>가지 이론이 </a:t>
            </a:r>
            <a:r>
              <a:rPr lang="ko-KR" altLang="en-US" dirty="0" smtClean="0"/>
              <a:t>존재</a:t>
            </a:r>
            <a:endParaRPr lang="en-US" altLang="ko-KR" dirty="0"/>
          </a:p>
          <a:p>
            <a:r>
              <a:rPr lang="ko-KR" altLang="ko-KR" dirty="0"/>
              <a:t>경험적으로 매우 잘 </a:t>
            </a:r>
            <a:r>
              <a:rPr lang="ko-KR" altLang="ko-KR" dirty="0" smtClean="0"/>
              <a:t>작동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407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Specifying a line and margin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3857629"/>
            <a:ext cx="8229600" cy="2268535"/>
          </a:xfrm>
        </p:spPr>
        <p:txBody>
          <a:bodyPr>
            <a:normAutofit fontScale="92500" lnSpcReduction="20000"/>
          </a:bodyPr>
          <a:lstStyle/>
          <a:p>
            <a:r>
              <a:rPr lang="pl-PL" altLang="ko-KR" dirty="0"/>
              <a:t>Plus-plane = { </a:t>
            </a:r>
            <a:r>
              <a:rPr lang="pl-PL" altLang="ko-KR" b="1" dirty="0"/>
              <a:t>x : w · x + b = +1 }</a:t>
            </a:r>
          </a:p>
          <a:p>
            <a:r>
              <a:rPr lang="pl-PL" altLang="ko-KR" dirty="0" smtClean="0"/>
              <a:t>Minus-plane </a:t>
            </a:r>
            <a:r>
              <a:rPr lang="pl-PL" altLang="ko-KR" dirty="0"/>
              <a:t>= { </a:t>
            </a:r>
            <a:r>
              <a:rPr lang="pl-PL" altLang="ko-KR" b="1" dirty="0"/>
              <a:t>x : w · x + b = -1 }</a:t>
            </a:r>
          </a:p>
          <a:p>
            <a:r>
              <a:rPr lang="en-US" altLang="ko-KR" dirty="0"/>
              <a:t>Classify as.. </a:t>
            </a:r>
            <a:endParaRPr lang="en-US" altLang="ko-KR" dirty="0" smtClean="0"/>
          </a:p>
          <a:p>
            <a:pPr lvl="1">
              <a:buNone/>
            </a:pPr>
            <a:r>
              <a:rPr lang="en-US" altLang="ko-KR" dirty="0" smtClean="0"/>
              <a:t>+</a:t>
            </a:r>
            <a:r>
              <a:rPr lang="en-US" altLang="ko-KR" dirty="0"/>
              <a:t>1 if </a:t>
            </a:r>
            <a:r>
              <a:rPr lang="en-US" altLang="ko-KR" b="1" dirty="0"/>
              <a:t>w · x + b &gt;= </a:t>
            </a:r>
            <a:r>
              <a:rPr lang="en-US" altLang="ko-KR" b="1" dirty="0" smtClean="0"/>
              <a:t>1</a:t>
            </a:r>
          </a:p>
          <a:p>
            <a:pPr lvl="1">
              <a:buNone/>
            </a:pPr>
            <a:r>
              <a:rPr lang="en-US" altLang="ko-KR" dirty="0" smtClean="0"/>
              <a:t>-1  if </a:t>
            </a:r>
            <a:r>
              <a:rPr lang="en-US" altLang="ko-KR" b="1" dirty="0"/>
              <a:t>w · x + b &lt;= -1</a:t>
            </a:r>
          </a:p>
          <a:p>
            <a:pPr lvl="1">
              <a:buNone/>
            </a:pPr>
            <a:r>
              <a:rPr lang="en-US" altLang="ko-KR" dirty="0" smtClean="0"/>
              <a:t>error </a:t>
            </a:r>
            <a:r>
              <a:rPr lang="en-US" altLang="ko-KR" dirty="0"/>
              <a:t>if -1 &lt; </a:t>
            </a:r>
            <a:r>
              <a:rPr lang="en-US" altLang="ko-KR" b="1" dirty="0"/>
              <a:t>w · x + b &lt; 1</a:t>
            </a:r>
          </a:p>
          <a:p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2662" y="1481680"/>
            <a:ext cx="650085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763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52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dirty="0"/>
              <a:t>Computing the margin </a:t>
            </a:r>
            <a:r>
              <a:rPr lang="en-US" altLang="ko-KR" dirty="0" smtClean="0"/>
              <a:t>width</a:t>
            </a:r>
            <a:endParaRPr lang="ko-KR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24" y="1285861"/>
            <a:ext cx="6186502" cy="228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981200" y="3571876"/>
            <a:ext cx="3686172" cy="2786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endParaRPr lang="en-US" altLang="ko-KR" sz="2000" b="1" dirty="0"/>
          </a:p>
          <a:p>
            <a:pPr marL="342900" indent="-342900">
              <a:spcBef>
                <a:spcPct val="20000"/>
              </a:spcBef>
              <a:defRPr/>
            </a:pPr>
            <a:endParaRPr lang="en-US" altLang="ko-KR" sz="3200" b="1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ko-KR" sz="3200" b="1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ko-KR" altLang="en-US" sz="3200" dirty="0"/>
          </a:p>
        </p:txBody>
      </p:sp>
      <p:sp>
        <p:nvSpPr>
          <p:cNvPr id="7" name="직사각형 6"/>
          <p:cNvSpPr/>
          <p:nvPr/>
        </p:nvSpPr>
        <p:spPr>
          <a:xfrm>
            <a:off x="1952596" y="3643315"/>
            <a:ext cx="36433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What we know:</a:t>
            </a:r>
          </a:p>
          <a:p>
            <a:r>
              <a:rPr lang="en-US" altLang="ko-KR" b="1" dirty="0"/>
              <a:t>w · x</a:t>
            </a:r>
            <a:r>
              <a:rPr lang="en-US" altLang="ko-KR" sz="1400" b="1" baseline="30000" dirty="0"/>
              <a:t>+</a:t>
            </a:r>
            <a:r>
              <a:rPr lang="en-US" altLang="ko-KR" b="1" dirty="0"/>
              <a:t> + b = +1</a:t>
            </a:r>
          </a:p>
          <a:p>
            <a:r>
              <a:rPr lang="en-US" altLang="ko-KR" b="1" dirty="0"/>
              <a:t>w · x</a:t>
            </a:r>
            <a:r>
              <a:rPr lang="en-US" altLang="ko-KR" b="1" baseline="30000" dirty="0"/>
              <a:t>-</a:t>
            </a:r>
            <a:r>
              <a:rPr lang="en-US" altLang="ko-KR" b="1" dirty="0"/>
              <a:t> + b = -1</a:t>
            </a:r>
          </a:p>
          <a:p>
            <a:r>
              <a:rPr lang="en-US" altLang="ko-KR" b="1" dirty="0"/>
              <a:t>x</a:t>
            </a:r>
            <a:r>
              <a:rPr lang="en-US" altLang="ko-KR" b="1" baseline="30000" dirty="0"/>
              <a:t>+</a:t>
            </a:r>
            <a:r>
              <a:rPr lang="en-US" altLang="ko-KR" b="1" dirty="0"/>
              <a:t> = x</a:t>
            </a:r>
            <a:r>
              <a:rPr lang="en-US" altLang="ko-KR" b="1" baseline="30000" dirty="0"/>
              <a:t>-</a:t>
            </a:r>
            <a:r>
              <a:rPr lang="en-US" altLang="ko-KR" b="1" dirty="0"/>
              <a:t> + </a:t>
            </a:r>
            <a:r>
              <a:rPr lang="el-GR" altLang="ko-KR" b="1" dirty="0"/>
              <a:t>λ </a:t>
            </a:r>
            <a:r>
              <a:rPr lang="en-US" altLang="ko-KR" b="1" dirty="0"/>
              <a:t>w</a:t>
            </a:r>
          </a:p>
          <a:p>
            <a:r>
              <a:rPr lang="en-US" altLang="ko-KR" dirty="0"/>
              <a:t>||</a:t>
            </a:r>
            <a:r>
              <a:rPr lang="en-US" altLang="ko-KR" b="1" dirty="0"/>
              <a:t>x</a:t>
            </a:r>
            <a:r>
              <a:rPr lang="en-US" altLang="ko-KR" b="1" baseline="30000" dirty="0"/>
              <a:t>+</a:t>
            </a:r>
            <a:r>
              <a:rPr lang="en-US" altLang="ko-KR" b="1" dirty="0"/>
              <a:t> - x</a:t>
            </a:r>
            <a:r>
              <a:rPr lang="en-US" altLang="ko-KR" b="1" baseline="30000" dirty="0"/>
              <a:t>-</a:t>
            </a:r>
            <a:r>
              <a:rPr lang="en-US" altLang="ko-KR" b="1" dirty="0"/>
              <a:t> || = 2M</a:t>
            </a:r>
          </a:p>
          <a:p>
            <a:endParaRPr lang="en-US" altLang="ko-KR" b="1" dirty="0"/>
          </a:p>
          <a:p>
            <a:endParaRPr lang="en-US" altLang="ko-KR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5472" y="5072075"/>
            <a:ext cx="928694" cy="82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5524497" y="3714752"/>
            <a:ext cx="3039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2M = ||</a:t>
            </a:r>
            <a:r>
              <a:rPr lang="en-US" altLang="ko-KR" b="1" dirty="0"/>
              <a:t>x</a:t>
            </a:r>
            <a:r>
              <a:rPr lang="en-US" altLang="ko-KR" b="1" baseline="30000" dirty="0"/>
              <a:t>+</a:t>
            </a:r>
            <a:r>
              <a:rPr lang="en-US" altLang="ko-KR" b="1" dirty="0"/>
              <a:t> - x</a:t>
            </a:r>
            <a:r>
              <a:rPr lang="en-US" altLang="ko-KR" b="1" baseline="30000" dirty="0"/>
              <a:t>-</a:t>
            </a:r>
            <a:r>
              <a:rPr lang="en-US" altLang="ko-KR" b="1" dirty="0"/>
              <a:t> || =|| </a:t>
            </a:r>
            <a:r>
              <a:rPr lang="el-GR" altLang="ko-KR" b="1" dirty="0"/>
              <a:t>λ </a:t>
            </a:r>
            <a:r>
              <a:rPr lang="en-US" altLang="ko-KR" b="1" dirty="0"/>
              <a:t>w ||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10248" y="4143380"/>
            <a:ext cx="2867030" cy="964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49" y="5000637"/>
            <a:ext cx="2033589" cy="87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5797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Learning the Maximum Margin Classifier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2071679"/>
            <a:ext cx="8229600" cy="4054485"/>
          </a:xfrm>
        </p:spPr>
        <p:txBody>
          <a:bodyPr>
            <a:normAutofit/>
          </a:bodyPr>
          <a:lstStyle/>
          <a:p>
            <a:r>
              <a:rPr lang="en-US" altLang="ko-KR" sz="3000" dirty="0"/>
              <a:t>w</a:t>
            </a:r>
            <a:r>
              <a:rPr lang="ko-KR" altLang="en-US" sz="3000" dirty="0"/>
              <a:t>와 </a:t>
            </a:r>
            <a:r>
              <a:rPr lang="en-US" altLang="ko-KR" sz="3000" dirty="0" smtClean="0"/>
              <a:t>b</a:t>
            </a:r>
            <a:r>
              <a:rPr lang="ko-KR" altLang="en-US" sz="3000" dirty="0" smtClean="0"/>
              <a:t>에 대한 추측이 주어지면 </a:t>
            </a:r>
            <a:endParaRPr lang="en-US" altLang="ko-KR" sz="3000" dirty="0" smtClean="0"/>
          </a:p>
          <a:p>
            <a:pPr lvl="1"/>
            <a:r>
              <a:rPr lang="ko-KR" altLang="ko-KR" dirty="0"/>
              <a:t>모든 데이터 포인트가 올바른 반면에 있는지 </a:t>
            </a:r>
            <a:r>
              <a:rPr lang="ko-KR" altLang="en-US" dirty="0" smtClean="0"/>
              <a:t>파악할 수 있고</a:t>
            </a:r>
            <a:endParaRPr lang="en-US" altLang="ko-KR" sz="2200" dirty="0"/>
          </a:p>
          <a:p>
            <a:pPr lvl="1"/>
            <a:r>
              <a:rPr lang="ko-KR" altLang="en-US" sz="2600" dirty="0" smtClean="0"/>
              <a:t>여백의 너비도 계산할 수 있음 </a:t>
            </a:r>
            <a:endParaRPr lang="en-US" altLang="ko-KR" sz="2600" dirty="0" smtClean="0"/>
          </a:p>
          <a:p>
            <a:r>
              <a:rPr lang="ko-KR" altLang="en-US" sz="3000" dirty="0"/>
              <a:t>이제 모든 데이터 포인트와 일치하는 가장 넓은 여백을 </a:t>
            </a:r>
            <a:r>
              <a:rPr lang="ko-KR" altLang="en-US" sz="3000" dirty="0" smtClean="0"/>
              <a:t>갖는 </a:t>
            </a:r>
            <a:r>
              <a:rPr lang="en-US" altLang="ko-KR" sz="3000" dirty="0" smtClean="0"/>
              <a:t>w</a:t>
            </a:r>
            <a:r>
              <a:rPr lang="ko-KR" altLang="en-US" sz="3000" dirty="0"/>
              <a:t>와 </a:t>
            </a:r>
            <a:r>
              <a:rPr lang="en-US" altLang="ko-KR" sz="3000" dirty="0" smtClean="0"/>
              <a:t>b</a:t>
            </a:r>
            <a:r>
              <a:rPr lang="ko-KR" altLang="en-US" sz="3000" dirty="0" smtClean="0"/>
              <a:t>를 탐색하는 </a:t>
            </a:r>
            <a:r>
              <a:rPr lang="ko-KR" altLang="en-US" sz="3000" dirty="0"/>
              <a:t>프로그램을 </a:t>
            </a:r>
            <a:r>
              <a:rPr lang="ko-KR" altLang="en-US" sz="3000" dirty="0" smtClean="0"/>
              <a:t>작성하면 됨</a:t>
            </a:r>
            <a:r>
              <a:rPr lang="en-US" altLang="ko-KR" sz="3000" dirty="0" smtClean="0"/>
              <a:t>. </a:t>
            </a:r>
            <a:r>
              <a:rPr lang="en-US" altLang="ko-KR" sz="3000" dirty="0"/>
              <a:t>How?</a:t>
            </a:r>
          </a:p>
          <a:p>
            <a:pPr lvl="1"/>
            <a:r>
              <a:rPr lang="en-US" altLang="ko-KR" sz="2600" dirty="0" smtClean="0"/>
              <a:t>QP(Quadratic Programming)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963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Learning via Quadratic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ko-KR" dirty="0"/>
              <a:t>QP</a:t>
            </a:r>
            <a:r>
              <a:rPr lang="ko-KR" altLang="en-US" dirty="0"/>
              <a:t>는 선형 제약 조건이 </a:t>
            </a:r>
            <a:r>
              <a:rPr lang="ko-KR" altLang="en-US" dirty="0" smtClean="0"/>
              <a:t>있는 </a:t>
            </a:r>
            <a:r>
              <a:rPr lang="ko-KR" altLang="en-US" dirty="0"/>
              <a:t>일부 실수 값 변수의 </a:t>
            </a:r>
            <a:r>
              <a:rPr lang="en-US" altLang="ko-KR" dirty="0"/>
              <a:t>2 </a:t>
            </a:r>
            <a:r>
              <a:rPr lang="ko-KR" altLang="en-US" dirty="0"/>
              <a:t>차 함수를 최대화하기 위해 잘 </a:t>
            </a:r>
            <a:r>
              <a:rPr lang="ko-KR" altLang="en-US" dirty="0" smtClean="0"/>
              <a:t>연구된 </a:t>
            </a:r>
            <a:r>
              <a:rPr lang="ko-KR" altLang="en-US" dirty="0"/>
              <a:t>최적화 알고리즘 </a:t>
            </a:r>
            <a:r>
              <a:rPr lang="ko-KR" altLang="en-US" dirty="0" smtClean="0"/>
              <a:t>임</a:t>
            </a:r>
            <a:endParaRPr lang="en-US" altLang="ko-KR" dirty="0"/>
          </a:p>
          <a:p>
            <a:pPr algn="just"/>
            <a:r>
              <a:rPr lang="en-US" altLang="ko-KR" dirty="0"/>
              <a:t>2 </a:t>
            </a:r>
            <a:r>
              <a:rPr lang="ko-KR" altLang="en-US" dirty="0"/>
              <a:t>차 최적화 기준은 </a:t>
            </a:r>
            <a:r>
              <a:rPr lang="ko-KR" altLang="en-US" dirty="0" smtClean="0"/>
              <a:t>무엇이어야 하나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/>
              <a:t>결정 경계는 가능한 한 데이터에서 멀리 떨어져 </a:t>
            </a:r>
            <a:r>
              <a:rPr lang="ko-KR" altLang="en-US" dirty="0" smtClean="0"/>
              <a:t>있어야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마진 </a:t>
            </a:r>
            <a:r>
              <a:rPr lang="en-US" altLang="ko-KR" i="1" dirty="0"/>
              <a:t>m </a:t>
            </a:r>
            <a:r>
              <a:rPr lang="ko-KR" altLang="en-US" dirty="0" smtClean="0"/>
              <a:t>을 최대화해야</a:t>
            </a:r>
            <a:endParaRPr lang="en-US" altLang="ko-KR" i="1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78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Characteristics of the Solution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699" y="1762783"/>
            <a:ext cx="10325101" cy="4532914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w</a:t>
            </a:r>
            <a:r>
              <a:rPr lang="en-US" altLang="zh-CN" sz="2400" dirty="0"/>
              <a:t> </a:t>
            </a:r>
            <a:r>
              <a:rPr lang="ko-KR" altLang="en-US" sz="2400" dirty="0" smtClean="0"/>
              <a:t>는 다음과 같이 재구성</a:t>
            </a:r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KKT(</a:t>
            </a:r>
            <a:r>
              <a:rPr lang="en-US" altLang="ko-KR" sz="2400" b="1" dirty="0" err="1" smtClean="0"/>
              <a:t>Karush</a:t>
            </a:r>
            <a:r>
              <a:rPr lang="en-US" altLang="ko-KR" sz="2400" b="1" dirty="0" smtClean="0"/>
              <a:t>–Kuhn–Tucker</a:t>
            </a:r>
            <a:r>
              <a:rPr lang="en-US" altLang="ko-KR" sz="2400" b="1" dirty="0"/>
              <a:t>)</a:t>
            </a:r>
            <a:r>
              <a:rPr lang="en-US" altLang="zh-CN" sz="2400" dirty="0"/>
              <a:t> </a:t>
            </a:r>
            <a:r>
              <a:rPr lang="ko-KR" altLang="en-US" sz="2400" dirty="0" smtClean="0"/>
              <a:t>조건</a:t>
            </a:r>
            <a:r>
              <a:rPr lang="en-US" altLang="ko-KR" sz="2400" dirty="0" smtClean="0"/>
              <a:t>(</a:t>
            </a:r>
            <a:r>
              <a:rPr lang="en-US" altLang="zh-CN" sz="2400" dirty="0" smtClean="0"/>
              <a:t>condition)</a:t>
            </a:r>
            <a:r>
              <a:rPr lang="ko-KR" altLang="en-US" sz="2400" dirty="0" smtClean="0"/>
              <a:t>은 </a:t>
            </a:r>
            <a:r>
              <a:rPr lang="en-US" altLang="zh-CN" sz="2400" dirty="0" smtClean="0"/>
              <a:t> </a:t>
            </a:r>
            <a:r>
              <a:rPr lang="ko-KR" altLang="en-US" sz="2400" dirty="0" smtClean="0"/>
              <a:t>많은 </a:t>
            </a:r>
            <a:r>
              <a:rPr lang="en-US" altLang="zh-CN" sz="2400" dirty="0" err="1" smtClean="0">
                <a:latin typeface="Symbol" pitchFamily="18" charset="2"/>
              </a:rPr>
              <a:t>a</a:t>
            </a:r>
            <a:r>
              <a:rPr lang="en-US" altLang="zh-CN" sz="2400" baseline="-25000" dirty="0" err="1" smtClean="0"/>
              <a:t>i</a:t>
            </a:r>
            <a:r>
              <a:rPr lang="en-US" altLang="zh-CN" sz="2400" dirty="0" smtClean="0"/>
              <a:t> </a:t>
            </a:r>
            <a:r>
              <a:rPr lang="ko-KR" altLang="en-US" sz="2400" dirty="0" smtClean="0"/>
              <a:t>들이 </a:t>
            </a:r>
            <a:r>
              <a:rPr lang="en-US" altLang="ko-KR" sz="2400" dirty="0" smtClean="0"/>
              <a:t>0</a:t>
            </a:r>
            <a:r>
              <a:rPr lang="ko-KR" altLang="en-US" sz="2400" dirty="0" smtClean="0"/>
              <a:t>임을 알려줌 </a:t>
            </a:r>
            <a:endParaRPr lang="en-US" altLang="zh-CN" sz="2400" dirty="0"/>
          </a:p>
          <a:p>
            <a:pPr lvl="1" eaLnBrk="1" hangingPunct="1"/>
            <a:r>
              <a:rPr lang="ko-KR" altLang="en-US" sz="2000" b="1" dirty="0" smtClean="0"/>
              <a:t>즉 </a:t>
            </a:r>
            <a:r>
              <a:rPr lang="en-US" altLang="zh-CN" sz="2000" b="1" dirty="0" smtClean="0"/>
              <a:t>w</a:t>
            </a:r>
            <a:r>
              <a:rPr lang="ko-KR" altLang="en-US" sz="2000" b="1" dirty="0" smtClean="0"/>
              <a:t>는 적은 수의 데이터 포인트들의 선형 </a:t>
            </a:r>
            <a:r>
              <a:rPr lang="ko-KR" altLang="en-US" sz="2000" b="1" dirty="0" err="1" smtClean="0"/>
              <a:t>결합임</a:t>
            </a:r>
            <a:r>
              <a:rPr lang="ko-KR" altLang="en-US" sz="2000" b="1" dirty="0" smtClean="0"/>
              <a:t> </a:t>
            </a:r>
            <a:r>
              <a:rPr lang="en-US" altLang="zh-CN" sz="2000" dirty="0" smtClean="0"/>
              <a:t> </a:t>
            </a:r>
            <a:endParaRPr lang="en-US" altLang="zh-CN" sz="2000" dirty="0"/>
          </a:p>
          <a:p>
            <a:pPr lvl="1"/>
            <a:r>
              <a:rPr lang="en-US" altLang="zh-CN" sz="2000" dirty="0" err="1" smtClean="0">
                <a:latin typeface="Symbol" pitchFamily="18" charset="2"/>
              </a:rPr>
              <a:t>a</a:t>
            </a:r>
            <a:r>
              <a:rPr lang="en-US" altLang="zh-CN" sz="2000" baseline="-25000" dirty="0" err="1" smtClean="0"/>
              <a:t>i</a:t>
            </a:r>
            <a:r>
              <a:rPr lang="en-US" altLang="zh-CN" sz="2000" dirty="0" smtClean="0"/>
              <a:t> </a:t>
            </a:r>
            <a:r>
              <a:rPr lang="ko-KR" altLang="en-US" sz="2000" dirty="0" smtClean="0"/>
              <a:t>값이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이 아닌 데이터 포인트 </a:t>
            </a:r>
            <a:r>
              <a:rPr lang="en-US" altLang="zh-CN" sz="2000" b="1" dirty="0"/>
              <a:t>x</a:t>
            </a:r>
            <a:r>
              <a:rPr lang="en-US" altLang="zh-CN" sz="2000" baseline="-25000" dirty="0"/>
              <a:t>i</a:t>
            </a:r>
            <a:r>
              <a:rPr lang="en-US" altLang="zh-CN" sz="2000" dirty="0"/>
              <a:t> </a:t>
            </a:r>
            <a:r>
              <a:rPr lang="ko-KR" altLang="en-US" sz="2000" dirty="0" smtClean="0"/>
              <a:t>를 </a:t>
            </a:r>
            <a:r>
              <a:rPr lang="en-US" altLang="zh-CN" sz="2000" dirty="0" smtClean="0"/>
              <a:t>support vector </a:t>
            </a:r>
            <a:r>
              <a:rPr lang="en-US" altLang="zh-CN" sz="2000" dirty="0"/>
              <a:t>(SV</a:t>
            </a:r>
            <a:r>
              <a:rPr lang="en-US" altLang="zh-CN" sz="2000" dirty="0" smtClean="0"/>
              <a:t>)</a:t>
            </a:r>
            <a:r>
              <a:rPr lang="ko-KR" altLang="en-US" sz="2000" dirty="0" smtClean="0"/>
              <a:t>라고 함</a:t>
            </a:r>
            <a:endParaRPr lang="en-US" altLang="zh-CN" sz="2000" dirty="0"/>
          </a:p>
          <a:p>
            <a:r>
              <a:rPr lang="ko-KR" altLang="en-US" sz="2400" dirty="0" smtClean="0"/>
              <a:t>결정 경계선</a:t>
            </a:r>
            <a:r>
              <a:rPr lang="en-US" altLang="ko-KR" sz="2400" dirty="0" smtClean="0"/>
              <a:t>(</a:t>
            </a:r>
            <a:r>
              <a:rPr lang="en-US" altLang="zh-CN" sz="2400" dirty="0" smtClean="0"/>
              <a:t>decision boundary)</a:t>
            </a:r>
            <a:r>
              <a:rPr lang="ko-KR" altLang="en-US" sz="2400" dirty="0" smtClean="0"/>
              <a:t>는 이러한 </a:t>
            </a:r>
            <a:r>
              <a:rPr lang="en-US" altLang="zh-CN" sz="2400" dirty="0" smtClean="0"/>
              <a:t>SV</a:t>
            </a:r>
            <a:r>
              <a:rPr lang="ko-KR" altLang="en-US" sz="2400" dirty="0" smtClean="0"/>
              <a:t>들에 의해서 결정</a:t>
            </a:r>
            <a:endParaRPr lang="en-US" altLang="zh-CN" sz="2400" dirty="0"/>
          </a:p>
          <a:p>
            <a:pPr lvl="1" eaLnBrk="1" hangingPunct="1"/>
            <a:r>
              <a:rPr lang="en-US" altLang="zh-CN" sz="2000" i="1" dirty="0" err="1" smtClean="0"/>
              <a:t>t</a:t>
            </a:r>
            <a:r>
              <a:rPr lang="en-US" altLang="zh-CN" sz="2000" baseline="-25000" dirty="0" err="1" smtClean="0"/>
              <a:t>j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(</a:t>
            </a:r>
            <a:r>
              <a:rPr lang="en-US" altLang="zh-CN" sz="2000" i="1" dirty="0"/>
              <a:t>j</a:t>
            </a:r>
            <a:r>
              <a:rPr lang="en-US" altLang="zh-CN" sz="2000" dirty="0"/>
              <a:t>=1, ..., </a:t>
            </a:r>
            <a:r>
              <a:rPr lang="en-US" altLang="zh-CN" sz="2000" i="1" dirty="0"/>
              <a:t>s</a:t>
            </a:r>
            <a:r>
              <a:rPr lang="en-US" altLang="zh-CN" sz="2000" dirty="0" smtClean="0"/>
              <a:t>)</a:t>
            </a:r>
            <a:r>
              <a:rPr lang="ko-KR" altLang="en-US" sz="2000" dirty="0" smtClean="0"/>
              <a:t>를 </a:t>
            </a:r>
            <a:r>
              <a:rPr lang="en-US" altLang="ko-KR" sz="2000" dirty="0" smtClean="0"/>
              <a:t>SV</a:t>
            </a:r>
            <a:r>
              <a:rPr lang="ko-KR" altLang="en-US" sz="2000" dirty="0" smtClean="0"/>
              <a:t>들의 </a:t>
            </a:r>
            <a:r>
              <a:rPr lang="ko-KR" altLang="en-US" sz="2000" dirty="0" err="1" smtClean="0"/>
              <a:t>인덱스라</a:t>
            </a:r>
            <a:r>
              <a:rPr lang="ko-KR" altLang="en-US" sz="2000" dirty="0" smtClean="0"/>
              <a:t> 할 때</a:t>
            </a:r>
            <a:r>
              <a:rPr lang="en-US" altLang="zh-CN" sz="2000" dirty="0" smtClean="0"/>
              <a:t> </a:t>
            </a:r>
            <a:endParaRPr lang="en-US" altLang="zh-CN" sz="2000" dirty="0" smtClean="0"/>
          </a:p>
          <a:p>
            <a:pPr lvl="1" eaLnBrk="1" hangingPunct="1"/>
            <a:endParaRPr lang="en-US" altLang="zh-CN" sz="2000" i="1" dirty="0"/>
          </a:p>
          <a:p>
            <a:pPr eaLnBrk="1" hangingPunct="1"/>
            <a:r>
              <a:rPr lang="ko-KR" altLang="en-US" sz="2400" dirty="0" smtClean="0"/>
              <a:t>새로운 데이터 </a:t>
            </a:r>
            <a:r>
              <a:rPr lang="en-US" altLang="zh-CN" sz="2400" b="1" dirty="0" smtClean="0"/>
              <a:t>z</a:t>
            </a:r>
            <a:r>
              <a:rPr lang="ko-KR" altLang="en-US" sz="2400" dirty="0" smtClean="0"/>
              <a:t>를 테스트할 시                                                를 계산한 후 양이면 클래스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로 그렇지 않으면 클래스</a:t>
            </a:r>
            <a:r>
              <a:rPr lang="en-US" altLang="ko-KR" sz="2400" dirty="0" smtClean="0"/>
              <a:t>2</a:t>
            </a:r>
            <a:r>
              <a:rPr lang="ko-KR" altLang="en-US" sz="2400" dirty="0" smtClean="0"/>
              <a:t>로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판단</a:t>
            </a:r>
            <a:r>
              <a:rPr lang="en-US" altLang="ko-KR" sz="2400" dirty="0" smtClean="0"/>
              <a:t> </a:t>
            </a:r>
            <a:endParaRPr lang="en-US" altLang="zh-CN" sz="1000" dirty="0"/>
          </a:p>
        </p:txBody>
      </p:sp>
      <p:pic>
        <p:nvPicPr>
          <p:cNvPr id="12292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77208" y="4587554"/>
            <a:ext cx="2514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20292" y="5151940"/>
            <a:ext cx="4343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38749" y="1587394"/>
            <a:ext cx="1905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765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A Geometric Interpretation</a:t>
            </a:r>
            <a:endParaRPr lang="ko-KR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6976" y="1571613"/>
            <a:ext cx="6715172" cy="4742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962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Learning Maximum Margin with Noise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10248" y="1538770"/>
            <a:ext cx="6238266" cy="2409776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ko-KR" altLang="en-US" dirty="0" smtClean="0"/>
              <a:t>왼쪽과 같은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앞의 방법은 문제가 됨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그럼 어떻게 해야 하나</a:t>
            </a:r>
            <a:r>
              <a:rPr lang="en-US" altLang="ko-KR" dirty="0" smtClean="0"/>
              <a:t>?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Idea : </a:t>
            </a:r>
            <a:r>
              <a:rPr lang="ko-KR" altLang="ko-KR" dirty="0" err="1"/>
              <a:t>w</a:t>
            </a:r>
            <a:r>
              <a:rPr lang="ko-KR" altLang="ko-KR" dirty="0"/>
              <a:t> · </a:t>
            </a:r>
            <a:r>
              <a:rPr lang="ko-KR" altLang="ko-KR" dirty="0" err="1"/>
              <a:t>w</a:t>
            </a:r>
            <a:r>
              <a:rPr lang="ko-KR" altLang="ko-KR" dirty="0"/>
              <a:t> + C </a:t>
            </a:r>
            <a:r>
              <a:rPr lang="ko-KR" altLang="ko-KR" dirty="0" smtClean="0"/>
              <a:t>(</a:t>
            </a:r>
            <a:r>
              <a:rPr lang="ko-KR" altLang="ko-KR" dirty="0"/>
              <a:t>오류 </a:t>
            </a:r>
            <a:r>
              <a:rPr lang="ko-KR" altLang="ko-KR" dirty="0" smtClean="0"/>
              <a:t>지점</a:t>
            </a:r>
            <a:r>
              <a:rPr lang="ko-KR" altLang="en-US" dirty="0" smtClean="0"/>
              <a:t>의 </a:t>
            </a:r>
            <a:r>
              <a:rPr lang="ko-KR" altLang="ko-KR" dirty="0" smtClean="0"/>
              <a:t>올바른 </a:t>
            </a:r>
            <a:r>
              <a:rPr lang="ko-KR" altLang="en-US" dirty="0" smtClean="0"/>
              <a:t>평면</a:t>
            </a:r>
            <a:r>
              <a:rPr lang="ko-KR" altLang="ko-KR" dirty="0" smtClean="0"/>
              <a:t>까지의 거리)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최소</a:t>
            </a:r>
            <a:r>
              <a:rPr lang="ko-KR" altLang="en-US" dirty="0" smtClean="0"/>
              <a:t>화</a:t>
            </a:r>
            <a:endParaRPr lang="en-US" altLang="ko-KR" dirty="0" smtClean="0"/>
          </a:p>
          <a:p>
            <a:pPr>
              <a:buNone/>
            </a:pPr>
            <a:r>
              <a:rPr lang="ko-KR" altLang="en-US" dirty="0" smtClean="0"/>
              <a:t>이를 </a:t>
            </a:r>
            <a:r>
              <a:rPr lang="en-US" altLang="ko-KR" dirty="0" smtClean="0"/>
              <a:t>soft-margin SVM</a:t>
            </a:r>
            <a:r>
              <a:rPr lang="ko-KR" altLang="en-US" dirty="0" smtClean="0"/>
              <a:t>이라 함</a:t>
            </a:r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5374" y="1538769"/>
            <a:ext cx="445770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5989688" y="4198861"/>
            <a:ext cx="5879385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ko-KR" dirty="0"/>
              <a:t>이것은 </a:t>
            </a:r>
            <a:r>
              <a:rPr lang="en-US" altLang="zh-CN" dirty="0" err="1" smtClean="0">
                <a:latin typeface="Symbol" pitchFamily="18" charset="2"/>
              </a:rPr>
              <a:t>a</a:t>
            </a:r>
            <a:r>
              <a:rPr lang="en-US" altLang="zh-CN" baseline="-25000" dirty="0" err="1" smtClean="0"/>
              <a:t>i</a:t>
            </a:r>
            <a:r>
              <a:rPr lang="en-US" altLang="zh-CN" baseline="-25000" dirty="0" smtClean="0"/>
              <a:t> </a:t>
            </a:r>
            <a:r>
              <a:rPr lang="ko-KR" altLang="ko-KR" dirty="0" smtClean="0"/>
              <a:t>에 </a:t>
            </a:r>
            <a:r>
              <a:rPr lang="ko-KR" altLang="ko-KR" dirty="0"/>
              <a:t>상한 </a:t>
            </a:r>
            <a:r>
              <a:rPr lang="ko-KR" altLang="ko-KR" dirty="0" err="1"/>
              <a:t>C가</a:t>
            </a:r>
            <a:r>
              <a:rPr lang="ko-KR" altLang="ko-KR" dirty="0"/>
              <a:t> 있다는 점을 제외하면 선형 분리 가능한 경우의 최적화 문제와 매우 </a:t>
            </a:r>
            <a:r>
              <a:rPr lang="ko-KR" altLang="ko-KR" dirty="0" smtClean="0"/>
              <a:t>유사.</a:t>
            </a:r>
            <a:r>
              <a:rPr lang="en-US" altLang="ko-KR" dirty="0"/>
              <a:t> </a:t>
            </a:r>
            <a:r>
              <a:rPr lang="ko-KR" altLang="ko-KR" dirty="0" smtClean="0"/>
              <a:t>다시 </a:t>
            </a:r>
            <a:r>
              <a:rPr lang="ko-KR" altLang="ko-KR" dirty="0"/>
              <a:t>한 번 QP </a:t>
            </a:r>
            <a:r>
              <a:rPr lang="ko-KR" altLang="ko-KR" dirty="0" err="1"/>
              <a:t>솔버를</a:t>
            </a:r>
            <a:r>
              <a:rPr lang="ko-KR" altLang="ko-KR" dirty="0"/>
              <a:t> 사용하여 </a:t>
            </a:r>
            <a:r>
              <a:rPr lang="en-US" altLang="zh-CN" dirty="0" err="1">
                <a:latin typeface="Symbol" pitchFamily="18" charset="2"/>
              </a:rPr>
              <a:t>a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ko-KR" altLang="ko-KR" dirty="0" smtClean="0"/>
              <a:t>를 찾</a:t>
            </a:r>
            <a:r>
              <a:rPr lang="ko-KR" altLang="en-US" dirty="0" smtClean="0"/>
              <a:t>으면 됨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173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Nonlinear SVMs: The “kernel trick”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지금까지 선형</a:t>
            </a:r>
            <a:r>
              <a:rPr lang="en-US" altLang="ko-KR" dirty="0" smtClean="0"/>
              <a:t> (Linear) SVM</a:t>
            </a:r>
            <a:r>
              <a:rPr lang="ko-KR" altLang="en-US" dirty="0" smtClean="0"/>
              <a:t>만 다루었음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 마진 </a:t>
            </a:r>
            <a:r>
              <a:rPr lang="en-US" altLang="ko-KR" dirty="0" smtClean="0"/>
              <a:t>(Hard-margin) : </a:t>
            </a:r>
            <a:r>
              <a:rPr lang="ko-KR" altLang="en-US" dirty="0" smtClean="0"/>
              <a:t>선형 </a:t>
            </a:r>
            <a:r>
              <a:rPr lang="ko-KR" altLang="en-US" dirty="0" err="1" smtClean="0"/>
              <a:t>분리성</a:t>
            </a:r>
            <a:r>
              <a:rPr lang="ko-KR" altLang="en-US" dirty="0" smtClean="0"/>
              <a:t> 요구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소프트 마진 </a:t>
            </a:r>
            <a:r>
              <a:rPr lang="en-US" altLang="ko-KR" dirty="0" smtClean="0"/>
              <a:t>(Soft-margin) :</a:t>
            </a:r>
            <a:r>
              <a:rPr lang="ko-KR" altLang="en-US" dirty="0"/>
              <a:t> </a:t>
            </a:r>
            <a:r>
              <a:rPr lang="ko-KR" altLang="en-US" dirty="0" smtClean="0"/>
              <a:t>비선형 분리를 일부 허용</a:t>
            </a:r>
            <a:endParaRPr lang="en-US" altLang="ko-KR" dirty="0" smtClean="0"/>
          </a:p>
          <a:p>
            <a:r>
              <a:rPr lang="ko-KR" altLang="en-US" dirty="0" smtClean="0"/>
              <a:t>비선형 분리를 하려면 어떻게 해야 할까</a:t>
            </a:r>
            <a:r>
              <a:rPr lang="en-US" altLang="ko-KR" dirty="0" smtClean="0"/>
              <a:t>?</a:t>
            </a:r>
            <a:endParaRPr lang="en-US" altLang="ko-KR" dirty="0" smtClean="0"/>
          </a:p>
          <a:p>
            <a:r>
              <a:rPr lang="ko-KR" altLang="en-US" dirty="0" smtClean="0"/>
              <a:t>간단한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데이터를 더 높은 차원의 특징 공간으로 매핑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그런 후 그 공간에서 선형 분리를 시도</a:t>
            </a:r>
            <a:endParaRPr lang="en-US" altLang="ko-KR" dirty="0" smtClean="0"/>
          </a:p>
          <a:p>
            <a:r>
              <a:rPr lang="ko-KR" altLang="en-US" dirty="0"/>
              <a:t>몇 가지 간단한 예부터 </a:t>
            </a:r>
            <a:r>
              <a:rPr lang="ko-KR" altLang="en-US" dirty="0" smtClean="0"/>
              <a:t>시작</a:t>
            </a:r>
            <a:r>
              <a:rPr lang="en-US" altLang="ko-KR" dirty="0" smtClean="0"/>
              <a:t>...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607505" y="4001294"/>
            <a:ext cx="1285884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That’s why it’s a trick!</a:t>
            </a:r>
          </a:p>
        </p:txBody>
      </p:sp>
    </p:spTree>
    <p:extLst>
      <p:ext uri="{BB962C8B-B14F-4D97-AF65-F5344CB8AC3E}">
        <p14:creationId xmlns:p14="http://schemas.microsoft.com/office/powerpoint/2010/main" val="2678065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Suppose we’re in 1-dimension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8415" y="3071811"/>
            <a:ext cx="55911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7239008" y="1714489"/>
            <a:ext cx="2214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 smtClean="0"/>
              <a:t>SVM</a:t>
            </a:r>
            <a:r>
              <a:rPr lang="ko-KR" altLang="en-US" sz="2400" dirty="0" smtClean="0"/>
              <a:t>은 이 데이터를 어떻게 처리할까</a:t>
            </a:r>
            <a:r>
              <a:rPr lang="en-US" altLang="ko-KR" sz="2400" dirty="0" smtClean="0"/>
              <a:t>?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77130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Suppose we’re in 1-dimension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6976" y="3000372"/>
            <a:ext cx="65532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6667504" y="2000241"/>
            <a:ext cx="3000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Not a big surprise</a:t>
            </a:r>
          </a:p>
        </p:txBody>
      </p:sp>
    </p:spTree>
    <p:extLst>
      <p:ext uri="{BB962C8B-B14F-4D97-AF65-F5344CB8AC3E}">
        <p14:creationId xmlns:p14="http://schemas.microsoft.com/office/powerpoint/2010/main" val="2876988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Harder 1-dimensional dataset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52" y="3214686"/>
            <a:ext cx="56388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7239008" y="2143117"/>
            <a:ext cx="24288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 smtClean="0"/>
              <a:t>이 </a:t>
            </a:r>
            <a:r>
              <a:rPr lang="ko-KR" altLang="en-US" sz="2400" dirty="0" err="1" smtClean="0"/>
              <a:t>데이이터</a:t>
            </a:r>
            <a:r>
              <a:rPr lang="ko-KR" altLang="en-US" sz="2400" dirty="0" smtClean="0"/>
              <a:t> 대해서는</a:t>
            </a:r>
            <a:r>
              <a:rPr lang="en-US" altLang="ko-KR" sz="2400" dirty="0" smtClean="0"/>
              <a:t>?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975616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Harder 1-dimensional dataset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53190" y="1600201"/>
            <a:ext cx="3757610" cy="2556163"/>
          </a:xfrm>
        </p:spPr>
        <p:txBody>
          <a:bodyPr>
            <a:normAutofit/>
          </a:bodyPr>
          <a:lstStyle/>
          <a:p>
            <a:r>
              <a:rPr lang="ko-KR" altLang="en-US" dirty="0"/>
              <a:t>비선형 기저 함수를 </a:t>
            </a:r>
            <a:r>
              <a:rPr lang="ko-KR" altLang="en-US" dirty="0" smtClean="0"/>
              <a:t>사용하면 선형 </a:t>
            </a:r>
            <a:r>
              <a:rPr lang="ko-KR" altLang="en-US" dirty="0"/>
              <a:t>회귀가 훨씬 더 </a:t>
            </a:r>
            <a:r>
              <a:rPr lang="ko-KR" altLang="en-US" dirty="0" smtClean="0"/>
              <a:t>좋아짐을 기억</a:t>
            </a:r>
            <a:endParaRPr lang="en-US" altLang="ko-KR" dirty="0"/>
          </a:p>
          <a:p>
            <a:r>
              <a:rPr lang="ko-KR" altLang="en-US" dirty="0" smtClean="0"/>
              <a:t>이 경우도 그렇게 적용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472" y="1639840"/>
            <a:ext cx="4357719" cy="45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7266429" y="4194408"/>
            <a:ext cx="2567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ko-KR" b="1" dirty="0"/>
              <a:t>Φ</a:t>
            </a:r>
            <a:r>
              <a:rPr lang="en-US" altLang="ko-KR" b="1" dirty="0"/>
              <a:t>(</a:t>
            </a:r>
            <a:r>
              <a:rPr lang="en-US" altLang="ko-KR" b="1" dirty="0" err="1"/>
              <a:t>X</a:t>
            </a:r>
            <a:r>
              <a:rPr lang="en-US" altLang="ko-KR" b="1" baseline="-25000" dirty="0" err="1"/>
              <a:t>k</a:t>
            </a:r>
            <a:r>
              <a:rPr lang="en-US" altLang="ko-KR" b="1" dirty="0"/>
              <a:t>) = (</a:t>
            </a:r>
            <a:r>
              <a:rPr lang="en-US" altLang="ko-KR" b="1" dirty="0" err="1"/>
              <a:t>X</a:t>
            </a:r>
            <a:r>
              <a:rPr lang="en-US" altLang="ko-KR" b="1" baseline="-25000" dirty="0" err="1"/>
              <a:t>k</a:t>
            </a:r>
            <a:r>
              <a:rPr lang="en-US" altLang="ko-KR" b="1" baseline="-25000" dirty="0"/>
              <a:t>, </a:t>
            </a:r>
            <a:r>
              <a:rPr lang="en-US" altLang="ko-KR" b="1" dirty="0"/>
              <a:t>X</a:t>
            </a:r>
            <a:r>
              <a:rPr lang="en-US" altLang="ko-KR" b="1" baseline="-25000" dirty="0"/>
              <a:t>k</a:t>
            </a:r>
            <a:r>
              <a:rPr lang="en-US" altLang="ko-KR" b="1" baseline="30000" dirty="0"/>
              <a:t>2</a:t>
            </a:r>
            <a:r>
              <a:rPr lang="en-US" altLang="ko-KR" b="1" dirty="0"/>
              <a:t>)</a:t>
            </a:r>
            <a:endParaRPr lang="el-GR" altLang="ko-KR" b="1" dirty="0"/>
          </a:p>
        </p:txBody>
      </p:sp>
    </p:spTree>
    <p:extLst>
      <p:ext uri="{BB962C8B-B14F-4D97-AF65-F5344CB8AC3E}">
        <p14:creationId xmlns:p14="http://schemas.microsoft.com/office/powerpoint/2010/main" val="2556948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Common SVM basis functions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altLang="ko-KR" b="1" dirty="0" smtClean="0"/>
              <a:t>Φ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) = ( polynomial terms of 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 of degree 0 to q )</a:t>
            </a:r>
          </a:p>
          <a:p>
            <a:r>
              <a:rPr lang="el-GR" altLang="ko-KR" b="1" dirty="0" smtClean="0"/>
              <a:t>Φ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) = ( radial basis functions of 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 )</a:t>
            </a:r>
          </a:p>
          <a:p>
            <a:r>
              <a:rPr lang="el-GR" altLang="ko-KR" b="1" dirty="0" smtClean="0"/>
              <a:t>Φ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) = ( sigmoid functions of </a:t>
            </a:r>
            <a:r>
              <a:rPr lang="en-US" altLang="ko-KR" b="1" dirty="0" err="1" smtClean="0"/>
              <a:t>x</a:t>
            </a:r>
            <a:r>
              <a:rPr lang="en-US" altLang="ko-KR" b="1" baseline="-25000" dirty="0" err="1" smtClean="0"/>
              <a:t>k</a:t>
            </a:r>
            <a:r>
              <a:rPr lang="en-US" altLang="ko-KR" b="1" dirty="0" smtClean="0"/>
              <a:t> 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5191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QP with basis functions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8349" y="1357298"/>
            <a:ext cx="7405179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8349" y="1418227"/>
            <a:ext cx="75533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3125" y="6072206"/>
            <a:ext cx="54006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아래쪽 화살표 2"/>
          <p:cNvSpPr/>
          <p:nvPr/>
        </p:nvSpPr>
        <p:spPr>
          <a:xfrm>
            <a:off x="8306620" y="4708634"/>
            <a:ext cx="269821" cy="13635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38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Kernel Trick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커널 함수 </a:t>
            </a:r>
            <a:r>
              <a:rPr lang="en-US" altLang="ko-KR" dirty="0"/>
              <a:t>K</a:t>
            </a:r>
            <a:r>
              <a:rPr lang="ko-KR" altLang="en-US" dirty="0"/>
              <a:t>와 매핑 </a:t>
            </a:r>
            <a:r>
              <a:rPr lang="en-US" altLang="ko-KR" dirty="0"/>
              <a:t>φ (.) </a:t>
            </a:r>
            <a:r>
              <a:rPr lang="ko-KR" altLang="en-US" dirty="0"/>
              <a:t>사이의 관계는 다음과 </a:t>
            </a:r>
            <a:r>
              <a:rPr lang="ko-KR" altLang="en-US" dirty="0" smtClean="0"/>
              <a:t>같음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en-US" altLang="ko-KR" i="1" dirty="0" smtClean="0"/>
              <a:t>kernel trick </a:t>
            </a:r>
            <a:r>
              <a:rPr lang="ko-KR" altLang="en-US" i="1" dirty="0" smtClean="0"/>
              <a:t>이라 함</a:t>
            </a:r>
            <a:endParaRPr lang="en-US" altLang="ko-KR" i="1" dirty="0" smtClean="0"/>
          </a:p>
          <a:p>
            <a:pPr lvl="1"/>
            <a:r>
              <a:rPr lang="ko-KR" altLang="ko-KR" dirty="0" err="1" smtClean="0"/>
              <a:t>φ</a:t>
            </a:r>
            <a:r>
              <a:rPr lang="ko-KR" altLang="ko-KR" dirty="0" smtClean="0"/>
              <a:t> </a:t>
            </a:r>
            <a:r>
              <a:rPr lang="ko-KR" altLang="ko-KR" dirty="0"/>
              <a:t>(.)</a:t>
            </a:r>
            <a:r>
              <a:rPr lang="ko-KR" altLang="ko-KR" dirty="0" err="1"/>
              <a:t>를</a:t>
            </a:r>
            <a:r>
              <a:rPr lang="ko-KR" altLang="ko-KR" dirty="0"/>
              <a:t> 선택하는 대신 </a:t>
            </a:r>
            <a:r>
              <a:rPr lang="ko-KR" altLang="ko-KR" dirty="0" smtClean="0"/>
              <a:t>실제로</a:t>
            </a:r>
            <a:r>
              <a:rPr lang="ko-KR" altLang="en-US" dirty="0" smtClean="0"/>
              <a:t>는</a:t>
            </a:r>
            <a:r>
              <a:rPr lang="ko-KR" altLang="ko-KR" dirty="0" smtClean="0"/>
              <a:t> </a:t>
            </a:r>
            <a:r>
              <a:rPr lang="ko-KR" altLang="ko-KR" dirty="0" err="1"/>
              <a:t>K를</a:t>
            </a:r>
            <a:r>
              <a:rPr lang="ko-KR" altLang="ko-KR" dirty="0"/>
              <a:t> 지정하여 </a:t>
            </a:r>
            <a:r>
              <a:rPr lang="ko-KR" altLang="ko-KR" dirty="0" smtClean="0"/>
              <a:t>간접적으로 </a:t>
            </a:r>
            <a:r>
              <a:rPr lang="ko-KR" altLang="ko-KR" dirty="0" err="1"/>
              <a:t>φ</a:t>
            </a:r>
            <a:r>
              <a:rPr lang="ko-KR" altLang="ko-KR" dirty="0"/>
              <a:t> (.)</a:t>
            </a:r>
            <a:r>
              <a:rPr lang="ko-KR" altLang="ko-KR" dirty="0" err="1"/>
              <a:t>를</a:t>
            </a:r>
            <a:r>
              <a:rPr lang="ko-KR" altLang="ko-KR" dirty="0"/>
              <a:t> </a:t>
            </a:r>
            <a:r>
              <a:rPr lang="ko-KR" altLang="ko-KR" dirty="0" smtClean="0"/>
              <a:t>지정</a:t>
            </a:r>
            <a:endParaRPr lang="en-US" altLang="ko-KR" dirty="0" smtClean="0"/>
          </a:p>
          <a:p>
            <a:pPr lvl="1"/>
            <a:r>
              <a:rPr lang="ko-KR" altLang="ko-KR" dirty="0" err="1"/>
              <a:t>SVM의</a:t>
            </a:r>
            <a:r>
              <a:rPr lang="ko-KR" altLang="ko-KR" dirty="0"/>
              <a:t> 실제 사용에서는 커널 함수 만 지정 </a:t>
            </a:r>
            <a:r>
              <a:rPr lang="en-US" altLang="zh-CN" sz="2000" dirty="0"/>
              <a:t>(</a:t>
            </a:r>
            <a:r>
              <a:rPr lang="en-US" altLang="zh-CN" sz="2000" dirty="0">
                <a:latin typeface="Symbol" pitchFamily="18" charset="2"/>
              </a:rPr>
              <a:t>f</a:t>
            </a:r>
            <a:r>
              <a:rPr lang="en-US" altLang="zh-CN" sz="2000" dirty="0"/>
              <a:t>(.)</a:t>
            </a:r>
            <a:r>
              <a:rPr lang="ko-KR" altLang="en-US" sz="2000" dirty="0"/>
              <a:t>은 지정하지 않음</a:t>
            </a:r>
            <a:r>
              <a:rPr lang="en-US" altLang="zh-CN" sz="2000" dirty="0"/>
              <a:t>)</a:t>
            </a:r>
            <a:endParaRPr lang="en-US" altLang="ko-KR" dirty="0" smtClean="0"/>
          </a:p>
          <a:p>
            <a:r>
              <a:rPr lang="ko-KR" altLang="ko-KR" dirty="0"/>
              <a:t>직관적으로 K (</a:t>
            </a:r>
            <a:r>
              <a:rPr lang="ko-KR" altLang="ko-KR" dirty="0" err="1"/>
              <a:t>x</a:t>
            </a:r>
            <a:r>
              <a:rPr lang="ko-KR" altLang="ko-KR" dirty="0"/>
              <a:t>, </a:t>
            </a:r>
            <a:r>
              <a:rPr lang="ko-KR" altLang="ko-KR" dirty="0" err="1"/>
              <a:t>y</a:t>
            </a:r>
            <a:r>
              <a:rPr lang="ko-KR" altLang="ko-KR" dirty="0"/>
              <a:t>)는 데이터 </a:t>
            </a:r>
            <a:r>
              <a:rPr lang="ko-KR" altLang="ko-KR" dirty="0" err="1"/>
              <a:t>x와</a:t>
            </a:r>
            <a:r>
              <a:rPr lang="ko-KR" altLang="ko-KR" dirty="0"/>
              <a:t> </a:t>
            </a:r>
            <a:r>
              <a:rPr lang="ko-KR" altLang="ko-KR" dirty="0" err="1"/>
              <a:t>y</a:t>
            </a:r>
            <a:r>
              <a:rPr lang="ko-KR" altLang="ko-KR" dirty="0"/>
              <a:t> 사이의 </a:t>
            </a:r>
            <a:r>
              <a:rPr lang="ko-KR" altLang="ko-KR" dirty="0" smtClean="0"/>
              <a:t>유사성</a:t>
            </a:r>
            <a:r>
              <a:rPr lang="ko-KR" altLang="en-US" dirty="0" smtClean="0"/>
              <a:t>을 나타냄</a:t>
            </a:r>
            <a:endParaRPr lang="en-US" altLang="ko-KR" dirty="0" smtClean="0"/>
          </a:p>
          <a:p>
            <a:r>
              <a:rPr lang="ko-KR" altLang="ko-KR" dirty="0" err="1" smtClean="0"/>
              <a:t>φ</a:t>
            </a:r>
            <a:r>
              <a:rPr lang="ko-KR" altLang="ko-KR" dirty="0" smtClean="0"/>
              <a:t> </a:t>
            </a:r>
            <a:r>
              <a:rPr lang="ko-KR" altLang="ko-KR" dirty="0"/>
              <a:t>(.)가 존재하기 위해 </a:t>
            </a:r>
            <a:r>
              <a:rPr lang="ko-KR" altLang="ko-KR" dirty="0"/>
              <a:t>K (</a:t>
            </a:r>
            <a:r>
              <a:rPr lang="ko-KR" altLang="ko-KR" dirty="0" err="1"/>
              <a:t>x</a:t>
            </a:r>
            <a:r>
              <a:rPr lang="ko-KR" altLang="ko-KR" dirty="0"/>
              <a:t>, </a:t>
            </a:r>
            <a:r>
              <a:rPr lang="ko-KR" altLang="ko-KR" dirty="0" err="1"/>
              <a:t>y</a:t>
            </a:r>
            <a:r>
              <a:rPr lang="ko-KR" altLang="ko-KR" dirty="0"/>
              <a:t>)는 </a:t>
            </a:r>
            <a:r>
              <a:rPr lang="ko-KR" altLang="ko-KR" dirty="0" smtClean="0"/>
              <a:t>기술적 </a:t>
            </a:r>
            <a:r>
              <a:rPr lang="ko-KR" altLang="ko-KR" dirty="0"/>
              <a:t>조건 </a:t>
            </a:r>
            <a:r>
              <a:rPr lang="ko-KR" altLang="ko-KR" dirty="0" smtClean="0"/>
              <a:t>(</a:t>
            </a:r>
            <a:r>
              <a:rPr lang="en-US" altLang="ko-KR" dirty="0"/>
              <a:t>Mercer</a:t>
            </a:r>
            <a:r>
              <a:rPr lang="ko-KR" altLang="ko-KR" dirty="0" smtClean="0"/>
              <a:t> </a:t>
            </a:r>
            <a:r>
              <a:rPr lang="ko-KR" altLang="ko-KR" dirty="0"/>
              <a:t>조건)을 </a:t>
            </a:r>
            <a:r>
              <a:rPr lang="ko-KR" altLang="ko-KR" dirty="0" smtClean="0"/>
              <a:t>만족해야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1422" y="2428868"/>
            <a:ext cx="41148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23983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Example Kernel Functions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Polynomial kernel with degree </a:t>
            </a:r>
            <a:r>
              <a:rPr lang="en-US" altLang="ko-KR" i="1" dirty="0" smtClean="0"/>
              <a:t>d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Radial basis function kernel with width σ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Sigmoid with parameter κ and θ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en-US" altLang="ko-KR" dirty="0" smtClean="0"/>
              <a:t>It does not satisfy the Mercer condition on all κ and θ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238876" y="2143116"/>
            <a:ext cx="142876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65225" y="5252093"/>
            <a:ext cx="41910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65225" y="3876329"/>
            <a:ext cx="4800600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57552" y="2493789"/>
            <a:ext cx="3124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4317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Choosing the Kernel Function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아마도 </a:t>
            </a:r>
            <a:r>
              <a:rPr lang="en-US" altLang="ko-KR" dirty="0"/>
              <a:t>SVM </a:t>
            </a:r>
            <a:r>
              <a:rPr lang="ko-KR" altLang="en-US" dirty="0"/>
              <a:t>사용에서 가장 까다로운 부분 일 </a:t>
            </a:r>
            <a:r>
              <a:rPr lang="ko-KR" altLang="en-US" dirty="0" smtClean="0"/>
              <a:t>것</a:t>
            </a:r>
            <a:endParaRPr lang="en-US" altLang="zh-CN" dirty="0" smtClean="0"/>
          </a:p>
          <a:p>
            <a:r>
              <a:rPr lang="ko-KR" altLang="ko-KR" dirty="0"/>
              <a:t>커널 함수는 모든 데이터를 요약하는 커널 행렬을 생성하기 때문에 </a:t>
            </a:r>
            <a:r>
              <a:rPr lang="ko-KR" altLang="ko-KR" dirty="0" smtClean="0"/>
              <a:t>중요</a:t>
            </a:r>
            <a:endParaRPr lang="en-US" altLang="zh-CN" dirty="0" smtClean="0"/>
          </a:p>
          <a:p>
            <a:r>
              <a:rPr lang="ko-KR" altLang="ko-KR" dirty="0"/>
              <a:t>실제로, 낮은 수준의 다항식 커널 또는 합리적인 너비의 RBF 커널은 대부분의 응용 프로그램에서 </a:t>
            </a:r>
            <a:r>
              <a:rPr lang="ko-KR" altLang="en-US" dirty="0" smtClean="0"/>
              <a:t>초기에 시도해 볼만한 좋은 </a:t>
            </a:r>
            <a:r>
              <a:rPr lang="ko-KR" altLang="en-US" dirty="0" err="1" smtClean="0"/>
              <a:t>커널임</a:t>
            </a:r>
            <a:endParaRPr lang="en-US" altLang="zh-CN" sz="2400" dirty="0" smtClean="0"/>
          </a:p>
          <a:p>
            <a:r>
              <a:rPr lang="ko-KR" altLang="ko-KR" dirty="0"/>
              <a:t>텍스트 분류의 경우 이미 충분히 높은 </a:t>
            </a:r>
            <a:r>
              <a:rPr lang="ko-KR" altLang="en-US" dirty="0" smtClean="0"/>
              <a:t>특징</a:t>
            </a:r>
            <a:r>
              <a:rPr lang="ko-KR" altLang="ko-KR" dirty="0" smtClean="0"/>
              <a:t> </a:t>
            </a:r>
            <a:r>
              <a:rPr lang="ko-KR" altLang="ko-KR" dirty="0"/>
              <a:t>차원 때문에 선형 커널이 최선의 </a:t>
            </a:r>
            <a:r>
              <a:rPr lang="ko-KR" altLang="ko-KR" dirty="0" smtClean="0"/>
              <a:t>선택이라고</a:t>
            </a:r>
            <a:r>
              <a:rPr lang="en-US" altLang="ko-KR" dirty="0" smtClean="0"/>
              <a:t> </a:t>
            </a:r>
            <a:r>
              <a:rPr lang="ko-KR" altLang="en-US" dirty="0"/>
              <a:t>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6654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mtClean="0"/>
              <a:t>Summary: Steps for Classification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학습 데이터 준비</a:t>
            </a:r>
            <a:endParaRPr lang="en-US" altLang="zh-CN" dirty="0" smtClean="0"/>
          </a:p>
          <a:p>
            <a:pPr eaLnBrk="1" hangingPunct="1"/>
            <a:r>
              <a:rPr lang="ko-KR" altLang="en-US" dirty="0" smtClean="0"/>
              <a:t>사용할 커널 함수 선택 </a:t>
            </a:r>
            <a:endParaRPr lang="en-US" altLang="zh-CN" dirty="0"/>
          </a:p>
          <a:p>
            <a:r>
              <a:rPr lang="ko-KR" altLang="ko-KR" dirty="0"/>
              <a:t>커널 함수의 매개 변수와 </a:t>
            </a:r>
            <a:r>
              <a:rPr lang="ko-KR" altLang="ko-KR" dirty="0" err="1"/>
              <a:t>C의</a:t>
            </a:r>
            <a:r>
              <a:rPr lang="ko-KR" altLang="ko-KR" dirty="0"/>
              <a:t> 값을 </a:t>
            </a:r>
            <a:r>
              <a:rPr lang="ko-KR" altLang="en-US" dirty="0" smtClean="0"/>
              <a:t>선택</a:t>
            </a:r>
            <a:endParaRPr lang="en-US" altLang="zh-CN" sz="2400" i="1" dirty="0"/>
          </a:p>
          <a:p>
            <a:pPr lvl="1"/>
            <a:r>
              <a:rPr lang="ko-KR" altLang="ko-KR" dirty="0"/>
              <a:t>SVM 소프트웨어에서 제안한 값을 사용하거나 검증 세트를 구분하여 매개 변수 값을 결정할 </a:t>
            </a:r>
            <a:r>
              <a:rPr lang="ko-KR" altLang="ko-KR" dirty="0" smtClean="0"/>
              <a:t>수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있음</a:t>
            </a:r>
            <a:endParaRPr lang="en-US" altLang="zh-CN" sz="2000" dirty="0"/>
          </a:p>
          <a:p>
            <a:r>
              <a:rPr lang="ko-KR" altLang="ko-KR" dirty="0"/>
              <a:t>훈련 알고리즘을 </a:t>
            </a:r>
            <a:r>
              <a:rPr lang="ko-KR" altLang="ko-KR" dirty="0" smtClean="0"/>
              <a:t>실행하</a:t>
            </a:r>
            <a:r>
              <a:rPr lang="ko-KR" altLang="en-US" dirty="0" smtClean="0"/>
              <a:t>여 </a:t>
            </a:r>
            <a:r>
              <a:rPr lang="en-US" altLang="zh-CN" dirty="0" err="1">
                <a:latin typeface="Symbol" pitchFamily="18" charset="2"/>
              </a:rPr>
              <a:t>a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ko-KR" altLang="en-US" dirty="0" smtClean="0"/>
              <a:t>를 얻음</a:t>
            </a:r>
            <a:endParaRPr lang="en-US" altLang="zh-CN" sz="2400" dirty="0"/>
          </a:p>
          <a:p>
            <a:r>
              <a:rPr lang="ko-KR" altLang="en-US" dirty="0" smtClean="0"/>
              <a:t>클래스가 알려지지 않는</a:t>
            </a:r>
            <a:r>
              <a:rPr lang="ko-KR" altLang="ko-KR" dirty="0" smtClean="0"/>
              <a:t> 데이터</a:t>
            </a:r>
            <a:r>
              <a:rPr lang="ko-KR" altLang="en-US" dirty="0" smtClean="0"/>
              <a:t>를</a:t>
            </a:r>
            <a:r>
              <a:rPr lang="ko-KR" altLang="ko-KR" dirty="0" smtClean="0"/>
              <a:t> </a:t>
            </a:r>
            <a:r>
              <a:rPr lang="en-US" altLang="zh-CN" dirty="0" err="1">
                <a:latin typeface="Symbol" pitchFamily="18" charset="2"/>
              </a:rPr>
              <a:t>a</a:t>
            </a:r>
            <a:r>
              <a:rPr lang="en-US" altLang="zh-CN" baseline="-25000" dirty="0" err="1"/>
              <a:t>i</a:t>
            </a:r>
            <a:r>
              <a:rPr lang="ko-KR" altLang="ko-KR" dirty="0" smtClean="0"/>
              <a:t> </a:t>
            </a:r>
            <a:r>
              <a:rPr lang="ko-KR" altLang="ko-KR" dirty="0"/>
              <a:t>및 지원 벡터를 사용하여 </a:t>
            </a:r>
            <a:r>
              <a:rPr lang="ko-KR" altLang="ko-KR" dirty="0" smtClean="0"/>
              <a:t>분류</a:t>
            </a:r>
            <a:endParaRPr lang="en-US" altLang="zh-C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1548938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Multi-class Classification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dirty="0" err="1"/>
              <a:t>SVM은</a:t>
            </a:r>
            <a:r>
              <a:rPr lang="ko-KR" altLang="ko-KR" dirty="0"/>
              <a:t> 기본적으로 </a:t>
            </a:r>
            <a:r>
              <a:rPr lang="ko-KR" altLang="en-US" dirty="0" smtClean="0"/>
              <a:t>이진</a:t>
            </a:r>
            <a:r>
              <a:rPr lang="ko-KR" altLang="ko-KR" dirty="0" smtClean="0"/>
              <a:t> </a:t>
            </a:r>
            <a:r>
              <a:rPr lang="ko-KR" altLang="ko-KR" dirty="0"/>
              <a:t>클래스 </a:t>
            </a:r>
            <a:r>
              <a:rPr lang="ko-KR" altLang="en-US" dirty="0" err="1" smtClean="0"/>
              <a:t>분류기임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ko-KR" dirty="0"/>
              <a:t>다중 클래스 분류를 허용하도록 QP 공식을 변경할 </a:t>
            </a:r>
            <a:r>
              <a:rPr lang="ko-KR" altLang="ko-KR" dirty="0" smtClean="0"/>
              <a:t>수</a:t>
            </a:r>
            <a:r>
              <a:rPr lang="ko-KR" altLang="en-US" dirty="0" smtClean="0"/>
              <a:t>도 있지만 </a:t>
            </a:r>
            <a:endParaRPr lang="en-US" altLang="ko-KR" dirty="0" smtClean="0"/>
          </a:p>
          <a:p>
            <a:r>
              <a:rPr lang="ko-KR" altLang="ko-KR" dirty="0"/>
              <a:t>더 일반적으로 데이터 </a:t>
            </a:r>
            <a:r>
              <a:rPr lang="ko-KR" altLang="ko-KR" dirty="0" smtClean="0"/>
              <a:t>세트</a:t>
            </a:r>
            <a:r>
              <a:rPr lang="ko-KR" altLang="en-US" dirty="0" smtClean="0"/>
              <a:t>를</a:t>
            </a:r>
            <a:r>
              <a:rPr lang="ko-KR" altLang="ko-KR" dirty="0" smtClean="0"/>
              <a:t> </a:t>
            </a:r>
            <a:r>
              <a:rPr lang="ko-KR" altLang="en-US" dirty="0" smtClean="0"/>
              <a:t>다양한 방법으로 </a:t>
            </a:r>
            <a:r>
              <a:rPr lang="ko-KR" altLang="ko-KR" dirty="0" smtClean="0"/>
              <a:t>두 </a:t>
            </a:r>
            <a:r>
              <a:rPr lang="ko-KR" altLang="ko-KR" dirty="0"/>
              <a:t>부분으로 나뉘고 각 </a:t>
            </a:r>
            <a:r>
              <a:rPr lang="ko-KR" altLang="ko-KR" dirty="0" smtClean="0"/>
              <a:t>분할에 </a:t>
            </a:r>
            <a:r>
              <a:rPr lang="ko-KR" altLang="ko-KR" dirty="0"/>
              <a:t>대해 별도의 </a:t>
            </a:r>
            <a:r>
              <a:rPr lang="ko-KR" altLang="en-US" dirty="0" smtClean="0"/>
              <a:t>이진 </a:t>
            </a:r>
            <a:r>
              <a:rPr lang="ko-KR" altLang="ko-KR" dirty="0" err="1" smtClean="0"/>
              <a:t>SVM</a:t>
            </a:r>
            <a:r>
              <a:rPr lang="ko-KR" altLang="en-US" dirty="0" err="1" smtClean="0"/>
              <a:t>으로</a:t>
            </a:r>
            <a:r>
              <a:rPr lang="ko-KR" altLang="en-US" dirty="0" smtClean="0"/>
              <a:t> 훈련 </a:t>
            </a:r>
            <a:endParaRPr lang="en-US" altLang="ko-KR" dirty="0" smtClean="0"/>
          </a:p>
          <a:p>
            <a:r>
              <a:rPr lang="ko-KR" altLang="ko-KR" dirty="0"/>
              <a:t>다중 클래스 분류는 모든 </a:t>
            </a:r>
            <a:r>
              <a:rPr lang="ko-KR" altLang="en-US" dirty="0" smtClean="0"/>
              <a:t>이진 </a:t>
            </a:r>
            <a:r>
              <a:rPr lang="ko-KR" altLang="ko-KR" dirty="0" smtClean="0"/>
              <a:t>SVM </a:t>
            </a:r>
            <a:r>
              <a:rPr lang="ko-KR" altLang="ko-KR" dirty="0"/>
              <a:t>분류기의 출력을 결합하여 </a:t>
            </a:r>
            <a:r>
              <a:rPr lang="ko-KR" altLang="en-US" dirty="0" smtClean="0"/>
              <a:t>판단</a:t>
            </a:r>
            <a:endParaRPr lang="en-US" altLang="ko-KR" dirty="0" smtClean="0"/>
          </a:p>
          <a:p>
            <a:pPr lvl="1"/>
            <a:r>
              <a:rPr lang="en-US" altLang="zh-CN" dirty="0" smtClean="0"/>
              <a:t>1-vs-rest</a:t>
            </a:r>
          </a:p>
          <a:p>
            <a:pPr lvl="1"/>
            <a:r>
              <a:rPr lang="en-US" altLang="zh-CN" dirty="0" smtClean="0"/>
              <a:t>1-vs-1</a:t>
            </a:r>
          </a:p>
          <a:p>
            <a:pPr lvl="1"/>
            <a:r>
              <a:rPr lang="en-US" altLang="zh-CN" dirty="0" smtClean="0"/>
              <a:t>…</a:t>
            </a:r>
            <a:endParaRPr lang="en-US" altLang="zh-CN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8566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1-vs-rest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609042"/>
          </a:xfrm>
        </p:spPr>
        <p:txBody>
          <a:bodyPr>
            <a:normAutofit/>
          </a:bodyPr>
          <a:lstStyle/>
          <a:p>
            <a:r>
              <a:rPr lang="ko-KR" altLang="ko-KR" dirty="0"/>
              <a:t>모든 클래스 </a:t>
            </a:r>
            <a:r>
              <a:rPr lang="ko-KR" altLang="ko-KR" dirty="0" err="1"/>
              <a:t>C에</a:t>
            </a:r>
            <a:r>
              <a:rPr lang="ko-KR" altLang="ko-KR" dirty="0"/>
              <a:t> 대해 </a:t>
            </a:r>
            <a:r>
              <a:rPr lang="ko-KR" altLang="ko-KR" dirty="0" err="1"/>
              <a:t>C와</a:t>
            </a:r>
            <a:r>
              <a:rPr lang="ko-KR" altLang="ko-KR" dirty="0"/>
              <a:t> </a:t>
            </a:r>
            <a:r>
              <a:rPr lang="en-US" altLang="zh-CN" u="sng" dirty="0" smtClean="0"/>
              <a:t>C(</a:t>
            </a:r>
            <a:r>
              <a:rPr lang="ko-KR" altLang="ko-KR" dirty="0" err="1" smtClean="0"/>
              <a:t>C</a:t>
            </a:r>
            <a:r>
              <a:rPr lang="ko-KR" altLang="en-US" dirty="0" err="1" smtClean="0"/>
              <a:t>가</a:t>
            </a:r>
            <a:r>
              <a:rPr lang="ko-KR" altLang="en-US" dirty="0" smtClean="0"/>
              <a:t> 아닌 것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</a:t>
            </a:r>
            <a:r>
              <a:rPr lang="ko-KR" altLang="ko-KR" dirty="0" smtClean="0"/>
              <a:t> </a:t>
            </a:r>
            <a:r>
              <a:rPr lang="ko-KR" altLang="ko-KR" dirty="0"/>
              <a:t>구별하도록 이진 </a:t>
            </a:r>
            <a:r>
              <a:rPr lang="ko-KR" altLang="ko-KR" dirty="0" err="1"/>
              <a:t>분류기를</a:t>
            </a:r>
            <a:r>
              <a:rPr lang="ko-KR" altLang="ko-KR" dirty="0"/>
              <a:t> </a:t>
            </a:r>
            <a:r>
              <a:rPr lang="ko-KR" altLang="ko-KR" dirty="0" smtClean="0"/>
              <a:t>훈련 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r>
              <a:rPr lang="ko-KR" altLang="en-US" dirty="0" smtClean="0"/>
              <a:t>클래스가 정해지지 않은</a:t>
            </a:r>
            <a:r>
              <a:rPr lang="ko-KR" altLang="ko-KR" dirty="0" smtClean="0"/>
              <a:t> </a:t>
            </a:r>
            <a:r>
              <a:rPr lang="ko-KR" altLang="ko-KR" dirty="0"/>
              <a:t>샘플의 경우 최종 결정에 대한 신뢰도 점수가 가장 높은 이진 </a:t>
            </a:r>
            <a:r>
              <a:rPr lang="ko-KR" altLang="ko-KR" dirty="0" err="1"/>
              <a:t>분류기를</a:t>
            </a:r>
            <a:r>
              <a:rPr lang="ko-KR" altLang="ko-KR" dirty="0"/>
              <a:t> </a:t>
            </a:r>
            <a:r>
              <a:rPr lang="ko-KR" altLang="ko-KR" dirty="0" smtClean="0"/>
              <a:t>찾</a:t>
            </a:r>
            <a:r>
              <a:rPr lang="ko-KR" altLang="en-US" dirty="0" smtClean="0"/>
              <a:t>음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/>
            <a:r>
              <a:rPr lang="en-US" altLang="ko-KR" dirty="0" smtClean="0"/>
              <a:t>f</a:t>
            </a:r>
            <a:r>
              <a:rPr lang="en-US" altLang="ko-KR" sz="1700" dirty="0" smtClean="0"/>
              <a:t>i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</a:t>
            </a:r>
            <a:r>
              <a:rPr lang="en-US" altLang="ko-KR" dirty="0" err="1" smtClean="0"/>
              <a:t>i</a:t>
            </a:r>
            <a:r>
              <a:rPr lang="ko-KR" altLang="en-US" dirty="0" smtClean="0"/>
              <a:t>번째 </a:t>
            </a:r>
            <a:r>
              <a:rPr lang="ko-KR" altLang="en-US" dirty="0" err="1" smtClean="0"/>
              <a:t>분류기라</a:t>
            </a:r>
            <a:r>
              <a:rPr lang="ko-KR" altLang="en-US" dirty="0" smtClean="0"/>
              <a:t> 할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다음과 같이 분류</a:t>
            </a:r>
            <a:endParaRPr lang="en-US" altLang="zh-CN" dirty="0" smtClean="0"/>
          </a:p>
          <a:p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37138"/>
              </p:ext>
            </p:extLst>
          </p:nvPr>
        </p:nvGraphicFramePr>
        <p:xfrm>
          <a:off x="4076052" y="4430876"/>
          <a:ext cx="3596595" cy="778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수식" r:id="rId3" imgW="1701720" imgH="368280" progId="Equation.3">
                  <p:embed/>
                </p:oleObj>
              </mc:Choice>
              <mc:Fallback>
                <p:oleObj name="수식" r:id="rId3" imgW="1701720" imgH="368280" progId="Equation.3">
                  <p:embed/>
                  <p:pic>
                    <p:nvPicPr>
                      <p:cNvPr id="4" name="개체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6052" y="4430876"/>
                        <a:ext cx="3596595" cy="778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06385" y="5443386"/>
            <a:ext cx="889700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SVM</a:t>
            </a:r>
            <a:r>
              <a:rPr lang="ko-KR" altLang="en-US" dirty="0" smtClean="0"/>
              <a:t>을 포함한 대부분의 </a:t>
            </a:r>
            <a:r>
              <a:rPr lang="ko-KR" altLang="en-US" dirty="0" err="1" smtClean="0"/>
              <a:t>분류기는</a:t>
            </a:r>
            <a:r>
              <a:rPr lang="ko-KR" altLang="en-US" dirty="0" smtClean="0"/>
              <a:t> 입력 인스턴스에 대해 각 클래스에 속할 확률을 계산하여 넘겨 줌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 기능을 수행하는 메서드가 </a:t>
            </a:r>
            <a:r>
              <a:rPr lang="en-US" altLang="ko-KR" dirty="0" err="1" smtClean="0"/>
              <a:t>prdict_proba</a:t>
            </a:r>
            <a:r>
              <a:rPr lang="en-US" altLang="ko-KR" dirty="0" smtClean="0"/>
              <a:t>()</a:t>
            </a:r>
            <a:r>
              <a:rPr lang="ko-KR" altLang="en-US" dirty="0" smtClean="0"/>
              <a:t>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확률을 그 클래스에 속할 확신도 </a:t>
            </a:r>
            <a:r>
              <a:rPr lang="en-US" altLang="ko-KR" dirty="0" smtClean="0"/>
              <a:t>(confidence)</a:t>
            </a:r>
            <a:r>
              <a:rPr lang="ko-KR" altLang="en-US" dirty="0" smtClean="0"/>
              <a:t>로 사용하면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724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1-vs-1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266767" y="1471037"/>
            <a:ext cx="9905538" cy="2028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2800" dirty="0" err="1"/>
              <a:t>N</a:t>
            </a:r>
            <a:r>
              <a:rPr lang="ko-KR" altLang="ko-KR" sz="2800" dirty="0"/>
              <a:t> (</a:t>
            </a:r>
            <a:r>
              <a:rPr lang="ko-KR" altLang="ko-KR" sz="2800" dirty="0" err="1"/>
              <a:t>N</a:t>
            </a:r>
            <a:r>
              <a:rPr lang="ko-KR" altLang="ko-KR" sz="2800" dirty="0"/>
              <a:t> −1</a:t>
            </a:r>
            <a:r>
              <a:rPr lang="ko-KR" altLang="ko-KR" sz="2800" dirty="0" smtClean="0"/>
              <a:t>)</a:t>
            </a:r>
            <a:r>
              <a:rPr lang="ko-KR" altLang="en-US" sz="2800" dirty="0" smtClean="0"/>
              <a:t>개의 이진 </a:t>
            </a:r>
            <a:r>
              <a:rPr lang="ko-KR" altLang="en-US" sz="2800" dirty="0" err="1" smtClean="0"/>
              <a:t>분류기를</a:t>
            </a:r>
            <a:r>
              <a:rPr lang="ko-KR" altLang="en-US" sz="2800" dirty="0" smtClean="0"/>
              <a:t> 생성</a:t>
            </a:r>
            <a:r>
              <a:rPr lang="en-US" altLang="ko-KR" sz="2800" dirty="0" smtClean="0"/>
              <a:t> </a:t>
            </a:r>
          </a:p>
          <a:p>
            <a:pPr lvl="1"/>
            <a:r>
              <a:rPr lang="ko-KR" altLang="en-US" sz="2400" dirty="0" smtClean="0"/>
              <a:t>각 이진 </a:t>
            </a:r>
            <a:r>
              <a:rPr lang="ko-KR" altLang="en-US" sz="2400" dirty="0" err="1" smtClean="0"/>
              <a:t>분류기는</a:t>
            </a:r>
            <a:r>
              <a:rPr lang="ko-KR" altLang="en-US" sz="2400" dirty="0" smtClean="0"/>
              <a:t> </a:t>
            </a:r>
            <a:r>
              <a:rPr lang="ko-KR" altLang="ko-KR" sz="2400" dirty="0"/>
              <a:t>클래스 </a:t>
            </a:r>
            <a:r>
              <a:rPr lang="ko-KR" altLang="ko-KR" sz="2400" dirty="0" err="1"/>
              <a:t>i와</a:t>
            </a:r>
            <a:r>
              <a:rPr lang="ko-KR" altLang="ko-KR" sz="2400" dirty="0"/>
              <a:t> </a:t>
            </a:r>
            <a:r>
              <a:rPr lang="ko-KR" altLang="ko-KR" sz="2400" dirty="0" err="1"/>
              <a:t>j의</a:t>
            </a:r>
            <a:r>
              <a:rPr lang="ko-KR" altLang="ko-KR" sz="2400" dirty="0"/>
              <a:t> 각 쌍을 구별하기 </a:t>
            </a:r>
            <a:r>
              <a:rPr lang="ko-KR" altLang="ko-KR" sz="2400" dirty="0" smtClean="0"/>
              <a:t>위</a:t>
            </a:r>
            <a:r>
              <a:rPr lang="ko-KR" altLang="en-US" sz="2400" dirty="0" smtClean="0"/>
              <a:t>한 </a:t>
            </a:r>
            <a:r>
              <a:rPr lang="ko-KR" altLang="ko-KR" sz="2400" dirty="0" smtClean="0"/>
              <a:t>분류기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임 </a:t>
            </a:r>
            <a:endParaRPr lang="en-US" altLang="ko-KR" sz="2400" dirty="0" smtClean="0"/>
          </a:p>
          <a:p>
            <a:r>
              <a:rPr lang="ko-KR" altLang="en-US" sz="2800" dirty="0"/>
              <a:t>클래스 </a:t>
            </a:r>
            <a:r>
              <a:rPr lang="en-US" altLang="ko-KR" sz="2800" dirty="0" err="1"/>
              <a:t>i</a:t>
            </a:r>
            <a:r>
              <a:rPr lang="ko-KR" altLang="en-US" sz="2800" dirty="0"/>
              <a:t>가 </a:t>
            </a:r>
            <a:r>
              <a:rPr lang="ko-KR" altLang="en-US" sz="2800" dirty="0" smtClean="0"/>
              <a:t>긍정인 </a:t>
            </a:r>
            <a:r>
              <a:rPr lang="ko-KR" altLang="en-US" sz="2800" dirty="0"/>
              <a:t>예이고 클래스 </a:t>
            </a:r>
            <a:r>
              <a:rPr lang="en-US" altLang="ko-KR" sz="2800" dirty="0"/>
              <a:t>j</a:t>
            </a:r>
            <a:r>
              <a:rPr lang="ko-KR" altLang="en-US" sz="2800" dirty="0"/>
              <a:t>가 </a:t>
            </a:r>
            <a:r>
              <a:rPr lang="ko-KR" altLang="en-US" sz="2800" dirty="0" smtClean="0"/>
              <a:t>부정인 </a:t>
            </a:r>
            <a:r>
              <a:rPr lang="ko-KR" altLang="en-US" sz="2800" dirty="0" err="1"/>
              <a:t>분류기를</a:t>
            </a:r>
            <a:r>
              <a:rPr lang="ko-KR" altLang="en-US" sz="2800" dirty="0"/>
              <a:t> </a:t>
            </a:r>
            <a:r>
              <a:rPr lang="en-US" altLang="ko-KR" sz="2800" dirty="0" err="1"/>
              <a:t>fij</a:t>
            </a:r>
            <a:r>
              <a:rPr lang="ko-KR" altLang="en-US" sz="2800" dirty="0" err="1" smtClean="0"/>
              <a:t>라할</a:t>
            </a:r>
            <a:r>
              <a:rPr lang="ko-KR" altLang="en-US" sz="2800" dirty="0" smtClean="0"/>
              <a:t> 때 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단</a:t>
            </a:r>
            <a:r>
              <a:rPr lang="en-US" altLang="ko-KR" sz="2800" dirty="0" smtClean="0"/>
              <a:t>, </a:t>
            </a:r>
            <a:r>
              <a:rPr lang="en-US" altLang="ko-KR" sz="2800" dirty="0" err="1"/>
              <a:t>fji</a:t>
            </a:r>
            <a:r>
              <a:rPr lang="en-US" altLang="ko-KR" sz="2800" dirty="0"/>
              <a:t> = −</a:t>
            </a:r>
            <a:r>
              <a:rPr lang="en-US" altLang="ko-KR" sz="2800" dirty="0" err="1" smtClean="0"/>
              <a:t>fij</a:t>
            </a:r>
            <a:r>
              <a:rPr lang="en-US" altLang="ko-KR" sz="2800" dirty="0" smtClean="0"/>
              <a:t>), </a:t>
            </a:r>
            <a:r>
              <a:rPr lang="ko-KR" altLang="en-US" sz="2800" dirty="0" smtClean="0"/>
              <a:t>다음과 같이 분류</a:t>
            </a:r>
            <a:endParaRPr lang="en-US" altLang="ko-KR" sz="2800" dirty="0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480081"/>
              </p:ext>
            </p:extLst>
          </p:nvPr>
        </p:nvGraphicFramePr>
        <p:xfrm>
          <a:off x="3464101" y="3499659"/>
          <a:ext cx="4495577" cy="113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수식" r:id="rId3" imgW="1904760" imgH="482400" progId="Equation.3">
                  <p:embed/>
                </p:oleObj>
              </mc:Choice>
              <mc:Fallback>
                <p:oleObj name="수식" r:id="rId3" imgW="1904760" imgH="482400" progId="Equation.3">
                  <p:embed/>
                  <p:pic>
                    <p:nvPicPr>
                      <p:cNvPr id="5" name="개체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4101" y="3499659"/>
                        <a:ext cx="4495577" cy="1138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055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3514" y="1443069"/>
            <a:ext cx="10515600" cy="2690392"/>
          </a:xfrm>
        </p:spPr>
        <p:txBody>
          <a:bodyPr>
            <a:normAutofit/>
          </a:bodyPr>
          <a:lstStyle/>
          <a:p>
            <a:r>
              <a:rPr lang="ko-KR" altLang="en-US" i="1" dirty="0" smtClean="0"/>
              <a:t>소프트 마진 </a:t>
            </a:r>
            <a:r>
              <a:rPr lang="ko-KR" altLang="en-US" i="1" dirty="0" err="1" smtClean="0"/>
              <a:t>분류기임</a:t>
            </a:r>
            <a:endParaRPr lang="en-US" altLang="ko-KR" i="1" dirty="0" smtClean="0"/>
          </a:p>
          <a:p>
            <a:pPr lvl="1"/>
            <a:r>
              <a:rPr lang="ko-KR" altLang="en-US" dirty="0" smtClean="0"/>
              <a:t>마진을 가능한 크게 유지하는 것과 마진 위반 사이의 균형을 유지토록 </a:t>
            </a:r>
            <a:endParaRPr lang="en-US" altLang="ko-KR" i="1" dirty="0" smtClean="0"/>
          </a:p>
          <a:p>
            <a:pPr lvl="1"/>
            <a:r>
              <a:rPr lang="ko-KR" altLang="ko-KR" dirty="0" err="1"/>
              <a:t>Scikit-Learn의</a:t>
            </a:r>
            <a:r>
              <a:rPr lang="ko-KR" altLang="ko-KR" dirty="0"/>
              <a:t> SVM </a:t>
            </a:r>
            <a:r>
              <a:rPr lang="ko-KR" altLang="ko-KR" dirty="0" smtClean="0"/>
              <a:t>클래스에서</a:t>
            </a:r>
            <a:r>
              <a:rPr lang="ko-KR" altLang="en-US" dirty="0" smtClean="0"/>
              <a:t>는 </a:t>
            </a:r>
            <a:r>
              <a:rPr lang="ko-KR" altLang="ko-KR" dirty="0" smtClean="0"/>
              <a:t>이 균형</a:t>
            </a:r>
            <a:r>
              <a:rPr lang="ko-KR" altLang="en-US" dirty="0" smtClean="0"/>
              <a:t>을</a:t>
            </a:r>
            <a:r>
              <a:rPr lang="ko-KR" altLang="ko-KR" dirty="0" smtClean="0"/>
              <a:t> </a:t>
            </a:r>
            <a:r>
              <a:rPr lang="ko-KR" altLang="ko-KR" dirty="0"/>
              <a:t>C </a:t>
            </a:r>
            <a:r>
              <a:rPr lang="ko-KR" altLang="ko-KR" dirty="0" err="1"/>
              <a:t>하이퍼</a:t>
            </a:r>
            <a:r>
              <a:rPr lang="ko-KR" altLang="ko-KR" dirty="0"/>
              <a:t> </a:t>
            </a:r>
            <a:r>
              <a:rPr lang="ko-KR" altLang="ko-KR" dirty="0" err="1"/>
              <a:t>파라미터를</a:t>
            </a:r>
            <a:r>
              <a:rPr lang="ko-KR" altLang="ko-KR" dirty="0"/>
              <a:t> 사용하여 </a:t>
            </a:r>
            <a:r>
              <a:rPr lang="ko-KR" altLang="ko-KR" dirty="0" smtClean="0"/>
              <a:t>제어</a:t>
            </a:r>
            <a:endParaRPr lang="en-US" altLang="ko-KR" dirty="0" smtClean="0"/>
          </a:p>
          <a:p>
            <a:pPr lvl="2"/>
            <a:r>
              <a:rPr lang="ko-KR" altLang="ko-KR" dirty="0"/>
              <a:t>C 값이 작을수록 거리가 더 </a:t>
            </a:r>
            <a:r>
              <a:rPr lang="ko-KR" altLang="ko-KR" dirty="0" smtClean="0"/>
              <a:t>넓어지지만 </a:t>
            </a:r>
            <a:r>
              <a:rPr lang="ko-KR" altLang="ko-KR" dirty="0"/>
              <a:t>마진 위반이 더 </a:t>
            </a:r>
            <a:r>
              <a:rPr lang="ko-KR" altLang="en-US" dirty="0" smtClean="0"/>
              <a:t>많아짐 </a:t>
            </a:r>
            <a:endParaRPr lang="en-US" altLang="ko-KR" dirty="0" smtClean="0"/>
          </a:p>
          <a:p>
            <a:pPr lvl="2"/>
            <a:r>
              <a:rPr lang="ko-KR" altLang="ko-KR" dirty="0"/>
              <a:t>SVM 모델이 </a:t>
            </a:r>
            <a:r>
              <a:rPr lang="ko-KR" altLang="ko-KR" dirty="0" err="1" smtClean="0"/>
              <a:t>과적합</a:t>
            </a:r>
            <a:r>
              <a:rPr lang="ko-KR" altLang="ko-KR" dirty="0" smtClean="0"/>
              <a:t> </a:t>
            </a:r>
            <a:r>
              <a:rPr lang="ko-KR" altLang="ko-KR" dirty="0"/>
              <a:t>된 경우 </a:t>
            </a:r>
            <a:r>
              <a:rPr lang="ko-KR" altLang="ko-KR" dirty="0" err="1"/>
              <a:t>C를</a:t>
            </a:r>
            <a:r>
              <a:rPr lang="ko-KR" altLang="ko-KR" dirty="0"/>
              <a:t> 줄여 </a:t>
            </a:r>
            <a:r>
              <a:rPr lang="ko-KR" altLang="en-US" dirty="0" err="1" smtClean="0"/>
              <a:t>과적합을</a:t>
            </a:r>
            <a:r>
              <a:rPr lang="ko-KR" altLang="en-US" dirty="0" smtClean="0"/>
              <a:t> 줄일 수 있음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581" y="4301411"/>
            <a:ext cx="9278837" cy="236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60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sklearn</a:t>
            </a:r>
            <a:r>
              <a:rPr lang="en-US" altLang="ko-KR" dirty="0" smtClean="0"/>
              <a:t> SVM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234475" y="1595635"/>
            <a:ext cx="642879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i="0" u="none" strike="noStrike" baseline="0" dirty="0" smtClean="0">
                <a:latin typeface="LiberationSerif"/>
              </a:rPr>
              <a:t>SVM classifiers do not output probabilities for each class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38200" y="6009151"/>
            <a:ext cx="1036942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i="0" u="none" strike="noStrike" baseline="0" dirty="0" smtClean="0">
                <a:latin typeface="LiberationSerif"/>
              </a:rPr>
              <a:t>Alternatively, you could use the </a:t>
            </a:r>
            <a:r>
              <a:rPr lang="en-US" altLang="ko-KR" sz="1400" b="0" i="0" u="none" strike="noStrike" baseline="0" dirty="0" smtClean="0">
                <a:latin typeface="LiberationMono"/>
              </a:rPr>
              <a:t>SVC </a:t>
            </a:r>
            <a:r>
              <a:rPr lang="en-US" altLang="ko-KR" b="0" i="0" u="none" strike="noStrike" baseline="0" dirty="0" smtClean="0">
                <a:latin typeface="LiberationSerif"/>
              </a:rPr>
              <a:t>class, using </a:t>
            </a:r>
            <a:r>
              <a:rPr lang="en-US" altLang="ko-KR" sz="1400" b="0" i="0" u="none" strike="noStrike" baseline="0" dirty="0" smtClean="0">
                <a:latin typeface="LiberationMono"/>
              </a:rPr>
              <a:t>SVC(kernel="linear", C=1)</a:t>
            </a:r>
            <a:r>
              <a:rPr lang="en-US" altLang="ko-KR" b="0" i="0" u="none" strike="noStrike" baseline="0" dirty="0" smtClean="0">
                <a:latin typeface="LiberationSerif"/>
              </a:rPr>
              <a:t>, but it is much slower,</a:t>
            </a:r>
          </a:p>
          <a:p>
            <a:r>
              <a:rPr lang="en-US" altLang="ko-KR" b="0" i="0" u="none" strike="noStrike" baseline="0" dirty="0" smtClean="0">
                <a:latin typeface="LiberationSerif"/>
              </a:rPr>
              <a:t>especially with large training sets, so it is not recommended.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38200" y="1401397"/>
            <a:ext cx="986556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numpy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as 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np</a:t>
            </a: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datasets</a:t>
            </a: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sklearn.pipeline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Pipeline</a:t>
            </a: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sklearn.preprocessing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StandardScaler</a:t>
            </a:r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sklearn.svm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LinearSVC</a:t>
            </a:r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iris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datasets</a:t>
            </a:r>
            <a:r>
              <a:rPr lang="en-US" altLang="ko-KR" b="0" i="0" u="none" strike="noStrike" baseline="0" dirty="0" err="1" smtClean="0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load_iris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()</a:t>
            </a:r>
          </a:p>
          <a:p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X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iris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[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"data"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][:, (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2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3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)] </a:t>
            </a:r>
            <a:r>
              <a:rPr lang="en-US" altLang="ko-KR" b="0" i="1" u="none" strike="noStrike" baseline="0" dirty="0" smtClean="0">
                <a:solidFill>
                  <a:srgbClr val="35586C"/>
                </a:solidFill>
                <a:latin typeface="LiberationMono-Italic"/>
              </a:rPr>
              <a:t># petal length, petal width</a:t>
            </a:r>
          </a:p>
          <a:p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y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iris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[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"target"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] == 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2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).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astype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np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float64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 </a:t>
            </a:r>
            <a:r>
              <a:rPr lang="en-US" altLang="ko-KR" b="0" i="1" u="none" strike="noStrike" baseline="0" dirty="0" smtClean="0">
                <a:solidFill>
                  <a:srgbClr val="35586C"/>
                </a:solidFill>
                <a:latin typeface="LiberationMono-Italic"/>
              </a:rPr>
              <a:t># Iris-</a:t>
            </a:r>
            <a:r>
              <a:rPr lang="en-US" altLang="ko-KR" b="0" i="1" u="none" strike="noStrike" baseline="0" dirty="0" err="1" smtClean="0">
                <a:solidFill>
                  <a:srgbClr val="35586C"/>
                </a:solidFill>
                <a:latin typeface="LiberationMono-Italic"/>
              </a:rPr>
              <a:t>Virginica</a:t>
            </a:r>
            <a:endParaRPr lang="en-US" altLang="ko-KR" b="0" i="1" u="none" strike="noStrike" baseline="0" dirty="0" smtClean="0">
              <a:solidFill>
                <a:srgbClr val="35586C"/>
              </a:solidFill>
              <a:latin typeface="LiberationMono-Italic"/>
            </a:endParaRP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svm_clf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Pipeline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((</a:t>
            </a:r>
          </a:p>
          <a:p>
            <a:pPr lvl="2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scaler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StandardScaler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()),</a:t>
            </a:r>
          </a:p>
          <a:p>
            <a:pPr lvl="2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linear_svc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LinearSVC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1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loss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"hinge"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)),</a:t>
            </a:r>
          </a:p>
          <a:p>
            <a:pPr lvl="1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</a:t>
            </a: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svm_clf</a:t>
            </a:r>
            <a:r>
              <a:rPr lang="en-US" altLang="ko-KR" b="0" i="0" u="none" strike="noStrike" baseline="0" dirty="0" err="1" smtClean="0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fit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X_scaled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y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</a:t>
            </a:r>
          </a:p>
          <a:p>
            <a:r>
              <a:rPr lang="en-US" altLang="ko-KR" dirty="0" err="1" smtClean="0"/>
              <a:t>svm_clf.predict</a:t>
            </a:r>
            <a:r>
              <a:rPr lang="en-US" altLang="ko-KR" dirty="0" smtClean="0"/>
              <a:t>([[5.5, 1.7]])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08719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681"/>
          </a:xfrm>
        </p:spPr>
        <p:txBody>
          <a:bodyPr/>
          <a:lstStyle/>
          <a:p>
            <a:r>
              <a:rPr lang="en-US" altLang="ko-KR" b="1" dirty="0"/>
              <a:t>Nonlinear SVM Classification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88570" y="2514243"/>
            <a:ext cx="97256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sklearn.datasets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make_moons</a:t>
            </a:r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sklearn.pipeline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Pipeline</a:t>
            </a:r>
          </a:p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sklearn.preprocessing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PolynomialFeatures</a:t>
            </a:r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polynomial_svm_clf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Pipeline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((</a:t>
            </a:r>
          </a:p>
          <a:p>
            <a:pPr lvl="2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poly_features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PolynomialFeatures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degree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3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)),</a:t>
            </a:r>
          </a:p>
          <a:p>
            <a:pPr lvl="2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scaler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StandardScaler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()),</a:t>
            </a:r>
          </a:p>
          <a:p>
            <a:pPr lvl="2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svm_clf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LinearSVC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10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</a:t>
            </a:r>
          </a:p>
          <a:p>
            <a:pPr lvl="1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</a:t>
            </a: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polynomial_svm_clf</a:t>
            </a:r>
            <a:r>
              <a:rPr lang="en-US" altLang="ko-KR" b="0" i="0" u="none" strike="noStrike" baseline="0" dirty="0" err="1" smtClean="0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fit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X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y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383924" y="5188336"/>
            <a:ext cx="6096000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the form [a, b], the degree-2 polynomial features are [1, a, b, a^2, ab, b^2].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3383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5933" y="1690688"/>
            <a:ext cx="10515600" cy="2530244"/>
          </a:xfrm>
        </p:spPr>
        <p:txBody>
          <a:bodyPr>
            <a:normAutofit/>
          </a:bodyPr>
          <a:lstStyle/>
          <a:p>
            <a:r>
              <a:rPr lang="en-US" altLang="ko-KR" b="1" dirty="0"/>
              <a:t>Nonlinear SVM </a:t>
            </a:r>
            <a:r>
              <a:rPr lang="en-US" altLang="ko-KR" b="1" dirty="0" smtClean="0"/>
              <a:t>Classification</a:t>
            </a:r>
          </a:p>
          <a:p>
            <a:pPr lvl="1"/>
            <a:r>
              <a:rPr lang="ko-KR" altLang="en-US" dirty="0"/>
              <a:t>다항식 </a:t>
            </a:r>
            <a:r>
              <a:rPr lang="ko-KR" altLang="en-US" dirty="0" smtClean="0"/>
              <a:t>특징을 </a:t>
            </a:r>
            <a:r>
              <a:rPr lang="ko-KR" altLang="en-US" dirty="0"/>
              <a:t>추가하는 것은 구현하기 간단하지만 다항식 </a:t>
            </a:r>
            <a:r>
              <a:rPr lang="ko-KR" altLang="en-US" dirty="0" smtClean="0"/>
              <a:t>차수가 </a:t>
            </a:r>
            <a:r>
              <a:rPr lang="ko-KR" altLang="en-US" dirty="0"/>
              <a:t>높으면 많은 </a:t>
            </a:r>
            <a:r>
              <a:rPr lang="ko-KR" altLang="en-US" dirty="0" smtClean="0"/>
              <a:t>특징이 </a:t>
            </a:r>
            <a:r>
              <a:rPr lang="ko-KR" altLang="en-US" dirty="0"/>
              <a:t>생성되어 모델이 너무 </a:t>
            </a:r>
            <a:r>
              <a:rPr lang="ko-KR" altLang="en-US" dirty="0" err="1" smtClean="0"/>
              <a:t>느려짐</a:t>
            </a:r>
            <a:endParaRPr lang="en-US" altLang="ko-KR" dirty="0" smtClean="0"/>
          </a:p>
          <a:p>
            <a:pPr lvl="1"/>
            <a:r>
              <a:rPr lang="ko-KR" altLang="en-US" dirty="0"/>
              <a:t>커널 트릭을 사용하면 실제로 추가 할 필요없이 매우 높은 수준의 </a:t>
            </a:r>
            <a:r>
              <a:rPr lang="ko-KR" altLang="en-US" dirty="0" smtClean="0"/>
              <a:t>많은 </a:t>
            </a:r>
            <a:r>
              <a:rPr lang="ko-KR" altLang="en-US" dirty="0"/>
              <a:t>다항식 </a:t>
            </a:r>
            <a:r>
              <a:rPr lang="ko-KR" altLang="en-US" dirty="0" smtClean="0"/>
              <a:t>특징을 </a:t>
            </a:r>
            <a:r>
              <a:rPr lang="ko-KR" altLang="en-US" dirty="0"/>
              <a:t>추가 한 </a:t>
            </a:r>
            <a:r>
              <a:rPr lang="ko-KR" altLang="en-US" dirty="0" smtClean="0"/>
              <a:t>것과 </a:t>
            </a:r>
            <a:r>
              <a:rPr lang="ko-KR" altLang="en-US" dirty="0"/>
              <a:t>동일한 결과를 얻을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r>
              <a:rPr lang="ko-KR" altLang="en-US" dirty="0"/>
              <a:t>커널 트릭은 </a:t>
            </a:r>
            <a:r>
              <a:rPr lang="en-US" altLang="ko-KR" dirty="0"/>
              <a:t>SVC </a:t>
            </a:r>
            <a:r>
              <a:rPr lang="ko-KR" altLang="en-US" dirty="0"/>
              <a:t>클래스에 의해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342916" y="4541608"/>
            <a:ext cx="9641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from </a:t>
            </a:r>
            <a:r>
              <a:rPr lang="en-US" altLang="ko-KR" b="1" i="0" u="none" strike="noStrike" baseline="0" dirty="0" err="1" smtClean="0">
                <a:solidFill>
                  <a:srgbClr val="00CDFF"/>
                </a:solidFill>
                <a:latin typeface="LiberationMono-Bold"/>
              </a:rPr>
              <a:t>sklearn.svm</a:t>
            </a:r>
            <a:r>
              <a:rPr lang="en-US" altLang="ko-KR" b="1" i="0" u="none" strike="noStrike" baseline="0" dirty="0" smtClean="0">
                <a:solidFill>
                  <a:srgbClr val="00CDFF"/>
                </a:solidFill>
                <a:latin typeface="LiberationMono-Bold"/>
              </a:rPr>
              <a:t> </a:t>
            </a:r>
            <a:r>
              <a:rPr lang="en-US" altLang="ko-KR" b="1" i="0" u="none" strike="noStrike" baseline="0" dirty="0" smtClean="0">
                <a:solidFill>
                  <a:srgbClr val="00669A"/>
                </a:solidFill>
                <a:latin typeface="LiberationMono-Bold"/>
              </a:rPr>
              <a:t>import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SVC</a:t>
            </a:r>
          </a:p>
          <a:p>
            <a:endParaRPr lang="en-US" altLang="ko-KR" b="0" i="0" u="none" strike="noStrike" baseline="0" dirty="0" smtClean="0">
              <a:solidFill>
                <a:srgbClr val="000089"/>
              </a:solidFill>
              <a:latin typeface="LiberationMono"/>
            </a:endParaRP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poly_kernel_svm_clf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 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Pipeline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((</a:t>
            </a:r>
          </a:p>
          <a:p>
            <a:pPr lvl="1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scaler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StandardScaler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()),</a:t>
            </a:r>
          </a:p>
          <a:p>
            <a:pPr lvl="1"/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err="1" smtClean="0">
                <a:solidFill>
                  <a:srgbClr val="CD3300"/>
                </a:solidFill>
                <a:latin typeface="LiberationMono"/>
              </a:rPr>
              <a:t>svm_clf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SVC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kernel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CD3300"/>
                </a:solidFill>
                <a:latin typeface="LiberationMono"/>
              </a:rPr>
              <a:t>"poly"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degree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3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C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b="0" i="0" u="none" strike="noStrike" baseline="0" dirty="0" smtClean="0">
                <a:solidFill>
                  <a:srgbClr val="FF6600"/>
                </a:solidFill>
                <a:latin typeface="LiberationMono"/>
              </a:rPr>
              <a:t>5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))))</a:t>
            </a:r>
          </a:p>
          <a:p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poly_kernel_svm_clf</a:t>
            </a:r>
            <a:r>
              <a:rPr lang="en-US" altLang="ko-KR" b="0" i="0" u="none" strike="noStrike" baseline="0" dirty="0" err="1" smtClean="0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b="0" i="0" u="none" strike="noStrike" baseline="0" dirty="0" err="1" smtClean="0">
                <a:solidFill>
                  <a:srgbClr val="000089"/>
                </a:solidFill>
                <a:latin typeface="LiberationMono"/>
              </a:rPr>
              <a:t>fit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X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b="0" i="0" u="none" strike="noStrike" baseline="0" dirty="0" smtClean="0">
                <a:solidFill>
                  <a:srgbClr val="000089"/>
                </a:solidFill>
                <a:latin typeface="LiberationMono"/>
              </a:rPr>
              <a:t>y</a:t>
            </a:r>
            <a:r>
              <a:rPr lang="en-US" altLang="ko-KR" b="0" i="0" u="none" strike="noStrike" baseline="0" dirty="0" smtClean="0">
                <a:solidFill>
                  <a:srgbClr val="000000"/>
                </a:solidFill>
                <a:latin typeface="LiberationMono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4625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</a:t>
            </a:r>
            <a:r>
              <a:rPr lang="en-US" altLang="ko-KR" dirty="0" smtClean="0"/>
              <a:t>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80393"/>
            <a:ext cx="10515600" cy="1206824"/>
          </a:xfrm>
        </p:spPr>
        <p:txBody>
          <a:bodyPr>
            <a:normAutofit/>
          </a:bodyPr>
          <a:lstStyle/>
          <a:p>
            <a:r>
              <a:rPr lang="en-US" altLang="ko-KR" b="1" dirty="0"/>
              <a:t>Nonlinear SVM </a:t>
            </a:r>
            <a:r>
              <a:rPr lang="en-US" altLang="ko-KR" b="1" dirty="0" smtClean="0"/>
              <a:t>Classification</a:t>
            </a:r>
          </a:p>
          <a:p>
            <a:pPr lvl="1"/>
            <a:r>
              <a:rPr lang="ko-KR" altLang="en-US" dirty="0"/>
              <a:t>커널 트릭에 의해 실제로 추가 할 필요없이 많은 </a:t>
            </a:r>
            <a:r>
              <a:rPr lang="ko-KR" altLang="en-US" dirty="0" smtClean="0"/>
              <a:t>유사한 특징을 </a:t>
            </a:r>
            <a:r>
              <a:rPr lang="ko-KR" altLang="en-US" dirty="0"/>
              <a:t>추가 한 것과 유사한 </a:t>
            </a:r>
            <a:r>
              <a:rPr lang="ko-KR" altLang="en-US" dirty="0" smtClean="0"/>
              <a:t>결과를 얻을 수 있음</a:t>
            </a:r>
            <a:endParaRPr lang="en-US" altLang="ko-KR" i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219199" y="3343479"/>
            <a:ext cx="71783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89"/>
                </a:solidFill>
                <a:latin typeface="LiberationMono"/>
              </a:rPr>
              <a:t>rbf_kernel_svm_clf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= 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Pipeline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((</a:t>
            </a:r>
          </a:p>
          <a:p>
            <a:pPr lvl="2"/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 err="1">
                <a:solidFill>
                  <a:srgbClr val="CD3300"/>
                </a:solidFill>
                <a:latin typeface="LiberationMono"/>
              </a:rPr>
              <a:t>scaler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dirty="0" err="1">
                <a:solidFill>
                  <a:srgbClr val="000089"/>
                </a:solidFill>
                <a:latin typeface="LiberationMono"/>
              </a:rPr>
              <a:t>StandardScaler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()),</a:t>
            </a:r>
          </a:p>
          <a:p>
            <a:pPr lvl="2"/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 err="1">
                <a:solidFill>
                  <a:srgbClr val="CD3300"/>
                </a:solidFill>
                <a:latin typeface="LiberationMono"/>
              </a:rPr>
              <a:t>svm_clf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SVC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kernel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 err="1">
                <a:solidFill>
                  <a:srgbClr val="CD3300"/>
                </a:solidFill>
                <a:latin typeface="LiberationMono"/>
              </a:rPr>
              <a:t>rbf</a:t>
            </a:r>
            <a:r>
              <a:rPr lang="en-US" altLang="ko-KR" dirty="0">
                <a:solidFill>
                  <a:srgbClr val="CD3300"/>
                </a:solidFill>
                <a:latin typeface="LiberationMono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gamma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dirty="0">
                <a:solidFill>
                  <a:srgbClr val="FF6600"/>
                </a:solidFill>
                <a:latin typeface="LiberationMono"/>
              </a:rPr>
              <a:t>5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C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=</a:t>
            </a:r>
            <a:r>
              <a:rPr lang="en-US" altLang="ko-KR" dirty="0">
                <a:solidFill>
                  <a:srgbClr val="FF6600"/>
                </a:solidFill>
                <a:latin typeface="LiberationMono"/>
              </a:rPr>
              <a:t>0.001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))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))</a:t>
            </a:r>
          </a:p>
          <a:p>
            <a:r>
              <a:rPr lang="en-US" altLang="ko-KR" dirty="0" err="1">
                <a:solidFill>
                  <a:srgbClr val="000089"/>
                </a:solidFill>
                <a:latin typeface="LiberationMono"/>
              </a:rPr>
              <a:t>rbf_kernel_svm_clf</a:t>
            </a:r>
            <a:r>
              <a:rPr lang="en-US" altLang="ko-KR" dirty="0" err="1">
                <a:solidFill>
                  <a:srgbClr val="000000"/>
                </a:solidFill>
                <a:latin typeface="LiberationMono"/>
              </a:rPr>
              <a:t>.</a:t>
            </a:r>
            <a:r>
              <a:rPr lang="en-US" altLang="ko-KR" dirty="0" err="1">
                <a:solidFill>
                  <a:srgbClr val="000089"/>
                </a:solidFill>
                <a:latin typeface="LiberationMono"/>
              </a:rPr>
              <a:t>fit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(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X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, </a:t>
            </a:r>
            <a:r>
              <a:rPr lang="en-US" altLang="ko-KR" dirty="0">
                <a:solidFill>
                  <a:srgbClr val="000089"/>
                </a:solidFill>
                <a:latin typeface="LiberationMono"/>
              </a:rPr>
              <a:t>y</a:t>
            </a:r>
            <a:r>
              <a:rPr lang="en-US" altLang="ko-KR" dirty="0">
                <a:solidFill>
                  <a:srgbClr val="000000"/>
                </a:solidFill>
                <a:latin typeface="LiberationMono"/>
              </a:rPr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211146" y="4553739"/>
            <a:ext cx="6142654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LiberationSerif"/>
              </a:rPr>
              <a:t>감마 값이 </a:t>
            </a:r>
            <a:r>
              <a:rPr lang="ko-KR" altLang="en-US" dirty="0" smtClean="0">
                <a:latin typeface="LiberationSerif"/>
              </a:rPr>
              <a:t>작으면 </a:t>
            </a:r>
            <a:r>
              <a:rPr lang="ko-KR" altLang="en-US" dirty="0">
                <a:latin typeface="LiberationSerif"/>
              </a:rPr>
              <a:t>종 모양의 곡선이 더 넓어 지므로 인스턴스의 영향 범위가 더 넓어지고 결정 경계가 더 </a:t>
            </a:r>
            <a:r>
              <a:rPr lang="ko-KR" altLang="en-US" dirty="0" err="1" smtClean="0">
                <a:latin typeface="LiberationSerif"/>
              </a:rPr>
              <a:t>부드러워짐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286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80393"/>
            <a:ext cx="10515600" cy="544350"/>
          </a:xfrm>
        </p:spPr>
        <p:txBody>
          <a:bodyPr>
            <a:normAutofit/>
          </a:bodyPr>
          <a:lstStyle/>
          <a:p>
            <a:r>
              <a:rPr lang="en-US" altLang="ko-KR" b="1" dirty="0"/>
              <a:t>Nonlinear SVM </a:t>
            </a:r>
            <a:r>
              <a:rPr lang="en-US" altLang="ko-KR" b="1" dirty="0" smtClean="0"/>
              <a:t>Classification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2064147"/>
            <a:ext cx="7430472" cy="479385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8865303" y="3140011"/>
            <a:ext cx="2488497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LiberationSerif"/>
              </a:rPr>
              <a:t>다른 커널이 있지만 훨씬 </a:t>
            </a:r>
            <a:r>
              <a:rPr lang="ko-KR" altLang="en-US" dirty="0" smtClean="0">
                <a:latin typeface="LiberationSerif"/>
              </a:rPr>
              <a:t>덜 사용됨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76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sklearn</a:t>
            </a:r>
            <a:r>
              <a:rPr lang="en-US" altLang="ko-KR" dirty="0"/>
              <a:t> SVM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08520"/>
          </a:xfrm>
        </p:spPr>
        <p:txBody>
          <a:bodyPr/>
          <a:lstStyle/>
          <a:p>
            <a:r>
              <a:rPr lang="ko-KR" altLang="en-US" dirty="0" smtClean="0"/>
              <a:t>멀티 클래스 분류기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sklearn.multiclass.OneVsOneClassifier</a:t>
            </a:r>
            <a:r>
              <a:rPr lang="ko-KR" altLang="en-US" dirty="0" smtClean="0"/>
              <a:t>나 </a:t>
            </a:r>
            <a:r>
              <a:rPr lang="en-US" altLang="ko-KR" dirty="0" err="1" smtClean="0"/>
              <a:t>sklearn.multiclass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OneVsRestClassifier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399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mathbf{w} = \sum_{j=1}^s \alpha_{t_j} y_{t_j} \mathbf{x}_{t_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182"/>
  <p:tag name="PICTUREFILESIZE" val="94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mathbf{w}^T \mathbf{z} + b &#10;=&#10;\sum_{j=1}^s \alpha_{t_j} y_{t_j} \bigl( \mathbf{x}_{t_j}^T \mathbf{z} \bigr) + b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312"/>
  <p:tag name="PICTUREFILESIZE" val="161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 = \sum_{i=1}^n \alpha_i y_i \mathbf{x}_i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139"/>
  <p:tag name="PICTUREFILESIZE" val="102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&#10;\tanh(\kappa \mathbf{x}^T \mathbf{y} + \theta 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255"/>
  <p:tag name="PICTUREFILESIZE" val="1258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&#10;\exp\bigl(-|| \mathbf{x} - \mathbf{y} ||^2 / (2\sigma^2) \bigr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322"/>
  <p:tag name="PICTUREFILESIZE" val="1658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( \mathbf{x}^T \mathbf{y} + 1)^d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211"/>
  <p:tag name="PICTUREFILESIZE" val="994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13291</TotalTime>
  <Words>1410</Words>
  <Application>Microsoft Office PowerPoint</Application>
  <PresentationFormat>와이드스크린</PresentationFormat>
  <Paragraphs>201</Paragraphs>
  <Slides>36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8" baseType="lpstr">
      <vt:lpstr>-apple-system</vt:lpstr>
      <vt:lpstr>等线</vt:lpstr>
      <vt:lpstr>LiberationMono</vt:lpstr>
      <vt:lpstr>LiberationMono-Bold</vt:lpstr>
      <vt:lpstr>LiberationMono-Italic</vt:lpstr>
      <vt:lpstr>LiberationSerif</vt:lpstr>
      <vt:lpstr>SimSun</vt:lpstr>
      <vt:lpstr>맑은 고딕</vt:lpstr>
      <vt:lpstr>Arial</vt:lpstr>
      <vt:lpstr>Symbol</vt:lpstr>
      <vt:lpstr>Office 테마</vt:lpstr>
      <vt:lpstr>수식</vt:lpstr>
      <vt:lpstr>SVM</vt:lpstr>
      <vt:lpstr>Linear Classifiers</vt:lpstr>
      <vt:lpstr>Linear Classifiers</vt:lpstr>
      <vt:lpstr>Linear Classifiers</vt:lpstr>
      <vt:lpstr>Classifier Margin</vt:lpstr>
      <vt:lpstr>Maximum Margin</vt:lpstr>
      <vt:lpstr>Maximum Margin</vt:lpstr>
      <vt:lpstr>Why Maximum Margin?</vt:lpstr>
      <vt:lpstr>Specifying a line and margin</vt:lpstr>
      <vt:lpstr>Computing the margin width</vt:lpstr>
      <vt:lpstr>Learning the Maximum Margin Classifier</vt:lpstr>
      <vt:lpstr>Learning via Quadratic Programming</vt:lpstr>
      <vt:lpstr>Characteristics of the Solution</vt:lpstr>
      <vt:lpstr>A Geometric Interpretation</vt:lpstr>
      <vt:lpstr>Learning Maximum Margin with Noise</vt:lpstr>
      <vt:lpstr>Nonlinear SVMs: The “kernel trick”</vt:lpstr>
      <vt:lpstr>Suppose we’re in 1-dimension</vt:lpstr>
      <vt:lpstr>Suppose we’re in 1-dimension</vt:lpstr>
      <vt:lpstr>Harder 1-dimensional dataset</vt:lpstr>
      <vt:lpstr>Harder 1-dimensional dataset</vt:lpstr>
      <vt:lpstr>Common SVM basis functions</vt:lpstr>
      <vt:lpstr>QP with basis functions</vt:lpstr>
      <vt:lpstr>Kernel Trick</vt:lpstr>
      <vt:lpstr>Example Kernel Functions</vt:lpstr>
      <vt:lpstr>Choosing the Kernel Function</vt:lpstr>
      <vt:lpstr>Summary: Steps for Classification</vt:lpstr>
      <vt:lpstr>Multi-class Classification</vt:lpstr>
      <vt:lpstr>1-vs-rest</vt:lpstr>
      <vt:lpstr>1-vs-1</vt:lpstr>
      <vt:lpstr>sklearn SVM</vt:lpstr>
      <vt:lpstr>sklearn SVM</vt:lpstr>
      <vt:lpstr>sklearn SVM</vt:lpstr>
      <vt:lpstr>sklearn SVM</vt:lpstr>
      <vt:lpstr>sklearn SVM</vt:lpstr>
      <vt:lpstr>sklearn SVM</vt:lpstr>
      <vt:lpstr>sklearn SVM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SVM</dc:title>
  <dc:creator>bmKim</dc:creator>
  <cp:lastModifiedBy>user</cp:lastModifiedBy>
  <cp:revision>44</cp:revision>
  <dcterms:created xsi:type="dcterms:W3CDTF">2018-02-22T04:42:18Z</dcterms:created>
  <dcterms:modified xsi:type="dcterms:W3CDTF">2021-03-24T01:02:02Z</dcterms:modified>
</cp:coreProperties>
</file>