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2" y="19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9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45551-429A-42DA-AF6E-088C26FF1967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01. </a:t>
            </a:r>
            <a:r>
              <a:rPr lang="ko-KR" altLang="en-US" dirty="0" smtClean="0"/>
              <a:t>웹 프로그래밍 시작하기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웹 프로그래밍에 대한 전반적인 이해</a:t>
            </a:r>
            <a:endParaRPr lang="en-US" altLang="ko-KR" dirty="0" smtClean="0"/>
          </a:p>
          <a:p>
            <a:r>
              <a:rPr lang="ko-KR" altLang="en-US" dirty="0" smtClean="0"/>
              <a:t>강의 소개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4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70C0"/>
                </a:solidFill>
              </a:rPr>
              <a:t>웹프로그래밍 개요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30" name="_x1100391168" descr="cif0000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7" b="20081"/>
          <a:stretch/>
        </p:blipFill>
        <p:spPr bwMode="auto">
          <a:xfrm>
            <a:off x="1628813" y="823620"/>
            <a:ext cx="4324312" cy="23958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_x1100391312" descr="cif00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5"/>
          <a:stretch/>
        </p:blipFill>
        <p:spPr bwMode="auto">
          <a:xfrm>
            <a:off x="1600238" y="3929473"/>
            <a:ext cx="4324312" cy="25295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그룹 9"/>
          <p:cNvGrpSpPr/>
          <p:nvPr/>
        </p:nvGrpSpPr>
        <p:grpSpPr>
          <a:xfrm>
            <a:off x="252272" y="1399571"/>
            <a:ext cx="577969" cy="992904"/>
            <a:chOff x="843592" y="819509"/>
            <a:chExt cx="577969" cy="992904"/>
          </a:xfrm>
        </p:grpSpPr>
        <p:sp>
          <p:nvSpPr>
            <p:cNvPr id="8" name="타원 7"/>
            <p:cNvSpPr/>
            <p:nvPr/>
          </p:nvSpPr>
          <p:spPr>
            <a:xfrm>
              <a:off x="862642" y="819509"/>
              <a:ext cx="534837" cy="483080"/>
            </a:xfrm>
            <a:prstGeom prst="ellips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이등변 삼각형 8"/>
            <p:cNvSpPr/>
            <p:nvPr/>
          </p:nvSpPr>
          <p:spPr>
            <a:xfrm>
              <a:off x="843592" y="1260323"/>
              <a:ext cx="577969" cy="552090"/>
            </a:xfrm>
            <a:prstGeom prst="triangl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1777253" y="2893910"/>
            <a:ext cx="4175872" cy="26012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8248650" y="1557501"/>
            <a:ext cx="1181100" cy="17811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13" name="원통 12"/>
          <p:cNvSpPr/>
          <p:nvPr/>
        </p:nvSpPr>
        <p:spPr>
          <a:xfrm>
            <a:off x="10448925" y="2070212"/>
            <a:ext cx="1400175" cy="849414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9429750" y="2308865"/>
            <a:ext cx="1019175" cy="7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9429750" y="2705101"/>
            <a:ext cx="1019175" cy="9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5952004" y="1693467"/>
            <a:ext cx="23263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http://se.kumoh.ac.kr/</a:t>
            </a:r>
          </a:p>
          <a:p>
            <a:r>
              <a:rPr lang="en-US" dirty="0" smtClean="0"/>
              <a:t>freeboard/65150</a:t>
            </a:r>
            <a:endParaRPr lang="en-US" dirty="0"/>
          </a:p>
        </p:txBody>
      </p:sp>
      <p:cxnSp>
        <p:nvCxnSpPr>
          <p:cNvPr id="26" name="직선 화살표 연결선 25"/>
          <p:cNvCxnSpPr>
            <a:endCxn id="12" idx="1"/>
          </p:cNvCxnSpPr>
          <p:nvPr/>
        </p:nvCxnSpPr>
        <p:spPr>
          <a:xfrm>
            <a:off x="5981700" y="2447925"/>
            <a:ext cx="2266950" cy="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1600238" y="480149"/>
            <a:ext cx="2326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http://se.kumoh.ac.kr/</a:t>
            </a:r>
            <a:endParaRPr 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9692319" y="1513319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자유게시판</a:t>
            </a:r>
            <a:r>
              <a:rPr lang="en-US" altLang="ko-KR" dirty="0"/>
              <a:t> </a:t>
            </a:r>
            <a:r>
              <a:rPr lang="en-US" altLang="ko-KR" dirty="0" smtClean="0"/>
              <a:t>65150</a:t>
            </a:r>
            <a:r>
              <a:rPr lang="ko-KR" altLang="en-US" dirty="0" smtClean="0"/>
              <a:t>번 글</a:t>
            </a:r>
            <a:endParaRPr 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571663" y="4981254"/>
            <a:ext cx="4351766" cy="37163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직사각형 33"/>
          <p:cNvSpPr/>
          <p:nvPr/>
        </p:nvSpPr>
        <p:spPr>
          <a:xfrm>
            <a:off x="1571663" y="5378865"/>
            <a:ext cx="4351766" cy="23119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/>
          <p:cNvSpPr/>
          <p:nvPr/>
        </p:nvSpPr>
        <p:spPr>
          <a:xfrm>
            <a:off x="1600237" y="6006625"/>
            <a:ext cx="4351766" cy="45235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_x1100391312" descr="cif00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5"/>
          <a:stretch/>
        </p:blipFill>
        <p:spPr bwMode="auto">
          <a:xfrm>
            <a:off x="6677063" y="3929473"/>
            <a:ext cx="4324312" cy="25295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직사각형 36"/>
          <p:cNvSpPr/>
          <p:nvPr/>
        </p:nvSpPr>
        <p:spPr>
          <a:xfrm>
            <a:off x="6715163" y="4981254"/>
            <a:ext cx="4286212" cy="371634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제목</a:t>
            </a:r>
            <a:endParaRPr 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6715163" y="5378865"/>
            <a:ext cx="4286212" cy="231198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글 정보</a:t>
            </a:r>
            <a:endParaRPr 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6753262" y="6006625"/>
            <a:ext cx="4219538" cy="452352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내용</a:t>
            </a:r>
            <a:endParaRPr lang="en-US" dirty="0"/>
          </a:p>
        </p:txBody>
      </p:sp>
      <p:cxnSp>
        <p:nvCxnSpPr>
          <p:cNvPr id="29" name="직선 화살표 연결선 28"/>
          <p:cNvCxnSpPr>
            <a:stCxn id="12" idx="2"/>
            <a:endCxn id="36" idx="0"/>
          </p:cNvCxnSpPr>
          <p:nvPr/>
        </p:nvCxnSpPr>
        <p:spPr>
          <a:xfrm>
            <a:off x="8839200" y="3338676"/>
            <a:ext cx="19" cy="590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H="1">
            <a:off x="6180604" y="5233682"/>
            <a:ext cx="353546" cy="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96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웹프로그래밍 개요</a:t>
            </a:r>
            <a:endParaRPr lang="en-US" dirty="0"/>
          </a:p>
        </p:txBody>
      </p:sp>
      <p:pic>
        <p:nvPicPr>
          <p:cNvPr id="1030" name="_x1100391168" descr="cif0000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7" b="20081"/>
          <a:stretch/>
        </p:blipFill>
        <p:spPr bwMode="auto">
          <a:xfrm>
            <a:off x="1628813" y="1680870"/>
            <a:ext cx="3585057" cy="19862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_x1100391312" descr="cif00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5"/>
          <a:stretch/>
        </p:blipFill>
        <p:spPr bwMode="auto">
          <a:xfrm>
            <a:off x="1628813" y="3984673"/>
            <a:ext cx="3619462" cy="21172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그룹 9"/>
          <p:cNvGrpSpPr/>
          <p:nvPr/>
        </p:nvGrpSpPr>
        <p:grpSpPr>
          <a:xfrm>
            <a:off x="530552" y="2170712"/>
            <a:ext cx="577969" cy="992904"/>
            <a:chOff x="843592" y="819509"/>
            <a:chExt cx="577969" cy="992904"/>
          </a:xfrm>
        </p:grpSpPr>
        <p:sp>
          <p:nvSpPr>
            <p:cNvPr id="8" name="타원 7"/>
            <p:cNvSpPr/>
            <p:nvPr/>
          </p:nvSpPr>
          <p:spPr>
            <a:xfrm>
              <a:off x="862642" y="819509"/>
              <a:ext cx="534837" cy="483080"/>
            </a:xfrm>
            <a:prstGeom prst="ellips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이등변 삼각형 8"/>
            <p:cNvSpPr/>
            <p:nvPr/>
          </p:nvSpPr>
          <p:spPr>
            <a:xfrm>
              <a:off x="843592" y="1260323"/>
              <a:ext cx="577969" cy="552090"/>
            </a:xfrm>
            <a:prstGeom prst="triangl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모서리가 둥근 직사각형 11"/>
          <p:cNvSpPr/>
          <p:nvPr/>
        </p:nvSpPr>
        <p:spPr>
          <a:xfrm>
            <a:off x="8248650" y="1786101"/>
            <a:ext cx="1181100" cy="17811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13" name="원통 12"/>
          <p:cNvSpPr/>
          <p:nvPr/>
        </p:nvSpPr>
        <p:spPr>
          <a:xfrm>
            <a:off x="10448925" y="2298812"/>
            <a:ext cx="1400175" cy="849414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9429750" y="2537465"/>
            <a:ext cx="1019175" cy="7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9429750" y="2933701"/>
            <a:ext cx="1019175" cy="9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030" idx="3"/>
            <a:endCxn id="12" idx="1"/>
          </p:cNvCxnSpPr>
          <p:nvPr/>
        </p:nvCxnSpPr>
        <p:spPr>
          <a:xfrm>
            <a:off x="5213870" y="2673998"/>
            <a:ext cx="3034780" cy="2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9692319" y="1741919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자유게시판</a:t>
            </a:r>
            <a:r>
              <a:rPr lang="en-US" altLang="ko-KR" dirty="0"/>
              <a:t> </a:t>
            </a:r>
            <a:r>
              <a:rPr lang="en-US" altLang="ko-KR" dirty="0" smtClean="0"/>
              <a:t>65150</a:t>
            </a:r>
            <a:r>
              <a:rPr lang="ko-KR" altLang="en-US" dirty="0" smtClean="0"/>
              <a:t>번 글</a:t>
            </a:r>
            <a:endParaRPr lang="en-US" dirty="0"/>
          </a:p>
        </p:txBody>
      </p:sp>
      <p:pic>
        <p:nvPicPr>
          <p:cNvPr id="36" name="_x1100391312" descr="cif00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5"/>
          <a:stretch/>
        </p:blipFill>
        <p:spPr bwMode="auto">
          <a:xfrm>
            <a:off x="7210425" y="3929473"/>
            <a:ext cx="3790950" cy="221751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직사각형 36"/>
          <p:cNvSpPr/>
          <p:nvPr/>
        </p:nvSpPr>
        <p:spPr>
          <a:xfrm>
            <a:off x="7234300" y="4800279"/>
            <a:ext cx="3757549" cy="277723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제목</a:t>
            </a:r>
            <a:endParaRPr 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7234300" y="5197890"/>
            <a:ext cx="3757549" cy="172775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글 정보</a:t>
            </a:r>
            <a:endParaRPr 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7273700" y="5797075"/>
            <a:ext cx="3699099" cy="338043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내용</a:t>
            </a:r>
            <a:endParaRPr lang="en-US" dirty="0"/>
          </a:p>
        </p:txBody>
      </p:sp>
      <p:cxnSp>
        <p:nvCxnSpPr>
          <p:cNvPr id="29" name="직선 화살표 연결선 28"/>
          <p:cNvCxnSpPr>
            <a:stCxn id="12" idx="2"/>
          </p:cNvCxnSpPr>
          <p:nvPr/>
        </p:nvCxnSpPr>
        <p:spPr>
          <a:xfrm>
            <a:off x="8839200" y="3567276"/>
            <a:ext cx="0" cy="376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36" idx="1"/>
            <a:endCxn id="1029" idx="3"/>
          </p:cNvCxnSpPr>
          <p:nvPr/>
        </p:nvCxnSpPr>
        <p:spPr>
          <a:xfrm flipH="1">
            <a:off x="5248275" y="5038230"/>
            <a:ext cx="1962150" cy="50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6229350" y="723900"/>
            <a:ext cx="0" cy="55149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00238" y="630784"/>
            <a:ext cx="41719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front-end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페이지 구조 및 디자인</a:t>
            </a:r>
            <a:r>
              <a:rPr lang="en-US" altLang="ko-KR" dirty="0" smtClean="0"/>
              <a:t>(</a:t>
            </a:r>
            <a:r>
              <a:rPr lang="ko-KR" altLang="en-US" dirty="0" smtClean="0"/>
              <a:t>웹 </a:t>
            </a:r>
            <a:r>
              <a:rPr lang="ko-KR" altLang="en-US" dirty="0" err="1" smtClean="0"/>
              <a:t>퍼블리셔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페이지 동적 구성</a:t>
            </a:r>
            <a:endParaRPr lang="en-US" altLang="ko-KR" dirty="0" smtClean="0"/>
          </a:p>
        </p:txBody>
      </p:sp>
      <p:sp>
        <p:nvSpPr>
          <p:cNvPr id="40" name="TextBox 39"/>
          <p:cNvSpPr txBox="1"/>
          <p:nvPr/>
        </p:nvSpPr>
        <p:spPr>
          <a:xfrm>
            <a:off x="8008592" y="649566"/>
            <a:ext cx="31928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back-end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데이터베이스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인증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보안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동적 페이지 구성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0759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개발에 따른 필요 기술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Front-end</a:t>
            </a:r>
            <a:endParaRPr 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36426" y="1691991"/>
            <a:ext cx="6622724" cy="32647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직사각형 4"/>
          <p:cNvSpPr/>
          <p:nvPr/>
        </p:nvSpPr>
        <p:spPr>
          <a:xfrm>
            <a:off x="1422251" y="2447507"/>
            <a:ext cx="2057400" cy="60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222601" y="2457032"/>
            <a:ext cx="2057400" cy="60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CSS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0551" y="1239989"/>
            <a:ext cx="415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dirty="0" smtClean="0"/>
              <a:t> </a:t>
            </a:r>
            <a:r>
              <a:rPr lang="ko-KR" altLang="en-US" dirty="0" smtClean="0"/>
              <a:t>브라우저</a:t>
            </a:r>
            <a:r>
              <a:rPr lang="en-US" altLang="ko-KR" dirty="0" smtClean="0"/>
              <a:t>: </a:t>
            </a:r>
            <a:r>
              <a:rPr lang="ko-KR" altLang="en-US" dirty="0" smtClean="0"/>
              <a:t>크롬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익스플로어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사파리</a:t>
            </a:r>
            <a:r>
              <a:rPr lang="en-US" altLang="ko-KR" dirty="0" smtClean="0"/>
              <a:t>..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169882" y="2241340"/>
            <a:ext cx="5367294" cy="9776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65877" y="1845480"/>
            <a:ext cx="3517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 </a:t>
            </a:r>
            <a:r>
              <a:rPr lang="ko-KR" altLang="en-US" dirty="0" err="1" smtClean="0"/>
              <a:t>퍼블리셔</a:t>
            </a:r>
            <a:r>
              <a:rPr lang="en-US" altLang="ko-KR" dirty="0" smtClean="0"/>
              <a:t>: </a:t>
            </a:r>
            <a:r>
              <a:rPr lang="ko-KR" altLang="en-US" dirty="0" smtClean="0"/>
              <a:t>페이지 구성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디자인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666251" y="3917428"/>
            <a:ext cx="1794350" cy="609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DOM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7713470" y="2154389"/>
            <a:ext cx="2057400" cy="6096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BootStrap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713470" y="2902054"/>
            <a:ext cx="2057400" cy="6096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SASS</a:t>
            </a:r>
            <a:endParaRPr 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616350" y="1733550"/>
            <a:ext cx="2295525" cy="200025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616351" y="1322659"/>
            <a:ext cx="329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CSS</a:t>
            </a:r>
            <a:r>
              <a:rPr lang="ko-KR" altLang="en-US" dirty="0" smtClean="0"/>
              <a:t>를 작성을 돕는</a:t>
            </a:r>
            <a:r>
              <a:rPr lang="en-US" altLang="ko-KR" dirty="0"/>
              <a:t> </a:t>
            </a:r>
            <a:r>
              <a:rPr lang="ko-KR" altLang="en-US" dirty="0" smtClean="0"/>
              <a:t>라이브러리</a:t>
            </a:r>
            <a:endParaRPr lang="en-US" dirty="0"/>
          </a:p>
        </p:txBody>
      </p:sp>
      <p:cxnSp>
        <p:nvCxnSpPr>
          <p:cNvPr id="16" name="직선 화살표 연결선 15"/>
          <p:cNvCxnSpPr>
            <a:stCxn id="8" idx="3"/>
            <a:endCxn id="13" idx="1"/>
          </p:cNvCxnSpPr>
          <p:nvPr/>
        </p:nvCxnSpPr>
        <p:spPr>
          <a:xfrm>
            <a:off x="6537176" y="2730186"/>
            <a:ext cx="1079174" cy="3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4273252" y="3900507"/>
            <a:ext cx="1460975" cy="609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JavaScript</a:t>
            </a:r>
            <a:endParaRPr 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7616350" y="3887284"/>
            <a:ext cx="3407102" cy="61699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jQuery, React, Vue.js, Angular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351" y="4587398"/>
            <a:ext cx="359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JavaScript </a:t>
            </a:r>
            <a:r>
              <a:rPr lang="ko-KR" altLang="en-US" dirty="0" smtClean="0"/>
              <a:t>라이브러리 프레임워크</a:t>
            </a:r>
            <a:endParaRPr lang="en-US" dirty="0"/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6508601" y="4203178"/>
            <a:ext cx="1079174" cy="3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141307" y="3726687"/>
            <a:ext cx="5367294" cy="9776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141307" y="3323591"/>
            <a:ext cx="3928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Front-end </a:t>
            </a:r>
            <a:r>
              <a:rPr lang="ko-KR" altLang="en-US" dirty="0" smtClean="0"/>
              <a:t>개발자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동적인 페이지 제작</a:t>
            </a:r>
            <a:endParaRPr lang="en-US" dirty="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/>
          <a:srcRect b="32299"/>
          <a:stretch/>
        </p:blipFill>
        <p:spPr>
          <a:xfrm>
            <a:off x="4409800" y="5169698"/>
            <a:ext cx="2752688" cy="144880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38" y="5533331"/>
            <a:ext cx="3249563" cy="520000"/>
          </a:xfrm>
          <a:prstGeom prst="rect">
            <a:avLst/>
          </a:prstGeom>
        </p:spPr>
      </p:pic>
      <p:cxnSp>
        <p:nvCxnSpPr>
          <p:cNvPr id="33" name="직선 화살표 연결선 32"/>
          <p:cNvCxnSpPr>
            <a:stCxn id="31" idx="3"/>
          </p:cNvCxnSpPr>
          <p:nvPr/>
        </p:nvCxnSpPr>
        <p:spPr>
          <a:xfrm flipV="1">
            <a:off x="3803501" y="5791200"/>
            <a:ext cx="530374" cy="2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530550" y="5102665"/>
            <a:ext cx="6631937" cy="163384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53938" y="6316078"/>
            <a:ext cx="3365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Front-end</a:t>
            </a:r>
            <a:r>
              <a:rPr lang="ko-KR" altLang="en-US" dirty="0" smtClean="0"/>
              <a:t>의 동적 의미</a:t>
            </a:r>
            <a:r>
              <a:rPr lang="en-US" altLang="ko-KR" dirty="0" smtClean="0"/>
              <a:t>( ex) </a:t>
            </a:r>
            <a:r>
              <a:rPr lang="ko-KR" altLang="en-US" dirty="0" err="1" smtClean="0"/>
              <a:t>실검</a:t>
            </a:r>
            <a:r>
              <a:rPr lang="en-US" altLang="ko-KR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74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개발에 따른 필요 기술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Back-end(</a:t>
            </a:r>
            <a:r>
              <a:rPr lang="ko-KR" altLang="en-US" dirty="0" smtClean="0"/>
              <a:t>서버</a:t>
            </a:r>
            <a:r>
              <a:rPr lang="en-US" dirty="0" smtClean="0"/>
              <a:t> </a:t>
            </a:r>
            <a:r>
              <a:rPr lang="ko-KR" altLang="en-US" dirty="0" smtClean="0"/>
              <a:t>프로그래밍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8" name="순서도: 데이터 17"/>
          <p:cNvSpPr/>
          <p:nvPr/>
        </p:nvSpPr>
        <p:spPr>
          <a:xfrm>
            <a:off x="131935" y="3400560"/>
            <a:ext cx="2648932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순서도: 데이터 18"/>
          <p:cNvSpPr/>
          <p:nvPr/>
        </p:nvSpPr>
        <p:spPr>
          <a:xfrm>
            <a:off x="131935" y="2868454"/>
            <a:ext cx="2648932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순서도: 데이터 19"/>
          <p:cNvSpPr/>
          <p:nvPr/>
        </p:nvSpPr>
        <p:spPr>
          <a:xfrm>
            <a:off x="205778" y="2223870"/>
            <a:ext cx="2648932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순서도: 데이터 20"/>
          <p:cNvSpPr/>
          <p:nvPr/>
        </p:nvSpPr>
        <p:spPr>
          <a:xfrm>
            <a:off x="326756" y="1579286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1164599" y="1701523"/>
            <a:ext cx="803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L</a:t>
            </a:r>
            <a:r>
              <a:rPr lang="en-US" sz="2000" dirty="0" smtClean="0"/>
              <a:t>inux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1012365" y="2445897"/>
            <a:ext cx="1066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A</a:t>
            </a:r>
            <a:r>
              <a:rPr lang="en-US" sz="2000" dirty="0" smtClean="0"/>
              <a:t>pache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94560" y="3099476"/>
            <a:ext cx="1015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M</a:t>
            </a:r>
            <a:r>
              <a:rPr lang="en-US" sz="2000" dirty="0" smtClean="0"/>
              <a:t>ySQL</a:t>
            </a:r>
            <a:endParaRPr lang="en-US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1128406" y="3716877"/>
            <a:ext cx="662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P</a:t>
            </a:r>
            <a:r>
              <a:rPr lang="en-US" sz="2000" dirty="0" smtClean="0"/>
              <a:t>HP</a:t>
            </a:r>
            <a:endParaRPr lang="en-US" sz="2000" dirty="0"/>
          </a:p>
        </p:txBody>
      </p:sp>
      <p:sp>
        <p:nvSpPr>
          <p:cNvPr id="26" name="순서도: 데이터 25"/>
          <p:cNvSpPr/>
          <p:nvPr/>
        </p:nvSpPr>
        <p:spPr>
          <a:xfrm>
            <a:off x="3278743" y="340056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순서도: 데이터 26"/>
          <p:cNvSpPr/>
          <p:nvPr/>
        </p:nvSpPr>
        <p:spPr>
          <a:xfrm>
            <a:off x="3278743" y="2868454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순서도: 데이터 27"/>
          <p:cNvSpPr/>
          <p:nvPr/>
        </p:nvSpPr>
        <p:spPr>
          <a:xfrm>
            <a:off x="3352586" y="222387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순서도: 데이터 28"/>
          <p:cNvSpPr/>
          <p:nvPr/>
        </p:nvSpPr>
        <p:spPr>
          <a:xfrm>
            <a:off x="3473564" y="1579286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183788" y="1741357"/>
            <a:ext cx="1106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W</a:t>
            </a:r>
            <a:r>
              <a:rPr lang="en-US" dirty="0" smtClean="0"/>
              <a:t>indows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380237" y="2445897"/>
            <a:ext cx="592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I</a:t>
            </a:r>
            <a:r>
              <a:rPr lang="en-US" dirty="0" smtClean="0"/>
              <a:t>IS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141368" y="3099476"/>
            <a:ext cx="1015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MS-</a:t>
            </a:r>
            <a:r>
              <a:rPr lang="en-US" dirty="0" smtClean="0">
                <a:solidFill>
                  <a:srgbClr val="0000FF"/>
                </a:solidFill>
              </a:rPr>
              <a:t>S</a:t>
            </a:r>
            <a:r>
              <a:rPr lang="en-US" dirty="0" smtClean="0"/>
              <a:t>QL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245069" y="3716877"/>
            <a:ext cx="6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</a:t>
            </a:r>
            <a:r>
              <a:rPr lang="en-US" dirty="0" smtClean="0"/>
              <a:t>SP</a:t>
            </a:r>
            <a:endParaRPr lang="en-US" dirty="0"/>
          </a:p>
        </p:txBody>
      </p:sp>
      <p:sp>
        <p:nvSpPr>
          <p:cNvPr id="34" name="순서도: 데이터 33"/>
          <p:cNvSpPr/>
          <p:nvPr/>
        </p:nvSpPr>
        <p:spPr>
          <a:xfrm>
            <a:off x="6425551" y="340056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순서도: 데이터 34"/>
          <p:cNvSpPr/>
          <p:nvPr/>
        </p:nvSpPr>
        <p:spPr>
          <a:xfrm>
            <a:off x="6425551" y="2868454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순서도: 데이터 35"/>
          <p:cNvSpPr/>
          <p:nvPr/>
        </p:nvSpPr>
        <p:spPr>
          <a:xfrm>
            <a:off x="6499394" y="222387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순서도: 데이터 36"/>
          <p:cNvSpPr/>
          <p:nvPr/>
        </p:nvSpPr>
        <p:spPr>
          <a:xfrm>
            <a:off x="6620372" y="1579286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108671" y="1743900"/>
            <a:ext cx="1375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M</a:t>
            </a:r>
            <a:r>
              <a:rPr lang="en-US" sz="2000" dirty="0" smtClean="0"/>
              <a:t>ongoDB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7208709" y="2425801"/>
            <a:ext cx="1243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E</a:t>
            </a:r>
            <a:r>
              <a:rPr lang="en-US" sz="2000" dirty="0" smtClean="0"/>
              <a:t>xpress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7199312" y="3079380"/>
            <a:ext cx="11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A</a:t>
            </a:r>
            <a:r>
              <a:rPr lang="en-US" sz="2000" dirty="0" smtClean="0"/>
              <a:t>ngular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7182032" y="3696781"/>
            <a:ext cx="1073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solidFill>
                  <a:srgbClr val="FF00FF"/>
                </a:solidFill>
              </a:rPr>
              <a:t>N</a:t>
            </a:r>
            <a:r>
              <a:rPr lang="en-US" sz="2000" dirty="0" err="1" smtClean="0"/>
              <a:t>odeJs</a:t>
            </a:r>
            <a:endParaRPr lang="en-US" sz="2000" dirty="0"/>
          </a:p>
        </p:txBody>
      </p:sp>
      <p:sp>
        <p:nvSpPr>
          <p:cNvPr id="42" name="순서도: 데이터 41"/>
          <p:cNvSpPr/>
          <p:nvPr/>
        </p:nvSpPr>
        <p:spPr>
          <a:xfrm>
            <a:off x="9254801" y="340056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순서도: 데이터 42"/>
          <p:cNvSpPr/>
          <p:nvPr/>
        </p:nvSpPr>
        <p:spPr>
          <a:xfrm>
            <a:off x="9254801" y="2868454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4" name="순서도: 데이터 43"/>
          <p:cNvSpPr/>
          <p:nvPr/>
        </p:nvSpPr>
        <p:spPr>
          <a:xfrm>
            <a:off x="9328644" y="222387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순서도: 데이터 44"/>
          <p:cNvSpPr/>
          <p:nvPr/>
        </p:nvSpPr>
        <p:spPr>
          <a:xfrm>
            <a:off x="9449622" y="1579286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329993" y="1741357"/>
            <a:ext cx="803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B050"/>
                </a:solidFill>
              </a:rPr>
              <a:t>Java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135231" y="2445897"/>
            <a:ext cx="1066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Apache</a:t>
            </a:r>
            <a:endParaRPr lang="en-US" sz="2000" dirty="0"/>
          </a:p>
        </p:txBody>
      </p:sp>
      <p:sp>
        <p:nvSpPr>
          <p:cNvPr id="48" name="TextBox 47"/>
          <p:cNvSpPr txBox="1"/>
          <p:nvPr/>
        </p:nvSpPr>
        <p:spPr>
          <a:xfrm>
            <a:off x="10117426" y="3099476"/>
            <a:ext cx="1015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Oracle</a:t>
            </a:r>
            <a:endParaRPr lang="en-US" sz="2000" dirty="0"/>
          </a:p>
        </p:txBody>
      </p:sp>
      <p:sp>
        <p:nvSpPr>
          <p:cNvPr id="49" name="TextBox 48"/>
          <p:cNvSpPr txBox="1"/>
          <p:nvPr/>
        </p:nvSpPr>
        <p:spPr>
          <a:xfrm>
            <a:off x="10311560" y="3716877"/>
            <a:ext cx="662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JSP</a:t>
            </a:r>
            <a:endParaRPr lang="en-US" sz="2000" dirty="0"/>
          </a:p>
        </p:txBody>
      </p:sp>
      <p:sp>
        <p:nvSpPr>
          <p:cNvPr id="50" name="TextBox 49"/>
          <p:cNvSpPr txBox="1"/>
          <p:nvPr/>
        </p:nvSpPr>
        <p:spPr>
          <a:xfrm>
            <a:off x="1012365" y="4633537"/>
            <a:ext cx="914033" cy="4616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LAMP</a:t>
            </a:r>
            <a:endParaRPr lang="en-US"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4141368" y="4633537"/>
            <a:ext cx="852477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WISA</a:t>
            </a:r>
            <a:endParaRPr lang="en-US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7208709" y="4577250"/>
            <a:ext cx="971613" cy="461665"/>
          </a:xfrm>
          <a:prstGeom prst="rect">
            <a:avLst/>
          </a:prstGeom>
          <a:ln>
            <a:solidFill>
              <a:srgbClr val="FF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MEAN</a:t>
            </a:r>
            <a:endParaRPr lang="en-US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10238556" y="4553895"/>
            <a:ext cx="707245" cy="46166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Java</a:t>
            </a:r>
            <a:endParaRPr lang="en-US" sz="2400" dirty="0"/>
          </a:p>
        </p:txBody>
      </p:sp>
      <p:sp>
        <p:nvSpPr>
          <p:cNvPr id="54" name="모서리가 둥근 직사각형 53"/>
          <p:cNvSpPr/>
          <p:nvPr/>
        </p:nvSpPr>
        <p:spPr>
          <a:xfrm>
            <a:off x="9261338" y="1024933"/>
            <a:ext cx="2829062" cy="42906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1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강의운영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30</a:t>
            </a:r>
          </a:p>
          <a:p>
            <a:pPr lvl="0">
              <a:defRPr/>
            </a:pPr>
            <a:r>
              <a:rPr lang="ko-KR" altLang="en-US"/>
              <a:t>기말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30</a:t>
            </a:r>
          </a:p>
          <a:p>
            <a:pPr lvl="0">
              <a:defRPr/>
            </a:pPr>
            <a:r>
              <a:rPr lang="ko-KR" altLang="en-US"/>
              <a:t>과제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10(</a:t>
            </a:r>
            <a:r>
              <a:rPr lang="ko-KR" altLang="en-US"/>
              <a:t>출석용</a:t>
            </a:r>
            <a:r>
              <a:rPr lang="en-US" altLang="ko-KR"/>
              <a:t>2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채점용</a:t>
            </a:r>
            <a:r>
              <a:rPr lang="en-US" altLang="ko-KR"/>
              <a:t>2)</a:t>
            </a:r>
          </a:p>
          <a:p>
            <a:pPr lvl="0">
              <a:defRPr/>
            </a:pPr>
            <a:r>
              <a:rPr lang="ko-KR" altLang="en-US"/>
              <a:t>텀 프로젝트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0438"/>
            <a:ext cx="9144000" cy="1069974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VSCode</a:t>
            </a:r>
            <a:r>
              <a:rPr lang="ko-KR" altLang="en-US"/>
              <a:t>설치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5195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실습을 위한 편집기 준비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VSCode </a:t>
            </a:r>
            <a:r>
              <a:rPr lang="ko-KR" altLang="en-US"/>
              <a:t>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다운로드</a:t>
            </a:r>
          </a:p>
          <a:p>
            <a:pPr lvl="1">
              <a:defRPr/>
            </a:pPr>
            <a:r>
              <a:rPr lang="en-US" altLang="en-US" b="1"/>
              <a:t>https://code.visualstudio.com/</a:t>
            </a:r>
          </a:p>
          <a:p>
            <a:pPr lvl="1">
              <a:defRPr/>
            </a:pPr>
            <a:endParaRPr lang="en-US" altLang="ko-KR" b="1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74955" y="2090014"/>
            <a:ext cx="3903958" cy="32654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3325" y="2133777"/>
            <a:ext cx="3678359" cy="363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자신의 </a:t>
            </a:r>
            <a:r>
              <a:rPr lang="en-US" altLang="ko-KR"/>
              <a:t>OS</a:t>
            </a:r>
            <a:r>
              <a:rPr lang="ko-KR" altLang="en-US"/>
              <a:t>에 맞게 다운로드 후 설치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VSCode </a:t>
            </a:r>
            <a:r>
              <a:rPr lang="ko-KR" altLang="en-US"/>
              <a:t>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작업폴더 만들기</a:t>
            </a:r>
          </a:p>
          <a:p>
            <a:pPr lvl="1">
              <a:defRPr/>
            </a:pPr>
            <a:endParaRPr lang="en-US" altLang="en-US" b="1"/>
          </a:p>
          <a:p>
            <a:pPr lvl="1">
              <a:defRPr/>
            </a:pPr>
            <a:endParaRPr lang="en-US" altLang="ko-KR" b="1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9478" y="1520159"/>
            <a:ext cx="3475475" cy="381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605" y="5480880"/>
            <a:ext cx="3972210" cy="365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작성할</a:t>
            </a:r>
            <a:r>
              <a:rPr lang="en-US" altLang="ko-KR"/>
              <a:t> HTML</a:t>
            </a:r>
            <a:r>
              <a:rPr lang="ko-KR" altLang="en-US"/>
              <a:t>파일을 저장 할 폴더 지정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48149" y="1503484"/>
            <a:ext cx="5817850" cy="29608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15744" y="5464144"/>
            <a:ext cx="3710321" cy="365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새로운 파일 만들기</a:t>
            </a:r>
            <a:r>
              <a:rPr lang="en-US" altLang="ko-KR"/>
              <a:t>(</a:t>
            </a:r>
            <a:r>
              <a:rPr lang="ko-KR" altLang="en-US"/>
              <a:t>확장자는 </a:t>
            </a:r>
            <a:r>
              <a:rPr lang="en-US" altLang="ko-KR"/>
              <a:t>.html)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VSCode </a:t>
            </a:r>
            <a:r>
              <a:rPr lang="ko-KR" altLang="en-US"/>
              <a:t>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776927"/>
          </a:xfrm>
        </p:spPr>
        <p:txBody>
          <a:bodyPr/>
          <a:lstStyle/>
          <a:p>
            <a:pPr lvl="0">
              <a:defRPr/>
            </a:pPr>
            <a:r>
              <a:rPr lang="en-US" altLang="ko-KR" b="1"/>
              <a:t>Chrome</a:t>
            </a:r>
            <a:r>
              <a:rPr lang="ko-KR" altLang="en-US" b="1"/>
              <a:t>으로 문서 확인</a:t>
            </a:r>
          </a:p>
          <a:p>
            <a:pPr lvl="1">
              <a:defRPr/>
            </a:pPr>
            <a:r>
              <a:rPr lang="ko-KR" altLang="en-US"/>
              <a:t>작성한 </a:t>
            </a:r>
            <a:r>
              <a:rPr lang="en-US" altLang="ko-KR"/>
              <a:t>html</a:t>
            </a:r>
            <a:r>
              <a:rPr lang="ko-KR" altLang="en-US"/>
              <a:t>문서를 브라우저에서 확인할 때</a:t>
            </a:r>
            <a:r>
              <a:rPr lang="en-US" altLang="ko-KR"/>
              <a:t>, </a:t>
            </a:r>
            <a:r>
              <a:rPr lang="ko-KR" altLang="en-US"/>
              <a:t>어떤 브라우저로 실행할지 지정</a:t>
            </a:r>
          </a:p>
          <a:p>
            <a:pPr lvl="1">
              <a:defRPr/>
            </a:pPr>
            <a:r>
              <a:rPr lang="ko-KR" altLang="en-US"/>
              <a:t>설정하지 않을 경우 시스템의 기본 브라우저로 실행</a:t>
            </a:r>
          </a:p>
          <a:p>
            <a:pPr lvl="1">
              <a:defRPr/>
            </a:pPr>
            <a:r>
              <a:rPr lang="ko-KR" altLang="en-US"/>
              <a:t>ctrl+shift+P 를 누르기</a:t>
            </a:r>
          </a:p>
          <a:p>
            <a:pPr lvl="1">
              <a:defRPr/>
            </a:pPr>
            <a:r>
              <a:rPr lang="ko-KR" altLang="en-US"/>
              <a:t>configure task 입력 </a:t>
            </a:r>
          </a:p>
          <a:p>
            <a:pPr lvl="1">
              <a:defRPr/>
            </a:pPr>
            <a:r>
              <a:rPr lang="ko-KR" altLang="en-US"/>
              <a:t>만약 여러 항목이 나올 경우 자신이 작업중인 폴더가 포함된 항목 선택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en-US" altLang="ko-KR"/>
              <a:t>“</a:t>
            </a:r>
            <a:r>
              <a:rPr lang="ko-KR" altLang="en-US"/>
              <a:t>MSBuild 빌드 대상을 실행합니다</a:t>
            </a:r>
            <a:r>
              <a:rPr lang="en-US" altLang="ko-KR"/>
              <a:t>”</a:t>
            </a:r>
            <a:r>
              <a:rPr lang="ko-KR" altLang="en-US"/>
              <a:t> 선택</a:t>
            </a:r>
          </a:p>
          <a:p>
            <a:pPr lvl="1">
              <a:defRPr/>
            </a:pPr>
            <a:r>
              <a:rPr lang="en-US" altLang="ko-KR"/>
              <a:t>tasks.json</a:t>
            </a:r>
            <a:r>
              <a:rPr lang="ko-KR" altLang="en-US"/>
              <a:t>파일 열림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en-US" altLang="en-US" b="0"/>
          </a:p>
          <a:p>
            <a:pPr lvl="1">
              <a:defRPr/>
            </a:pPr>
            <a:endParaRPr lang="en-US" altLang="en-US" b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6067" y="2885475"/>
            <a:ext cx="7503217" cy="1332855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54587" y="6142478"/>
            <a:ext cx="7225890" cy="36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참조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en-US"/>
              <a:t>https://kkaesaem.blogspot.com/2018/06/vscode-html-chrome.html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83433" y="179069"/>
            <a:ext cx="10411747" cy="6499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000"/>
              <a:t>{</a:t>
            </a:r>
          </a:p>
          <a:p>
            <a:pPr>
              <a:defRPr/>
            </a:pPr>
            <a:r>
              <a:rPr lang="en-US" altLang="en-US" sz="2000"/>
              <a:t>    "version": "2.0.0",</a:t>
            </a:r>
          </a:p>
          <a:p>
            <a:pPr>
              <a:defRPr/>
            </a:pPr>
            <a:r>
              <a:rPr lang="en-US" altLang="en-US" sz="2000"/>
              <a:t>    "tasks": [</a:t>
            </a:r>
          </a:p>
          <a:p>
            <a:pPr>
              <a:defRPr/>
            </a:pPr>
            <a:r>
              <a:rPr lang="en-US" altLang="en-US" sz="2000"/>
              <a:t>        {</a:t>
            </a:r>
          </a:p>
          <a:p>
            <a:pPr>
              <a:defRPr/>
            </a:pPr>
            <a:r>
              <a:rPr lang="en-US" altLang="en-US" sz="2000"/>
              <a:t>            "taskName": "chrome",</a:t>
            </a:r>
          </a:p>
          <a:p>
            <a:pPr>
              <a:defRPr/>
            </a:pPr>
            <a:r>
              <a:rPr lang="en-US" altLang="en-US" sz="2000"/>
              <a:t>            "type": "process",</a:t>
            </a:r>
          </a:p>
          <a:p>
            <a:pPr>
              <a:defRPr/>
            </a:pPr>
            <a:r>
              <a:rPr lang="en-US" altLang="en-US" sz="2000"/>
              <a:t>            "command": "chrome.exe",</a:t>
            </a:r>
          </a:p>
          <a:p>
            <a:pPr>
              <a:defRPr/>
            </a:pPr>
            <a:r>
              <a:rPr lang="en-US" altLang="en-US" sz="2000"/>
              <a:t>            "windows": {</a:t>
            </a:r>
          </a:p>
          <a:p>
            <a:pPr>
              <a:defRPr/>
            </a:pPr>
            <a:r>
              <a:rPr lang="en-US" altLang="en-US" sz="2000"/>
              <a:t>                "command": "C:\\Program Files (x86)\\Google\\Chrome\\Application\\chrome.exe"</a:t>
            </a:r>
          </a:p>
          <a:p>
            <a:pPr>
              <a:defRPr/>
            </a:pPr>
            <a:r>
              <a:rPr lang="en-US" altLang="en-US" sz="2000"/>
              <a:t>            },</a:t>
            </a:r>
          </a:p>
          <a:p>
            <a:pPr>
              <a:defRPr/>
            </a:pPr>
            <a:r>
              <a:rPr lang="en-US" altLang="en-US" sz="2000"/>
              <a:t>            "args": [</a:t>
            </a:r>
          </a:p>
          <a:p>
            <a:pPr>
              <a:defRPr/>
            </a:pPr>
            <a:r>
              <a:rPr lang="en-US" altLang="en-US" sz="2000"/>
              <a:t>                "${file}"</a:t>
            </a:r>
          </a:p>
          <a:p>
            <a:pPr>
              <a:defRPr/>
            </a:pPr>
            <a:r>
              <a:rPr lang="en-US" altLang="en-US" sz="2000"/>
              <a:t>            ],</a:t>
            </a:r>
          </a:p>
          <a:p>
            <a:pPr>
              <a:defRPr/>
            </a:pPr>
            <a:r>
              <a:rPr lang="en-US" altLang="en-US" sz="2000"/>
              <a:t>            "problemMatcher": [],</a:t>
            </a:r>
          </a:p>
          <a:p>
            <a:pPr>
              <a:defRPr/>
            </a:pPr>
            <a:r>
              <a:rPr lang="en-US" altLang="en-US" sz="2000"/>
              <a:t>            "group": {</a:t>
            </a:r>
          </a:p>
          <a:p>
            <a:pPr>
              <a:defRPr/>
            </a:pPr>
            <a:r>
              <a:rPr lang="en-US" altLang="en-US" sz="2000"/>
              <a:t>                "kind": "build",</a:t>
            </a:r>
          </a:p>
          <a:p>
            <a:pPr>
              <a:defRPr/>
            </a:pPr>
            <a:r>
              <a:rPr lang="en-US" altLang="en-US" sz="2000"/>
              <a:t>                "isDefault": true</a:t>
            </a:r>
          </a:p>
          <a:p>
            <a:pPr>
              <a:defRPr/>
            </a:pPr>
            <a:r>
              <a:rPr lang="en-US" altLang="en-US" sz="2000"/>
              <a:t>            }</a:t>
            </a:r>
          </a:p>
          <a:p>
            <a:pPr>
              <a:defRPr/>
            </a:pPr>
            <a:r>
              <a:rPr lang="en-US" altLang="en-US" sz="2000"/>
              <a:t>        }</a:t>
            </a:r>
          </a:p>
          <a:p>
            <a:pPr>
              <a:defRPr/>
            </a:pPr>
            <a:r>
              <a:rPr lang="en-US" altLang="en-US" sz="2000"/>
              <a:t>    ]</a:t>
            </a:r>
          </a:p>
          <a:p>
            <a:pPr>
              <a:defRPr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VSCode </a:t>
            </a:r>
            <a:r>
              <a:rPr lang="ko-KR" altLang="en-US"/>
              <a:t>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776927"/>
          </a:xfrm>
        </p:spPr>
        <p:txBody>
          <a:bodyPr/>
          <a:lstStyle/>
          <a:p>
            <a:pPr lvl="0">
              <a:defRPr/>
            </a:pPr>
            <a:r>
              <a:rPr lang="en-US" altLang="ko-KR" b="1"/>
              <a:t>Chrome</a:t>
            </a:r>
            <a:r>
              <a:rPr lang="ko-KR" altLang="en-US" b="1"/>
              <a:t>으로 문서 확인</a:t>
            </a:r>
          </a:p>
          <a:p>
            <a:pPr lvl="1">
              <a:defRPr/>
            </a:pPr>
            <a:r>
              <a:rPr lang="en-US" altLang="ko-KR"/>
              <a:t>hello.html</a:t>
            </a:r>
            <a:r>
              <a:rPr lang="ko-KR" altLang="en-US"/>
              <a:t>작성</a:t>
            </a:r>
          </a:p>
          <a:p>
            <a:pPr lvl="1">
              <a:defRPr/>
            </a:pPr>
            <a:r>
              <a:rPr lang="ko-KR" altLang="en-US"/>
              <a:t>ctrl+shift+</a:t>
            </a:r>
            <a:r>
              <a:rPr lang="en-US" altLang="ko-KR"/>
              <a:t>B </a:t>
            </a:r>
            <a:r>
              <a:rPr lang="ko-KR" altLang="en-US"/>
              <a:t>입력 후 확인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en-US" altLang="en-US" b="0"/>
          </a:p>
          <a:p>
            <a:pPr lvl="1">
              <a:defRPr/>
            </a:pPr>
            <a:endParaRPr lang="en-US" altLang="en-US" b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390</Words>
  <Application>Microsoft Office PowerPoint</Application>
  <PresentationFormat>와이드스크린</PresentationFormat>
  <Paragraphs>128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맑은 고딕</vt:lpstr>
      <vt:lpstr>Office 테마</vt:lpstr>
      <vt:lpstr>01. 웹 프로그래밍 시작하기</vt:lpstr>
      <vt:lpstr>웹프로그래밍 개요</vt:lpstr>
      <vt:lpstr>웹프로그래밍 개요</vt:lpstr>
      <vt:lpstr>개발에 따른 필요 기술</vt:lpstr>
      <vt:lpstr>개발에 따른 필요 기술</vt:lpstr>
      <vt:lpstr>강의운영</vt:lpstr>
      <vt:lpstr>VSCode설치</vt:lpstr>
      <vt:lpstr>VSCode 설치하기</vt:lpstr>
      <vt:lpstr>VSCode 설치하기</vt:lpstr>
      <vt:lpstr>VSCode 설치하기</vt:lpstr>
      <vt:lpstr>PowerPoint 프레젠테이션</vt:lpstr>
      <vt:lpstr>VSCode 설치하기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158</cp:revision>
  <dcterms:created xsi:type="dcterms:W3CDTF">2020-03-06T01:35:43Z</dcterms:created>
  <dcterms:modified xsi:type="dcterms:W3CDTF">2020-03-13T01:23:50Z</dcterms:modified>
  <cp:version>1000.0000.01</cp:version>
</cp:coreProperties>
</file>