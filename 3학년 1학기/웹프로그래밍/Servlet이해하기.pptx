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8" r:id="rId1"/>
  </p:sldMasterIdLst>
  <p:notesMasterIdLst>
    <p:notesMasterId r:id="rId28"/>
  </p:notesMasterIdLst>
  <p:sldIdLst>
    <p:sldId id="357" r:id="rId2"/>
    <p:sldId id="346" r:id="rId3"/>
    <p:sldId id="347" r:id="rId4"/>
    <p:sldId id="348" r:id="rId5"/>
    <p:sldId id="358" r:id="rId6"/>
    <p:sldId id="349" r:id="rId7"/>
    <p:sldId id="363" r:id="rId8"/>
    <p:sldId id="361" r:id="rId9"/>
    <p:sldId id="362" r:id="rId10"/>
    <p:sldId id="365" r:id="rId11"/>
    <p:sldId id="364" r:id="rId12"/>
    <p:sldId id="375" r:id="rId13"/>
    <p:sldId id="380" r:id="rId14"/>
    <p:sldId id="368" r:id="rId15"/>
    <p:sldId id="381" r:id="rId16"/>
    <p:sldId id="382" r:id="rId17"/>
    <p:sldId id="385" r:id="rId18"/>
    <p:sldId id="384" r:id="rId19"/>
    <p:sldId id="370" r:id="rId20"/>
    <p:sldId id="371" r:id="rId21"/>
    <p:sldId id="386" r:id="rId22"/>
    <p:sldId id="387" r:id="rId23"/>
    <p:sldId id="388" r:id="rId24"/>
    <p:sldId id="389" r:id="rId25"/>
    <p:sldId id="383" r:id="rId26"/>
    <p:sldId id="39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C5610"/>
    <a:srgbClr val="FF00FF"/>
    <a:srgbClr val="ADFF2F"/>
    <a:srgbClr val="7FFFD4"/>
    <a:srgbClr val="FFA500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2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9B25A7D-0240-4D0E-A5B3-3234B957F6EF}" type="datetime1">
              <a:rPr lang="en-US"/>
              <a:pPr lvl="0">
                <a:defRPr/>
              </a:pPr>
              <a:t>6/16/2020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163349B-D4CA-41F9-BE36-059942AD9331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DAD7-809B-4C4A-8A23-1E146EAD9E8F}" type="datetime1">
              <a:rPr lang="en-US" smtClean="0"/>
              <a:t>6/16/2020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lnSpc>
                <a:spcPct val="140000"/>
              </a:lnSpc>
              <a:defRPr sz="2400">
                <a:latin typeface="+mn-ea"/>
                <a:ea typeface="+mn-ea"/>
              </a:defRPr>
            </a:lvl1pPr>
            <a:lvl2pPr marL="685800" indent="-228600">
              <a:lnSpc>
                <a:spcPct val="140000"/>
              </a:lnSpc>
              <a:buFont typeface="Wingdings"/>
              <a:buChar char="§"/>
              <a:defRPr sz="2000">
                <a:latin typeface="+mn-ea"/>
                <a:ea typeface="+mn-ea"/>
              </a:defRPr>
            </a:lvl2pPr>
            <a:lvl3pPr>
              <a:lnSpc>
                <a:spcPct val="140000"/>
              </a:lnSpc>
              <a:defRPr sz="1800">
                <a:latin typeface="+mn-ea"/>
                <a:ea typeface="+mn-ea"/>
              </a:defRPr>
            </a:lvl3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06EDA91-2055-40FE-B45A-5804B08C2696}" type="datetime1">
              <a:rPr lang="en-US" smtClean="0"/>
              <a:t>6/16/2020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227048" y="6356350"/>
            <a:ext cx="2743200" cy="365125"/>
          </a:xfrm>
        </p:spPr>
        <p:txBody>
          <a:bodyPr/>
          <a:lstStyle>
            <a:lvl1pPr>
              <a:defRPr sz="15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DA67E06-563C-4DAC-B352-5CBE54DE7B5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C795-451E-46E0-AE92-5A497CF41061}" type="datetime1">
              <a:rPr lang="en-US" smtClean="0"/>
              <a:t>6/16/2020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975-3397-4FC8-A820-2112C504E006}" type="datetime1">
              <a:rPr lang="en-US" smtClean="0"/>
              <a:t>6/16/2020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B25CA-AD45-4C95-8C23-1C6A039469A5}" type="datetime1">
              <a:rPr lang="en-US" smtClean="0"/>
              <a:t>6/16/2020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2E71-0A1A-4073-B60F-FA59C2CA001A}" type="datetime1">
              <a:rPr lang="en-US" smtClean="0"/>
              <a:t>6/16/2020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758C-1694-4565-82D4-EBBF833CB257}" type="datetime1">
              <a:rPr lang="en-US" smtClean="0"/>
              <a:t>6/16/2020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5484-FD6D-41C0-A29C-477D0CF69679}" type="datetime1">
              <a:rPr lang="en-US" smtClean="0"/>
              <a:t>6/16/2020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1DD6-19D4-44B1-8E93-C64691C69E13}" type="datetime1">
              <a:rPr lang="en-US" smtClean="0"/>
              <a:t>6/16/2020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33E4-9C34-4B01-AEFF-3C6F1AF12FD7}" type="datetime1">
              <a:rPr lang="en-US" smtClean="0"/>
              <a:t>6/16/2020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72B1E-F176-43F3-BFB4-FA11701E5307}" type="datetime1">
              <a:rPr lang="en-US" smtClean="0"/>
              <a:t>6/16/2020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D2D49-5DE7-4756-AE86-CEB698DB686D}" type="datetime1">
              <a:rPr lang="en-US" smtClean="0"/>
              <a:t>6/16/2020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89503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400" dirty="0" smtClean="0"/>
              <a:t>Servlet </a:t>
            </a:r>
            <a:r>
              <a:rPr lang="ko-KR" altLang="en-US" sz="4400" dirty="0" smtClean="0"/>
              <a:t>이해하기</a:t>
            </a:r>
            <a:endParaRPr lang="ko-KR" altLang="en-US" sz="4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3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Servlet </a:t>
            </a:r>
            <a:r>
              <a:rPr lang="ko-KR" altLang="en-US" sz="2800" dirty="0"/>
              <a:t>이해하기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 lnSpcReduction="10000"/>
          </a:bodyPr>
          <a:lstStyle/>
          <a:p>
            <a:r>
              <a:rPr lang="en-US" altLang="ko-KR" sz="2200" b="1" dirty="0">
                <a:solidFill>
                  <a:prstClr val="black"/>
                </a:solidFill>
              </a:rPr>
              <a:t>Servlet(Server side applet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)</a:t>
            </a:r>
            <a:r>
              <a:rPr lang="en-US" altLang="ko-KR" sz="22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: </a:t>
            </a:r>
            <a:r>
              <a:rPr lang="en-US" altLang="ko-KR" sz="2200" dirty="0">
                <a:solidFill>
                  <a:prstClr val="black"/>
                </a:solidFill>
                <a:sym typeface="Wingdings" panose="05000000000000000000" pitchFamily="2" charset="2"/>
              </a:rPr>
              <a:t>applet(</a:t>
            </a:r>
            <a:r>
              <a:rPr lang="ko-KR" altLang="en-US" sz="2200" dirty="0">
                <a:solidFill>
                  <a:prstClr val="black"/>
                </a:solidFill>
                <a:sym typeface="Wingdings" panose="05000000000000000000" pitchFamily="2" charset="2"/>
              </a:rPr>
              <a:t>애플릿</a:t>
            </a:r>
            <a:r>
              <a:rPr lang="en-US" altLang="ko-KR" sz="2200" dirty="0" smtClean="0">
                <a:solidFill>
                  <a:prstClr val="black"/>
                </a:solidFill>
                <a:sym typeface="Wingdings" panose="05000000000000000000" pitchFamily="2" charset="2"/>
              </a:rPr>
              <a:t>)  app(application</a:t>
            </a:r>
            <a:r>
              <a:rPr lang="en-US" altLang="ko-KR" sz="2200" dirty="0">
                <a:solidFill>
                  <a:prstClr val="black"/>
                </a:solidFill>
                <a:sym typeface="Wingdings" panose="05000000000000000000" pitchFamily="2" charset="2"/>
              </a:rPr>
              <a:t>)+let(</a:t>
            </a:r>
            <a:r>
              <a:rPr lang="ko-KR" altLang="en-US" sz="2200" dirty="0">
                <a:solidFill>
                  <a:prstClr val="black"/>
                </a:solidFill>
                <a:sym typeface="Wingdings" panose="05000000000000000000" pitchFamily="2" charset="2"/>
              </a:rPr>
              <a:t>작은</a:t>
            </a:r>
            <a:r>
              <a:rPr lang="en-US" altLang="ko-KR" sz="2200" dirty="0">
                <a:solidFill>
                  <a:prstClr val="black"/>
                </a:solidFill>
                <a:sym typeface="Wingdings" panose="05000000000000000000" pitchFamily="2" charset="2"/>
              </a:rPr>
              <a:t>)</a:t>
            </a:r>
            <a:r>
              <a:rPr lang="en-US" altLang="ko-KR" sz="2200" b="1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r>
              <a:rPr lang="en-US" altLang="ko-KR" sz="2200" b="1" dirty="0" smtClean="0">
                <a:solidFill>
                  <a:prstClr val="black"/>
                </a:solidFill>
              </a:rPr>
              <a:t>servlet</a:t>
            </a:r>
            <a:r>
              <a:rPr lang="ko-KR" altLang="en-US" sz="2200" b="1" dirty="0">
                <a:solidFill>
                  <a:prstClr val="black"/>
                </a:solidFill>
              </a:rPr>
              <a:t>의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생명주기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r>
              <a:rPr lang="ko-KR" altLang="en-US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800" dirty="0" smtClean="0">
                <a:solidFill>
                  <a:prstClr val="black"/>
                </a:solidFill>
              </a:rPr>
              <a:t> </a:t>
            </a:r>
            <a:endParaRPr lang="ko-KR" altLang="en-US" sz="1800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</a:t>
            </a:fld>
            <a:endParaRPr lang="en-US"/>
          </a:p>
        </p:txBody>
      </p:sp>
      <p:sp>
        <p:nvSpPr>
          <p:cNvPr id="4" name="타원 3"/>
          <p:cNvSpPr/>
          <p:nvPr/>
        </p:nvSpPr>
        <p:spPr>
          <a:xfrm>
            <a:off x="381000" y="2333625"/>
            <a:ext cx="1333500" cy="47625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개발자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562225" y="2160706"/>
            <a:ext cx="1828800" cy="819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servlet</a:t>
            </a:r>
            <a:r>
              <a:rPr lang="ko-KR" altLang="en-US" dirty="0" smtClean="0">
                <a:solidFill>
                  <a:schemeClr val="tx1"/>
                </a:solidFill>
              </a:rPr>
              <a:t> 소스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.java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554722" y="2742490"/>
            <a:ext cx="1452451" cy="8191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자바클래스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.class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466975" y="3600450"/>
            <a:ext cx="2133600" cy="14382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dirty="0" smtClean="0"/>
              <a:t>servlet </a:t>
            </a:r>
            <a:r>
              <a:rPr lang="ko-KR" altLang="en-US" dirty="0" smtClean="0"/>
              <a:t>컨테이너</a:t>
            </a:r>
            <a:endParaRPr lang="en-US" dirty="0"/>
          </a:p>
        </p:txBody>
      </p:sp>
      <p:sp>
        <p:nvSpPr>
          <p:cNvPr id="9" name="직사각형 8"/>
          <p:cNvSpPr/>
          <p:nvPr/>
        </p:nvSpPr>
        <p:spPr>
          <a:xfrm>
            <a:off x="2619375" y="4319110"/>
            <a:ext cx="1828800" cy="42957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servlet 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원통 9"/>
          <p:cNvSpPr/>
          <p:nvPr/>
        </p:nvSpPr>
        <p:spPr>
          <a:xfrm>
            <a:off x="5505450" y="4148160"/>
            <a:ext cx="1428750" cy="704851"/>
          </a:xfrm>
          <a:prstGeom prst="ca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DB</a:t>
            </a:r>
            <a:endParaRPr lang="en-US" dirty="0"/>
          </a:p>
        </p:txBody>
      </p:sp>
      <p:cxnSp>
        <p:nvCxnSpPr>
          <p:cNvPr id="12" name="직선 화살표 연결선 11"/>
          <p:cNvCxnSpPr>
            <a:stCxn id="4" idx="6"/>
            <a:endCxn id="6" idx="1"/>
          </p:cNvCxnSpPr>
          <p:nvPr/>
        </p:nvCxnSpPr>
        <p:spPr>
          <a:xfrm flipV="1">
            <a:off x="1714500" y="2570281"/>
            <a:ext cx="847725" cy="1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6" idx="3"/>
            <a:endCxn id="7" idx="1"/>
          </p:cNvCxnSpPr>
          <p:nvPr/>
        </p:nvCxnSpPr>
        <p:spPr>
          <a:xfrm>
            <a:off x="4391025" y="2570281"/>
            <a:ext cx="1163697" cy="581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7" idx="1"/>
          </p:cNvCxnSpPr>
          <p:nvPr/>
        </p:nvCxnSpPr>
        <p:spPr>
          <a:xfrm flipH="1">
            <a:off x="4552952" y="3152065"/>
            <a:ext cx="1001770" cy="805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98179" y="2080254"/>
            <a:ext cx="132119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smtClean="0"/>
              <a:t>1. </a:t>
            </a:r>
            <a:r>
              <a:rPr lang="ko-KR" altLang="en-US" sz="1700" dirty="0" smtClean="0"/>
              <a:t>소스 작성</a:t>
            </a:r>
            <a:endParaRPr lang="en-US" sz="1700" dirty="0"/>
          </a:p>
        </p:txBody>
      </p:sp>
      <p:sp>
        <p:nvSpPr>
          <p:cNvPr id="20" name="TextBox 19"/>
          <p:cNvSpPr txBox="1"/>
          <p:nvPr/>
        </p:nvSpPr>
        <p:spPr>
          <a:xfrm>
            <a:off x="4444837" y="2327953"/>
            <a:ext cx="105349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smtClean="0"/>
              <a:t>2. </a:t>
            </a:r>
            <a:r>
              <a:rPr lang="ko-KR" altLang="en-US" sz="1700" dirty="0" smtClean="0"/>
              <a:t>컴파일</a:t>
            </a:r>
            <a:endParaRPr lang="en-US" sz="1700" dirty="0"/>
          </a:p>
        </p:txBody>
      </p:sp>
      <p:sp>
        <p:nvSpPr>
          <p:cNvPr id="21" name="TextBox 20"/>
          <p:cNvSpPr txBox="1"/>
          <p:nvPr/>
        </p:nvSpPr>
        <p:spPr>
          <a:xfrm>
            <a:off x="4349119" y="3264277"/>
            <a:ext cx="83548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smtClean="0"/>
              <a:t>3. </a:t>
            </a:r>
            <a:r>
              <a:rPr lang="ko-KR" altLang="en-US" sz="1700" dirty="0" smtClean="0"/>
              <a:t>등록</a:t>
            </a:r>
            <a:endParaRPr lang="en-US" sz="1700" dirty="0"/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4517693" y="4428794"/>
            <a:ext cx="956338" cy="33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 flipH="1">
            <a:off x="4514834" y="4566728"/>
            <a:ext cx="967253" cy="33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4085" y="4902758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웹</a:t>
            </a:r>
            <a:r>
              <a:rPr lang="en-US" dirty="0" smtClean="0"/>
              <a:t> </a:t>
            </a:r>
            <a:r>
              <a:rPr lang="ko-KR" altLang="en-US" dirty="0" smtClean="0"/>
              <a:t>클라이언트</a:t>
            </a:r>
            <a:endParaRPr lang="en-US" dirty="0"/>
          </a:p>
        </p:txBody>
      </p:sp>
      <p:sp>
        <p:nvSpPr>
          <p:cNvPr id="33" name="타원 32"/>
          <p:cNvSpPr/>
          <p:nvPr/>
        </p:nvSpPr>
        <p:spPr>
          <a:xfrm>
            <a:off x="621097" y="3886626"/>
            <a:ext cx="318420" cy="31071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이등변 삼각형 33"/>
          <p:cNvSpPr/>
          <p:nvPr/>
        </p:nvSpPr>
        <p:spPr>
          <a:xfrm>
            <a:off x="621097" y="4197342"/>
            <a:ext cx="318420" cy="579366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직선 화살표 연결선 34"/>
          <p:cNvCxnSpPr/>
          <p:nvPr/>
        </p:nvCxnSpPr>
        <p:spPr>
          <a:xfrm flipV="1">
            <a:off x="1009312" y="4403970"/>
            <a:ext cx="1501798" cy="1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02877" y="4019976"/>
            <a:ext cx="83548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smtClean="0"/>
              <a:t>4. </a:t>
            </a:r>
            <a:r>
              <a:rPr lang="ko-KR" altLang="en-US" sz="1700" dirty="0" smtClean="0"/>
              <a:t>요청</a:t>
            </a:r>
            <a:endParaRPr lang="en-US" sz="1700" dirty="0"/>
          </a:p>
        </p:txBody>
      </p:sp>
      <p:cxnSp>
        <p:nvCxnSpPr>
          <p:cNvPr id="37" name="직선 화살표 연결선 36"/>
          <p:cNvCxnSpPr/>
          <p:nvPr/>
        </p:nvCxnSpPr>
        <p:spPr>
          <a:xfrm flipH="1">
            <a:off x="970011" y="4612805"/>
            <a:ext cx="154612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560177" y="4004442"/>
            <a:ext cx="83548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smtClean="0"/>
              <a:t>5. </a:t>
            </a:r>
            <a:r>
              <a:rPr lang="ko-KR" altLang="en-US" sz="1700" dirty="0" smtClean="0"/>
              <a:t>실행</a:t>
            </a:r>
            <a:endParaRPr lang="en-US" sz="1700" dirty="0"/>
          </a:p>
        </p:txBody>
      </p:sp>
      <p:sp>
        <p:nvSpPr>
          <p:cNvPr id="40" name="TextBox 39"/>
          <p:cNvSpPr txBox="1"/>
          <p:nvPr/>
        </p:nvSpPr>
        <p:spPr>
          <a:xfrm>
            <a:off x="4599106" y="4611655"/>
            <a:ext cx="83548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smtClean="0"/>
              <a:t>7. </a:t>
            </a:r>
            <a:r>
              <a:rPr lang="ko-KR" altLang="en-US" sz="1700" dirty="0" smtClean="0"/>
              <a:t>연동</a:t>
            </a:r>
            <a:endParaRPr lang="en-US" sz="1700" dirty="0"/>
          </a:p>
        </p:txBody>
      </p:sp>
      <p:sp>
        <p:nvSpPr>
          <p:cNvPr id="41" name="TextBox 40"/>
          <p:cNvSpPr txBox="1"/>
          <p:nvPr/>
        </p:nvSpPr>
        <p:spPr>
          <a:xfrm>
            <a:off x="1302877" y="4617771"/>
            <a:ext cx="83548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smtClean="0"/>
              <a:t>8. </a:t>
            </a:r>
            <a:r>
              <a:rPr lang="ko-KR" altLang="en-US" sz="1700" dirty="0" smtClean="0"/>
              <a:t>응답</a:t>
            </a:r>
            <a:endParaRPr lang="en-US" sz="1700" dirty="0"/>
          </a:p>
        </p:txBody>
      </p:sp>
      <p:sp>
        <p:nvSpPr>
          <p:cNvPr id="42" name="TextBox 41"/>
          <p:cNvSpPr txBox="1"/>
          <p:nvPr/>
        </p:nvSpPr>
        <p:spPr>
          <a:xfrm>
            <a:off x="2511110" y="5084297"/>
            <a:ext cx="213962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smtClean="0"/>
              <a:t>6. servlet</a:t>
            </a:r>
            <a:r>
              <a:rPr lang="ko-KR" altLang="en-US" sz="1700" dirty="0" smtClean="0"/>
              <a:t>메서드 실행</a:t>
            </a:r>
            <a:endParaRPr lang="en-US" sz="1700" dirty="0"/>
          </a:p>
        </p:txBody>
      </p:sp>
      <p:sp>
        <p:nvSpPr>
          <p:cNvPr id="43" name="직사각형 42"/>
          <p:cNvSpPr/>
          <p:nvPr/>
        </p:nvSpPr>
        <p:spPr>
          <a:xfrm>
            <a:off x="7085398" y="2179756"/>
            <a:ext cx="1374005" cy="4095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700" dirty="0" smtClean="0">
                <a:solidFill>
                  <a:schemeClr val="bg1"/>
                </a:solidFill>
              </a:rPr>
              <a:t>이벤트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8620125" y="2179756"/>
            <a:ext cx="1828801" cy="4095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700" smtClean="0">
                <a:solidFill>
                  <a:schemeClr val="bg1"/>
                </a:solidFill>
              </a:rPr>
              <a:t>생명주기 메서드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0695373" y="2183609"/>
            <a:ext cx="1374005" cy="4095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700" dirty="0" smtClean="0">
                <a:solidFill>
                  <a:schemeClr val="bg1"/>
                </a:solidFill>
              </a:rPr>
              <a:t>실행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8555182" y="2680378"/>
            <a:ext cx="1939636" cy="344419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9194178" y="2924024"/>
            <a:ext cx="630301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 smtClean="0"/>
              <a:t>init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9038399" y="3593068"/>
            <a:ext cx="983474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service()</a:t>
            </a:r>
          </a:p>
          <a:p>
            <a:r>
              <a:rPr lang="en-US" dirty="0" err="1" smtClean="0"/>
              <a:t>doGet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doPost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9038399" y="5003224"/>
            <a:ext cx="102835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destroy()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67766" y="2756578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servlet</a:t>
            </a:r>
          </a:p>
          <a:p>
            <a:pPr algn="ctr"/>
            <a:r>
              <a:rPr lang="ko-KR" altLang="en-US" dirty="0" smtClean="0"/>
              <a:t>초기화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7450572" y="3756145"/>
            <a:ext cx="736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요청</a:t>
            </a:r>
            <a:endParaRPr lang="en-US" altLang="ko-KR" dirty="0" smtClean="0"/>
          </a:p>
          <a:p>
            <a:r>
              <a:rPr lang="en-US" dirty="0" smtClean="0"/>
              <a:t>/</a:t>
            </a:r>
            <a:r>
              <a:rPr lang="ko-KR" altLang="en-US" dirty="0" smtClean="0"/>
              <a:t>응답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7408444" y="4866591"/>
            <a:ext cx="8203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servlet</a:t>
            </a:r>
          </a:p>
          <a:p>
            <a:pPr algn="ctr"/>
            <a:r>
              <a:rPr lang="ko-KR" altLang="en-US" dirty="0" smtClean="0"/>
              <a:t>종료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10660062" y="2756577"/>
            <a:ext cx="1444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초기에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한 번만 실행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10571095" y="3798242"/>
            <a:ext cx="1622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스레드를 통해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동시에 실행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10626258" y="4847319"/>
            <a:ext cx="1444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종료할 때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한 번만 실행</a:t>
            </a:r>
            <a:endParaRPr lang="en-US" dirty="0"/>
          </a:p>
        </p:txBody>
      </p:sp>
      <p:cxnSp>
        <p:nvCxnSpPr>
          <p:cNvPr id="65" name="직선 연결선 64"/>
          <p:cNvCxnSpPr/>
          <p:nvPr/>
        </p:nvCxnSpPr>
        <p:spPr>
          <a:xfrm>
            <a:off x="7295458" y="3486150"/>
            <a:ext cx="47739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>
            <a:off x="7292610" y="4656159"/>
            <a:ext cx="47739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7304319" y="5700715"/>
            <a:ext cx="47739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26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prstClr val="black"/>
                </a:solidFill>
              </a:rPr>
              <a:t>servlet</a:t>
            </a:r>
            <a:r>
              <a:rPr lang="ko-KR" altLang="en-US" sz="2800" dirty="0">
                <a:solidFill>
                  <a:prstClr val="black"/>
                </a:solidFill>
              </a:rPr>
              <a:t>의 생명주기</a:t>
            </a:r>
            <a:endParaRPr lang="en-US" altLang="ko-KR" sz="2800" dirty="0">
              <a:solidFill>
                <a:prstClr val="black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>
                <a:solidFill>
                  <a:prstClr val="black"/>
                </a:solidFill>
              </a:rPr>
              <a:t>servlet</a:t>
            </a:r>
            <a:r>
              <a:rPr lang="ko-KR" altLang="en-US" sz="2200" b="1" dirty="0">
                <a:solidFill>
                  <a:prstClr val="black"/>
                </a:solidFill>
              </a:rPr>
              <a:t>의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생명주기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sz="1800" dirty="0"/>
              <a:t>컨테이너가 일련의 과정을 통해 </a:t>
            </a:r>
            <a:r>
              <a:rPr lang="en-US" altLang="ko-KR" sz="1800" dirty="0"/>
              <a:t>servlet</a:t>
            </a:r>
            <a:r>
              <a:rPr lang="ko-KR" altLang="en-US" sz="1800" dirty="0"/>
              <a:t>이 실행할 수 있는 상태로 </a:t>
            </a:r>
            <a:r>
              <a:rPr lang="ko-KR" altLang="en-US" sz="1800" dirty="0" smtClean="0"/>
              <a:t>만듦</a:t>
            </a:r>
            <a:endParaRPr lang="en-US" altLang="ko-KR" sz="1800" dirty="0" smtClean="0"/>
          </a:p>
          <a:p>
            <a:pPr lvl="1"/>
            <a:r>
              <a:rPr lang="ko-KR" altLang="en-US" sz="1800" u="sng" dirty="0"/>
              <a:t>웹 브라우저의 요청을 처리할 수 있는 상태의 </a:t>
            </a:r>
            <a:r>
              <a:rPr lang="ko-KR" altLang="en-US" sz="1800" u="sng" dirty="0" err="1"/>
              <a:t>서블릿</a:t>
            </a:r>
            <a:r>
              <a:rPr lang="ko-KR" altLang="en-US" sz="1800" u="sng" dirty="0"/>
              <a:t> 객체를 </a:t>
            </a:r>
            <a:r>
              <a:rPr lang="ko-KR" altLang="en-US" sz="1800" u="sng" dirty="0" err="1"/>
              <a:t>서블릿이라고</a:t>
            </a:r>
            <a:r>
              <a:rPr lang="ko-KR" altLang="en-US" sz="1800" u="sng" dirty="0"/>
              <a:t> 함</a:t>
            </a:r>
            <a:endParaRPr lang="en-US" altLang="ko-KR" sz="1800" u="sng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sz="1800" dirty="0" smtClean="0">
                <a:solidFill>
                  <a:prstClr val="black"/>
                </a:solidFill>
              </a:rPr>
              <a:t>실행 순서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pPr lvl="2"/>
            <a:r>
              <a:rPr lang="ko-KR" altLang="en-US" dirty="0" smtClean="0">
                <a:solidFill>
                  <a:prstClr val="black"/>
                </a:solidFill>
              </a:rPr>
              <a:t>사용자의 요청 </a:t>
            </a:r>
            <a:r>
              <a:rPr lang="en-US" altLang="ko-KR" dirty="0">
                <a:solidFill>
                  <a:prstClr val="black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prstClr val="black"/>
                </a:solidFill>
                <a:sym typeface="Wingdings" panose="05000000000000000000" pitchFamily="2" charset="2"/>
              </a:rPr>
              <a:t>요청한 </a:t>
            </a:r>
            <a:r>
              <a:rPr lang="en-US" altLang="ko-KR" dirty="0">
                <a:solidFill>
                  <a:prstClr val="black"/>
                </a:solidFill>
                <a:sym typeface="Wingdings" panose="05000000000000000000" pitchFamily="2" charset="2"/>
              </a:rPr>
              <a:t>servlet</a:t>
            </a:r>
            <a:r>
              <a:rPr lang="ko-KR" altLang="en-US" dirty="0">
                <a:solidFill>
                  <a:prstClr val="black"/>
                </a:solidFill>
                <a:sym typeface="Wingdings" panose="05000000000000000000" pitchFamily="2" charset="2"/>
              </a:rPr>
              <a:t> 실행된 적이 없거나 현재 메모리에 생성된 인스턴스가 없다면 인스턴스 </a:t>
            </a:r>
            <a:r>
              <a:rPr lang="ko-KR" altLang="en-US" dirty="0" smtClean="0">
                <a:solidFill>
                  <a:prstClr val="black"/>
                </a:solidFill>
                <a:sym typeface="Wingdings" panose="05000000000000000000" pitchFamily="2" charset="2"/>
              </a:rPr>
              <a:t>생성</a:t>
            </a:r>
            <a:r>
              <a:rPr lang="en-US" altLang="ko-KR" dirty="0" smtClean="0">
                <a:solidFill>
                  <a:prstClr val="black"/>
                </a:solidFill>
                <a:sym typeface="Wingdings" panose="05000000000000000000" pitchFamily="2" charset="2"/>
              </a:rPr>
              <a:t> </a:t>
            </a:r>
            <a:r>
              <a:rPr lang="en-US" altLang="ko-KR" dirty="0" err="1" smtClean="0">
                <a:solidFill>
                  <a:prstClr val="black"/>
                </a:solidFill>
                <a:sym typeface="Wingdings" panose="05000000000000000000" pitchFamily="2" charset="2"/>
              </a:rPr>
              <a:t>init</a:t>
            </a:r>
            <a:r>
              <a:rPr lang="ko-KR" altLang="en-US" dirty="0" smtClean="0">
                <a:solidFill>
                  <a:prstClr val="black"/>
                </a:solidFill>
                <a:sym typeface="Wingdings" panose="05000000000000000000" pitchFamily="2" charset="2"/>
              </a:rPr>
              <a:t>메서드로 초기화 </a:t>
            </a:r>
            <a:r>
              <a:rPr lang="en-US" altLang="ko-KR" dirty="0" smtClean="0">
                <a:solidFill>
                  <a:prstClr val="black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olidFill>
                  <a:prstClr val="black"/>
                </a:solidFill>
                <a:sym typeface="Wingdings" panose="05000000000000000000" pitchFamily="2" charset="2"/>
              </a:rPr>
              <a:t>스레드 생성</a:t>
            </a:r>
            <a:endParaRPr lang="en-US" altLang="ko-KR" dirty="0" smtClean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lvl="1"/>
            <a:r>
              <a:rPr lang="ko-KR" altLang="en-US" sz="1800" dirty="0" err="1">
                <a:solidFill>
                  <a:prstClr val="black"/>
                </a:solidFill>
                <a:sym typeface="Wingdings" panose="05000000000000000000" pitchFamily="2" charset="2"/>
              </a:rPr>
              <a:t>서블릿이</a:t>
            </a:r>
            <a:r>
              <a:rPr lang="ko-KR" altLang="en-US" sz="1800" dirty="0">
                <a:solidFill>
                  <a:prstClr val="black"/>
                </a:solidFill>
                <a:sym typeface="Wingdings" panose="05000000000000000000" pitchFamily="2" charset="2"/>
              </a:rPr>
              <a:t> 한번 </a:t>
            </a:r>
            <a:r>
              <a:rPr lang="ko-KR" altLang="en-US" sz="1800" dirty="0" err="1">
                <a:solidFill>
                  <a:prstClr val="black"/>
                </a:solidFill>
                <a:sym typeface="Wingdings" panose="05000000000000000000" pitchFamily="2" charset="2"/>
              </a:rPr>
              <a:t>초기화되면</a:t>
            </a:r>
            <a:r>
              <a:rPr lang="ko-KR" altLang="en-US" sz="1800" dirty="0">
                <a:solidFill>
                  <a:prstClr val="black"/>
                </a:solidFill>
                <a:sym typeface="Wingdings" panose="05000000000000000000" pitchFamily="2" charset="2"/>
              </a:rPr>
              <a:t> 다음 </a:t>
            </a:r>
            <a:r>
              <a:rPr lang="ko-KR" altLang="en-US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호출에서 초기화하지 </a:t>
            </a:r>
            <a:r>
              <a:rPr lang="ko-KR" altLang="en-US" sz="1800" dirty="0">
                <a:solidFill>
                  <a:prstClr val="black"/>
                </a:solidFill>
                <a:sym typeface="Wingdings" panose="05000000000000000000" pitchFamily="2" charset="2"/>
              </a:rPr>
              <a:t>않음</a:t>
            </a:r>
          </a:p>
          <a:p>
            <a:pPr lvl="1"/>
            <a:endParaRPr lang="en-US" altLang="ko-KR" sz="1800" dirty="0" smtClean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lvl="1"/>
            <a:endParaRPr lang="en-US" altLang="ko-KR" sz="1800" dirty="0"/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3</a:t>
            </a:fld>
            <a:endParaRPr lang="en-US"/>
          </a:p>
        </p:txBody>
      </p:sp>
      <p:sp>
        <p:nvSpPr>
          <p:cNvPr id="45" name="직사각형 44"/>
          <p:cNvSpPr/>
          <p:nvPr/>
        </p:nvSpPr>
        <p:spPr>
          <a:xfrm>
            <a:off x="1621108" y="4530796"/>
            <a:ext cx="1512168" cy="5040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tx1"/>
                </a:solidFill>
              </a:rPr>
              <a:t>서블릿</a:t>
            </a:r>
            <a:r>
              <a:rPr lang="ko-KR" altLang="en-US" sz="1600" dirty="0" smtClean="0">
                <a:solidFill>
                  <a:schemeClr val="tx1"/>
                </a:solidFill>
              </a:rPr>
              <a:t> 클래스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332901" y="4530796"/>
            <a:ext cx="1512168" cy="5040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tx1"/>
                </a:solidFill>
              </a:rPr>
              <a:t>서블릿</a:t>
            </a:r>
            <a:r>
              <a:rPr lang="ko-KR" altLang="en-US" sz="1600" dirty="0" smtClean="0">
                <a:solidFill>
                  <a:schemeClr val="tx1"/>
                </a:solidFill>
              </a:rPr>
              <a:t> 객체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7237732" y="4530796"/>
            <a:ext cx="1512168" cy="5040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tx1"/>
                </a:solidFill>
              </a:rPr>
              <a:t>서블릿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67" name="직선 화살표 연결선 66"/>
          <p:cNvCxnSpPr>
            <a:endCxn id="48" idx="1"/>
          </p:cNvCxnSpPr>
          <p:nvPr/>
        </p:nvCxnSpPr>
        <p:spPr>
          <a:xfrm>
            <a:off x="3133276" y="4782824"/>
            <a:ext cx="1199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3176706" y="4298576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err="1" smtClean="0"/>
              <a:t>인스턴스화</a:t>
            </a:r>
            <a:endParaRPr lang="en-US" sz="1400" dirty="0"/>
          </a:p>
        </p:txBody>
      </p:sp>
      <p:cxnSp>
        <p:nvCxnSpPr>
          <p:cNvPr id="69" name="직선 화살표 연결선 68"/>
          <p:cNvCxnSpPr>
            <a:stCxn id="48" idx="3"/>
            <a:endCxn id="49" idx="1"/>
          </p:cNvCxnSpPr>
          <p:nvPr/>
        </p:nvCxnSpPr>
        <p:spPr>
          <a:xfrm>
            <a:off x="5845069" y="4782824"/>
            <a:ext cx="13926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6209799" y="4298575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/>
              <a:t>초기화</a:t>
            </a:r>
            <a:endParaRPr lang="en-US" sz="1400" dirty="0"/>
          </a:p>
        </p:txBody>
      </p:sp>
      <p:sp>
        <p:nvSpPr>
          <p:cNvPr id="80" name="직사각형 79"/>
          <p:cNvSpPr/>
          <p:nvPr/>
        </p:nvSpPr>
        <p:spPr>
          <a:xfrm>
            <a:off x="7237732" y="5631380"/>
            <a:ext cx="1512168" cy="5040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service()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81" name="직선 화살표 연결선 80"/>
          <p:cNvCxnSpPr>
            <a:stCxn id="49" idx="2"/>
            <a:endCxn id="80" idx="0"/>
          </p:cNvCxnSpPr>
          <p:nvPr/>
        </p:nvCxnSpPr>
        <p:spPr>
          <a:xfrm>
            <a:off x="7993816" y="5034852"/>
            <a:ext cx="0" cy="596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8026625" y="5143669"/>
            <a:ext cx="34404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/>
              <a:t>할당한 스레드에서 </a:t>
            </a:r>
            <a:r>
              <a:rPr lang="en-US" altLang="ko-KR" sz="1400" dirty="0" smtClean="0"/>
              <a:t>service()</a:t>
            </a:r>
            <a:r>
              <a:rPr lang="ko-KR" altLang="en-US" sz="1400" dirty="0" smtClean="0"/>
              <a:t>메서드가 호출</a:t>
            </a:r>
            <a:endParaRPr lang="en-US" sz="1400" dirty="0"/>
          </a:p>
        </p:txBody>
      </p:sp>
      <p:sp>
        <p:nvSpPr>
          <p:cNvPr id="83" name="직사각형 82"/>
          <p:cNvSpPr/>
          <p:nvPr/>
        </p:nvSpPr>
        <p:spPr>
          <a:xfrm>
            <a:off x="2252749" y="5438445"/>
            <a:ext cx="3635501" cy="892967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get</a:t>
            </a:r>
            <a:r>
              <a:rPr lang="ko-KR" altLang="en-US" sz="1600" dirty="0" smtClean="0">
                <a:solidFill>
                  <a:schemeClr val="tx1"/>
                </a:solidFill>
              </a:rPr>
              <a:t>요청 </a:t>
            </a:r>
            <a:r>
              <a:rPr lang="en-US" altLang="ko-KR" sz="16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sz="1600" dirty="0" err="1" smtClean="0">
                <a:solidFill>
                  <a:schemeClr val="tx1"/>
                </a:solidFill>
              </a:rPr>
              <a:t>doGet</a:t>
            </a:r>
            <a:r>
              <a:rPr lang="en-US" sz="1600" dirty="0" smtClean="0">
                <a:solidFill>
                  <a:schemeClr val="tx1"/>
                </a:solidFill>
              </a:rPr>
              <a:t>() </a:t>
            </a:r>
            <a:r>
              <a:rPr lang="ko-KR" altLang="en-US" sz="1600" dirty="0">
                <a:solidFill>
                  <a:schemeClr val="tx1"/>
                </a:solidFill>
              </a:rPr>
              <a:t>자동 호출</a:t>
            </a:r>
            <a:endParaRPr lang="en-US" sz="1600" dirty="0" smtClean="0">
              <a:solidFill>
                <a:schemeClr val="tx1"/>
              </a:solidFill>
            </a:endParaRPr>
          </a:p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post</a:t>
            </a:r>
            <a:r>
              <a:rPr lang="ko-KR" altLang="en-US" sz="1600" dirty="0" smtClean="0">
                <a:solidFill>
                  <a:schemeClr val="tx1"/>
                </a:solidFill>
              </a:rPr>
              <a:t>요청 </a:t>
            </a:r>
            <a:r>
              <a:rPr lang="en-US" altLang="ko-KR" sz="16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sz="1600" dirty="0" err="1" smtClean="0">
                <a:solidFill>
                  <a:schemeClr val="tx1"/>
                </a:solidFill>
              </a:rPr>
              <a:t>doPost</a:t>
            </a:r>
            <a:r>
              <a:rPr lang="en-US" sz="1600" dirty="0" smtClean="0">
                <a:solidFill>
                  <a:schemeClr val="tx1"/>
                </a:solidFill>
              </a:rPr>
              <a:t>() </a:t>
            </a:r>
            <a:r>
              <a:rPr lang="ko-KR" altLang="en-US" sz="1600" dirty="0">
                <a:solidFill>
                  <a:schemeClr val="tx1"/>
                </a:solidFill>
              </a:rPr>
              <a:t>자동 </a:t>
            </a:r>
            <a:r>
              <a:rPr lang="ko-KR" altLang="en-US" sz="1600" dirty="0" smtClean="0">
                <a:solidFill>
                  <a:schemeClr val="tx1"/>
                </a:solidFill>
              </a:rPr>
              <a:t>호출</a:t>
            </a:r>
            <a:endParaRPr lang="en-US" sz="1600" dirty="0" smtClean="0">
              <a:solidFill>
                <a:schemeClr val="tx1"/>
              </a:solidFill>
            </a:endParaRPr>
          </a:p>
        </p:txBody>
      </p:sp>
      <p:cxnSp>
        <p:nvCxnSpPr>
          <p:cNvPr id="84" name="직선 화살표 연결선 83"/>
          <p:cNvCxnSpPr>
            <a:stCxn id="80" idx="1"/>
            <a:endCxn id="83" idx="3"/>
          </p:cNvCxnSpPr>
          <p:nvPr/>
        </p:nvCxnSpPr>
        <p:spPr>
          <a:xfrm flipH="1">
            <a:off x="5888250" y="5883408"/>
            <a:ext cx="1349482" cy="1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31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err="1">
                <a:solidFill>
                  <a:prstClr val="black"/>
                </a:solidFill>
              </a:rPr>
              <a:t>서블릿의</a:t>
            </a:r>
            <a:r>
              <a:rPr lang="ko-KR" altLang="en-US" sz="2800" dirty="0">
                <a:solidFill>
                  <a:prstClr val="black"/>
                </a:solidFill>
              </a:rPr>
              <a:t> 핵심 메서드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err="1">
                <a:solidFill>
                  <a:prstClr val="black"/>
                </a:solidFill>
              </a:rPr>
              <a:t>서블릿의</a:t>
            </a:r>
            <a:r>
              <a:rPr lang="ko-KR" altLang="en-US" sz="2200" b="1" dirty="0">
                <a:solidFill>
                  <a:prstClr val="black"/>
                </a:solidFill>
              </a:rPr>
              <a:t> 핵심 메서드</a:t>
            </a: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4</a:t>
            </a:fld>
            <a:endParaRPr lang="en-US"/>
          </a:p>
        </p:txBody>
      </p:sp>
      <p:sp>
        <p:nvSpPr>
          <p:cNvPr id="25" name="직사각형 24"/>
          <p:cNvSpPr/>
          <p:nvPr/>
        </p:nvSpPr>
        <p:spPr>
          <a:xfrm>
            <a:off x="1565158" y="1800031"/>
            <a:ext cx="2016224" cy="64807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Servlet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596507" y="1834366"/>
            <a:ext cx="2016224" cy="64807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GenericServlet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596507" y="3203427"/>
            <a:ext cx="2016224" cy="64807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000FF"/>
                </a:solidFill>
              </a:rPr>
              <a:t>HttpServlet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29082" y="1424163"/>
            <a:ext cx="1088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interface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684739" y="1969090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abstract class</a:t>
            </a:r>
            <a:endParaRPr lang="en-US" dirty="0"/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3889197" y="2124067"/>
            <a:ext cx="13672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249657" y="171979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구현</a:t>
            </a:r>
            <a:endParaRPr 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4878168" y="4644768"/>
            <a:ext cx="3451185" cy="96929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우리가 작성한 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클래스에서 필요한 부분 재정의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HttpServlet</a:t>
            </a:r>
            <a:r>
              <a:rPr lang="ko-KR" altLang="en-US" sz="1600" dirty="0">
                <a:solidFill>
                  <a:schemeClr val="tx1"/>
                </a:solidFill>
              </a:rPr>
              <a:t>의 </a:t>
            </a:r>
            <a:r>
              <a:rPr lang="en-US" altLang="ko-KR" sz="1600" dirty="0">
                <a:solidFill>
                  <a:schemeClr val="tx1"/>
                </a:solidFill>
              </a:rPr>
              <a:t>subclass</a:t>
            </a:r>
            <a:r>
              <a:rPr lang="en-US" sz="1600" dirty="0" smtClean="0">
                <a:solidFill>
                  <a:schemeClr val="tx1"/>
                </a:solidFill>
              </a:rPr>
              <a:t>)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/>
          <p:cNvCxnSpPr>
            <a:stCxn id="26" idx="2"/>
            <a:endCxn id="27" idx="0"/>
          </p:cNvCxnSpPr>
          <p:nvPr/>
        </p:nvCxnSpPr>
        <p:spPr>
          <a:xfrm>
            <a:off x="6604619" y="2482438"/>
            <a:ext cx="0" cy="720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27" idx="2"/>
            <a:endCxn id="32" idx="0"/>
          </p:cNvCxnSpPr>
          <p:nvPr/>
        </p:nvCxnSpPr>
        <p:spPr>
          <a:xfrm flipH="1">
            <a:off x="6603761" y="3851499"/>
            <a:ext cx="858" cy="793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44648" y="2600466"/>
            <a:ext cx="42278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Servlet</a:t>
            </a:r>
            <a:r>
              <a:rPr lang="ko-KR" altLang="en-US" dirty="0" smtClean="0"/>
              <a:t> </a:t>
            </a:r>
            <a:r>
              <a:rPr lang="en-US" altLang="ko-KR" dirty="0" smtClean="0"/>
              <a:t>interface</a:t>
            </a:r>
            <a:r>
              <a:rPr lang="ko-KR" altLang="en-US" dirty="0" smtClean="0"/>
              <a:t>를 구현해야 하지만</a:t>
            </a:r>
            <a:endParaRPr lang="en-US" altLang="ko-KR" dirty="0" smtClean="0"/>
          </a:p>
          <a:p>
            <a:r>
              <a:rPr lang="ko-KR" altLang="en-US" dirty="0" smtClean="0"/>
              <a:t>이는 복잡하기 때문에 </a:t>
            </a:r>
            <a:r>
              <a:rPr lang="ko-KR" altLang="en-US" dirty="0" smtClean="0">
                <a:solidFill>
                  <a:srgbClr val="0000FF"/>
                </a:solidFill>
              </a:rPr>
              <a:t>우리는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en-US" dirty="0" err="1" smtClean="0">
                <a:solidFill>
                  <a:srgbClr val="0000FF"/>
                </a:solidFill>
              </a:rPr>
              <a:t>HttpServlet</a:t>
            </a:r>
            <a:r>
              <a:rPr lang="ko-KR" altLang="en-US" dirty="0" smtClean="0">
                <a:solidFill>
                  <a:srgbClr val="0000FF"/>
                </a:solidFill>
              </a:rPr>
              <a:t>을 상속 받아서 구현하면 됨</a:t>
            </a:r>
            <a:endParaRPr lang="en-US" dirty="0" smtClean="0">
              <a:solidFill>
                <a:srgbClr val="0000F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84740" y="3339130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abstract class</a:t>
            </a:r>
            <a:endParaRPr 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8739644" y="4248133"/>
            <a:ext cx="2681677" cy="1477328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doGet</a:t>
            </a:r>
            <a:r>
              <a:rPr lang="en-US" dirty="0" smtClean="0">
                <a:solidFill>
                  <a:schemeClr val="tx1"/>
                </a:solidFill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doPost</a:t>
            </a:r>
            <a:r>
              <a:rPr lang="en-US" dirty="0" smtClean="0">
                <a:solidFill>
                  <a:schemeClr val="tx1"/>
                </a:solidFill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doPut</a:t>
            </a:r>
            <a:r>
              <a:rPr lang="en-US" dirty="0" smtClean="0">
                <a:solidFill>
                  <a:schemeClr val="tx1"/>
                </a:solidFill>
              </a:rPr>
              <a:t>()</a:t>
            </a: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doDelete</a:t>
            </a:r>
            <a:r>
              <a:rPr lang="en-US" dirty="0" smtClean="0">
                <a:solidFill>
                  <a:schemeClr val="tx1"/>
                </a:solidFill>
              </a:rPr>
              <a:t>()</a:t>
            </a: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init</a:t>
            </a:r>
            <a:r>
              <a:rPr lang="en-US" dirty="0" smtClean="0">
                <a:solidFill>
                  <a:schemeClr val="tx1"/>
                </a:solidFill>
              </a:rPr>
              <a:t>() and destroy()</a:t>
            </a:r>
            <a:endParaRPr lang="en-US" dirty="0">
              <a:solidFill>
                <a:schemeClr val="tx1"/>
              </a:solidFill>
              <a:effectLst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530551" y="6093248"/>
            <a:ext cx="41321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REST API Method(GET</a:t>
            </a:r>
            <a:r>
              <a:rPr lang="en-US" dirty="0"/>
              <a:t>, POST, PUT, DELETE)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308192" y="5810088"/>
            <a:ext cx="36728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must override at least one method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19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err="1">
                <a:solidFill>
                  <a:prstClr val="black"/>
                </a:solidFill>
              </a:rPr>
              <a:t>서블릿의</a:t>
            </a:r>
            <a:r>
              <a:rPr lang="ko-KR" altLang="en-US" sz="2800" dirty="0">
                <a:solidFill>
                  <a:prstClr val="black"/>
                </a:solidFill>
              </a:rPr>
              <a:t> 핵심 메서드</a:t>
            </a:r>
            <a:endParaRPr lang="en-US" altLang="ko-KR" sz="2800" dirty="0">
              <a:solidFill>
                <a:prstClr val="black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err="1">
                <a:solidFill>
                  <a:prstClr val="black"/>
                </a:solidFill>
              </a:rPr>
              <a:t>서블릿의</a:t>
            </a:r>
            <a:r>
              <a:rPr lang="ko-KR" altLang="en-US" sz="2200" b="1" dirty="0">
                <a:solidFill>
                  <a:prstClr val="black"/>
                </a:solidFill>
              </a:rPr>
              <a:t> 핵심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메서드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dirty="0" err="1"/>
              <a:t>init</a:t>
            </a:r>
            <a:r>
              <a:rPr lang="en-US" altLang="ko-KR" dirty="0"/>
              <a:t>() </a:t>
            </a:r>
            <a:r>
              <a:rPr lang="ko-KR" altLang="en-US" dirty="0"/>
              <a:t>호출</a:t>
            </a:r>
          </a:p>
          <a:p>
            <a:pPr lvl="2"/>
            <a:r>
              <a:rPr lang="ko-KR" altLang="en-US" dirty="0" smtClean="0"/>
              <a:t>클라이언트가 </a:t>
            </a:r>
            <a:r>
              <a:rPr lang="ko-KR" altLang="en-US" dirty="0" err="1" smtClean="0">
                <a:solidFill>
                  <a:srgbClr val="0000FF"/>
                </a:solidFill>
              </a:rPr>
              <a:t>서블릿을</a:t>
            </a:r>
            <a:r>
              <a:rPr lang="ko-KR" altLang="en-US" dirty="0" smtClean="0">
                <a:solidFill>
                  <a:srgbClr val="0000FF"/>
                </a:solidFill>
              </a:rPr>
              <a:t> 요청하는 순간 초기화</a:t>
            </a:r>
            <a:r>
              <a:rPr lang="ko-KR" altLang="en-US" dirty="0" smtClean="0"/>
              <a:t>가 진행됨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컨테이너가 </a:t>
            </a:r>
            <a:r>
              <a:rPr lang="ko-KR" altLang="en-US" dirty="0" err="1"/>
              <a:t>서블릿</a:t>
            </a:r>
            <a:r>
              <a:rPr lang="ko-KR" altLang="en-US" dirty="0"/>
              <a:t> 객체를 생성한 다음에 </a:t>
            </a:r>
            <a:r>
              <a:rPr lang="ko-KR" altLang="en-US" dirty="0" smtClean="0"/>
              <a:t>호출함</a:t>
            </a:r>
            <a:r>
              <a:rPr lang="en-US" altLang="ko-KR" dirty="0" smtClean="0"/>
              <a:t>( service</a:t>
            </a:r>
            <a:r>
              <a:rPr lang="en-US" altLang="ko-KR" dirty="0"/>
              <a:t>() </a:t>
            </a:r>
            <a:r>
              <a:rPr lang="ko-KR" altLang="en-US" dirty="0"/>
              <a:t>이전에 </a:t>
            </a:r>
            <a:r>
              <a:rPr lang="ko-KR" altLang="en-US" dirty="0" smtClean="0"/>
              <a:t>실행 </a:t>
            </a:r>
            <a:r>
              <a:rPr lang="en-US" altLang="ko-KR" dirty="0" smtClean="0"/>
              <a:t>)</a:t>
            </a:r>
            <a:endParaRPr lang="ko-KR" altLang="en-US" dirty="0"/>
          </a:p>
          <a:p>
            <a:pPr lvl="2"/>
            <a:r>
              <a:rPr lang="ko-KR" altLang="en-US" dirty="0" err="1"/>
              <a:t>서블릿</a:t>
            </a:r>
            <a:r>
              <a:rPr lang="ko-KR" altLang="en-US" dirty="0"/>
              <a:t> 객체를 초기화</a:t>
            </a:r>
          </a:p>
          <a:p>
            <a:pPr lvl="2"/>
            <a:r>
              <a:rPr lang="ko-KR" altLang="en-US" dirty="0"/>
              <a:t>초기화할 내용</a:t>
            </a:r>
            <a:r>
              <a:rPr lang="en-US" altLang="ko-KR" dirty="0"/>
              <a:t>(DB </a:t>
            </a:r>
            <a:r>
              <a:rPr lang="ko-KR" altLang="en-US" dirty="0"/>
              <a:t>접속 등</a:t>
            </a:r>
            <a:r>
              <a:rPr lang="en-US" altLang="ko-KR" dirty="0"/>
              <a:t>)</a:t>
            </a:r>
            <a:r>
              <a:rPr lang="ko-KR" altLang="en-US" dirty="0"/>
              <a:t>이 있는 경우 재정의</a:t>
            </a:r>
            <a:endParaRPr lang="en-US" altLang="ko-KR" dirty="0"/>
          </a:p>
          <a:p>
            <a:pPr lvl="1"/>
            <a:r>
              <a:rPr lang="en-US" altLang="ko-KR" dirty="0"/>
              <a:t>destroy() </a:t>
            </a:r>
            <a:r>
              <a:rPr lang="ko-KR" altLang="en-US" dirty="0"/>
              <a:t>호출</a:t>
            </a:r>
          </a:p>
          <a:p>
            <a:pPr lvl="2"/>
            <a:r>
              <a:rPr lang="ko-KR" altLang="en-US" dirty="0"/>
              <a:t>컨테이너에서 </a:t>
            </a:r>
            <a:r>
              <a:rPr lang="ko-KR" altLang="en-US" dirty="0" err="1"/>
              <a:t>서블릿</a:t>
            </a:r>
            <a:r>
              <a:rPr lang="ko-KR" altLang="en-US" dirty="0"/>
              <a:t> 객체를 제거할 때에 </a:t>
            </a:r>
            <a:r>
              <a:rPr lang="ko-KR" altLang="en-US" dirty="0" smtClean="0"/>
              <a:t>호출</a:t>
            </a:r>
            <a:endParaRPr lang="en-US" altLang="ko-KR" dirty="0"/>
          </a:p>
          <a:p>
            <a:pPr lvl="2"/>
            <a:r>
              <a:rPr lang="en-US" altLang="ko-KR" dirty="0" smtClean="0"/>
              <a:t>WAS</a:t>
            </a:r>
            <a:r>
              <a:rPr lang="ko-KR" altLang="en-US" dirty="0"/>
              <a:t>가 </a:t>
            </a:r>
            <a:r>
              <a:rPr lang="ko-KR" altLang="en-US" dirty="0" smtClean="0"/>
              <a:t>종료되거나 메모리가 부족하거나 오랜 시간 요청이 없을 경우</a:t>
            </a:r>
            <a:endParaRPr lang="en-US" altLang="ko-KR" dirty="0"/>
          </a:p>
          <a:p>
            <a:pPr lvl="2"/>
            <a:r>
              <a:rPr lang="ko-KR" altLang="en-US" dirty="0" err="1"/>
              <a:t>서블릿</a:t>
            </a:r>
            <a:r>
              <a:rPr lang="ko-KR" altLang="en-US" dirty="0"/>
              <a:t> 객체 초기화 및 실행 도중에 할당한 자원을 제거</a:t>
            </a:r>
          </a:p>
          <a:p>
            <a:pPr lvl="2"/>
            <a:r>
              <a:rPr lang="en-US" altLang="ko-KR" dirty="0" err="1"/>
              <a:t>init</a:t>
            </a:r>
            <a:r>
              <a:rPr lang="en-US" altLang="ko-KR" dirty="0"/>
              <a:t>() </a:t>
            </a:r>
            <a:r>
              <a:rPr lang="ko-KR" altLang="en-US" dirty="0" err="1"/>
              <a:t>메소드를</a:t>
            </a:r>
            <a:r>
              <a:rPr lang="ko-KR" altLang="en-US" dirty="0"/>
              <a:t> 재정의하였거나 제거할 자원이 있는 경우 재정의</a:t>
            </a: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06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err="1">
                <a:solidFill>
                  <a:prstClr val="black"/>
                </a:solidFill>
              </a:rPr>
              <a:t>서블릿의</a:t>
            </a:r>
            <a:r>
              <a:rPr lang="ko-KR" altLang="en-US" sz="2800" dirty="0">
                <a:solidFill>
                  <a:prstClr val="black"/>
                </a:solidFill>
              </a:rPr>
              <a:t> 핵심 메서드</a:t>
            </a:r>
            <a:endParaRPr lang="en-US" altLang="ko-KR" sz="2800" dirty="0">
              <a:solidFill>
                <a:prstClr val="black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err="1">
                <a:solidFill>
                  <a:prstClr val="black"/>
                </a:solidFill>
              </a:rPr>
              <a:t>서블릿의</a:t>
            </a:r>
            <a:r>
              <a:rPr lang="ko-KR" altLang="en-US" sz="2200" b="1" dirty="0">
                <a:solidFill>
                  <a:prstClr val="black"/>
                </a:solidFill>
              </a:rPr>
              <a:t> 핵심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메서드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dirty="0" err="1"/>
              <a:t>doGet</a:t>
            </a:r>
            <a:r>
              <a:rPr lang="en-US" altLang="ko-KR" dirty="0"/>
              <a:t>() / </a:t>
            </a:r>
            <a:r>
              <a:rPr lang="en-US" altLang="ko-KR" dirty="0" err="1"/>
              <a:t>doPost</a:t>
            </a:r>
            <a:r>
              <a:rPr lang="en-US" altLang="ko-KR" dirty="0"/>
              <a:t> </a:t>
            </a:r>
            <a:r>
              <a:rPr lang="ko-KR" altLang="en-US" dirty="0"/>
              <a:t>호출</a:t>
            </a:r>
          </a:p>
          <a:p>
            <a:pPr lvl="2"/>
            <a:r>
              <a:rPr lang="en-US" altLang="ko-KR" dirty="0"/>
              <a:t>service() </a:t>
            </a:r>
            <a:r>
              <a:rPr lang="ko-KR" altLang="en-US" dirty="0" err="1"/>
              <a:t>메소드에서</a:t>
            </a:r>
            <a:r>
              <a:rPr lang="ko-KR" altLang="en-US" dirty="0"/>
              <a:t> </a:t>
            </a:r>
            <a:r>
              <a:rPr lang="en-US" altLang="ko-KR" dirty="0"/>
              <a:t>HTTP </a:t>
            </a:r>
            <a:r>
              <a:rPr lang="ko-KR" altLang="en-US" dirty="0" err="1"/>
              <a:t>메소드</a:t>
            </a:r>
            <a:r>
              <a:rPr lang="en-US" altLang="ko-KR" dirty="0"/>
              <a:t>(GET, POST)</a:t>
            </a:r>
            <a:r>
              <a:rPr lang="ko-KR" altLang="en-US" dirty="0"/>
              <a:t>를 참조하여 </a:t>
            </a:r>
            <a:r>
              <a:rPr lang="ko-KR" altLang="en-US" dirty="0" smtClean="0"/>
              <a:t>호출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단</a:t>
            </a:r>
            <a:r>
              <a:rPr lang="en-US" altLang="ko-KR" dirty="0" smtClean="0"/>
              <a:t>, </a:t>
            </a:r>
            <a:r>
              <a:rPr lang="en-US" altLang="ko-KR" dirty="0"/>
              <a:t>service() </a:t>
            </a:r>
            <a:r>
              <a:rPr lang="ko-KR" altLang="en-US" dirty="0" err="1" smtClean="0"/>
              <a:t>메소드를</a:t>
            </a:r>
            <a:r>
              <a:rPr lang="ko-KR" altLang="en-US" dirty="0" smtClean="0"/>
              <a:t> 재정의했다면 명시적으로 </a:t>
            </a:r>
            <a:r>
              <a:rPr lang="en-US" altLang="ko-KR" dirty="0" err="1" smtClean="0"/>
              <a:t>doGet</a:t>
            </a:r>
            <a:r>
              <a:rPr lang="ko-KR" altLang="en-US" dirty="0" smtClean="0"/>
              <a:t>혹은 </a:t>
            </a:r>
            <a:r>
              <a:rPr lang="en-US" altLang="ko-KR" dirty="0" err="1" smtClean="0"/>
              <a:t>doPost</a:t>
            </a:r>
            <a:r>
              <a:rPr lang="ko-KR" altLang="en-US" dirty="0" smtClean="0"/>
              <a:t>메서드를 호출해야 함 </a:t>
            </a:r>
            <a:endParaRPr lang="ko-KR" altLang="en-US" dirty="0"/>
          </a:p>
          <a:p>
            <a:pPr lvl="2"/>
            <a:r>
              <a:rPr lang="ko-KR" altLang="en-US" dirty="0"/>
              <a:t>비즈니스 </a:t>
            </a:r>
            <a:r>
              <a:rPr lang="ko-KR" altLang="en-US" dirty="0" err="1"/>
              <a:t>로직을</a:t>
            </a:r>
            <a:r>
              <a:rPr lang="ko-KR" altLang="en-US" dirty="0"/>
              <a:t> 구현 또는 호출</a:t>
            </a:r>
          </a:p>
          <a:p>
            <a:pPr lvl="2"/>
            <a:r>
              <a:rPr lang="ko-KR" altLang="en-US" dirty="0">
                <a:solidFill>
                  <a:srgbClr val="0000FF"/>
                </a:solidFill>
              </a:rPr>
              <a:t>두 </a:t>
            </a:r>
            <a:r>
              <a:rPr lang="ko-KR" altLang="en-US" dirty="0" err="1">
                <a:solidFill>
                  <a:srgbClr val="0000FF"/>
                </a:solidFill>
              </a:rPr>
              <a:t>메소드</a:t>
            </a:r>
            <a:r>
              <a:rPr lang="ko-KR" altLang="en-US" dirty="0">
                <a:solidFill>
                  <a:srgbClr val="0000FF"/>
                </a:solidFill>
              </a:rPr>
              <a:t> 중 하나는 반드시 재정의하여 </a:t>
            </a:r>
            <a:r>
              <a:rPr lang="ko-KR" altLang="en-US" dirty="0" smtClean="0">
                <a:solidFill>
                  <a:srgbClr val="0000FF"/>
                </a:solidFill>
              </a:rPr>
              <a:t>구현</a:t>
            </a:r>
            <a:r>
              <a:rPr lang="ko-KR" altLang="en-US" dirty="0" smtClean="0"/>
              <a:t>해야</a:t>
            </a:r>
            <a:r>
              <a:rPr lang="en-US" altLang="ko-KR" dirty="0"/>
              <a:t> </a:t>
            </a:r>
            <a:r>
              <a:rPr lang="ko-KR" altLang="en-US" dirty="0"/>
              <a:t>함</a:t>
            </a:r>
            <a:endParaRPr lang="en-US" altLang="ko-KR" dirty="0"/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6</a:t>
            </a:fld>
            <a:endParaRPr lang="en-US"/>
          </a:p>
        </p:txBody>
      </p:sp>
      <p:sp>
        <p:nvSpPr>
          <p:cNvPr id="4" name="직사각형 3"/>
          <p:cNvSpPr/>
          <p:nvPr/>
        </p:nvSpPr>
        <p:spPr>
          <a:xfrm>
            <a:off x="2128059" y="4779818"/>
            <a:ext cx="1895302" cy="764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service()</a:t>
            </a:r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957156" y="4100945"/>
            <a:ext cx="1895302" cy="764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doGet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957156" y="5544589"/>
            <a:ext cx="1895302" cy="764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doPost</a:t>
            </a:r>
            <a:r>
              <a:rPr lang="en-US" dirty="0" smtClean="0"/>
              <a:t>()</a:t>
            </a:r>
            <a:endParaRPr lang="en-US" dirty="0"/>
          </a:p>
        </p:txBody>
      </p:sp>
      <p:cxnSp>
        <p:nvCxnSpPr>
          <p:cNvPr id="9" name="직선 화살표 연결선 8"/>
          <p:cNvCxnSpPr>
            <a:endCxn id="4" idx="1"/>
          </p:cNvCxnSpPr>
          <p:nvPr/>
        </p:nvCxnSpPr>
        <p:spPr>
          <a:xfrm>
            <a:off x="748145" y="5162203"/>
            <a:ext cx="13799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6140" y="47293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요청</a:t>
            </a:r>
            <a:endParaRPr lang="en-US" dirty="0"/>
          </a:p>
        </p:txBody>
      </p:sp>
      <p:cxnSp>
        <p:nvCxnSpPr>
          <p:cNvPr id="12" name="직선 화살표 연결선 11"/>
          <p:cNvCxnSpPr>
            <a:endCxn id="6" idx="1"/>
          </p:cNvCxnSpPr>
          <p:nvPr/>
        </p:nvCxnSpPr>
        <p:spPr>
          <a:xfrm flipV="1">
            <a:off x="4039985" y="4483331"/>
            <a:ext cx="917171" cy="61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4" idx="3"/>
            <a:endCxn id="7" idx="1"/>
          </p:cNvCxnSpPr>
          <p:nvPr/>
        </p:nvCxnSpPr>
        <p:spPr>
          <a:xfrm>
            <a:off x="4023361" y="5162204"/>
            <a:ext cx="933795" cy="764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59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89503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4400" dirty="0" err="1" smtClean="0"/>
              <a:t>요청처리</a:t>
            </a:r>
            <a:endParaRPr lang="ko-KR" altLang="en-US" sz="4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8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err="1"/>
              <a:t>HttpServletRequest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err="1" smtClean="0">
                <a:solidFill>
                  <a:prstClr val="black"/>
                </a:solidFill>
              </a:rPr>
              <a:t>HttpServletRequest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/>
              <a:t>요청 유형</a:t>
            </a:r>
            <a:r>
              <a:rPr lang="en-US" altLang="ko-KR" dirty="0"/>
              <a:t>, </a:t>
            </a:r>
            <a:r>
              <a:rPr lang="ko-KR" altLang="en-US" dirty="0"/>
              <a:t>쿠키</a:t>
            </a:r>
            <a:r>
              <a:rPr lang="en-US" altLang="ko-KR" dirty="0"/>
              <a:t>, </a:t>
            </a:r>
            <a:r>
              <a:rPr lang="ko-KR" altLang="en-US" dirty="0"/>
              <a:t>세션 등 </a:t>
            </a:r>
            <a:r>
              <a:rPr lang="en-US" altLang="ko-KR" dirty="0"/>
              <a:t>HTTP </a:t>
            </a:r>
            <a:r>
              <a:rPr lang="ko-KR" altLang="en-US" dirty="0"/>
              <a:t>요청에 대한 인터페이스를 추상화한 것으로 </a:t>
            </a:r>
            <a:r>
              <a:rPr lang="en-US" altLang="ko-KR" dirty="0">
                <a:solidFill>
                  <a:srgbClr val="0000FF"/>
                </a:solidFill>
              </a:rPr>
              <a:t>HTTP </a:t>
            </a:r>
            <a:r>
              <a:rPr lang="ko-KR" altLang="en-US" dirty="0">
                <a:solidFill>
                  <a:srgbClr val="0000FF"/>
                </a:solidFill>
              </a:rPr>
              <a:t>요청 관련 </a:t>
            </a:r>
            <a:r>
              <a:rPr lang="ko-KR" altLang="en-US" dirty="0" err="1">
                <a:solidFill>
                  <a:srgbClr val="0000FF"/>
                </a:solidFill>
              </a:rPr>
              <a:t>메소드</a:t>
            </a:r>
            <a:r>
              <a:rPr lang="ko-KR" altLang="en-US" dirty="0">
                <a:solidFill>
                  <a:srgbClr val="0000FF"/>
                </a:solidFill>
              </a:rPr>
              <a:t> 포함</a:t>
            </a:r>
            <a:endParaRPr lang="en-US" altLang="ko-KR" dirty="0">
              <a:solidFill>
                <a:srgbClr val="0000FF"/>
              </a:solidFill>
            </a:endParaRPr>
          </a:p>
          <a:p>
            <a:pPr lvl="1"/>
            <a:r>
              <a:rPr lang="ko-KR" altLang="en-US" dirty="0" smtClean="0"/>
              <a:t>요청에 대한 모든 정보를 담고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요청의 형태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단순히 페이지만 열람</a:t>
            </a:r>
            <a:endParaRPr lang="en-US" altLang="ko-KR" dirty="0" smtClean="0"/>
          </a:p>
          <a:p>
            <a:pPr marL="1371600" lvl="3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en-US" altLang="ko-KR" dirty="0" smtClean="0"/>
              <a:t>http</a:t>
            </a:r>
            <a:r>
              <a:rPr lang="en-US" altLang="ko-KR" dirty="0"/>
              <a:t>://se.kumoh.ac.kr/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페이지 요청과 함께 데이터 전달</a:t>
            </a:r>
            <a:endParaRPr lang="en-US" altLang="ko-KR" dirty="0" smtClean="0"/>
          </a:p>
          <a:p>
            <a:pPr marL="1371600" lvl="3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en-US" altLang="ko-KR" dirty="0" smtClean="0"/>
              <a:t>http</a:t>
            </a:r>
            <a:r>
              <a:rPr lang="en-US" altLang="ko-KR" dirty="0"/>
              <a:t>://se.kumoh.ac.kr/freeboard/</a:t>
            </a:r>
            <a:r>
              <a:rPr lang="en-US" altLang="ko-KR" dirty="0">
                <a:solidFill>
                  <a:srgbClr val="0000FF"/>
                </a:solidFill>
              </a:rPr>
              <a:t>47358</a:t>
            </a:r>
            <a:endParaRPr lang="ko-KR" altLang="en-US" dirty="0">
              <a:solidFill>
                <a:srgbClr val="0000FF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1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8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AutoShape 10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424189" y="40475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AutoShape 14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412690" y="-27961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16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565090" y="-12721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내용 개체 틀 2"/>
          <p:cNvSpPr>
            <a:spLocks noGrp="1"/>
          </p:cNvSpPr>
          <p:nvPr>
            <p:ph idx="1"/>
          </p:nvPr>
        </p:nvSpPr>
        <p:spPr>
          <a:xfrm>
            <a:off x="424189" y="406112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과제 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1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에서 수행한 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register.html</a:t>
            </a:r>
            <a:endParaRPr lang="en-US" sz="1900" b="1" dirty="0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89" y="1203731"/>
            <a:ext cx="6757501" cy="545000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400175" y="2194560"/>
            <a:ext cx="1812175" cy="2826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직사각형 26"/>
          <p:cNvSpPr/>
          <p:nvPr/>
        </p:nvSpPr>
        <p:spPr>
          <a:xfrm>
            <a:off x="1552575" y="2575560"/>
            <a:ext cx="1812175" cy="2826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직사각형 27"/>
          <p:cNvSpPr/>
          <p:nvPr/>
        </p:nvSpPr>
        <p:spPr>
          <a:xfrm>
            <a:off x="1190625" y="3518535"/>
            <a:ext cx="1812175" cy="2826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직사각형 28"/>
          <p:cNvSpPr/>
          <p:nvPr/>
        </p:nvSpPr>
        <p:spPr>
          <a:xfrm>
            <a:off x="1268292" y="3925153"/>
            <a:ext cx="1237740" cy="2123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직사각형 29"/>
          <p:cNvSpPr/>
          <p:nvPr/>
        </p:nvSpPr>
        <p:spPr>
          <a:xfrm>
            <a:off x="1268292" y="4144228"/>
            <a:ext cx="1237740" cy="2123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직사각형 30"/>
          <p:cNvSpPr/>
          <p:nvPr/>
        </p:nvSpPr>
        <p:spPr>
          <a:xfrm>
            <a:off x="1504950" y="4506178"/>
            <a:ext cx="1812175" cy="2123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직사각형 31"/>
          <p:cNvSpPr/>
          <p:nvPr/>
        </p:nvSpPr>
        <p:spPr>
          <a:xfrm>
            <a:off x="1514475" y="4915753"/>
            <a:ext cx="1812175" cy="2123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직사각형 32"/>
          <p:cNvSpPr/>
          <p:nvPr/>
        </p:nvSpPr>
        <p:spPr>
          <a:xfrm>
            <a:off x="1017759" y="5514525"/>
            <a:ext cx="2653206" cy="5007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정육면체 5"/>
          <p:cNvSpPr/>
          <p:nvPr/>
        </p:nvSpPr>
        <p:spPr>
          <a:xfrm>
            <a:off x="8918439" y="2386705"/>
            <a:ext cx="2914650" cy="942975"/>
          </a:xfrm>
          <a:prstGeom prst="cub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err="1" smtClean="0">
                <a:solidFill>
                  <a:prstClr val="black"/>
                </a:solidFill>
              </a:rPr>
              <a:t>HttpServletRequest</a:t>
            </a:r>
            <a:r>
              <a:rPr lang="en-US" altLang="ko-KR" b="1" dirty="0" smtClean="0">
                <a:solidFill>
                  <a:prstClr val="black"/>
                </a:solidFill>
              </a:rPr>
              <a:t> </a:t>
            </a:r>
            <a:r>
              <a:rPr lang="ko-KR" altLang="en-US" b="1" dirty="0" smtClean="0">
                <a:solidFill>
                  <a:prstClr val="black"/>
                </a:solidFill>
              </a:rPr>
              <a:t>객체</a:t>
            </a:r>
            <a:endParaRPr lang="en-US" dirty="0"/>
          </a:p>
        </p:txBody>
      </p:sp>
      <p:cxnSp>
        <p:nvCxnSpPr>
          <p:cNvPr id="35" name="직선 화살표 연결선 34"/>
          <p:cNvCxnSpPr>
            <a:stCxn id="4" idx="3"/>
            <a:endCxn id="6" idx="2"/>
          </p:cNvCxnSpPr>
          <p:nvPr/>
        </p:nvCxnSpPr>
        <p:spPr>
          <a:xfrm>
            <a:off x="3212350" y="2335877"/>
            <a:ext cx="5706089" cy="6401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27" idx="3"/>
            <a:endCxn id="6" idx="2"/>
          </p:cNvCxnSpPr>
          <p:nvPr/>
        </p:nvCxnSpPr>
        <p:spPr>
          <a:xfrm>
            <a:off x="3364750" y="2716877"/>
            <a:ext cx="5553689" cy="2591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28" idx="3"/>
            <a:endCxn id="6" idx="2"/>
          </p:cNvCxnSpPr>
          <p:nvPr/>
        </p:nvCxnSpPr>
        <p:spPr>
          <a:xfrm flipV="1">
            <a:off x="3002800" y="2976064"/>
            <a:ext cx="5915639" cy="6837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29" idx="3"/>
            <a:endCxn id="6" idx="2"/>
          </p:cNvCxnSpPr>
          <p:nvPr/>
        </p:nvCxnSpPr>
        <p:spPr>
          <a:xfrm flipV="1">
            <a:off x="2506032" y="2976064"/>
            <a:ext cx="6412407" cy="10552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30" idx="3"/>
            <a:endCxn id="6" idx="2"/>
          </p:cNvCxnSpPr>
          <p:nvPr/>
        </p:nvCxnSpPr>
        <p:spPr>
          <a:xfrm flipV="1">
            <a:off x="2506032" y="2976064"/>
            <a:ext cx="6412407" cy="12743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>
            <a:stCxn id="31" idx="3"/>
            <a:endCxn id="6" idx="2"/>
          </p:cNvCxnSpPr>
          <p:nvPr/>
        </p:nvCxnSpPr>
        <p:spPr>
          <a:xfrm flipV="1">
            <a:off x="3317125" y="2976064"/>
            <a:ext cx="5601314" cy="16362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stCxn id="32" idx="3"/>
            <a:endCxn id="6" idx="2"/>
          </p:cNvCxnSpPr>
          <p:nvPr/>
        </p:nvCxnSpPr>
        <p:spPr>
          <a:xfrm flipV="1">
            <a:off x="3326650" y="2976064"/>
            <a:ext cx="5591789" cy="20458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stCxn id="33" idx="3"/>
            <a:endCxn id="6" idx="2"/>
          </p:cNvCxnSpPr>
          <p:nvPr/>
        </p:nvCxnSpPr>
        <p:spPr>
          <a:xfrm flipV="1">
            <a:off x="3670965" y="2976064"/>
            <a:ext cx="5247474" cy="2788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8391525" y="1847850"/>
            <a:ext cx="3581400" cy="1953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9734755" y="3841118"/>
            <a:ext cx="1282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servlet</a:t>
            </a:r>
            <a:r>
              <a:rPr lang="ko-KR" altLang="en-US" dirty="0" smtClean="0"/>
              <a:t>코드</a:t>
            </a:r>
            <a:endParaRPr 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763870" y="2525422"/>
            <a:ext cx="1479665" cy="23237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Parameter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{</a:t>
            </a:r>
            <a:r>
              <a:rPr lang="en-US" dirty="0">
                <a:solidFill>
                  <a:schemeClr val="tx1"/>
                </a:solidFill>
              </a:rPr>
              <a:t>name: value</a:t>
            </a:r>
            <a:r>
              <a:rPr lang="en-US" dirty="0" smtClean="0">
                <a:solidFill>
                  <a:schemeClr val="tx1"/>
                </a:solidFill>
              </a:rPr>
              <a:t>}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6056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err="1"/>
              <a:t>HttpServletRequest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사용자의 입력을 조회하는 </a:t>
            </a:r>
            <a:r>
              <a:rPr lang="en-US" altLang="ko-KR" sz="2200" b="1" dirty="0" err="1" smtClean="0">
                <a:solidFill>
                  <a:prstClr val="black"/>
                </a:solidFill>
              </a:rPr>
              <a:t>HttpServletRequest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메서드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10</a:t>
            </a:fld>
            <a:endParaRPr 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535680"/>
              </p:ext>
            </p:extLst>
          </p:nvPr>
        </p:nvGraphicFramePr>
        <p:xfrm>
          <a:off x="544152" y="1452789"/>
          <a:ext cx="11293829" cy="3484245"/>
        </p:xfrm>
        <a:graphic>
          <a:graphicData uri="http://schemas.openxmlformats.org/drawingml/2006/table">
            <a:tbl>
              <a:tblPr/>
              <a:tblGrid>
                <a:gridCol w="3483033">
                  <a:extLst>
                    <a:ext uri="{9D8B030D-6E8A-4147-A177-3AD203B41FA5}">
                      <a16:colId xmlns:a16="http://schemas.microsoft.com/office/drawing/2014/main" val="870524481"/>
                    </a:ext>
                  </a:extLst>
                </a:gridCol>
                <a:gridCol w="2332051">
                  <a:extLst>
                    <a:ext uri="{9D8B030D-6E8A-4147-A177-3AD203B41FA5}">
                      <a16:colId xmlns:a16="http://schemas.microsoft.com/office/drawing/2014/main" val="3239640898"/>
                    </a:ext>
                  </a:extLst>
                </a:gridCol>
                <a:gridCol w="5478745">
                  <a:extLst>
                    <a:ext uri="{9D8B030D-6E8A-4147-A177-3AD203B41FA5}">
                      <a16:colId xmlns:a16="http://schemas.microsoft.com/office/drawing/2014/main" val="19484035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>
                          <a:solidFill>
                            <a:srgbClr val="FFFFFF"/>
                          </a:solidFill>
                          <a:effectLst/>
                        </a:rPr>
                        <a:t>메서드</a:t>
                      </a:r>
                    </a:p>
                  </a:txBody>
                  <a:tcPr marL="38100" marR="38100" marT="28575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rgbClr val="FFFFFF"/>
                          </a:solidFill>
                          <a:effectLst/>
                        </a:rPr>
                        <a:t> 리턴타입</a:t>
                      </a:r>
                    </a:p>
                  </a:txBody>
                  <a:tcPr marL="38100" marR="38100" marT="28575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rgbClr val="FFFFFF"/>
                          </a:solidFill>
                          <a:effectLst/>
                        </a:rPr>
                        <a:t>설명 </a:t>
                      </a:r>
                    </a:p>
                  </a:txBody>
                  <a:tcPr marL="38100" marR="38100" marT="28575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938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rgbClr val="666666"/>
                          </a:solidFill>
                          <a:effectLst/>
                        </a:rPr>
                        <a:t> 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</a:rPr>
                        <a:t>getParameter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(String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ffectLst/>
                        </a:rPr>
                        <a:t>name)</a:t>
                      </a:r>
                      <a:endParaRPr lang="en-US" dirty="0">
                        <a:solidFill>
                          <a:srgbClr val="666666"/>
                        </a:solidFill>
                        <a:effectLst/>
                      </a:endParaRPr>
                    </a:p>
                  </a:txBody>
                  <a:tcPr marL="38100" marR="38100" marT="28575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String</a:t>
                      </a:r>
                    </a:p>
                  </a:txBody>
                  <a:tcPr marL="38100" marR="38100" marT="28575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600" dirty="0" smtClean="0">
                          <a:solidFill>
                            <a:srgbClr val="0000FF"/>
                          </a:solidFill>
                          <a:effectLst/>
                        </a:rPr>
                        <a:t>name</a:t>
                      </a:r>
                      <a:r>
                        <a:rPr lang="ko-KR" altLang="en-US" sz="1600" dirty="0" smtClean="0">
                          <a:solidFill>
                            <a:srgbClr val="0000FF"/>
                          </a:solidFill>
                          <a:effectLst/>
                        </a:rPr>
                        <a:t>이 </a:t>
                      </a:r>
                      <a:r>
                        <a:rPr lang="en-US" altLang="ko-KR" sz="1600" dirty="0" smtClean="0">
                          <a:solidFill>
                            <a:srgbClr val="0000FF"/>
                          </a:solidFill>
                          <a:effectLst/>
                        </a:rPr>
                        <a:t>"name"</a:t>
                      </a:r>
                      <a:r>
                        <a:rPr lang="ko-KR" altLang="en-US" sz="1600" dirty="0" smtClean="0">
                          <a:solidFill>
                            <a:srgbClr val="0000FF"/>
                          </a:solidFill>
                          <a:effectLst/>
                        </a:rPr>
                        <a:t>인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en-US" sz="1600" dirty="0" err="1">
                          <a:solidFill>
                            <a:schemeClr val="tx1"/>
                          </a:solidFill>
                          <a:effectLst/>
                        </a:rPr>
                        <a:t>파라미터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</a:rPr>
                        <a:t> 값을 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effectLst/>
                        </a:rPr>
                        <a:t>조회</a:t>
                      </a:r>
                      <a:endParaRPr lang="en-US" altLang="ko-KR" sz="16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effectLst/>
                        </a:rPr>
                        <a:t>존재하지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</a:rPr>
                        <a:t>않을 경우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effectLst/>
                        </a:rPr>
                        <a:t>null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</a:rPr>
                        <a:t>을 리턴</a:t>
                      </a:r>
                    </a:p>
                  </a:txBody>
                  <a:tcPr marL="38100" marR="38100" marT="28575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224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rgbClr val="666666"/>
                          </a:solidFill>
                          <a:effectLst/>
                        </a:rPr>
                        <a:t> 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</a:rPr>
                        <a:t>getParameterValues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(String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effectLst/>
                        </a:rPr>
                        <a:t>name)</a:t>
                      </a:r>
                      <a:endParaRPr lang="en-US" dirty="0">
                        <a:solidFill>
                          <a:srgbClr val="666666"/>
                        </a:solidFill>
                        <a:effectLst/>
                      </a:endParaRPr>
                    </a:p>
                  </a:txBody>
                  <a:tcPr marL="38100" marR="38100" marT="28575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String[]</a:t>
                      </a:r>
                    </a:p>
                  </a:txBody>
                  <a:tcPr marL="38100" marR="38100" marT="28575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600" dirty="0" smtClean="0">
                          <a:solidFill>
                            <a:srgbClr val="0000FF"/>
                          </a:solidFill>
                          <a:effectLst/>
                        </a:rPr>
                        <a:t>name</a:t>
                      </a:r>
                      <a:r>
                        <a:rPr lang="ko-KR" altLang="en-US" sz="1600" dirty="0" smtClean="0">
                          <a:solidFill>
                            <a:srgbClr val="0000FF"/>
                          </a:solidFill>
                          <a:effectLst/>
                        </a:rPr>
                        <a:t>이 </a:t>
                      </a:r>
                      <a:r>
                        <a:rPr lang="en-US" altLang="ko-KR" sz="1600" dirty="0" smtClean="0">
                          <a:solidFill>
                            <a:srgbClr val="0000FF"/>
                          </a:solidFill>
                          <a:effectLst/>
                        </a:rPr>
                        <a:t>"name"</a:t>
                      </a:r>
                      <a:r>
                        <a:rPr lang="ko-KR" altLang="en-US" sz="1600" dirty="0" smtClean="0">
                          <a:solidFill>
                            <a:srgbClr val="0000FF"/>
                          </a:solidFill>
                          <a:effectLst/>
                        </a:rPr>
                        <a:t>인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</a:rPr>
                        <a:t>모든 </a:t>
                      </a:r>
                      <a:r>
                        <a:rPr lang="ko-KR" altLang="en-US" sz="1600" dirty="0" err="1">
                          <a:solidFill>
                            <a:schemeClr val="tx1"/>
                          </a:solidFill>
                          <a:effectLst/>
                        </a:rPr>
                        <a:t>파라미터의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</a:rPr>
                        <a:t> 값을 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effectLst/>
                        </a:rPr>
                        <a:t>배열로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effectLst/>
                        </a:rPr>
                        <a:t>조회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</a:rPr>
                        <a:t>존재하지 않을 경우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effectLst/>
                        </a:rPr>
                        <a:t>null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</a:rPr>
                        <a:t>을 리턴</a:t>
                      </a:r>
                    </a:p>
                  </a:txBody>
                  <a:tcPr marL="38100" marR="38100" marT="28575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668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rgbClr val="666666"/>
                          </a:solidFill>
                          <a:effectLst/>
                        </a:rPr>
                        <a:t> 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</a:rPr>
                        <a:t>getParameterNames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US" dirty="0">
                        <a:solidFill>
                          <a:srgbClr val="666666"/>
                        </a:solidFill>
                        <a:effectLst/>
                      </a:endParaRPr>
                    </a:p>
                  </a:txBody>
                  <a:tcPr marL="38100" marR="38100" marT="28575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java.util.Enumeration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8100" marR="38100" marT="28575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</a:rPr>
                        <a:t>웹 브라우저가 전송한 </a:t>
                      </a:r>
                      <a:r>
                        <a:rPr lang="ko-KR" altLang="en-US" sz="1600" dirty="0" err="1">
                          <a:solidFill>
                            <a:schemeClr val="tx1"/>
                          </a:solidFill>
                          <a:effectLst/>
                        </a:rPr>
                        <a:t>파라미터의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</a:rPr>
                        <a:t> 이름을 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effectLst/>
                        </a:rPr>
                        <a:t>조회</a:t>
                      </a:r>
                      <a:endParaRPr lang="en-US" altLang="ko-KR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8100" marR="38100" marT="28575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691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rgbClr val="666666"/>
                          </a:solidFill>
                          <a:effectLst/>
                        </a:rPr>
                        <a:t> 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</a:rPr>
                        <a:t>getParameterMap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US" dirty="0">
                        <a:solidFill>
                          <a:srgbClr val="666666"/>
                        </a:solidFill>
                        <a:effectLst/>
                      </a:endParaRPr>
                    </a:p>
                  </a:txBody>
                  <a:tcPr marL="38100" marR="38100" marT="28575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java.util.Map</a:t>
                      </a:r>
                    </a:p>
                  </a:txBody>
                  <a:tcPr marL="38100" marR="38100" marT="28575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</a:rPr>
                        <a:t> 웹 브라우저가 전송한 </a:t>
                      </a:r>
                      <a:r>
                        <a:rPr lang="ko-KR" altLang="en-US" sz="1600" dirty="0" err="1">
                          <a:solidFill>
                            <a:schemeClr val="tx1"/>
                          </a:solidFill>
                          <a:effectLst/>
                        </a:rPr>
                        <a:t>파라미터의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effectLst/>
                        </a:rPr>
                        <a:t>맵 형태로 변환하여 조회</a:t>
                      </a:r>
                      <a:endParaRPr lang="en-US" altLang="ko-KR" sz="16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  <a:effectLst/>
                        </a:rPr>
                        <a:t>맵은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effectLst/>
                        </a:rPr>
                        <a:t>&lt;</a:t>
                      </a:r>
                      <a:r>
                        <a:rPr lang="ko-KR" altLang="en-US" sz="1600" dirty="0" err="1">
                          <a:solidFill>
                            <a:schemeClr val="tx1"/>
                          </a:solidFill>
                          <a:effectLst/>
                        </a:rPr>
                        <a:t>파라미터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</a:rPr>
                        <a:t> 이름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</a:rPr>
                        <a:t>값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effectLst/>
                        </a:rPr>
                        <a:t>[]&gt;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</a:rPr>
                        <a:t>쌍으로 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effectLst/>
                        </a:rPr>
                        <a:t>구성</a:t>
                      </a:r>
                      <a:endParaRPr lang="en-US" altLang="ko-KR" sz="16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effectLst/>
                        </a:rPr>
                        <a:t>Map&lt;</a:t>
                      </a:r>
                      <a:r>
                        <a:rPr lang="en-US" altLang="ko-KR" sz="1600" dirty="0" err="1" smtClean="0">
                          <a:solidFill>
                            <a:schemeClr val="tx1"/>
                          </a:solidFill>
                          <a:effectLst/>
                        </a:rPr>
                        <a:t>String,String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effectLst/>
                        </a:rPr>
                        <a:t>[]&gt; </a:t>
                      </a:r>
                      <a:r>
                        <a:rPr lang="en-US" altLang="ko-KR" sz="1600" dirty="0" err="1" smtClean="0">
                          <a:solidFill>
                            <a:schemeClr val="tx1"/>
                          </a:solidFill>
                          <a:effectLst/>
                        </a:rPr>
                        <a:t>params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effectLst/>
                        </a:rPr>
                        <a:t> = </a:t>
                      </a:r>
                      <a:r>
                        <a:rPr lang="en-US" altLang="ko-KR" sz="1600" dirty="0" err="1" smtClean="0">
                          <a:solidFill>
                            <a:schemeClr val="tx1"/>
                          </a:solidFill>
                          <a:effectLst/>
                        </a:rPr>
                        <a:t>req.getParameterMap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altLang="ko-KR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8100" marR="38100" marT="28575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000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94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err="1"/>
              <a:t>HttpServletRequest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부가적인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요청 정보 조회를 위한 메서드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11</a:t>
            </a:fld>
            <a:endParaRPr 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381116"/>
              </p:ext>
            </p:extLst>
          </p:nvPr>
        </p:nvGraphicFramePr>
        <p:xfrm>
          <a:off x="830710" y="1524447"/>
          <a:ext cx="11123165" cy="464546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88765">
                  <a:extLst>
                    <a:ext uri="{9D8B030D-6E8A-4147-A177-3AD203B41FA5}">
                      <a16:colId xmlns:a16="http://schemas.microsoft.com/office/drawing/2014/main" val="1865591793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810172134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3846716732"/>
                    </a:ext>
                  </a:extLst>
                </a:gridCol>
              </a:tblGrid>
              <a:tr h="244647">
                <a:tc>
                  <a:txBody>
                    <a:bodyPr/>
                    <a:lstStyle/>
                    <a:p>
                      <a:r>
                        <a:rPr lang="ko-KR" altLang="en-US" sz="1400" dirty="0" err="1"/>
                        <a:t>메소드</a:t>
                      </a:r>
                      <a:endParaRPr lang="ko-KR" altLang="en-US" sz="1400" dirty="0"/>
                    </a:p>
                  </a:txBody>
                  <a:tcPr marL="61162" marR="61162" marT="30581" marB="30581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 err="1"/>
                        <a:t>반환값</a:t>
                      </a:r>
                      <a:r>
                        <a:rPr lang="ko-KR" altLang="en-US" sz="1400" dirty="0"/>
                        <a:t> 예</a:t>
                      </a:r>
                    </a:p>
                  </a:txBody>
                  <a:tcPr marL="61162" marR="61162" marT="30581" marB="30581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설명</a:t>
                      </a:r>
                    </a:p>
                  </a:txBody>
                  <a:tcPr marL="61162" marR="61162" marT="30581" marB="30581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586692"/>
                  </a:ext>
                </a:extLst>
              </a:tr>
              <a:tr h="428132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request.getRequestURL</a:t>
                      </a:r>
                      <a:r>
                        <a:rPr lang="en-US" sz="1400" dirty="0"/>
                        <a:t>()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http://www.devkuma.com:8080/app/request.jsp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1162" marR="61162" marT="30581" marB="30581" anchor="ctr"/>
                </a:tc>
                <a:extLst>
                  <a:ext uri="{0D108BD9-81ED-4DB2-BD59-A6C34878D82A}">
                    <a16:rowId xmlns:a16="http://schemas.microsoft.com/office/drawing/2014/main" val="796070540"/>
                  </a:ext>
                </a:extLst>
              </a:tr>
              <a:tr h="611617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request.getRequestURI</a:t>
                      </a:r>
                      <a:r>
                        <a:rPr lang="en-US" sz="1400" dirty="0"/>
                        <a:t>()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/app/request.jsp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en-US" altLang="ko-KR" sz="1400" dirty="0"/>
                        <a:t>URL</a:t>
                      </a:r>
                      <a:r>
                        <a:rPr lang="ko-KR" altLang="en-US" sz="1400" dirty="0"/>
                        <a:t>에서 스키마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 smtClean="0"/>
                        <a:t>서버이름</a:t>
                      </a:r>
                      <a:endParaRPr lang="en-US" altLang="ko-KR" sz="1400" dirty="0" smtClean="0"/>
                    </a:p>
                    <a:p>
                      <a:r>
                        <a:rPr lang="ko-KR" altLang="en-US" sz="1400" dirty="0" smtClean="0"/>
                        <a:t>포트번호를 </a:t>
                      </a:r>
                      <a:r>
                        <a:rPr lang="ko-KR" altLang="en-US" sz="1400" dirty="0"/>
                        <a:t>제외한 나머지 주소와 </a:t>
                      </a:r>
                      <a:r>
                        <a:rPr lang="ko-KR" altLang="en-US" sz="1400" dirty="0" err="1"/>
                        <a:t>파라미터</a:t>
                      </a:r>
                      <a:endParaRPr lang="ko-KR" altLang="en-US" sz="1400" dirty="0"/>
                    </a:p>
                  </a:txBody>
                  <a:tcPr marL="61162" marR="61162" marT="30581" marB="30581" anchor="ctr"/>
                </a:tc>
                <a:extLst>
                  <a:ext uri="{0D108BD9-81ED-4DB2-BD59-A6C34878D82A}">
                    <a16:rowId xmlns:a16="http://schemas.microsoft.com/office/drawing/2014/main" val="1088122971"/>
                  </a:ext>
                </a:extLst>
              </a:tr>
              <a:tr h="428132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request.getScheme</a:t>
                      </a:r>
                      <a:r>
                        <a:rPr lang="en-US" sz="1400" dirty="0"/>
                        <a:t>()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http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en-US" altLang="ko-KR" sz="1400" dirty="0"/>
                        <a:t>http, https, ftp</a:t>
                      </a:r>
                      <a:r>
                        <a:rPr lang="ko-KR" altLang="en-US" sz="1400" dirty="0"/>
                        <a:t>와 같은 프로토콜</a:t>
                      </a:r>
                    </a:p>
                  </a:txBody>
                  <a:tcPr marL="61162" marR="61162" marT="30581" marB="30581" anchor="ctr"/>
                </a:tc>
                <a:extLst>
                  <a:ext uri="{0D108BD9-81ED-4DB2-BD59-A6C34878D82A}">
                    <a16:rowId xmlns:a16="http://schemas.microsoft.com/office/drawing/2014/main" val="3443394943"/>
                  </a:ext>
                </a:extLst>
              </a:tr>
              <a:tr h="428132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request.getServerName</a:t>
                      </a:r>
                      <a:r>
                        <a:rPr lang="en-US" sz="1400" dirty="0"/>
                        <a:t>()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www.devkuma.com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서버 이름</a:t>
                      </a:r>
                    </a:p>
                  </a:txBody>
                  <a:tcPr marL="61162" marR="61162" marT="30581" marB="30581" anchor="ctr"/>
                </a:tc>
                <a:extLst>
                  <a:ext uri="{0D108BD9-81ED-4DB2-BD59-A6C34878D82A}">
                    <a16:rowId xmlns:a16="http://schemas.microsoft.com/office/drawing/2014/main" val="2411967429"/>
                  </a:ext>
                </a:extLst>
              </a:tr>
              <a:tr h="244647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request.getServerPort</a:t>
                      </a:r>
                      <a:r>
                        <a:rPr lang="en-US" sz="1400" dirty="0"/>
                        <a:t>()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8080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서버 포트</a:t>
                      </a:r>
                    </a:p>
                  </a:txBody>
                  <a:tcPr marL="61162" marR="61162" marT="30581" marB="30581" anchor="ctr"/>
                </a:tc>
                <a:extLst>
                  <a:ext uri="{0D108BD9-81ED-4DB2-BD59-A6C34878D82A}">
                    <a16:rowId xmlns:a16="http://schemas.microsoft.com/office/drawing/2014/main" val="3320752981"/>
                  </a:ext>
                </a:extLst>
              </a:tr>
              <a:tr h="244647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request.getContextPath</a:t>
                      </a:r>
                      <a:r>
                        <a:rPr lang="en-US" sz="1400" dirty="0"/>
                        <a:t>()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/app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 smtClean="0"/>
                        <a:t>컨텍스트 </a:t>
                      </a:r>
                      <a:r>
                        <a:rPr lang="ko-KR" altLang="en-US" sz="1400" dirty="0"/>
                        <a:t>경로</a:t>
                      </a:r>
                    </a:p>
                  </a:txBody>
                  <a:tcPr marL="61162" marR="61162" marT="30581" marB="30581" anchor="ctr"/>
                </a:tc>
                <a:extLst>
                  <a:ext uri="{0D108BD9-81ED-4DB2-BD59-A6C34878D82A}">
                    <a16:rowId xmlns:a16="http://schemas.microsoft.com/office/drawing/2014/main" val="869315772"/>
                  </a:ext>
                </a:extLst>
              </a:tr>
              <a:tr h="428132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request.getMethod</a:t>
                      </a:r>
                      <a:r>
                        <a:rPr lang="en-US" sz="1400" dirty="0"/>
                        <a:t>()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GET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GET/POST </a:t>
                      </a:r>
                      <a:r>
                        <a:rPr lang="ko-KR" altLang="en-US" sz="1400" dirty="0"/>
                        <a:t>등의 </a:t>
                      </a:r>
                      <a:r>
                        <a:rPr lang="en-US" sz="1400" dirty="0"/>
                        <a:t>HTTP </a:t>
                      </a:r>
                      <a:r>
                        <a:rPr lang="ko-KR" altLang="en-US" sz="1400" dirty="0" err="1"/>
                        <a:t>메소드</a:t>
                      </a:r>
                      <a:endParaRPr lang="ko-KR" altLang="en-US" sz="1400" dirty="0"/>
                    </a:p>
                  </a:txBody>
                  <a:tcPr marL="61162" marR="61162" marT="30581" marB="30581" anchor="ctr"/>
                </a:tc>
                <a:extLst>
                  <a:ext uri="{0D108BD9-81ED-4DB2-BD59-A6C34878D82A}">
                    <a16:rowId xmlns:a16="http://schemas.microsoft.com/office/drawing/2014/main" val="2826434444"/>
                  </a:ext>
                </a:extLst>
              </a:tr>
              <a:tr h="611617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request.isSecure</a:t>
                      </a:r>
                      <a:r>
                        <a:rPr lang="en-US" sz="1400" dirty="0"/>
                        <a:t>()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false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en-US" altLang="ko-KR" sz="1400" dirty="0"/>
                        <a:t>SSL </a:t>
                      </a:r>
                      <a:r>
                        <a:rPr lang="ko-KR" altLang="en-US" sz="1400" dirty="0"/>
                        <a:t>보안 여부</a:t>
                      </a:r>
                      <a:r>
                        <a:rPr lang="en-US" altLang="ko-KR" sz="1400" dirty="0"/>
                        <a:t>. https</a:t>
                      </a:r>
                      <a:r>
                        <a:rPr lang="ko-KR" altLang="en-US" sz="1400" dirty="0"/>
                        <a:t>와 같은 보안 채널의 사용 여부 </a:t>
                      </a:r>
                      <a:r>
                        <a:rPr lang="en-US" altLang="ko-KR" sz="1400" dirty="0"/>
                        <a:t>true/false</a:t>
                      </a:r>
                    </a:p>
                  </a:txBody>
                  <a:tcPr marL="61162" marR="61162" marT="30581" marB="30581" anchor="ctr"/>
                </a:tc>
                <a:extLst>
                  <a:ext uri="{0D108BD9-81ED-4DB2-BD59-A6C34878D82A}">
                    <a16:rowId xmlns:a16="http://schemas.microsoft.com/office/drawing/2014/main" val="2132522644"/>
                  </a:ext>
                </a:extLst>
              </a:tr>
              <a:tr h="244647">
                <a:tc>
                  <a:txBody>
                    <a:bodyPr/>
                    <a:lstStyle/>
                    <a:p>
                      <a:r>
                        <a:rPr lang="en-US" sz="1400"/>
                        <a:t>request.getLocale()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ko_KR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지역 정보</a:t>
                      </a:r>
                    </a:p>
                  </a:txBody>
                  <a:tcPr marL="61162" marR="61162" marT="30581" marB="30581" anchor="ctr"/>
                </a:tc>
                <a:extLst>
                  <a:ext uri="{0D108BD9-81ED-4DB2-BD59-A6C34878D82A}">
                    <a16:rowId xmlns:a16="http://schemas.microsoft.com/office/drawing/2014/main" val="110955974"/>
                  </a:ext>
                </a:extLst>
              </a:tr>
              <a:tr h="611617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request.getProtocol</a:t>
                      </a:r>
                      <a:r>
                        <a:rPr lang="en-US" sz="1400" dirty="0"/>
                        <a:t>()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HTTP/1.1</a:t>
                      </a:r>
                    </a:p>
                  </a:txBody>
                  <a:tcPr marL="61162" marR="61162" marT="30581" marB="30581"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사용하는 프로토콜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프로토콜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 err="1"/>
                        <a:t>메이저버전</a:t>
                      </a:r>
                      <a:r>
                        <a:rPr lang="en-US" altLang="ko-KR" sz="1400" dirty="0"/>
                        <a:t>.</a:t>
                      </a:r>
                      <a:r>
                        <a:rPr lang="ko-KR" altLang="en-US" sz="1400" dirty="0" err="1"/>
                        <a:t>마이너버전</a:t>
                      </a:r>
                      <a:endParaRPr lang="ko-KR" altLang="en-US" sz="1400" dirty="0"/>
                    </a:p>
                  </a:txBody>
                  <a:tcPr marL="61162" marR="61162" marT="30581" marB="30581" anchor="ctr"/>
                </a:tc>
                <a:extLst>
                  <a:ext uri="{0D108BD9-81ED-4DB2-BD59-A6C34878D82A}">
                    <a16:rowId xmlns:a16="http://schemas.microsoft.com/office/drawing/2014/main" val="1619642345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830710" y="6311900"/>
            <a:ext cx="105082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smtClean="0">
                <a:solidFill>
                  <a:srgbClr val="0000FF"/>
                </a:solidFill>
              </a:rPr>
              <a:t>요청</a:t>
            </a:r>
            <a:r>
              <a:rPr lang="en-US" sz="1600" dirty="0" smtClean="0">
                <a:solidFill>
                  <a:srgbClr val="0000FF"/>
                </a:solidFill>
              </a:rPr>
              <a:t> </a:t>
            </a:r>
            <a:r>
              <a:rPr lang="ko-KR" altLang="en-US" sz="1600" dirty="0" smtClean="0">
                <a:solidFill>
                  <a:srgbClr val="0000FF"/>
                </a:solidFill>
              </a:rPr>
              <a:t>클라이언트의 </a:t>
            </a:r>
            <a:r>
              <a:rPr lang="en-US" altLang="ko-KR" sz="1600" dirty="0" smtClean="0">
                <a:solidFill>
                  <a:srgbClr val="0000FF"/>
                </a:solidFill>
              </a:rPr>
              <a:t>IP</a:t>
            </a:r>
            <a:r>
              <a:rPr lang="ko-KR" altLang="en-US" sz="1600" dirty="0" smtClean="0">
                <a:solidFill>
                  <a:srgbClr val="0000FF"/>
                </a:solidFill>
              </a:rPr>
              <a:t>를 확인할 때</a:t>
            </a:r>
            <a:r>
              <a:rPr lang="en-US" altLang="ko-KR" sz="1600" dirty="0" smtClean="0">
                <a:solidFill>
                  <a:srgbClr val="0000FF"/>
                </a:solidFill>
              </a:rPr>
              <a:t> </a:t>
            </a:r>
            <a:r>
              <a:rPr lang="en-US" altLang="ko-KR" sz="1600" dirty="0" smtClean="0">
                <a:sym typeface="Wingdings" panose="05000000000000000000" pitchFamily="2" charset="2"/>
              </a:rPr>
              <a:t></a:t>
            </a:r>
            <a:r>
              <a:rPr lang="en-US" altLang="ko-KR" sz="1600" dirty="0" smtClean="0"/>
              <a:t> </a:t>
            </a:r>
            <a:r>
              <a:rPr lang="en-US" sz="1600" dirty="0" smtClean="0"/>
              <a:t>https</a:t>
            </a:r>
            <a:r>
              <a:rPr lang="en-US" sz="1600" dirty="0"/>
              <a:t>://linked2ev.github.io/java/2019/05/22/JAVA-1.-java-get-clientIP/</a:t>
            </a:r>
          </a:p>
        </p:txBody>
      </p:sp>
    </p:spTree>
    <p:extLst>
      <p:ext uri="{BB962C8B-B14F-4D97-AF65-F5344CB8AC3E}">
        <p14:creationId xmlns:p14="http://schemas.microsoft.com/office/powerpoint/2010/main" val="129887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err="1"/>
              <a:t>HttpServletResponse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용도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클라이언트에 </a:t>
            </a:r>
            <a:r>
              <a:rPr lang="ko-KR" altLang="en-US" dirty="0">
                <a:solidFill>
                  <a:prstClr val="black"/>
                </a:solidFill>
              </a:rPr>
              <a:t>응답 데이터를 보내기 </a:t>
            </a:r>
            <a:r>
              <a:rPr lang="ko-KR" altLang="en-US" dirty="0" smtClean="0">
                <a:solidFill>
                  <a:prstClr val="black"/>
                </a:solidFill>
              </a:rPr>
              <a:t>위해 사용하는 객체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dirty="0">
                <a:ea typeface="Arial Unicode MS"/>
              </a:rPr>
              <a:t>HTTP</a:t>
            </a:r>
            <a:r>
              <a:rPr lang="ko-KR" altLang="en-US" dirty="0">
                <a:ea typeface="Arial Unicode MS"/>
              </a:rPr>
              <a:t>에 관련된 오류</a:t>
            </a:r>
            <a:r>
              <a:rPr lang="en-US" altLang="ko-KR" dirty="0">
                <a:ea typeface="Arial Unicode MS"/>
              </a:rPr>
              <a:t>, </a:t>
            </a:r>
            <a:r>
              <a:rPr lang="ko-KR" altLang="en-US" dirty="0">
                <a:ea typeface="Arial Unicode MS"/>
              </a:rPr>
              <a:t>쿠키</a:t>
            </a:r>
            <a:r>
              <a:rPr lang="en-US" altLang="ko-KR" dirty="0">
                <a:ea typeface="Arial Unicode MS"/>
              </a:rPr>
              <a:t>, </a:t>
            </a:r>
            <a:r>
              <a:rPr lang="ko-KR" altLang="en-US" dirty="0">
                <a:ea typeface="Arial Unicode MS"/>
              </a:rPr>
              <a:t>헤더 정보에 대한 </a:t>
            </a:r>
            <a:r>
              <a:rPr lang="ko-KR" altLang="en-US" dirty="0" err="1">
                <a:ea typeface="Arial Unicode MS"/>
              </a:rPr>
              <a:t>메소드들이</a:t>
            </a:r>
            <a:r>
              <a:rPr lang="ko-KR" altLang="en-US" dirty="0">
                <a:ea typeface="Arial Unicode MS"/>
              </a:rPr>
              <a:t> 추가되어 있음</a:t>
            </a:r>
            <a:endParaRPr lang="en-US" altLang="ko-KR" dirty="0">
              <a:ea typeface="Arial Unicode MS"/>
            </a:endParaRPr>
          </a:p>
          <a:p>
            <a:pPr lvl="1"/>
            <a:r>
              <a:rPr lang="ko-KR" altLang="en-US" dirty="0">
                <a:ea typeface="Arial Unicode MS"/>
              </a:rPr>
              <a:t>주요 </a:t>
            </a:r>
            <a:r>
              <a:rPr lang="ko-KR" altLang="en-US" dirty="0" smtClean="0">
                <a:ea typeface="Arial Unicode MS"/>
              </a:rPr>
              <a:t>메서드</a:t>
            </a:r>
            <a:endParaRPr lang="en-US" altLang="ko-KR" dirty="0" smtClean="0">
              <a:ea typeface="Arial Unicode MS"/>
            </a:endParaRPr>
          </a:p>
          <a:p>
            <a:pPr lvl="2"/>
            <a:r>
              <a:rPr lang="en-US" altLang="ko-KR" sz="2000" dirty="0" err="1">
                <a:ea typeface="Arial Unicode MS"/>
              </a:rPr>
              <a:t>response.setContentType</a:t>
            </a:r>
            <a:r>
              <a:rPr lang="en-US" altLang="ko-KR" sz="2000" dirty="0">
                <a:ea typeface="Arial Unicode MS"/>
              </a:rPr>
              <a:t>(" text/html</a:t>
            </a:r>
            <a:r>
              <a:rPr lang="en-US" altLang="ko-KR" sz="2000" dirty="0" smtClean="0">
                <a:ea typeface="Arial Unicode MS"/>
              </a:rPr>
              <a:t>");</a:t>
            </a:r>
          </a:p>
          <a:p>
            <a:pPr lvl="3"/>
            <a:r>
              <a:rPr lang="ko-KR" altLang="en-US" sz="2000" dirty="0" smtClean="0">
                <a:ea typeface="Arial Unicode MS"/>
              </a:rPr>
              <a:t>응답 </a:t>
            </a:r>
            <a:r>
              <a:rPr lang="ko-KR" altLang="en-US" sz="2000" dirty="0">
                <a:ea typeface="Arial Unicode MS"/>
              </a:rPr>
              <a:t>데이터의 타입 </a:t>
            </a:r>
            <a:r>
              <a:rPr lang="ko-KR" altLang="en-US" sz="2000" dirty="0" smtClean="0">
                <a:ea typeface="Arial Unicode MS"/>
              </a:rPr>
              <a:t>정의</a:t>
            </a:r>
            <a:endParaRPr lang="en-US" altLang="ko-KR" sz="2000" dirty="0" smtClean="0">
              <a:ea typeface="Arial Unicode MS"/>
            </a:endParaRPr>
          </a:p>
          <a:p>
            <a:pPr lvl="2"/>
            <a:r>
              <a:rPr lang="ko-KR" altLang="en-US" sz="2000" dirty="0">
                <a:ea typeface="Arial Unicode MS"/>
              </a:rPr>
              <a:t>예</a:t>
            </a:r>
            <a:r>
              <a:rPr lang="en-US" altLang="ko-KR" sz="2000" dirty="0">
                <a:ea typeface="Arial Unicode MS"/>
              </a:rPr>
              <a:t>) </a:t>
            </a:r>
            <a:r>
              <a:rPr lang="en-US" altLang="ko-KR" sz="2000" dirty="0" err="1">
                <a:ea typeface="Arial Unicode MS"/>
              </a:rPr>
              <a:t>PrintWriter</a:t>
            </a:r>
            <a:r>
              <a:rPr lang="en-US" altLang="ko-KR" sz="2000" dirty="0">
                <a:ea typeface="Arial Unicode MS"/>
              </a:rPr>
              <a:t> out=</a:t>
            </a:r>
            <a:r>
              <a:rPr lang="en-US" altLang="ko-KR" sz="2000" dirty="0" err="1">
                <a:ea typeface="Arial Unicode MS"/>
              </a:rPr>
              <a:t>response.getWriter</a:t>
            </a:r>
            <a:r>
              <a:rPr lang="en-US" altLang="ko-KR" sz="2000" dirty="0">
                <a:ea typeface="Arial Unicode MS"/>
              </a:rPr>
              <a:t>();</a:t>
            </a:r>
          </a:p>
          <a:p>
            <a:pPr lvl="3"/>
            <a:r>
              <a:rPr lang="ko-KR" altLang="en-US" sz="2000" dirty="0" smtClean="0">
                <a:ea typeface="Arial Unicode MS"/>
              </a:rPr>
              <a:t>응답 페이지 출력</a:t>
            </a:r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r>
              <a:rPr lang="ko-KR" altLang="en-US" u="sng" dirty="0" smtClean="0">
                <a:ea typeface="Arial Unicode MS"/>
              </a:rPr>
              <a:t>응답은 주로 </a:t>
            </a:r>
            <a:r>
              <a:rPr lang="en-US" altLang="ko-KR" u="sng" dirty="0" smtClean="0">
                <a:ea typeface="Arial Unicode MS"/>
              </a:rPr>
              <a:t>JSP</a:t>
            </a:r>
            <a:r>
              <a:rPr lang="ko-KR" altLang="en-US" u="sng" dirty="0" smtClean="0">
                <a:ea typeface="Arial Unicode MS"/>
              </a:rPr>
              <a:t>에서 담당</a:t>
            </a:r>
            <a:endParaRPr lang="en-US" altLang="ko-KR" sz="1800" u="sng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81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8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AutoShape 10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424189" y="40475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AutoShape 14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412690" y="-27961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16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565090" y="-12721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9174348" y="404751"/>
            <a:ext cx="227709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 smtClean="0"/>
              <a:t>MemeberRegister.java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078133" y="5986452"/>
            <a:ext cx="4373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예제를 통해 지금까지 배운 내용 확인하기</a:t>
            </a:r>
            <a:endParaRPr 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65090" y="352355"/>
            <a:ext cx="10956350" cy="563231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PrintWriter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.getWriter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userId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.getParameter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userid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pwd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.getParameter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pwd</a:t>
            </a:r>
            <a:r>
              <a:rPr lang="en-US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.getParameter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"age</a:t>
            </a:r>
            <a:r>
              <a:rPr lang="en-US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intAge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Integer.</a:t>
            </a:r>
            <a:r>
              <a:rPr lang="en-US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parseInt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i="1" dirty="0">
                <a:solidFill>
                  <a:srgbClr val="6A3E3E"/>
                </a:solidFill>
                <a:latin typeface="Consolas" panose="020B0609020204030204" pitchFamily="49" charset="0"/>
              </a:rPr>
              <a:t>age</a:t>
            </a:r>
            <a:r>
              <a:rPr lang="en-US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gender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.getParameter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"gender"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address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.getParameter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"address"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b="1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"user id: %s&lt;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userId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"user password: %s&lt;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pwd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"age: %d"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intAge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-1);</a:t>
            </a:r>
          </a:p>
          <a:p>
            <a:r>
              <a:rPr lang="en-US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"gender: %s&lt;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gender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"address: %s&lt;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address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[]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interests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.getParameterValues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"interests"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"interests&lt;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(String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interest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interests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"-&gt;%</a:t>
            </a:r>
            <a:r>
              <a:rPr lang="en-US" dirty="0" smtClean="0">
                <a:solidFill>
                  <a:srgbClr val="2A00FF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&gt;</a:t>
            </a:r>
            <a:r>
              <a:rPr lang="en-US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interest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983783" y="826479"/>
            <a:ext cx="246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doGet</a:t>
            </a:r>
            <a:r>
              <a:rPr lang="ko-KR" altLang="en-US" dirty="0" smtClean="0"/>
              <a:t>메서드 </a:t>
            </a:r>
            <a:r>
              <a:rPr lang="en-US" altLang="ko-KR" dirty="0" smtClean="0"/>
              <a:t>overriding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1529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Servlet Mapping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pPr marL="457200" indent="-457200">
              <a:buAutoNum type="arabicParenR"/>
            </a:pPr>
            <a:r>
              <a:rPr lang="en-US" sz="2000" b="1" dirty="0" smtClean="0">
                <a:solidFill>
                  <a:prstClr val="black"/>
                </a:solidFill>
              </a:rPr>
              <a:t>DD</a:t>
            </a:r>
            <a:r>
              <a:rPr lang="ko-KR" altLang="en-US" sz="2000" b="1" dirty="0" smtClean="0">
                <a:solidFill>
                  <a:prstClr val="black"/>
                </a:solidFill>
              </a:rPr>
              <a:t>파일 이용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pPr marL="457200" indent="-457200">
              <a:buAutoNum type="arabicParenR"/>
            </a:pPr>
            <a:endParaRPr lang="en-US" altLang="ko-KR" sz="2000" b="1" dirty="0">
              <a:solidFill>
                <a:prstClr val="black"/>
              </a:solidFill>
            </a:endParaRPr>
          </a:p>
          <a:p>
            <a:pPr marL="457200" indent="-457200">
              <a:buAutoNum type="arabicParenR"/>
            </a:pPr>
            <a:endParaRPr lang="en-US" altLang="ko-KR" sz="2000" b="1" dirty="0" smtClean="0">
              <a:solidFill>
                <a:prstClr val="black"/>
              </a:solidFill>
            </a:endParaRPr>
          </a:p>
          <a:p>
            <a:pPr marL="457200" indent="-457200">
              <a:buAutoNum type="arabicParenR"/>
            </a:pPr>
            <a:endParaRPr lang="en-US" altLang="ko-KR" sz="2000" b="1" dirty="0">
              <a:solidFill>
                <a:prstClr val="black"/>
              </a:solidFill>
            </a:endParaRPr>
          </a:p>
          <a:p>
            <a:pPr marL="457200" indent="-457200">
              <a:buAutoNum type="arabicParenR"/>
            </a:pPr>
            <a:endParaRPr lang="en-US" altLang="ko-KR" sz="2000" b="1" dirty="0" smtClean="0">
              <a:solidFill>
                <a:prstClr val="black"/>
              </a:solidFill>
            </a:endParaRPr>
          </a:p>
          <a:p>
            <a:pPr marL="457200" indent="-457200">
              <a:buAutoNum type="arabicParenR"/>
            </a:pPr>
            <a:endParaRPr lang="en-US" altLang="ko-KR" sz="2000" b="1" dirty="0" smtClean="0">
              <a:solidFill>
                <a:prstClr val="black"/>
              </a:solidFill>
            </a:endParaRPr>
          </a:p>
          <a:p>
            <a:pPr marL="457200" indent="-457200">
              <a:buAutoNum type="arabicParenR"/>
            </a:pPr>
            <a:r>
              <a:rPr lang="en-US" sz="2000" b="1" dirty="0" smtClean="0"/>
              <a:t>Annotation</a:t>
            </a:r>
            <a:r>
              <a:rPr lang="ko-KR" altLang="en-US" sz="2000" b="1" dirty="0" smtClean="0"/>
              <a:t>이용</a:t>
            </a:r>
            <a:endParaRPr lang="en-US" sz="1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14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657289" y="1402140"/>
            <a:ext cx="9867835" cy="2308324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8080"/>
                </a:solidFill>
                <a:latin typeface="Consolas" panose="020B0609020204030204" pitchFamily="49" charset="0"/>
              </a:rPr>
              <a:t>  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memberRegister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servlet-class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com.web.servlet.MemberRegister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servlet-class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servlet-mapping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memberRegister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url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-pattern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/register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url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-pattern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servlet-mapping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95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Servlet </a:t>
            </a:r>
            <a:r>
              <a:rPr lang="ko-KR" altLang="en-US" sz="2800" dirty="0"/>
              <a:t>이해하기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한글 처리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/>
              <a:t>Tomcat</a:t>
            </a:r>
            <a:r>
              <a:rPr lang="ko-KR" altLang="en-US" sz="1800" dirty="0"/>
              <a:t>서버의 기본 문자 처리 방식은 </a:t>
            </a:r>
            <a:r>
              <a:rPr lang="en-US" altLang="ko-KR" sz="1800" dirty="0">
                <a:solidFill>
                  <a:srgbClr val="FF0000"/>
                </a:solidFill>
              </a:rPr>
              <a:t>IOS-8859-1</a:t>
            </a:r>
            <a:r>
              <a:rPr lang="ko-KR" altLang="en-US" sz="1800" dirty="0"/>
              <a:t>방식</a:t>
            </a:r>
            <a:endParaRPr lang="en-US" altLang="ko-KR" sz="1800" dirty="0"/>
          </a:p>
          <a:p>
            <a:pPr lvl="1"/>
            <a:r>
              <a:rPr lang="ko-KR" altLang="en-US" sz="1800" dirty="0"/>
              <a:t>개발자가 </a:t>
            </a:r>
            <a:r>
              <a:rPr lang="ko-KR" altLang="en-US" sz="1800" dirty="0" err="1"/>
              <a:t>인코딩</a:t>
            </a:r>
            <a:r>
              <a:rPr lang="ko-KR" altLang="en-US" sz="1800" dirty="0"/>
              <a:t> 방식을 지정하지 않으면 한글이 </a:t>
            </a:r>
            <a:r>
              <a:rPr lang="ko-KR" altLang="en-US" sz="1800" dirty="0" smtClean="0"/>
              <a:t>깨짐</a:t>
            </a:r>
            <a:endParaRPr lang="en-US" altLang="ko-KR" sz="1800" dirty="0" smtClean="0"/>
          </a:p>
          <a:p>
            <a:pPr lvl="1"/>
            <a:r>
              <a:rPr lang="ko-KR" altLang="en-US" sz="1800" dirty="0"/>
              <a:t>요청 데이터 </a:t>
            </a:r>
            <a:r>
              <a:rPr lang="ko-KR" altLang="en-US" sz="1800" dirty="0" err="1"/>
              <a:t>인코딩</a:t>
            </a:r>
            <a:endParaRPr lang="en-US" sz="1800" dirty="0"/>
          </a:p>
          <a:p>
            <a:pPr marL="914400" lvl="2" indent="0">
              <a:buNone/>
            </a:pPr>
            <a:endParaRPr lang="en-US" altLang="ko-KR" sz="1600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sz="1800" dirty="0" smtClean="0"/>
              <a:t>응답 </a:t>
            </a:r>
            <a:r>
              <a:rPr lang="ko-KR" altLang="en-US" sz="1800" dirty="0"/>
              <a:t>데이터 </a:t>
            </a:r>
            <a:r>
              <a:rPr lang="ko-KR" altLang="en-US" sz="1800" dirty="0" err="1" smtClean="0"/>
              <a:t>인코딩</a:t>
            </a:r>
            <a:endParaRPr lang="en-US" altLang="ko-KR" sz="1800" dirty="0" smtClean="0"/>
          </a:p>
          <a:p>
            <a:pPr marL="457200" lvl="1" indent="0">
              <a:buNone/>
            </a:pPr>
            <a:endParaRPr lang="en-US" sz="1800" dirty="0"/>
          </a:p>
          <a:p>
            <a:pPr lvl="1"/>
            <a:r>
              <a:rPr lang="ko-KR" altLang="en-US" sz="1800" dirty="0"/>
              <a:t>요청 데이터의 </a:t>
            </a:r>
            <a:r>
              <a:rPr lang="en-US" altLang="ko-KR" sz="1800" dirty="0"/>
              <a:t>parameter</a:t>
            </a:r>
            <a:r>
              <a:rPr lang="ko-KR" altLang="en-US" sz="1800" dirty="0"/>
              <a:t>를 받기 전</a:t>
            </a:r>
            <a:r>
              <a:rPr lang="en-US" altLang="ko-KR" sz="1800" dirty="0"/>
              <a:t>, </a:t>
            </a:r>
            <a:r>
              <a:rPr lang="ko-KR" altLang="en-US" sz="1800" dirty="0"/>
              <a:t>응답 데이터를 문서에 쓰기 전에 호출</a:t>
            </a:r>
            <a:endParaRPr lang="en-US" sz="1800" dirty="0"/>
          </a:p>
          <a:p>
            <a:pPr lvl="2"/>
            <a:endParaRPr lang="en-US" altLang="ko-KR" sz="1600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15</a:t>
            </a:fld>
            <a:endParaRPr lang="en-US"/>
          </a:p>
        </p:txBody>
      </p:sp>
      <p:sp>
        <p:nvSpPr>
          <p:cNvPr id="15" name="직사각형 14"/>
          <p:cNvSpPr/>
          <p:nvPr/>
        </p:nvSpPr>
        <p:spPr>
          <a:xfrm>
            <a:off x="415226" y="2599451"/>
            <a:ext cx="59202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request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.setCharacterEncoding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"utf-8"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415226" y="3627459"/>
            <a:ext cx="77438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response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.setContentType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"text/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html;charset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=utf-8"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42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Servlet </a:t>
            </a:r>
            <a:r>
              <a:rPr lang="ko-KR" altLang="en-US" sz="2800" dirty="0"/>
              <a:t>이해하기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한글 처리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sz="1800" dirty="0" smtClean="0"/>
              <a:t>모든 </a:t>
            </a:r>
            <a:r>
              <a:rPr lang="en-US" altLang="ko-KR" sz="1800" dirty="0" smtClean="0"/>
              <a:t>servlet</a:t>
            </a:r>
            <a:r>
              <a:rPr lang="ko-KR" altLang="en-US" sz="1800" dirty="0" smtClean="0"/>
              <a:t>에 문자 </a:t>
            </a:r>
            <a:r>
              <a:rPr lang="ko-KR" altLang="en-US" sz="1800" dirty="0" err="1" smtClean="0"/>
              <a:t>인코딩</a:t>
            </a:r>
            <a:r>
              <a:rPr lang="ko-KR" altLang="en-US" sz="1800" dirty="0" smtClean="0"/>
              <a:t> 지정 방식을 명시하는 것은 불편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필터를 통해 일괄적으로 처리</a:t>
            </a:r>
            <a:endParaRPr lang="en-US" sz="1800" dirty="0"/>
          </a:p>
          <a:p>
            <a:pPr lvl="2"/>
            <a:endParaRPr lang="en-US" altLang="ko-KR" sz="1600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16</a:t>
            </a:fld>
            <a:endParaRPr lang="en-US"/>
          </a:p>
        </p:txBody>
      </p:sp>
      <p:cxnSp>
        <p:nvCxnSpPr>
          <p:cNvPr id="6" name="직선 화살표 연결선 5"/>
          <p:cNvCxnSpPr/>
          <p:nvPr/>
        </p:nvCxnSpPr>
        <p:spPr>
          <a:xfrm>
            <a:off x="465512" y="3811931"/>
            <a:ext cx="15794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2128058" y="3155225"/>
            <a:ext cx="7024255" cy="13134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/>
          <p:cNvSpPr/>
          <p:nvPr/>
        </p:nvSpPr>
        <p:spPr>
          <a:xfrm>
            <a:off x="1514380" y="3442599"/>
            <a:ext cx="59202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request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.setCharacterEncoding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"utf-8"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520818" y="3864203"/>
            <a:ext cx="77438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response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.setContentType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"text/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html;charset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=utf-8"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062450" y="4537258"/>
            <a:ext cx="631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filter</a:t>
            </a:r>
            <a:endParaRPr 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9765991" y="2473580"/>
            <a:ext cx="1842258" cy="26766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요청을 처리하고 응답하는 </a:t>
            </a:r>
            <a:r>
              <a:rPr lang="ko-KR" altLang="en-US" dirty="0" err="1" smtClean="0">
                <a:solidFill>
                  <a:schemeClr val="tx1"/>
                </a:solidFill>
              </a:rPr>
              <a:t>서블릿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9152313" y="3366655"/>
            <a:ext cx="6068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H="1">
            <a:off x="9152313" y="3981796"/>
            <a:ext cx="598516" cy="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995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Servlet </a:t>
            </a:r>
            <a:r>
              <a:rPr lang="ko-KR" altLang="en-US" sz="2800" dirty="0"/>
              <a:t>이해하기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000" b="1" dirty="0" err="1" smtClean="0">
                <a:solidFill>
                  <a:prstClr val="black"/>
                </a:solidFill>
              </a:rPr>
              <a:t>인코딩을</a:t>
            </a:r>
            <a:r>
              <a:rPr lang="ko-KR" altLang="en-US" sz="2000" b="1" dirty="0" smtClean="0">
                <a:solidFill>
                  <a:prstClr val="black"/>
                </a:solidFill>
              </a:rPr>
              <a:t> 처리하는 </a:t>
            </a:r>
            <a:r>
              <a:rPr lang="en-US" altLang="ko-KR" sz="2000" b="1" dirty="0" smtClean="0">
                <a:solidFill>
                  <a:prstClr val="black"/>
                </a:solidFill>
              </a:rPr>
              <a:t>servlet</a:t>
            </a:r>
            <a:r>
              <a:rPr lang="ko-KR" altLang="en-US" sz="2000" b="1" dirty="0" smtClean="0">
                <a:solidFill>
                  <a:prstClr val="black"/>
                </a:solidFill>
              </a:rPr>
              <a:t>작성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endParaRPr lang="en-US" altLang="ko-KR" sz="2000" b="1" dirty="0">
              <a:solidFill>
                <a:prstClr val="black"/>
              </a:solidFill>
            </a:endParaRPr>
          </a:p>
          <a:p>
            <a:endParaRPr lang="en-US" altLang="ko-KR" sz="2000" b="1" dirty="0" smtClean="0">
              <a:solidFill>
                <a:prstClr val="black"/>
              </a:solidFill>
            </a:endParaRPr>
          </a:p>
          <a:p>
            <a:endParaRPr lang="en-US" altLang="ko-KR" sz="2000" b="1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altLang="ko-KR" sz="2000" b="1" dirty="0" smtClean="0">
              <a:solidFill>
                <a:prstClr val="black"/>
              </a:solidFill>
            </a:endParaRPr>
          </a:p>
          <a:p>
            <a:endParaRPr lang="en-US" altLang="ko-KR" sz="2000" b="1" dirty="0" smtClean="0">
              <a:solidFill>
                <a:prstClr val="black"/>
              </a:solidFill>
            </a:endParaRPr>
          </a:p>
          <a:p>
            <a:r>
              <a:rPr lang="ko-KR" altLang="en-US" sz="2000" b="1" dirty="0" smtClean="0">
                <a:solidFill>
                  <a:prstClr val="black"/>
                </a:solidFill>
              </a:rPr>
              <a:t>작성한 </a:t>
            </a:r>
            <a:r>
              <a:rPr lang="en-US" altLang="ko-KR" sz="2000" b="1" dirty="0" smtClean="0">
                <a:solidFill>
                  <a:prstClr val="black"/>
                </a:solidFill>
              </a:rPr>
              <a:t>servlet</a:t>
            </a:r>
            <a:r>
              <a:rPr lang="ko-KR" altLang="en-US" sz="2000" b="1" dirty="0" smtClean="0">
                <a:solidFill>
                  <a:prstClr val="black"/>
                </a:solidFill>
              </a:rPr>
              <a:t>의 </a:t>
            </a:r>
            <a:r>
              <a:rPr lang="en-US" altLang="ko-KR" sz="2000" b="1" dirty="0" err="1" smtClean="0">
                <a:solidFill>
                  <a:prstClr val="black"/>
                </a:solidFill>
              </a:rPr>
              <a:t>url</a:t>
            </a:r>
            <a:r>
              <a:rPr lang="en-US" altLang="ko-KR" sz="2000" b="1" dirty="0" smtClean="0">
                <a:solidFill>
                  <a:prstClr val="black"/>
                </a:solidFill>
              </a:rPr>
              <a:t>-mapping</a:t>
            </a:r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1600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17</a:t>
            </a:fld>
            <a:endParaRPr lang="en-US"/>
          </a:p>
        </p:txBody>
      </p:sp>
      <p:sp>
        <p:nvSpPr>
          <p:cNvPr id="4" name="직사각형 3"/>
          <p:cNvSpPr/>
          <p:nvPr/>
        </p:nvSpPr>
        <p:spPr>
          <a:xfrm>
            <a:off x="723207" y="1230389"/>
            <a:ext cx="10682484" cy="24468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CharacterEncodingFilter</a:t>
            </a:r>
            <a:r>
              <a:rPr lang="en-US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 Filter {</a:t>
            </a:r>
          </a:p>
          <a:p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pPr lvl="1"/>
            <a:r>
              <a:rPr lang="en-US" sz="17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doFilter</a:t>
            </a:r>
            <a:r>
              <a:rPr lang="en-US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ServletRequest</a:t>
            </a:r>
            <a:r>
              <a:rPr lang="en-US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rgbClr val="6A3E3E"/>
                </a:solidFill>
                <a:latin typeface="Consolas" panose="020B0609020204030204" pitchFamily="49" charset="0"/>
              </a:rPr>
              <a:t>request</a:t>
            </a:r>
            <a:r>
              <a:rPr lang="en-US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7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ServletResponse</a:t>
            </a:r>
            <a:r>
              <a:rPr lang="en-US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rgbClr val="6A3E3E"/>
                </a:solidFill>
                <a:latin typeface="Consolas" panose="020B0609020204030204" pitchFamily="49" charset="0"/>
              </a:rPr>
              <a:t>response</a:t>
            </a:r>
            <a:r>
              <a:rPr lang="en-US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7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FilterChain</a:t>
            </a:r>
            <a:r>
              <a:rPr lang="en-US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rgbClr val="6A3E3E"/>
                </a:solidFill>
                <a:latin typeface="Consolas" panose="020B0609020204030204" pitchFamily="49" charset="0"/>
              </a:rPr>
              <a:t>chain</a:t>
            </a:r>
            <a:r>
              <a:rPr lang="en-US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700" b="1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7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ServletException</a:t>
            </a:r>
            <a:r>
              <a:rPr lang="en-US" sz="17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en-US" sz="1700" dirty="0" err="1">
                <a:solidFill>
                  <a:srgbClr val="6A3E3E"/>
                </a:solidFill>
                <a:latin typeface="Consolas" panose="020B0609020204030204" pitchFamily="49" charset="0"/>
              </a:rPr>
              <a:t>request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.setCharacterEncoding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2A00FF"/>
                </a:solidFill>
                <a:latin typeface="Consolas" panose="020B0609020204030204" pitchFamily="49" charset="0"/>
              </a:rPr>
              <a:t>"utf-8"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sz="1700" dirty="0" err="1">
                <a:solidFill>
                  <a:srgbClr val="6A3E3E"/>
                </a:solidFill>
                <a:latin typeface="Consolas" panose="020B0609020204030204" pitchFamily="49" charset="0"/>
              </a:rPr>
              <a:t>response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.setContentType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2A00FF"/>
                </a:solidFill>
                <a:latin typeface="Consolas" panose="020B0609020204030204" pitchFamily="49" charset="0"/>
              </a:rPr>
              <a:t>"text/</a:t>
            </a:r>
            <a:r>
              <a:rPr lang="en-US" sz="1700" dirty="0" err="1">
                <a:solidFill>
                  <a:srgbClr val="2A00FF"/>
                </a:solidFill>
                <a:latin typeface="Consolas" panose="020B0609020204030204" pitchFamily="49" charset="0"/>
              </a:rPr>
              <a:t>html;charset</a:t>
            </a:r>
            <a:r>
              <a:rPr lang="en-US" sz="1700" dirty="0">
                <a:solidFill>
                  <a:srgbClr val="2A00FF"/>
                </a:solidFill>
                <a:latin typeface="Consolas" panose="020B0609020204030204" pitchFamily="49" charset="0"/>
              </a:rPr>
              <a:t>=utf-8"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sz="1700" dirty="0" err="1">
                <a:solidFill>
                  <a:srgbClr val="6A3E3E"/>
                </a:solidFill>
                <a:latin typeface="Consolas" panose="020B0609020204030204" pitchFamily="49" charset="0"/>
              </a:rPr>
              <a:t>chain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.doFilter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6A3E3E"/>
                </a:solidFill>
                <a:latin typeface="Consolas" panose="020B0609020204030204" pitchFamily="49" charset="0"/>
              </a:rPr>
              <a:t>request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700" dirty="0">
                <a:solidFill>
                  <a:srgbClr val="6A3E3E"/>
                </a:solidFill>
                <a:latin typeface="Consolas" panose="020B0609020204030204" pitchFamily="49" charset="0"/>
              </a:rPr>
              <a:t>response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700" dirty="0"/>
          </a:p>
        </p:txBody>
      </p:sp>
      <p:sp>
        <p:nvSpPr>
          <p:cNvPr id="7" name="직사각형 6"/>
          <p:cNvSpPr/>
          <p:nvPr/>
        </p:nvSpPr>
        <p:spPr>
          <a:xfrm>
            <a:off x="740461" y="4585441"/>
            <a:ext cx="10665229" cy="21852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1700" dirty="0">
                <a:solidFill>
                  <a:srgbClr val="3F7F7F"/>
                </a:solidFill>
                <a:latin typeface="Consolas" panose="020B0609020204030204" pitchFamily="49" charset="0"/>
              </a:rPr>
              <a:t>filter</a:t>
            </a:r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1700" dirty="0">
                <a:solidFill>
                  <a:srgbClr val="3F7F7F"/>
                </a:solidFill>
                <a:latin typeface="Consolas" panose="020B0609020204030204" pitchFamily="49" charset="0"/>
              </a:rPr>
              <a:t>filter-name</a:t>
            </a:r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characterEncodingFilter</a:t>
            </a:r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sz="1700" dirty="0">
                <a:solidFill>
                  <a:srgbClr val="3F7F7F"/>
                </a:solidFill>
                <a:latin typeface="Consolas" panose="020B0609020204030204" pitchFamily="49" charset="0"/>
              </a:rPr>
              <a:t>filter-name</a:t>
            </a:r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1700" dirty="0">
                <a:solidFill>
                  <a:srgbClr val="3F7F7F"/>
                </a:solidFill>
                <a:latin typeface="Consolas" panose="020B0609020204030204" pitchFamily="49" charset="0"/>
              </a:rPr>
              <a:t>filter-class</a:t>
            </a:r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com.web.servlet.CharacterEncodingFilter</a:t>
            </a:r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sz="1700" dirty="0">
                <a:solidFill>
                  <a:srgbClr val="3F7F7F"/>
                </a:solidFill>
                <a:latin typeface="Consolas" panose="020B0609020204030204" pitchFamily="49" charset="0"/>
              </a:rPr>
              <a:t>filter-class</a:t>
            </a:r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sz="1700" dirty="0">
                <a:solidFill>
                  <a:srgbClr val="3F7F7F"/>
                </a:solidFill>
                <a:latin typeface="Consolas" panose="020B0609020204030204" pitchFamily="49" charset="0"/>
              </a:rPr>
              <a:t>filter</a:t>
            </a:r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1700" dirty="0">
                <a:solidFill>
                  <a:srgbClr val="3F7F7F"/>
                </a:solidFill>
                <a:latin typeface="Consolas" panose="020B0609020204030204" pitchFamily="49" charset="0"/>
              </a:rPr>
              <a:t>filter-mapping</a:t>
            </a:r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1700" dirty="0">
                <a:solidFill>
                  <a:srgbClr val="3F7F7F"/>
                </a:solidFill>
                <a:latin typeface="Consolas" panose="020B0609020204030204" pitchFamily="49" charset="0"/>
              </a:rPr>
              <a:t>filter-name</a:t>
            </a:r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characterEncodingFilter</a:t>
            </a:r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sz="1700" dirty="0">
                <a:solidFill>
                  <a:srgbClr val="3F7F7F"/>
                </a:solidFill>
                <a:latin typeface="Consolas" panose="020B0609020204030204" pitchFamily="49" charset="0"/>
              </a:rPr>
              <a:t>filter-name</a:t>
            </a:r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1700" dirty="0" err="1">
                <a:solidFill>
                  <a:srgbClr val="3F7F7F"/>
                </a:solidFill>
                <a:latin typeface="Consolas" panose="020B0609020204030204" pitchFamily="49" charset="0"/>
              </a:rPr>
              <a:t>url</a:t>
            </a:r>
            <a:r>
              <a:rPr lang="en-US" sz="1700" dirty="0">
                <a:solidFill>
                  <a:srgbClr val="3F7F7F"/>
                </a:solidFill>
                <a:latin typeface="Consolas" panose="020B0609020204030204" pitchFamily="49" charset="0"/>
              </a:rPr>
              <a:t>-pattern</a:t>
            </a:r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/*</a:t>
            </a:r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sz="1700" dirty="0" err="1">
                <a:solidFill>
                  <a:srgbClr val="3F7F7F"/>
                </a:solidFill>
                <a:latin typeface="Consolas" panose="020B0609020204030204" pitchFamily="49" charset="0"/>
              </a:rPr>
              <a:t>url</a:t>
            </a:r>
            <a:r>
              <a:rPr lang="en-US" sz="1700" dirty="0">
                <a:solidFill>
                  <a:srgbClr val="3F7F7F"/>
                </a:solidFill>
                <a:latin typeface="Consolas" panose="020B0609020204030204" pitchFamily="49" charset="0"/>
              </a:rPr>
              <a:t>-pattern</a:t>
            </a:r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sz="1700" dirty="0">
                <a:solidFill>
                  <a:srgbClr val="3F7F7F"/>
                </a:solidFill>
                <a:latin typeface="Consolas" panose="020B0609020204030204" pitchFamily="49" charset="0"/>
              </a:rPr>
              <a:t>filter-mapping</a:t>
            </a:r>
            <a:r>
              <a:rPr lang="en-US" sz="17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572769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Servlet </a:t>
            </a:r>
            <a:r>
              <a:rPr lang="ko-KR" altLang="en-US" sz="2800" dirty="0"/>
              <a:t>이해하기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요청한 </a:t>
            </a:r>
            <a:r>
              <a:rPr lang="ko-KR" altLang="en-US" sz="2200" b="1" dirty="0" err="1" smtClean="0">
                <a:solidFill>
                  <a:prstClr val="black"/>
                </a:solidFill>
              </a:rPr>
              <a:t>파라미터가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 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null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일 경우 처리하기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r>
              <a:rPr lang="en-US" altLang="ko-KR" sz="2200" b="1" dirty="0" smtClean="0">
                <a:solidFill>
                  <a:prstClr val="black"/>
                </a:solidFill>
              </a:rPr>
              <a:t>org.apache.commons.lang3.StringUtils</a:t>
            </a:r>
          </a:p>
          <a:p>
            <a:pPr lvl="1"/>
            <a:r>
              <a:rPr lang="en-US" altLang="ko-KR" sz="1800" dirty="0" err="1" smtClean="0">
                <a:solidFill>
                  <a:prstClr val="black"/>
                </a:solidFill>
              </a:rPr>
              <a:t>StringUtils.defaultIfEmpty</a:t>
            </a:r>
            <a:r>
              <a:rPr lang="en-US" altLang="ko-KR" sz="1800" dirty="0" smtClean="0">
                <a:solidFill>
                  <a:prstClr val="black"/>
                </a:solidFill>
              </a:rPr>
              <a:t>(</a:t>
            </a:r>
            <a:r>
              <a:rPr lang="ko-KR" altLang="en-US" sz="1800" dirty="0" smtClean="0">
                <a:solidFill>
                  <a:prstClr val="black"/>
                </a:solidFill>
              </a:rPr>
              <a:t>문자열</a:t>
            </a:r>
            <a:r>
              <a:rPr lang="en-US" altLang="ko-KR" sz="1800" dirty="0" smtClean="0">
                <a:solidFill>
                  <a:prstClr val="black"/>
                </a:solidFill>
              </a:rPr>
              <a:t>,"empty</a:t>
            </a:r>
            <a:r>
              <a:rPr lang="ko-KR" altLang="en-US" sz="1800" dirty="0" smtClean="0">
                <a:solidFill>
                  <a:prstClr val="black"/>
                </a:solidFill>
              </a:rPr>
              <a:t>일 경우 반환할 </a:t>
            </a:r>
            <a:r>
              <a:rPr lang="en-US" altLang="ko-KR" sz="1800" dirty="0" smtClean="0">
                <a:solidFill>
                  <a:prstClr val="black"/>
                </a:solidFill>
              </a:rPr>
              <a:t>default</a:t>
            </a:r>
            <a:r>
              <a:rPr lang="ko-KR" altLang="en-US" sz="1800" dirty="0" smtClean="0">
                <a:solidFill>
                  <a:prstClr val="black"/>
                </a:solidFill>
              </a:rPr>
              <a:t>문자열</a:t>
            </a:r>
            <a:r>
              <a:rPr lang="en-US" altLang="ko-KR" sz="1800" dirty="0" smtClean="0">
                <a:solidFill>
                  <a:prstClr val="black"/>
                </a:solidFill>
              </a:rPr>
              <a:t>"): </a:t>
            </a:r>
          </a:p>
          <a:p>
            <a:pPr lvl="1"/>
            <a:r>
              <a:rPr lang="en-US" altLang="ko-KR" sz="1800" dirty="0" err="1">
                <a:solidFill>
                  <a:prstClr val="black"/>
                </a:solidFill>
              </a:rPr>
              <a:t>StringUtils.</a:t>
            </a:r>
            <a:r>
              <a:rPr lang="en-US" altLang="ko-KR" sz="1800" dirty="0" err="1" smtClean="0">
                <a:solidFill>
                  <a:prstClr val="black"/>
                </a:solidFill>
              </a:rPr>
              <a:t>isBlank</a:t>
            </a:r>
            <a:r>
              <a:rPr lang="en-US" altLang="ko-KR" sz="1800" dirty="0" smtClean="0">
                <a:solidFill>
                  <a:prstClr val="black"/>
                </a:solidFill>
              </a:rPr>
              <a:t>(</a:t>
            </a:r>
            <a:r>
              <a:rPr lang="ko-KR" altLang="en-US" sz="1800" dirty="0" smtClean="0">
                <a:solidFill>
                  <a:prstClr val="black"/>
                </a:solidFill>
              </a:rPr>
              <a:t>문자열</a:t>
            </a:r>
            <a:r>
              <a:rPr lang="en-US" altLang="ko-KR" sz="1800" dirty="0" smtClean="0">
                <a:solidFill>
                  <a:prstClr val="black"/>
                </a:solidFill>
              </a:rPr>
              <a:t>): </a:t>
            </a:r>
            <a:r>
              <a:rPr lang="ko-KR" altLang="en-US" sz="1800" dirty="0" smtClean="0">
                <a:solidFill>
                  <a:prstClr val="black"/>
                </a:solidFill>
              </a:rPr>
              <a:t>문자열이 </a:t>
            </a:r>
            <a:r>
              <a:rPr lang="en-US" altLang="ko-KR" sz="1800" dirty="0" smtClean="0">
                <a:solidFill>
                  <a:prstClr val="black"/>
                </a:solidFill>
              </a:rPr>
              <a:t>empty</a:t>
            </a:r>
            <a:r>
              <a:rPr lang="ko-KR" altLang="en-US" sz="1800" dirty="0" smtClean="0">
                <a:solidFill>
                  <a:prstClr val="black"/>
                </a:solidFill>
              </a:rPr>
              <a:t>면 </a:t>
            </a:r>
            <a:r>
              <a:rPr lang="en-US" altLang="ko-KR" sz="1800" dirty="0" smtClean="0">
                <a:solidFill>
                  <a:prstClr val="black"/>
                </a:solidFill>
              </a:rPr>
              <a:t>true, </a:t>
            </a:r>
            <a:r>
              <a:rPr lang="ko-KR" altLang="en-US" sz="1800" dirty="0" smtClean="0">
                <a:solidFill>
                  <a:prstClr val="black"/>
                </a:solidFill>
              </a:rPr>
              <a:t>아니면 </a:t>
            </a:r>
            <a:r>
              <a:rPr lang="en-US" altLang="ko-KR" sz="1800" dirty="0" smtClean="0">
                <a:solidFill>
                  <a:prstClr val="black"/>
                </a:solidFill>
              </a:rPr>
              <a:t>false</a:t>
            </a: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18</a:t>
            </a:fld>
            <a:endParaRPr lang="en-US"/>
          </a:p>
        </p:txBody>
      </p:sp>
      <p:sp>
        <p:nvSpPr>
          <p:cNvPr id="4" name="직사각형 3"/>
          <p:cNvSpPr/>
          <p:nvPr/>
        </p:nvSpPr>
        <p:spPr>
          <a:xfrm>
            <a:off x="674370" y="2000137"/>
            <a:ext cx="8154785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latin typeface="Dotum" panose="020B0600000101010101" pitchFamily="50" charset="-127"/>
                <a:ea typeface="Dotum" panose="020B0600000101010101" pitchFamily="50" charset="-127"/>
              </a:rPr>
              <a:t>if(age==</a:t>
            </a:r>
            <a:r>
              <a:rPr lang="en-US" dirty="0">
                <a:latin typeface="Dotum" panose="020B0600000101010101" pitchFamily="50" charset="-127"/>
                <a:ea typeface="Dotum" panose="020B0600000101010101" pitchFamily="50" charset="-127"/>
              </a:rPr>
              <a:t>null){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latin typeface="Dotum" panose="020B0600000101010101" pitchFamily="50" charset="-127"/>
                <a:ea typeface="Dotum" panose="020B0600000101010101" pitchFamily="50" charset="-127"/>
              </a:rPr>
              <a:t>    </a:t>
            </a:r>
            <a:r>
              <a:rPr lang="en-US" dirty="0" smtClean="0">
                <a:latin typeface="Dotum" panose="020B0600000101010101" pitchFamily="50" charset="-127"/>
                <a:ea typeface="Dotum" panose="020B0600000101010101" pitchFamily="50" charset="-127"/>
              </a:rPr>
              <a:t>age="0";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latin typeface="Dotum" panose="020B0600000101010101" pitchFamily="50" charset="-127"/>
                <a:ea typeface="Dotum" panose="020B0600000101010101" pitchFamily="50" charset="-127"/>
              </a:rPr>
              <a:t>}</a:t>
            </a:r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674370" y="1377434"/>
            <a:ext cx="8154785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Dotum" panose="020B0600000101010101" pitchFamily="50" charset="-127"/>
                <a:ea typeface="Dotum" panose="020B0600000101010101" pitchFamily="50" charset="-127"/>
              </a:rPr>
              <a:t>String </a:t>
            </a:r>
            <a:r>
              <a:rPr lang="en-US" dirty="0" smtClean="0">
                <a:latin typeface="Dotum" panose="020B0600000101010101" pitchFamily="50" charset="-127"/>
                <a:ea typeface="Dotum" panose="020B0600000101010101" pitchFamily="50" charset="-127"/>
              </a:rPr>
              <a:t>age=</a:t>
            </a:r>
            <a:r>
              <a:rPr lang="en-US" dirty="0" err="1" smtClean="0">
                <a:latin typeface="Dotum" panose="020B0600000101010101" pitchFamily="50" charset="-127"/>
                <a:ea typeface="Dotum" panose="020B0600000101010101" pitchFamily="50" charset="-127"/>
              </a:rPr>
              <a:t>request.getParameter</a:t>
            </a:r>
            <a:r>
              <a:rPr lang="en-US" dirty="0" smtClean="0">
                <a:latin typeface="Dotum" panose="020B0600000101010101" pitchFamily="50" charset="-127"/>
                <a:ea typeface="Dotum" panose="020B0600000101010101" pitchFamily="50" charset="-127"/>
              </a:rPr>
              <a:t>("age");</a:t>
            </a:r>
            <a:endParaRPr lang="en-US" dirty="0"/>
          </a:p>
        </p:txBody>
      </p:sp>
      <p:sp>
        <p:nvSpPr>
          <p:cNvPr id="9" name="직사각형 8"/>
          <p:cNvSpPr/>
          <p:nvPr/>
        </p:nvSpPr>
        <p:spPr>
          <a:xfrm>
            <a:off x="674369" y="3252205"/>
            <a:ext cx="8154785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Dotum" panose="020B0600000101010101" pitchFamily="50" charset="-127"/>
                <a:ea typeface="Dotum" panose="020B0600000101010101" pitchFamily="50" charset="-127"/>
              </a:rPr>
              <a:t>if( </a:t>
            </a:r>
            <a:r>
              <a:rPr lang="en-US" dirty="0" smtClean="0">
                <a:latin typeface="Dotum" panose="020B0600000101010101" pitchFamily="50" charset="-127"/>
                <a:ea typeface="Dotum" panose="020B0600000101010101" pitchFamily="50" charset="-127"/>
              </a:rPr>
              <a:t>age </a:t>
            </a:r>
            <a:r>
              <a:rPr lang="en-US" dirty="0">
                <a:latin typeface="Dotum" panose="020B0600000101010101" pitchFamily="50" charset="-127"/>
                <a:ea typeface="Dotum" panose="020B0600000101010101" pitchFamily="50" charset="-127"/>
              </a:rPr>
              <a:t>== null || </a:t>
            </a:r>
            <a:r>
              <a:rPr lang="en-US" dirty="0" err="1" smtClean="0">
                <a:latin typeface="Dotum" panose="020B0600000101010101" pitchFamily="50" charset="-127"/>
                <a:ea typeface="Dotum" panose="020B0600000101010101" pitchFamily="50" charset="-127"/>
              </a:rPr>
              <a:t>age.equals</a:t>
            </a:r>
            <a:r>
              <a:rPr lang="en-US" dirty="0">
                <a:latin typeface="Dotum" panose="020B0600000101010101" pitchFamily="50" charset="-127"/>
                <a:ea typeface="Dotum" panose="020B0600000101010101" pitchFamily="50" charset="-127"/>
              </a:rPr>
              <a:t>("") || </a:t>
            </a:r>
            <a:r>
              <a:rPr lang="en-US" dirty="0" err="1" smtClean="0">
                <a:latin typeface="Dotum" panose="020B0600000101010101" pitchFamily="50" charset="-127"/>
                <a:ea typeface="Dotum" panose="020B0600000101010101" pitchFamily="50" charset="-127"/>
              </a:rPr>
              <a:t>age.equals</a:t>
            </a:r>
            <a:r>
              <a:rPr lang="en-US" dirty="0">
                <a:latin typeface="Dotum" panose="020B0600000101010101" pitchFamily="50" charset="-127"/>
                <a:ea typeface="Dotum" panose="020B0600000101010101" pitchFamily="50" charset="-127"/>
              </a:rPr>
              <a:t>("null") ){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latin typeface="Dotum" panose="020B0600000101010101" pitchFamily="50" charset="-127"/>
                <a:ea typeface="Dotum" panose="020B0600000101010101" pitchFamily="50" charset="-127"/>
              </a:rPr>
              <a:t>       </a:t>
            </a:r>
            <a:r>
              <a:rPr lang="en-US" dirty="0" smtClean="0">
                <a:latin typeface="Dotum" panose="020B0600000101010101" pitchFamily="50" charset="-127"/>
                <a:ea typeface="Dotum" panose="020B0600000101010101" pitchFamily="50" charset="-127"/>
              </a:rPr>
              <a:t>age="0";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latin typeface="Dotum" panose="020B0600000101010101" pitchFamily="50" charset="-127"/>
                <a:ea typeface="Dotum" panose="020B0600000101010101" pitchFamily="50" charset="-127"/>
              </a:rPr>
              <a:t>}</a:t>
            </a:r>
            <a:endParaRPr 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102994" y="5987018"/>
            <a:ext cx="8154785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latin typeface="Dotum" panose="020B0600000101010101" pitchFamily="50" charset="-127"/>
                <a:ea typeface="Dotum" panose="020B0600000101010101" pitchFamily="50" charset="-127"/>
              </a:rPr>
              <a:t>String age = </a:t>
            </a:r>
            <a:r>
              <a:rPr lang="en-US" dirty="0" err="1" smtClean="0">
                <a:latin typeface="Dotum" panose="020B0600000101010101" pitchFamily="50" charset="-127"/>
                <a:ea typeface="Dotum" panose="020B0600000101010101" pitchFamily="50" charset="-127"/>
              </a:rPr>
              <a:t>StringUtils.defaultIfEmpty</a:t>
            </a:r>
            <a:r>
              <a:rPr lang="en-US" dirty="0" smtClean="0">
                <a:latin typeface="Dotum" panose="020B0600000101010101" pitchFamily="50" charset="-127"/>
                <a:ea typeface="Dotum" panose="020B0600000101010101" pitchFamily="50" charset="-127"/>
              </a:rPr>
              <a:t>(</a:t>
            </a:r>
            <a:r>
              <a:rPr lang="en-US" dirty="0" err="1" smtClean="0">
                <a:latin typeface="Dotum" panose="020B0600000101010101" pitchFamily="50" charset="-127"/>
                <a:ea typeface="Dotum" panose="020B0600000101010101" pitchFamily="50" charset="-127"/>
              </a:rPr>
              <a:t>request.getParameter</a:t>
            </a:r>
            <a:r>
              <a:rPr lang="en-US" dirty="0" smtClean="0">
                <a:latin typeface="Dotum" panose="020B0600000101010101" pitchFamily="50" charset="-127"/>
                <a:ea typeface="Dotum" panose="020B0600000101010101" pitchFamily="50" charset="-127"/>
              </a:rPr>
              <a:t>("age"), "0")</a:t>
            </a:r>
            <a:endParaRPr lang="en-US" dirty="0">
              <a:latin typeface="Dotum" panose="020B0600000101010101" pitchFamily="50" charset="-127"/>
              <a:ea typeface="Dotum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47815" y="3395168"/>
            <a:ext cx="3344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모든 코드에 작성하기 번거로움</a:t>
            </a:r>
            <a:endParaRPr lang="en-US" altLang="ko-KR" dirty="0" smtClean="0"/>
          </a:p>
          <a:p>
            <a:r>
              <a:rPr lang="en-US" dirty="0" smtClean="0"/>
              <a:t>(boiler plate code)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4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Servlet </a:t>
            </a:r>
            <a:r>
              <a:rPr lang="ko-KR" altLang="en-US" sz="2800" dirty="0" smtClean="0"/>
              <a:t>초기화 </a:t>
            </a:r>
            <a:r>
              <a:rPr lang="ko-KR" altLang="en-US" sz="2800" dirty="0" err="1" smtClean="0"/>
              <a:t>파라미터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사용목적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>
                <a:solidFill>
                  <a:prstClr val="black"/>
                </a:solidFill>
              </a:rPr>
              <a:t>유지 보수 관점에서 변경 가능한 </a:t>
            </a:r>
            <a:r>
              <a:rPr lang="ko-KR" altLang="en-US" dirty="0" err="1">
                <a:solidFill>
                  <a:prstClr val="black"/>
                </a:solidFill>
              </a:rPr>
              <a:t>파라미터를</a:t>
            </a:r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DD(Deployment Descriptor)</a:t>
            </a:r>
            <a:r>
              <a:rPr lang="ko-KR" altLang="en-US" dirty="0">
                <a:solidFill>
                  <a:prstClr val="black"/>
                </a:solidFill>
              </a:rPr>
              <a:t>에 읽어 들어 사용하도록 함 </a:t>
            </a:r>
            <a:r>
              <a:rPr lang="en-US" altLang="ko-KR" dirty="0" smtClean="0">
                <a:solidFill>
                  <a:prstClr val="black"/>
                </a:solidFill>
                <a:sym typeface="Wingdings" panose="05000000000000000000" pitchFamily="2" charset="2"/>
              </a:rPr>
              <a:t> servlet</a:t>
            </a:r>
            <a:r>
              <a:rPr lang="ko-KR" altLang="en-US" dirty="0" smtClean="0">
                <a:solidFill>
                  <a:prstClr val="black"/>
                </a:solidFill>
              </a:rPr>
              <a:t> </a:t>
            </a:r>
            <a:r>
              <a:rPr lang="ko-KR" altLang="en-US" dirty="0">
                <a:solidFill>
                  <a:prstClr val="black"/>
                </a:solidFill>
              </a:rPr>
              <a:t>소스 변경 부담을 </a:t>
            </a:r>
            <a:r>
              <a:rPr lang="ko-KR" altLang="en-US" dirty="0" smtClean="0">
                <a:solidFill>
                  <a:prstClr val="black"/>
                </a:solidFill>
              </a:rPr>
              <a:t>줄임</a:t>
            </a:r>
            <a:endParaRPr lang="ko-KR" altLang="en-US" dirty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예</a:t>
            </a:r>
            <a:r>
              <a:rPr lang="en-US" altLang="ko-KR" dirty="0">
                <a:solidFill>
                  <a:prstClr val="black"/>
                </a:solidFill>
              </a:rPr>
              <a:t>: </a:t>
            </a:r>
            <a:r>
              <a:rPr lang="ko-KR" altLang="en-US" dirty="0">
                <a:solidFill>
                  <a:prstClr val="black"/>
                </a:solidFill>
              </a:rPr>
              <a:t>로그 파일명</a:t>
            </a:r>
            <a:r>
              <a:rPr lang="en-US" altLang="ko-KR" dirty="0">
                <a:solidFill>
                  <a:prstClr val="black"/>
                </a:solidFill>
              </a:rPr>
              <a:t>, DB </a:t>
            </a:r>
            <a:r>
              <a:rPr lang="ko-KR" altLang="en-US" dirty="0" err="1">
                <a:solidFill>
                  <a:prstClr val="black"/>
                </a:solidFill>
              </a:rPr>
              <a:t>테이블명</a:t>
            </a:r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&amp; </a:t>
            </a:r>
            <a:r>
              <a:rPr lang="ko-KR" altLang="en-US" dirty="0">
                <a:solidFill>
                  <a:prstClr val="black"/>
                </a:solidFill>
              </a:rPr>
              <a:t>사용자명 </a:t>
            </a:r>
            <a:r>
              <a:rPr lang="ko-KR" altLang="en-US" dirty="0" smtClean="0">
                <a:solidFill>
                  <a:prstClr val="black"/>
                </a:solidFill>
              </a:rPr>
              <a:t>등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dirty="0">
                <a:solidFill>
                  <a:prstClr val="black"/>
                </a:solidFill>
                <a:sym typeface="Wingdings" panose="05000000000000000000" pitchFamily="2" charset="2"/>
              </a:rPr>
              <a:t>servlet</a:t>
            </a:r>
            <a:r>
              <a:rPr lang="ko-KR" altLang="en-US" dirty="0">
                <a:solidFill>
                  <a:prstClr val="black"/>
                </a:solidFill>
              </a:rPr>
              <a:t> 소스 </a:t>
            </a:r>
            <a:r>
              <a:rPr lang="ko-KR" altLang="en-US" dirty="0" smtClean="0">
                <a:solidFill>
                  <a:prstClr val="black"/>
                </a:solidFill>
              </a:rPr>
              <a:t>변경이</a:t>
            </a:r>
            <a:r>
              <a:rPr lang="en-US" altLang="ko-KR" dirty="0" smtClean="0">
                <a:solidFill>
                  <a:prstClr val="black"/>
                </a:solidFill>
              </a:rPr>
              <a:t> </a:t>
            </a:r>
            <a:r>
              <a:rPr lang="ko-KR" altLang="en-US" dirty="0" smtClean="0">
                <a:solidFill>
                  <a:prstClr val="black"/>
                </a:solidFill>
              </a:rPr>
              <a:t>왜 부담이 되는가</a:t>
            </a:r>
            <a:r>
              <a:rPr lang="en-US" altLang="ko-KR" dirty="0" smtClean="0">
                <a:solidFill>
                  <a:prstClr val="black"/>
                </a:solidFill>
              </a:rPr>
              <a:t>?</a:t>
            </a:r>
          </a:p>
          <a:p>
            <a:pPr lvl="2"/>
            <a:r>
              <a:rPr lang="en-US" altLang="ko-KR" dirty="0">
                <a:solidFill>
                  <a:prstClr val="black"/>
                </a:solidFill>
                <a:sym typeface="Wingdings" panose="05000000000000000000" pitchFamily="2" charset="2"/>
              </a:rPr>
              <a:t>servlet</a:t>
            </a:r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ko-KR" altLang="en-US" dirty="0" smtClean="0">
                <a:solidFill>
                  <a:prstClr val="black"/>
                </a:solidFill>
              </a:rPr>
              <a:t>소스가 변경되면 다시 컴파일하여 </a:t>
            </a:r>
            <a:r>
              <a:rPr lang="en-US" altLang="ko-KR" dirty="0" smtClean="0">
                <a:solidFill>
                  <a:prstClr val="black"/>
                </a:solidFill>
              </a:rPr>
              <a:t>servlet</a:t>
            </a:r>
            <a:r>
              <a:rPr lang="ko-KR" altLang="en-US" dirty="0" smtClean="0">
                <a:solidFill>
                  <a:prstClr val="black"/>
                </a:solidFill>
              </a:rPr>
              <a:t>컨테이너에 배치되어야 함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0"/>
            <a:r>
              <a:rPr lang="ko-KR" altLang="en-US" sz="2200" b="1" dirty="0" smtClean="0">
                <a:solidFill>
                  <a:prstClr val="black"/>
                </a:solidFill>
              </a:rPr>
              <a:t>방법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marL="800100" lvl="1" indent="-342900">
              <a:buAutoNum type="arabicParenR"/>
            </a:pPr>
            <a:r>
              <a:rPr lang="en-US" altLang="ko-KR" dirty="0" smtClean="0"/>
              <a:t>web.xml</a:t>
            </a:r>
          </a:p>
          <a:p>
            <a:pPr marL="800100" lvl="1" indent="-342900">
              <a:buAutoNum type="arabicParenR"/>
            </a:pPr>
            <a:r>
              <a:rPr lang="en-US" altLang="ko-KR" dirty="0" err="1"/>
              <a:t>WebServlet</a:t>
            </a:r>
            <a:r>
              <a:rPr lang="en-US" altLang="ko-KR" dirty="0"/>
              <a:t> annotation</a:t>
            </a:r>
            <a:endParaRPr lang="en-US" altLang="ko-KR" b="1" dirty="0">
              <a:solidFill>
                <a:prstClr val="black"/>
              </a:solidFill>
            </a:endParaRPr>
          </a:p>
          <a:p>
            <a:pPr lvl="2"/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602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Context </a:t>
            </a:r>
            <a:r>
              <a:rPr lang="ko-KR" altLang="en-US" sz="2800" dirty="0" smtClean="0"/>
              <a:t>초기화 </a:t>
            </a:r>
            <a:r>
              <a:rPr lang="ko-KR" altLang="en-US" sz="2800" dirty="0" err="1" smtClean="0"/>
              <a:t>파라미터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사용목적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err="1">
                <a:solidFill>
                  <a:prstClr val="black"/>
                </a:solidFill>
              </a:rPr>
              <a:t>서블릿</a:t>
            </a:r>
            <a:r>
              <a:rPr lang="ko-KR" altLang="en-US" dirty="0">
                <a:solidFill>
                  <a:prstClr val="black"/>
                </a:solidFill>
              </a:rPr>
              <a:t> 초기화 </a:t>
            </a:r>
            <a:r>
              <a:rPr lang="ko-KR" altLang="en-US" dirty="0" err="1">
                <a:solidFill>
                  <a:prstClr val="black"/>
                </a:solidFill>
              </a:rPr>
              <a:t>파라미터는</a:t>
            </a:r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ko-KR" altLang="en-US" dirty="0">
                <a:solidFill>
                  <a:srgbClr val="0000FF"/>
                </a:solidFill>
              </a:rPr>
              <a:t>해당 </a:t>
            </a:r>
            <a:r>
              <a:rPr lang="ko-KR" altLang="en-US" dirty="0" err="1">
                <a:solidFill>
                  <a:srgbClr val="0000FF"/>
                </a:solidFill>
              </a:rPr>
              <a:t>서블릿만</a:t>
            </a:r>
            <a:r>
              <a:rPr lang="ko-KR" altLang="en-US" dirty="0">
                <a:solidFill>
                  <a:prstClr val="black"/>
                </a:solidFill>
              </a:rPr>
              <a:t> 접근 가능</a:t>
            </a:r>
          </a:p>
          <a:p>
            <a:pPr lvl="1"/>
            <a:r>
              <a:rPr lang="ko-KR" altLang="en-US" dirty="0">
                <a:solidFill>
                  <a:prstClr val="black"/>
                </a:solidFill>
              </a:rPr>
              <a:t>컨텍스트 초기화 </a:t>
            </a:r>
            <a:r>
              <a:rPr lang="ko-KR" altLang="en-US" dirty="0" err="1">
                <a:solidFill>
                  <a:prstClr val="black"/>
                </a:solidFill>
              </a:rPr>
              <a:t>파라미터는</a:t>
            </a:r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ko-KR" altLang="en-US" dirty="0">
                <a:solidFill>
                  <a:srgbClr val="0000FF"/>
                </a:solidFill>
              </a:rPr>
              <a:t>웹 애플리케이션을 구성하는 모든 </a:t>
            </a:r>
            <a:r>
              <a:rPr lang="ko-KR" altLang="en-US" dirty="0" err="1">
                <a:solidFill>
                  <a:srgbClr val="0000FF"/>
                </a:solidFill>
              </a:rPr>
              <a:t>컴포턴트가</a:t>
            </a:r>
            <a:r>
              <a:rPr lang="ko-KR" altLang="en-US" dirty="0">
                <a:solidFill>
                  <a:prstClr val="black"/>
                </a:solidFill>
              </a:rPr>
              <a:t> 접근 가능</a:t>
            </a:r>
          </a:p>
          <a:p>
            <a:pPr lvl="0"/>
            <a:r>
              <a:rPr lang="ko-KR" altLang="en-US" sz="2200" b="1" dirty="0" smtClean="0">
                <a:solidFill>
                  <a:prstClr val="black"/>
                </a:solidFill>
              </a:rPr>
              <a:t>방법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>
                <a:solidFill>
                  <a:prstClr val="black"/>
                </a:solidFill>
              </a:rPr>
              <a:t>컨테이너가 웹 애플리케이션을 시작할 때에 </a:t>
            </a:r>
            <a:r>
              <a:rPr lang="en-US" altLang="ko-KR" dirty="0">
                <a:solidFill>
                  <a:prstClr val="black"/>
                </a:solidFill>
              </a:rPr>
              <a:t>DD(web.xml)</a:t>
            </a:r>
            <a:r>
              <a:rPr lang="ko-KR" altLang="en-US" dirty="0">
                <a:solidFill>
                  <a:prstClr val="black"/>
                </a:solidFill>
              </a:rPr>
              <a:t>파일에서 컨텍스트 초기화 </a:t>
            </a:r>
            <a:r>
              <a:rPr lang="ko-KR" altLang="en-US" dirty="0" err="1">
                <a:solidFill>
                  <a:prstClr val="black"/>
                </a:solidFill>
              </a:rPr>
              <a:t>파라미터를</a:t>
            </a:r>
            <a:r>
              <a:rPr lang="ko-KR" altLang="en-US" dirty="0">
                <a:solidFill>
                  <a:prstClr val="black"/>
                </a:solidFill>
              </a:rPr>
              <a:t> 읽어 </a:t>
            </a:r>
            <a:r>
              <a:rPr lang="en-US" altLang="ko-KR" dirty="0" err="1">
                <a:solidFill>
                  <a:prstClr val="black"/>
                </a:solidFill>
              </a:rPr>
              <a:t>ServletContext</a:t>
            </a:r>
            <a:r>
              <a:rPr lang="ko-KR" altLang="en-US" dirty="0">
                <a:solidFill>
                  <a:prstClr val="black"/>
                </a:solidFill>
              </a:rPr>
              <a:t>객체를 생성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ko-KR" altLang="en-US" dirty="0">
                <a:solidFill>
                  <a:prstClr val="black"/>
                </a:solidFill>
              </a:rPr>
              <a:t>제일 먼저 생성되는 내장 객체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</a:p>
          <a:p>
            <a:pPr lvl="1"/>
            <a:r>
              <a:rPr lang="ko-KR" altLang="en-US" dirty="0" err="1">
                <a:solidFill>
                  <a:prstClr val="black"/>
                </a:solidFill>
              </a:rPr>
              <a:t>서블릿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ko-KR" altLang="en-US" dirty="0">
                <a:solidFill>
                  <a:prstClr val="black"/>
                </a:solidFill>
              </a:rPr>
              <a:t>또는 </a:t>
            </a:r>
            <a:r>
              <a:rPr lang="en-US" altLang="ko-KR" dirty="0">
                <a:solidFill>
                  <a:prstClr val="black"/>
                </a:solidFill>
              </a:rPr>
              <a:t>JSP) </a:t>
            </a:r>
            <a:r>
              <a:rPr lang="ko-KR" altLang="en-US" dirty="0">
                <a:solidFill>
                  <a:prstClr val="black"/>
                </a:solidFill>
              </a:rPr>
              <a:t>초기화 시에 </a:t>
            </a:r>
            <a:r>
              <a:rPr lang="en-US" altLang="ko-KR" dirty="0" err="1">
                <a:solidFill>
                  <a:prstClr val="black"/>
                </a:solidFill>
              </a:rPr>
              <a:t>ServletConfig</a:t>
            </a:r>
            <a:r>
              <a:rPr lang="en-US" altLang="ko-KR" dirty="0">
                <a:solidFill>
                  <a:prstClr val="black"/>
                </a:solidFill>
              </a:rPr>
              <a:t> </a:t>
            </a:r>
            <a:r>
              <a:rPr lang="ko-KR" altLang="en-US" dirty="0">
                <a:solidFill>
                  <a:prstClr val="black"/>
                </a:solidFill>
              </a:rPr>
              <a:t>객체에 </a:t>
            </a:r>
            <a:r>
              <a:rPr lang="en-US" altLang="ko-KR" dirty="0" err="1">
                <a:solidFill>
                  <a:prstClr val="black"/>
                </a:solidFill>
              </a:rPr>
              <a:t>ServletContext</a:t>
            </a:r>
            <a:r>
              <a:rPr lang="en-US" altLang="ko-KR" dirty="0">
                <a:solidFill>
                  <a:prstClr val="black"/>
                </a:solidFill>
              </a:rPr>
              <a:t> </a:t>
            </a:r>
            <a:r>
              <a:rPr lang="ko-KR" altLang="en-US" dirty="0">
                <a:solidFill>
                  <a:prstClr val="black"/>
                </a:solidFill>
              </a:rPr>
              <a:t>객체의 </a:t>
            </a:r>
            <a:r>
              <a:rPr lang="ko-KR" altLang="en-US" dirty="0" err="1">
                <a:solidFill>
                  <a:prstClr val="black"/>
                </a:solidFill>
              </a:rPr>
              <a:t>접근자가</a:t>
            </a:r>
            <a:r>
              <a:rPr lang="ko-KR" altLang="en-US" dirty="0">
                <a:solidFill>
                  <a:prstClr val="black"/>
                </a:solidFill>
              </a:rPr>
              <a:t> 등록되어 전달</a:t>
            </a:r>
          </a:p>
          <a:p>
            <a:pPr lvl="0"/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2"/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9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Context </a:t>
            </a:r>
            <a:r>
              <a:rPr lang="ko-KR" altLang="en-US" sz="2800" dirty="0" smtClean="0"/>
              <a:t>초기화 </a:t>
            </a:r>
            <a:r>
              <a:rPr lang="ko-KR" altLang="en-US" sz="2800" dirty="0" err="1" smtClean="0"/>
              <a:t>파라미터</a:t>
            </a:r>
            <a:endParaRPr lang="ko-KR" altLang="en-US" sz="2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21</a:t>
            </a:fld>
            <a:endParaRPr lang="en-US"/>
          </a:p>
        </p:txBody>
      </p:sp>
      <p:sp>
        <p:nvSpPr>
          <p:cNvPr id="4" name="직사각형 3"/>
          <p:cNvSpPr/>
          <p:nvPr/>
        </p:nvSpPr>
        <p:spPr>
          <a:xfrm>
            <a:off x="625801" y="729466"/>
            <a:ext cx="11118523" cy="34163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helloWorld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servlet-class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com.web.servlet.HelloWorld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servlet-class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init-param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2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u="sng" dirty="0">
                <a:solidFill>
                  <a:srgbClr val="000000"/>
                </a:solidFill>
                <a:latin typeface="Consolas" panose="020B0609020204030204" pitchFamily="49" charset="0"/>
              </a:rPr>
              <a:t>admin</a:t>
            </a:r>
            <a:r>
              <a:rPr lang="en-US" u="sng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u="sng" dirty="0">
                <a:solidFill>
                  <a:srgbClr val="3F7F7F"/>
                </a:solidFill>
                <a:latin typeface="Consolas" panose="020B0609020204030204" pitchFamily="49" charset="0"/>
              </a:rPr>
              <a:t>-name</a:t>
            </a:r>
            <a:r>
              <a:rPr lang="en-US" u="sng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2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-value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userName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-value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init-param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init-param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2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pwd</a:t>
            </a:r>
            <a:r>
              <a:rPr lang="en-US" u="sng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u="sng" dirty="0">
                <a:solidFill>
                  <a:srgbClr val="3F7F7F"/>
                </a:solidFill>
                <a:latin typeface="Consolas" panose="020B0609020204030204" pitchFamily="49" charset="0"/>
              </a:rPr>
              <a:t>-name</a:t>
            </a:r>
            <a:r>
              <a:rPr lang="en-US" u="sng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2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-value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1234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-value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init-param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  <p:sp>
        <p:nvSpPr>
          <p:cNvPr id="7" name="직사각형 6"/>
          <p:cNvSpPr/>
          <p:nvPr/>
        </p:nvSpPr>
        <p:spPr>
          <a:xfrm>
            <a:off x="625801" y="4369884"/>
            <a:ext cx="609600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context-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adminEmail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-value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admin@admin.com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-value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context-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param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481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Context </a:t>
            </a:r>
            <a:r>
              <a:rPr lang="ko-KR" altLang="en-US" sz="2800" dirty="0" smtClean="0"/>
              <a:t>초기화 </a:t>
            </a:r>
            <a:r>
              <a:rPr lang="ko-KR" altLang="en-US" sz="2800" dirty="0" err="1" smtClean="0"/>
              <a:t>파라미터</a:t>
            </a:r>
            <a:endParaRPr lang="ko-KR" altLang="en-US" sz="2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22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9431500" y="1001137"/>
            <a:ext cx="208422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HelloWorld.java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76325" y="3057525"/>
            <a:ext cx="9029700" cy="116205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직사각형 8"/>
          <p:cNvSpPr/>
          <p:nvPr/>
        </p:nvSpPr>
        <p:spPr>
          <a:xfrm>
            <a:off x="1076325" y="4354321"/>
            <a:ext cx="9932670" cy="793695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직사각형 9"/>
          <p:cNvSpPr/>
          <p:nvPr/>
        </p:nvSpPr>
        <p:spPr>
          <a:xfrm>
            <a:off x="619125" y="1399044"/>
            <a:ext cx="10896600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protected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service(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HttpServletRequest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HttpServletResponse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ServletException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PrintWriter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.getWriter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"Hello Servlet"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servletAdmin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getServletConfig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getInitParameter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"admin"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servletPwd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getServletConfig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getInitParameter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pwd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"admin: %</a:t>
            </a:r>
            <a:r>
              <a:rPr lang="en-US" dirty="0" smtClean="0">
                <a:solidFill>
                  <a:srgbClr val="2A00FF"/>
                </a:solidFill>
                <a:latin typeface="Consolas" panose="020B0609020204030204" pitchFamily="49" charset="0"/>
              </a:rPr>
              <a:t>s&lt;</a:t>
            </a:r>
            <a:r>
              <a:rPr lang="en-US" dirty="0" err="1" smtClean="0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dirty="0" smtClean="0">
                <a:solidFill>
                  <a:srgbClr val="2A00FF"/>
                </a:solidFill>
                <a:latin typeface="Consolas" panose="020B0609020204030204" pitchFamily="49" charset="0"/>
              </a:rPr>
              <a:t>&gt;"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servletAdmin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"password: %</a:t>
            </a:r>
            <a:r>
              <a:rPr lang="en-US" dirty="0" smtClean="0">
                <a:solidFill>
                  <a:srgbClr val="2A00FF"/>
                </a:solidFill>
                <a:latin typeface="Consolas" panose="020B0609020204030204" pitchFamily="49" charset="0"/>
              </a:rPr>
              <a:t>s&lt;</a:t>
            </a:r>
            <a:r>
              <a:rPr lang="en-US" dirty="0" err="1" smtClean="0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&gt;</a:t>
            </a:r>
            <a:r>
              <a:rPr lang="en-US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servletPwd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contextEmail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getServletContext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getInitParameter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adminEmail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contextEmail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: %</a:t>
            </a:r>
            <a:r>
              <a:rPr lang="en-US" dirty="0" smtClean="0">
                <a:solidFill>
                  <a:srgbClr val="2A00FF"/>
                </a:solidFill>
                <a:latin typeface="Consolas" panose="020B0609020204030204" pitchFamily="49" charset="0"/>
              </a:rPr>
              <a:t>s&lt;</a:t>
            </a:r>
            <a:r>
              <a:rPr lang="en-US" dirty="0" err="1" smtClean="0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&gt;</a:t>
            </a:r>
            <a:r>
              <a:rPr lang="en-US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contextEmail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285070" y="3850243"/>
            <a:ext cx="820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servlet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30862" y="4778684"/>
            <a:ext cx="88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context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33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89503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4400" dirty="0" err="1" smtClean="0"/>
              <a:t>어노테이션</a:t>
            </a:r>
            <a:r>
              <a:rPr lang="ko-KR" altLang="en-US" sz="4400" dirty="0" smtClean="0"/>
              <a:t> 이용하기</a:t>
            </a:r>
            <a:endParaRPr lang="ko-KR" altLang="en-US" sz="4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4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err="1" smtClean="0"/>
              <a:t>어노테이션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smtClean="0">
                <a:solidFill>
                  <a:prstClr val="black"/>
                </a:solidFill>
              </a:rPr>
              <a:t>Annotation</a:t>
            </a:r>
          </a:p>
          <a:p>
            <a:pPr lvl="1"/>
            <a:r>
              <a:rPr lang="en-US" altLang="ko-KR" dirty="0" smtClean="0"/>
              <a:t>DD</a:t>
            </a:r>
            <a:r>
              <a:rPr lang="ko-KR" altLang="en-US" dirty="0" smtClean="0"/>
              <a:t>파일에 모든 </a:t>
            </a:r>
            <a:r>
              <a:rPr lang="en-US" altLang="ko-KR" dirty="0" smtClean="0"/>
              <a:t>servlet</a:t>
            </a:r>
            <a:r>
              <a:rPr lang="ko-KR" altLang="en-US" dirty="0" smtClean="0"/>
              <a:t>정보를 명세하는 것은 번거로움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컴파일이나 </a:t>
            </a:r>
            <a:r>
              <a:rPr lang="ko-KR" altLang="en-US" dirty="0"/>
              <a:t>배포</a:t>
            </a:r>
            <a:r>
              <a:rPr lang="en-US" altLang="ko-KR" dirty="0"/>
              <a:t>, </a:t>
            </a:r>
            <a:r>
              <a:rPr lang="ko-KR" altLang="en-US" dirty="0"/>
              <a:t>실행할 때 참조할 수 있는 </a:t>
            </a:r>
            <a:r>
              <a:rPr lang="ko-KR" altLang="en-US" dirty="0" err="1" smtClean="0"/>
              <a:t>메타정보인</a:t>
            </a:r>
            <a:r>
              <a:rPr lang="ko-KR" altLang="en-US" dirty="0" smtClean="0"/>
              <a:t> </a:t>
            </a:r>
            <a:r>
              <a:rPr lang="en-US" altLang="ko-KR" dirty="0" smtClean="0"/>
              <a:t>annotation</a:t>
            </a:r>
            <a:r>
              <a:rPr lang="ko-KR" altLang="en-US" dirty="0" smtClean="0"/>
              <a:t>이용</a:t>
            </a:r>
            <a:endParaRPr lang="en-US" altLang="ko-KR" dirty="0" smtClean="0"/>
          </a:p>
          <a:p>
            <a:pPr lvl="1"/>
            <a:r>
              <a:rPr lang="ko-KR" altLang="en-US" dirty="0"/>
              <a:t>주석이므로 프로그램의 의미적인 부분에 직접 영향을 주지 </a:t>
            </a:r>
            <a:r>
              <a:rPr lang="ko-KR" altLang="en-US" dirty="0" smtClean="0"/>
              <a:t>않음</a:t>
            </a:r>
            <a:endParaRPr lang="en-US" altLang="ko-KR" dirty="0" smtClean="0"/>
          </a:p>
          <a:p>
            <a:pPr lvl="1"/>
            <a:r>
              <a:rPr lang="en-US" dirty="0"/>
              <a:t>Servlet API </a:t>
            </a:r>
            <a:r>
              <a:rPr lang="en-US" dirty="0" smtClean="0"/>
              <a:t>3.0</a:t>
            </a:r>
            <a:r>
              <a:rPr lang="ko-KR" altLang="en-US" dirty="0" smtClean="0"/>
              <a:t>에서 </a:t>
            </a:r>
            <a:r>
              <a:rPr lang="en-US" dirty="0" err="1" smtClean="0"/>
              <a:t>javax.servlet.annotation</a:t>
            </a:r>
            <a:r>
              <a:rPr lang="ko-KR" altLang="en-US" dirty="0" smtClean="0"/>
              <a:t>이라는 새로운 패키지 소개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버전 </a:t>
            </a:r>
            <a:r>
              <a:rPr lang="en-US" altLang="ko-KR" dirty="0" smtClean="0"/>
              <a:t>7 </a:t>
            </a:r>
            <a:r>
              <a:rPr lang="ko-KR" altLang="en-US" dirty="0" smtClean="0"/>
              <a:t>이상의 </a:t>
            </a:r>
            <a:r>
              <a:rPr lang="en-US" altLang="ko-KR" dirty="0" smtClean="0"/>
              <a:t>tomcat</a:t>
            </a:r>
            <a:r>
              <a:rPr lang="ko-KR" altLang="en-US" dirty="0" smtClean="0"/>
              <a:t>에서</a:t>
            </a:r>
            <a:r>
              <a:rPr lang="en-US" altLang="ko-KR" dirty="0" smtClean="0"/>
              <a:t> </a:t>
            </a:r>
            <a:r>
              <a:rPr lang="ko-KR" altLang="en-US" dirty="0" smtClean="0"/>
              <a:t>지원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Servlet</a:t>
            </a:r>
            <a:r>
              <a:rPr lang="ko-KR" altLang="en-US" dirty="0" smtClean="0"/>
              <a:t>에서 사용하는 </a:t>
            </a:r>
            <a:r>
              <a:rPr lang="en-US" altLang="ko-KR" dirty="0" smtClean="0"/>
              <a:t>annotation </a:t>
            </a:r>
            <a:r>
              <a:rPr lang="ko-KR" altLang="en-US" dirty="0" smtClean="0"/>
              <a:t>정리</a:t>
            </a:r>
            <a:endParaRPr lang="en-US" altLang="ko-KR" dirty="0" smtClean="0"/>
          </a:p>
          <a:p>
            <a:pPr lvl="2"/>
            <a:r>
              <a:rPr lang="en-US" altLang="ko-KR" dirty="0"/>
              <a:t>https://www.tutorialspoint.com/servlets/servlets-annotations.htm</a:t>
            </a: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US" altLang="ko-KR" sz="2000" b="1" dirty="0" smtClean="0">
              <a:solidFill>
                <a:prstClr val="black"/>
              </a:solidFill>
            </a:endParaRPr>
          </a:p>
          <a:p>
            <a:pPr lvl="2"/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10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Servlet Mapping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200" b="1" smtClean="0">
                <a:solidFill>
                  <a:prstClr val="black"/>
                </a:solidFill>
              </a:rPr>
              <a:t>@WebServlet</a:t>
            </a:r>
          </a:p>
          <a:p>
            <a:pPr lvl="1"/>
            <a:r>
              <a:rPr lang="en-US" altLang="ko-KR" sz="1800" smtClean="0">
                <a:solidFill>
                  <a:prstClr val="black"/>
                </a:solidFill>
              </a:rPr>
              <a:t>Servlet</a:t>
            </a:r>
            <a:r>
              <a:rPr lang="ko-KR" altLang="en-US" sz="1800" smtClean="0">
                <a:solidFill>
                  <a:prstClr val="black"/>
                </a:solidFill>
              </a:rPr>
              <a:t>을 선언하기 위해 사용</a:t>
            </a:r>
            <a:endParaRPr lang="en-US" altLang="ko-KR" sz="180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smtClean="0">
                <a:solidFill>
                  <a:prstClr val="black"/>
                </a:solidFill>
              </a:rPr>
              <a:t>@WebServlet</a:t>
            </a:r>
            <a:r>
              <a:rPr lang="ko-KR" altLang="en-US" sz="1800" smtClean="0">
                <a:solidFill>
                  <a:prstClr val="black"/>
                </a:solidFill>
              </a:rPr>
              <a:t>에는</a:t>
            </a:r>
            <a:r>
              <a:rPr lang="en-US" altLang="ko-KR" sz="1800" smtClean="0">
                <a:solidFill>
                  <a:prstClr val="black"/>
                </a:solidFill>
              </a:rPr>
              <a:t> </a:t>
            </a:r>
            <a:r>
              <a:rPr lang="ko-KR" altLang="en-US" sz="1800" smtClean="0">
                <a:solidFill>
                  <a:prstClr val="black"/>
                </a:solidFill>
              </a:rPr>
              <a:t>다양한 속성을</a:t>
            </a:r>
            <a:r>
              <a:rPr lang="en-US" altLang="ko-KR" sz="1800" smtClean="0">
                <a:solidFill>
                  <a:prstClr val="black"/>
                </a:solidFill>
              </a:rPr>
              <a:t>(attribute) </a:t>
            </a:r>
            <a:r>
              <a:rPr lang="ko-KR" altLang="en-US" sz="1800" smtClean="0">
                <a:solidFill>
                  <a:prstClr val="black"/>
                </a:solidFill>
              </a:rPr>
              <a:t>가지고 있음</a:t>
            </a:r>
            <a:endParaRPr lang="en-US" altLang="ko-KR" sz="1800" smtClean="0">
              <a:solidFill>
                <a:prstClr val="black"/>
              </a:solidFill>
            </a:endParaRPr>
          </a:p>
          <a:p>
            <a:pPr lvl="1"/>
            <a:r>
              <a:rPr lang="en-US" sz="1800" smtClean="0"/>
              <a:t>https://www.javaguides.net/2019/02/webservlet-annotation-example.html</a:t>
            </a:r>
            <a:endParaRPr lang="en-US" sz="1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25</a:t>
            </a:fld>
            <a:endParaRPr lang="en-US"/>
          </a:p>
        </p:txBody>
      </p:sp>
      <p:sp>
        <p:nvSpPr>
          <p:cNvPr id="7" name="직사각형 6"/>
          <p:cNvSpPr/>
          <p:nvPr/>
        </p:nvSpPr>
        <p:spPr>
          <a:xfrm>
            <a:off x="1105782" y="2806184"/>
            <a:ext cx="4151136" cy="369332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WebServlet</a:t>
            </a:r>
            <a:r>
              <a:rPr lang="en-US" dirty="0"/>
              <a:t>(</a:t>
            </a:r>
            <a:r>
              <a:rPr lang="en-US" dirty="0" err="1"/>
              <a:t>urlPatterns</a:t>
            </a:r>
            <a:r>
              <a:rPr lang="en-US" dirty="0"/>
              <a:t> = "/</a:t>
            </a:r>
            <a:r>
              <a:rPr lang="en-US" dirty="0" err="1"/>
              <a:t>helloworld</a:t>
            </a:r>
            <a:r>
              <a:rPr lang="en-US" dirty="0"/>
              <a:t>")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105782" y="3991077"/>
            <a:ext cx="4356321" cy="369332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WebServlet</a:t>
            </a:r>
            <a:r>
              <a:rPr lang="en-US" dirty="0"/>
              <a:t>(</a:t>
            </a:r>
            <a:r>
              <a:rPr lang="en-US" dirty="0" err="1"/>
              <a:t>urlPatterns</a:t>
            </a:r>
            <a:r>
              <a:rPr lang="en-US" dirty="0"/>
              <a:t> = "/</a:t>
            </a:r>
            <a:r>
              <a:rPr lang="en-US" dirty="0" err="1" smtClean="0"/>
              <a:t>helloworld</a:t>
            </a:r>
            <a:r>
              <a:rPr lang="en-US" dirty="0" smtClean="0"/>
              <a:t>/*")</a:t>
            </a:r>
            <a:endParaRPr 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1105782" y="3390889"/>
            <a:ext cx="5398144" cy="369332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WebServlet</a:t>
            </a:r>
            <a:r>
              <a:rPr lang="en-US" dirty="0"/>
              <a:t>(</a:t>
            </a:r>
            <a:r>
              <a:rPr lang="en-US" dirty="0" err="1"/>
              <a:t>urlPatterns</a:t>
            </a:r>
            <a:r>
              <a:rPr lang="en-US" dirty="0"/>
              <a:t> = {"/</a:t>
            </a:r>
            <a:r>
              <a:rPr lang="en-US" dirty="0" err="1"/>
              <a:t>helloword</a:t>
            </a:r>
            <a:r>
              <a:rPr lang="en-US" dirty="0"/>
              <a:t>", "/greeting"})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105782" y="4644110"/>
            <a:ext cx="2844048" cy="369332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WebServlet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"/hello"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82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Servlet Mapping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>
                <a:solidFill>
                  <a:prstClr val="black"/>
                </a:solidFill>
              </a:rPr>
              <a:t>@</a:t>
            </a:r>
            <a:r>
              <a:rPr lang="en-US" altLang="ko-KR" sz="2200" b="1" dirty="0" err="1" smtClean="0">
                <a:solidFill>
                  <a:prstClr val="black"/>
                </a:solidFill>
              </a:rPr>
              <a:t>WebInitParam</a:t>
            </a:r>
            <a:endParaRPr lang="ko-KR" altLang="en-US" sz="2200" b="1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>
                <a:solidFill>
                  <a:prstClr val="black"/>
                </a:solidFill>
              </a:rPr>
              <a:t>Servlet or a </a:t>
            </a:r>
            <a:r>
              <a:rPr lang="en-US" altLang="ko-KR" sz="1800" dirty="0" smtClean="0">
                <a:solidFill>
                  <a:prstClr val="black"/>
                </a:solidFill>
              </a:rPr>
              <a:t>Filter</a:t>
            </a:r>
            <a:r>
              <a:rPr lang="ko-KR" altLang="en-US" sz="1800" dirty="0" smtClean="0">
                <a:solidFill>
                  <a:prstClr val="black"/>
                </a:solidFill>
              </a:rPr>
              <a:t>의</a:t>
            </a:r>
            <a:r>
              <a:rPr lang="en-US" altLang="ko-KR" sz="1800" dirty="0" smtClean="0">
                <a:solidFill>
                  <a:prstClr val="black"/>
                </a:solidFill>
              </a:rPr>
              <a:t> </a:t>
            </a:r>
            <a:r>
              <a:rPr lang="ko-KR" altLang="en-US" sz="1800" dirty="0" smtClean="0">
                <a:solidFill>
                  <a:prstClr val="black"/>
                </a:solidFill>
              </a:rPr>
              <a:t>초기화 </a:t>
            </a:r>
            <a:r>
              <a:rPr lang="ko-KR" altLang="en-US" sz="1800" dirty="0" err="1" smtClean="0">
                <a:solidFill>
                  <a:prstClr val="black"/>
                </a:solidFill>
              </a:rPr>
              <a:t>파라미터</a:t>
            </a:r>
            <a:r>
              <a:rPr lang="ko-KR" altLang="en-US" sz="1800" dirty="0" smtClean="0">
                <a:solidFill>
                  <a:prstClr val="black"/>
                </a:solidFill>
              </a:rPr>
              <a:t> 명시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1800" dirty="0">
              <a:solidFill>
                <a:prstClr val="black"/>
              </a:solidFill>
            </a:endParaRPr>
          </a:p>
          <a:p>
            <a:r>
              <a:rPr lang="en-US" altLang="ko-KR" sz="2200" b="1" dirty="0" smtClean="0">
                <a:solidFill>
                  <a:prstClr val="black"/>
                </a:solidFill>
              </a:rPr>
              <a:t>@</a:t>
            </a:r>
            <a:r>
              <a:rPr lang="en-US" altLang="ko-KR" sz="2200" b="1" dirty="0" err="1" smtClean="0">
                <a:solidFill>
                  <a:prstClr val="black"/>
                </a:solidFill>
              </a:rPr>
              <a:t>WebFilter</a:t>
            </a:r>
            <a:endParaRPr lang="ko-KR" altLang="en-US" sz="2200" b="1" dirty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 smtClean="0">
                <a:solidFill>
                  <a:prstClr val="black"/>
                </a:solidFill>
              </a:rPr>
              <a:t>servlet filter</a:t>
            </a:r>
            <a:r>
              <a:rPr lang="ko-KR" altLang="en-US" sz="1800" dirty="0" smtClean="0">
                <a:solidFill>
                  <a:prstClr val="black"/>
                </a:solidFill>
              </a:rPr>
              <a:t> </a:t>
            </a:r>
            <a:r>
              <a:rPr lang="ko-KR" altLang="en-US" sz="1800" dirty="0">
                <a:solidFill>
                  <a:prstClr val="black"/>
                </a:solidFill>
              </a:rPr>
              <a:t>명시</a:t>
            </a:r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26</a:t>
            </a:fld>
            <a:endParaRPr lang="en-US"/>
          </a:p>
        </p:txBody>
      </p:sp>
      <p:sp>
        <p:nvSpPr>
          <p:cNvPr id="4" name="직사각형 3"/>
          <p:cNvSpPr/>
          <p:nvPr/>
        </p:nvSpPr>
        <p:spPr>
          <a:xfrm>
            <a:off x="1104900" y="1798588"/>
            <a:ext cx="8591550" cy="2031325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dirty="0" err="1">
                <a:solidFill>
                  <a:srgbClr val="646464"/>
                </a:solidFill>
                <a:latin typeface="Consolas" panose="020B0609020204030204" pitchFamily="49" charset="0"/>
              </a:rPr>
              <a:t>WebServlet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urlPatterns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{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"/hello"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initParams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{</a:t>
            </a:r>
          </a:p>
          <a:p>
            <a:pPr lvl="2"/>
            <a:r>
              <a:rPr lang="en-US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dirty="0" err="1">
                <a:solidFill>
                  <a:srgbClr val="646464"/>
                </a:solidFill>
                <a:latin typeface="Consolas" panose="020B0609020204030204" pitchFamily="49" charset="0"/>
              </a:rPr>
              <a:t>WebInitParam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"admin"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value = 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userName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pPr lvl="2"/>
            <a:r>
              <a:rPr lang="en-US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dirty="0" err="1">
                <a:solidFill>
                  <a:srgbClr val="646464"/>
                </a:solidFill>
                <a:latin typeface="Consolas" panose="020B0609020204030204" pitchFamily="49" charset="0"/>
              </a:rPr>
              <a:t>WebInitParam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pwd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value = 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"1234"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104900" y="5475504"/>
            <a:ext cx="8591550" cy="1200329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dirty="0" err="1">
                <a:solidFill>
                  <a:srgbClr val="646464"/>
                </a:solidFill>
                <a:latin typeface="Consolas" panose="020B0609020204030204" pitchFamily="49" charset="0"/>
              </a:rPr>
              <a:t>WebFilter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value =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"/kor1"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"/kor2"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initParams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dirty="0" err="1">
                <a:solidFill>
                  <a:srgbClr val="646464"/>
                </a:solidFill>
                <a:latin typeface="Consolas" panose="020B0609020204030204" pitchFamily="49" charset="0"/>
              </a:rPr>
              <a:t>WebInitParam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"encoding"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value = 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"UTF-8"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104900" y="5048510"/>
            <a:ext cx="2210862" cy="369332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dirty="0" err="1">
                <a:solidFill>
                  <a:srgbClr val="646464"/>
                </a:solidFill>
                <a:latin typeface="Consolas" panose="020B0609020204030204" pitchFamily="49" charset="0"/>
              </a:rPr>
              <a:t>WebFilter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"/*"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196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17064</TotalTime>
  <Words>1601</Words>
  <Application>Microsoft Office PowerPoint</Application>
  <PresentationFormat>와이드스크린</PresentationFormat>
  <Paragraphs>464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5" baseType="lpstr">
      <vt:lpstr>Arial Unicode MS</vt:lpstr>
      <vt:lpstr>Dotum</vt:lpstr>
      <vt:lpstr>맑은 고딕</vt:lpstr>
      <vt:lpstr>Arial</vt:lpstr>
      <vt:lpstr>Calibri</vt:lpstr>
      <vt:lpstr>Calibri Light</vt:lpstr>
      <vt:lpstr>Consolas</vt:lpstr>
      <vt:lpstr>Wingdings</vt:lpstr>
      <vt:lpstr>Office 테마</vt:lpstr>
      <vt:lpstr>Servlet 이해하기</vt:lpstr>
      <vt:lpstr>Servlet 이해하기</vt:lpstr>
      <vt:lpstr>servlet의 생명주기</vt:lpstr>
      <vt:lpstr>서블릿의 핵심 메서드</vt:lpstr>
      <vt:lpstr>서블릿의 핵심 메서드</vt:lpstr>
      <vt:lpstr>서블릿의 핵심 메서드</vt:lpstr>
      <vt:lpstr>요청처리</vt:lpstr>
      <vt:lpstr>HttpServletRequest</vt:lpstr>
      <vt:lpstr>PowerPoint 프레젠테이션</vt:lpstr>
      <vt:lpstr>HttpServletRequest</vt:lpstr>
      <vt:lpstr>HttpServletRequest</vt:lpstr>
      <vt:lpstr>HttpServletResponse</vt:lpstr>
      <vt:lpstr>PowerPoint 프레젠테이션</vt:lpstr>
      <vt:lpstr>Servlet Mapping</vt:lpstr>
      <vt:lpstr>Servlet 이해하기</vt:lpstr>
      <vt:lpstr>Servlet 이해하기</vt:lpstr>
      <vt:lpstr>Servlet 이해하기</vt:lpstr>
      <vt:lpstr>Servlet 이해하기</vt:lpstr>
      <vt:lpstr>Servlet 초기화 파라미터</vt:lpstr>
      <vt:lpstr>Context 초기화 파라미터</vt:lpstr>
      <vt:lpstr>Context 초기화 파라미터</vt:lpstr>
      <vt:lpstr>Context 초기화 파라미터</vt:lpstr>
      <vt:lpstr>어노테이션 이용하기</vt:lpstr>
      <vt:lpstr>어노테이션</vt:lpstr>
      <vt:lpstr>Servlet Mapping</vt:lpstr>
      <vt:lpstr>Servlet Mapping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3661</cp:revision>
  <dcterms:created xsi:type="dcterms:W3CDTF">2020-03-06T01:35:43Z</dcterms:created>
  <dcterms:modified xsi:type="dcterms:W3CDTF">2020-06-16T08:45:53Z</dcterms:modified>
  <cp:version>1000.0000.01</cp:version>
</cp:coreProperties>
</file>