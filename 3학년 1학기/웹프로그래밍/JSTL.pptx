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8" r:id="rId1"/>
  </p:sldMasterIdLst>
  <p:notesMasterIdLst>
    <p:notesMasterId r:id="rId23"/>
  </p:notesMasterIdLst>
  <p:sldIdLst>
    <p:sldId id="357" r:id="rId2"/>
    <p:sldId id="360" r:id="rId3"/>
    <p:sldId id="374" r:id="rId4"/>
    <p:sldId id="346" r:id="rId5"/>
    <p:sldId id="358" r:id="rId6"/>
    <p:sldId id="359" r:id="rId7"/>
    <p:sldId id="361" r:id="rId8"/>
    <p:sldId id="362" r:id="rId9"/>
    <p:sldId id="363" r:id="rId10"/>
    <p:sldId id="364" r:id="rId11"/>
    <p:sldId id="373" r:id="rId12"/>
    <p:sldId id="376" r:id="rId13"/>
    <p:sldId id="365" r:id="rId14"/>
    <p:sldId id="366" r:id="rId15"/>
    <p:sldId id="368" r:id="rId16"/>
    <p:sldId id="367" r:id="rId17"/>
    <p:sldId id="370" r:id="rId18"/>
    <p:sldId id="375" r:id="rId19"/>
    <p:sldId id="371" r:id="rId20"/>
    <p:sldId id="377" r:id="rId21"/>
    <p:sldId id="3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BC5610"/>
    <a:srgbClr val="ADFF2F"/>
    <a:srgbClr val="7FFFD4"/>
    <a:srgbClr val="FFA500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82" y="10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9B25A7D-0240-4D0E-A5B3-3234B957F6EF}" type="datetime1">
              <a:rPr lang="en-US"/>
              <a:pPr lvl="0">
                <a:defRPr/>
              </a:pPr>
              <a:t>6/3/2020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163349B-D4CA-41F9-BE36-059942AD9331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DAD7-809B-4C4A-8A23-1E146EAD9E8F}" type="datetime1">
              <a:rPr lang="en-US" smtClean="0"/>
              <a:t>6/3/2020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lnSpc>
                <a:spcPct val="140000"/>
              </a:lnSpc>
              <a:defRPr sz="2400">
                <a:latin typeface="+mn-ea"/>
                <a:ea typeface="+mn-ea"/>
              </a:defRPr>
            </a:lvl1pPr>
            <a:lvl2pPr marL="685800" indent="-228600">
              <a:lnSpc>
                <a:spcPct val="140000"/>
              </a:lnSpc>
              <a:buFont typeface="Wingdings"/>
              <a:buChar char="§"/>
              <a:defRPr sz="2000">
                <a:latin typeface="+mn-ea"/>
                <a:ea typeface="+mn-ea"/>
              </a:defRPr>
            </a:lvl2pPr>
            <a:lvl3pPr>
              <a:lnSpc>
                <a:spcPct val="140000"/>
              </a:lnSpc>
              <a:defRPr sz="1800">
                <a:latin typeface="+mn-ea"/>
                <a:ea typeface="+mn-ea"/>
              </a:defRPr>
            </a:lvl3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06EDA91-2055-40FE-B45A-5804B08C2696}" type="datetime1">
              <a:rPr lang="en-US" smtClean="0"/>
              <a:t>6/3/2020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27048" y="6356350"/>
            <a:ext cx="2743200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C795-451E-46E0-AE92-5A497CF41061}" type="datetime1">
              <a:rPr lang="en-US" smtClean="0"/>
              <a:t>6/3/2020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975-3397-4FC8-A820-2112C504E006}" type="datetime1">
              <a:rPr lang="en-US" smtClean="0"/>
              <a:t>6/3/2020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B25CA-AD45-4C95-8C23-1C6A039469A5}" type="datetime1">
              <a:rPr lang="en-US" smtClean="0"/>
              <a:t>6/3/2020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2E71-0A1A-4073-B60F-FA59C2CA001A}" type="datetime1">
              <a:rPr lang="en-US" smtClean="0"/>
              <a:t>6/3/2020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758C-1694-4565-82D4-EBBF833CB257}" type="datetime1">
              <a:rPr lang="en-US" smtClean="0"/>
              <a:t>6/3/2020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5484-FD6D-41C0-A29C-477D0CF69679}" type="datetime1">
              <a:rPr lang="en-US" smtClean="0"/>
              <a:t>6/3/2020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1DD6-19D4-44B1-8E93-C64691C69E13}" type="datetime1">
              <a:rPr lang="en-US" smtClean="0"/>
              <a:t>6/3/2020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33E4-9C34-4B01-AEFF-3C6F1AF12FD7}" type="datetime1">
              <a:rPr lang="en-US" smtClean="0"/>
              <a:t>6/3/2020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2B1E-F176-43F3-BFB4-FA11701E5307}" type="datetime1">
              <a:rPr lang="en-US" smtClean="0"/>
              <a:t>6/3/2020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D2D49-5DE7-4756-AE86-CEB698DB686D}" type="datetime1">
              <a:rPr lang="en-US" smtClean="0"/>
              <a:t>6/3/2020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1297854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sz="4400" dirty="0" smtClean="0"/>
              <a:t>JSTL</a:t>
            </a:r>
            <a:br>
              <a:rPr lang="en-US" altLang="ko-KR" sz="4400" dirty="0" smtClean="0"/>
            </a:br>
            <a:r>
              <a:rPr lang="en-US" altLang="ko-KR" sz="4400" dirty="0"/>
              <a:t>(JSP Standard Tag Library)</a:t>
            </a:r>
            <a:endParaRPr lang="ko-KR" altLang="en-US" sz="4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3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latin typeface="Times New Roman" pitchFamily="18" charset="0"/>
                <a:ea typeface="Arial Unicode MS"/>
                <a:cs typeface="Times New Roman" pitchFamily="18" charset="0"/>
              </a:rPr>
              <a:t>JSTL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</a:t>
            </a:fld>
            <a:endParaRPr 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039092" y="1837112"/>
            <a:ext cx="5020887" cy="24107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직사각형 6"/>
          <p:cNvSpPr/>
          <p:nvPr/>
        </p:nvSpPr>
        <p:spPr>
          <a:xfrm>
            <a:off x="530552" y="931269"/>
            <a:ext cx="11381586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List&lt;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BoardDTO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 list = </a:t>
            </a:r>
            <a:r>
              <a:rPr lang="en-US" u="sng" dirty="0">
                <a:solidFill>
                  <a:srgbClr val="000000"/>
                </a:solidFill>
                <a:latin typeface="Consolas" panose="020B0609020204030204" pitchFamily="49" charset="0"/>
              </a:rPr>
              <a:t>(List&lt;</a:t>
            </a:r>
            <a:r>
              <a:rPr lang="en-US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BoardDTO</a:t>
            </a:r>
            <a:r>
              <a:rPr lang="en-US" u="sng" dirty="0">
                <a:solidFill>
                  <a:srgbClr val="000000"/>
                </a:solidFill>
                <a:latin typeface="Consolas" panose="020B0609020204030204" pitchFamily="49" charset="0"/>
              </a:rPr>
              <a:t>&gt;) </a:t>
            </a:r>
            <a:r>
              <a:rPr lang="en-US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request.getAttribute</a:t>
            </a:r>
            <a:r>
              <a:rPr lang="en-US" u="sng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u="sng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u="sng" dirty="0" err="1">
                <a:solidFill>
                  <a:srgbClr val="2A00FF"/>
                </a:solidFill>
                <a:latin typeface="Consolas" panose="020B0609020204030204" pitchFamily="49" charset="0"/>
              </a:rPr>
              <a:t>boardDto</a:t>
            </a:r>
            <a:r>
              <a:rPr lang="en-US" u="sng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u="sng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BoardDTO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dto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: list) {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pageContext.setAttribute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dto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tr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${dto.id}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dto.title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dto.writer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dto.contents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dto.regdate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dto.hit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tr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0552" y="5144161"/>
            <a:ext cx="106411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JSP</a:t>
            </a:r>
            <a:r>
              <a:rPr lang="ko-KR" altLang="en-US" dirty="0" smtClean="0"/>
              <a:t>에서 </a:t>
            </a:r>
            <a:r>
              <a:rPr lang="en-US" dirty="0" smtClean="0"/>
              <a:t>for</a:t>
            </a:r>
            <a:r>
              <a:rPr lang="ko-KR" altLang="en-US" dirty="0" smtClean="0"/>
              <a:t>문</a:t>
            </a:r>
            <a:r>
              <a:rPr lang="en-US" altLang="ko-KR" dirty="0"/>
              <a:t> (</a:t>
            </a:r>
            <a:r>
              <a:rPr lang="ko-KR" altLang="en-US" dirty="0" err="1">
                <a:solidFill>
                  <a:srgbClr val="0000FF"/>
                </a:solidFill>
              </a:rPr>
              <a:t>스크립틀릿</a:t>
            </a:r>
            <a:r>
              <a:rPr lang="en-US" altLang="ko-KR" dirty="0"/>
              <a:t>)</a:t>
            </a:r>
            <a:r>
              <a:rPr lang="ko-KR" altLang="en-US" dirty="0" smtClean="0"/>
              <a:t> 안에 </a:t>
            </a:r>
            <a:r>
              <a:rPr lang="en-US" altLang="ko-KR" dirty="0" smtClean="0">
                <a:solidFill>
                  <a:srgbClr val="0000FF"/>
                </a:solidFill>
              </a:rPr>
              <a:t>EL</a:t>
            </a:r>
            <a:r>
              <a:rPr lang="ko-KR" altLang="en-US" dirty="0" smtClean="0"/>
              <a:t>을 사용하여 </a:t>
            </a:r>
            <a:r>
              <a:rPr lang="en-US" altLang="ko-KR" dirty="0" smtClean="0"/>
              <a:t>attribute</a:t>
            </a:r>
            <a:r>
              <a:rPr lang="ko-KR" altLang="en-US" dirty="0" smtClean="0"/>
              <a:t>에 접근하기 위해서 </a:t>
            </a:r>
            <a:r>
              <a:rPr lang="ko-KR" altLang="en-US" dirty="0" err="1" smtClean="0"/>
              <a:t>가독성이</a:t>
            </a:r>
            <a:r>
              <a:rPr lang="ko-KR" altLang="en-US" dirty="0" smtClean="0"/>
              <a:t> 떨어지는 코드 작성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dirty="0" smtClean="0">
                <a:sym typeface="Wingdings" panose="05000000000000000000" pitchFamily="2" charset="2"/>
              </a:rPr>
              <a:t> JSP </a:t>
            </a:r>
            <a:r>
              <a:rPr lang="ko-KR" altLang="en-US" dirty="0" smtClean="0">
                <a:sym typeface="Wingdings" panose="05000000000000000000" pitchFamily="2" charset="2"/>
              </a:rPr>
              <a:t>페이지를 간결하게 표현할 수 있도록 도와주는 라이브러리가 필요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latin typeface="Times New Roman" pitchFamily="18" charset="0"/>
                <a:ea typeface="Arial Unicode MS"/>
                <a:cs typeface="Times New Roman" pitchFamily="18" charset="0"/>
              </a:rPr>
              <a:t>JSTL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3</a:t>
            </a:fld>
            <a:endParaRPr 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82766" y="4736221"/>
            <a:ext cx="847024" cy="24107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직사각형 7"/>
          <p:cNvSpPr/>
          <p:nvPr/>
        </p:nvSpPr>
        <p:spPr>
          <a:xfrm>
            <a:off x="582766" y="2295050"/>
            <a:ext cx="847024" cy="24107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직사각형 8"/>
          <p:cNvSpPr/>
          <p:nvPr/>
        </p:nvSpPr>
        <p:spPr>
          <a:xfrm>
            <a:off x="582766" y="1200604"/>
            <a:ext cx="847024" cy="24107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직사각형 9"/>
          <p:cNvSpPr/>
          <p:nvPr/>
        </p:nvSpPr>
        <p:spPr>
          <a:xfrm>
            <a:off x="530552" y="1114425"/>
            <a:ext cx="10532226" cy="3970318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List&lt;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BoardDTO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 list = </a:t>
            </a:r>
            <a:r>
              <a:rPr lang="en-US" u="sng" dirty="0">
                <a:solidFill>
                  <a:srgbClr val="000000"/>
                </a:solidFill>
                <a:latin typeface="Consolas" panose="020B0609020204030204" pitchFamily="49" charset="0"/>
              </a:rPr>
              <a:t>(List&lt;</a:t>
            </a:r>
            <a:r>
              <a:rPr lang="en-US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BoardDTO</a:t>
            </a:r>
            <a:r>
              <a:rPr lang="en-US" u="sng" dirty="0">
                <a:solidFill>
                  <a:srgbClr val="000000"/>
                </a:solidFill>
                <a:latin typeface="Consolas" panose="020B0609020204030204" pitchFamily="49" charset="0"/>
              </a:rPr>
              <a:t>&gt;) </a:t>
            </a:r>
            <a:r>
              <a:rPr lang="en-US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request.getAttribute</a:t>
            </a:r>
            <a:r>
              <a:rPr lang="en-US" u="sng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u="sng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u="sng" dirty="0" err="1">
                <a:solidFill>
                  <a:srgbClr val="2A00FF"/>
                </a:solidFill>
                <a:latin typeface="Consolas" panose="020B0609020204030204" pitchFamily="49" charset="0"/>
              </a:rPr>
              <a:t>boardDto</a:t>
            </a:r>
            <a:r>
              <a:rPr lang="en-US" u="sng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u="sng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BoardDTO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dto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: list) {</a:t>
            </a:r>
          </a:p>
          <a:p>
            <a:pPr lvl="1"/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pageContext.setAttribute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("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dto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",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dto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tr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&lt;%=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dto.getId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&lt;%=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dto.getTitle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&lt;%=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dto.getWriter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&lt;%=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dto.getContents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&lt;%=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dto.getRegdate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&lt;%=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dto.getHit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tr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0552" y="5144161"/>
            <a:ext cx="937910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expression</a:t>
            </a:r>
            <a:r>
              <a:rPr lang="ko-KR" altLang="en-US" dirty="0"/>
              <a:t>을 </a:t>
            </a:r>
            <a:r>
              <a:rPr lang="ko-KR" altLang="en-US" dirty="0" smtClean="0"/>
              <a:t>사용하면 </a:t>
            </a:r>
            <a:r>
              <a:rPr lang="en-US" dirty="0" smtClean="0"/>
              <a:t>page</a:t>
            </a:r>
            <a:r>
              <a:rPr lang="ko-KR" altLang="en-US" dirty="0" smtClean="0"/>
              <a:t>범위에 속성 지정을 생략할 수 있으나 여전히 </a:t>
            </a:r>
            <a:r>
              <a:rPr lang="ko-KR" altLang="en-US" dirty="0" err="1" smtClean="0"/>
              <a:t>가독성은</a:t>
            </a:r>
            <a:r>
              <a:rPr lang="ko-KR" altLang="en-US" dirty="0" smtClean="0"/>
              <a:t> 떨어짐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99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latin typeface="Times New Roman" pitchFamily="18" charset="0"/>
                <a:ea typeface="Arial Unicode MS"/>
                <a:cs typeface="Times New Roman" pitchFamily="18" charset="0"/>
              </a:rPr>
              <a:t>JSTL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itchFamily="18" charset="0"/>
                <a:ea typeface="Arial Unicode MS"/>
                <a:cs typeface="Times New Roman" pitchFamily="18" charset="0"/>
              </a:rPr>
              <a:t>JSTL</a:t>
            </a: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r>
              <a:rPr lang="ko-KR" altLang="en-US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이란</a:t>
            </a: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?</a:t>
            </a:r>
          </a:p>
          <a:p>
            <a:pPr lvl="1"/>
            <a:r>
              <a:rPr lang="en-US" altLang="ko-KR" sz="1800" b="1" dirty="0">
                <a:latin typeface="Times New Roman" pitchFamily="18" charset="0"/>
                <a:ea typeface="Arial Unicode MS"/>
                <a:cs typeface="Times New Roman" pitchFamily="18" charset="0"/>
              </a:rPr>
              <a:t>JSP</a:t>
            </a:r>
            <a:r>
              <a:rPr lang="en-US" altLang="ko-KR" sz="1800" dirty="0">
                <a:ea typeface="Arial Unicode MS"/>
              </a:rPr>
              <a:t> </a:t>
            </a:r>
            <a:r>
              <a:rPr lang="ko-KR" altLang="en-US" sz="1800" dirty="0">
                <a:ea typeface="Arial Unicode MS"/>
              </a:rPr>
              <a:t>표준 태그 라이브러리</a:t>
            </a:r>
            <a:r>
              <a:rPr lang="en-US" altLang="ko-KR" sz="1800" dirty="0">
                <a:ea typeface="Arial Unicode MS"/>
              </a:rPr>
              <a:t>(</a:t>
            </a:r>
            <a:r>
              <a:rPr lang="en-US" altLang="ko-KR" sz="1800" b="1" dirty="0">
                <a:latin typeface="Times New Roman" pitchFamily="18" charset="0"/>
                <a:ea typeface="Arial Unicode MS"/>
                <a:cs typeface="Times New Roman" pitchFamily="18" charset="0"/>
              </a:rPr>
              <a:t>JSP Standard Tag Library</a:t>
            </a:r>
            <a:r>
              <a:rPr lang="en-US" altLang="ko-KR" sz="1800" dirty="0">
                <a:ea typeface="Arial Unicode MS"/>
              </a:rPr>
              <a:t>)</a:t>
            </a:r>
            <a:r>
              <a:rPr lang="ko-KR" altLang="en-US" sz="1800" dirty="0">
                <a:ea typeface="Arial Unicode MS"/>
              </a:rPr>
              <a:t>의 약어</a:t>
            </a:r>
            <a:endParaRPr lang="en-US" altLang="ko-KR" sz="1800" dirty="0">
              <a:ea typeface="Arial Unicode MS"/>
            </a:endParaRPr>
          </a:p>
          <a:p>
            <a:pPr lvl="1"/>
            <a:r>
              <a:rPr lang="ko-KR" altLang="en-US" sz="1800" dirty="0" smtClean="0">
                <a:ea typeface="Arial Unicode MS"/>
              </a:rPr>
              <a:t>사용목적</a:t>
            </a:r>
            <a:endParaRPr lang="en-US" altLang="ko-KR" sz="1800" dirty="0">
              <a:ea typeface="Arial Unicode MS"/>
            </a:endParaRPr>
          </a:p>
          <a:p>
            <a:pPr lvl="2"/>
            <a:r>
              <a:rPr lang="en-US" altLang="ko-KR" dirty="0" smtClean="0">
                <a:solidFill>
                  <a:srgbClr val="0000FF"/>
                </a:solidFill>
                <a:ea typeface="Arial Unicode MS"/>
              </a:rPr>
              <a:t>JSP </a:t>
            </a:r>
            <a:r>
              <a:rPr lang="ko-KR" altLang="en-US" dirty="0" smtClean="0">
                <a:solidFill>
                  <a:srgbClr val="0000FF"/>
                </a:solidFill>
                <a:ea typeface="Arial Unicode MS"/>
              </a:rPr>
              <a:t>사용을 더 편리하게</a:t>
            </a:r>
            <a:endParaRPr lang="en-US" altLang="ko-KR" dirty="0" smtClean="0">
              <a:solidFill>
                <a:srgbClr val="0000FF"/>
              </a:solidFill>
              <a:ea typeface="Arial Unicode MS"/>
            </a:endParaRPr>
          </a:p>
          <a:p>
            <a:pPr lvl="2"/>
            <a:r>
              <a:rPr lang="ko-KR" altLang="en-US" dirty="0" smtClean="0">
                <a:ea typeface="Arial Unicode MS"/>
              </a:rPr>
              <a:t>자바의 </a:t>
            </a:r>
            <a:r>
              <a:rPr lang="ko-KR" altLang="en-US" dirty="0">
                <a:ea typeface="Arial Unicode MS"/>
              </a:rPr>
              <a:t>변수 선언</a:t>
            </a:r>
            <a:r>
              <a:rPr lang="en-US" altLang="ko-KR" dirty="0">
                <a:ea typeface="Arial Unicode MS"/>
              </a:rPr>
              <a:t>, </a:t>
            </a:r>
            <a:r>
              <a:rPr lang="en-US" altLang="ko-KR" b="1" dirty="0">
                <a:latin typeface="Times New Roman" pitchFamily="18" charset="0"/>
                <a:ea typeface="Arial Unicode MS"/>
                <a:cs typeface="Times New Roman" pitchFamily="18" charset="0"/>
              </a:rPr>
              <a:t>if</a:t>
            </a:r>
            <a:r>
              <a:rPr lang="en-US" altLang="ko-KR" dirty="0">
                <a:ea typeface="Arial Unicode MS"/>
              </a:rPr>
              <a:t> </a:t>
            </a:r>
            <a:r>
              <a:rPr lang="ko-KR" altLang="en-US" dirty="0">
                <a:ea typeface="Arial Unicode MS"/>
              </a:rPr>
              <a:t>문</a:t>
            </a:r>
            <a:r>
              <a:rPr lang="en-US" altLang="ko-KR" dirty="0">
                <a:ea typeface="Arial Unicode MS"/>
              </a:rPr>
              <a:t>, </a:t>
            </a:r>
            <a:r>
              <a:rPr lang="en-US" altLang="ko-KR" b="1" dirty="0">
                <a:latin typeface="Times New Roman" pitchFamily="18" charset="0"/>
                <a:ea typeface="Arial Unicode MS"/>
                <a:cs typeface="Times New Roman" pitchFamily="18" charset="0"/>
              </a:rPr>
              <a:t>for</a:t>
            </a:r>
            <a:r>
              <a:rPr lang="en-US" altLang="ko-KR" dirty="0">
                <a:ea typeface="Arial Unicode MS"/>
              </a:rPr>
              <a:t> </a:t>
            </a:r>
            <a:r>
              <a:rPr lang="ko-KR" altLang="en-US" dirty="0">
                <a:ea typeface="Arial Unicode MS"/>
              </a:rPr>
              <a:t>문 </a:t>
            </a:r>
            <a:r>
              <a:rPr lang="ko-KR" altLang="en-US" dirty="0" smtClean="0">
                <a:ea typeface="Arial Unicode MS"/>
              </a:rPr>
              <a:t>등을 </a:t>
            </a:r>
            <a:r>
              <a:rPr lang="ko-KR" altLang="en-US" dirty="0" err="1" smtClean="0">
                <a:ea typeface="Arial Unicode MS"/>
              </a:rPr>
              <a:t>스크립틀릿</a:t>
            </a:r>
            <a:r>
              <a:rPr lang="ko-KR" altLang="en-US" dirty="0" smtClean="0">
                <a:ea typeface="Arial Unicode MS"/>
              </a:rPr>
              <a:t> 없이 구현</a:t>
            </a:r>
            <a:r>
              <a:rPr lang="en-US" altLang="ko-KR" dirty="0" smtClean="0">
                <a:ea typeface="Arial Unicode MS"/>
              </a:rPr>
              <a:t>(&lt;%%&gt;)</a:t>
            </a:r>
            <a:endParaRPr lang="en-US" altLang="ko-KR" dirty="0">
              <a:ea typeface="Arial Unicode MS"/>
            </a:endParaRPr>
          </a:p>
          <a:p>
            <a:pPr lvl="2"/>
            <a:r>
              <a:rPr lang="en-US" altLang="ko-KR" dirty="0" smtClean="0">
                <a:ea typeface="Arial Unicode MS"/>
              </a:rPr>
              <a:t>redirect, include</a:t>
            </a:r>
            <a:r>
              <a:rPr lang="ko-KR" altLang="en-US" dirty="0" smtClean="0">
                <a:ea typeface="Arial Unicode MS"/>
              </a:rPr>
              <a:t>를 쉽게 구현</a:t>
            </a:r>
            <a:r>
              <a:rPr lang="en-US" altLang="ko-KR" dirty="0" smtClean="0">
                <a:ea typeface="Arial Unicode MS"/>
              </a:rPr>
              <a:t>(&lt;</a:t>
            </a:r>
            <a:r>
              <a:rPr lang="en-US" altLang="ko-KR" b="1" dirty="0" err="1">
                <a:latin typeface="Times New Roman" pitchFamily="18" charset="0"/>
                <a:ea typeface="Arial Unicode MS"/>
                <a:cs typeface="Times New Roman" pitchFamily="18" charset="0"/>
              </a:rPr>
              <a:t>c:redirect</a:t>
            </a:r>
            <a:r>
              <a:rPr lang="en-US" altLang="ko-KR" dirty="0">
                <a:ea typeface="Arial Unicode MS"/>
              </a:rPr>
              <a:t>&gt;, &lt;</a:t>
            </a:r>
            <a:r>
              <a:rPr lang="en-US" altLang="ko-KR" b="1" dirty="0" err="1">
                <a:latin typeface="Times New Roman" pitchFamily="18" charset="0"/>
                <a:ea typeface="Arial Unicode MS"/>
                <a:cs typeface="Times New Roman" pitchFamily="18" charset="0"/>
              </a:rPr>
              <a:t>c:import</a:t>
            </a:r>
            <a:r>
              <a:rPr lang="en-US" altLang="ko-KR" dirty="0">
                <a:ea typeface="Arial Unicode MS"/>
              </a:rPr>
              <a:t>&gt;)</a:t>
            </a:r>
          </a:p>
          <a:p>
            <a:pPr lvl="2"/>
            <a:r>
              <a:rPr lang="ko-KR" altLang="en-US" dirty="0">
                <a:ea typeface="Arial Unicode MS"/>
              </a:rPr>
              <a:t>날짜</a:t>
            </a:r>
            <a:r>
              <a:rPr lang="en-US" altLang="ko-KR" dirty="0">
                <a:ea typeface="Arial Unicode MS"/>
              </a:rPr>
              <a:t>, </a:t>
            </a:r>
            <a:r>
              <a:rPr lang="ko-KR" altLang="en-US" dirty="0">
                <a:ea typeface="Arial Unicode MS"/>
              </a:rPr>
              <a:t>시간</a:t>
            </a:r>
            <a:r>
              <a:rPr lang="en-US" altLang="ko-KR" dirty="0">
                <a:ea typeface="Arial Unicode MS"/>
              </a:rPr>
              <a:t>, </a:t>
            </a:r>
            <a:r>
              <a:rPr lang="ko-KR" altLang="en-US" dirty="0">
                <a:ea typeface="Arial Unicode MS"/>
              </a:rPr>
              <a:t>숫자의 포맷</a:t>
            </a:r>
            <a:endParaRPr lang="en-US" altLang="ko-KR" dirty="0">
              <a:ea typeface="Arial Unicode MS"/>
            </a:endParaRPr>
          </a:p>
          <a:p>
            <a:pPr lvl="2"/>
            <a:r>
              <a:rPr lang="ko-KR" altLang="en-US" dirty="0" smtClean="0">
                <a:ea typeface="Arial Unicode MS"/>
              </a:rPr>
              <a:t>문자열을 처리하는 </a:t>
            </a:r>
            <a:r>
              <a:rPr lang="ko-KR" altLang="en-US" u="sng" dirty="0" smtClean="0">
                <a:ea typeface="Arial Unicode MS"/>
              </a:rPr>
              <a:t>함수 호출</a:t>
            </a:r>
            <a:endParaRPr lang="en-US" altLang="ko-KR" u="sng" dirty="0" smtClean="0">
              <a:ea typeface="Arial Unicode MS"/>
            </a:endParaRPr>
          </a:p>
          <a:p>
            <a:pPr lvl="1"/>
            <a:r>
              <a:rPr lang="ko-KR" altLang="en-US" sz="1800" dirty="0" smtClean="0">
                <a:ea typeface="Arial Unicode MS"/>
              </a:rPr>
              <a:t>문자열을 </a:t>
            </a:r>
            <a:r>
              <a:rPr lang="ko-KR" altLang="en-US" sz="1800" dirty="0">
                <a:ea typeface="Arial Unicode MS"/>
              </a:rPr>
              <a:t>처리하는 함수 호출을 제외한 나머지 기능들은 모두 </a:t>
            </a:r>
            <a:r>
              <a:rPr lang="ko-KR" altLang="en-US" sz="1800" dirty="0" err="1">
                <a:ea typeface="Arial Unicode MS"/>
              </a:rPr>
              <a:t>커스텀</a:t>
            </a:r>
            <a:r>
              <a:rPr lang="ko-KR" altLang="en-US" sz="1800" dirty="0">
                <a:ea typeface="Arial Unicode MS"/>
              </a:rPr>
              <a:t> </a:t>
            </a:r>
            <a:r>
              <a:rPr lang="ko-KR" altLang="en-US" sz="1800" dirty="0" smtClean="0">
                <a:ea typeface="Arial Unicode MS"/>
              </a:rPr>
              <a:t>액션 형태로 </a:t>
            </a:r>
            <a:r>
              <a:rPr lang="ko-KR" altLang="en-US" sz="1800" dirty="0">
                <a:ea typeface="Arial Unicode MS"/>
              </a:rPr>
              <a:t>제공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26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latin typeface="Times New Roman" pitchFamily="18" charset="0"/>
                <a:ea typeface="Arial Unicode MS"/>
                <a:cs typeface="Times New Roman" pitchFamily="18" charset="0"/>
              </a:rPr>
              <a:t>JSTL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dirty="0" smtClean="0"/>
              <a:t>JSTL</a:t>
            </a:r>
            <a:r>
              <a:rPr lang="ko-KR" altLang="en-US" sz="2000" dirty="0" smtClean="0"/>
              <a:t>은</a:t>
            </a:r>
            <a:r>
              <a:rPr lang="en-US" altLang="ko-KR" sz="2000" dirty="0" smtClean="0"/>
              <a:t> </a:t>
            </a:r>
            <a:r>
              <a:rPr lang="en-US" altLang="ko-KR" sz="2000" dirty="0"/>
              <a:t>5</a:t>
            </a:r>
            <a:r>
              <a:rPr lang="ko-KR" altLang="en-US" sz="2000" dirty="0"/>
              <a:t>개의 라이브러리로 구성</a:t>
            </a:r>
            <a:endParaRPr lang="ko-KR" altLang="en-US" sz="1800" dirty="0">
              <a:ea typeface="Arial Unicode M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5</a:t>
            </a:fld>
            <a:endParaRPr 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245105"/>
              </p:ext>
            </p:extLst>
          </p:nvPr>
        </p:nvGraphicFramePr>
        <p:xfrm>
          <a:off x="823139" y="1436057"/>
          <a:ext cx="825624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7488">
                  <a:extLst>
                    <a:ext uri="{9D8B030D-6E8A-4147-A177-3AD203B41FA5}">
                      <a16:colId xmlns:a16="http://schemas.microsoft.com/office/drawing/2014/main" val="222065053"/>
                    </a:ext>
                  </a:extLst>
                </a:gridCol>
                <a:gridCol w="6768752">
                  <a:extLst>
                    <a:ext uri="{9D8B030D-6E8A-4147-A177-3AD203B41FA5}">
                      <a16:colId xmlns:a16="http://schemas.microsoft.com/office/drawing/2014/main" val="1950287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라이브러리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기능 설명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231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core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>
                          <a:effectLst/>
                        </a:rPr>
                        <a:t>변수 선언</a:t>
                      </a:r>
                      <a:r>
                        <a:rPr lang="en-US" altLang="ko-KR" sz="1600" dirty="0" smtClean="0">
                          <a:effectLst/>
                        </a:rPr>
                        <a:t>, </a:t>
                      </a:r>
                      <a:r>
                        <a:rPr lang="ko-KR" altLang="en-US" sz="1600" dirty="0" smtClean="0">
                          <a:effectLst/>
                        </a:rPr>
                        <a:t>흐름의 제어</a:t>
                      </a:r>
                      <a:r>
                        <a:rPr lang="en-US" altLang="ko-KR" sz="1600" dirty="0" smtClean="0">
                          <a:effectLst/>
                        </a:rPr>
                        <a:t>, </a:t>
                      </a:r>
                      <a:r>
                        <a:rPr lang="ko-KR" altLang="en-US" sz="1600" dirty="0" smtClean="0">
                          <a:effectLst/>
                        </a:rPr>
                        <a:t>다른 </a:t>
                      </a:r>
                      <a:r>
                        <a:rPr lang="en-US" altLang="ko-KR" sz="1600" dirty="0" smtClean="0">
                          <a:effectLst/>
                        </a:rPr>
                        <a:t>JSP </a:t>
                      </a:r>
                      <a:r>
                        <a:rPr lang="ko-KR" altLang="en-US" sz="1600" dirty="0" smtClean="0">
                          <a:effectLst/>
                        </a:rPr>
                        <a:t>페이지로 제어 이동 기능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269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format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>
                          <a:effectLst/>
                        </a:rPr>
                        <a:t>숫자</a:t>
                      </a:r>
                      <a:r>
                        <a:rPr lang="en-US" altLang="ko-KR" sz="1600" dirty="0" smtClean="0">
                          <a:effectLst/>
                        </a:rPr>
                        <a:t>, </a:t>
                      </a:r>
                      <a:r>
                        <a:rPr lang="ko-KR" altLang="en-US" sz="1600" dirty="0" smtClean="0">
                          <a:effectLst/>
                        </a:rPr>
                        <a:t>날짜</a:t>
                      </a:r>
                      <a:r>
                        <a:rPr lang="en-US" altLang="ko-KR" sz="1600" dirty="0" smtClean="0">
                          <a:effectLst/>
                        </a:rPr>
                        <a:t>, </a:t>
                      </a:r>
                      <a:r>
                        <a:rPr lang="ko-KR" altLang="en-US" sz="1600" dirty="0" smtClean="0">
                          <a:effectLst/>
                        </a:rPr>
                        <a:t>시간을 형식 지정과 국제화</a:t>
                      </a:r>
                      <a:r>
                        <a:rPr lang="en-US" altLang="ko-KR" sz="1600" dirty="0" smtClean="0">
                          <a:effectLst/>
                        </a:rPr>
                        <a:t>, </a:t>
                      </a:r>
                      <a:r>
                        <a:rPr lang="ko-KR" altLang="en-US" sz="1600" dirty="0" smtClean="0">
                          <a:effectLst/>
                        </a:rPr>
                        <a:t>다국어 지원 기능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00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database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>
                          <a:effectLst/>
                        </a:rPr>
                        <a:t>데이터베이스의 데이터 입력</a:t>
                      </a:r>
                      <a:r>
                        <a:rPr lang="en-US" altLang="ko-KR" sz="1600" dirty="0" smtClean="0">
                          <a:effectLst/>
                        </a:rPr>
                        <a:t>, </a:t>
                      </a:r>
                      <a:r>
                        <a:rPr lang="ko-KR" altLang="en-US" sz="1600" dirty="0" smtClean="0">
                          <a:effectLst/>
                        </a:rPr>
                        <a:t>수정</a:t>
                      </a:r>
                      <a:r>
                        <a:rPr lang="en-US" altLang="ko-KR" sz="1600" dirty="0" smtClean="0">
                          <a:effectLst/>
                        </a:rPr>
                        <a:t>, </a:t>
                      </a:r>
                      <a:r>
                        <a:rPr lang="ko-KR" altLang="en-US" sz="1600" dirty="0" smtClean="0">
                          <a:effectLst/>
                        </a:rPr>
                        <a:t>삭제</a:t>
                      </a:r>
                      <a:r>
                        <a:rPr lang="en-US" altLang="ko-KR" sz="1600" dirty="0" smtClean="0">
                          <a:effectLst/>
                        </a:rPr>
                        <a:t>, </a:t>
                      </a:r>
                      <a:r>
                        <a:rPr lang="ko-KR" altLang="en-US" sz="1600" dirty="0" smtClean="0">
                          <a:effectLst/>
                        </a:rPr>
                        <a:t>조회 기능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121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xml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xml </a:t>
                      </a:r>
                      <a:r>
                        <a:rPr lang="ko-KR" altLang="en-US" sz="1600" dirty="0" smtClean="0"/>
                        <a:t>문서 처리 기능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432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functions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문자열 처리 함수 기능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67193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397258"/>
              </p:ext>
            </p:extLst>
          </p:nvPr>
        </p:nvGraphicFramePr>
        <p:xfrm>
          <a:off x="823139" y="3877939"/>
          <a:ext cx="825624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7488">
                  <a:extLst>
                    <a:ext uri="{9D8B030D-6E8A-4147-A177-3AD203B41FA5}">
                      <a16:colId xmlns:a16="http://schemas.microsoft.com/office/drawing/2014/main" val="222065053"/>
                    </a:ext>
                  </a:extLst>
                </a:gridCol>
                <a:gridCol w="6768752">
                  <a:extLst>
                    <a:ext uri="{9D8B030D-6E8A-4147-A177-3AD203B41FA5}">
                      <a16:colId xmlns:a16="http://schemas.microsoft.com/office/drawing/2014/main" val="1950287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라이브러리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>
                          <a:effectLst/>
                        </a:rPr>
                        <a:t>JSTL </a:t>
                      </a:r>
                      <a:r>
                        <a:rPr lang="ko-KR" altLang="en-US" sz="1600" dirty="0" err="1" smtClean="0">
                          <a:effectLst/>
                        </a:rPr>
                        <a:t>접두어와</a:t>
                      </a:r>
                      <a:r>
                        <a:rPr lang="ko-KR" altLang="en-US" sz="1600" dirty="0" smtClean="0">
                          <a:effectLst/>
                        </a:rPr>
                        <a:t> 지시어 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231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core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>
                          <a:effectLst/>
                        </a:rPr>
                        <a:t>&lt;%@ </a:t>
                      </a:r>
                      <a:r>
                        <a:rPr lang="en-US" altLang="ko-KR" sz="1600" b="1" dirty="0" err="1" smtClean="0">
                          <a:effectLst/>
                        </a:rPr>
                        <a:t>taglib</a:t>
                      </a:r>
                      <a:r>
                        <a:rPr lang="en-US" altLang="ko-KR" sz="1600" dirty="0" smtClean="0">
                          <a:effectLst/>
                        </a:rPr>
                        <a:t> </a:t>
                      </a:r>
                      <a:r>
                        <a:rPr lang="en-US" altLang="ko-KR" sz="1600" dirty="0" err="1" smtClean="0">
                          <a:effectLst/>
                        </a:rPr>
                        <a:t>prifix</a:t>
                      </a:r>
                      <a:r>
                        <a:rPr lang="en-US" altLang="ko-KR" sz="1600" dirty="0" smtClean="0">
                          <a:effectLst/>
                        </a:rPr>
                        <a:t>="</a:t>
                      </a:r>
                      <a:r>
                        <a:rPr lang="en-US" altLang="ko-KR" sz="1600" dirty="0" smtClean="0">
                          <a:solidFill>
                            <a:srgbClr val="FF0000"/>
                          </a:solidFill>
                          <a:effectLst/>
                        </a:rPr>
                        <a:t>c</a:t>
                      </a:r>
                      <a:r>
                        <a:rPr lang="en-US" altLang="ko-KR" sz="1600" dirty="0" smtClean="0">
                          <a:effectLst/>
                        </a:rPr>
                        <a:t>" </a:t>
                      </a:r>
                      <a:r>
                        <a:rPr lang="en-US" altLang="ko-KR" sz="1600" dirty="0" err="1" smtClean="0">
                          <a:effectLst/>
                        </a:rPr>
                        <a:t>uri</a:t>
                      </a:r>
                      <a:r>
                        <a:rPr lang="en-US" altLang="ko-KR" sz="1600" dirty="0" smtClean="0">
                          <a:effectLst/>
                        </a:rPr>
                        <a:t>=http://java.sun.com/jsp/jstl/core</a:t>
                      </a:r>
                      <a:r>
                        <a:rPr lang="ko-KR" altLang="en-US" sz="1600" dirty="0" smtClean="0">
                          <a:effectLst/>
                        </a:rPr>
                        <a:t> </a:t>
                      </a:r>
                      <a:r>
                        <a:rPr lang="en-US" altLang="ko-KR" sz="1600" dirty="0" smtClean="0">
                          <a:effectLst/>
                        </a:rPr>
                        <a:t>%&gt; 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269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format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>
                          <a:effectLst/>
                        </a:rPr>
                        <a:t>&lt;%@ </a:t>
                      </a:r>
                      <a:r>
                        <a:rPr lang="en-US" altLang="ko-KR" sz="1600" b="1" dirty="0" err="1" smtClean="0">
                          <a:effectLst/>
                        </a:rPr>
                        <a:t>taglib</a:t>
                      </a:r>
                      <a:r>
                        <a:rPr lang="en-US" altLang="ko-KR" sz="1600" dirty="0" smtClean="0">
                          <a:effectLst/>
                        </a:rPr>
                        <a:t> </a:t>
                      </a:r>
                      <a:r>
                        <a:rPr lang="en-US" altLang="ko-KR" sz="1600" dirty="0" err="1" smtClean="0">
                          <a:effectLst/>
                        </a:rPr>
                        <a:t>prifix</a:t>
                      </a:r>
                      <a:r>
                        <a:rPr lang="en-US" altLang="ko-KR" sz="1600" dirty="0" smtClean="0">
                          <a:effectLst/>
                        </a:rPr>
                        <a:t>="</a:t>
                      </a:r>
                      <a:r>
                        <a:rPr lang="en-US" altLang="ko-KR" sz="1600" dirty="0" err="1" smtClean="0">
                          <a:solidFill>
                            <a:srgbClr val="FF0000"/>
                          </a:solidFill>
                          <a:effectLst/>
                        </a:rPr>
                        <a:t>fmt</a:t>
                      </a:r>
                      <a:r>
                        <a:rPr lang="en-US" altLang="ko-KR" sz="1600" dirty="0" smtClean="0">
                          <a:effectLst/>
                        </a:rPr>
                        <a:t>" </a:t>
                      </a:r>
                      <a:r>
                        <a:rPr lang="en-US" altLang="ko-KR" sz="1600" dirty="0" err="1" smtClean="0">
                          <a:effectLst/>
                        </a:rPr>
                        <a:t>uri</a:t>
                      </a:r>
                      <a:r>
                        <a:rPr lang="en-US" altLang="ko-KR" sz="1600" dirty="0" smtClean="0">
                          <a:effectLst/>
                        </a:rPr>
                        <a:t>=http://java.sun.com/jsp/jstl/fmt</a:t>
                      </a:r>
                      <a:r>
                        <a:rPr lang="ko-KR" altLang="en-US" sz="1600" dirty="0" smtClean="0">
                          <a:effectLst/>
                        </a:rPr>
                        <a:t> </a:t>
                      </a:r>
                      <a:r>
                        <a:rPr lang="en-US" altLang="ko-KR" sz="1600" dirty="0" smtClean="0">
                          <a:effectLst/>
                        </a:rPr>
                        <a:t>%&gt;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00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database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>
                          <a:effectLst/>
                        </a:rPr>
                        <a:t>&lt;%@ </a:t>
                      </a:r>
                      <a:r>
                        <a:rPr lang="en-US" altLang="ko-KR" sz="1600" b="1" dirty="0" err="1" smtClean="0">
                          <a:effectLst/>
                        </a:rPr>
                        <a:t>taglib</a:t>
                      </a:r>
                      <a:r>
                        <a:rPr lang="en-US" altLang="ko-KR" sz="1600" dirty="0" smtClean="0">
                          <a:effectLst/>
                        </a:rPr>
                        <a:t> </a:t>
                      </a:r>
                      <a:r>
                        <a:rPr lang="en-US" altLang="ko-KR" sz="1600" dirty="0" err="1" smtClean="0">
                          <a:effectLst/>
                        </a:rPr>
                        <a:t>prifix</a:t>
                      </a:r>
                      <a:r>
                        <a:rPr lang="en-US" altLang="ko-KR" sz="1600" dirty="0" smtClean="0">
                          <a:effectLst/>
                        </a:rPr>
                        <a:t>="</a:t>
                      </a:r>
                      <a:r>
                        <a:rPr lang="en-US" altLang="ko-KR" sz="1600" dirty="0" err="1" smtClean="0">
                          <a:solidFill>
                            <a:srgbClr val="FF0000"/>
                          </a:solidFill>
                          <a:effectLst/>
                        </a:rPr>
                        <a:t>sql</a:t>
                      </a:r>
                      <a:r>
                        <a:rPr lang="en-US" altLang="ko-KR" sz="1600" dirty="0" smtClean="0">
                          <a:effectLst/>
                        </a:rPr>
                        <a:t>" </a:t>
                      </a:r>
                      <a:r>
                        <a:rPr lang="en-US" altLang="ko-KR" sz="1600" dirty="0" err="1" smtClean="0">
                          <a:effectLst/>
                        </a:rPr>
                        <a:t>uri</a:t>
                      </a:r>
                      <a:r>
                        <a:rPr lang="en-US" altLang="ko-KR" sz="1600" dirty="0" smtClean="0">
                          <a:effectLst/>
                        </a:rPr>
                        <a:t>=http://java.sun.com/jsp/jstl/sql %&gt; 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121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xml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>
                          <a:effectLst/>
                        </a:rPr>
                        <a:t>&lt;%@ </a:t>
                      </a:r>
                      <a:r>
                        <a:rPr lang="en-US" altLang="ko-KR" sz="1600" b="1" dirty="0" err="1" smtClean="0">
                          <a:effectLst/>
                        </a:rPr>
                        <a:t>taglib</a:t>
                      </a:r>
                      <a:r>
                        <a:rPr lang="en-US" altLang="ko-KR" sz="1600" dirty="0" smtClean="0">
                          <a:effectLst/>
                        </a:rPr>
                        <a:t> </a:t>
                      </a:r>
                      <a:r>
                        <a:rPr lang="en-US" altLang="ko-KR" sz="1600" dirty="0" err="1" smtClean="0">
                          <a:effectLst/>
                        </a:rPr>
                        <a:t>prifix</a:t>
                      </a:r>
                      <a:r>
                        <a:rPr lang="en-US" altLang="ko-KR" sz="1600" dirty="0" smtClean="0">
                          <a:effectLst/>
                        </a:rPr>
                        <a:t>="</a:t>
                      </a:r>
                      <a:r>
                        <a:rPr lang="en-US" altLang="ko-KR" sz="1600" dirty="0" smtClean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en-US" altLang="ko-KR" sz="1600" dirty="0" smtClean="0">
                          <a:effectLst/>
                        </a:rPr>
                        <a:t>" </a:t>
                      </a:r>
                      <a:r>
                        <a:rPr lang="en-US" altLang="ko-KR" sz="1600" dirty="0" err="1" smtClean="0">
                          <a:effectLst/>
                        </a:rPr>
                        <a:t>uri</a:t>
                      </a:r>
                      <a:r>
                        <a:rPr lang="en-US" altLang="ko-KR" sz="1600" dirty="0" smtClean="0">
                          <a:effectLst/>
                        </a:rPr>
                        <a:t>=http://java.sun.com/jsp/jstl/xml %&gt;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432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functions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dirty="0" smtClean="0">
                          <a:effectLst/>
                        </a:rPr>
                        <a:t>&lt;%@ </a:t>
                      </a:r>
                      <a:r>
                        <a:rPr lang="en-US" altLang="ko-KR" sz="1600" b="1" dirty="0" err="1" smtClean="0">
                          <a:effectLst/>
                        </a:rPr>
                        <a:t>taglib</a:t>
                      </a:r>
                      <a:r>
                        <a:rPr lang="en-US" altLang="ko-KR" sz="1600" dirty="0" smtClean="0">
                          <a:effectLst/>
                        </a:rPr>
                        <a:t> </a:t>
                      </a:r>
                      <a:r>
                        <a:rPr lang="en-US" altLang="ko-KR" sz="1600" dirty="0" err="1" smtClean="0">
                          <a:effectLst/>
                        </a:rPr>
                        <a:t>prifix</a:t>
                      </a:r>
                      <a:r>
                        <a:rPr lang="en-US" altLang="ko-KR" sz="1600" dirty="0" smtClean="0">
                          <a:effectLst/>
                        </a:rPr>
                        <a:t>="</a:t>
                      </a:r>
                      <a:r>
                        <a:rPr lang="en-US" altLang="ko-KR" sz="1600" dirty="0" err="1" smtClean="0">
                          <a:solidFill>
                            <a:srgbClr val="FF0000"/>
                          </a:solidFill>
                          <a:effectLst/>
                        </a:rPr>
                        <a:t>fn</a:t>
                      </a:r>
                      <a:r>
                        <a:rPr lang="en-US" altLang="ko-KR" sz="1600" dirty="0" smtClean="0">
                          <a:effectLst/>
                        </a:rPr>
                        <a:t>“ </a:t>
                      </a:r>
                      <a:r>
                        <a:rPr lang="en-US" altLang="ko-KR" sz="1600" dirty="0" err="1" smtClean="0">
                          <a:effectLst/>
                        </a:rPr>
                        <a:t>uri</a:t>
                      </a:r>
                      <a:r>
                        <a:rPr lang="en-US" altLang="ko-KR" sz="1600" dirty="0" smtClean="0">
                          <a:effectLst/>
                        </a:rPr>
                        <a:t>=http://java.sun.com/jsp/jstl/functions %&gt; 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67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565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latin typeface="Times New Roman" pitchFamily="18" charset="0"/>
                <a:ea typeface="Arial Unicode MS"/>
                <a:cs typeface="Times New Roman" pitchFamily="18" charset="0"/>
              </a:rPr>
              <a:t>JSTL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itchFamily="18" charset="0"/>
                <a:cs typeface="Times New Roman" pitchFamily="18" charset="0"/>
              </a:rPr>
              <a:t>JSTL</a:t>
            </a:r>
            <a:r>
              <a:rPr lang="en-US" altLang="ko-KR" sz="2000" dirty="0"/>
              <a:t> </a:t>
            </a:r>
            <a:r>
              <a:rPr lang="ko-KR" altLang="en-US" sz="2000" dirty="0" smtClean="0"/>
              <a:t>설치</a:t>
            </a:r>
            <a:endParaRPr lang="en-US" altLang="ko-KR" sz="2000" dirty="0"/>
          </a:p>
          <a:p>
            <a:pPr lvl="1"/>
            <a:r>
              <a:rPr lang="en-US" altLang="ko-KR" sz="1800" dirty="0"/>
              <a:t>http://tomcat.apache.org/taglibs/standard</a:t>
            </a:r>
            <a:r>
              <a:rPr lang="en-US" altLang="ko-KR" sz="1800" dirty="0" smtClean="0"/>
              <a:t>/</a:t>
            </a:r>
            <a:endParaRPr lang="en-US" altLang="ko-KR" sz="1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6</a:t>
            </a:fld>
            <a:endParaRPr lang="en-US" dirty="0"/>
          </a:p>
        </p:txBody>
      </p:sp>
      <p:grpSp>
        <p:nvGrpSpPr>
          <p:cNvPr id="8" name="그룹 7"/>
          <p:cNvGrpSpPr/>
          <p:nvPr/>
        </p:nvGrpSpPr>
        <p:grpSpPr>
          <a:xfrm>
            <a:off x="1061145" y="1828269"/>
            <a:ext cx="8712968" cy="1224136"/>
            <a:chOff x="-2326949" y="2558345"/>
            <a:chExt cx="9923285" cy="1194691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2"/>
            <a:srcRect r="42979"/>
            <a:stretch/>
          </p:blipFill>
          <p:spPr>
            <a:xfrm>
              <a:off x="-2326949" y="2563036"/>
              <a:ext cx="7763045" cy="1190000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2"/>
            <a:srcRect l="73519" r="10614"/>
            <a:stretch/>
          </p:blipFill>
          <p:spPr>
            <a:xfrm>
              <a:off x="5436096" y="2558345"/>
              <a:ext cx="2160240" cy="1190000"/>
            </a:xfrm>
            <a:prstGeom prst="rect">
              <a:avLst/>
            </a:prstGeom>
          </p:spPr>
        </p:pic>
      </p:grpSp>
      <p:sp>
        <p:nvSpPr>
          <p:cNvPr id="11" name="직사각형 10"/>
          <p:cNvSpPr/>
          <p:nvPr/>
        </p:nvSpPr>
        <p:spPr>
          <a:xfrm>
            <a:off x="7897880" y="2437933"/>
            <a:ext cx="1032665" cy="2544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26" y="3085017"/>
            <a:ext cx="5366251" cy="115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99" y="4494245"/>
            <a:ext cx="7880438" cy="11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029058" y="5744690"/>
            <a:ext cx="195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zip</a:t>
            </a:r>
            <a:r>
              <a:rPr lang="ko-KR" altLang="en-US" dirty="0" smtClean="0"/>
              <a:t>파일 다운로드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99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latin typeface="Times New Roman" pitchFamily="18" charset="0"/>
                <a:ea typeface="Arial Unicode MS"/>
                <a:cs typeface="Times New Roman" pitchFamily="18" charset="0"/>
              </a:rPr>
              <a:t>JSTL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7689524" cy="5740119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Times New Roman" pitchFamily="18" charset="0"/>
                <a:cs typeface="Times New Roman" pitchFamily="18" charset="0"/>
              </a:rPr>
              <a:t>JSTL</a:t>
            </a:r>
            <a:r>
              <a:rPr lang="en-US" altLang="ko-KR" sz="2000" dirty="0"/>
              <a:t> </a:t>
            </a:r>
            <a:r>
              <a:rPr lang="ko-KR" altLang="en-US" sz="2000" dirty="0" smtClean="0"/>
              <a:t>설치</a:t>
            </a:r>
            <a:endParaRPr lang="en-US" altLang="ko-KR" sz="2000" dirty="0" smtClean="0"/>
          </a:p>
          <a:p>
            <a:pPr lvl="1"/>
            <a:r>
              <a:rPr lang="ko-KR" altLang="en-US" sz="1800" dirty="0"/>
              <a:t>압축 풀고 </a:t>
            </a:r>
            <a:r>
              <a:rPr lang="en-US" altLang="ko-KR" sz="1800" dirty="0"/>
              <a:t>lib</a:t>
            </a:r>
            <a:r>
              <a:rPr lang="ko-KR" altLang="en-US" sz="1800" dirty="0"/>
              <a:t>폴더로 이동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marL="457200" lvl="1" indent="0">
              <a:buNone/>
            </a:pPr>
            <a:endParaRPr lang="en-US" altLang="ko-KR" sz="1800" dirty="0" smtClean="0"/>
          </a:p>
          <a:p>
            <a:pPr marL="457200" lvl="1" indent="0">
              <a:buNone/>
            </a:pPr>
            <a:endParaRPr lang="en-US" altLang="ko-KR" sz="1800" dirty="0"/>
          </a:p>
          <a:p>
            <a:pPr marL="457200" lvl="1" indent="0">
              <a:buNone/>
            </a:pPr>
            <a:endParaRPr lang="en-US" altLang="ko-KR" sz="1800" dirty="0" smtClean="0"/>
          </a:p>
          <a:p>
            <a:pPr marL="457200" lvl="1" indent="0">
              <a:buNone/>
            </a:pPr>
            <a:endParaRPr lang="en-US" altLang="ko-KR" sz="1800" dirty="0"/>
          </a:p>
          <a:p>
            <a:pPr lvl="1"/>
            <a:r>
              <a:rPr lang="ko-KR" altLang="en-US" sz="1800" dirty="0" smtClean="0"/>
              <a:t>두개의 </a:t>
            </a:r>
            <a:r>
              <a:rPr lang="en-US" altLang="ko-KR" sz="1800" dirty="0" smtClean="0"/>
              <a:t>jar</a:t>
            </a:r>
            <a:r>
              <a:rPr lang="ko-KR" altLang="en-US" sz="1800" dirty="0" smtClean="0"/>
              <a:t>파일을 이클립스 </a:t>
            </a:r>
            <a:r>
              <a:rPr lang="ko-KR" altLang="en-US" sz="1800" dirty="0"/>
              <a:t>프로젝트</a:t>
            </a:r>
            <a:r>
              <a:rPr lang="en-US" altLang="ko-KR" sz="1800" dirty="0"/>
              <a:t>&gt;</a:t>
            </a:r>
            <a:r>
              <a:rPr lang="en-US" altLang="ko-KR" sz="1800" dirty="0" err="1"/>
              <a:t>WebContent</a:t>
            </a:r>
            <a:r>
              <a:rPr lang="en-US" altLang="ko-KR" sz="1800" dirty="0"/>
              <a:t>&gt;WEB-INF&gt;lib </a:t>
            </a:r>
            <a:r>
              <a:rPr lang="ko-KR" altLang="en-US" sz="1800" dirty="0" smtClean="0"/>
              <a:t>폴더에 배치</a:t>
            </a:r>
            <a:endParaRPr lang="en-US" altLang="ko-KR" sz="1800" dirty="0"/>
          </a:p>
          <a:p>
            <a:endParaRPr lang="en-US" altLang="ko-KR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7</a:t>
            </a:fld>
            <a:endParaRPr lang="en-US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rcRect r="64514"/>
          <a:stretch/>
        </p:blipFill>
        <p:spPr>
          <a:xfrm>
            <a:off x="1110232" y="1815283"/>
            <a:ext cx="2232248" cy="228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rcRect r="74011" b="-2769"/>
          <a:stretch/>
        </p:blipFill>
        <p:spPr>
          <a:xfrm>
            <a:off x="3531019" y="1815283"/>
            <a:ext cx="1528935" cy="4521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925" y="3826350"/>
            <a:ext cx="2235938" cy="253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721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코어 라이브러리</a:t>
            </a:r>
            <a:r>
              <a:rPr lang="en-US" altLang="ko-KR" sz="2800" dirty="0"/>
              <a:t>(C)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442374" cy="574011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>
                <a:latin typeface="Times New Roman" pitchFamily="18" charset="0"/>
                <a:cs typeface="Times New Roman" pitchFamily="18" charset="0"/>
              </a:rPr>
              <a:t>c:set</a:t>
            </a:r>
            <a:r>
              <a:rPr lang="en-US" altLang="ko-KR" sz="2000" dirty="0" smtClean="0"/>
              <a:t>&gt;</a:t>
            </a:r>
          </a:p>
          <a:p>
            <a:pPr lvl="1"/>
            <a:r>
              <a:rPr lang="en-US" altLang="ko-KR" sz="1800" dirty="0" err="1" smtClean="0">
                <a:solidFill>
                  <a:srgbClr val="FF0000"/>
                </a:solidFill>
              </a:rPr>
              <a:t>setAttribute</a:t>
            </a:r>
            <a:r>
              <a:rPr lang="ko-KR" altLang="en-US" sz="1800" dirty="0">
                <a:solidFill>
                  <a:srgbClr val="FF0000"/>
                </a:solidFill>
              </a:rPr>
              <a:t>를 대체</a:t>
            </a:r>
            <a:endParaRPr lang="en-US" altLang="ko-KR" sz="1800" dirty="0">
              <a:solidFill>
                <a:srgbClr val="FF0000"/>
              </a:solidFill>
            </a:endParaRPr>
          </a:p>
          <a:p>
            <a:pPr lvl="1"/>
            <a:r>
              <a:rPr lang="ko-KR" altLang="en-US" sz="1800" dirty="0">
                <a:solidFill>
                  <a:srgbClr val="FF0000"/>
                </a:solidFill>
              </a:rPr>
              <a:t>속성 변수를 선언</a:t>
            </a:r>
            <a:r>
              <a:rPr lang="ko-KR" altLang="en-US" sz="1800" dirty="0"/>
              <a:t>하고 초기값을 대입하는 </a:t>
            </a:r>
            <a:r>
              <a:rPr lang="ko-KR" altLang="en-US" sz="1800" dirty="0" err="1"/>
              <a:t>커스텀</a:t>
            </a:r>
            <a:r>
              <a:rPr lang="ko-KR" altLang="en-US" sz="1800" dirty="0"/>
              <a:t> 액션</a:t>
            </a:r>
            <a:endParaRPr lang="en-US" altLang="ko-KR" sz="1800" dirty="0"/>
          </a:p>
          <a:p>
            <a:pPr lvl="1"/>
            <a:endParaRPr lang="en-US" altLang="ko-KR" sz="1800" b="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800" dirty="0" smtClean="0"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ko-KR" altLang="en-US" sz="1800" dirty="0">
                <a:latin typeface="Times New Roman" pitchFamily="18" charset="0"/>
                <a:cs typeface="Times New Roman" pitchFamily="18" charset="0"/>
              </a:rPr>
              <a:t>속성</a:t>
            </a:r>
            <a:r>
              <a:rPr lang="ko-KR" altLang="en-US" sz="1800" dirty="0"/>
              <a:t>에 </a:t>
            </a:r>
            <a:r>
              <a:rPr lang="en-US" altLang="ko-KR" sz="1800" dirty="0">
                <a:latin typeface="Times New Roman" pitchFamily="18" charset="0"/>
                <a:cs typeface="Times New Roman" pitchFamily="18" charset="0"/>
              </a:rPr>
              <a:t>EL</a:t>
            </a:r>
            <a:r>
              <a:rPr lang="en-US" altLang="ko-KR" sz="1800" dirty="0"/>
              <a:t> </a:t>
            </a:r>
            <a:r>
              <a:rPr lang="ko-KR" altLang="en-US" sz="1800" dirty="0"/>
              <a:t>식을 대입할 수 있음</a:t>
            </a:r>
          </a:p>
          <a:p>
            <a:endParaRPr lang="en-US" altLang="ko-KR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8</a:t>
            </a:fld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099248" y="2131231"/>
            <a:ext cx="3541354" cy="4580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</a:t>
            </a:r>
            <a:r>
              <a:rPr lang="en-US" altLang="ko-KR" dirty="0" err="1">
                <a:latin typeface="Times New Roman" pitchFamily="18" charset="0"/>
                <a:ea typeface="Arial Unicode MS"/>
                <a:cs typeface="Times New Roman" pitchFamily="18" charset="0"/>
              </a:rPr>
              <a:t>c:set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r>
              <a:rPr lang="en-US" altLang="ko-KR" dirty="0" err="1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var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= </a:t>
            </a:r>
            <a:r>
              <a:rPr lang="en-US" altLang="ko-KR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</a:t>
            </a:r>
            <a:r>
              <a:rPr lang="en-US" altLang="ko-KR" dirty="0" err="1" smtClean="0">
                <a:latin typeface="Times New Roman" pitchFamily="18" charset="0"/>
                <a:ea typeface="Arial Unicode MS"/>
                <a:cs typeface="Times New Roman" pitchFamily="18" charset="0"/>
              </a:rPr>
              <a:t>num</a:t>
            </a:r>
            <a:r>
              <a:rPr lang="en-US" altLang="ko-KR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 </a:t>
            </a:r>
            <a:r>
              <a:rPr lang="en-US" altLang="ko-KR" dirty="0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value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= </a:t>
            </a:r>
            <a:r>
              <a:rPr lang="en-US" altLang="ko-KR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"100" 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/&gt;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069372" y="2131231"/>
            <a:ext cx="5256584" cy="4580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ctr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</a:t>
            </a:r>
            <a:r>
              <a:rPr lang="en-US" altLang="ko-KR" dirty="0" err="1">
                <a:latin typeface="Times New Roman" pitchFamily="18" charset="0"/>
                <a:ea typeface="Arial Unicode MS"/>
                <a:cs typeface="Times New Roman" pitchFamily="18" charset="0"/>
              </a:rPr>
              <a:t>c:set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r>
              <a:rPr lang="en-US" altLang="ko-KR" dirty="0" err="1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var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= </a:t>
            </a:r>
            <a:r>
              <a:rPr lang="en-US" altLang="ko-KR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"sum" </a:t>
            </a:r>
            <a:r>
              <a:rPr lang="en-US" altLang="ko-KR" dirty="0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value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= </a:t>
            </a:r>
            <a:r>
              <a:rPr lang="en-US" altLang="ko-KR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"${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num1+num2</a:t>
            </a:r>
            <a:r>
              <a:rPr lang="en-US" altLang="ko-KR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}" /&gt;</a:t>
            </a:r>
            <a:endParaRPr lang="en-US" altLang="ko-KR" dirty="0">
              <a:latin typeface="Times New Roman" pitchFamily="18" charset="0"/>
              <a:ea typeface="Arial Unicode MS"/>
              <a:cs typeface="Times New Roman" pitchFamily="18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99248" y="3627459"/>
            <a:ext cx="7110536" cy="31393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&lt;%@page </a:t>
            </a:r>
            <a:r>
              <a:rPr lang="en-US" altLang="ko-KR" dirty="0" err="1">
                <a:latin typeface="Times New Roman" pitchFamily="18" charset="0"/>
                <a:ea typeface="Arial Unicode MS"/>
                <a:cs typeface="Times New Roman" pitchFamily="18" charset="0"/>
              </a:rPr>
              <a:t>contentType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= “text/html; charset=</a:t>
            </a:r>
            <a:r>
              <a:rPr lang="en-US" altLang="ko-KR" dirty="0" err="1">
                <a:latin typeface="Times New Roman" pitchFamily="18" charset="0"/>
                <a:ea typeface="Arial Unicode MS"/>
                <a:cs typeface="Times New Roman" pitchFamily="18" charset="0"/>
              </a:rPr>
              <a:t>euc-kr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”%&gt;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pt-BR" altLang="ko-KR" dirty="0">
                <a:solidFill>
                  <a:srgbClr val="0000FF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&lt;%@taglib prefix= </a:t>
            </a:r>
            <a:r>
              <a:rPr lang="pt-BR" altLang="ko-KR" dirty="0" smtClean="0">
                <a:solidFill>
                  <a:srgbClr val="0000FF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"c" </a:t>
            </a:r>
            <a:r>
              <a:rPr lang="pt-BR" altLang="ko-KR" dirty="0">
                <a:solidFill>
                  <a:srgbClr val="0000FF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uri= </a:t>
            </a:r>
            <a:r>
              <a:rPr lang="pt-BR" altLang="ko-KR" dirty="0" smtClean="0">
                <a:solidFill>
                  <a:srgbClr val="0000FF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"http</a:t>
            </a:r>
            <a:r>
              <a:rPr lang="pt-BR" altLang="ko-KR" dirty="0">
                <a:solidFill>
                  <a:srgbClr val="0000FF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://</a:t>
            </a:r>
            <a:r>
              <a:rPr lang="pt-BR" altLang="ko-KR" dirty="0" smtClean="0">
                <a:solidFill>
                  <a:srgbClr val="0000FF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java.sun.com/jsp/jstl/core" </a:t>
            </a:r>
            <a:r>
              <a:rPr lang="pt-BR" altLang="ko-KR" dirty="0">
                <a:solidFill>
                  <a:srgbClr val="0000FF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%&gt;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</a:t>
            </a:r>
            <a:r>
              <a:rPr lang="en-US" altLang="ko-KR" dirty="0" err="1">
                <a:latin typeface="Times New Roman" pitchFamily="18" charset="0"/>
                <a:ea typeface="Arial Unicode MS"/>
                <a:cs typeface="Times New Roman" pitchFamily="18" charset="0"/>
              </a:rPr>
              <a:t>c:set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r>
              <a:rPr lang="en-US" altLang="ko-KR" dirty="0" err="1">
                <a:latin typeface="Times New Roman" pitchFamily="18" charset="0"/>
                <a:ea typeface="Arial Unicode MS"/>
                <a:cs typeface="Times New Roman" pitchFamily="18" charset="0"/>
              </a:rPr>
              <a:t>var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= </a:t>
            </a:r>
            <a:r>
              <a:rPr lang="en-US" altLang="ko-KR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"num1" 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value= </a:t>
            </a:r>
            <a:r>
              <a:rPr lang="en-US" altLang="ko-KR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"7" 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/&gt;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</a:t>
            </a:r>
            <a:r>
              <a:rPr lang="en-US" altLang="ko-KR" dirty="0" err="1">
                <a:latin typeface="Times New Roman" pitchFamily="18" charset="0"/>
                <a:ea typeface="Arial Unicode MS"/>
                <a:cs typeface="Times New Roman" pitchFamily="18" charset="0"/>
              </a:rPr>
              <a:t>c:set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r>
              <a:rPr lang="en-US" altLang="ko-KR" dirty="0" err="1">
                <a:latin typeface="Times New Roman" pitchFamily="18" charset="0"/>
                <a:ea typeface="Arial Unicode MS"/>
                <a:cs typeface="Times New Roman" pitchFamily="18" charset="0"/>
              </a:rPr>
              <a:t>var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= </a:t>
            </a:r>
            <a:r>
              <a:rPr lang="en-US" altLang="ko-KR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"num2" 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value= </a:t>
            </a:r>
            <a:r>
              <a:rPr lang="en-US" altLang="ko-KR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"9" 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/&gt;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</a:t>
            </a:r>
            <a:r>
              <a:rPr lang="en-US" altLang="ko-KR" dirty="0" err="1">
                <a:latin typeface="Times New Roman" pitchFamily="18" charset="0"/>
                <a:ea typeface="Arial Unicode MS"/>
                <a:cs typeface="Times New Roman" pitchFamily="18" charset="0"/>
              </a:rPr>
              <a:t>c:set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r>
              <a:rPr lang="en-US" altLang="ko-KR" dirty="0" err="1">
                <a:latin typeface="Times New Roman" pitchFamily="18" charset="0"/>
                <a:ea typeface="Arial Unicode MS"/>
                <a:cs typeface="Times New Roman" pitchFamily="18" charset="0"/>
              </a:rPr>
              <a:t>var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= </a:t>
            </a:r>
            <a:r>
              <a:rPr lang="en-US" altLang="ko-KR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"result" 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value= </a:t>
            </a:r>
            <a:r>
              <a:rPr lang="en-US" altLang="ko-KR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"${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num1*num2</a:t>
            </a:r>
            <a:r>
              <a:rPr lang="en-US" altLang="ko-KR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}" 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/&gt;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&lt;HTML&gt;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       &lt;HEAD&gt;&lt;TITLE&gt;</a:t>
            </a:r>
            <a:r>
              <a:rPr lang="ko-KR" alt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곱셈 프로그램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&lt;/TITLE&gt;&lt;/HEAD&gt;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       &lt;BODY&gt;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  ${num1}</a:t>
            </a:r>
            <a:r>
              <a:rPr lang="ko-KR" alt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과 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${num2}</a:t>
            </a:r>
            <a:r>
              <a:rPr lang="ko-KR" alt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의 곱은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? ${result}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       &lt;/BODY&gt;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70245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코어 라이브러리</a:t>
            </a:r>
            <a:r>
              <a:rPr lang="en-US" altLang="ko-KR" sz="2800" dirty="0"/>
              <a:t>(C)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442374" cy="574011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>
                <a:latin typeface="Times New Roman" pitchFamily="18" charset="0"/>
                <a:cs typeface="Times New Roman" pitchFamily="18" charset="0"/>
              </a:rPr>
              <a:t>c:set</a:t>
            </a:r>
            <a:r>
              <a:rPr lang="en-US" altLang="ko-KR" sz="2000" dirty="0" smtClean="0"/>
              <a:t>&gt;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pPr lvl="1"/>
            <a:r>
              <a:rPr lang="en-US" altLang="ko-KR" sz="1800" dirty="0"/>
              <a:t>&lt;</a:t>
            </a:r>
            <a:r>
              <a:rPr lang="en-US" altLang="ko-KR" sz="1800" b="1" dirty="0" err="1">
                <a:latin typeface="Times New Roman" pitchFamily="18" charset="0"/>
                <a:cs typeface="Times New Roman" pitchFamily="18" charset="0"/>
              </a:rPr>
              <a:t>c:set</a:t>
            </a:r>
            <a:r>
              <a:rPr lang="en-US" altLang="ko-KR" sz="1800" dirty="0"/>
              <a:t>&gt; </a:t>
            </a:r>
            <a:r>
              <a:rPr lang="ko-KR" altLang="en-US" sz="1800" dirty="0"/>
              <a:t>액션을 이용하여 선언한 변수는 </a:t>
            </a:r>
            <a:r>
              <a:rPr lang="ko-KR" altLang="en-US" sz="1800" dirty="0">
                <a:solidFill>
                  <a:srgbClr val="0000FF"/>
                </a:solidFill>
              </a:rPr>
              <a:t>디폴트로 </a:t>
            </a:r>
            <a:r>
              <a:rPr lang="en-US" altLang="ko-KR" sz="18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page</a:t>
            </a:r>
            <a:r>
              <a:rPr lang="en-US" altLang="ko-KR" sz="1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1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영역의 속성</a:t>
            </a:r>
            <a:r>
              <a:rPr lang="ko-KR" altLang="en-US" sz="1800" dirty="0">
                <a:latin typeface="Times New Roman" pitchFamily="18" charset="0"/>
                <a:cs typeface="Times New Roman" pitchFamily="18" charset="0"/>
              </a:rPr>
              <a:t>으로 </a:t>
            </a:r>
            <a:r>
              <a:rPr lang="ko-KR" altLang="en-US" sz="1800" dirty="0"/>
              <a:t>바인딩</a:t>
            </a:r>
            <a:endParaRPr lang="en-US" altLang="ko-KR" sz="1800" dirty="0"/>
          </a:p>
          <a:p>
            <a:pPr lvl="1"/>
            <a:r>
              <a:rPr lang="en-US" altLang="ko-KR" sz="1800" dirty="0"/>
              <a:t>scope </a:t>
            </a:r>
            <a:r>
              <a:rPr lang="ko-KR" altLang="en-US" sz="1800" dirty="0"/>
              <a:t>속성을 이용하여 </a:t>
            </a:r>
            <a:r>
              <a:rPr lang="ko-KR" altLang="en-US" sz="1800" dirty="0" err="1"/>
              <a:t>바인딩되는</a:t>
            </a:r>
            <a:r>
              <a:rPr lang="ko-KR" altLang="en-US" sz="1800" dirty="0"/>
              <a:t> 영역을 지정 가능</a:t>
            </a:r>
            <a:endParaRPr lang="en-US" altLang="ko-KR" sz="1800" dirty="0"/>
          </a:p>
          <a:p>
            <a:pPr lvl="2"/>
            <a:r>
              <a:rPr lang="en-US" altLang="ko-KR" dirty="0"/>
              <a:t>page, request, session, application </a:t>
            </a:r>
            <a:r>
              <a:rPr lang="ko-KR" altLang="en-US" dirty="0"/>
              <a:t>중 </a:t>
            </a:r>
            <a:r>
              <a:rPr lang="ko-KR" altLang="en-US" dirty="0" smtClean="0"/>
              <a:t>하나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r>
              <a:rPr lang="en-US" altLang="ko-KR" sz="2000" dirty="0">
                <a:ea typeface="Arial Unicode MS"/>
              </a:rPr>
              <a:t>&lt;</a:t>
            </a:r>
            <a:r>
              <a:rPr lang="en-US" altLang="ko-KR" sz="20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c:remove</a:t>
            </a:r>
            <a:r>
              <a:rPr lang="en-US" altLang="ko-KR" sz="2000" dirty="0">
                <a:ea typeface="Arial Unicode MS"/>
              </a:rPr>
              <a:t>&gt;</a:t>
            </a:r>
          </a:p>
          <a:p>
            <a:pPr lvl="1"/>
            <a:r>
              <a:rPr lang="en-US" altLang="ko-KR" sz="1800" dirty="0"/>
              <a:t>&lt;</a:t>
            </a:r>
            <a:r>
              <a:rPr lang="en-US" altLang="ko-KR" sz="1800" dirty="0" err="1"/>
              <a:t>c:set</a:t>
            </a:r>
            <a:r>
              <a:rPr lang="en-US" altLang="ko-KR" sz="1800" dirty="0"/>
              <a:t>&gt;</a:t>
            </a:r>
            <a:r>
              <a:rPr lang="ko-KR" altLang="en-US" sz="1800" dirty="0"/>
              <a:t>으로 선언한 변수를 변수의 이름을 이용하여 삭제할 때 </a:t>
            </a:r>
            <a:r>
              <a:rPr lang="ko-KR" altLang="en-US" sz="1800" dirty="0" smtClean="0"/>
              <a:t>사용</a:t>
            </a:r>
            <a:endParaRPr lang="en-US" altLang="ko-KR" sz="1800" dirty="0" smtClean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 smtClean="0"/>
          </a:p>
          <a:p>
            <a:pPr lvl="1"/>
            <a:r>
              <a:rPr lang="ko-KR" altLang="en-US" sz="1800" dirty="0"/>
              <a:t>영역을 지정하지 않으면 </a:t>
            </a:r>
            <a:r>
              <a:rPr lang="en-US" altLang="ko-KR" sz="1800" dirty="0"/>
              <a:t>page, request, session, application </a:t>
            </a:r>
            <a:r>
              <a:rPr lang="ko-KR" altLang="en-US" sz="1800" dirty="0"/>
              <a:t>영역에 저장되어 있는 </a:t>
            </a:r>
            <a:r>
              <a:rPr lang="en-US" altLang="ko-KR" sz="1800" dirty="0" err="1"/>
              <a:t>num</a:t>
            </a:r>
            <a:r>
              <a:rPr lang="ko-KR" altLang="en-US" sz="1800" dirty="0"/>
              <a:t>이라는 이름의 속성을 모두 찾아서 제거</a:t>
            </a:r>
          </a:p>
          <a:p>
            <a:pPr lvl="1"/>
            <a:endParaRPr lang="ko-KR" altLang="en-US" sz="1800" dirty="0" smtClean="0"/>
          </a:p>
          <a:p>
            <a:pPr lvl="2"/>
            <a:endParaRPr lang="ko-KR" altLang="en-US" dirty="0"/>
          </a:p>
          <a:p>
            <a:endParaRPr lang="en-US" altLang="ko-KR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9</a:t>
            </a:fld>
            <a:endParaRPr 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527106" y="2681858"/>
            <a:ext cx="5708614" cy="4580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c:set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dirty="0" err="1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var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"PRICE " 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value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"15000" 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scope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"request"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/&gt;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516525" y="4569394"/>
            <a:ext cx="2823209" cy="498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</a:t>
            </a:r>
            <a:r>
              <a:rPr lang="en-US" altLang="ko-KR" sz="2000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c:remove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2000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var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 </a:t>
            </a:r>
            <a:r>
              <a:rPr lang="en-US" altLang="ko-KR" sz="2000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</a:t>
            </a:r>
            <a:r>
              <a:rPr lang="en-US" altLang="ko-KR" sz="2000" dirty="0" err="1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num</a:t>
            </a:r>
            <a:r>
              <a:rPr lang="en-US" altLang="ko-KR" sz="2000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 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/&gt;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741183" y="4565727"/>
            <a:ext cx="4674677" cy="498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</a:t>
            </a:r>
            <a:r>
              <a:rPr lang="en-US" altLang="ko-KR" sz="2000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c:remove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2000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var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 </a:t>
            </a:r>
            <a:r>
              <a:rPr lang="en-US" altLang="ko-KR" sz="2000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"code" 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scope= </a:t>
            </a:r>
            <a:r>
              <a:rPr lang="en-US" altLang="ko-KR" sz="2000" dirty="0" smtClean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"request"</a:t>
            </a:r>
            <a:r>
              <a:rPr lang="en-US" altLang="ko-KR" sz="2000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153102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코어 라이브러리</a:t>
            </a:r>
            <a:r>
              <a:rPr lang="en-US" altLang="ko-KR" sz="2800" dirty="0"/>
              <a:t>(C)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442374" cy="6100600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ea typeface="Arial Unicode MS"/>
              </a:rPr>
              <a:t>&lt;</a:t>
            </a:r>
            <a:r>
              <a:rPr lang="en-US" altLang="ko-KR" sz="20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c:if</a:t>
            </a:r>
            <a:r>
              <a:rPr lang="en-US" altLang="ko-KR" sz="2000" dirty="0">
                <a:ea typeface="Arial Unicode MS"/>
              </a:rPr>
              <a:t>&gt; </a:t>
            </a:r>
            <a:r>
              <a:rPr lang="ko-KR" altLang="en-US" sz="2000" dirty="0" err="1">
                <a:ea typeface="Arial Unicode MS"/>
              </a:rPr>
              <a:t>커스텀</a:t>
            </a:r>
            <a:r>
              <a:rPr lang="ko-KR" altLang="en-US" sz="2000" dirty="0">
                <a:ea typeface="Arial Unicode MS"/>
              </a:rPr>
              <a:t> </a:t>
            </a:r>
            <a:r>
              <a:rPr lang="ko-KR" altLang="en-US" sz="2000" dirty="0" smtClean="0">
                <a:ea typeface="Arial Unicode MS"/>
              </a:rPr>
              <a:t>액션</a:t>
            </a:r>
            <a:endParaRPr lang="en-US" altLang="ko-KR" sz="2000" dirty="0" smtClean="0">
              <a:ea typeface="Arial Unicode MS"/>
            </a:endParaRPr>
          </a:p>
          <a:p>
            <a:pPr lvl="1"/>
            <a:r>
              <a:rPr lang="en-US" altLang="ko-KR" sz="1800" dirty="0">
                <a:ea typeface="Arial Unicode MS"/>
              </a:rPr>
              <a:t>&lt;</a:t>
            </a:r>
            <a:r>
              <a:rPr lang="en-US" altLang="ko-KR" sz="18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c:if</a:t>
            </a:r>
            <a:r>
              <a:rPr lang="en-US" altLang="ko-KR" sz="1800" dirty="0">
                <a:ea typeface="Arial Unicode MS"/>
              </a:rPr>
              <a:t>&gt; </a:t>
            </a:r>
            <a:r>
              <a:rPr lang="ko-KR" altLang="en-US" sz="1800" dirty="0" err="1">
                <a:ea typeface="Arial Unicode MS"/>
              </a:rPr>
              <a:t>커스텀</a:t>
            </a:r>
            <a:r>
              <a:rPr lang="ko-KR" altLang="en-US" sz="1800" dirty="0">
                <a:ea typeface="Arial Unicode MS"/>
              </a:rPr>
              <a:t> 액션에서는 조건식을 괄호 안에 쓰는 것은 아니라</a:t>
            </a:r>
            <a:r>
              <a:rPr lang="en-US" altLang="ko-KR" sz="1800" dirty="0">
                <a:ea typeface="Arial Unicode MS"/>
              </a:rPr>
              <a:t>, </a:t>
            </a:r>
            <a:r>
              <a:rPr lang="en-US" altLang="ko-KR" sz="1800" dirty="0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test</a:t>
            </a:r>
            <a:r>
              <a:rPr lang="ko-KR" altLang="en-US" sz="1800" dirty="0">
                <a:ea typeface="Arial Unicode MS"/>
              </a:rPr>
              <a:t> 속성의 값으로 지정해야 </a:t>
            </a:r>
            <a:r>
              <a:rPr lang="ko-KR" altLang="en-US" sz="1800" dirty="0" smtClean="0">
                <a:ea typeface="Arial Unicode MS"/>
              </a:rPr>
              <a:t>함</a:t>
            </a:r>
            <a:endParaRPr lang="en-US" altLang="ko-KR" sz="1800" dirty="0" smtClean="0">
              <a:ea typeface="Arial Unicode MS"/>
            </a:endParaRPr>
          </a:p>
          <a:p>
            <a:pPr lvl="1"/>
            <a:endParaRPr lang="en-US" altLang="ko-KR" sz="1800" dirty="0">
              <a:ea typeface="Arial Unicode MS"/>
            </a:endParaRPr>
          </a:p>
          <a:p>
            <a:pPr lvl="1"/>
            <a:endParaRPr lang="en-US" altLang="ko-KR" sz="1800" dirty="0" smtClean="0">
              <a:ea typeface="Arial Unicode MS"/>
            </a:endParaRPr>
          </a:p>
          <a:p>
            <a:pPr lvl="1"/>
            <a:endParaRPr lang="en-US" altLang="ko-KR" sz="1800" dirty="0">
              <a:ea typeface="Arial Unicode MS"/>
            </a:endParaRPr>
          </a:p>
          <a:p>
            <a:pPr lvl="1"/>
            <a:endParaRPr lang="en-US" altLang="ko-KR" sz="1800" dirty="0" smtClean="0">
              <a:ea typeface="Arial Unicode MS"/>
            </a:endParaRPr>
          </a:p>
          <a:p>
            <a:pPr lvl="1"/>
            <a:endParaRPr lang="en-US" altLang="ko-KR" sz="1800" dirty="0">
              <a:ea typeface="Arial Unicode MS"/>
            </a:endParaRPr>
          </a:p>
          <a:p>
            <a:pPr lvl="1"/>
            <a:endParaRPr lang="en-US" altLang="ko-KR" sz="1800" dirty="0" smtClean="0">
              <a:ea typeface="Arial Unicode MS"/>
            </a:endParaRPr>
          </a:p>
          <a:p>
            <a:pPr lvl="1"/>
            <a:endParaRPr lang="en-US" altLang="ko-KR" sz="1800" dirty="0">
              <a:ea typeface="Arial Unicode MS"/>
            </a:endParaRPr>
          </a:p>
          <a:p>
            <a:pPr lvl="1"/>
            <a:endParaRPr lang="en-US" altLang="ko-KR" sz="1800" dirty="0" smtClean="0">
              <a:ea typeface="Arial Unicode MS"/>
            </a:endParaRPr>
          </a:p>
          <a:p>
            <a:pPr lvl="1"/>
            <a:endParaRPr lang="en-US" altLang="ko-KR" sz="1800" dirty="0">
              <a:ea typeface="Arial Unicode MS"/>
            </a:endParaRPr>
          </a:p>
          <a:p>
            <a:pPr lvl="1"/>
            <a:endParaRPr lang="en-US" altLang="ko-KR" sz="1800" dirty="0" smtClean="0">
              <a:ea typeface="Arial Unicode MS"/>
            </a:endParaRPr>
          </a:p>
          <a:p>
            <a:pPr lvl="1"/>
            <a:endParaRPr lang="ko-KR" altLang="en-US" sz="1800" dirty="0">
              <a:ea typeface="Arial Unicode MS"/>
            </a:endParaRPr>
          </a:p>
          <a:p>
            <a:pPr lvl="1"/>
            <a:endParaRPr lang="en-US" altLang="ko-KR" sz="1600" dirty="0">
              <a:ea typeface="Arial Unicode M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10</a:t>
            </a:fld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110283" y="1752370"/>
            <a:ext cx="6414467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&lt;%@page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contentType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 “text/html; charset=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euc-kr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”%&gt;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pt-BR" altLang="ko-KR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&lt;%@taglib prefix= </a:t>
            </a:r>
            <a:r>
              <a:rPr lang="pt-BR" altLang="ko-KR" dirty="0" smtClean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"c" </a:t>
            </a:r>
            <a:r>
              <a:rPr lang="pt-BR" altLang="ko-KR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uri= </a:t>
            </a:r>
            <a:r>
              <a:rPr lang="pt-BR" altLang="ko-KR" dirty="0" smtClean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"http</a:t>
            </a:r>
            <a:r>
              <a:rPr lang="pt-BR" altLang="ko-KR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://</a:t>
            </a:r>
            <a:r>
              <a:rPr lang="pt-BR" altLang="ko-KR" dirty="0" smtClean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java.sun.com/jsp/jstl/core" </a:t>
            </a:r>
            <a:r>
              <a:rPr lang="pt-BR" altLang="ko-KR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%&gt;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&lt;HTML&gt;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&lt;HEAD&gt;&lt;TITLE&gt;</a:t>
            </a:r>
            <a:r>
              <a:rPr lang="ko-KR" altLang="en-US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최대값 구하기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&lt;/TITLE&gt;&lt;/HEAD&gt;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&lt;BODY&gt;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최대값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: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&lt;</a:t>
            </a:r>
            <a:r>
              <a:rPr lang="en-US" altLang="ko-KR" dirty="0" err="1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:if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test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"${</a:t>
            </a:r>
            <a:r>
              <a:rPr lang="en-US" altLang="ko-KR" dirty="0">
                <a:solidFill>
                  <a:srgbClr val="FF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param.NUM1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- </a:t>
            </a:r>
            <a:r>
              <a:rPr lang="en-US" altLang="ko-KR" dirty="0">
                <a:solidFill>
                  <a:srgbClr val="FF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param.NUM2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&gt;= 0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}"&gt;</a:t>
            </a:r>
            <a:endParaRPr lang="en-US" altLang="ko-KR" dirty="0"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        ${param.NUM1}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&lt;/</a:t>
            </a:r>
            <a:r>
              <a:rPr lang="en-US" altLang="ko-KR" dirty="0" err="1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:if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&lt;</a:t>
            </a:r>
            <a:r>
              <a:rPr lang="en-US" altLang="ko-KR" dirty="0" err="1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:if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test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"${</a:t>
            </a:r>
            <a:r>
              <a:rPr lang="en-US" altLang="ko-KR" dirty="0">
                <a:solidFill>
                  <a:srgbClr val="FF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param.NUM1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- </a:t>
            </a:r>
            <a:r>
              <a:rPr lang="en-US" altLang="ko-KR" dirty="0">
                <a:solidFill>
                  <a:srgbClr val="FF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param.NUM2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&lt; 0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}"&gt;</a:t>
            </a:r>
            <a:endParaRPr lang="en-US" altLang="ko-KR" dirty="0"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        ${param.NUM2}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&lt;/</a:t>
            </a:r>
            <a:r>
              <a:rPr lang="en-US" altLang="ko-KR" dirty="0" err="1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:if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&lt;/BODY&gt;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9876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5319736" y="1817144"/>
            <a:ext cx="1786078" cy="388247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직사각형 6"/>
          <p:cNvSpPr/>
          <p:nvPr/>
        </p:nvSpPr>
        <p:spPr>
          <a:xfrm>
            <a:off x="5407779" y="2716651"/>
            <a:ext cx="1341907" cy="388247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직사각형 8"/>
          <p:cNvSpPr/>
          <p:nvPr/>
        </p:nvSpPr>
        <p:spPr>
          <a:xfrm>
            <a:off x="7425345" y="3651832"/>
            <a:ext cx="1341907" cy="388247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코어 라이브러리</a:t>
            </a:r>
            <a:r>
              <a:rPr lang="en-US" altLang="ko-KR" sz="2800" dirty="0"/>
              <a:t>(C)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442374" cy="6100600"/>
          </a:xfrm>
        </p:spPr>
        <p:txBody>
          <a:bodyPr>
            <a:normAutofit/>
          </a:bodyPr>
          <a:lstStyle/>
          <a:p>
            <a:r>
              <a:rPr lang="en-US" altLang="ko-KR" sz="2000" dirty="0" smtClean="0">
                <a:ea typeface="Arial Unicode MS"/>
              </a:rPr>
              <a:t>JSTL</a:t>
            </a:r>
            <a:r>
              <a:rPr lang="ko-KR" altLang="en-US" sz="2000" dirty="0" smtClean="0">
                <a:ea typeface="Arial Unicode MS"/>
              </a:rPr>
              <a:t>에서 </a:t>
            </a:r>
            <a:r>
              <a:rPr lang="en-US" altLang="ko-KR" sz="2000" dirty="0" smtClean="0">
                <a:ea typeface="Arial Unicode MS"/>
              </a:rPr>
              <a:t>parameter</a:t>
            </a:r>
            <a:r>
              <a:rPr lang="ko-KR" altLang="en-US" sz="2000" dirty="0" smtClean="0">
                <a:ea typeface="Arial Unicode MS"/>
              </a:rPr>
              <a:t>와 </a:t>
            </a:r>
            <a:r>
              <a:rPr lang="en-US" altLang="ko-KR" sz="2000" dirty="0" smtClean="0">
                <a:ea typeface="Arial Unicode MS"/>
              </a:rPr>
              <a:t>attribute</a:t>
            </a:r>
            <a:r>
              <a:rPr lang="ko-KR" altLang="en-US" sz="2000" dirty="0" smtClean="0">
                <a:ea typeface="Arial Unicode MS"/>
              </a:rPr>
              <a:t>접근</a:t>
            </a:r>
            <a:endParaRPr lang="en-US" altLang="ko-KR" sz="2000" dirty="0" smtClean="0">
              <a:ea typeface="Arial Unicode MS"/>
            </a:endParaRPr>
          </a:p>
          <a:p>
            <a:pPr lvl="1"/>
            <a:r>
              <a:rPr lang="ko-KR" altLang="en-US" dirty="0" err="1" smtClean="0"/>
              <a:t>파라미터</a:t>
            </a:r>
            <a:r>
              <a:rPr lang="en-US" altLang="ko-KR" dirty="0" smtClean="0"/>
              <a:t>(parameter)</a:t>
            </a:r>
            <a:r>
              <a:rPr lang="ko-KR" altLang="en-US" dirty="0" smtClean="0"/>
              <a:t> 접근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request.getParameter</a:t>
            </a:r>
            <a:r>
              <a:rPr lang="en-US" altLang="ko-KR" dirty="0" smtClean="0"/>
              <a:t>("name");  </a:t>
            </a:r>
            <a:r>
              <a:rPr lang="en-US" altLang="ko-KR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ym typeface="Wingdings" panose="05000000000000000000" pitchFamily="2" charset="2"/>
              </a:rPr>
              <a:t> </a:t>
            </a:r>
            <a:r>
              <a:rPr lang="en-US" dirty="0"/>
              <a:t>${</a:t>
            </a:r>
            <a:r>
              <a:rPr lang="en-US" b="1" dirty="0"/>
              <a:t>param</a:t>
            </a:r>
            <a:r>
              <a:rPr lang="en-US" dirty="0"/>
              <a:t>.name}</a:t>
            </a:r>
            <a:endParaRPr 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r>
              <a:rPr lang="ko-KR" altLang="en-US" dirty="0" smtClean="0"/>
              <a:t>속성</a:t>
            </a:r>
            <a:r>
              <a:rPr lang="en-US" altLang="ko-KR" dirty="0" smtClean="0"/>
              <a:t>(attribute)</a:t>
            </a:r>
            <a:r>
              <a:rPr lang="ko-KR" altLang="en-US" dirty="0" smtClean="0"/>
              <a:t> </a:t>
            </a:r>
            <a:r>
              <a:rPr lang="ko-KR" altLang="en-US" dirty="0"/>
              <a:t>접근</a:t>
            </a:r>
            <a:endParaRPr lang="en-US" altLang="ko-KR" dirty="0"/>
          </a:p>
          <a:p>
            <a:pPr lvl="2"/>
            <a:r>
              <a:rPr lang="en-US" altLang="ko-KR" dirty="0" err="1"/>
              <a:t>request.getAttribute</a:t>
            </a:r>
            <a:r>
              <a:rPr lang="en-US" altLang="ko-KR" dirty="0"/>
              <a:t>("</a:t>
            </a:r>
            <a:r>
              <a:rPr lang="en-US" altLang="ko-KR" dirty="0">
                <a:solidFill>
                  <a:srgbClr val="0000FF"/>
                </a:solidFill>
              </a:rPr>
              <a:t>member</a:t>
            </a:r>
            <a:r>
              <a:rPr lang="en-US" altLang="ko-KR" dirty="0"/>
              <a:t>"); </a:t>
            </a:r>
            <a:r>
              <a:rPr lang="en-US" altLang="ko-KR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/>
              <a:t> </a:t>
            </a:r>
            <a:r>
              <a:rPr lang="en-US" altLang="ko-KR" dirty="0"/>
              <a:t>${</a:t>
            </a:r>
            <a:r>
              <a:rPr lang="en-US" altLang="ko-KR" dirty="0">
                <a:solidFill>
                  <a:srgbClr val="0000FF"/>
                </a:solidFill>
              </a:rPr>
              <a:t>member</a:t>
            </a:r>
            <a:r>
              <a:rPr lang="en-US" altLang="ko-KR" dirty="0" smtClean="0"/>
              <a:t>}</a:t>
            </a:r>
            <a:endParaRPr 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r>
              <a:rPr lang="ko-KR" altLang="en-US" dirty="0" smtClean="0"/>
              <a:t>속성이 </a:t>
            </a:r>
            <a:r>
              <a:rPr lang="en-US" altLang="ko-KR" dirty="0" smtClean="0"/>
              <a:t>collection</a:t>
            </a:r>
            <a:r>
              <a:rPr lang="ko-KR" altLang="en-US" dirty="0" smtClean="0"/>
              <a:t>타입일 경우</a:t>
            </a:r>
            <a:r>
              <a:rPr lang="en-US" altLang="ko-KR" dirty="0" smtClean="0">
                <a:ea typeface="Arial Unicode MS"/>
              </a:rPr>
              <a:t> </a:t>
            </a:r>
          </a:p>
          <a:p>
            <a:pPr lvl="2"/>
            <a:r>
              <a:rPr lang="en-US" altLang="ko-KR" dirty="0">
                <a:ea typeface="Arial Unicode MS"/>
              </a:rPr>
              <a:t>List </a:t>
            </a:r>
            <a:r>
              <a:rPr lang="en-US" altLang="ko-KR" dirty="0" err="1">
                <a:ea typeface="Arial Unicode MS"/>
              </a:rPr>
              <a:t>list</a:t>
            </a:r>
            <a:r>
              <a:rPr lang="en-US" altLang="ko-KR" dirty="0">
                <a:ea typeface="Arial Unicode MS"/>
              </a:rPr>
              <a:t> = (List)</a:t>
            </a:r>
            <a:r>
              <a:rPr lang="en-US" altLang="ko-KR" dirty="0" err="1">
                <a:ea typeface="Arial Unicode MS"/>
              </a:rPr>
              <a:t>request.getAttribute</a:t>
            </a:r>
            <a:r>
              <a:rPr lang="en-US" altLang="ko-KR" dirty="0">
                <a:ea typeface="Arial Unicode MS"/>
              </a:rPr>
              <a:t>("</a:t>
            </a:r>
            <a:r>
              <a:rPr lang="en-US" altLang="ko-KR" dirty="0">
                <a:solidFill>
                  <a:srgbClr val="0000FF"/>
                </a:solidFill>
                <a:ea typeface="Arial Unicode MS"/>
              </a:rPr>
              <a:t>list</a:t>
            </a:r>
            <a:r>
              <a:rPr lang="en-US" altLang="ko-KR" dirty="0">
                <a:ea typeface="Arial Unicode MS"/>
              </a:rPr>
              <a:t>"); </a:t>
            </a:r>
            <a:r>
              <a:rPr lang="en-US" altLang="ko-KR" dirty="0" err="1">
                <a:ea typeface="Arial Unicode MS"/>
              </a:rPr>
              <a:t>list.get</a:t>
            </a:r>
            <a:r>
              <a:rPr lang="en-US" altLang="ko-KR" dirty="0">
                <a:ea typeface="Arial Unicode MS"/>
              </a:rPr>
              <a:t>(0); </a:t>
            </a:r>
            <a:r>
              <a:rPr lang="en-US" altLang="ko-KR" dirty="0" smtClean="0">
                <a:solidFill>
                  <a:srgbClr val="FF0000"/>
                </a:solidFill>
                <a:ea typeface="Arial Unicode MS"/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ea typeface="Arial Unicode MS"/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ea typeface="Arial Unicode MS"/>
              </a:rPr>
              <a:t>${</a:t>
            </a:r>
            <a:r>
              <a:rPr lang="en-US" altLang="ko-KR" dirty="0">
                <a:solidFill>
                  <a:srgbClr val="0000FF"/>
                </a:solidFill>
                <a:ea typeface="Arial Unicode MS"/>
              </a:rPr>
              <a:t>list</a:t>
            </a:r>
            <a:r>
              <a:rPr lang="en-US" altLang="ko-KR" dirty="0">
                <a:ea typeface="Arial Unicode MS"/>
              </a:rPr>
              <a:t>["0</a:t>
            </a:r>
            <a:r>
              <a:rPr lang="en-US" altLang="ko-KR" dirty="0" smtClean="0">
                <a:ea typeface="Arial Unicode MS"/>
              </a:rPr>
              <a:t>"]}</a:t>
            </a:r>
            <a:endParaRPr lang="en-US" altLang="ko-KR" sz="1600" dirty="0">
              <a:ea typeface="Arial Unicode MS"/>
            </a:endParaRPr>
          </a:p>
          <a:p>
            <a:pPr lvl="1"/>
            <a:endParaRPr lang="en-US" altLang="ko-KR" dirty="0" smtClean="0">
              <a:ea typeface="Arial Unicode MS"/>
            </a:endParaRPr>
          </a:p>
          <a:p>
            <a:pPr lvl="1"/>
            <a:endParaRPr lang="ko-KR" altLang="en-US" sz="1800" dirty="0">
              <a:ea typeface="Arial Unicode MS"/>
            </a:endParaRPr>
          </a:p>
          <a:p>
            <a:pPr lvl="1"/>
            <a:endParaRPr lang="en-US" altLang="ko-KR" sz="1600" dirty="0">
              <a:ea typeface="Arial Unicode M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59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코어 라이브러리</a:t>
            </a:r>
            <a:r>
              <a:rPr lang="en-US" altLang="ko-KR" sz="2800" dirty="0"/>
              <a:t>(C)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442374" cy="6100600"/>
          </a:xfrm>
        </p:spPr>
        <p:txBody>
          <a:bodyPr>
            <a:normAutofit/>
          </a:bodyPr>
          <a:lstStyle/>
          <a:p>
            <a:r>
              <a:rPr lang="en-US" altLang="ko-KR" sz="2000" dirty="0" smtClean="0">
                <a:ea typeface="Arial Unicode MS"/>
              </a:rPr>
              <a:t>EL</a:t>
            </a:r>
            <a:r>
              <a:rPr lang="ko-KR" altLang="en-US" sz="2000" dirty="0" smtClean="0">
                <a:ea typeface="Arial Unicode MS"/>
              </a:rPr>
              <a:t>에서 지원하는 </a:t>
            </a:r>
            <a:r>
              <a:rPr lang="ko-KR" altLang="en-US" sz="2000" dirty="0" err="1" smtClean="0">
                <a:ea typeface="Arial Unicode MS"/>
              </a:rPr>
              <a:t>내장객체</a:t>
            </a:r>
            <a:endParaRPr lang="en-US" altLang="ko-KR" sz="2000" dirty="0" smtClean="0">
              <a:ea typeface="Arial Unicode MS"/>
            </a:endParaRPr>
          </a:p>
          <a:p>
            <a:pPr lvl="1"/>
            <a:endParaRPr lang="en-US" altLang="ko-KR" sz="1800" dirty="0" smtClean="0">
              <a:ea typeface="Arial Unicode MS"/>
            </a:endParaRPr>
          </a:p>
          <a:p>
            <a:pPr lvl="1"/>
            <a:endParaRPr lang="ko-KR" altLang="en-US" sz="1800" dirty="0">
              <a:ea typeface="Arial Unicode MS"/>
            </a:endParaRPr>
          </a:p>
          <a:p>
            <a:pPr lvl="1"/>
            <a:endParaRPr lang="en-US" altLang="ko-KR" sz="1600" dirty="0">
              <a:ea typeface="Arial Unicode M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12</a:t>
            </a:fld>
            <a:endParaRPr 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66719"/>
              </p:ext>
            </p:extLst>
          </p:nvPr>
        </p:nvGraphicFramePr>
        <p:xfrm>
          <a:off x="657667" y="1371124"/>
          <a:ext cx="10261369" cy="536872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15853">
                  <a:extLst>
                    <a:ext uri="{9D8B030D-6E8A-4147-A177-3AD203B41FA5}">
                      <a16:colId xmlns:a16="http://schemas.microsoft.com/office/drawing/2014/main" val="4230159278"/>
                    </a:ext>
                  </a:extLst>
                </a:gridCol>
                <a:gridCol w="7245516">
                  <a:extLst>
                    <a:ext uri="{9D8B030D-6E8A-4147-A177-3AD203B41FA5}">
                      <a16:colId xmlns:a16="http://schemas.microsoft.com/office/drawing/2014/main" val="2373468088"/>
                    </a:ext>
                  </a:extLst>
                </a:gridCol>
              </a:tblGrid>
              <a:tr h="308235">
                <a:tc>
                  <a:txBody>
                    <a:bodyPr/>
                    <a:lstStyle/>
                    <a:p>
                      <a:pPr algn="ctr" fontAlgn="base"/>
                      <a:r>
                        <a:rPr lang="ko-KR" altLang="en-US" sz="1600" dirty="0" err="1">
                          <a:effectLst/>
                        </a:rPr>
                        <a:t>내장객체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15684" marR="15684" marT="15684" marB="15684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ko-KR" altLang="en-US" sz="1600" dirty="0">
                          <a:effectLst/>
                        </a:rPr>
                        <a:t> 설명</a:t>
                      </a:r>
                    </a:p>
                  </a:txBody>
                  <a:tcPr marL="15684" marR="15684" marT="15684" marB="15684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600045"/>
                  </a:ext>
                </a:extLst>
              </a:tr>
              <a:tr h="338673">
                <a:tc>
                  <a:txBody>
                    <a:bodyPr/>
                    <a:lstStyle/>
                    <a:p>
                      <a:pPr fontAlgn="base"/>
                      <a:r>
                        <a:rPr lang="en-US" sz="1600" dirty="0" err="1">
                          <a:effectLst/>
                        </a:rPr>
                        <a:t>pageContext</a:t>
                      </a:r>
                      <a:endParaRPr lang="en-US" sz="1600" dirty="0">
                        <a:effectLst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600" dirty="0">
                          <a:effectLst/>
                        </a:rPr>
                        <a:t> </a:t>
                      </a:r>
                      <a:r>
                        <a:rPr lang="en-US" altLang="ko-KR" sz="1600" dirty="0">
                          <a:effectLst/>
                        </a:rPr>
                        <a:t>JSP </a:t>
                      </a:r>
                      <a:r>
                        <a:rPr lang="ko-KR" altLang="en-US" sz="1600" dirty="0">
                          <a:effectLst/>
                        </a:rPr>
                        <a:t>내장 객체 </a:t>
                      </a:r>
                      <a:r>
                        <a:rPr lang="en-US" altLang="ko-KR" sz="1600" dirty="0" err="1">
                          <a:effectLst/>
                        </a:rPr>
                        <a:t>pageContext</a:t>
                      </a:r>
                      <a:r>
                        <a:rPr lang="ko-KR" altLang="en-US" sz="1600" dirty="0">
                          <a:effectLst/>
                        </a:rPr>
                        <a:t>와 같습니다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848387641"/>
                  </a:ext>
                </a:extLst>
              </a:tr>
              <a:tr h="439855">
                <a:tc>
                  <a:txBody>
                    <a:bodyPr/>
                    <a:lstStyle/>
                    <a:p>
                      <a:pPr fontAlgn="base"/>
                      <a:r>
                        <a:rPr lang="en-US" sz="1600">
                          <a:effectLst/>
                        </a:rPr>
                        <a:t>pageScope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600" dirty="0">
                          <a:effectLst/>
                        </a:rPr>
                        <a:t> </a:t>
                      </a:r>
                      <a:r>
                        <a:rPr lang="en-US" altLang="ko-KR" sz="1600" dirty="0" err="1">
                          <a:effectLst/>
                        </a:rPr>
                        <a:t>pageContext</a:t>
                      </a:r>
                      <a:r>
                        <a:rPr lang="ko-KR" altLang="en-US" sz="1600" dirty="0">
                          <a:effectLst/>
                        </a:rPr>
                        <a:t>에 등록된 데이터의 이름과 값을 저장하고 있는 </a:t>
                      </a:r>
                      <a:r>
                        <a:rPr lang="en-US" altLang="ko-KR" sz="1600" dirty="0">
                          <a:effectLst/>
                        </a:rPr>
                        <a:t>map</a:t>
                      </a:r>
                      <a:r>
                        <a:rPr lang="ko-KR" altLang="en-US" sz="1600" dirty="0">
                          <a:effectLst/>
                        </a:rPr>
                        <a:t>객체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177401454"/>
                  </a:ext>
                </a:extLst>
              </a:tr>
              <a:tr h="581337">
                <a:tc>
                  <a:txBody>
                    <a:bodyPr/>
                    <a:lstStyle/>
                    <a:p>
                      <a:pPr fontAlgn="base"/>
                      <a:r>
                        <a:rPr lang="en-US" sz="1600">
                          <a:effectLst/>
                        </a:rPr>
                        <a:t>requestScope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600" dirty="0">
                          <a:effectLst/>
                        </a:rPr>
                        <a:t> </a:t>
                      </a:r>
                      <a:r>
                        <a:rPr lang="en-US" altLang="ko-KR" sz="1600" dirty="0" err="1">
                          <a:effectLst/>
                        </a:rPr>
                        <a:t>HttpServletRequest</a:t>
                      </a:r>
                      <a:r>
                        <a:rPr lang="ko-KR" altLang="en-US" sz="1600" dirty="0">
                          <a:effectLst/>
                        </a:rPr>
                        <a:t>에 등록된 데이터의 이름과 값을 저장하고 있는 </a:t>
                      </a:r>
                      <a:r>
                        <a:rPr lang="en-US" altLang="ko-KR" sz="1600" dirty="0">
                          <a:effectLst/>
                        </a:rPr>
                        <a:t>map</a:t>
                      </a:r>
                      <a:r>
                        <a:rPr lang="ko-KR" altLang="en-US" sz="1600" dirty="0">
                          <a:effectLst/>
                        </a:rPr>
                        <a:t>객체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312225092"/>
                  </a:ext>
                </a:extLst>
              </a:tr>
              <a:tr h="439855">
                <a:tc>
                  <a:txBody>
                    <a:bodyPr/>
                    <a:lstStyle/>
                    <a:p>
                      <a:pPr fontAlgn="base"/>
                      <a:r>
                        <a:rPr lang="en-US" sz="1600">
                          <a:effectLst/>
                        </a:rPr>
                        <a:t>sessionScope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600" dirty="0">
                          <a:effectLst/>
                        </a:rPr>
                        <a:t> </a:t>
                      </a:r>
                      <a:r>
                        <a:rPr lang="en-US" altLang="ko-KR" sz="1600" dirty="0" err="1">
                          <a:effectLst/>
                        </a:rPr>
                        <a:t>HttpSession</a:t>
                      </a:r>
                      <a:r>
                        <a:rPr lang="ko-KR" altLang="en-US" sz="1600" dirty="0">
                          <a:effectLst/>
                        </a:rPr>
                        <a:t>에 등록된 데이터의 이름과 값을 저장하고 있는 </a:t>
                      </a:r>
                      <a:r>
                        <a:rPr lang="en-US" altLang="ko-KR" sz="1600" dirty="0">
                          <a:effectLst/>
                        </a:rPr>
                        <a:t>map</a:t>
                      </a:r>
                      <a:r>
                        <a:rPr lang="ko-KR" altLang="en-US" sz="1600" dirty="0">
                          <a:effectLst/>
                        </a:rPr>
                        <a:t>객체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480094955"/>
                  </a:ext>
                </a:extLst>
              </a:tr>
              <a:tr h="439855">
                <a:tc>
                  <a:txBody>
                    <a:bodyPr/>
                    <a:lstStyle/>
                    <a:p>
                      <a:pPr fontAlgn="base"/>
                      <a:r>
                        <a:rPr lang="en-US" sz="1600">
                          <a:effectLst/>
                        </a:rPr>
                        <a:t>applicationScope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600" dirty="0">
                          <a:effectLst/>
                        </a:rPr>
                        <a:t> </a:t>
                      </a:r>
                      <a:r>
                        <a:rPr lang="en-US" altLang="ko-KR" sz="1600" dirty="0" err="1">
                          <a:effectLst/>
                        </a:rPr>
                        <a:t>ServletContext</a:t>
                      </a:r>
                      <a:r>
                        <a:rPr lang="ko-KR" altLang="en-US" sz="1600" dirty="0">
                          <a:effectLst/>
                        </a:rPr>
                        <a:t>에 등록된 데이터의 이름과 값을 저장하고 있는 </a:t>
                      </a:r>
                      <a:r>
                        <a:rPr lang="en-US" altLang="ko-KR" sz="1600" dirty="0">
                          <a:effectLst/>
                        </a:rPr>
                        <a:t>map </a:t>
                      </a:r>
                      <a:r>
                        <a:rPr lang="ko-KR" altLang="en-US" sz="1600" dirty="0">
                          <a:effectLst/>
                        </a:rPr>
                        <a:t>객체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609056450"/>
                  </a:ext>
                </a:extLst>
              </a:tr>
              <a:tr h="338673">
                <a:tc>
                  <a:txBody>
                    <a:bodyPr/>
                    <a:lstStyle/>
                    <a:p>
                      <a:pPr fontAlgn="base"/>
                      <a:r>
                        <a:rPr lang="en-US" sz="1600" b="1" dirty="0" err="1">
                          <a:effectLst/>
                        </a:rPr>
                        <a:t>param</a:t>
                      </a:r>
                      <a:endParaRPr lang="en-US" sz="1600" b="1" dirty="0">
                        <a:effectLst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600" dirty="0">
                          <a:effectLst/>
                        </a:rPr>
                        <a:t> </a:t>
                      </a:r>
                      <a:r>
                        <a:rPr lang="en-US" altLang="ko-KR" sz="1600" dirty="0" err="1">
                          <a:effectLst/>
                        </a:rPr>
                        <a:t>QueryString</a:t>
                      </a:r>
                      <a:r>
                        <a:rPr lang="ko-KR" altLang="en-US" sz="1600" dirty="0">
                          <a:effectLst/>
                        </a:rPr>
                        <a:t>의 이름과 값을 저장하고 있는 </a:t>
                      </a:r>
                      <a:r>
                        <a:rPr lang="en-US" altLang="ko-KR" sz="1600" dirty="0">
                          <a:effectLst/>
                        </a:rPr>
                        <a:t>map</a:t>
                      </a:r>
                      <a:r>
                        <a:rPr lang="ko-KR" altLang="en-US" sz="1600" dirty="0">
                          <a:effectLst/>
                        </a:rPr>
                        <a:t>객체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708002461"/>
                  </a:ext>
                </a:extLst>
              </a:tr>
              <a:tr h="581337">
                <a:tc>
                  <a:txBody>
                    <a:bodyPr/>
                    <a:lstStyle/>
                    <a:p>
                      <a:pPr fontAlgn="base"/>
                      <a:r>
                        <a:rPr lang="en-US" sz="1600">
                          <a:effectLst/>
                        </a:rPr>
                        <a:t>paramValues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600" dirty="0">
                          <a:effectLst/>
                        </a:rPr>
                        <a:t> 같은 이름으로 전달된 질의 문자열의 이름과 값들을 </a:t>
                      </a:r>
                      <a:r>
                        <a:rPr lang="ko-KR" altLang="en-US" sz="1600" dirty="0" smtClean="0">
                          <a:effectLst/>
                        </a:rPr>
                        <a:t>저장하고 </a:t>
                      </a:r>
                      <a:r>
                        <a:rPr lang="ko-KR" altLang="en-US" sz="1600" dirty="0">
                          <a:effectLst/>
                        </a:rPr>
                        <a:t>있는 </a:t>
                      </a:r>
                      <a:r>
                        <a:rPr lang="en-US" altLang="ko-KR" sz="1600" dirty="0">
                          <a:effectLst/>
                        </a:rPr>
                        <a:t>map </a:t>
                      </a:r>
                      <a:r>
                        <a:rPr lang="ko-KR" altLang="en-US" sz="1600" dirty="0">
                          <a:effectLst/>
                        </a:rPr>
                        <a:t>객체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455046708"/>
                  </a:ext>
                </a:extLst>
              </a:tr>
              <a:tr h="439855">
                <a:tc>
                  <a:txBody>
                    <a:bodyPr/>
                    <a:lstStyle/>
                    <a:p>
                      <a:pPr fontAlgn="base"/>
                      <a:r>
                        <a:rPr lang="en-US" sz="1600">
                          <a:effectLst/>
                        </a:rPr>
                        <a:t>header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600" dirty="0">
                          <a:effectLst/>
                        </a:rPr>
                        <a:t> </a:t>
                      </a:r>
                      <a:r>
                        <a:rPr lang="ko-KR" altLang="en-US" sz="1600" dirty="0" err="1">
                          <a:effectLst/>
                        </a:rPr>
                        <a:t>요청정보</a:t>
                      </a:r>
                      <a:r>
                        <a:rPr lang="ko-KR" altLang="en-US" sz="1600" dirty="0">
                          <a:effectLst/>
                        </a:rPr>
                        <a:t> 헤더의 정보를 이름과 값으로 저장하고 있는 </a:t>
                      </a:r>
                      <a:r>
                        <a:rPr lang="en-US" altLang="ko-KR" sz="1600" dirty="0">
                          <a:effectLst/>
                        </a:rPr>
                        <a:t>map</a:t>
                      </a:r>
                      <a:r>
                        <a:rPr lang="ko-KR" altLang="en-US" sz="1600" dirty="0">
                          <a:effectLst/>
                        </a:rPr>
                        <a:t>객체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097521495"/>
                  </a:ext>
                </a:extLst>
              </a:tr>
              <a:tr h="439855">
                <a:tc>
                  <a:txBody>
                    <a:bodyPr/>
                    <a:lstStyle/>
                    <a:p>
                      <a:pPr fontAlgn="base"/>
                      <a:r>
                        <a:rPr lang="en-US" sz="1600">
                          <a:effectLst/>
                        </a:rPr>
                        <a:t>headerValues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600" dirty="0">
                          <a:effectLst/>
                        </a:rPr>
                        <a:t> </a:t>
                      </a:r>
                      <a:r>
                        <a:rPr lang="ko-KR" altLang="en-US" sz="1600" dirty="0" err="1">
                          <a:effectLst/>
                        </a:rPr>
                        <a:t>요청정보</a:t>
                      </a:r>
                      <a:r>
                        <a:rPr lang="ko-KR" altLang="en-US" sz="1600" dirty="0">
                          <a:effectLst/>
                        </a:rPr>
                        <a:t> 헤더의 정보들을 이름과 값들을 저장하고 있는 </a:t>
                      </a:r>
                      <a:r>
                        <a:rPr lang="en-US" altLang="ko-KR" sz="1600" dirty="0">
                          <a:effectLst/>
                        </a:rPr>
                        <a:t>map</a:t>
                      </a:r>
                      <a:r>
                        <a:rPr lang="ko-KR" altLang="en-US" sz="1600" dirty="0">
                          <a:effectLst/>
                        </a:rPr>
                        <a:t>객체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801102638"/>
                  </a:ext>
                </a:extLst>
              </a:tr>
              <a:tr h="439855">
                <a:tc>
                  <a:txBody>
                    <a:bodyPr/>
                    <a:lstStyle/>
                    <a:p>
                      <a:pPr fontAlgn="base"/>
                      <a:r>
                        <a:rPr lang="en-US" sz="1600">
                          <a:effectLst/>
                        </a:rPr>
                        <a:t>cookie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600" dirty="0">
                          <a:effectLst/>
                        </a:rPr>
                        <a:t> 요청을 보낸 클라이언트의 </a:t>
                      </a:r>
                      <a:r>
                        <a:rPr lang="ko-KR" altLang="en-US" sz="1600" dirty="0" err="1">
                          <a:effectLst/>
                        </a:rPr>
                        <a:t>쿠기</a:t>
                      </a:r>
                      <a:r>
                        <a:rPr lang="ko-KR" altLang="en-US" sz="1600" dirty="0">
                          <a:effectLst/>
                        </a:rPr>
                        <a:t> 이름과 값을 저장하고 있는 </a:t>
                      </a:r>
                      <a:r>
                        <a:rPr lang="en-US" altLang="ko-KR" sz="1600" dirty="0">
                          <a:effectLst/>
                        </a:rPr>
                        <a:t>map</a:t>
                      </a:r>
                      <a:r>
                        <a:rPr lang="ko-KR" altLang="en-US" sz="1600" dirty="0">
                          <a:effectLst/>
                        </a:rPr>
                        <a:t>객체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754434476"/>
                  </a:ext>
                </a:extLst>
              </a:tr>
              <a:tr h="581337">
                <a:tc>
                  <a:txBody>
                    <a:bodyPr/>
                    <a:lstStyle/>
                    <a:p>
                      <a:pPr fontAlgn="base"/>
                      <a:r>
                        <a:rPr lang="en-US" sz="1600" dirty="0" err="1">
                          <a:effectLst/>
                        </a:rPr>
                        <a:t>initParam</a:t>
                      </a:r>
                      <a:endParaRPr lang="en-US" sz="1600" dirty="0">
                        <a:effectLst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ko-KR" altLang="en-US" sz="1600" dirty="0">
                          <a:effectLst/>
                        </a:rPr>
                        <a:t> 웹 애플리케이션에 저장한 초기 </a:t>
                      </a:r>
                      <a:r>
                        <a:rPr lang="ko-KR" altLang="en-US" sz="1600" dirty="0" err="1">
                          <a:effectLst/>
                        </a:rPr>
                        <a:t>파라미터의</a:t>
                      </a:r>
                      <a:r>
                        <a:rPr lang="ko-KR" altLang="en-US" sz="1600" dirty="0">
                          <a:effectLst/>
                        </a:rPr>
                        <a:t> 이름과 값을 저장하고 있는 </a:t>
                      </a:r>
                      <a:r>
                        <a:rPr lang="en-US" altLang="ko-KR" sz="1600" dirty="0">
                          <a:effectLst/>
                        </a:rPr>
                        <a:t>map </a:t>
                      </a:r>
                      <a:r>
                        <a:rPr lang="ko-KR" altLang="en-US" sz="1600" dirty="0">
                          <a:effectLst/>
                        </a:rPr>
                        <a:t>객체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72561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52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코어 라이브러리</a:t>
            </a:r>
            <a:r>
              <a:rPr lang="en-US" altLang="ko-KR" sz="2800" dirty="0"/>
              <a:t>(C)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442374" cy="61006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/>
              <a:t>c:forEach</a:t>
            </a:r>
            <a:r>
              <a:rPr lang="en-US" altLang="ko-KR" sz="2000" dirty="0"/>
              <a:t>&gt;</a:t>
            </a:r>
            <a:endParaRPr lang="ko-KR" altLang="en-US" sz="2000" dirty="0"/>
          </a:p>
          <a:p>
            <a:pPr lvl="1"/>
            <a:r>
              <a:rPr lang="en-US" altLang="ko-KR" sz="1800" dirty="0"/>
              <a:t>for </a:t>
            </a:r>
            <a:r>
              <a:rPr lang="ko-KR" altLang="en-US" sz="1800" dirty="0"/>
              <a:t>문에 해당하는 기능을 제공</a:t>
            </a:r>
          </a:p>
          <a:p>
            <a:pPr lvl="1"/>
            <a:r>
              <a:rPr lang="ko-KR" altLang="en-US" sz="1800" dirty="0"/>
              <a:t>특정 </a:t>
            </a:r>
            <a:r>
              <a:rPr lang="en-US" altLang="ko-KR" sz="1800" dirty="0"/>
              <a:t>HTML </a:t>
            </a:r>
            <a:r>
              <a:rPr lang="ko-KR" altLang="en-US" sz="1800" dirty="0"/>
              <a:t>코드를 지정된 횟수만큼 반복해서 출력하는 등에 사용</a:t>
            </a:r>
          </a:p>
          <a:p>
            <a:pPr lvl="1"/>
            <a:r>
              <a:rPr lang="en-US" altLang="ko-KR" sz="1800" dirty="0"/>
              <a:t>begin</a:t>
            </a:r>
            <a:r>
              <a:rPr lang="ko-KR" altLang="en-US" sz="1800" dirty="0"/>
              <a:t>과 </a:t>
            </a:r>
            <a:r>
              <a:rPr lang="en-US" altLang="ko-KR" sz="1800" dirty="0"/>
              <a:t>end</a:t>
            </a:r>
            <a:r>
              <a:rPr lang="ko-KR" altLang="en-US" sz="1800" dirty="0"/>
              <a:t>라는 속성에 반복되는 범위를 지정</a:t>
            </a:r>
            <a:endParaRPr lang="en-US" altLang="ko-KR" sz="1800" dirty="0"/>
          </a:p>
          <a:p>
            <a:pPr lvl="1"/>
            <a:endParaRPr lang="en-US" altLang="ko-KR" sz="1800" dirty="0" smtClean="0">
              <a:ea typeface="Arial Unicode MS"/>
            </a:endParaRPr>
          </a:p>
          <a:p>
            <a:pPr lvl="1"/>
            <a:endParaRPr lang="ko-KR" altLang="en-US" sz="1800" dirty="0">
              <a:ea typeface="Arial Unicode MS"/>
            </a:endParaRPr>
          </a:p>
          <a:p>
            <a:pPr lvl="1"/>
            <a:endParaRPr lang="en-US" altLang="ko-KR" sz="1600" dirty="0">
              <a:ea typeface="Arial Unicode M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13</a:t>
            </a:fld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084313" y="2726060"/>
            <a:ext cx="3635895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for (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int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= 0;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&lt; 10;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++) {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System.out.println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 “</a:t>
            </a:r>
            <a:r>
              <a:rPr lang="ko-KR" altLang="en-US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야호 ”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);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}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188769" y="2726060"/>
            <a:ext cx="3635895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c:forEach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begin=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"1"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end=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"10"&gt;</a:t>
            </a:r>
            <a:endParaRPr lang="en-US" altLang="ko-KR" dirty="0"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야호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&lt;BR&gt;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&lt;/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c:forEach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&gt;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815771" y="3878188"/>
            <a:ext cx="10256454" cy="0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>
            <a:stCxn id="6" idx="3"/>
            <a:endCxn id="7" idx="1"/>
          </p:cNvCxnSpPr>
          <p:nvPr/>
        </p:nvCxnSpPr>
        <p:spPr>
          <a:xfrm>
            <a:off x="4720208" y="3187725"/>
            <a:ext cx="4685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1084313" y="4223171"/>
            <a:ext cx="4872676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c:forEach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dirty="0" err="1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var</a:t>
            </a:r>
            <a:r>
              <a:rPr lang="en-US" altLang="ko-KR" dirty="0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 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</a:t>
            </a:r>
            <a:r>
              <a:rPr lang="en-US" altLang="ko-KR" dirty="0" err="1" smtClean="0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begin=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"1"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end=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"10"&gt;</a:t>
            </a:r>
            <a:endParaRPr lang="en-US" altLang="ko-KR" dirty="0"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${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} &lt;BR&gt;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&lt;/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c:forEach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&gt;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084313" y="5515185"/>
            <a:ext cx="6025793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c:forEach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var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</a:t>
            </a:r>
            <a:r>
              <a:rPr lang="en-US" altLang="ko-KR" dirty="0" err="1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begin=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"1"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end=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"10" </a:t>
            </a:r>
            <a:r>
              <a:rPr lang="en-US" altLang="ko-KR" dirty="0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step= “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2”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&gt;</a:t>
            </a:r>
            <a:endParaRPr lang="en-US" altLang="ko-KR" dirty="0"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${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} &lt;BR&gt;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&lt;/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c:forEach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&gt;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5956989" y="4364798"/>
            <a:ext cx="20425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 smtClean="0"/>
              <a:t>카운터 </a:t>
            </a:r>
            <a:r>
              <a:rPr lang="ko-KR" altLang="en-US" sz="1600" dirty="0"/>
              <a:t>변수의 값을 </a:t>
            </a:r>
            <a:endParaRPr lang="en-US" altLang="ko-KR" sz="1600" dirty="0" smtClean="0"/>
          </a:p>
          <a:p>
            <a:r>
              <a:rPr lang="ko-KR" altLang="en-US" sz="1600" dirty="0" smtClean="0"/>
              <a:t>사용해야 </a:t>
            </a:r>
            <a:r>
              <a:rPr lang="ko-KR" altLang="en-US" sz="1600" dirty="0"/>
              <a:t>할 </a:t>
            </a:r>
            <a:r>
              <a:rPr lang="ko-KR" altLang="en-US" sz="1600" dirty="0" smtClean="0"/>
              <a:t>경우</a:t>
            </a:r>
            <a:endParaRPr lang="en-US" sz="1600" dirty="0"/>
          </a:p>
        </p:txBody>
      </p:sp>
      <p:sp>
        <p:nvSpPr>
          <p:cNvPr id="15" name="직사각형 14"/>
          <p:cNvSpPr/>
          <p:nvPr/>
        </p:nvSpPr>
        <p:spPr>
          <a:xfrm>
            <a:off x="7110106" y="5681961"/>
            <a:ext cx="19704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 smtClean="0"/>
              <a:t>증가 폭을 조절해야</a:t>
            </a:r>
            <a:endParaRPr lang="en-US" altLang="ko-KR" sz="1600" dirty="0" smtClean="0"/>
          </a:p>
          <a:p>
            <a:r>
              <a:rPr lang="ko-KR" altLang="en-US" sz="1600" dirty="0" smtClean="0"/>
              <a:t>하는 경우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4176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코어 라이브러리</a:t>
            </a:r>
            <a:r>
              <a:rPr lang="en-US" altLang="ko-KR" sz="2800" dirty="0"/>
              <a:t>(C)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442374" cy="6100600"/>
          </a:xfrm>
        </p:spPr>
        <p:txBody>
          <a:bodyPr>
            <a:normAutofit lnSpcReduction="10000"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/>
              <a:t>c:forEach</a:t>
            </a:r>
            <a:r>
              <a:rPr lang="en-US" altLang="ko-KR" sz="2000" dirty="0"/>
              <a:t>&gt;</a:t>
            </a:r>
            <a:endParaRPr lang="ko-KR" altLang="en-US" sz="2000" dirty="0"/>
          </a:p>
          <a:p>
            <a:pPr lvl="1"/>
            <a:r>
              <a:rPr lang="en-US" altLang="ko-KR" sz="2100" dirty="0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items</a:t>
            </a:r>
            <a:r>
              <a:rPr lang="en-US" altLang="ko-KR" sz="2100" dirty="0">
                <a:ea typeface="Arial Unicode MS"/>
              </a:rPr>
              <a:t> </a:t>
            </a:r>
            <a:r>
              <a:rPr lang="ko-KR" altLang="en-US" sz="2100" dirty="0">
                <a:ea typeface="Arial Unicode MS"/>
              </a:rPr>
              <a:t>속성을 이용하면 </a:t>
            </a:r>
            <a:r>
              <a:rPr lang="en-US" altLang="ko-KR" sz="2100" dirty="0" smtClean="0">
                <a:ea typeface="Arial Unicode MS"/>
              </a:rPr>
              <a:t>collection</a:t>
            </a:r>
            <a:r>
              <a:rPr lang="ko-KR" altLang="en-US" sz="2100" dirty="0" smtClean="0">
                <a:ea typeface="Arial Unicode MS"/>
              </a:rPr>
              <a:t>타입의 데이터를 순차적으로 접근 </a:t>
            </a:r>
            <a:r>
              <a:rPr lang="ko-KR" altLang="en-US" sz="2100" dirty="0">
                <a:ea typeface="Arial Unicode MS"/>
              </a:rPr>
              <a:t>출력</a:t>
            </a:r>
            <a:endParaRPr lang="en-US" altLang="ko-KR" sz="2100" dirty="0">
              <a:ea typeface="Arial Unicode MS"/>
            </a:endParaRPr>
          </a:p>
          <a:p>
            <a:pPr lvl="1"/>
            <a:endParaRPr lang="en-US" altLang="ko-KR" sz="2100" dirty="0">
              <a:ea typeface="Arial Unicode MS"/>
            </a:endParaRPr>
          </a:p>
          <a:p>
            <a:pPr lvl="1"/>
            <a:endParaRPr lang="en-US" altLang="ko-KR" sz="2100" dirty="0">
              <a:ea typeface="Arial Unicode MS"/>
            </a:endParaRPr>
          </a:p>
          <a:p>
            <a:pPr lvl="1"/>
            <a:endParaRPr lang="en-US" altLang="ko-KR" sz="2100" dirty="0">
              <a:ea typeface="Arial Unicode MS"/>
            </a:endParaRPr>
          </a:p>
          <a:p>
            <a:pPr lvl="1"/>
            <a:r>
              <a:rPr lang="en-US" altLang="ko-KR" sz="2100" dirty="0">
                <a:latin typeface="Times New Roman" pitchFamily="18" charset="0"/>
                <a:ea typeface="Arial Unicode MS"/>
                <a:cs typeface="Times New Roman" pitchFamily="18" charset="0"/>
              </a:rPr>
              <a:t>items</a:t>
            </a:r>
            <a:r>
              <a:rPr lang="en-US" altLang="ko-KR" sz="2100" dirty="0">
                <a:ea typeface="Arial Unicode MS"/>
              </a:rPr>
              <a:t> </a:t>
            </a:r>
            <a:r>
              <a:rPr lang="ko-KR" altLang="en-US" sz="2100" dirty="0">
                <a:ea typeface="Arial Unicode MS"/>
              </a:rPr>
              <a:t>속성을 이용해서 처리할 수 있는 데이터</a:t>
            </a:r>
            <a:endParaRPr lang="en-US" altLang="ko-KR" sz="2100" dirty="0">
              <a:ea typeface="Arial Unicode MS"/>
            </a:endParaRPr>
          </a:p>
          <a:p>
            <a:pPr lvl="2"/>
            <a:r>
              <a:rPr lang="ko-KR" altLang="en-US" sz="2100" dirty="0">
                <a:ea typeface="Arial Unicode MS"/>
              </a:rPr>
              <a:t>배열</a:t>
            </a:r>
            <a:endParaRPr lang="en-US" altLang="ko-KR" sz="2100" dirty="0">
              <a:ea typeface="Arial Unicode MS"/>
            </a:endParaRPr>
          </a:p>
          <a:p>
            <a:pPr lvl="2"/>
            <a:r>
              <a:rPr lang="en-US" altLang="ko-KR" sz="21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java.util.Collection</a:t>
            </a:r>
            <a:r>
              <a:rPr lang="en-US" altLang="ko-KR" sz="2100" dirty="0">
                <a:ea typeface="Arial Unicode MS"/>
              </a:rPr>
              <a:t> </a:t>
            </a:r>
            <a:r>
              <a:rPr lang="ko-KR" altLang="en-US" sz="2100" dirty="0">
                <a:ea typeface="Arial Unicode MS"/>
              </a:rPr>
              <a:t>객체</a:t>
            </a:r>
            <a:endParaRPr lang="en-US" altLang="ko-KR" sz="2100" dirty="0">
              <a:ea typeface="Arial Unicode MS"/>
            </a:endParaRPr>
          </a:p>
          <a:p>
            <a:pPr lvl="2"/>
            <a:r>
              <a:rPr lang="en-US" altLang="ko-KR" sz="21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java.util.Iterator</a:t>
            </a:r>
            <a:r>
              <a:rPr lang="en-US" altLang="ko-KR" sz="2100" dirty="0">
                <a:ea typeface="Arial Unicode MS"/>
              </a:rPr>
              <a:t> </a:t>
            </a:r>
            <a:r>
              <a:rPr lang="ko-KR" altLang="en-US" sz="2100" dirty="0">
                <a:ea typeface="Arial Unicode MS"/>
              </a:rPr>
              <a:t>객체</a:t>
            </a:r>
            <a:endParaRPr lang="en-US" altLang="ko-KR" sz="2100" dirty="0">
              <a:ea typeface="Arial Unicode MS"/>
            </a:endParaRPr>
          </a:p>
          <a:p>
            <a:pPr lvl="2"/>
            <a:r>
              <a:rPr lang="en-US" altLang="ko-KR" sz="21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java.util.Enumeration</a:t>
            </a:r>
            <a:r>
              <a:rPr lang="en-US" altLang="ko-KR" sz="2100" dirty="0">
                <a:ea typeface="Arial Unicode MS"/>
              </a:rPr>
              <a:t> </a:t>
            </a:r>
            <a:r>
              <a:rPr lang="ko-KR" altLang="en-US" sz="2100" dirty="0">
                <a:ea typeface="Arial Unicode MS"/>
              </a:rPr>
              <a:t>객체</a:t>
            </a:r>
            <a:endParaRPr lang="en-US" altLang="ko-KR" sz="2100" dirty="0">
              <a:ea typeface="Arial Unicode MS"/>
            </a:endParaRPr>
          </a:p>
          <a:p>
            <a:pPr lvl="2"/>
            <a:r>
              <a:rPr lang="en-US" altLang="ko-KR" sz="21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java.util.Map</a:t>
            </a:r>
            <a:r>
              <a:rPr lang="en-US" altLang="ko-KR" sz="2100" dirty="0">
                <a:ea typeface="Arial Unicode MS"/>
              </a:rPr>
              <a:t> </a:t>
            </a:r>
            <a:r>
              <a:rPr lang="ko-KR" altLang="en-US" sz="2100" dirty="0">
                <a:ea typeface="Arial Unicode MS"/>
              </a:rPr>
              <a:t>객체</a:t>
            </a:r>
            <a:endParaRPr lang="en-US" altLang="ko-KR" sz="2100" dirty="0">
              <a:ea typeface="Arial Unicode MS"/>
            </a:endParaRPr>
          </a:p>
          <a:p>
            <a:pPr lvl="2"/>
            <a:r>
              <a:rPr lang="ko-KR" altLang="en-US" sz="2100" dirty="0">
                <a:ea typeface="Arial Unicode MS"/>
              </a:rPr>
              <a:t>콤마</a:t>
            </a:r>
            <a:r>
              <a:rPr lang="en-US" altLang="ko-KR" sz="2100" dirty="0">
                <a:ea typeface="Arial Unicode MS"/>
              </a:rPr>
              <a:t>(,)</a:t>
            </a:r>
            <a:r>
              <a:rPr lang="ko-KR" altLang="en-US" sz="2100" dirty="0">
                <a:ea typeface="Arial Unicode MS"/>
              </a:rPr>
              <a:t>로 구분된 항목들을 포함한 </a:t>
            </a:r>
            <a:r>
              <a:rPr lang="ko-KR" altLang="en-US" sz="2100" dirty="0" smtClean="0">
                <a:ea typeface="Arial Unicode MS"/>
              </a:rPr>
              <a:t>문자열</a:t>
            </a:r>
            <a:endParaRPr lang="en-US" altLang="ko-KR" sz="1800" dirty="0" smtClean="0">
              <a:ea typeface="Arial Unicode MS"/>
            </a:endParaRPr>
          </a:p>
          <a:p>
            <a:pPr lvl="1"/>
            <a:endParaRPr lang="ko-KR" altLang="en-US" sz="1800" dirty="0">
              <a:ea typeface="Arial Unicode MS"/>
            </a:endParaRPr>
          </a:p>
          <a:p>
            <a:pPr lvl="1"/>
            <a:endParaRPr lang="en-US" altLang="ko-KR" sz="1600" dirty="0">
              <a:ea typeface="Arial Unicode M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14</a:t>
            </a:fld>
            <a:endParaRPr 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1083005" y="1816439"/>
            <a:ext cx="5270169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</a:t>
            </a:r>
            <a:r>
              <a:rPr lang="en-US" altLang="ko-KR" sz="2000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c:forEach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2000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var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 </a:t>
            </a:r>
            <a:r>
              <a:rPr lang="en-US" altLang="ko-KR" sz="2000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</a:t>
            </a:r>
            <a:r>
              <a:rPr lang="en-US" altLang="ko-KR" sz="2000" dirty="0" err="1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str</a:t>
            </a:r>
            <a:r>
              <a:rPr lang="en-US" altLang="ko-KR" sz="2000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 </a:t>
            </a:r>
            <a:r>
              <a:rPr lang="en-US" altLang="ko-KR" sz="2000" dirty="0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items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 “${</a:t>
            </a:r>
            <a:r>
              <a:rPr lang="en-US" altLang="ko-KR" sz="2000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arr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} ”&gt;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${</a:t>
            </a:r>
            <a:r>
              <a:rPr lang="en-US" altLang="ko-KR" sz="2000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str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} &lt;BR&gt;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&lt;/</a:t>
            </a:r>
            <a:r>
              <a:rPr lang="en-US" altLang="ko-KR" sz="2000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c:forEach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783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코어 라이브러리</a:t>
            </a:r>
            <a:r>
              <a:rPr lang="en-US" altLang="ko-KR" sz="2800" dirty="0"/>
              <a:t>(C)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442374" cy="61006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/>
              <a:t>c:forEach</a:t>
            </a:r>
            <a:r>
              <a:rPr lang="en-US" altLang="ko-KR" sz="2000" dirty="0"/>
              <a:t>&gt;</a:t>
            </a:r>
            <a:endParaRPr lang="ko-KR" altLang="en-US" sz="2000" dirty="0"/>
          </a:p>
          <a:p>
            <a:pPr lvl="1"/>
            <a:r>
              <a:rPr lang="en-US" altLang="ko-KR" sz="1800" dirty="0" err="1"/>
              <a:t>varStatus</a:t>
            </a:r>
            <a:r>
              <a:rPr lang="ko-KR" altLang="en-US" sz="1800" dirty="0"/>
              <a:t>를</a:t>
            </a:r>
            <a:r>
              <a:rPr lang="en-US" altLang="ko-KR" sz="1800" dirty="0"/>
              <a:t> </a:t>
            </a:r>
            <a:r>
              <a:rPr lang="ko-KR" altLang="en-US" sz="1800" dirty="0"/>
              <a:t>사용하면 </a:t>
            </a:r>
            <a:r>
              <a:rPr lang="ko-KR" altLang="en-US" sz="1800" dirty="0" err="1"/>
              <a:t>반복문을</a:t>
            </a:r>
            <a:r>
              <a:rPr lang="ko-KR" altLang="en-US" sz="1800" dirty="0"/>
              <a:t> 제어할 때 편리함</a:t>
            </a:r>
            <a:endParaRPr lang="en-US" altLang="ko-KR" sz="1600" dirty="0"/>
          </a:p>
          <a:p>
            <a:pPr lvl="1"/>
            <a:endParaRPr lang="en-US" altLang="ko-KR" sz="2100" dirty="0">
              <a:ea typeface="Arial Unicode MS"/>
            </a:endParaRPr>
          </a:p>
          <a:p>
            <a:pPr lvl="1"/>
            <a:endParaRPr lang="en-US" altLang="ko-KR" sz="2100" dirty="0">
              <a:ea typeface="Arial Unicode MS"/>
            </a:endParaRPr>
          </a:p>
          <a:p>
            <a:pPr lvl="1"/>
            <a:endParaRPr lang="en-US" altLang="ko-KR" sz="2100" dirty="0">
              <a:ea typeface="Arial Unicode MS"/>
            </a:endParaRPr>
          </a:p>
          <a:p>
            <a:pPr lvl="1"/>
            <a:endParaRPr lang="ko-KR" altLang="en-US" sz="1800" dirty="0">
              <a:ea typeface="Arial Unicode MS"/>
            </a:endParaRPr>
          </a:p>
          <a:p>
            <a:pPr lvl="1"/>
            <a:endParaRPr lang="en-US" altLang="ko-KR" sz="1600" dirty="0">
              <a:ea typeface="Arial Unicode M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15</a:t>
            </a:fld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144960" y="1817990"/>
            <a:ext cx="6696744" cy="7078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ea typeface="Arial Unicode MS"/>
              </a:rPr>
              <a:t>&lt;</a:t>
            </a:r>
            <a:r>
              <a:rPr lang="en-US" sz="2000" dirty="0" err="1">
                <a:ea typeface="Arial Unicode MS"/>
              </a:rPr>
              <a:t>c:foreach</a:t>
            </a:r>
            <a:r>
              <a:rPr lang="en-US" sz="2000" dirty="0">
                <a:ea typeface="Arial Unicode MS"/>
              </a:rPr>
              <a:t> </a:t>
            </a:r>
            <a:r>
              <a:rPr lang="en-US" sz="2000" dirty="0" smtClean="0">
                <a:ea typeface="Arial Unicode MS"/>
              </a:rPr>
              <a:t>items, </a:t>
            </a:r>
            <a:r>
              <a:rPr lang="en-US" sz="2000" dirty="0" err="1" smtClean="0">
                <a:ea typeface="Arial Unicode MS"/>
              </a:rPr>
              <a:t>var</a:t>
            </a:r>
            <a:r>
              <a:rPr lang="en-US" sz="2000" dirty="0" smtClean="0">
                <a:ea typeface="Arial Unicode MS"/>
              </a:rPr>
              <a:t>, </a:t>
            </a:r>
            <a:r>
              <a:rPr lang="en-US" sz="2000" dirty="0" err="1" smtClean="0">
                <a:solidFill>
                  <a:srgbClr val="FF0000"/>
                </a:solidFill>
                <a:ea typeface="Arial Unicode MS"/>
              </a:rPr>
              <a:t>varStatus</a:t>
            </a:r>
            <a:r>
              <a:rPr lang="en-US" sz="2000" dirty="0">
                <a:solidFill>
                  <a:srgbClr val="FF0000"/>
                </a:solidFill>
                <a:ea typeface="Arial Unicode MS"/>
              </a:rPr>
              <a:t>="</a:t>
            </a:r>
            <a:r>
              <a:rPr lang="en-US" sz="2000" dirty="0" err="1">
                <a:solidFill>
                  <a:srgbClr val="FF0000"/>
                </a:solidFill>
                <a:ea typeface="Arial Unicode MS"/>
              </a:rPr>
              <a:t>상태용</a:t>
            </a:r>
            <a:r>
              <a:rPr lang="en-US" sz="2000" dirty="0">
                <a:solidFill>
                  <a:srgbClr val="FF0000"/>
                </a:solidFill>
                <a:ea typeface="Arial Unicode MS"/>
              </a:rPr>
              <a:t> </a:t>
            </a:r>
            <a:r>
              <a:rPr lang="en-US" sz="2000" dirty="0" err="1">
                <a:solidFill>
                  <a:srgbClr val="FF0000"/>
                </a:solidFill>
                <a:ea typeface="Arial Unicode MS"/>
              </a:rPr>
              <a:t>변수</a:t>
            </a:r>
            <a:r>
              <a:rPr lang="en-US" sz="2000" dirty="0">
                <a:solidFill>
                  <a:srgbClr val="FF0000"/>
                </a:solidFill>
                <a:ea typeface="Arial Unicode MS"/>
              </a:rPr>
              <a:t>"</a:t>
            </a:r>
            <a:r>
              <a:rPr lang="en-US" sz="2000" dirty="0">
                <a:ea typeface="Arial Unicode MS"/>
              </a:rPr>
              <a:t>&gt;</a:t>
            </a:r>
          </a:p>
          <a:p>
            <a:r>
              <a:rPr lang="en-US" sz="2000" dirty="0" smtClean="0">
                <a:ea typeface="Arial Unicode MS"/>
              </a:rPr>
              <a:t>&lt;/</a:t>
            </a:r>
            <a:r>
              <a:rPr lang="en-US" sz="2000" dirty="0" err="1">
                <a:ea typeface="Arial Unicode MS"/>
              </a:rPr>
              <a:t>c:foreach</a:t>
            </a:r>
            <a:r>
              <a:rPr lang="en-US" sz="2000" dirty="0">
                <a:ea typeface="Arial Unicode MS"/>
              </a:rPr>
              <a:t>&gt;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144960" y="2784807"/>
            <a:ext cx="6696744" cy="34778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ea typeface="Arial Unicode MS"/>
              </a:rPr>
              <a:t>items = [0,1,2,3,4,5]</a:t>
            </a:r>
          </a:p>
          <a:p>
            <a:r>
              <a:rPr lang="en-US" sz="2000" dirty="0">
                <a:ea typeface="Arial Unicode MS"/>
              </a:rPr>
              <a:t>&lt;</a:t>
            </a:r>
            <a:r>
              <a:rPr lang="en-US" sz="2000" dirty="0" err="1">
                <a:ea typeface="Arial Unicode MS"/>
              </a:rPr>
              <a:t>c:foreach</a:t>
            </a:r>
            <a:r>
              <a:rPr lang="en-US" sz="2000" dirty="0">
                <a:ea typeface="Arial Unicode MS"/>
              </a:rPr>
              <a:t> items</a:t>
            </a:r>
            <a:r>
              <a:rPr lang="en-US" sz="2000" dirty="0" smtClean="0">
                <a:ea typeface="Arial Unicode MS"/>
              </a:rPr>
              <a:t>="${</a:t>
            </a:r>
            <a:r>
              <a:rPr lang="en-US" sz="2000" dirty="0">
                <a:ea typeface="Arial Unicode MS"/>
              </a:rPr>
              <a:t>items</a:t>
            </a:r>
            <a:r>
              <a:rPr lang="en-US" sz="2000" dirty="0" smtClean="0">
                <a:ea typeface="Arial Unicode MS"/>
              </a:rPr>
              <a:t>}" </a:t>
            </a:r>
            <a:r>
              <a:rPr lang="en-US" sz="2000" dirty="0" err="1">
                <a:ea typeface="Arial Unicode MS"/>
              </a:rPr>
              <a:t>var</a:t>
            </a:r>
            <a:r>
              <a:rPr lang="en-US" sz="2000" dirty="0" smtClean="0">
                <a:ea typeface="Arial Unicode MS"/>
              </a:rPr>
              <a:t>="item" </a:t>
            </a:r>
            <a:r>
              <a:rPr lang="en-US" sz="2000" dirty="0" err="1">
                <a:ea typeface="Arial Unicode MS"/>
              </a:rPr>
              <a:t>varStatus</a:t>
            </a:r>
            <a:r>
              <a:rPr lang="en-US" sz="2000" dirty="0" smtClean="0">
                <a:ea typeface="Arial Unicode MS"/>
              </a:rPr>
              <a:t>="status"&gt;</a:t>
            </a:r>
            <a:endParaRPr lang="en-US" sz="2000" dirty="0">
              <a:ea typeface="Arial Unicode MS"/>
            </a:endParaRPr>
          </a:p>
          <a:p>
            <a:pPr lvl="1"/>
            <a:r>
              <a:rPr lang="en-US" sz="2000" dirty="0" smtClean="0">
                <a:ea typeface="Arial Unicode MS"/>
              </a:rPr>
              <a:t>${</a:t>
            </a:r>
            <a:r>
              <a:rPr lang="en-US" sz="2000" dirty="0" err="1" smtClean="0">
                <a:ea typeface="Arial Unicode MS"/>
              </a:rPr>
              <a:t>status.current</a:t>
            </a:r>
            <a:r>
              <a:rPr lang="en-US" sz="2000" dirty="0" smtClean="0">
                <a:ea typeface="Arial Unicode MS"/>
              </a:rPr>
              <a:t>}&lt;</a:t>
            </a:r>
            <a:r>
              <a:rPr lang="en-US" sz="2000" dirty="0" err="1" smtClean="0">
                <a:ea typeface="Arial Unicode MS"/>
              </a:rPr>
              <a:t>br</a:t>
            </a:r>
            <a:r>
              <a:rPr lang="en-US" sz="2000" dirty="0" smtClean="0">
                <a:ea typeface="Arial Unicode MS"/>
              </a:rPr>
              <a:t>/&gt;      &lt;!– </a:t>
            </a:r>
            <a:r>
              <a:rPr lang="ko-KR" altLang="en-US" sz="2000" dirty="0" smtClean="0">
                <a:ea typeface="Arial Unicode MS"/>
              </a:rPr>
              <a:t>현재 아이템 </a:t>
            </a:r>
            <a:r>
              <a:rPr lang="en-US" altLang="ko-KR" sz="2000" dirty="0" smtClean="0">
                <a:ea typeface="Arial Unicode MS"/>
              </a:rPr>
              <a:t>–&gt;</a:t>
            </a:r>
          </a:p>
          <a:p>
            <a:pPr lvl="1"/>
            <a:r>
              <a:rPr lang="en-US" altLang="ko-KR" sz="2000" dirty="0" smtClean="0">
                <a:ea typeface="Arial Unicode MS"/>
              </a:rPr>
              <a:t>${</a:t>
            </a:r>
            <a:r>
              <a:rPr lang="en-US" sz="2000" dirty="0" err="1" smtClean="0">
                <a:ea typeface="Arial Unicode MS"/>
              </a:rPr>
              <a:t>status.index</a:t>
            </a:r>
            <a:r>
              <a:rPr lang="en-US" sz="2000" dirty="0" smtClean="0">
                <a:ea typeface="Arial Unicode MS"/>
              </a:rPr>
              <a:t>}&lt;</a:t>
            </a:r>
            <a:r>
              <a:rPr lang="en-US" sz="2000" dirty="0" err="1" smtClean="0">
                <a:ea typeface="Arial Unicode MS"/>
              </a:rPr>
              <a:t>br</a:t>
            </a:r>
            <a:r>
              <a:rPr lang="en-US" sz="2000" dirty="0" smtClean="0">
                <a:ea typeface="Arial Unicode MS"/>
              </a:rPr>
              <a:t>/&gt;         0,1,2,3,4,5</a:t>
            </a:r>
          </a:p>
          <a:p>
            <a:pPr lvl="1"/>
            <a:r>
              <a:rPr lang="en-US" sz="2000" dirty="0" smtClean="0">
                <a:ea typeface="Arial Unicode MS"/>
              </a:rPr>
              <a:t>${</a:t>
            </a:r>
            <a:r>
              <a:rPr lang="en-US" sz="2000" dirty="0" err="1" smtClean="0">
                <a:ea typeface="Arial Unicode MS"/>
              </a:rPr>
              <a:t>status.count</a:t>
            </a:r>
            <a:r>
              <a:rPr lang="en-US" sz="2000" dirty="0" smtClean="0">
                <a:ea typeface="Arial Unicode MS"/>
              </a:rPr>
              <a:t>}&lt;</a:t>
            </a:r>
            <a:r>
              <a:rPr lang="en-US" sz="2000" dirty="0" err="1" smtClean="0">
                <a:ea typeface="Arial Unicode MS"/>
              </a:rPr>
              <a:t>br</a:t>
            </a:r>
            <a:r>
              <a:rPr lang="en-US" sz="2000" dirty="0" smtClean="0">
                <a:ea typeface="Arial Unicode MS"/>
              </a:rPr>
              <a:t>/&gt;        1,2,3,4,5,6</a:t>
            </a:r>
          </a:p>
          <a:p>
            <a:pPr lvl="1"/>
            <a:r>
              <a:rPr lang="en-US" sz="2000" dirty="0" smtClean="0">
                <a:ea typeface="Arial Unicode MS"/>
              </a:rPr>
              <a:t>${</a:t>
            </a:r>
            <a:r>
              <a:rPr lang="en-US" sz="2000" dirty="0" err="1" smtClean="0">
                <a:ea typeface="Arial Unicode MS"/>
              </a:rPr>
              <a:t>status.first</a:t>
            </a:r>
            <a:r>
              <a:rPr lang="en-US" sz="2000" dirty="0" smtClean="0">
                <a:ea typeface="Arial Unicode MS"/>
              </a:rPr>
              <a:t>}&lt;</a:t>
            </a:r>
            <a:r>
              <a:rPr lang="en-US" sz="2000" dirty="0" err="1" smtClean="0">
                <a:ea typeface="Arial Unicode MS"/>
              </a:rPr>
              <a:t>br</a:t>
            </a:r>
            <a:r>
              <a:rPr lang="en-US" sz="2000" dirty="0" smtClean="0">
                <a:ea typeface="Arial Unicode MS"/>
              </a:rPr>
              <a:t>/&gt;           index == 0</a:t>
            </a:r>
            <a:r>
              <a:rPr lang="ko-KR" altLang="en-US" sz="2000" dirty="0" smtClean="0">
                <a:ea typeface="Arial Unicode MS"/>
              </a:rPr>
              <a:t>일 때 </a:t>
            </a:r>
            <a:r>
              <a:rPr lang="en-US" sz="2000" dirty="0" smtClean="0">
                <a:ea typeface="Arial Unicode MS"/>
              </a:rPr>
              <a:t>true</a:t>
            </a:r>
          </a:p>
          <a:p>
            <a:pPr lvl="1"/>
            <a:r>
              <a:rPr lang="en-US" sz="2000" dirty="0" smtClean="0">
                <a:ea typeface="Arial Unicode MS"/>
              </a:rPr>
              <a:t>${</a:t>
            </a:r>
            <a:r>
              <a:rPr lang="en-US" sz="2000" dirty="0" err="1" smtClean="0">
                <a:ea typeface="Arial Unicode MS"/>
              </a:rPr>
              <a:t>status.last</a:t>
            </a:r>
            <a:r>
              <a:rPr lang="en-US" sz="2000" dirty="0" smtClean="0">
                <a:ea typeface="Arial Unicode MS"/>
              </a:rPr>
              <a:t>}&lt;</a:t>
            </a:r>
            <a:r>
              <a:rPr lang="en-US" sz="2000" dirty="0" err="1" smtClean="0">
                <a:ea typeface="Arial Unicode MS"/>
              </a:rPr>
              <a:t>br</a:t>
            </a:r>
            <a:r>
              <a:rPr lang="en-US" sz="2000" dirty="0" smtClean="0">
                <a:ea typeface="Arial Unicode MS"/>
              </a:rPr>
              <a:t>/&gt;           index == 5</a:t>
            </a:r>
            <a:r>
              <a:rPr lang="ko-KR" altLang="en-US" sz="2000" dirty="0" smtClean="0">
                <a:ea typeface="Arial Unicode MS"/>
              </a:rPr>
              <a:t>일 때 </a:t>
            </a:r>
            <a:r>
              <a:rPr lang="en-US" sz="2000" dirty="0" smtClean="0">
                <a:ea typeface="Arial Unicode MS"/>
              </a:rPr>
              <a:t>true</a:t>
            </a:r>
          </a:p>
          <a:p>
            <a:pPr lvl="1"/>
            <a:r>
              <a:rPr lang="en-US" sz="2000" dirty="0" smtClean="0">
                <a:ea typeface="Arial Unicode MS"/>
              </a:rPr>
              <a:t>${</a:t>
            </a:r>
            <a:r>
              <a:rPr lang="en-US" sz="2000" dirty="0" err="1" smtClean="0">
                <a:ea typeface="Arial Unicode MS"/>
              </a:rPr>
              <a:t>status.begin</a:t>
            </a:r>
            <a:r>
              <a:rPr lang="en-US" sz="2000" dirty="0" smtClean="0">
                <a:ea typeface="Arial Unicode MS"/>
              </a:rPr>
              <a:t>}&lt;</a:t>
            </a:r>
            <a:r>
              <a:rPr lang="en-US" sz="2000" dirty="0" err="1" smtClean="0">
                <a:ea typeface="Arial Unicode MS"/>
              </a:rPr>
              <a:t>br</a:t>
            </a:r>
            <a:r>
              <a:rPr lang="en-US" sz="2000" dirty="0" smtClean="0">
                <a:ea typeface="Arial Unicode MS"/>
              </a:rPr>
              <a:t>/&gt;        &lt;!– </a:t>
            </a:r>
            <a:r>
              <a:rPr lang="ko-KR" altLang="en-US" sz="2000" dirty="0" err="1" smtClean="0">
                <a:ea typeface="Arial Unicode MS"/>
              </a:rPr>
              <a:t>시작값</a:t>
            </a:r>
            <a:r>
              <a:rPr lang="ko-KR" altLang="en-US" sz="2000" dirty="0" smtClean="0">
                <a:ea typeface="Arial Unicode MS"/>
              </a:rPr>
              <a:t> </a:t>
            </a:r>
            <a:r>
              <a:rPr lang="en-US" altLang="ko-KR" sz="2000" dirty="0" smtClean="0">
                <a:ea typeface="Arial Unicode MS"/>
              </a:rPr>
              <a:t>–&gt;</a:t>
            </a:r>
          </a:p>
          <a:p>
            <a:pPr lvl="1"/>
            <a:r>
              <a:rPr lang="en-US" altLang="ko-KR" sz="2000" dirty="0" smtClean="0">
                <a:ea typeface="Arial Unicode MS"/>
              </a:rPr>
              <a:t>${</a:t>
            </a:r>
            <a:r>
              <a:rPr lang="en-US" sz="2000" dirty="0" err="1" smtClean="0">
                <a:ea typeface="Arial Unicode MS"/>
              </a:rPr>
              <a:t>status.end</a:t>
            </a:r>
            <a:r>
              <a:rPr lang="en-US" sz="2000" dirty="0" smtClean="0">
                <a:ea typeface="Arial Unicode MS"/>
              </a:rPr>
              <a:t>}&lt;</a:t>
            </a:r>
            <a:r>
              <a:rPr lang="en-US" sz="2000" dirty="0" err="1" smtClean="0">
                <a:ea typeface="Arial Unicode MS"/>
              </a:rPr>
              <a:t>br</a:t>
            </a:r>
            <a:r>
              <a:rPr lang="en-US" sz="2000" dirty="0" smtClean="0">
                <a:ea typeface="Arial Unicode MS"/>
              </a:rPr>
              <a:t>/&gt;          &lt;!– </a:t>
            </a:r>
            <a:r>
              <a:rPr lang="ko-KR" altLang="en-US" sz="2000" dirty="0" err="1" smtClean="0">
                <a:ea typeface="Arial Unicode MS"/>
              </a:rPr>
              <a:t>끝값</a:t>
            </a:r>
            <a:r>
              <a:rPr lang="ko-KR" altLang="en-US" sz="2000" dirty="0" smtClean="0">
                <a:ea typeface="Arial Unicode MS"/>
              </a:rPr>
              <a:t> </a:t>
            </a:r>
            <a:r>
              <a:rPr lang="en-US" altLang="ko-KR" sz="2000" dirty="0" smtClean="0">
                <a:ea typeface="Arial Unicode MS"/>
              </a:rPr>
              <a:t>–&gt;</a:t>
            </a:r>
          </a:p>
          <a:p>
            <a:pPr lvl="1"/>
            <a:r>
              <a:rPr lang="en-US" altLang="ko-KR" sz="2000" dirty="0" smtClean="0">
                <a:ea typeface="Arial Unicode MS"/>
              </a:rPr>
              <a:t>${</a:t>
            </a:r>
            <a:r>
              <a:rPr lang="en-US" sz="2000" dirty="0" err="1" smtClean="0">
                <a:ea typeface="Arial Unicode MS"/>
              </a:rPr>
              <a:t>status.step</a:t>
            </a:r>
            <a:r>
              <a:rPr lang="en-US" sz="2000" dirty="0" smtClean="0">
                <a:ea typeface="Arial Unicode MS"/>
              </a:rPr>
              <a:t>}&lt;</a:t>
            </a:r>
            <a:r>
              <a:rPr lang="en-US" sz="2000" dirty="0" err="1" smtClean="0">
                <a:ea typeface="Arial Unicode MS"/>
              </a:rPr>
              <a:t>br</a:t>
            </a:r>
            <a:r>
              <a:rPr lang="en-US" sz="2000" dirty="0" smtClean="0">
                <a:ea typeface="Arial Unicode MS"/>
              </a:rPr>
              <a:t>/&gt;         &lt;!– </a:t>
            </a:r>
            <a:r>
              <a:rPr lang="ko-KR" altLang="en-US" sz="2000" dirty="0" err="1" smtClean="0">
                <a:ea typeface="Arial Unicode MS"/>
              </a:rPr>
              <a:t>증가값</a:t>
            </a:r>
            <a:r>
              <a:rPr lang="ko-KR" altLang="en-US" sz="2000" dirty="0" smtClean="0">
                <a:ea typeface="Arial Unicode MS"/>
              </a:rPr>
              <a:t> </a:t>
            </a:r>
            <a:r>
              <a:rPr lang="en-US" altLang="ko-KR" sz="2000" dirty="0" smtClean="0">
                <a:ea typeface="Arial Unicode MS"/>
              </a:rPr>
              <a:t>–&gt;</a:t>
            </a:r>
          </a:p>
          <a:p>
            <a:r>
              <a:rPr lang="en-US" altLang="ko-KR" sz="2000" dirty="0" smtClean="0">
                <a:ea typeface="Arial Unicode MS"/>
              </a:rPr>
              <a:t>&lt; </a:t>
            </a:r>
            <a:r>
              <a:rPr lang="en-US" altLang="ko-KR" sz="2000" dirty="0">
                <a:ea typeface="Arial Unicode MS"/>
              </a:rPr>
              <a:t>/</a:t>
            </a:r>
            <a:r>
              <a:rPr lang="en-US" sz="2000" dirty="0" err="1">
                <a:ea typeface="Arial Unicode MS"/>
              </a:rPr>
              <a:t>c:forEach</a:t>
            </a:r>
            <a:r>
              <a:rPr lang="en-US" sz="2000" dirty="0">
                <a:ea typeface="Arial Unicode MS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1984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코어 라이브러리</a:t>
            </a:r>
            <a:r>
              <a:rPr lang="en-US" altLang="ko-KR" sz="2800" dirty="0"/>
              <a:t>(C)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442374" cy="61006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/>
              <a:t>c:forEach</a:t>
            </a:r>
            <a:r>
              <a:rPr lang="en-US" altLang="ko-KR" sz="2000" dirty="0" smtClean="0"/>
              <a:t>&gt;</a:t>
            </a:r>
            <a:r>
              <a:rPr lang="ko-KR" altLang="en-US" sz="2000" dirty="0" smtClean="0"/>
              <a:t>를 이용한 간결한 코드 작성</a:t>
            </a:r>
            <a:endParaRPr lang="ko-KR" altLang="en-US" sz="2000" dirty="0"/>
          </a:p>
          <a:p>
            <a:pPr lvl="1"/>
            <a:endParaRPr lang="ko-KR" altLang="en-US" sz="1800" dirty="0">
              <a:ea typeface="Arial Unicode MS"/>
            </a:endParaRPr>
          </a:p>
          <a:p>
            <a:pPr lvl="1"/>
            <a:endParaRPr lang="en-US" altLang="ko-KR" sz="1600" dirty="0">
              <a:ea typeface="Arial Unicode M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16</a:t>
            </a:fld>
            <a:endParaRPr lang="en-US" dirty="0"/>
          </a:p>
        </p:txBody>
      </p:sp>
      <p:sp>
        <p:nvSpPr>
          <p:cNvPr id="4" name="직사각형 3"/>
          <p:cNvSpPr/>
          <p:nvPr/>
        </p:nvSpPr>
        <p:spPr>
          <a:xfrm>
            <a:off x="628649" y="1369189"/>
            <a:ext cx="10487025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c:forEach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F007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dto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i="1" dirty="0">
                <a:solidFill>
                  <a:srgbClr val="7F007F"/>
                </a:solidFill>
                <a:latin typeface="Consolas" panose="020B0609020204030204" pitchFamily="49" charset="0"/>
              </a:rPr>
              <a:t>items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boardDto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tr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${dto.id}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dto.title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dto.writer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dto.contents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dto.regdate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dto.hit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tr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c:forEach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467350" y="2505075"/>
            <a:ext cx="4707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적절한 이름의 </a:t>
            </a:r>
            <a:r>
              <a:rPr lang="en-US" altLang="ko-KR" dirty="0" smtClean="0">
                <a:solidFill>
                  <a:srgbClr val="0000FF"/>
                </a:solidFill>
              </a:rPr>
              <a:t>getter</a:t>
            </a:r>
            <a:r>
              <a:rPr lang="ko-KR" altLang="en-US" dirty="0" smtClean="0"/>
              <a:t>를 이용하여 변수에 접근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01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코어 라이브러리</a:t>
            </a:r>
            <a:r>
              <a:rPr lang="en-US" altLang="ko-KR" sz="2800" dirty="0"/>
              <a:t>(C)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442374" cy="61006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>
                <a:latin typeface="Times New Roman" pitchFamily="18" charset="0"/>
                <a:cs typeface="Times New Roman" pitchFamily="18" charset="0"/>
              </a:rPr>
              <a:t>c:redirect</a:t>
            </a:r>
            <a:r>
              <a:rPr lang="en-US" altLang="ko-KR" sz="2000" dirty="0"/>
              <a:t>&gt; </a:t>
            </a:r>
            <a:r>
              <a:rPr lang="ko-KR" altLang="en-US" sz="2000" dirty="0" err="1"/>
              <a:t>커스텀</a:t>
            </a:r>
            <a:r>
              <a:rPr lang="ko-KR" altLang="en-US" sz="2000" dirty="0"/>
              <a:t> 액션의 사용 방법</a:t>
            </a:r>
            <a:endParaRPr lang="en-US" altLang="ko-KR" sz="2000" dirty="0"/>
          </a:p>
          <a:p>
            <a:pPr lvl="1"/>
            <a:r>
              <a:rPr lang="en-US" altLang="ko-KR" sz="18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sendRedirect</a:t>
            </a:r>
            <a:r>
              <a:rPr lang="ko-KR" altLang="en-US" sz="1800" dirty="0">
                <a:latin typeface="Times New Roman" pitchFamily="18" charset="0"/>
                <a:cs typeface="Times New Roman" pitchFamily="18" charset="0"/>
              </a:rPr>
              <a:t>와 같이 </a:t>
            </a:r>
            <a:r>
              <a:rPr lang="ko-KR" altLang="en-US" sz="1800" dirty="0"/>
              <a:t>다른 웹 자원을 호출</a:t>
            </a:r>
            <a:endParaRPr lang="en-US" altLang="ko-KR" sz="1800" dirty="0"/>
          </a:p>
          <a:p>
            <a:pPr lvl="1"/>
            <a:r>
              <a:rPr lang="ko-KR" altLang="en-US" sz="1800" dirty="0"/>
              <a:t>호출할 웹 자원의 </a:t>
            </a:r>
            <a:r>
              <a:rPr lang="en-US" altLang="ko-KR" sz="1800" dirty="0">
                <a:latin typeface="Times New Roman" pitchFamily="18" charset="0"/>
                <a:cs typeface="Times New Roman" pitchFamily="18" charset="0"/>
              </a:rPr>
              <a:t>URL</a:t>
            </a:r>
            <a:r>
              <a:rPr lang="ko-KR" altLang="en-US" sz="1800" dirty="0"/>
              <a:t>은 </a:t>
            </a:r>
            <a:r>
              <a:rPr lang="en-US" altLang="ko-KR" sz="1800" dirty="0" err="1">
                <a:latin typeface="Times New Roman" pitchFamily="18" charset="0"/>
                <a:cs typeface="Times New Roman" pitchFamily="18" charset="0"/>
              </a:rPr>
              <a:t>url</a:t>
            </a:r>
            <a:r>
              <a:rPr lang="en-US" altLang="ko-KR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1800" dirty="0"/>
              <a:t>속성 이용</a:t>
            </a:r>
            <a:endParaRPr lang="en-US" altLang="ko-KR" sz="1800" dirty="0"/>
          </a:p>
          <a:p>
            <a:pPr lvl="1"/>
            <a:r>
              <a:rPr lang="en-US" altLang="ko-KR" sz="1800" dirty="0">
                <a:solidFill>
                  <a:srgbClr val="0000FF"/>
                </a:solidFill>
              </a:rPr>
              <a:t>c:param</a:t>
            </a:r>
            <a:r>
              <a:rPr lang="ko-KR" altLang="en-US" sz="1800" dirty="0"/>
              <a:t>을 이용하여 </a:t>
            </a:r>
            <a:r>
              <a:rPr lang="en-US" altLang="ko-KR" sz="1800" dirty="0"/>
              <a:t>redirect</a:t>
            </a:r>
            <a:r>
              <a:rPr lang="ko-KR" altLang="en-US" sz="1800" dirty="0"/>
              <a:t>할 페이지에 </a:t>
            </a:r>
            <a:r>
              <a:rPr lang="ko-KR" altLang="en-US" sz="1800" dirty="0" err="1"/>
              <a:t>파라미터를</a:t>
            </a:r>
            <a:r>
              <a:rPr lang="ko-KR" altLang="en-US" sz="1800" dirty="0"/>
              <a:t> 전달할 수 있음</a:t>
            </a:r>
            <a:endParaRPr lang="en-US" altLang="ko-KR" sz="1800" dirty="0"/>
          </a:p>
          <a:p>
            <a:pPr lvl="2"/>
            <a:r>
              <a:rPr lang="ko-KR" altLang="en-US" dirty="0"/>
              <a:t>기존에는 쿼리 스트링</a:t>
            </a:r>
            <a:r>
              <a:rPr lang="en-US" altLang="ko-KR" dirty="0"/>
              <a:t>(query string)</a:t>
            </a:r>
            <a:r>
              <a:rPr lang="ko-KR" altLang="en-US" dirty="0"/>
              <a:t>을 이용</a:t>
            </a:r>
            <a:endParaRPr lang="ko-KR" altLang="en-US" sz="1600" dirty="0"/>
          </a:p>
          <a:p>
            <a:endParaRPr lang="ko-KR" altLang="en-US" sz="2000" dirty="0"/>
          </a:p>
          <a:p>
            <a:pPr lvl="1"/>
            <a:endParaRPr lang="ko-KR" altLang="en-US" sz="1800" dirty="0">
              <a:ea typeface="Arial Unicode MS"/>
            </a:endParaRPr>
          </a:p>
          <a:p>
            <a:pPr lvl="1"/>
            <a:endParaRPr lang="en-US" altLang="ko-KR" sz="1600" dirty="0">
              <a:ea typeface="Arial Unicode M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17</a:t>
            </a:fld>
            <a:endParaRPr 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66799" y="3151912"/>
            <a:ext cx="7661565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c:redirect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F007F"/>
                </a:solidFill>
                <a:latin typeface="Consolas" panose="020B0609020204030204" pitchFamily="49" charset="0"/>
              </a:rPr>
              <a:t>url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"/</a:t>
            </a:r>
            <a:r>
              <a:rPr lang="en-US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redirectGet.jsp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US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c:param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UserId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i="1" dirty="0">
                <a:solidFill>
                  <a:srgbClr val="7F007F"/>
                </a:solidFill>
                <a:latin typeface="Consolas" panose="020B0609020204030204" pitchFamily="49" charset="0"/>
              </a:rPr>
              <a:t>value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"computer"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</a:p>
          <a:p>
            <a:pPr lvl="2"/>
            <a:r>
              <a:rPr lang="en-US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c:param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UserName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i="1" dirty="0">
                <a:solidFill>
                  <a:srgbClr val="7F007F"/>
                </a:solidFill>
                <a:latin typeface="Consolas" panose="020B0609020204030204" pitchFamily="49" charset="0"/>
              </a:rPr>
              <a:t>value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webMaster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c:redirect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066800" y="5224804"/>
            <a:ext cx="7661564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USER ID IS: ${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param.UserId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USER NAME IS: ${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param.UserName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8944525" y="5224804"/>
            <a:ext cx="158004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 err="1"/>
              <a:t>redirectGet.jsp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0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코어 라이브러리</a:t>
            </a:r>
            <a:r>
              <a:rPr lang="en-US" altLang="ko-KR" sz="2800" dirty="0"/>
              <a:t>(C)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442374" cy="61006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>
                <a:cs typeface="Times New Roman" pitchFamily="18" charset="0"/>
              </a:rPr>
              <a:t>c:import</a:t>
            </a:r>
            <a:r>
              <a:rPr lang="en-US" altLang="ko-KR" sz="2000" dirty="0"/>
              <a:t>&gt; </a:t>
            </a:r>
            <a:r>
              <a:rPr lang="ko-KR" altLang="en-US" sz="2000" dirty="0" err="1"/>
              <a:t>커스텀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액션</a:t>
            </a:r>
            <a:endParaRPr lang="en-US" altLang="ko-KR" sz="2000" dirty="0" smtClean="0"/>
          </a:p>
          <a:p>
            <a:pPr lvl="1"/>
            <a:r>
              <a:rPr lang="en-US" altLang="ko-KR" sz="1800" dirty="0"/>
              <a:t>&lt;</a:t>
            </a:r>
            <a:r>
              <a:rPr lang="en-US" altLang="ko-KR" sz="1800" dirty="0" err="1">
                <a:solidFill>
                  <a:srgbClr val="0000FF"/>
                </a:solidFill>
                <a:cs typeface="Times New Roman" pitchFamily="18" charset="0"/>
              </a:rPr>
              <a:t>jsp:include</a:t>
            </a:r>
            <a:r>
              <a:rPr lang="en-US" altLang="ko-KR" sz="1800" dirty="0"/>
              <a:t>&gt; </a:t>
            </a:r>
            <a:r>
              <a:rPr lang="ko-KR" altLang="en-US" sz="1800" dirty="0"/>
              <a:t>표준 액션과 </a:t>
            </a:r>
            <a:r>
              <a:rPr lang="ko-KR" altLang="en-US" sz="1800" dirty="0" err="1"/>
              <a:t>비슷</a:t>
            </a:r>
            <a:r>
              <a:rPr lang="en-US" altLang="ko-KR" sz="1800" dirty="0"/>
              <a:t>: </a:t>
            </a:r>
            <a:r>
              <a:rPr lang="ko-KR" altLang="en-US" sz="1800" dirty="0"/>
              <a:t>다른 자원을 자신의 페이지에 삽입</a:t>
            </a:r>
            <a:endParaRPr lang="en-US" altLang="ko-KR" sz="1800" dirty="0"/>
          </a:p>
          <a:p>
            <a:pPr lvl="2"/>
            <a:r>
              <a:rPr lang="ko-KR" altLang="en-US" dirty="0"/>
              <a:t>다른 </a:t>
            </a:r>
            <a:r>
              <a:rPr lang="en-US" altLang="ko-KR" dirty="0">
                <a:cs typeface="Times New Roman" pitchFamily="18" charset="0"/>
              </a:rPr>
              <a:t>JSP</a:t>
            </a:r>
            <a:r>
              <a:rPr lang="en-US" altLang="ko-KR" dirty="0"/>
              <a:t> </a:t>
            </a:r>
            <a:r>
              <a:rPr lang="ko-KR" altLang="en-US" dirty="0"/>
              <a:t>페이지 뿐만 아니라 다른 종류의 웹 자원도 호출할 수 있음</a:t>
            </a:r>
            <a:endParaRPr lang="en-US" altLang="ko-KR" dirty="0"/>
          </a:p>
          <a:p>
            <a:pPr lvl="1"/>
            <a:r>
              <a:rPr lang="ko-KR" altLang="en-US" sz="1800" dirty="0"/>
              <a:t>호출할 웹 자원의 </a:t>
            </a:r>
            <a:r>
              <a:rPr lang="en-US" altLang="ko-KR" sz="1800" dirty="0">
                <a:cs typeface="Times New Roman" pitchFamily="18" charset="0"/>
              </a:rPr>
              <a:t>URL</a:t>
            </a:r>
            <a:r>
              <a:rPr lang="ko-KR" altLang="en-US" sz="1800" dirty="0"/>
              <a:t>은 </a:t>
            </a:r>
            <a:r>
              <a:rPr lang="en-US" altLang="ko-KR" sz="1800" dirty="0" err="1">
                <a:cs typeface="Times New Roman" pitchFamily="18" charset="0"/>
              </a:rPr>
              <a:t>url</a:t>
            </a:r>
            <a:r>
              <a:rPr lang="ko-KR" altLang="en-US" sz="1800" dirty="0">
                <a:cs typeface="Times New Roman" pitchFamily="18" charset="0"/>
              </a:rPr>
              <a:t>속성에</a:t>
            </a:r>
            <a:r>
              <a:rPr lang="ko-KR" altLang="en-US" sz="1800" dirty="0"/>
              <a:t> </a:t>
            </a:r>
            <a:r>
              <a:rPr lang="ko-KR" altLang="en-US" sz="1800" dirty="0" smtClean="0"/>
              <a:t>지정</a:t>
            </a:r>
            <a:endParaRPr lang="en-US" altLang="ko-KR" sz="1800" dirty="0" smtClean="0"/>
          </a:p>
          <a:p>
            <a:pPr lvl="1"/>
            <a:endParaRPr lang="en-US" altLang="ko-KR" sz="1800" dirty="0">
              <a:latin typeface="+mn-lt"/>
              <a:ea typeface="Arial Unicode MS"/>
            </a:endParaRPr>
          </a:p>
          <a:p>
            <a:pPr lvl="1"/>
            <a:endParaRPr lang="en-US" altLang="ko-KR" sz="1800" dirty="0" smtClean="0">
              <a:latin typeface="+mn-lt"/>
              <a:ea typeface="Arial Unicode MS"/>
            </a:endParaRPr>
          </a:p>
          <a:p>
            <a:r>
              <a:rPr lang="en-US" altLang="ko-KR" sz="2000" dirty="0"/>
              <a:t>include</a:t>
            </a:r>
            <a:r>
              <a:rPr lang="ko-KR" altLang="en-US" sz="2000" dirty="0"/>
              <a:t>정리</a:t>
            </a:r>
            <a:endParaRPr lang="en-US" altLang="ko-KR" sz="2000" dirty="0"/>
          </a:p>
          <a:p>
            <a:pPr lvl="1"/>
            <a:r>
              <a:rPr lang="ko-KR" altLang="en-US" sz="1800" dirty="0" err="1"/>
              <a:t>디렉티브</a:t>
            </a:r>
            <a:r>
              <a:rPr lang="ko-KR" altLang="en-US" sz="1800" dirty="0"/>
              <a:t> 방식</a:t>
            </a:r>
            <a:r>
              <a:rPr lang="en-US" altLang="ko-KR" sz="1800" dirty="0"/>
              <a:t>: </a:t>
            </a:r>
            <a:r>
              <a:rPr lang="en-US" sz="1800" dirty="0"/>
              <a:t>&lt;%@ include file=""%&gt;: </a:t>
            </a:r>
            <a:r>
              <a:rPr lang="ko-KR" altLang="en-US" sz="1800" dirty="0"/>
              <a:t>정적</a:t>
            </a:r>
            <a:endParaRPr lang="en-US" sz="1800" dirty="0"/>
          </a:p>
          <a:p>
            <a:pPr lvl="1"/>
            <a:r>
              <a:rPr lang="ko-KR" altLang="en-US" sz="1800" dirty="0" err="1"/>
              <a:t>액션태그</a:t>
            </a:r>
            <a:r>
              <a:rPr lang="ko-KR" altLang="en-US" sz="1800" dirty="0"/>
              <a:t> 방식</a:t>
            </a:r>
            <a:r>
              <a:rPr lang="en-US" altLang="ko-KR" sz="1800" dirty="0"/>
              <a:t>: </a:t>
            </a:r>
            <a:r>
              <a:rPr lang="en-US" sz="1800" dirty="0"/>
              <a:t>&lt;</a:t>
            </a:r>
            <a:r>
              <a:rPr lang="en-US" sz="1800" dirty="0" err="1"/>
              <a:t>jsp:include</a:t>
            </a:r>
            <a:r>
              <a:rPr lang="en-US" sz="1800" dirty="0"/>
              <a:t> page=""/&gt;: </a:t>
            </a:r>
            <a:r>
              <a:rPr lang="ko-KR" altLang="en-US" sz="1800" dirty="0"/>
              <a:t>동적</a:t>
            </a:r>
            <a:endParaRPr lang="en-US" sz="1800" dirty="0"/>
          </a:p>
          <a:p>
            <a:pPr lvl="1"/>
            <a:r>
              <a:rPr lang="en-US" altLang="ko-KR" sz="1800" dirty="0"/>
              <a:t>JSTL</a:t>
            </a:r>
            <a:r>
              <a:rPr lang="ko-KR" altLang="en-US" sz="1800" dirty="0"/>
              <a:t> 방식</a:t>
            </a:r>
            <a:r>
              <a:rPr lang="en-US" altLang="ko-KR" sz="1800" dirty="0"/>
              <a:t>: </a:t>
            </a:r>
            <a:r>
              <a:rPr lang="en-US" sz="1800" dirty="0"/>
              <a:t>&lt;</a:t>
            </a:r>
            <a:r>
              <a:rPr lang="en-US" sz="1800" dirty="0" err="1"/>
              <a:t>c:import</a:t>
            </a:r>
            <a:r>
              <a:rPr lang="en-US" sz="1800" dirty="0"/>
              <a:t> </a:t>
            </a:r>
            <a:r>
              <a:rPr lang="en-US" sz="1800" dirty="0" err="1"/>
              <a:t>url</a:t>
            </a:r>
            <a:r>
              <a:rPr lang="en-US" sz="1800" dirty="0"/>
              <a:t>="" /&gt;: </a:t>
            </a:r>
            <a:r>
              <a:rPr lang="ko-KR" altLang="en-US" sz="1800" dirty="0"/>
              <a:t>현재 컨테이너 안에 있는 자원 외에 </a:t>
            </a:r>
            <a:r>
              <a:rPr lang="ko-KR" altLang="en-US" sz="1800" u="sng" dirty="0"/>
              <a:t>다른 외부 자원도 포함이 가능</a:t>
            </a:r>
            <a:endParaRPr lang="en-US" altLang="ko-KR" sz="1800" u="sng" dirty="0"/>
          </a:p>
          <a:p>
            <a:pPr marL="457200" lvl="1" indent="0">
              <a:buNone/>
            </a:pPr>
            <a:r>
              <a:rPr lang="en-US" altLang="ko-KR" sz="1800" dirty="0" smtClean="0">
                <a:sym typeface="Wingdings" panose="05000000000000000000" pitchFamily="2" charset="2"/>
              </a:rPr>
              <a:t> </a:t>
            </a:r>
            <a:r>
              <a:rPr lang="en-US" altLang="ko-KR" sz="1800" dirty="0" smtClean="0"/>
              <a:t>ex</a:t>
            </a:r>
            <a:r>
              <a:rPr lang="en-US" altLang="ko-KR" sz="1800" dirty="0"/>
              <a:t>) &lt;</a:t>
            </a:r>
            <a:r>
              <a:rPr lang="en-US" altLang="ko-KR" sz="1800" dirty="0" err="1"/>
              <a:t>c:import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url</a:t>
            </a:r>
            <a:r>
              <a:rPr lang="en-US" altLang="ko-KR" sz="1800" dirty="0"/>
              <a:t>="http://www.google.com/"/&gt;</a:t>
            </a:r>
            <a:endParaRPr lang="ko-KR" altLang="en-US" sz="1800" dirty="0"/>
          </a:p>
          <a:p>
            <a:pPr lvl="1"/>
            <a:endParaRPr lang="en-US" altLang="ko-KR" sz="1800" dirty="0">
              <a:ea typeface="Arial Unicode MS"/>
            </a:endParaRPr>
          </a:p>
          <a:p>
            <a:pPr lvl="1"/>
            <a:endParaRPr lang="ko-KR" altLang="en-US" sz="1600" dirty="0"/>
          </a:p>
          <a:p>
            <a:pPr lvl="1"/>
            <a:endParaRPr lang="ko-KR" altLang="en-US" sz="1800" dirty="0">
              <a:ea typeface="Arial Unicode MS"/>
            </a:endParaRPr>
          </a:p>
          <a:p>
            <a:pPr lvl="1"/>
            <a:endParaRPr lang="en-US" altLang="ko-KR" sz="1600" dirty="0">
              <a:ea typeface="Arial Unicode M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82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코어 라이브러리</a:t>
            </a:r>
            <a:r>
              <a:rPr lang="en-US" altLang="ko-KR" sz="2800" dirty="0"/>
              <a:t>(C)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442374" cy="61006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/>
              <a:t>c:out</a:t>
            </a:r>
            <a:r>
              <a:rPr lang="en-US" altLang="ko-KR" sz="2000" dirty="0"/>
              <a:t>&gt; </a:t>
            </a:r>
          </a:p>
          <a:p>
            <a:pPr lvl="1"/>
            <a:r>
              <a:rPr lang="ko-KR" altLang="en-US" sz="1800" dirty="0"/>
              <a:t>데이터를 출력할 때 사용</a:t>
            </a:r>
          </a:p>
          <a:p>
            <a:pPr lvl="1"/>
            <a:r>
              <a:rPr lang="ko-KR" altLang="en-US" sz="1800" dirty="0"/>
              <a:t>웹 브라우저에 의해 특수한 문자로 해석되는 </a:t>
            </a:r>
            <a:r>
              <a:rPr lang="en-US" altLang="ko-KR" sz="1800" dirty="0"/>
              <a:t>&lt;, &gt;, &amp;, ‘, “</a:t>
            </a:r>
            <a:r>
              <a:rPr lang="ko-KR" altLang="en-US" sz="1800" dirty="0"/>
              <a:t>를 포함하는 데이터를 출력할 때 편리</a:t>
            </a:r>
          </a:p>
          <a:p>
            <a:pPr lvl="1"/>
            <a:r>
              <a:rPr lang="ko-KR" altLang="en-US" sz="1800" dirty="0"/>
              <a:t>출력할 데이터는 </a:t>
            </a:r>
            <a:r>
              <a:rPr lang="en-US" altLang="ko-KR" sz="1800" dirty="0"/>
              <a:t>value</a:t>
            </a:r>
            <a:r>
              <a:rPr lang="ko-KR" altLang="en-US" sz="1800" dirty="0"/>
              <a:t>속성에 </a:t>
            </a:r>
            <a:r>
              <a:rPr lang="ko-KR" altLang="en-US" sz="1800" dirty="0" smtClean="0"/>
              <a:t>지정</a:t>
            </a:r>
            <a:endParaRPr lang="en-US" altLang="ko-KR" sz="1800" dirty="0" smtClean="0"/>
          </a:p>
          <a:p>
            <a:pPr lvl="1"/>
            <a:r>
              <a:rPr lang="en-US" altLang="ko-KR" sz="1800" dirty="0"/>
              <a:t>default </a:t>
            </a:r>
            <a:r>
              <a:rPr lang="ko-KR" altLang="en-US" sz="1800" dirty="0"/>
              <a:t>속성을 </a:t>
            </a:r>
            <a:r>
              <a:rPr lang="ko-KR" altLang="en-US" sz="1800" dirty="0" smtClean="0"/>
              <a:t>이용하여 </a:t>
            </a:r>
            <a:r>
              <a:rPr lang="en-US" altLang="ko-KR" sz="1800" dirty="0" smtClean="0"/>
              <a:t>EL </a:t>
            </a:r>
            <a:r>
              <a:rPr lang="ko-KR" altLang="en-US" sz="1800" dirty="0"/>
              <a:t>식의 결과를 출력할 때 유용</a:t>
            </a:r>
          </a:p>
          <a:p>
            <a:endParaRPr lang="ko-KR" altLang="en-US" sz="2000" dirty="0"/>
          </a:p>
          <a:p>
            <a:pPr lvl="1"/>
            <a:endParaRPr lang="ko-KR" altLang="en-US" sz="1800" dirty="0">
              <a:ea typeface="Arial Unicode MS"/>
            </a:endParaRPr>
          </a:p>
          <a:p>
            <a:pPr lvl="1"/>
            <a:endParaRPr lang="en-US" altLang="ko-KR" sz="1600" dirty="0">
              <a:ea typeface="Arial Unicode M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19</a:t>
            </a:fld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097907" y="3238500"/>
            <a:ext cx="7272808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&lt;%@page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contentType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 “text/html; charset=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euc-kr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”%&gt;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pt-BR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&lt;%@taglib prefix= “c ” uri= “http://java.sun.com/jsp/jstl/core ” %&gt;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&lt;HTML&gt;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&lt;HEAD&gt;&lt;TITLE&gt;</a:t>
            </a:r>
            <a:r>
              <a:rPr lang="ko-KR" altLang="en-US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간단한 인사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&lt;/TITLE&gt;&lt;/HEAD&gt;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&lt;BODY&gt;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안녕하세요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, &lt;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c:out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value=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"${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param.ID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}"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default=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"guest"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/&gt;</a:t>
            </a:r>
            <a:r>
              <a:rPr lang="ko-KR" altLang="en-US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님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&lt;/BODY&gt;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53544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코어 라이브러리</a:t>
            </a:r>
            <a:r>
              <a:rPr lang="en-US" altLang="ko-KR" sz="2800" dirty="0"/>
              <a:t>(C)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442374" cy="6100600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JSTL </a:t>
            </a:r>
            <a:r>
              <a:rPr lang="ko-KR" altLang="en-US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함수 라이브러리</a:t>
            </a:r>
            <a:endParaRPr lang="en-US" altLang="ko-KR" sz="2000" dirty="0"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 lvl="1"/>
            <a:r>
              <a:rPr lang="ko-KR" altLang="en-US" sz="1800" dirty="0">
                <a:ea typeface="Arial Unicode MS"/>
              </a:rPr>
              <a:t>표현식 언어의 </a:t>
            </a:r>
            <a:r>
              <a:rPr lang="en-US" altLang="ko-KR" sz="1800" dirty="0">
                <a:latin typeface="Times New Roman" pitchFamily="18" charset="0"/>
                <a:ea typeface="Arial Unicode MS"/>
                <a:cs typeface="Times New Roman" pitchFamily="18" charset="0"/>
              </a:rPr>
              <a:t>EL</a:t>
            </a:r>
            <a:r>
              <a:rPr lang="en-US" altLang="ko-KR" sz="1800" dirty="0">
                <a:ea typeface="Arial Unicode MS"/>
              </a:rPr>
              <a:t> </a:t>
            </a:r>
            <a:r>
              <a:rPr lang="ko-KR" altLang="en-US" sz="1800" dirty="0">
                <a:ea typeface="Arial Unicode MS"/>
              </a:rPr>
              <a:t>식 안에서 사용할 수 있는 </a:t>
            </a:r>
            <a:r>
              <a:rPr lang="en-US" altLang="ko-KR" sz="1800" dirty="0">
                <a:latin typeface="Times New Roman" pitchFamily="18" charset="0"/>
                <a:ea typeface="Arial Unicode MS"/>
                <a:cs typeface="Times New Roman" pitchFamily="18" charset="0"/>
              </a:rPr>
              <a:t>EL</a:t>
            </a:r>
            <a:r>
              <a:rPr lang="en-US" altLang="ko-KR" sz="1800" dirty="0">
                <a:ea typeface="Arial Unicode MS"/>
              </a:rPr>
              <a:t> </a:t>
            </a:r>
            <a:r>
              <a:rPr lang="ko-KR" altLang="en-US" sz="1800" dirty="0">
                <a:ea typeface="Arial Unicode MS"/>
              </a:rPr>
              <a:t>함수들의 라이브러리</a:t>
            </a:r>
            <a:endParaRPr lang="en-US" altLang="ko-KR" sz="1800" dirty="0">
              <a:ea typeface="Arial Unicode MS"/>
            </a:endParaRPr>
          </a:p>
          <a:p>
            <a:pPr lvl="1"/>
            <a:endParaRPr lang="en-US" altLang="ko-KR" sz="1600" dirty="0"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endParaRPr lang="ko-KR" altLang="en-US" sz="2000" dirty="0"/>
          </a:p>
          <a:p>
            <a:pPr lvl="1"/>
            <a:endParaRPr lang="ko-KR" altLang="en-US" sz="1800" dirty="0">
              <a:ea typeface="Arial Unicode MS"/>
            </a:endParaRPr>
          </a:p>
          <a:p>
            <a:pPr lvl="1"/>
            <a:endParaRPr lang="en-US" altLang="ko-KR" sz="1600" dirty="0">
              <a:ea typeface="Arial Unicode M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20</a:t>
            </a:fld>
            <a:endParaRPr 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62164" y="1844824"/>
            <a:ext cx="7665858" cy="452431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&lt;%@page </a:t>
            </a:r>
            <a:r>
              <a:rPr lang="en-US" dirty="0" err="1"/>
              <a:t>contentType</a:t>
            </a:r>
            <a:r>
              <a:rPr lang="en-US" dirty="0"/>
              <a:t>= “text/html; charset=</a:t>
            </a:r>
            <a:r>
              <a:rPr lang="en-US" dirty="0" err="1"/>
              <a:t>euc-kr</a:t>
            </a:r>
            <a:r>
              <a:rPr lang="en-US" dirty="0"/>
              <a:t> ”%&gt;</a:t>
            </a:r>
          </a:p>
          <a:p>
            <a:r>
              <a:rPr lang="en-US" dirty="0"/>
              <a:t>&lt;%@page import= “java.util.* ”%&gt;</a:t>
            </a:r>
          </a:p>
          <a:p>
            <a:r>
              <a:rPr lang="en-US" dirty="0" smtClean="0"/>
              <a:t>&lt;%@</a:t>
            </a:r>
            <a:r>
              <a:rPr lang="en-US" dirty="0" err="1" smtClean="0"/>
              <a:t>taglib</a:t>
            </a:r>
            <a:r>
              <a:rPr lang="en-US" dirty="0" smtClean="0"/>
              <a:t> prefix= “c” </a:t>
            </a:r>
            <a:r>
              <a:rPr lang="en-US" dirty="0" err="1" smtClean="0"/>
              <a:t>uri</a:t>
            </a:r>
            <a:r>
              <a:rPr lang="en-US" dirty="0" smtClean="0"/>
              <a:t>= “http://java.sun.com/</a:t>
            </a:r>
            <a:r>
              <a:rPr lang="en-US" dirty="0" err="1" smtClean="0"/>
              <a:t>jsp</a:t>
            </a:r>
            <a:r>
              <a:rPr lang="en-US" dirty="0" smtClean="0"/>
              <a:t>/</a:t>
            </a:r>
            <a:r>
              <a:rPr lang="en-US" dirty="0" err="1" smtClean="0"/>
              <a:t>jstl</a:t>
            </a:r>
            <a:r>
              <a:rPr lang="en-US" dirty="0" smtClean="0"/>
              <a:t>/core ” %&gt;</a:t>
            </a:r>
          </a:p>
          <a:p>
            <a:r>
              <a:rPr lang="en-US" dirty="0" smtClean="0"/>
              <a:t>&lt;%@</a:t>
            </a:r>
            <a:r>
              <a:rPr lang="en-US" dirty="0" err="1"/>
              <a:t>taglib</a:t>
            </a:r>
            <a:r>
              <a:rPr lang="en-US" dirty="0"/>
              <a:t> prefix= “</a:t>
            </a:r>
            <a:r>
              <a:rPr lang="en-US" dirty="0" err="1"/>
              <a:t>fn</a:t>
            </a:r>
            <a:r>
              <a:rPr lang="en-US" dirty="0"/>
              <a:t>” </a:t>
            </a:r>
            <a:r>
              <a:rPr lang="en-US" dirty="0" err="1"/>
              <a:t>uri</a:t>
            </a:r>
            <a:r>
              <a:rPr lang="en-US" dirty="0"/>
              <a:t>= “http://java.sun.com/</a:t>
            </a:r>
            <a:r>
              <a:rPr lang="en-US" dirty="0" err="1"/>
              <a:t>jsp</a:t>
            </a:r>
            <a:r>
              <a:rPr lang="en-US" dirty="0"/>
              <a:t>/</a:t>
            </a:r>
            <a:r>
              <a:rPr lang="en-US" dirty="0" err="1"/>
              <a:t>jstl</a:t>
            </a:r>
            <a:r>
              <a:rPr lang="en-US" dirty="0"/>
              <a:t>/functions ” %&gt;</a:t>
            </a:r>
          </a:p>
          <a:p>
            <a:r>
              <a:rPr lang="en-US" dirty="0"/>
              <a:t>&lt;</a:t>
            </a:r>
            <a:r>
              <a:rPr lang="en-US" dirty="0" err="1">
                <a:solidFill>
                  <a:srgbClr val="FF0000"/>
                </a:solidFill>
              </a:rPr>
              <a:t>c:set</a:t>
            </a:r>
            <a:r>
              <a:rPr lang="en-US" dirty="0"/>
              <a:t> </a:t>
            </a:r>
            <a:r>
              <a:rPr lang="en-US" dirty="0" err="1"/>
              <a:t>var</a:t>
            </a:r>
            <a:r>
              <a:rPr lang="en-US" dirty="0"/>
              <a:t>= “greeting ” value= “How Are You? ” /&gt;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      &lt;HEAD&gt;&lt;TITLE&gt;</a:t>
            </a:r>
            <a:r>
              <a:rPr lang="ko-KR" altLang="en-US" dirty="0"/>
              <a:t>여러가지 인사말</a:t>
            </a:r>
            <a:r>
              <a:rPr lang="en-US" altLang="ko-KR" dirty="0"/>
              <a:t>&lt;/</a:t>
            </a:r>
            <a:r>
              <a:rPr lang="en-US" dirty="0"/>
              <a:t>TITLE&gt;&lt;/HEAD&gt;</a:t>
            </a:r>
          </a:p>
          <a:p>
            <a:r>
              <a:rPr lang="en-US" dirty="0"/>
              <a:t>      &lt;BODY&gt; </a:t>
            </a:r>
          </a:p>
          <a:p>
            <a:r>
              <a:rPr lang="en-US" dirty="0"/>
              <a:t>           </a:t>
            </a:r>
            <a:r>
              <a:rPr lang="ko-KR" altLang="en-US" dirty="0"/>
              <a:t>본래의 문자열</a:t>
            </a:r>
            <a:r>
              <a:rPr lang="en-US" altLang="ko-KR" dirty="0"/>
              <a:t>: ${</a:t>
            </a:r>
            <a:r>
              <a:rPr lang="en-US" dirty="0"/>
              <a:t>greeting} &lt;BR&gt;</a:t>
            </a:r>
          </a:p>
          <a:p>
            <a:r>
              <a:rPr lang="en-US" dirty="0"/>
              <a:t>           </a:t>
            </a:r>
            <a:r>
              <a:rPr lang="ko-KR" altLang="en-US" dirty="0"/>
              <a:t>모두 대문자로</a:t>
            </a:r>
            <a:r>
              <a:rPr lang="en-US" altLang="ko-KR" dirty="0"/>
              <a:t>: ${</a:t>
            </a:r>
            <a:r>
              <a:rPr lang="en-US" dirty="0" err="1">
                <a:solidFill>
                  <a:srgbClr val="FF0000"/>
                </a:solidFill>
              </a:rPr>
              <a:t>fn:toUpperCase</a:t>
            </a:r>
            <a:r>
              <a:rPr lang="en-US" dirty="0"/>
              <a:t>(greeting)} &lt;BR&gt;</a:t>
            </a:r>
          </a:p>
          <a:p>
            <a:r>
              <a:rPr lang="en-US" dirty="0"/>
              <a:t>           </a:t>
            </a:r>
            <a:r>
              <a:rPr lang="ko-KR" altLang="en-US" dirty="0"/>
              <a:t>모두 소문자로</a:t>
            </a:r>
            <a:r>
              <a:rPr lang="en-US" altLang="ko-KR" dirty="0"/>
              <a:t>: ${</a:t>
            </a:r>
            <a:r>
              <a:rPr lang="en-US" dirty="0" err="1">
                <a:solidFill>
                  <a:srgbClr val="FF0000"/>
                </a:solidFill>
              </a:rPr>
              <a:t>fn:toLowerCase</a:t>
            </a:r>
            <a:r>
              <a:rPr lang="en-US" dirty="0"/>
              <a:t>(greeting)} &lt;BR&gt;</a:t>
            </a:r>
          </a:p>
          <a:p>
            <a:r>
              <a:rPr lang="en-US" dirty="0"/>
              <a:t>           Are</a:t>
            </a:r>
            <a:r>
              <a:rPr lang="ko-KR" altLang="en-US" dirty="0"/>
              <a:t>의 위치는</a:t>
            </a:r>
            <a:r>
              <a:rPr lang="en-US" altLang="ko-KR" dirty="0"/>
              <a:t>? ${</a:t>
            </a:r>
            <a:r>
              <a:rPr lang="en-US" dirty="0" err="1">
                <a:solidFill>
                  <a:srgbClr val="FF0000"/>
                </a:solidFill>
              </a:rPr>
              <a:t>fn:indexOf</a:t>
            </a:r>
            <a:r>
              <a:rPr lang="en-US" dirty="0"/>
              <a:t>(greeting, “Are ”)} &lt;BR&gt;</a:t>
            </a:r>
          </a:p>
          <a:p>
            <a:r>
              <a:rPr lang="en-US" dirty="0"/>
              <a:t>           Are</a:t>
            </a:r>
            <a:r>
              <a:rPr lang="ko-KR" altLang="en-US" dirty="0"/>
              <a:t>를 </a:t>
            </a:r>
            <a:r>
              <a:rPr lang="en-US" dirty="0"/>
              <a:t>Were</a:t>
            </a:r>
            <a:r>
              <a:rPr lang="ko-KR" altLang="en-US" dirty="0"/>
              <a:t>로 바꾸면</a:t>
            </a:r>
            <a:r>
              <a:rPr lang="en-US" altLang="ko-KR" dirty="0"/>
              <a:t>? ${</a:t>
            </a:r>
            <a:r>
              <a:rPr lang="en-US" dirty="0" err="1">
                <a:solidFill>
                  <a:srgbClr val="FF0000"/>
                </a:solidFill>
              </a:rPr>
              <a:t>fn:replace</a:t>
            </a:r>
            <a:r>
              <a:rPr lang="en-US" dirty="0"/>
              <a:t>(greeting, “Are ”, “Were ”)} &lt;BR&gt;</a:t>
            </a:r>
          </a:p>
          <a:p>
            <a:r>
              <a:rPr lang="en-US" dirty="0"/>
              <a:t>           </a:t>
            </a:r>
            <a:r>
              <a:rPr lang="ko-KR" altLang="en-US" dirty="0"/>
              <a:t>문자열의 길이는</a:t>
            </a:r>
            <a:r>
              <a:rPr lang="en-US" altLang="ko-KR" dirty="0"/>
              <a:t>? ${</a:t>
            </a:r>
            <a:r>
              <a:rPr lang="en-US" dirty="0" err="1">
                <a:solidFill>
                  <a:srgbClr val="FF0000"/>
                </a:solidFill>
              </a:rPr>
              <a:t>fn:length</a:t>
            </a:r>
            <a:r>
              <a:rPr lang="en-US" dirty="0"/>
              <a:t>(greeting)} &lt;BR&gt;</a:t>
            </a:r>
          </a:p>
          <a:p>
            <a:r>
              <a:rPr lang="en-US" dirty="0"/>
              <a:t>      &lt;/BODY&gt;</a:t>
            </a:r>
          </a:p>
          <a:p>
            <a:r>
              <a:rPr lang="en-US" dirty="0"/>
              <a:t>&lt;/HTML&gt;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3987" t="38983" r="32730" b="13842"/>
          <a:stretch/>
        </p:blipFill>
        <p:spPr bwMode="auto">
          <a:xfrm>
            <a:off x="8196409" y="1844824"/>
            <a:ext cx="3844903" cy="14182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0069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코어 라이브러리</a:t>
            </a:r>
            <a:r>
              <a:rPr lang="en-US" altLang="ko-KR" sz="2800" dirty="0"/>
              <a:t>(C)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442374" cy="6100600"/>
          </a:xfrm>
        </p:spPr>
        <p:txBody>
          <a:bodyPr>
            <a:normAutofit/>
          </a:bodyPr>
          <a:lstStyle/>
          <a:p>
            <a:r>
              <a:rPr lang="en-US" altLang="ko-KR" sz="2000" dirty="0" smtClean="0">
                <a:cs typeface="Times New Roman" pitchFamily="18" charset="0"/>
              </a:rPr>
              <a:t>C </a:t>
            </a:r>
            <a:r>
              <a:rPr lang="ko-KR" altLang="en-US" sz="2000" dirty="0" smtClean="0">
                <a:cs typeface="Times New Roman" pitchFamily="18" charset="0"/>
              </a:rPr>
              <a:t>태그 정리</a:t>
            </a:r>
            <a:endParaRPr lang="en-US" altLang="ko-KR" sz="2000" dirty="0">
              <a:cs typeface="Times New Roman" pitchFamily="18" charset="0"/>
            </a:endParaRPr>
          </a:p>
          <a:p>
            <a:endParaRPr lang="ko-KR" altLang="en-US" sz="2000" dirty="0"/>
          </a:p>
          <a:p>
            <a:pPr lvl="1"/>
            <a:endParaRPr lang="ko-KR" altLang="en-US" sz="1800" dirty="0">
              <a:ea typeface="Arial Unicode MS"/>
            </a:endParaRPr>
          </a:p>
          <a:p>
            <a:pPr lvl="1"/>
            <a:endParaRPr lang="en-US" altLang="ko-KR" sz="1600" dirty="0">
              <a:ea typeface="Arial Unicode M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21</a:t>
            </a:fld>
            <a:endParaRPr lang="en-US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822435" y="1400257"/>
          <a:ext cx="8928992" cy="5147841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585789">
                  <a:extLst>
                    <a:ext uri="{9D8B030D-6E8A-4147-A177-3AD203B41FA5}">
                      <a16:colId xmlns:a16="http://schemas.microsoft.com/office/drawing/2014/main" val="286176904"/>
                    </a:ext>
                  </a:extLst>
                </a:gridCol>
                <a:gridCol w="2315465">
                  <a:extLst>
                    <a:ext uri="{9D8B030D-6E8A-4147-A177-3AD203B41FA5}">
                      <a16:colId xmlns:a16="http://schemas.microsoft.com/office/drawing/2014/main" val="1275431332"/>
                    </a:ext>
                  </a:extLst>
                </a:gridCol>
                <a:gridCol w="5027738">
                  <a:extLst>
                    <a:ext uri="{9D8B030D-6E8A-4147-A177-3AD203B41FA5}">
                      <a16:colId xmlns:a16="http://schemas.microsoft.com/office/drawing/2014/main" val="3959958861"/>
                    </a:ext>
                  </a:extLst>
                </a:gridCol>
              </a:tblGrid>
              <a:tr h="100577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solidFill>
                            <a:srgbClr val="FFFFFF"/>
                          </a:solidFill>
                          <a:effectLst/>
                        </a:rPr>
                        <a:t>기능 분류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solidFill>
                            <a:srgbClr val="FFFFFF"/>
                          </a:solidFill>
                          <a:effectLst/>
                        </a:rPr>
                        <a:t>태 그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solidFill>
                            <a:srgbClr val="FFFFFF"/>
                          </a:solidFill>
                          <a:effectLst/>
                        </a:rPr>
                        <a:t>설 명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231838"/>
                  </a:ext>
                </a:extLst>
              </a:tr>
              <a:tr h="402308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effectLst/>
                        </a:rPr>
                        <a:t>변수 지원</a:t>
                      </a: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set</a:t>
                      </a: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effectLst/>
                        </a:rPr>
                        <a:t>JSP</a:t>
                      </a:r>
                      <a:r>
                        <a:rPr lang="ko-KR" altLang="en-US" sz="1600" dirty="0">
                          <a:effectLst/>
                        </a:rPr>
                        <a:t>에서 사용될 변수를 설정한다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513518"/>
                  </a:ext>
                </a:extLst>
              </a:tr>
              <a:tr h="3017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sz="1600">
                          <a:effectLst/>
                        </a:rPr>
                        <a:t>remove</a:t>
                      </a: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600">
                          <a:effectLst/>
                        </a:rPr>
                        <a:t>설정한 변수를 제거한다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  <a:endParaRPr lang="ko-KR" altLang="en-US" sz="1600">
                        <a:effectLst/>
                      </a:endParaRP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927337"/>
                  </a:ext>
                </a:extLst>
              </a:tr>
              <a:tr h="402308">
                <a:tc rowSpan="4"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600">
                          <a:effectLst/>
                        </a:rPr>
                        <a:t>흐름 제어</a:t>
                      </a: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if</a:t>
                      </a: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600">
                          <a:effectLst/>
                        </a:rPr>
                        <a:t>조건에 따라 내부 코드를 수행한다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  <a:endParaRPr lang="ko-KR" altLang="en-US" sz="1600">
                        <a:effectLst/>
                      </a:endParaRP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757713"/>
                  </a:ext>
                </a:extLst>
              </a:tr>
              <a:tr h="402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choose</a:t>
                      </a: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effectLst/>
                        </a:rPr>
                        <a:t>다중 조건을 처리할 때 사용한다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395721"/>
                  </a:ext>
                </a:extLst>
              </a:tr>
              <a:tr h="5028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sz="1600">
                          <a:effectLst/>
                        </a:rPr>
                        <a:t>forEach</a:t>
                      </a: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600" dirty="0" err="1">
                          <a:effectLst/>
                        </a:rPr>
                        <a:t>콜렉션이나</a:t>
                      </a:r>
                      <a:r>
                        <a:rPr lang="ko-KR" altLang="en-US" sz="1600" dirty="0">
                          <a:effectLst/>
                        </a:rPr>
                        <a:t> </a:t>
                      </a:r>
                      <a:r>
                        <a:rPr lang="en-US" altLang="ko-KR" sz="1600" dirty="0">
                          <a:effectLst/>
                        </a:rPr>
                        <a:t>Map</a:t>
                      </a:r>
                      <a:r>
                        <a:rPr lang="ko-KR" altLang="en-US" sz="1600" dirty="0">
                          <a:effectLst/>
                        </a:rPr>
                        <a:t>의 각 항목을 처리할 때 사용한다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952739"/>
                  </a:ext>
                </a:extLst>
              </a:tr>
              <a:tr h="6034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sz="1600">
                          <a:effectLst/>
                        </a:rPr>
                        <a:t>forTokens</a:t>
                      </a: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600" dirty="0" err="1">
                          <a:effectLst/>
                        </a:rPr>
                        <a:t>구분자로</a:t>
                      </a:r>
                      <a:r>
                        <a:rPr lang="ko-KR" altLang="en-US" sz="1600" dirty="0">
                          <a:effectLst/>
                        </a:rPr>
                        <a:t> 분리된 각각의 토큰을 처리할 때 사용한다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146513"/>
                  </a:ext>
                </a:extLst>
              </a:tr>
              <a:tr h="502885">
                <a:tc rowSpan="3"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sz="1600">
                          <a:effectLst/>
                        </a:rPr>
                        <a:t>URL </a:t>
                      </a:r>
                      <a:r>
                        <a:rPr lang="ko-KR" altLang="en-US" sz="1600">
                          <a:effectLst/>
                        </a:rPr>
                        <a:t>처리</a:t>
                      </a: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import</a:t>
                      </a: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effectLst/>
                        </a:rPr>
                        <a:t>URL</a:t>
                      </a:r>
                      <a:r>
                        <a:rPr lang="ko-KR" altLang="en-US" sz="1600" dirty="0">
                          <a:effectLst/>
                        </a:rPr>
                        <a:t>을 사용하여 다른 지원의 결과를 삽입한다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324533"/>
                  </a:ext>
                </a:extLst>
              </a:tr>
              <a:tr h="3017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sz="1600">
                          <a:effectLst/>
                        </a:rPr>
                        <a:t>redirect</a:t>
                      </a: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effectLst/>
                        </a:rPr>
                        <a:t>지정한 경로로 리다이렉트한다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321043"/>
                  </a:ext>
                </a:extLst>
              </a:tr>
              <a:tr h="2011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sz="1600">
                          <a:effectLst/>
                        </a:rPr>
                        <a:t>url</a:t>
                      </a: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effectLst/>
                        </a:rPr>
                        <a:t>URL</a:t>
                      </a:r>
                      <a:r>
                        <a:rPr lang="ko-KR" altLang="en-US" sz="1600" dirty="0">
                          <a:effectLst/>
                        </a:rPr>
                        <a:t>을 </a:t>
                      </a:r>
                      <a:r>
                        <a:rPr lang="ko-KR" altLang="en-US" sz="1600" dirty="0" err="1">
                          <a:effectLst/>
                        </a:rPr>
                        <a:t>재작성한다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419403"/>
                  </a:ext>
                </a:extLst>
              </a:tr>
              <a:tr h="301731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600">
                          <a:effectLst/>
                        </a:rPr>
                        <a:t>기타 태그</a:t>
                      </a: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catch</a:t>
                      </a: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effectLst/>
                        </a:rPr>
                        <a:t>예외 처리에 사용한다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922039"/>
                  </a:ext>
                </a:extLst>
              </a:tr>
              <a:tr h="5028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</a:rPr>
                        <a:t>out</a:t>
                      </a: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600" dirty="0" err="1">
                          <a:effectLst/>
                        </a:rPr>
                        <a:t>JspWriter</a:t>
                      </a:r>
                      <a:r>
                        <a:rPr lang="ko-KR" altLang="en-US" sz="1600" dirty="0">
                          <a:effectLst/>
                        </a:rPr>
                        <a:t>에 내용을 알맞게 처리한 후 출력한다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5144" marR="2514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178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15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22240</TotalTime>
  <Words>2018</Words>
  <Application>Microsoft Office PowerPoint</Application>
  <PresentationFormat>와이드스크린</PresentationFormat>
  <Paragraphs>374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1" baseType="lpstr">
      <vt:lpstr>Arial Unicode MS</vt:lpstr>
      <vt:lpstr>HY견고딕</vt:lpstr>
      <vt:lpstr>맑은 고딕</vt:lpstr>
      <vt:lpstr>Arial</vt:lpstr>
      <vt:lpstr>Calibri</vt:lpstr>
      <vt:lpstr>Calibri Light</vt:lpstr>
      <vt:lpstr>Consolas</vt:lpstr>
      <vt:lpstr>Times New Roman</vt:lpstr>
      <vt:lpstr>Wingdings</vt:lpstr>
      <vt:lpstr>Office 테마</vt:lpstr>
      <vt:lpstr>JSTL (JSP Standard Tag Library)</vt:lpstr>
      <vt:lpstr>JSTL</vt:lpstr>
      <vt:lpstr>JSTL</vt:lpstr>
      <vt:lpstr>JSTL</vt:lpstr>
      <vt:lpstr>JSTL</vt:lpstr>
      <vt:lpstr>JSTL</vt:lpstr>
      <vt:lpstr>JSTL</vt:lpstr>
      <vt:lpstr>코어 라이브러리(C)</vt:lpstr>
      <vt:lpstr>코어 라이브러리(C)</vt:lpstr>
      <vt:lpstr>코어 라이브러리(C)</vt:lpstr>
      <vt:lpstr>코어 라이브러리(C)</vt:lpstr>
      <vt:lpstr>코어 라이브러리(C)</vt:lpstr>
      <vt:lpstr>코어 라이브러리(C)</vt:lpstr>
      <vt:lpstr>코어 라이브러리(C)</vt:lpstr>
      <vt:lpstr>코어 라이브러리(C)</vt:lpstr>
      <vt:lpstr>코어 라이브러리(C)</vt:lpstr>
      <vt:lpstr>코어 라이브러리(C)</vt:lpstr>
      <vt:lpstr>코어 라이브러리(C)</vt:lpstr>
      <vt:lpstr>코어 라이브러리(C)</vt:lpstr>
      <vt:lpstr>코어 라이브러리(C)</vt:lpstr>
      <vt:lpstr>코어 라이브러리(C)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3991</cp:revision>
  <dcterms:created xsi:type="dcterms:W3CDTF">2020-03-06T01:35:43Z</dcterms:created>
  <dcterms:modified xsi:type="dcterms:W3CDTF">2020-06-03T01:28:30Z</dcterms:modified>
  <cp:version>1000.0000.01</cp:version>
</cp:coreProperties>
</file>