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18"/>
  </p:notesMasterIdLst>
  <p:sldIdLst>
    <p:sldId id="256" r:id="rId2"/>
    <p:sldId id="333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C5610"/>
    <a:srgbClr val="FF00FF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34" y="10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4/13/2020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4/13/2020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4/13/2020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4/13/2020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4/13/2020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4/13/2020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4/13/2020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4/13/2020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4/13/2020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4/13/2020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4/13/2020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4/13/2020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4/13/2020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107341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smtClean="0"/>
              <a:t>자바스크립트 메모리 모델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2369129" y="3155713"/>
            <a:ext cx="75313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https://medium.com/@ethannam/javascripts-memory-model-7c972cd2c239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369129" y="2786381"/>
            <a:ext cx="75313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/>
              <a:t>참고자료</a:t>
            </a:r>
            <a:endParaRPr 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002282" y="2103378"/>
            <a:ext cx="62650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 smtClean="0"/>
              <a:t>원시 타입과 참조 타입 데이터의 저장 방식 이해하기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물음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r>
              <a:rPr lang="en-US" altLang="ko-KR" sz="2200" dirty="0" err="1" smtClean="0">
                <a:solidFill>
                  <a:prstClr val="black"/>
                </a:solidFill>
              </a:rPr>
              <a:t>const</a:t>
            </a:r>
            <a:r>
              <a:rPr lang="ko-KR" altLang="en-US" sz="2200" dirty="0" smtClean="0">
                <a:solidFill>
                  <a:prstClr val="black"/>
                </a:solidFill>
              </a:rPr>
              <a:t>로 생각하고 </a:t>
            </a:r>
            <a:r>
              <a:rPr lang="ko-KR" altLang="en-US" sz="2200" dirty="0" smtClean="0">
                <a:solidFill>
                  <a:prstClr val="black"/>
                </a:solidFill>
              </a:rPr>
              <a:t>변경될 가능성이 있는 경우 </a:t>
            </a:r>
            <a:r>
              <a:rPr lang="en-US" altLang="ko-KR" sz="2200" dirty="0" smtClean="0">
                <a:solidFill>
                  <a:prstClr val="black"/>
                </a:solidFill>
              </a:rPr>
              <a:t>let</a:t>
            </a:r>
            <a:r>
              <a:rPr lang="ko-KR" altLang="en-US" sz="2200" dirty="0" smtClean="0">
                <a:solidFill>
                  <a:prstClr val="black"/>
                </a:solidFill>
              </a:rPr>
              <a:t>으로 정의</a:t>
            </a:r>
            <a:endParaRPr lang="en-US" altLang="ko-KR" sz="22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2278195" y="1105538"/>
            <a:ext cx="7020313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/>
                </a:solidFill>
              </a:rPr>
              <a:t>(</a:t>
            </a:r>
            <a:r>
              <a:rPr lang="en-US" sz="2000" dirty="0" err="1">
                <a:solidFill>
                  <a:schemeClr val="tx1"/>
                </a:solidFill>
              </a:rPr>
              <a:t>var</a:t>
            </a:r>
            <a:r>
              <a:rPr lang="en-US" sz="2000" dirty="0">
                <a:solidFill>
                  <a:schemeClr val="tx1"/>
                </a:solidFill>
              </a:rPr>
              <a:t>, let, </a:t>
            </a:r>
            <a:r>
              <a:rPr lang="en-US" sz="2000" dirty="0" err="1">
                <a:solidFill>
                  <a:schemeClr val="tx1"/>
                </a:solidFill>
              </a:rPr>
              <a:t>const</a:t>
            </a:r>
            <a:r>
              <a:rPr lang="en-US" sz="2000" dirty="0" smtClean="0">
                <a:solidFill>
                  <a:schemeClr val="tx1"/>
                </a:solidFill>
              </a:rPr>
              <a:t>) </a:t>
            </a:r>
            <a:r>
              <a:rPr lang="en-US" sz="2000" dirty="0" err="1">
                <a:solidFill>
                  <a:schemeClr val="tx1"/>
                </a:solidFill>
              </a:rPr>
              <a:t>myArray</a:t>
            </a:r>
            <a:r>
              <a:rPr lang="en-US" sz="2000" dirty="0">
                <a:solidFill>
                  <a:schemeClr val="tx1"/>
                </a:solidFill>
              </a:rPr>
              <a:t> = </a:t>
            </a:r>
            <a:r>
              <a:rPr lang="en-US" sz="2000" dirty="0" smtClean="0">
                <a:solidFill>
                  <a:schemeClr val="tx1"/>
                </a:solidFill>
              </a:rPr>
              <a:t>{}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24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err="1" smtClean="0"/>
              <a:t>원시타입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r>
              <a:rPr lang="en-US" altLang="ko-KR" sz="2000" dirty="0" err="1" smtClean="0">
                <a:solidFill>
                  <a:prstClr val="black"/>
                </a:solidFill>
              </a:rPr>
              <a:t>myNumber</a:t>
            </a:r>
            <a:r>
              <a:rPr lang="ko-KR" altLang="en-US" sz="2000" dirty="0" smtClean="0">
                <a:solidFill>
                  <a:prstClr val="black"/>
                </a:solidFill>
              </a:rPr>
              <a:t>라는 </a:t>
            </a:r>
            <a:r>
              <a:rPr lang="ko-KR" altLang="en-US" sz="2000" dirty="0" err="1" smtClean="0">
                <a:solidFill>
                  <a:prstClr val="black"/>
                </a:solidFill>
              </a:rPr>
              <a:t>식별자를</a:t>
            </a:r>
            <a:r>
              <a:rPr lang="ko-KR" altLang="en-US" sz="2000" dirty="0" smtClean="0">
                <a:solidFill>
                  <a:prstClr val="black"/>
                </a:solidFill>
              </a:rPr>
              <a:t> 생성</a:t>
            </a:r>
            <a:endParaRPr lang="en-US" altLang="ko-KR" sz="2000" dirty="0" smtClean="0">
              <a:solidFill>
                <a:prstClr val="black"/>
              </a:solidFill>
            </a:endParaRPr>
          </a:p>
          <a:p>
            <a:r>
              <a:rPr lang="ko-KR" altLang="en-US" sz="2000" dirty="0" smtClean="0">
                <a:solidFill>
                  <a:prstClr val="black"/>
                </a:solidFill>
              </a:rPr>
              <a:t>메모리의 주소를 할당</a:t>
            </a:r>
            <a:r>
              <a:rPr lang="en-US" altLang="ko-KR" sz="2000" dirty="0" smtClean="0">
                <a:solidFill>
                  <a:prstClr val="black"/>
                </a:solidFill>
              </a:rPr>
              <a:t>(</a:t>
            </a:r>
            <a:r>
              <a:rPr lang="ko-KR" altLang="en-US" sz="2000" dirty="0" smtClean="0">
                <a:solidFill>
                  <a:prstClr val="black"/>
                </a:solidFill>
              </a:rPr>
              <a:t>런타임 시</a:t>
            </a:r>
            <a:r>
              <a:rPr lang="en-US" altLang="ko-KR" sz="2000" dirty="0" smtClean="0">
                <a:solidFill>
                  <a:prstClr val="black"/>
                </a:solidFill>
              </a:rPr>
              <a:t>)</a:t>
            </a:r>
          </a:p>
          <a:p>
            <a:r>
              <a:rPr lang="en-US" altLang="ko-KR" sz="2000" dirty="0" smtClean="0">
                <a:solidFill>
                  <a:prstClr val="black"/>
                </a:solidFill>
              </a:rPr>
              <a:t>23</a:t>
            </a:r>
            <a:r>
              <a:rPr lang="ko-KR" altLang="en-US" sz="2000" dirty="0" smtClean="0">
                <a:solidFill>
                  <a:prstClr val="black"/>
                </a:solidFill>
              </a:rPr>
              <a:t>이라는 숫자를 할당된 메모리 공간에 저장</a:t>
            </a:r>
            <a:endParaRPr lang="en-US" altLang="ko-KR" sz="20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2278195" y="1105538"/>
            <a:ext cx="7020313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let </a:t>
            </a:r>
            <a:r>
              <a:rPr lang="en-US" sz="2000" dirty="0" err="1">
                <a:solidFill>
                  <a:schemeClr val="tx1"/>
                </a:solidFill>
              </a:rPr>
              <a:t>myNumber</a:t>
            </a:r>
            <a:r>
              <a:rPr lang="en-US" sz="2000" dirty="0">
                <a:solidFill>
                  <a:schemeClr val="tx1"/>
                </a:solidFill>
              </a:rPr>
              <a:t> = 23</a:t>
            </a:r>
          </a:p>
        </p:txBody>
      </p:sp>
      <p:pic>
        <p:nvPicPr>
          <p:cNvPr id="1026" name="Picture 2" descr="https://miro.medium.com/max/1561/1*IiejRUFbks-TaOzJJvdoVw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320" y="3627459"/>
            <a:ext cx="6830131" cy="218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2135320" y="5910797"/>
            <a:ext cx="9303077" cy="7078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/>
              <a:t>“</a:t>
            </a:r>
            <a:r>
              <a:rPr lang="en-US" sz="2000" dirty="0" err="1">
                <a:solidFill>
                  <a:srgbClr val="0000FF"/>
                </a:solidFill>
              </a:rPr>
              <a:t>myNumber</a:t>
            </a:r>
            <a:r>
              <a:rPr lang="en-US" sz="2000" dirty="0">
                <a:solidFill>
                  <a:srgbClr val="0000FF"/>
                </a:solidFill>
              </a:rPr>
              <a:t> equals 23</a:t>
            </a:r>
            <a:r>
              <a:rPr lang="en-US" sz="2000" dirty="0" smtClean="0"/>
              <a:t>” </a:t>
            </a:r>
          </a:p>
          <a:p>
            <a:r>
              <a:rPr lang="en-US" sz="2000" dirty="0"/>
              <a:t>more technically </a:t>
            </a:r>
            <a:r>
              <a:rPr lang="en-US" sz="2000" dirty="0" smtClean="0">
                <a:sym typeface="Wingdings" panose="05000000000000000000" pitchFamily="2" charset="2"/>
              </a:rPr>
              <a:t> </a:t>
            </a:r>
            <a:r>
              <a:rPr lang="en-US" sz="2000" dirty="0" smtClean="0"/>
              <a:t>"</a:t>
            </a:r>
            <a:r>
              <a:rPr lang="en-US" sz="2000" dirty="0" smtClean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myNumber</a:t>
            </a:r>
            <a:r>
              <a:rPr lang="en-US" sz="2000" dirty="0">
                <a:solidFill>
                  <a:srgbClr val="0000FF"/>
                </a:solidFill>
              </a:rPr>
              <a:t> equals the memory address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that holds the value 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23</a:t>
            </a:r>
            <a:r>
              <a:rPr lang="en-US" sz="2000" dirty="0" smtClean="0"/>
              <a:t>"</a:t>
            </a:r>
            <a:endParaRPr lang="en-US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23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err="1" smtClean="0"/>
              <a:t>원시타입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r>
              <a:rPr lang="en-US" altLang="ko-KR" sz="2000" dirty="0" err="1" smtClean="0">
                <a:solidFill>
                  <a:prstClr val="black"/>
                </a:solidFill>
              </a:rPr>
              <a:t>myNumber</a:t>
            </a:r>
            <a:r>
              <a:rPr lang="ko-KR" altLang="en-US" sz="2000" dirty="0" smtClean="0">
                <a:solidFill>
                  <a:prstClr val="black"/>
                </a:solidFill>
              </a:rPr>
              <a:t>는 </a:t>
            </a:r>
            <a:r>
              <a:rPr lang="en-US" altLang="ko-KR" sz="2000" dirty="0" smtClean="0">
                <a:solidFill>
                  <a:prstClr val="black"/>
                </a:solidFill>
              </a:rPr>
              <a:t>"0012CCGWH80"</a:t>
            </a:r>
            <a:r>
              <a:rPr lang="ko-KR" altLang="en-US" sz="2000" dirty="0" smtClean="0">
                <a:solidFill>
                  <a:prstClr val="black"/>
                </a:solidFill>
              </a:rPr>
              <a:t>와 같기 때문에 새로운 변수 </a:t>
            </a:r>
            <a:r>
              <a:rPr lang="en-US" altLang="ko-KR" sz="2000" dirty="0" err="1" smtClean="0">
                <a:solidFill>
                  <a:prstClr val="black"/>
                </a:solidFill>
              </a:rPr>
              <a:t>newVar</a:t>
            </a:r>
            <a:r>
              <a:rPr lang="ko-KR" altLang="en-US" sz="2000" dirty="0" smtClean="0">
                <a:solidFill>
                  <a:prstClr val="black"/>
                </a:solidFill>
              </a:rPr>
              <a:t>도 </a:t>
            </a:r>
            <a:r>
              <a:rPr lang="en-US" altLang="ko-KR" sz="2000" dirty="0" smtClean="0">
                <a:solidFill>
                  <a:prstClr val="black"/>
                </a:solidFill>
              </a:rPr>
              <a:t>23</a:t>
            </a:r>
            <a:r>
              <a:rPr lang="ko-KR" altLang="en-US" sz="2000" dirty="0" smtClean="0">
                <a:solidFill>
                  <a:prstClr val="black"/>
                </a:solidFill>
              </a:rPr>
              <a:t>이라는 변수를 저장하는 메모리 공간의 주소 </a:t>
            </a:r>
            <a:r>
              <a:rPr lang="en-US" altLang="ko-KR" sz="2000" dirty="0" smtClean="0">
                <a:solidFill>
                  <a:prstClr val="black"/>
                </a:solidFill>
              </a:rPr>
              <a:t>"0012CCGWH80"</a:t>
            </a:r>
            <a:r>
              <a:rPr lang="ko-KR" altLang="en-US" sz="2000" dirty="0" smtClean="0">
                <a:solidFill>
                  <a:prstClr val="black"/>
                </a:solidFill>
              </a:rPr>
              <a:t>와 같음</a:t>
            </a:r>
            <a:endParaRPr lang="en-US" altLang="ko-KR" sz="2000" dirty="0" smtClean="0">
              <a:solidFill>
                <a:prstClr val="black"/>
              </a:solidFill>
            </a:endParaRPr>
          </a:p>
          <a:p>
            <a:endParaRPr lang="en-US" altLang="ko-KR" sz="2000" dirty="0">
              <a:solidFill>
                <a:prstClr val="black"/>
              </a:solidFill>
            </a:endParaRPr>
          </a:p>
          <a:p>
            <a:endParaRPr lang="en-US" altLang="ko-KR" sz="2000" dirty="0" smtClean="0">
              <a:solidFill>
                <a:prstClr val="black"/>
              </a:solidFill>
            </a:endParaRPr>
          </a:p>
          <a:p>
            <a:endParaRPr lang="en-US" altLang="ko-KR" sz="2000" dirty="0">
              <a:solidFill>
                <a:prstClr val="black"/>
              </a:solidFill>
            </a:endParaRPr>
          </a:p>
          <a:p>
            <a:endParaRPr lang="en-US" altLang="ko-KR" sz="2000" dirty="0" smtClean="0">
              <a:solidFill>
                <a:prstClr val="black"/>
              </a:solidFill>
            </a:endParaRPr>
          </a:p>
          <a:p>
            <a:r>
              <a:rPr lang="ko-KR" altLang="en-US" sz="2000" dirty="0" smtClean="0">
                <a:solidFill>
                  <a:prstClr val="black"/>
                </a:solidFill>
              </a:rPr>
              <a:t>따라서 우리는 일반적으로 </a:t>
            </a:r>
            <a:r>
              <a:rPr lang="en-US" altLang="ko-KR" sz="2000" dirty="0" smtClean="0">
                <a:solidFill>
                  <a:prstClr val="black"/>
                </a:solidFill>
              </a:rPr>
              <a:t>"</a:t>
            </a:r>
            <a:r>
              <a:rPr lang="en-US" altLang="ko-KR" sz="2000" dirty="0">
                <a:solidFill>
                  <a:prstClr val="black"/>
                </a:solidFill>
              </a:rPr>
              <a:t> </a:t>
            </a:r>
            <a:r>
              <a:rPr lang="en-US" altLang="ko-KR" sz="2000" dirty="0" err="1">
                <a:solidFill>
                  <a:prstClr val="black"/>
                </a:solidFill>
              </a:rPr>
              <a:t>newVar</a:t>
            </a:r>
            <a:r>
              <a:rPr lang="ko-KR" altLang="en-US" sz="2000" dirty="0" smtClean="0">
                <a:solidFill>
                  <a:prstClr val="black"/>
                </a:solidFill>
              </a:rPr>
              <a:t>는 </a:t>
            </a:r>
            <a:r>
              <a:rPr lang="en-US" altLang="ko-KR" sz="2000" dirty="0" smtClean="0">
                <a:solidFill>
                  <a:prstClr val="black"/>
                </a:solidFill>
              </a:rPr>
              <a:t>23</a:t>
            </a:r>
            <a:r>
              <a:rPr lang="ko-KR" altLang="en-US" sz="2000" dirty="0" smtClean="0">
                <a:solidFill>
                  <a:prstClr val="black"/>
                </a:solidFill>
              </a:rPr>
              <a:t>과</a:t>
            </a:r>
            <a:r>
              <a:rPr lang="en-US" altLang="ko-KR" sz="2000" dirty="0" smtClean="0">
                <a:solidFill>
                  <a:prstClr val="black"/>
                </a:solidFill>
              </a:rPr>
              <a:t> </a:t>
            </a:r>
            <a:r>
              <a:rPr lang="ko-KR" altLang="en-US" sz="2000" dirty="0" smtClean="0">
                <a:solidFill>
                  <a:prstClr val="black"/>
                </a:solidFill>
              </a:rPr>
              <a:t>같다</a:t>
            </a:r>
            <a:r>
              <a:rPr lang="en-US" altLang="ko-KR" sz="2000" dirty="0" smtClean="0">
                <a:solidFill>
                  <a:prstClr val="black"/>
                </a:solidFill>
              </a:rPr>
              <a:t>"</a:t>
            </a:r>
            <a:r>
              <a:rPr lang="ko-KR" altLang="en-US" sz="2000" dirty="0" smtClean="0">
                <a:solidFill>
                  <a:prstClr val="black"/>
                </a:solidFill>
              </a:rPr>
              <a:t>라고 말할 수 있음</a:t>
            </a:r>
            <a:endParaRPr lang="en-US" altLang="ko-KR" sz="20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2278195" y="1105538"/>
            <a:ext cx="7020313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let </a:t>
            </a:r>
            <a:r>
              <a:rPr lang="en-US" sz="2000" dirty="0" err="1">
                <a:solidFill>
                  <a:schemeClr val="tx1"/>
                </a:solidFill>
              </a:rPr>
              <a:t>newVar</a:t>
            </a:r>
            <a:r>
              <a:rPr lang="en-US" sz="2000" dirty="0">
                <a:solidFill>
                  <a:schemeClr val="tx1"/>
                </a:solidFill>
              </a:rPr>
              <a:t> = </a:t>
            </a:r>
            <a:r>
              <a:rPr lang="en-US" sz="2000" dirty="0" err="1">
                <a:solidFill>
                  <a:schemeClr val="tx1"/>
                </a:solidFill>
              </a:rPr>
              <a:t>myNumber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050" name="Picture 2" descr="https://miro.medium.com/max/1564/1*AaUqtuwa2BZiI73bV9RHmA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195" y="3057407"/>
            <a:ext cx="6792445" cy="217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10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err="1" smtClean="0"/>
              <a:t>원시타입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r>
              <a:rPr lang="en-US" altLang="ko-KR" sz="2000" dirty="0" err="1" smtClean="0">
                <a:solidFill>
                  <a:prstClr val="black"/>
                </a:solidFill>
              </a:rPr>
              <a:t>myNumber</a:t>
            </a:r>
            <a:r>
              <a:rPr lang="ko-KR" altLang="en-US" sz="2000" dirty="0" smtClean="0">
                <a:solidFill>
                  <a:prstClr val="black"/>
                </a:solidFill>
              </a:rPr>
              <a:t>는</a:t>
            </a:r>
            <a:r>
              <a:rPr lang="en-US" altLang="ko-KR" sz="2000" dirty="0" smtClean="0">
                <a:solidFill>
                  <a:prstClr val="black"/>
                </a:solidFill>
              </a:rPr>
              <a:t>24</a:t>
            </a:r>
            <a:r>
              <a:rPr lang="ko-KR" altLang="en-US" sz="2000" dirty="0" smtClean="0">
                <a:solidFill>
                  <a:prstClr val="black"/>
                </a:solidFill>
              </a:rPr>
              <a:t>라는 값을 가짐</a:t>
            </a:r>
            <a:endParaRPr lang="en-US" altLang="ko-KR" sz="2000" dirty="0" smtClean="0">
              <a:solidFill>
                <a:prstClr val="black"/>
              </a:solidFill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</a:rPr>
              <a:t>24</a:t>
            </a:r>
            <a:r>
              <a:rPr lang="ko-KR" altLang="en-US" sz="2000" dirty="0" smtClean="0">
                <a:solidFill>
                  <a:prstClr val="black"/>
                </a:solidFill>
              </a:rPr>
              <a:t>는 원래 공간에 있는 </a:t>
            </a:r>
            <a:r>
              <a:rPr lang="en-US" altLang="ko-KR" sz="2000" dirty="0" smtClean="0">
                <a:solidFill>
                  <a:prstClr val="black"/>
                </a:solidFill>
              </a:rPr>
              <a:t>23</a:t>
            </a:r>
            <a:r>
              <a:rPr lang="ko-KR" altLang="en-US" sz="2000" dirty="0" smtClean="0">
                <a:solidFill>
                  <a:prstClr val="black"/>
                </a:solidFill>
              </a:rPr>
              <a:t>이 </a:t>
            </a:r>
            <a:r>
              <a:rPr lang="en-US" altLang="ko-KR" sz="2000" dirty="0" smtClean="0">
                <a:solidFill>
                  <a:prstClr val="black"/>
                </a:solidFill>
              </a:rPr>
              <a:t>24</a:t>
            </a:r>
            <a:r>
              <a:rPr lang="ko-KR" altLang="en-US" sz="2000" dirty="0" smtClean="0">
                <a:solidFill>
                  <a:prstClr val="black"/>
                </a:solidFill>
              </a:rPr>
              <a:t>로 변한 것인가</a:t>
            </a:r>
            <a:r>
              <a:rPr lang="en-US" altLang="ko-KR" sz="2000" dirty="0" smtClean="0">
                <a:solidFill>
                  <a:prstClr val="black"/>
                </a:solidFill>
              </a:rPr>
              <a:t>? </a:t>
            </a:r>
            <a:r>
              <a:rPr lang="ko-KR" altLang="en-US" sz="2000" dirty="0" smtClean="0">
                <a:solidFill>
                  <a:prstClr val="black"/>
                </a:solidFill>
              </a:rPr>
              <a:t>아니면 새로운 공간에 </a:t>
            </a:r>
            <a:r>
              <a:rPr lang="en-US" altLang="ko-KR" sz="2000" dirty="0" smtClean="0">
                <a:solidFill>
                  <a:prstClr val="black"/>
                </a:solidFill>
              </a:rPr>
              <a:t>24</a:t>
            </a:r>
            <a:r>
              <a:rPr lang="ko-KR" altLang="en-US" sz="2000" dirty="0" smtClean="0">
                <a:solidFill>
                  <a:prstClr val="black"/>
                </a:solidFill>
              </a:rPr>
              <a:t>라는 값이 생긴 것인가</a:t>
            </a:r>
            <a:r>
              <a:rPr lang="en-US" altLang="ko-KR" sz="2000" dirty="0" smtClean="0">
                <a:solidFill>
                  <a:prstClr val="black"/>
                </a:solidFill>
              </a:rPr>
              <a:t>?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5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2278195" y="1105538"/>
            <a:ext cx="7020313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myNumber</a:t>
            </a:r>
            <a:r>
              <a:rPr lang="en-US" sz="2000" dirty="0">
                <a:solidFill>
                  <a:schemeClr val="tx1"/>
                </a:solidFill>
              </a:rPr>
              <a:t> = </a:t>
            </a:r>
            <a:r>
              <a:rPr lang="en-US" sz="2000" dirty="0" err="1">
                <a:solidFill>
                  <a:schemeClr val="tx1"/>
                </a:solidFill>
              </a:rPr>
              <a:t>myNumber</a:t>
            </a:r>
            <a:r>
              <a:rPr lang="en-US" sz="2000" dirty="0">
                <a:solidFill>
                  <a:schemeClr val="tx1"/>
                </a:solidFill>
              </a:rPr>
              <a:t> + 1</a:t>
            </a:r>
          </a:p>
        </p:txBody>
      </p:sp>
      <p:pic>
        <p:nvPicPr>
          <p:cNvPr id="3074" name="Picture 2" descr="https://miro.medium.com/max/1512/1*awL1xpr8cDNV7AaxiaA7YQ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92" y="3446418"/>
            <a:ext cx="8071917" cy="266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981139" y="4781060"/>
            <a:ext cx="31133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원시</a:t>
            </a:r>
            <a:r>
              <a:rPr lang="en-US" altLang="ko-KR" dirty="0" smtClean="0"/>
              <a:t>(primitive)</a:t>
            </a:r>
            <a:r>
              <a:rPr lang="ko-KR" altLang="en-US" dirty="0" smtClean="0"/>
              <a:t>타입은</a:t>
            </a:r>
            <a:endParaRPr lang="en-US" altLang="ko-KR" dirty="0" smtClean="0"/>
          </a:p>
          <a:p>
            <a:r>
              <a:rPr lang="ko-KR" altLang="en-US" dirty="0" smtClean="0"/>
              <a:t>값이 변하지 않는다라는 의미</a:t>
            </a:r>
            <a:endParaRPr lang="en-US" altLang="ko-KR" dirty="0" smtClean="0"/>
          </a:p>
          <a:p>
            <a:r>
              <a:rPr lang="en-US" dirty="0" smtClean="0"/>
              <a:t>(immutable)</a:t>
            </a:r>
            <a:endParaRPr lang="en-US" dirty="0"/>
          </a:p>
        </p:txBody>
      </p:sp>
      <p:sp>
        <p:nvSpPr>
          <p:cNvPr id="7" name="타원 6"/>
          <p:cNvSpPr/>
          <p:nvPr/>
        </p:nvSpPr>
        <p:spPr>
          <a:xfrm>
            <a:off x="7258050" y="4781060"/>
            <a:ext cx="428625" cy="43864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타원 9"/>
          <p:cNvSpPr/>
          <p:nvPr/>
        </p:nvSpPr>
        <p:spPr>
          <a:xfrm>
            <a:off x="7258050" y="5343035"/>
            <a:ext cx="428625" cy="43864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구부러진 연결선 8"/>
          <p:cNvCxnSpPr>
            <a:stCxn id="7" idx="6"/>
          </p:cNvCxnSpPr>
          <p:nvPr/>
        </p:nvCxnSpPr>
        <p:spPr>
          <a:xfrm>
            <a:off x="7686675" y="5000380"/>
            <a:ext cx="12700" cy="562220"/>
          </a:xfrm>
          <a:prstGeom prst="curvedConnector4">
            <a:avLst>
              <a:gd name="adj1" fmla="val 2850000"/>
              <a:gd name="adj2" fmla="val 695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13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err="1" smtClean="0"/>
              <a:t>원시타입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r>
              <a:rPr lang="en-US" altLang="ko-KR" sz="2000" dirty="0" smtClean="0">
                <a:solidFill>
                  <a:prstClr val="black"/>
                </a:solidFill>
              </a:rPr>
              <a:t>"</a:t>
            </a:r>
            <a:r>
              <a:rPr lang="en-US" altLang="ko-KR" sz="2000" dirty="0" err="1" smtClean="0">
                <a:solidFill>
                  <a:prstClr val="black"/>
                </a:solidFill>
              </a:rPr>
              <a:t>abc</a:t>
            </a:r>
            <a:r>
              <a:rPr lang="en-US" altLang="ko-KR" sz="2000" dirty="0" smtClean="0">
                <a:solidFill>
                  <a:prstClr val="black"/>
                </a:solidFill>
              </a:rPr>
              <a:t>"</a:t>
            </a:r>
            <a:r>
              <a:rPr lang="ko-KR" altLang="en-US" sz="2000" dirty="0" smtClean="0">
                <a:solidFill>
                  <a:prstClr val="black"/>
                </a:solidFill>
              </a:rPr>
              <a:t>라는 문자열에 </a:t>
            </a:r>
            <a:r>
              <a:rPr lang="en-US" altLang="ko-KR" sz="2000" dirty="0" smtClean="0">
                <a:solidFill>
                  <a:prstClr val="black"/>
                </a:solidFill>
              </a:rPr>
              <a:t>"d"</a:t>
            </a:r>
            <a:r>
              <a:rPr lang="ko-KR" altLang="en-US" sz="2000" dirty="0" smtClean="0">
                <a:solidFill>
                  <a:prstClr val="black"/>
                </a:solidFill>
              </a:rPr>
              <a:t>라는</a:t>
            </a:r>
            <a:r>
              <a:rPr lang="en-US" altLang="ko-KR" sz="2000" dirty="0" smtClean="0">
                <a:solidFill>
                  <a:prstClr val="black"/>
                </a:solidFill>
              </a:rPr>
              <a:t> </a:t>
            </a:r>
            <a:r>
              <a:rPr lang="ko-KR" altLang="en-US" sz="2000" dirty="0" smtClean="0">
                <a:solidFill>
                  <a:prstClr val="black"/>
                </a:solidFill>
              </a:rPr>
              <a:t>문자열이 붙여졌다고 생각할 수 있으나 </a:t>
            </a:r>
            <a:r>
              <a:rPr lang="en-US" altLang="ko-KR" sz="2000" dirty="0" smtClean="0">
                <a:solidFill>
                  <a:prstClr val="black"/>
                </a:solidFill>
              </a:rPr>
              <a:t>"</a:t>
            </a:r>
            <a:r>
              <a:rPr lang="en-US" altLang="ko-KR" sz="2000" dirty="0" err="1" smtClean="0">
                <a:solidFill>
                  <a:prstClr val="black"/>
                </a:solidFill>
              </a:rPr>
              <a:t>abcd</a:t>
            </a:r>
            <a:r>
              <a:rPr lang="en-US" altLang="ko-KR" sz="2000" dirty="0" smtClean="0">
                <a:solidFill>
                  <a:prstClr val="black"/>
                </a:solidFill>
              </a:rPr>
              <a:t>"</a:t>
            </a:r>
            <a:r>
              <a:rPr lang="ko-KR" altLang="en-US" sz="2000" dirty="0" smtClean="0">
                <a:solidFill>
                  <a:prstClr val="black"/>
                </a:solidFill>
              </a:rPr>
              <a:t>라는</a:t>
            </a:r>
            <a:r>
              <a:rPr lang="en-US" altLang="ko-KR" sz="2000" dirty="0" smtClean="0">
                <a:solidFill>
                  <a:prstClr val="black"/>
                </a:solidFill>
              </a:rPr>
              <a:t> </a:t>
            </a:r>
            <a:r>
              <a:rPr lang="ko-KR" altLang="en-US" sz="2000" dirty="0" smtClean="0">
                <a:solidFill>
                  <a:prstClr val="black"/>
                </a:solidFill>
              </a:rPr>
              <a:t>새로운 </a:t>
            </a:r>
            <a:r>
              <a:rPr lang="ko-KR" altLang="en-US" sz="2000" dirty="0" err="1" smtClean="0">
                <a:solidFill>
                  <a:prstClr val="black"/>
                </a:solidFill>
              </a:rPr>
              <a:t>원시타입</a:t>
            </a:r>
            <a:r>
              <a:rPr lang="ko-KR" altLang="en-US" sz="2000" dirty="0" smtClean="0">
                <a:solidFill>
                  <a:prstClr val="black"/>
                </a:solidFill>
              </a:rPr>
              <a:t> 값이 할당된 것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2278195" y="1105538"/>
            <a:ext cx="7020313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sz="2000" dirty="0">
                <a:solidFill>
                  <a:schemeClr val="tx1"/>
                </a:solidFill>
              </a:rPr>
              <a:t>let myString = 'abc'</a:t>
            </a:r>
          </a:p>
          <a:p>
            <a:pPr algn="ctr"/>
            <a:r>
              <a:rPr lang="sv-SE" sz="2000" dirty="0">
                <a:solidFill>
                  <a:schemeClr val="tx1"/>
                </a:solidFill>
              </a:rPr>
              <a:t>myString = myString + 'd'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098" name="Picture 2" descr="https://miro.medium.com/max/1483/1*WQHSspJDrPGOQ9L8R01jmw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889" y="2992712"/>
            <a:ext cx="7949874" cy="2680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064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메모리 모델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7</a:t>
            </a:fld>
            <a:endParaRPr 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2032000" y="735568"/>
            <a:ext cx="7746645" cy="5855732"/>
            <a:chOff x="2032000" y="735568"/>
            <a:chExt cx="7746645" cy="5855732"/>
          </a:xfrm>
        </p:grpSpPr>
        <p:pic>
          <p:nvPicPr>
            <p:cNvPr id="5124" name="Picture 4" descr="https://miro.medium.com/max/1270/1*E5Y5QBkntO31o4Al2-_YOA.jpe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2000" y="735568"/>
              <a:ext cx="7746645" cy="5855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2743200" y="2754868"/>
              <a:ext cx="1210588" cy="40011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ko-KR" altLang="en-US" sz="2000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원시타입</a:t>
              </a:r>
              <a:endParaRPr lang="en-US" sz="20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29475" y="2647146"/>
              <a:ext cx="1878656" cy="101566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참조타입</a:t>
              </a:r>
              <a:endParaRPr lang="en-US" altLang="ko-KR" sz="2000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ko-KR" altLang="en-US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배열과 객체</a:t>
              </a:r>
              <a:endParaRPr lang="en-US" altLang="ko-KR" sz="2000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en-US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array and object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002458" y="4086249"/>
              <a:ext cx="180209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solidFill>
                    <a:srgbClr val="FF0000"/>
                  </a:solidFill>
                </a:rPr>
                <a:t>동적으로</a:t>
              </a:r>
              <a:r>
                <a:rPr lang="ko-KR" altLang="en-US" dirty="0" smtClean="0"/>
                <a:t> </a:t>
              </a:r>
              <a:endParaRPr lang="en-US" altLang="ko-KR" dirty="0" smtClean="0"/>
            </a:p>
            <a:p>
              <a:r>
                <a:rPr lang="ko-KR" altLang="en-US" dirty="0" smtClean="0"/>
                <a:t>생성</a:t>
              </a:r>
              <a:r>
                <a:rPr lang="en-US" altLang="ko-KR" dirty="0" smtClean="0"/>
                <a:t>/</a:t>
              </a:r>
              <a:r>
                <a:rPr lang="ko-KR" altLang="en-US" dirty="0" smtClean="0"/>
                <a:t>성장</a:t>
              </a:r>
              <a:r>
                <a:rPr lang="en-US" altLang="ko-KR" dirty="0" smtClean="0"/>
                <a:t>/</a:t>
              </a:r>
              <a:r>
                <a:rPr lang="ko-KR" altLang="en-US" dirty="0" smtClean="0"/>
                <a:t>축소 </a:t>
              </a:r>
              <a:endParaRPr lang="en-US" altLang="ko-KR" dirty="0" smtClean="0"/>
            </a:p>
            <a:p>
              <a:r>
                <a:rPr lang="ko-KR" altLang="en-US" dirty="0" smtClean="0"/>
                <a:t>가능한 데이터</a:t>
              </a:r>
              <a:endParaRPr lang="en-US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419225" y="687943"/>
            <a:ext cx="4191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CALL STACK</a:t>
            </a:r>
            <a:r>
              <a:rPr lang="ko-KR" altLang="en-US" dirty="0" smtClean="0"/>
              <a:t>은 스택영역으로 생각하면 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29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메모리 모델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r>
              <a:rPr lang="en-US" sz="2000" dirty="0" err="1" smtClean="0">
                <a:solidFill>
                  <a:prstClr val="black"/>
                </a:solidFill>
              </a:rPr>
              <a:t>myArray</a:t>
            </a:r>
            <a:r>
              <a:rPr lang="ko-KR" altLang="en-US" sz="2000" dirty="0" smtClean="0">
                <a:solidFill>
                  <a:prstClr val="black"/>
                </a:solidFill>
              </a:rPr>
              <a:t>라는 </a:t>
            </a:r>
            <a:r>
              <a:rPr lang="ko-KR" altLang="en-US" sz="2000" dirty="0" err="1" smtClean="0">
                <a:solidFill>
                  <a:prstClr val="black"/>
                </a:solidFill>
              </a:rPr>
              <a:t>식별자를</a:t>
            </a:r>
            <a:r>
              <a:rPr lang="ko-KR" altLang="en-US" sz="2000" dirty="0" smtClean="0">
                <a:solidFill>
                  <a:prstClr val="black"/>
                </a:solidFill>
              </a:rPr>
              <a:t> 선언</a:t>
            </a:r>
            <a:endParaRPr lang="en-US" altLang="ko-KR" sz="2000" dirty="0" smtClean="0">
              <a:solidFill>
                <a:prstClr val="black"/>
              </a:solidFill>
            </a:endParaRPr>
          </a:p>
          <a:p>
            <a:r>
              <a:rPr lang="ko-KR" altLang="en-US" sz="2000" dirty="0" smtClean="0">
                <a:solidFill>
                  <a:prstClr val="black"/>
                </a:solidFill>
              </a:rPr>
              <a:t>메모리의 주소를 할당</a:t>
            </a:r>
            <a:r>
              <a:rPr lang="en-US" altLang="ko-KR" sz="2000" dirty="0" smtClean="0">
                <a:solidFill>
                  <a:prstClr val="black"/>
                </a:solidFill>
              </a:rPr>
              <a:t>(</a:t>
            </a:r>
            <a:r>
              <a:rPr lang="ko-KR" altLang="en-US" sz="2000" dirty="0" smtClean="0">
                <a:solidFill>
                  <a:prstClr val="black"/>
                </a:solidFill>
              </a:rPr>
              <a:t>런타임 시</a:t>
            </a:r>
            <a:r>
              <a:rPr lang="en-US" altLang="ko-KR" sz="2000" dirty="0" smtClean="0">
                <a:solidFill>
                  <a:prstClr val="black"/>
                </a:solidFill>
              </a:rPr>
              <a:t>)</a:t>
            </a:r>
          </a:p>
          <a:p>
            <a:r>
              <a:rPr lang="ko-KR" altLang="en-US" sz="2000" dirty="0" err="1" smtClean="0">
                <a:solidFill>
                  <a:prstClr val="black"/>
                </a:solidFill>
              </a:rPr>
              <a:t>힙</a:t>
            </a:r>
            <a:r>
              <a:rPr lang="ko-KR" altLang="en-US" sz="2000" dirty="0" smtClean="0">
                <a:solidFill>
                  <a:prstClr val="black"/>
                </a:solidFill>
              </a:rPr>
              <a:t> 메모에 할당된 주소를 값으로 저장</a:t>
            </a:r>
            <a:r>
              <a:rPr lang="en-US" altLang="ko-KR" sz="2000" dirty="0" smtClean="0">
                <a:solidFill>
                  <a:prstClr val="black"/>
                </a:solidFill>
              </a:rPr>
              <a:t>(</a:t>
            </a:r>
            <a:r>
              <a:rPr lang="en-US" altLang="ko-KR" sz="2000" dirty="0" smtClean="0">
                <a:solidFill>
                  <a:prstClr val="black"/>
                </a:solidFill>
                <a:sym typeface="Wingdings" panose="05000000000000000000" pitchFamily="2" charset="2"/>
              </a:rPr>
              <a:t></a:t>
            </a:r>
            <a:r>
              <a:rPr lang="ko-KR" altLang="en-US" sz="2000" dirty="0" smtClean="0">
                <a:solidFill>
                  <a:prstClr val="black"/>
                </a:solidFill>
              </a:rPr>
              <a:t>위 예에서는 </a:t>
            </a:r>
            <a:r>
              <a:rPr lang="en-US" altLang="ko-KR" sz="2000" dirty="0" smtClean="0">
                <a:solidFill>
                  <a:prstClr val="black"/>
                </a:solidFill>
              </a:rPr>
              <a:t>23</a:t>
            </a:r>
            <a:r>
              <a:rPr lang="ko-KR" altLang="en-US" sz="2000" dirty="0" smtClean="0">
                <a:solidFill>
                  <a:prstClr val="black"/>
                </a:solidFill>
              </a:rPr>
              <a:t>을 값으로 저장</a:t>
            </a:r>
            <a:r>
              <a:rPr lang="en-US" altLang="ko-KR" sz="2000" dirty="0" smtClean="0">
                <a:solidFill>
                  <a:prstClr val="black"/>
                </a:solidFill>
              </a:rPr>
              <a:t>)</a:t>
            </a:r>
          </a:p>
          <a:p>
            <a:r>
              <a:rPr lang="ko-KR" altLang="en-US" sz="2000" dirty="0" err="1" smtClean="0">
                <a:solidFill>
                  <a:prstClr val="black"/>
                </a:solidFill>
              </a:rPr>
              <a:t>힙</a:t>
            </a:r>
            <a:r>
              <a:rPr lang="ko-KR" altLang="en-US" sz="2000" dirty="0" smtClean="0">
                <a:solidFill>
                  <a:prstClr val="black"/>
                </a:solidFill>
              </a:rPr>
              <a:t> 공간에 값</a:t>
            </a:r>
            <a:r>
              <a:rPr lang="en-US" altLang="ko-KR" sz="2000" dirty="0" smtClean="0">
                <a:solidFill>
                  <a:prstClr val="black"/>
                </a:solidFill>
              </a:rPr>
              <a:t>, </a:t>
            </a:r>
            <a:r>
              <a:rPr lang="ko-KR" altLang="en-US" sz="2000" dirty="0" smtClean="0">
                <a:solidFill>
                  <a:prstClr val="black"/>
                </a:solidFill>
              </a:rPr>
              <a:t>즉 </a:t>
            </a:r>
            <a:r>
              <a:rPr lang="en-US" altLang="ko-KR" sz="2000" dirty="0" smtClean="0">
                <a:solidFill>
                  <a:prstClr val="black"/>
                </a:solidFill>
              </a:rPr>
              <a:t>[]</a:t>
            </a:r>
            <a:r>
              <a:rPr lang="ko-KR" altLang="en-US" sz="2000" dirty="0" smtClean="0">
                <a:solidFill>
                  <a:prstClr val="black"/>
                </a:solidFill>
              </a:rPr>
              <a:t>을 할당</a:t>
            </a:r>
            <a:endParaRPr lang="en-US" sz="19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8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2278195" y="762638"/>
            <a:ext cx="7020313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sv-SE" sz="2000" dirty="0">
                <a:solidFill>
                  <a:schemeClr val="tx1"/>
                </a:solidFill>
              </a:rPr>
              <a:t>let myArray = []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6146" name="Picture 2" descr="https://miro.medium.com/max/1455/1*CPnnVIgE0tQVbxIja_C-_A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7" b="8546"/>
          <a:stretch/>
        </p:blipFill>
        <p:spPr bwMode="auto">
          <a:xfrm>
            <a:off x="730407" y="3600450"/>
            <a:ext cx="10704388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81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메모리 모델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9</a:t>
            </a:fld>
            <a:endParaRPr lang="en-US"/>
          </a:p>
        </p:txBody>
      </p:sp>
      <p:pic>
        <p:nvPicPr>
          <p:cNvPr id="7170" name="Picture 2" descr="https://miro.medium.com/max/1270/1*0x_h4Q0eu-rpA0YxHJBJdg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5"/>
          <a:stretch/>
        </p:blipFill>
        <p:spPr bwMode="auto">
          <a:xfrm>
            <a:off x="2155825" y="542925"/>
            <a:ext cx="8750300" cy="631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01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메모리 모델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400058" y="983365"/>
            <a:ext cx="2941505" cy="16312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sv-SE" sz="2000" dirty="0">
                <a:solidFill>
                  <a:schemeClr val="tx1"/>
                </a:solidFill>
              </a:rPr>
              <a:t>myArray.push("first")</a:t>
            </a:r>
          </a:p>
          <a:p>
            <a:r>
              <a:rPr lang="sv-SE" sz="2000" dirty="0">
                <a:solidFill>
                  <a:schemeClr val="tx1"/>
                </a:solidFill>
              </a:rPr>
              <a:t>myArray.push("second")</a:t>
            </a:r>
          </a:p>
          <a:p>
            <a:r>
              <a:rPr lang="sv-SE" sz="2000" dirty="0">
                <a:solidFill>
                  <a:schemeClr val="tx1"/>
                </a:solidFill>
              </a:rPr>
              <a:t>myArray.push("third")</a:t>
            </a:r>
          </a:p>
          <a:p>
            <a:r>
              <a:rPr lang="sv-SE" sz="2000" dirty="0">
                <a:solidFill>
                  <a:schemeClr val="tx1"/>
                </a:solidFill>
              </a:rPr>
              <a:t>myArray.push("fourth")</a:t>
            </a:r>
          </a:p>
          <a:p>
            <a:r>
              <a:rPr lang="sv-SE" sz="2000" dirty="0">
                <a:solidFill>
                  <a:schemeClr val="tx1"/>
                </a:solidFill>
              </a:rPr>
              <a:t>myArray.pop()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8194" name="Picture 2" descr="https://miro.medium.com/max/1270/1*XfqW2Xh5oJrChzhRAauf9Q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8" t="4834" r="2699" b="4962"/>
          <a:stretch/>
        </p:blipFill>
        <p:spPr bwMode="auto">
          <a:xfrm>
            <a:off x="3495675" y="401240"/>
            <a:ext cx="8391525" cy="605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687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vs. </a:t>
            </a:r>
            <a:r>
              <a:rPr lang="en-US" dirty="0" err="1"/>
              <a:t>const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prstClr val="black"/>
                </a:solidFill>
              </a:rPr>
              <a:t>일반적으로 되도록이면 </a:t>
            </a:r>
            <a:r>
              <a:rPr lang="en-US" altLang="ko-KR" sz="2000" b="1" dirty="0" err="1" smtClean="0">
                <a:solidFill>
                  <a:prstClr val="black"/>
                </a:solidFill>
              </a:rPr>
              <a:t>const</a:t>
            </a:r>
            <a:r>
              <a:rPr lang="ko-KR" altLang="en-US" sz="2000" dirty="0" smtClean="0">
                <a:solidFill>
                  <a:prstClr val="black"/>
                </a:solidFill>
              </a:rPr>
              <a:t>를 사용하고</a:t>
            </a:r>
            <a:r>
              <a:rPr lang="en-US" altLang="ko-KR" sz="2000" dirty="0" smtClean="0">
                <a:solidFill>
                  <a:prstClr val="black"/>
                </a:solidFill>
              </a:rPr>
              <a:t>, </a:t>
            </a:r>
            <a:r>
              <a:rPr lang="ko-KR" altLang="en-US" sz="2000" dirty="0" smtClean="0">
                <a:solidFill>
                  <a:prstClr val="black"/>
                </a:solidFill>
              </a:rPr>
              <a:t>변수가 </a:t>
            </a:r>
            <a:r>
              <a:rPr lang="ko-KR" altLang="en-US" sz="2000" dirty="0" smtClean="0">
                <a:solidFill>
                  <a:srgbClr val="0000FF"/>
                </a:solidFill>
              </a:rPr>
              <a:t>변경될 가능성</a:t>
            </a:r>
            <a:r>
              <a:rPr lang="ko-KR" altLang="en-US" sz="2000" dirty="0" smtClean="0">
                <a:solidFill>
                  <a:prstClr val="black"/>
                </a:solidFill>
              </a:rPr>
              <a:t>이 있다면 </a:t>
            </a:r>
            <a:r>
              <a:rPr lang="en-US" altLang="ko-KR" sz="2000" b="1" dirty="0" smtClean="0">
                <a:solidFill>
                  <a:prstClr val="black"/>
                </a:solidFill>
              </a:rPr>
              <a:t>let</a:t>
            </a:r>
            <a:r>
              <a:rPr lang="ko-KR" altLang="en-US" sz="2000" dirty="0" smtClean="0">
                <a:solidFill>
                  <a:prstClr val="black"/>
                </a:solidFill>
              </a:rPr>
              <a:t>을 사용</a:t>
            </a:r>
            <a:endParaRPr lang="en-US" altLang="ko-KR" sz="2000" dirty="0" smtClean="0">
              <a:solidFill>
                <a:prstClr val="black"/>
              </a:solidFill>
            </a:endParaRPr>
          </a:p>
          <a:p>
            <a:r>
              <a:rPr lang="ko-KR" altLang="en-US" sz="2000" dirty="0" smtClean="0"/>
              <a:t>변경된다</a:t>
            </a:r>
            <a:r>
              <a:rPr lang="en-US" altLang="ko-KR" sz="2000" dirty="0" smtClean="0"/>
              <a:t>?</a:t>
            </a:r>
            <a:endParaRPr lang="en-US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658946" y="1953263"/>
            <a:ext cx="3084380" cy="255454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let sum = 0</a:t>
            </a:r>
          </a:p>
          <a:p>
            <a:r>
              <a:rPr lang="en-US" sz="2000" dirty="0">
                <a:solidFill>
                  <a:schemeClr val="tx1"/>
                </a:solidFill>
              </a:rPr>
              <a:t>sum = 1 + 2 + 3 + 4 + 5</a:t>
            </a:r>
          </a:p>
          <a:p>
            <a:r>
              <a:rPr lang="en-US" sz="2000" dirty="0">
                <a:solidFill>
                  <a:schemeClr val="tx1"/>
                </a:solidFill>
              </a:rPr>
              <a:t>let numbers = []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numbers.push</a:t>
            </a:r>
            <a:r>
              <a:rPr lang="en-US" sz="2000" dirty="0">
                <a:solidFill>
                  <a:schemeClr val="tx1"/>
                </a:solidFill>
              </a:rPr>
              <a:t>(1)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numbers.push</a:t>
            </a:r>
            <a:r>
              <a:rPr lang="en-US" sz="2000" dirty="0">
                <a:solidFill>
                  <a:schemeClr val="tx1"/>
                </a:solidFill>
              </a:rPr>
              <a:t>(2)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numbers.push</a:t>
            </a:r>
            <a:r>
              <a:rPr lang="en-US" sz="2000" dirty="0">
                <a:solidFill>
                  <a:schemeClr val="tx1"/>
                </a:solidFill>
              </a:rPr>
              <a:t>(3)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numbers.push</a:t>
            </a:r>
            <a:r>
              <a:rPr lang="en-US" sz="2000" dirty="0">
                <a:solidFill>
                  <a:schemeClr val="tx1"/>
                </a:solidFill>
              </a:rPr>
              <a:t>(4)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numbers.push</a:t>
            </a:r>
            <a:r>
              <a:rPr lang="en-US" sz="2000" dirty="0">
                <a:solidFill>
                  <a:schemeClr val="tx1"/>
                </a:solidFill>
              </a:rPr>
              <a:t>(5)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71721" y="1953263"/>
            <a:ext cx="78659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sum</a:t>
            </a:r>
            <a:r>
              <a:rPr lang="ko-KR" altLang="en-US" dirty="0" smtClean="0"/>
              <a:t>은 변경될 가능성이 있으므로 </a:t>
            </a:r>
            <a:r>
              <a:rPr lang="en-US" altLang="ko-KR" dirty="0" smtClean="0"/>
              <a:t>let</a:t>
            </a:r>
            <a:r>
              <a:rPr lang="ko-KR" altLang="en-US" dirty="0" smtClean="0"/>
              <a:t>으로 선언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numbers</a:t>
            </a:r>
            <a:r>
              <a:rPr lang="ko-KR" altLang="en-US" dirty="0" smtClean="0"/>
              <a:t>는 변경될 가능성이 있으므로 </a:t>
            </a:r>
            <a:r>
              <a:rPr lang="en-US" altLang="ko-KR" dirty="0" smtClean="0"/>
              <a:t>let</a:t>
            </a:r>
            <a:r>
              <a:rPr lang="ko-KR" altLang="en-US" dirty="0" smtClean="0"/>
              <a:t>으로 선언</a:t>
            </a:r>
            <a:r>
              <a:rPr lang="en-US" altLang="ko-KR" dirty="0" smtClean="0"/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 smtClean="0">
                <a:sym typeface="Wingdings" panose="05000000000000000000" pitchFamily="2" charset="2"/>
              </a:rPr>
              <a:t>push</a:t>
            </a:r>
            <a:r>
              <a:rPr lang="ko-KR" altLang="en-US" dirty="0" smtClean="0">
                <a:sym typeface="Wingdings" panose="05000000000000000000" pitchFamily="2" charset="2"/>
              </a:rPr>
              <a:t>를 </a:t>
            </a:r>
            <a:r>
              <a:rPr lang="en-US" altLang="ko-KR" dirty="0" smtClean="0">
                <a:sym typeface="Wingdings" panose="05000000000000000000" pitchFamily="2" charset="2"/>
              </a:rPr>
              <a:t>5</a:t>
            </a:r>
            <a:r>
              <a:rPr lang="ko-KR" altLang="en-US" dirty="0" smtClean="0">
                <a:sym typeface="Wingdings" panose="05000000000000000000" pitchFamily="2" charset="2"/>
              </a:rPr>
              <a:t>번 수행했다고 </a:t>
            </a:r>
            <a:r>
              <a:rPr lang="en-US" altLang="ko-KR" dirty="0" smtClean="0">
                <a:sym typeface="Wingdings" panose="05000000000000000000" pitchFamily="2" charset="2"/>
              </a:rPr>
              <a:t>numbers</a:t>
            </a:r>
            <a:r>
              <a:rPr lang="ko-KR" altLang="en-US" dirty="0" smtClean="0">
                <a:sym typeface="Wingdings" panose="05000000000000000000" pitchFamily="2" charset="2"/>
              </a:rPr>
              <a:t>가 변할까</a:t>
            </a:r>
            <a:r>
              <a:rPr lang="en-US" altLang="ko-KR" dirty="0" smtClean="0">
                <a:sym typeface="Wingdings" panose="05000000000000000000" pitchFamily="2" charset="2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altLang="ko-KR" dirty="0" smtClean="0">
                <a:sym typeface="Wingdings" panose="05000000000000000000" pitchFamily="2" charset="2"/>
              </a:rPr>
              <a:t>change</a:t>
            </a:r>
            <a:r>
              <a:rPr lang="ko-KR" altLang="en-US" dirty="0" smtClean="0">
                <a:sym typeface="Wingdings" panose="05000000000000000000" pitchFamily="2" charset="2"/>
              </a:rPr>
              <a:t>의 의미는 </a:t>
            </a:r>
            <a:r>
              <a:rPr lang="en-US" altLang="ko-KR" dirty="0" smtClean="0">
                <a:sym typeface="Wingdings" panose="05000000000000000000" pitchFamily="2" charset="2"/>
              </a:rPr>
              <a:t>"</a:t>
            </a:r>
            <a:r>
              <a:rPr lang="ko-KR" altLang="en-US" dirty="0">
                <a:sym typeface="Wingdings" panose="05000000000000000000" pitchFamily="2" charset="2"/>
              </a:rPr>
              <a:t>메모리 주소가 </a:t>
            </a:r>
            <a:r>
              <a:rPr lang="ko-KR" altLang="en-US" dirty="0" smtClean="0">
                <a:sym typeface="Wingdings" panose="05000000000000000000" pitchFamily="2" charset="2"/>
              </a:rPr>
              <a:t>변하느냐</a:t>
            </a:r>
            <a:r>
              <a:rPr lang="en-US" altLang="ko-KR" dirty="0" smtClean="0">
                <a:sym typeface="Wingdings" panose="05000000000000000000" pitchFamily="2" charset="2"/>
              </a:rPr>
              <a:t>?"</a:t>
            </a:r>
            <a:r>
              <a:rPr lang="ko-KR" altLang="en-US" dirty="0" smtClean="0">
                <a:sym typeface="Wingdings" panose="05000000000000000000" pitchFamily="2" charset="2"/>
              </a:rPr>
              <a:t>라는 관점에서 해석 되어야 함</a:t>
            </a:r>
            <a:endParaRPr lang="en-US" altLang="ko-KR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6256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vs. </a:t>
            </a:r>
            <a:r>
              <a:rPr lang="en-US" dirty="0" err="1"/>
              <a:t>const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endParaRPr lang="en-US" altLang="ko-KR" sz="2000" dirty="0" smtClean="0">
              <a:solidFill>
                <a:prstClr val="black"/>
              </a:solidFill>
            </a:endParaRPr>
          </a:p>
          <a:p>
            <a:endParaRPr lang="en-US" altLang="ko-KR" sz="2000" dirty="0" smtClean="0">
              <a:solidFill>
                <a:prstClr val="black"/>
              </a:solidFill>
            </a:endParaRPr>
          </a:p>
          <a:p>
            <a:endParaRPr lang="en-US" altLang="ko-KR" sz="2000" dirty="0" smtClean="0">
              <a:solidFill>
                <a:prstClr val="black"/>
              </a:solidFill>
            </a:endParaRPr>
          </a:p>
          <a:p>
            <a:endParaRPr lang="en-US" altLang="ko-KR" sz="2000" dirty="0">
              <a:solidFill>
                <a:prstClr val="black"/>
              </a:solidFill>
            </a:endParaRPr>
          </a:p>
          <a:p>
            <a:endParaRPr lang="en-US" altLang="ko-KR" sz="2000" dirty="0" smtClean="0">
              <a:solidFill>
                <a:prstClr val="black"/>
              </a:solidFill>
            </a:endParaRPr>
          </a:p>
          <a:p>
            <a:endParaRPr lang="en-US" altLang="ko-KR" sz="20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12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1963871" y="934088"/>
            <a:ext cx="7399204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tx1"/>
                </a:solidFill>
              </a:rPr>
              <a:t>const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importantID</a:t>
            </a:r>
            <a:r>
              <a:rPr lang="en-US" sz="2000" dirty="0">
                <a:solidFill>
                  <a:schemeClr val="tx1"/>
                </a:solidFill>
              </a:rPr>
              <a:t> = 489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importantID</a:t>
            </a:r>
            <a:r>
              <a:rPr lang="en-US" sz="2000" dirty="0">
                <a:solidFill>
                  <a:schemeClr val="tx1"/>
                </a:solidFill>
              </a:rPr>
              <a:t> = 100 // </a:t>
            </a:r>
            <a:r>
              <a:rPr lang="en-US" sz="2000" dirty="0" err="1">
                <a:solidFill>
                  <a:schemeClr val="tx1"/>
                </a:solidFill>
              </a:rPr>
              <a:t>TypeError</a:t>
            </a:r>
            <a:r>
              <a:rPr lang="en-US" sz="2000" dirty="0">
                <a:solidFill>
                  <a:schemeClr val="tx1"/>
                </a:solidFill>
              </a:rPr>
              <a:t>: Assignment to constant variable</a:t>
            </a:r>
          </a:p>
        </p:txBody>
      </p:sp>
      <p:pic>
        <p:nvPicPr>
          <p:cNvPr id="10242" name="Picture 2" descr="https://miro.medium.com/max/1455/1*7Qsl2DzAWJE2kmOwy1ih_g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" t="4753" r="2653" b="12324"/>
          <a:stretch/>
        </p:blipFill>
        <p:spPr bwMode="auto">
          <a:xfrm>
            <a:off x="148563" y="2689733"/>
            <a:ext cx="6214137" cy="18836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10244" name="Picture 4" descr="https://miro.medium.com/max/1011/1*3Gq1lp1a4bc04CV2vYOYOg.jpe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9" r="3851"/>
          <a:stretch/>
        </p:blipFill>
        <p:spPr bwMode="auto">
          <a:xfrm>
            <a:off x="6594860" y="2689733"/>
            <a:ext cx="5536429" cy="27008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cxnSp>
        <p:nvCxnSpPr>
          <p:cNvPr id="8" name="꺾인 연결선 7"/>
          <p:cNvCxnSpPr>
            <a:stCxn id="10242" idx="2"/>
          </p:cNvCxnSpPr>
          <p:nvPr/>
        </p:nvCxnSpPr>
        <p:spPr>
          <a:xfrm rot="16200000" flipH="1">
            <a:off x="4649703" y="3179293"/>
            <a:ext cx="551086" cy="33392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81350" y="5262055"/>
            <a:ext cx="33441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importantID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100</a:t>
            </a:r>
            <a:r>
              <a:rPr lang="ko-KR" altLang="en-US" dirty="0" smtClean="0"/>
              <a:t>을 할당</a:t>
            </a:r>
            <a:endParaRPr lang="en-US" altLang="ko-KR" dirty="0" smtClean="0"/>
          </a:p>
          <a:p>
            <a:r>
              <a:rPr lang="en-US" dirty="0" smtClean="0"/>
              <a:t>100</a:t>
            </a:r>
            <a:r>
              <a:rPr lang="ko-KR" altLang="en-US" dirty="0" smtClean="0"/>
              <a:t>은 원시 타입이라 </a:t>
            </a:r>
            <a:endParaRPr lang="en-US" altLang="ko-KR" dirty="0" smtClean="0"/>
          </a:p>
          <a:p>
            <a:r>
              <a:rPr lang="ko-KR" altLang="en-US" dirty="0" smtClean="0"/>
              <a:t>새로운 메모리 할당하려고 시도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697682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vs. </a:t>
            </a:r>
            <a:r>
              <a:rPr lang="en-US" dirty="0" err="1"/>
              <a:t>const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prstClr val="black"/>
                </a:solidFill>
              </a:rPr>
              <a:t>따라서 </a:t>
            </a:r>
            <a:r>
              <a:rPr lang="en-US" altLang="ko-KR" sz="2000" dirty="0" smtClean="0">
                <a:solidFill>
                  <a:prstClr val="black"/>
                </a:solidFill>
              </a:rPr>
              <a:t>array</a:t>
            </a:r>
            <a:r>
              <a:rPr lang="ko-KR" altLang="en-US" sz="2000" dirty="0" smtClean="0">
                <a:solidFill>
                  <a:prstClr val="black"/>
                </a:solidFill>
              </a:rPr>
              <a:t>를 </a:t>
            </a:r>
            <a:r>
              <a:rPr lang="en-US" altLang="ko-KR" sz="2000" dirty="0" smtClean="0">
                <a:solidFill>
                  <a:prstClr val="black"/>
                </a:solidFill>
              </a:rPr>
              <a:t>let</a:t>
            </a:r>
            <a:r>
              <a:rPr lang="ko-KR" altLang="en-US" sz="2000" dirty="0" smtClean="0">
                <a:solidFill>
                  <a:prstClr val="black"/>
                </a:solidFill>
              </a:rPr>
              <a:t>으로 선언하는 것이 아닌 </a:t>
            </a:r>
            <a:r>
              <a:rPr lang="en-US" altLang="ko-KR" sz="2000" dirty="0" err="1" smtClean="0">
                <a:solidFill>
                  <a:prstClr val="black"/>
                </a:solidFill>
              </a:rPr>
              <a:t>const</a:t>
            </a:r>
            <a:r>
              <a:rPr lang="ko-KR" altLang="en-US" sz="2000" dirty="0" smtClean="0">
                <a:solidFill>
                  <a:prstClr val="black"/>
                </a:solidFill>
              </a:rPr>
              <a:t>로 선언해야 함</a:t>
            </a:r>
            <a:endParaRPr lang="en-US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13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873451" y="1305563"/>
            <a:ext cx="491490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const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myArray</a:t>
            </a:r>
            <a:r>
              <a:rPr lang="en-US" sz="2000" dirty="0">
                <a:solidFill>
                  <a:schemeClr val="tx1"/>
                </a:solidFill>
              </a:rPr>
              <a:t> = []</a:t>
            </a:r>
          </a:p>
        </p:txBody>
      </p:sp>
      <p:pic>
        <p:nvPicPr>
          <p:cNvPr id="11268" name="Picture 4" descr="https://miro.medium.com/max/1543/1*60iWMS6aDYFoTU1pcIgXeQ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51" y="2245569"/>
            <a:ext cx="11455400" cy="3712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51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vs. </a:t>
            </a:r>
            <a:r>
              <a:rPr lang="en-US" dirty="0" err="1"/>
              <a:t>const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srgbClr val="FF0000"/>
                </a:solidFill>
              </a:rPr>
              <a:t>따라서 </a:t>
            </a:r>
            <a:r>
              <a:rPr lang="en-US" altLang="ko-KR" sz="2000" dirty="0" smtClean="0">
                <a:solidFill>
                  <a:srgbClr val="FF0000"/>
                </a:solidFill>
              </a:rPr>
              <a:t>array</a:t>
            </a:r>
            <a:r>
              <a:rPr lang="ko-KR" altLang="en-US" sz="2000" dirty="0" smtClean="0">
                <a:solidFill>
                  <a:srgbClr val="FF0000"/>
                </a:solidFill>
              </a:rPr>
              <a:t>를 </a:t>
            </a:r>
            <a:r>
              <a:rPr lang="en-US" altLang="ko-KR" sz="2000" dirty="0" smtClean="0">
                <a:solidFill>
                  <a:srgbClr val="FF0000"/>
                </a:solidFill>
              </a:rPr>
              <a:t>let</a:t>
            </a:r>
            <a:r>
              <a:rPr lang="ko-KR" altLang="en-US" sz="2000" dirty="0" smtClean="0">
                <a:solidFill>
                  <a:srgbClr val="FF0000"/>
                </a:solidFill>
              </a:rPr>
              <a:t>으로 선언하는 것이 아닌 </a:t>
            </a:r>
            <a:r>
              <a:rPr lang="en-US" altLang="ko-KR" sz="2000" dirty="0" err="1" smtClean="0">
                <a:solidFill>
                  <a:srgbClr val="FF0000"/>
                </a:solidFill>
              </a:rPr>
              <a:t>const</a:t>
            </a:r>
            <a:r>
              <a:rPr lang="ko-KR" altLang="en-US" sz="2000" dirty="0" smtClean="0">
                <a:solidFill>
                  <a:srgbClr val="FF0000"/>
                </a:solidFill>
              </a:rPr>
              <a:t>로 선언해야 함</a:t>
            </a:r>
            <a:r>
              <a:rPr lang="en-US" altLang="ko-KR" sz="2000" dirty="0" smtClean="0">
                <a:solidFill>
                  <a:srgbClr val="FF0000"/>
                </a:solidFill>
              </a:rPr>
              <a:t>(</a:t>
            </a:r>
            <a:r>
              <a:rPr lang="ko-KR" altLang="en-US" sz="2000" dirty="0" smtClean="0">
                <a:solidFill>
                  <a:srgbClr val="FF0000"/>
                </a:solidFill>
              </a:rPr>
              <a:t>하고 싶은 말</a:t>
            </a:r>
            <a:r>
              <a:rPr lang="en-US" altLang="ko-KR" sz="2000" dirty="0" smtClean="0">
                <a:solidFill>
                  <a:srgbClr val="FF0000"/>
                </a:solidFill>
              </a:rPr>
              <a:t>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14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873452" y="1305563"/>
            <a:ext cx="2565074" cy="16312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myArray.push</a:t>
            </a:r>
            <a:r>
              <a:rPr lang="en-US" sz="2000" dirty="0">
                <a:solidFill>
                  <a:schemeClr val="tx1"/>
                </a:solidFill>
              </a:rPr>
              <a:t>(1)</a:t>
            </a:r>
          </a:p>
          <a:p>
            <a:pPr algn="ctr"/>
            <a:r>
              <a:rPr lang="en-US" sz="2000" dirty="0" err="1">
                <a:solidFill>
                  <a:schemeClr val="tx1"/>
                </a:solidFill>
              </a:rPr>
              <a:t>myArray.push</a:t>
            </a:r>
            <a:r>
              <a:rPr lang="en-US" sz="2000" dirty="0">
                <a:solidFill>
                  <a:schemeClr val="tx1"/>
                </a:solidFill>
              </a:rPr>
              <a:t>(2)</a:t>
            </a:r>
          </a:p>
          <a:p>
            <a:pPr algn="ctr"/>
            <a:r>
              <a:rPr lang="en-US" sz="2000" dirty="0" err="1">
                <a:solidFill>
                  <a:schemeClr val="tx1"/>
                </a:solidFill>
              </a:rPr>
              <a:t>myArray.push</a:t>
            </a:r>
            <a:r>
              <a:rPr lang="en-US" sz="2000" dirty="0">
                <a:solidFill>
                  <a:schemeClr val="tx1"/>
                </a:solidFill>
              </a:rPr>
              <a:t>(3)</a:t>
            </a:r>
          </a:p>
          <a:p>
            <a:pPr algn="ctr"/>
            <a:r>
              <a:rPr lang="en-US" sz="2000" dirty="0" err="1">
                <a:solidFill>
                  <a:schemeClr val="tx1"/>
                </a:solidFill>
              </a:rPr>
              <a:t>myArray.push</a:t>
            </a:r>
            <a:r>
              <a:rPr lang="en-US" sz="2000" dirty="0">
                <a:solidFill>
                  <a:schemeClr val="tx1"/>
                </a:solidFill>
              </a:rPr>
              <a:t>(4)</a:t>
            </a:r>
          </a:p>
          <a:p>
            <a:pPr algn="ctr"/>
            <a:r>
              <a:rPr lang="en-US" sz="2000" dirty="0" err="1">
                <a:solidFill>
                  <a:schemeClr val="tx1"/>
                </a:solidFill>
              </a:rPr>
              <a:t>myArray.push</a:t>
            </a:r>
            <a:r>
              <a:rPr lang="en-US" sz="2000" dirty="0">
                <a:solidFill>
                  <a:schemeClr val="tx1"/>
                </a:solidFill>
              </a:rPr>
              <a:t>(5)</a:t>
            </a:r>
          </a:p>
        </p:txBody>
      </p:sp>
      <p:pic>
        <p:nvPicPr>
          <p:cNvPr id="12290" name="Picture 2" descr="https://miro.medium.com/max/1470/1*rphzalOnHm5FseLVov498g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8" b="6139"/>
          <a:stretch/>
        </p:blipFill>
        <p:spPr bwMode="auto">
          <a:xfrm>
            <a:off x="733752" y="3074213"/>
            <a:ext cx="10398125" cy="346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97247" y="2925680"/>
            <a:ext cx="311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메모리 주소는 변하지 않았다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" name="Picture 4" descr="https://miro.medium.com/max/1543/1*60iWMS6aDYFoTU1pcIgXeQ.jpe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33" r="3092"/>
          <a:stretch/>
        </p:blipFill>
        <p:spPr bwMode="auto">
          <a:xfrm>
            <a:off x="9704556" y="1305563"/>
            <a:ext cx="2236263" cy="2025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12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vs. </a:t>
            </a:r>
            <a:r>
              <a:rPr lang="en-US" dirty="0" err="1"/>
              <a:t>const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prstClr val="black"/>
                </a:solidFill>
              </a:rPr>
              <a:t>다음과 같이 재할당 할 경우 에러가 발생</a:t>
            </a:r>
            <a:endParaRPr lang="en-US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15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2491277" y="1585817"/>
            <a:ext cx="6594149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myArray</a:t>
            </a:r>
            <a:r>
              <a:rPr lang="en-US" sz="2000" dirty="0">
                <a:solidFill>
                  <a:schemeClr val="tx1"/>
                </a:solidFill>
              </a:rPr>
              <a:t> = 3</a:t>
            </a:r>
          </a:p>
        </p:txBody>
      </p:sp>
      <p:pic>
        <p:nvPicPr>
          <p:cNvPr id="13314" name="Picture 2" descr="https://miro.medium.com/max/1528/1*ZupJj3f7gwdir5jrHzyIWw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59" b="7975"/>
          <a:stretch/>
        </p:blipFill>
        <p:spPr bwMode="auto">
          <a:xfrm>
            <a:off x="917575" y="2272886"/>
            <a:ext cx="9979025" cy="3109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4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vs. </a:t>
            </a:r>
            <a:r>
              <a:rPr lang="en-US" dirty="0" err="1"/>
              <a:t>const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dirty="0" smtClean="0">
                <a:solidFill>
                  <a:prstClr val="black"/>
                </a:solidFill>
              </a:rPr>
              <a:t>다음과 같이 재할당 할 경우 에러가 발생</a:t>
            </a:r>
            <a:endParaRPr lang="en-US" altLang="ko-KR" sz="2000" dirty="0" smtClean="0">
              <a:solidFill>
                <a:prstClr val="black"/>
              </a:solidFill>
            </a:endParaRPr>
          </a:p>
          <a:p>
            <a:endParaRPr lang="en-US" sz="2000" dirty="0">
              <a:solidFill>
                <a:prstClr val="black"/>
              </a:solidFill>
            </a:endParaRPr>
          </a:p>
          <a:p>
            <a:endParaRPr lang="en-US" sz="2000" dirty="0" smtClean="0">
              <a:solidFill>
                <a:prstClr val="black"/>
              </a:solidFill>
            </a:endParaRPr>
          </a:p>
          <a:p>
            <a:endParaRPr lang="en-US" sz="2000" dirty="0">
              <a:solidFill>
                <a:prstClr val="black"/>
              </a:solidFill>
            </a:endParaRPr>
          </a:p>
          <a:p>
            <a:endParaRPr lang="en-US" sz="2000" dirty="0" smtClean="0">
              <a:solidFill>
                <a:prstClr val="black"/>
              </a:solidFill>
            </a:endParaRPr>
          </a:p>
          <a:p>
            <a:endParaRPr lang="en-US" sz="2000" dirty="0">
              <a:solidFill>
                <a:prstClr val="black"/>
              </a:solidFill>
            </a:endParaRPr>
          </a:p>
          <a:p>
            <a:endParaRPr lang="en-US" sz="2000" dirty="0" smtClean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prstClr val="black"/>
              </a:solidFill>
            </a:endParaRPr>
          </a:p>
          <a:p>
            <a:r>
              <a:rPr lang="ko-KR" altLang="en-US" sz="2000" dirty="0" smtClean="0"/>
              <a:t>다음은 정상적으로 동작</a:t>
            </a:r>
            <a:endParaRPr lang="en-US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16</a:t>
            </a:fld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491277" y="1585817"/>
            <a:ext cx="6594149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myArray</a:t>
            </a:r>
            <a:r>
              <a:rPr lang="en-US" sz="2000" dirty="0">
                <a:solidFill>
                  <a:schemeClr val="tx1"/>
                </a:solidFill>
              </a:rPr>
              <a:t> = ['a']</a:t>
            </a:r>
          </a:p>
        </p:txBody>
      </p:sp>
      <p:pic>
        <p:nvPicPr>
          <p:cNvPr id="14338" name="Picture 2" descr="https://miro.medium.com/max/1343/1*tOAvv24ZS_CI0DVL2XzD6w.jpe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84" b="9584"/>
          <a:stretch/>
        </p:blipFill>
        <p:spPr bwMode="auto">
          <a:xfrm>
            <a:off x="1555764" y="1979200"/>
            <a:ext cx="8112112" cy="289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843452" y="5772342"/>
            <a:ext cx="6594149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 err="1">
                <a:solidFill>
                  <a:schemeClr val="tx1"/>
                </a:solidFill>
              </a:rPr>
              <a:t>const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myObj</a:t>
            </a:r>
            <a:r>
              <a:rPr lang="en-US" sz="2000" dirty="0">
                <a:solidFill>
                  <a:schemeClr val="tx1"/>
                </a:solidFill>
              </a:rPr>
              <a:t> = {}</a:t>
            </a:r>
          </a:p>
          <a:p>
            <a:r>
              <a:rPr lang="en-US" sz="2000" dirty="0" err="1">
                <a:solidFill>
                  <a:schemeClr val="tx1"/>
                </a:solidFill>
              </a:rPr>
              <a:t>myObj</a:t>
            </a:r>
            <a:r>
              <a:rPr lang="en-US" sz="2000" dirty="0">
                <a:solidFill>
                  <a:schemeClr val="tx1"/>
                </a:solidFill>
              </a:rPr>
              <a:t>['</a:t>
            </a:r>
            <a:r>
              <a:rPr lang="en-US" sz="2000" dirty="0" err="1">
                <a:solidFill>
                  <a:schemeClr val="tx1"/>
                </a:solidFill>
              </a:rPr>
              <a:t>newKey</a:t>
            </a:r>
            <a:r>
              <a:rPr lang="en-US" sz="2000" dirty="0">
                <a:solidFill>
                  <a:schemeClr val="tx1"/>
                </a:solidFill>
              </a:rPr>
              <a:t>'] = '</a:t>
            </a:r>
            <a:r>
              <a:rPr lang="en-US" sz="2000" dirty="0" err="1">
                <a:solidFill>
                  <a:schemeClr val="tx1"/>
                </a:solidFill>
              </a:rPr>
              <a:t>someValue</a:t>
            </a:r>
            <a:r>
              <a:rPr lang="en-US" sz="2000" dirty="0">
                <a:solidFill>
                  <a:schemeClr val="tx1"/>
                </a:solidFill>
              </a:rPr>
              <a:t>' // this will not throw an error</a:t>
            </a:r>
          </a:p>
        </p:txBody>
      </p:sp>
    </p:spTree>
    <p:extLst>
      <p:ext uri="{BB962C8B-B14F-4D97-AF65-F5344CB8AC3E}">
        <p14:creationId xmlns:p14="http://schemas.microsoft.com/office/powerpoint/2010/main" val="126088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8196</TotalTime>
  <Words>529</Words>
  <Application>Microsoft Office PowerPoint</Application>
  <PresentationFormat>와이드스크린</PresentationFormat>
  <Paragraphs>134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Arial</vt:lpstr>
      <vt:lpstr>Calibri</vt:lpstr>
      <vt:lpstr>Calibri Light</vt:lpstr>
      <vt:lpstr>Wingdings</vt:lpstr>
      <vt:lpstr>Office 테마</vt:lpstr>
      <vt:lpstr>자바스크립트 메모리 모델</vt:lpstr>
      <vt:lpstr>물음</vt:lpstr>
      <vt:lpstr>원시타입</vt:lpstr>
      <vt:lpstr>원시타입</vt:lpstr>
      <vt:lpstr>원시타입</vt:lpstr>
      <vt:lpstr>원시타입</vt:lpstr>
      <vt:lpstr>메모리 모델</vt:lpstr>
      <vt:lpstr>메모리 모델</vt:lpstr>
      <vt:lpstr>메모리 모델</vt:lpstr>
      <vt:lpstr>메모리 모델</vt:lpstr>
      <vt:lpstr>Let vs. const</vt:lpstr>
      <vt:lpstr>Let vs. const</vt:lpstr>
      <vt:lpstr>Let vs. const</vt:lpstr>
      <vt:lpstr>Let vs. const</vt:lpstr>
      <vt:lpstr>Let vs. const</vt:lpstr>
      <vt:lpstr>Let vs. const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2837</cp:revision>
  <dcterms:created xsi:type="dcterms:W3CDTF">2020-03-06T01:35:43Z</dcterms:created>
  <dcterms:modified xsi:type="dcterms:W3CDTF">2020-04-13T01:51:26Z</dcterms:modified>
  <cp:version>1000.0000.01</cp:version>
</cp:coreProperties>
</file>