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8" r:id="rId1"/>
  </p:sldMasterIdLst>
  <p:notesMasterIdLst>
    <p:notesMasterId r:id="rId17"/>
  </p:notesMasterIdLst>
  <p:sldIdLst>
    <p:sldId id="256" r:id="rId2"/>
    <p:sldId id="319" r:id="rId3"/>
    <p:sldId id="320" r:id="rId4"/>
    <p:sldId id="321" r:id="rId5"/>
    <p:sldId id="322" r:id="rId6"/>
    <p:sldId id="323" r:id="rId7"/>
    <p:sldId id="324" r:id="rId8"/>
    <p:sldId id="328" r:id="rId9"/>
    <p:sldId id="329" r:id="rId10"/>
    <p:sldId id="330" r:id="rId11"/>
    <p:sldId id="331" r:id="rId12"/>
    <p:sldId id="335" r:id="rId13"/>
    <p:sldId id="332" r:id="rId14"/>
    <p:sldId id="334" r:id="rId15"/>
    <p:sldId id="33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C5610"/>
    <a:srgbClr val="FF00FF"/>
    <a:srgbClr val="ADFF2F"/>
    <a:srgbClr val="7FFFD4"/>
    <a:srgbClr val="FFA500"/>
    <a:srgbClr val="FF6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34" y="10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9B25A7D-0240-4D0E-A5B3-3234B957F6EF}" type="datetime1">
              <a:rPr lang="en-US"/>
              <a:pPr lvl="0">
                <a:defRPr/>
              </a:pPr>
              <a:t>4/20/2020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163349B-D4CA-41F9-BE36-059942AD9331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DAD7-809B-4C4A-8A23-1E146EAD9E8F}" type="datetime1">
              <a:rPr lang="en-US" smtClean="0"/>
              <a:t>4/20/2020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77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10515600" cy="344002"/>
          </a:xfrm>
        </p:spPr>
        <p:txBody>
          <a:bodyPr>
            <a:noAutofit/>
          </a:bodyPr>
          <a:lstStyle>
            <a:lvl1pPr>
              <a:defRPr sz="2500" b="1"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530551" y="757400"/>
            <a:ext cx="11331011" cy="5429755"/>
          </a:xfrm>
        </p:spPr>
        <p:txBody>
          <a:bodyPr/>
          <a:lstStyle>
            <a:lvl1pPr>
              <a:lnSpc>
                <a:spcPct val="140000"/>
              </a:lnSpc>
              <a:defRPr sz="2400">
                <a:latin typeface="+mn-ea"/>
                <a:ea typeface="+mn-ea"/>
              </a:defRPr>
            </a:lvl1pPr>
            <a:lvl2pPr marL="685800" indent="-228600">
              <a:lnSpc>
                <a:spcPct val="140000"/>
              </a:lnSpc>
              <a:buFont typeface="Wingdings"/>
              <a:buChar char="§"/>
              <a:defRPr sz="2000">
                <a:latin typeface="+mn-ea"/>
                <a:ea typeface="+mn-ea"/>
              </a:defRPr>
            </a:lvl2pPr>
            <a:lvl3pPr>
              <a:lnSpc>
                <a:spcPct val="140000"/>
              </a:lnSpc>
              <a:defRPr sz="1800">
                <a:latin typeface="+mn-ea"/>
                <a:ea typeface="+mn-ea"/>
              </a:defRPr>
            </a:lvl3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06EDA91-2055-40FE-B45A-5804B08C2696}" type="datetime1">
              <a:rPr lang="en-US" smtClean="0"/>
              <a:t>4/20/2020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227048" y="6356350"/>
            <a:ext cx="2743200" cy="365125"/>
          </a:xfrm>
        </p:spPr>
        <p:txBody>
          <a:bodyPr/>
          <a:lstStyle>
            <a:lvl1pPr>
              <a:defRPr sz="15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DA67E06-563C-4DAC-B352-5CBE54DE7B5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C795-451E-46E0-AE92-5A497CF41061}" type="datetime1">
              <a:rPr lang="en-US" smtClean="0"/>
              <a:t>4/20/2020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13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975-3397-4FC8-A820-2112C504E006}" type="datetime1">
              <a:rPr lang="en-US" smtClean="0"/>
              <a:t>4/20/2020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4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B25CA-AD45-4C95-8C23-1C6A039469A5}" type="datetime1">
              <a:rPr lang="en-US" smtClean="0"/>
              <a:t>4/20/2020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9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2E71-0A1A-4073-B60F-FA59C2CA001A}" type="datetime1">
              <a:rPr lang="en-US" smtClean="0"/>
              <a:t>4/20/2020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6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758C-1694-4565-82D4-EBBF833CB257}" type="datetime1">
              <a:rPr lang="en-US" smtClean="0"/>
              <a:t>4/20/2020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5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5484-FD6D-41C0-A29C-477D0CF69679}" type="datetime1">
              <a:rPr lang="en-US" smtClean="0"/>
              <a:t>4/20/2020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1DD6-19D4-44B1-8E93-C64691C69E13}" type="datetime1">
              <a:rPr lang="en-US" smtClean="0"/>
              <a:t>4/20/2020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5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33E4-9C34-4B01-AEFF-3C6F1AF12FD7}" type="datetime1">
              <a:rPr lang="en-US" smtClean="0"/>
              <a:t>4/20/2020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3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72B1E-F176-43F3-BFB4-FA11701E5307}" type="datetime1">
              <a:rPr lang="en-US" smtClean="0"/>
              <a:t>4/20/2020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5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D2D49-5DE7-4756-AE86-CEB698DB686D}" type="datetime1">
              <a:rPr lang="en-US" smtClean="0"/>
              <a:t>4/20/2020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1069974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 smtClean="0"/>
              <a:t>함수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함수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일급 함수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(first class function(object))</a:t>
            </a:r>
          </a:p>
          <a:p>
            <a:pPr lvl="1"/>
            <a:r>
              <a:rPr lang="ko-KR" altLang="en-US" dirty="0"/>
              <a:t>자바스크립트에서는 함수도 </a:t>
            </a:r>
            <a:r>
              <a:rPr lang="ko-KR" altLang="en-US" dirty="0" smtClean="0"/>
              <a:t>객체다</a:t>
            </a:r>
            <a:r>
              <a:rPr lang="en-US" altLang="ko-KR" dirty="0" smtClean="0"/>
              <a:t>!</a:t>
            </a:r>
          </a:p>
          <a:p>
            <a:pPr lvl="1"/>
            <a:r>
              <a:rPr lang="ko-KR" altLang="en-US" dirty="0" smtClean="0"/>
              <a:t>이것은 </a:t>
            </a:r>
            <a:r>
              <a:rPr lang="ko-KR" altLang="en-US" dirty="0" smtClean="0">
                <a:solidFill>
                  <a:srgbClr val="0000FF"/>
                </a:solidFill>
              </a:rPr>
              <a:t>함수를 값처럼</a:t>
            </a:r>
            <a:r>
              <a:rPr lang="ko-KR" altLang="en-US" dirty="0" smtClean="0"/>
              <a:t> 쓸 수 있다는 것</a:t>
            </a:r>
            <a:r>
              <a:rPr lang="en-US" altLang="ko-KR" dirty="0" smtClean="0"/>
              <a:t>, </a:t>
            </a:r>
            <a:r>
              <a:rPr lang="ko-KR" altLang="en-US" dirty="0" smtClean="0"/>
              <a:t>즉</a:t>
            </a:r>
            <a:endParaRPr lang="en-US" altLang="ko-KR" dirty="0"/>
          </a:p>
          <a:p>
            <a:pPr lvl="2"/>
            <a:r>
              <a:rPr lang="ko-KR" altLang="en-US" sz="2000" dirty="0" smtClean="0"/>
              <a:t>함수를 변수에 </a:t>
            </a:r>
            <a:r>
              <a:rPr lang="ko-KR" altLang="en-US" sz="2000" dirty="0"/>
              <a:t>할당할 수 </a:t>
            </a:r>
            <a:r>
              <a:rPr lang="ko-KR" altLang="en-US" sz="2000" dirty="0" smtClean="0"/>
              <a:t>있음</a:t>
            </a:r>
            <a:endParaRPr lang="en-US" altLang="ko-KR" sz="2000" dirty="0" smtClean="0"/>
          </a:p>
          <a:p>
            <a:pPr lvl="2"/>
            <a:r>
              <a:rPr lang="ko-KR" altLang="en-US" sz="2000" dirty="0"/>
              <a:t>함수를 </a:t>
            </a:r>
            <a:r>
              <a:rPr lang="ko-KR" altLang="en-US" sz="2000" dirty="0" smtClean="0"/>
              <a:t>함수의 인자로 사용할 수 있음</a:t>
            </a:r>
            <a:endParaRPr lang="en-US" altLang="ko-KR" sz="2000" dirty="0" smtClean="0"/>
          </a:p>
          <a:p>
            <a:pPr lvl="2"/>
            <a:r>
              <a:rPr lang="ko-KR" altLang="en-US" sz="2000" dirty="0" smtClean="0"/>
              <a:t>함수를 </a:t>
            </a:r>
            <a:r>
              <a:rPr lang="ko-KR" altLang="en-US" sz="2000" dirty="0" err="1" smtClean="0"/>
              <a:t>반환값으로</a:t>
            </a:r>
            <a:r>
              <a:rPr lang="ko-KR" altLang="en-US" sz="2000" dirty="0" smtClean="0"/>
              <a:t> 사용할 수 있음 </a:t>
            </a:r>
            <a:endParaRPr lang="en-US" altLang="ko-KR" sz="2000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33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함수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함수를 변수에 할당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/>
              <a:t>자바스크립트를 매우 유연한 언어로 </a:t>
            </a:r>
            <a:r>
              <a:rPr lang="ko-KR" altLang="en-US" dirty="0" err="1" smtClean="0"/>
              <a:t>만듬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marL="457200" lvl="1" indent="0">
              <a:buNone/>
            </a:pPr>
            <a:endParaRPr lang="en-US" altLang="ko-KR" dirty="0" smtClean="0"/>
          </a:p>
          <a:p>
            <a:pPr lvl="1"/>
            <a:r>
              <a:rPr lang="ko-KR" altLang="en-US" dirty="0"/>
              <a:t>함수를 객체 </a:t>
            </a:r>
            <a:r>
              <a:rPr lang="ko-KR" altLang="en-US" dirty="0" err="1"/>
              <a:t>프로퍼티에</a:t>
            </a:r>
            <a:r>
              <a:rPr lang="ko-KR" altLang="en-US" dirty="0"/>
              <a:t> </a:t>
            </a:r>
            <a:r>
              <a:rPr lang="ko-KR" altLang="en-US" dirty="0" smtClean="0"/>
              <a:t>할당할 </a:t>
            </a:r>
            <a:r>
              <a:rPr lang="ko-KR" altLang="en-US" dirty="0"/>
              <a:t>수도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pPr lvl="1"/>
            <a:endParaRPr lang="en-US" altLang="ko-KR" i="1" dirty="0" smtClean="0"/>
          </a:p>
          <a:p>
            <a:pPr lvl="1"/>
            <a:endParaRPr lang="en-US" altLang="ko-KR" i="1" dirty="0"/>
          </a:p>
          <a:p>
            <a:pPr lvl="1"/>
            <a:endParaRPr lang="en-US" altLang="ko-KR" i="1" dirty="0"/>
          </a:p>
          <a:p>
            <a:pPr lvl="1"/>
            <a:r>
              <a:rPr lang="ko-KR" altLang="en-US" dirty="0"/>
              <a:t>배열 요소로 할당할 수도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3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409112" y="1850223"/>
            <a:ext cx="5632199" cy="24468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dirty="0" smtClean="0"/>
              <a:t>function </a:t>
            </a:r>
            <a:r>
              <a:rPr lang="en-US" sz="1700" dirty="0" err="1" smtClean="0"/>
              <a:t>getGreeting</a:t>
            </a:r>
            <a:r>
              <a:rPr lang="en-US" sz="1700" dirty="0" smtClean="0"/>
              <a:t>(){</a:t>
            </a:r>
          </a:p>
          <a:p>
            <a:pPr>
              <a:lnSpc>
                <a:spcPct val="150000"/>
              </a:lnSpc>
            </a:pPr>
            <a:r>
              <a:rPr lang="en-US" sz="1700" dirty="0" smtClean="0"/>
              <a:t>    return "Hello world!";</a:t>
            </a:r>
          </a:p>
          <a:p>
            <a:pPr>
              <a:lnSpc>
                <a:spcPct val="150000"/>
              </a:lnSpc>
            </a:pPr>
            <a:r>
              <a:rPr lang="en-US" sz="1700" dirty="0" smtClean="0"/>
              <a:t>}</a:t>
            </a: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B050"/>
                </a:solidFill>
              </a:rPr>
              <a:t>//</a:t>
            </a:r>
            <a:r>
              <a:rPr lang="ko-KR" altLang="en-US" sz="1700" dirty="0">
                <a:solidFill>
                  <a:srgbClr val="00B050"/>
                </a:solidFill>
              </a:rPr>
              <a:t>함수를 저장한 변수에 </a:t>
            </a:r>
            <a:r>
              <a:rPr lang="en-US" altLang="ko-KR" sz="1700" dirty="0">
                <a:solidFill>
                  <a:srgbClr val="00B050"/>
                </a:solidFill>
              </a:rPr>
              <a:t>"()"</a:t>
            </a:r>
            <a:r>
              <a:rPr lang="ko-KR" altLang="en-US" sz="1700" dirty="0">
                <a:solidFill>
                  <a:srgbClr val="00B050"/>
                </a:solidFill>
              </a:rPr>
              <a:t>를 붙이면 함수 호출을 의미</a:t>
            </a:r>
            <a:endParaRPr lang="en-US" sz="1700" dirty="0" smtClean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700" dirty="0" smtClean="0"/>
              <a:t>console.log(</a:t>
            </a:r>
            <a:r>
              <a:rPr lang="en-US" sz="1700" dirty="0" err="1" smtClean="0"/>
              <a:t>getGreeting</a:t>
            </a:r>
            <a:r>
              <a:rPr lang="en-US" sz="1700" dirty="0" smtClean="0"/>
              <a:t>()); </a:t>
            </a:r>
            <a:endParaRPr lang="en-US" sz="1700" dirty="0"/>
          </a:p>
          <a:p>
            <a:pPr>
              <a:lnSpc>
                <a:spcPct val="150000"/>
              </a:lnSpc>
            </a:pPr>
            <a:r>
              <a:rPr lang="en-US" sz="1700" dirty="0"/>
              <a:t>console.log(</a:t>
            </a:r>
            <a:r>
              <a:rPr lang="en-US" sz="1700" dirty="0" err="1"/>
              <a:t>getGreeting</a:t>
            </a:r>
            <a:r>
              <a:rPr lang="en-US" sz="1700" dirty="0"/>
              <a:t>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414" y="1850223"/>
            <a:ext cx="4608512" cy="8771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dirty="0" err="1" smtClean="0"/>
              <a:t>var</a:t>
            </a:r>
            <a:r>
              <a:rPr lang="en-US" sz="1700" dirty="0" smtClean="0"/>
              <a:t> f = </a:t>
            </a:r>
            <a:r>
              <a:rPr lang="en-US" sz="1700" dirty="0" err="1" smtClean="0"/>
              <a:t>getGreeting</a:t>
            </a:r>
            <a:r>
              <a:rPr lang="en-US" sz="1700" dirty="0" smtClean="0"/>
              <a:t>;</a:t>
            </a:r>
          </a:p>
          <a:p>
            <a:pPr>
              <a:lnSpc>
                <a:spcPct val="150000"/>
              </a:lnSpc>
            </a:pPr>
            <a:r>
              <a:rPr lang="en-US" sz="1700" dirty="0" smtClean="0"/>
              <a:t>f</a:t>
            </a:r>
            <a:r>
              <a:rPr lang="en-US" sz="1700" dirty="0" smtClean="0">
                <a:solidFill>
                  <a:srgbClr val="0000FF"/>
                </a:solidFill>
              </a:rPr>
              <a:t>()</a:t>
            </a:r>
            <a:r>
              <a:rPr lang="en-US" sz="1700" dirty="0" smtClean="0"/>
              <a:t>;    //”Hello, World!”</a:t>
            </a:r>
            <a:endParaRPr lang="en-US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1046414" y="3316242"/>
            <a:ext cx="4608512" cy="12695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 err="1" smtClean="0"/>
              <a:t>var</a:t>
            </a:r>
            <a:r>
              <a:rPr lang="ko-KR" altLang="en-US" sz="1700" dirty="0"/>
              <a:t> </a:t>
            </a:r>
            <a:r>
              <a:rPr lang="en-US" altLang="ko-KR" sz="1700" dirty="0" smtClean="0"/>
              <a:t>o = {};</a:t>
            </a:r>
          </a:p>
          <a:p>
            <a:pPr>
              <a:lnSpc>
                <a:spcPct val="150000"/>
              </a:lnSpc>
            </a:pPr>
            <a:r>
              <a:rPr lang="en-US" sz="1700" dirty="0" err="1" smtClean="0"/>
              <a:t>o.f</a:t>
            </a:r>
            <a:r>
              <a:rPr lang="en-US" sz="1700" dirty="0" smtClean="0"/>
              <a:t> = </a:t>
            </a:r>
            <a:r>
              <a:rPr lang="en-US" sz="1700" dirty="0" err="1" smtClean="0"/>
              <a:t>getGreeting</a:t>
            </a:r>
            <a:r>
              <a:rPr lang="en-US" sz="1700" dirty="0" smtClean="0"/>
              <a:t>; </a:t>
            </a:r>
          </a:p>
          <a:p>
            <a:pPr>
              <a:lnSpc>
                <a:spcPct val="150000"/>
              </a:lnSpc>
            </a:pPr>
            <a:r>
              <a:rPr lang="en-US" sz="1700" dirty="0" err="1" smtClean="0"/>
              <a:t>o.f</a:t>
            </a:r>
            <a:r>
              <a:rPr lang="en-US" sz="1700" dirty="0" smtClean="0"/>
              <a:t>();	//”Hello</a:t>
            </a:r>
            <a:r>
              <a:rPr lang="en-US" sz="1700" dirty="0"/>
              <a:t>, world!</a:t>
            </a:r>
            <a:r>
              <a:rPr lang="en-US" sz="1700" dirty="0" smtClean="0"/>
              <a:t>”</a:t>
            </a:r>
            <a:endParaRPr lang="en-US" sz="1700" dirty="0"/>
          </a:p>
        </p:txBody>
      </p:sp>
      <p:sp>
        <p:nvSpPr>
          <p:cNvPr id="8" name="TextBox 7"/>
          <p:cNvSpPr txBox="1"/>
          <p:nvPr/>
        </p:nvSpPr>
        <p:spPr>
          <a:xfrm>
            <a:off x="1046414" y="5278520"/>
            <a:ext cx="4608512" cy="12695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 err="1" smtClean="0"/>
              <a:t>var</a:t>
            </a:r>
            <a:r>
              <a:rPr lang="ko-KR" altLang="en-US" sz="1700" dirty="0"/>
              <a:t> </a:t>
            </a:r>
            <a:r>
              <a:rPr lang="en-US" altLang="ko-KR" sz="1700" dirty="0" err="1" smtClean="0"/>
              <a:t>arr</a:t>
            </a:r>
            <a:r>
              <a:rPr lang="en-US" altLang="ko-KR" sz="1700" dirty="0" smtClean="0"/>
              <a:t> = [1,2,3];</a:t>
            </a:r>
          </a:p>
          <a:p>
            <a:pPr>
              <a:lnSpc>
                <a:spcPct val="150000"/>
              </a:lnSpc>
            </a:pPr>
            <a:r>
              <a:rPr lang="en-US" sz="1700" dirty="0" err="1" smtClean="0"/>
              <a:t>arr</a:t>
            </a:r>
            <a:r>
              <a:rPr lang="en-US" sz="1700" dirty="0" smtClean="0"/>
              <a:t>[1] = </a:t>
            </a:r>
            <a:r>
              <a:rPr lang="en-US" sz="1700" dirty="0" err="1" smtClean="0"/>
              <a:t>getGreeting</a:t>
            </a:r>
            <a:endParaRPr lang="en-US" sz="1700" dirty="0" smtClean="0"/>
          </a:p>
          <a:p>
            <a:pPr>
              <a:lnSpc>
                <a:spcPct val="150000"/>
              </a:lnSpc>
            </a:pPr>
            <a:r>
              <a:rPr lang="en-US" sz="1700" dirty="0" err="1" smtClean="0"/>
              <a:t>arr</a:t>
            </a:r>
            <a:r>
              <a:rPr lang="en-US" sz="1700" dirty="0" smtClean="0"/>
              <a:t>[1]();</a:t>
            </a:r>
            <a:endParaRPr lang="en-US" sz="1700" dirty="0"/>
          </a:p>
        </p:txBody>
      </p:sp>
      <p:sp>
        <p:nvSpPr>
          <p:cNvPr id="4" name="TextBox 3"/>
          <p:cNvSpPr txBox="1"/>
          <p:nvPr/>
        </p:nvSpPr>
        <p:spPr>
          <a:xfrm>
            <a:off x="8820669" y="4401154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함수 정의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138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함수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함수 정의 방법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/>
              <a:t>함수 선언식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marL="457200" lvl="1" indent="0">
              <a:buNone/>
            </a:pPr>
            <a:endParaRPr lang="en-US" altLang="ko-KR" dirty="0" smtClean="0"/>
          </a:p>
          <a:p>
            <a:pPr lvl="1"/>
            <a:endParaRPr lang="en-US" altLang="ko-KR" sz="1200" dirty="0" smtClean="0"/>
          </a:p>
          <a:p>
            <a:pPr lvl="1"/>
            <a:r>
              <a:rPr lang="ko-KR" altLang="en-US" dirty="0" smtClean="0"/>
              <a:t>함수 표현식</a:t>
            </a:r>
            <a:endParaRPr lang="en-US" altLang="ko-KR" i="1" dirty="0" smtClean="0"/>
          </a:p>
          <a:p>
            <a:pPr lvl="1"/>
            <a:endParaRPr lang="en-US" altLang="ko-KR" i="1" dirty="0"/>
          </a:p>
          <a:p>
            <a:pPr lvl="1"/>
            <a:endParaRPr lang="en-US" altLang="ko-KR" i="1" dirty="0"/>
          </a:p>
          <a:p>
            <a:pPr lvl="1"/>
            <a:endParaRPr lang="en-US" altLang="ko-KR" sz="1200" dirty="0" smtClean="0"/>
          </a:p>
          <a:p>
            <a:pPr lvl="1"/>
            <a:r>
              <a:rPr lang="ko-KR" altLang="en-US" dirty="0" err="1" smtClean="0"/>
              <a:t>익명함수</a:t>
            </a:r>
            <a:r>
              <a:rPr lang="en-US" altLang="ko-KR" dirty="0" smtClean="0"/>
              <a:t>(</a:t>
            </a:r>
            <a:r>
              <a:rPr lang="ko-KR" altLang="en-US" dirty="0" smtClean="0"/>
              <a:t>즉시 실행이 필요한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주로 </a:t>
            </a:r>
            <a:r>
              <a:rPr lang="ko-KR" altLang="en-US" dirty="0" err="1" smtClean="0"/>
              <a:t>콜백함수로</a:t>
            </a:r>
            <a:r>
              <a:rPr lang="ko-KR" altLang="en-US" dirty="0" smtClean="0"/>
              <a:t> 사용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4</a:t>
            </a:fld>
            <a:endParaRPr lang="en-US"/>
          </a:p>
        </p:txBody>
      </p:sp>
      <p:sp>
        <p:nvSpPr>
          <p:cNvPr id="10" name="직사각형 9"/>
          <p:cNvSpPr/>
          <p:nvPr/>
        </p:nvSpPr>
        <p:spPr>
          <a:xfrm>
            <a:off x="1099877" y="1842691"/>
            <a:ext cx="5122546" cy="92333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function </a:t>
            </a:r>
            <a:r>
              <a:rPr lang="ko-KR" altLang="en-US" dirty="0" err="1"/>
              <a:t>함수명</a:t>
            </a:r>
            <a:r>
              <a:rPr lang="en-US" altLang="ko-KR" dirty="0"/>
              <a:t>() {</a:t>
            </a:r>
          </a:p>
          <a:p>
            <a:r>
              <a:rPr lang="en-US" altLang="ko-KR" dirty="0"/>
              <a:t>  </a:t>
            </a:r>
            <a:r>
              <a:rPr lang="ko-KR" altLang="en-US" dirty="0" smtClean="0"/>
              <a:t>함수 </a:t>
            </a:r>
            <a:r>
              <a:rPr lang="ko-KR" altLang="en-US" dirty="0" err="1" smtClean="0"/>
              <a:t>로직</a:t>
            </a:r>
            <a:endParaRPr lang="ko-KR" altLang="en-US" dirty="0"/>
          </a:p>
          <a:p>
            <a:r>
              <a:rPr lang="en-US" altLang="ko-KR" dirty="0"/>
              <a:t>}</a:t>
            </a:r>
            <a:endParaRPr 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1095375" y="3632240"/>
            <a:ext cx="5127048" cy="92333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 err="1"/>
              <a:t>var</a:t>
            </a:r>
            <a:r>
              <a:rPr lang="en-US" altLang="ko-KR" dirty="0"/>
              <a:t> </a:t>
            </a:r>
            <a:r>
              <a:rPr lang="ko-KR" altLang="en-US" dirty="0" err="1"/>
              <a:t>함수명</a:t>
            </a:r>
            <a:r>
              <a:rPr lang="ko-KR" altLang="en-US" dirty="0"/>
              <a:t> </a:t>
            </a:r>
            <a:r>
              <a:rPr lang="en-US" altLang="ko-KR" dirty="0"/>
              <a:t>= function () {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함수 </a:t>
            </a:r>
            <a:r>
              <a:rPr lang="ko-KR" altLang="en-US" dirty="0" err="1" smtClean="0"/>
              <a:t>로직</a:t>
            </a:r>
            <a:endParaRPr lang="ko-KR" altLang="en-US" dirty="0"/>
          </a:p>
          <a:p>
            <a:r>
              <a:rPr lang="en-US" altLang="ko-KR" dirty="0"/>
              <a:t>};</a:t>
            </a:r>
            <a:endParaRPr 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1073813" y="5443238"/>
            <a:ext cx="5127048" cy="923330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(function () {</a:t>
            </a:r>
            <a:br>
              <a:rPr lang="en-US" dirty="0"/>
            </a:br>
            <a:r>
              <a:rPr lang="en-US" dirty="0"/>
              <a:t>    </a:t>
            </a:r>
            <a:r>
              <a:rPr lang="ko-KR" altLang="en-US" dirty="0"/>
              <a:t>함수 </a:t>
            </a:r>
            <a:r>
              <a:rPr lang="ko-KR" altLang="en-US" dirty="0" err="1"/>
              <a:t>로직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})</a:t>
            </a:r>
            <a:r>
              <a:rPr lang="en-US" dirty="0">
                <a:solidFill>
                  <a:srgbClr val="0000FF"/>
                </a:solidFill>
              </a:rPr>
              <a:t>()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681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함수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익명 함수</a:t>
            </a:r>
            <a:r>
              <a:rPr lang="en-US" altLang="ko-KR" sz="2200" b="1" dirty="0">
                <a:solidFill>
                  <a:prstClr val="black"/>
                </a:solidFill>
              </a:rPr>
              <a:t>(anonymous function)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/>
              <a:t>이름이 없는 함수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5</a:t>
            </a:fld>
            <a:endParaRPr lang="en-US"/>
          </a:p>
        </p:txBody>
      </p:sp>
      <p:sp>
        <p:nvSpPr>
          <p:cNvPr id="10" name="직사각형 9"/>
          <p:cNvSpPr/>
          <p:nvPr/>
        </p:nvSpPr>
        <p:spPr>
          <a:xfrm>
            <a:off x="1143050" y="2036837"/>
            <a:ext cx="3006080" cy="132343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ES" sz="2000" dirty="0" smtClean="0"/>
              <a:t>function </a:t>
            </a:r>
            <a:r>
              <a:rPr lang="es-ES" sz="2000" dirty="0">
                <a:solidFill>
                  <a:srgbClr val="FF0000"/>
                </a:solidFill>
              </a:rPr>
              <a:t>x</a:t>
            </a:r>
            <a:r>
              <a:rPr lang="es-ES" sz="2000" dirty="0"/>
              <a:t>(y) {</a:t>
            </a:r>
          </a:p>
          <a:p>
            <a:r>
              <a:rPr lang="es-ES" sz="2000" dirty="0" smtClean="0"/>
              <a:t>    return </a:t>
            </a:r>
            <a:r>
              <a:rPr lang="es-ES" sz="2000" dirty="0"/>
              <a:t>y * y;</a:t>
            </a:r>
          </a:p>
          <a:p>
            <a:r>
              <a:rPr lang="es-ES" sz="2000" dirty="0" smtClean="0"/>
              <a:t>};</a:t>
            </a:r>
          </a:p>
          <a:p>
            <a:r>
              <a:rPr lang="en-US" sz="2000" dirty="0" smtClean="0"/>
              <a:t>x(3)</a:t>
            </a:r>
            <a:endParaRPr lang="en-US" sz="2000" dirty="0"/>
          </a:p>
        </p:txBody>
      </p:sp>
      <p:sp>
        <p:nvSpPr>
          <p:cNvPr id="11" name="직사각형 10"/>
          <p:cNvSpPr/>
          <p:nvPr/>
        </p:nvSpPr>
        <p:spPr>
          <a:xfrm>
            <a:off x="6388850" y="2035503"/>
            <a:ext cx="3006080" cy="132343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ES" sz="2000" dirty="0"/>
              <a:t>var </a:t>
            </a:r>
            <a:r>
              <a:rPr lang="es-ES" sz="2000" dirty="0">
                <a:solidFill>
                  <a:srgbClr val="FF0000"/>
                </a:solidFill>
              </a:rPr>
              <a:t>x</a:t>
            </a:r>
            <a:r>
              <a:rPr lang="es-ES" sz="2000" dirty="0"/>
              <a:t> =</a:t>
            </a:r>
            <a:r>
              <a:rPr lang="es-ES" sz="2000" dirty="0">
                <a:solidFill>
                  <a:srgbClr val="0000FF"/>
                </a:solidFill>
              </a:rPr>
              <a:t> function(y) {</a:t>
            </a:r>
          </a:p>
          <a:p>
            <a:r>
              <a:rPr lang="es-ES" sz="2000" dirty="0" smtClean="0">
                <a:solidFill>
                  <a:srgbClr val="0000FF"/>
                </a:solidFill>
              </a:rPr>
              <a:t>    return </a:t>
            </a:r>
            <a:r>
              <a:rPr lang="es-ES" sz="2000" dirty="0">
                <a:solidFill>
                  <a:srgbClr val="0000FF"/>
                </a:solidFill>
              </a:rPr>
              <a:t>y * y;</a:t>
            </a:r>
          </a:p>
          <a:p>
            <a:r>
              <a:rPr lang="es-ES" sz="2000" dirty="0">
                <a:solidFill>
                  <a:srgbClr val="0000FF"/>
                </a:solidFill>
              </a:rPr>
              <a:t>};</a:t>
            </a:r>
            <a:r>
              <a:rPr lang="es-ES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es-ES" sz="2000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s-ES" sz="2000" dirty="0" smtClean="0"/>
              <a:t>x(3)</a:t>
            </a:r>
            <a:endParaRPr lang="es-E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1647106" y="3375273"/>
            <a:ext cx="20537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[ </a:t>
            </a:r>
            <a:r>
              <a:rPr lang="ko-KR" altLang="en-US" sz="2000" dirty="0" smtClean="0"/>
              <a:t>일반적인 형태 </a:t>
            </a:r>
            <a:r>
              <a:rPr lang="en-US" altLang="ko-KR" sz="2000" dirty="0" smtClean="0"/>
              <a:t>]</a:t>
            </a:r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7122239" y="3383464"/>
            <a:ext cx="15408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[ </a:t>
            </a:r>
            <a:r>
              <a:rPr lang="ko-KR" altLang="en-US" sz="2000" dirty="0" smtClean="0"/>
              <a:t>익명 함수 </a:t>
            </a:r>
            <a:r>
              <a:rPr lang="en-US" altLang="ko-KR" sz="2000" dirty="0" smtClean="0"/>
              <a:t>]</a:t>
            </a:r>
            <a:endParaRPr lang="en-US" sz="2000" dirty="0"/>
          </a:p>
        </p:txBody>
      </p:sp>
      <p:sp>
        <p:nvSpPr>
          <p:cNvPr id="15" name="직사각형 14"/>
          <p:cNvSpPr/>
          <p:nvPr/>
        </p:nvSpPr>
        <p:spPr>
          <a:xfrm>
            <a:off x="1117791" y="4197077"/>
            <a:ext cx="3006080" cy="163121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 smtClean="0"/>
              <a:t>var</a:t>
            </a:r>
            <a:r>
              <a:rPr lang="en-US" sz="2000" dirty="0" smtClean="0"/>
              <a:t> g=function f(y){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</a:t>
            </a:r>
            <a:r>
              <a:rPr lang="es-ES" sz="2000" dirty="0" smtClean="0"/>
              <a:t>return </a:t>
            </a:r>
            <a:r>
              <a:rPr lang="es-ES" sz="2000" dirty="0"/>
              <a:t>y * y;</a:t>
            </a:r>
            <a:endParaRPr lang="en-US" sz="2000" dirty="0" smtClean="0"/>
          </a:p>
          <a:p>
            <a:r>
              <a:rPr lang="en-US" sz="2000" dirty="0" smtClean="0"/>
              <a:t>}</a:t>
            </a:r>
          </a:p>
          <a:p>
            <a:endParaRPr lang="es-ES" sz="2000" dirty="0" smtClean="0"/>
          </a:p>
          <a:p>
            <a:r>
              <a:rPr lang="es-ES" sz="2000" dirty="0" smtClean="0"/>
              <a:t>f(3)// </a:t>
            </a:r>
            <a:r>
              <a:rPr lang="ko-KR" altLang="en-US" sz="2000" dirty="0" smtClean="0"/>
              <a:t>에러</a:t>
            </a:r>
            <a:endParaRPr lang="es-ES" sz="2000" dirty="0"/>
          </a:p>
        </p:txBody>
      </p:sp>
      <p:sp>
        <p:nvSpPr>
          <p:cNvPr id="16" name="TextBox 15"/>
          <p:cNvSpPr txBox="1"/>
          <p:nvPr/>
        </p:nvSpPr>
        <p:spPr>
          <a:xfrm>
            <a:off x="1371914" y="5971905"/>
            <a:ext cx="24721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smtClean="0"/>
              <a:t>외부에서 호출할 땐 </a:t>
            </a:r>
            <a:endParaRPr lang="en-US" altLang="ko-KR" sz="2000" dirty="0" smtClean="0"/>
          </a:p>
          <a:p>
            <a:r>
              <a:rPr lang="en-US" altLang="ko-KR" sz="2000" dirty="0" smtClean="0"/>
              <a:t>g</a:t>
            </a:r>
            <a:r>
              <a:rPr lang="ko-KR" altLang="en-US" sz="2000" dirty="0" smtClean="0"/>
              <a:t>에 우선순위가 있음</a:t>
            </a:r>
            <a:endParaRPr lang="en-US" altLang="ko-KR" sz="2000" dirty="0" smtClean="0"/>
          </a:p>
        </p:txBody>
      </p:sp>
    </p:spTree>
    <p:extLst>
      <p:ext uri="{BB962C8B-B14F-4D97-AF65-F5344CB8AC3E}">
        <p14:creationId xmlns:p14="http://schemas.microsoft.com/office/powerpoint/2010/main" val="60661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함수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>
                <a:solidFill>
                  <a:prstClr val="black"/>
                </a:solidFill>
              </a:rPr>
              <a:t>즉시 실행 함수 표현</a:t>
            </a:r>
            <a:r>
              <a:rPr lang="en-US" altLang="ko-KR" sz="2200" b="1" dirty="0">
                <a:solidFill>
                  <a:prstClr val="black"/>
                </a:solidFill>
              </a:rPr>
              <a:t>(Immediately Invoked Function Expression, IIFE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)</a:t>
            </a:r>
          </a:p>
          <a:p>
            <a:pPr lvl="1"/>
            <a:r>
              <a:rPr lang="ko-KR" altLang="en-US" dirty="0"/>
              <a:t>선언과 동시에 바로 실행하는 함수</a:t>
            </a:r>
            <a:endParaRPr lang="en-US" altLang="ko-KR" dirty="0"/>
          </a:p>
          <a:p>
            <a:pPr lvl="1"/>
            <a:r>
              <a:rPr lang="ko-KR" altLang="en-US" dirty="0"/>
              <a:t>함수를 괄호</a:t>
            </a:r>
            <a:r>
              <a:rPr lang="en-US" altLang="ko-KR" dirty="0">
                <a:solidFill>
                  <a:srgbClr val="FF0000"/>
                </a:solidFill>
              </a:rPr>
              <a:t>()</a:t>
            </a:r>
            <a:r>
              <a:rPr lang="ko-KR" altLang="en-US" dirty="0"/>
              <a:t>로 묶음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6</a:t>
            </a:fld>
            <a:endParaRPr lang="en-US"/>
          </a:p>
        </p:txBody>
      </p:sp>
      <p:sp>
        <p:nvSpPr>
          <p:cNvPr id="13" name="직사각형 12"/>
          <p:cNvSpPr/>
          <p:nvPr/>
        </p:nvSpPr>
        <p:spPr>
          <a:xfrm>
            <a:off x="1095425" y="2428503"/>
            <a:ext cx="3006080" cy="101566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ES" sz="2000" dirty="0" smtClean="0">
                <a:solidFill>
                  <a:srgbClr val="FF0000"/>
                </a:solidFill>
              </a:rPr>
              <a:t>(</a:t>
            </a:r>
            <a:r>
              <a:rPr lang="es-ES" sz="2000" dirty="0" smtClean="0"/>
              <a:t> </a:t>
            </a:r>
            <a:r>
              <a:rPr lang="es-ES" sz="2000" dirty="0" smtClean="0">
                <a:solidFill>
                  <a:srgbClr val="7030A0"/>
                </a:solidFill>
              </a:rPr>
              <a:t>function (</a:t>
            </a:r>
            <a:r>
              <a:rPr lang="es-ES" sz="2000" dirty="0">
                <a:solidFill>
                  <a:srgbClr val="7030A0"/>
                </a:solidFill>
              </a:rPr>
              <a:t>y) {</a:t>
            </a:r>
          </a:p>
          <a:p>
            <a:r>
              <a:rPr lang="es-ES" sz="2000" dirty="0">
                <a:solidFill>
                  <a:srgbClr val="7030A0"/>
                </a:solidFill>
              </a:rPr>
              <a:t>    return y * y;</a:t>
            </a:r>
          </a:p>
          <a:p>
            <a:r>
              <a:rPr lang="es-ES" sz="2000" dirty="0" smtClean="0">
                <a:solidFill>
                  <a:srgbClr val="7030A0"/>
                </a:solidFill>
              </a:rPr>
              <a:t>}</a:t>
            </a:r>
            <a:r>
              <a:rPr lang="es-ES" sz="2000" dirty="0" smtClean="0"/>
              <a:t> </a:t>
            </a:r>
            <a:r>
              <a:rPr lang="es-ES" sz="2000" dirty="0" smtClean="0">
                <a:solidFill>
                  <a:srgbClr val="FF0000"/>
                </a:solidFill>
              </a:rPr>
              <a:t>)</a:t>
            </a:r>
            <a:r>
              <a:rPr lang="es-ES" sz="2000" dirty="0" smtClean="0">
                <a:solidFill>
                  <a:srgbClr val="0000FF"/>
                </a:solidFill>
              </a:rPr>
              <a:t>(3)</a:t>
            </a:r>
            <a:r>
              <a:rPr lang="es-ES" sz="2000" dirty="0" smtClean="0"/>
              <a:t>;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5915947" y="2428503"/>
            <a:ext cx="3006080" cy="101566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rgbClr val="FF0000"/>
                </a:solidFill>
              </a:rPr>
              <a:t>(</a:t>
            </a:r>
            <a:r>
              <a:rPr lang="es-ES" sz="2000" dirty="0"/>
              <a:t> function x(y) {</a:t>
            </a:r>
          </a:p>
          <a:p>
            <a:r>
              <a:rPr lang="es-ES" sz="2000" dirty="0"/>
              <a:t>    return y * y;</a:t>
            </a:r>
          </a:p>
          <a:p>
            <a:r>
              <a:rPr lang="es-ES" sz="2000" dirty="0"/>
              <a:t>} </a:t>
            </a:r>
            <a:r>
              <a:rPr lang="es-ES" sz="2000" dirty="0">
                <a:solidFill>
                  <a:srgbClr val="FF0000"/>
                </a:solidFill>
              </a:rPr>
              <a:t>)</a:t>
            </a:r>
            <a:r>
              <a:rPr lang="es-ES" sz="2000" dirty="0">
                <a:solidFill>
                  <a:srgbClr val="0000FF"/>
                </a:solidFill>
              </a:rPr>
              <a:t>(3</a:t>
            </a:r>
            <a:r>
              <a:rPr lang="es-ES" sz="2000" dirty="0" smtClean="0">
                <a:solidFill>
                  <a:srgbClr val="0000FF"/>
                </a:solidFill>
              </a:rPr>
              <a:t>)</a:t>
            </a:r>
            <a:r>
              <a:rPr lang="es-ES" sz="2000" dirty="0" smtClean="0"/>
              <a:t>;</a:t>
            </a:r>
            <a:endParaRPr lang="es-E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1232133" y="3447950"/>
            <a:ext cx="26821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[ </a:t>
            </a:r>
            <a:r>
              <a:rPr lang="ko-KR" altLang="en-US" sz="2000" dirty="0" smtClean="0"/>
              <a:t>익명 즉시 실행 함수 </a:t>
            </a:r>
            <a:r>
              <a:rPr lang="en-US" altLang="ko-KR" sz="2000" dirty="0" smtClean="0"/>
              <a:t>]</a:t>
            </a:r>
            <a:endParaRPr 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5329312" y="3470891"/>
            <a:ext cx="41793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[ </a:t>
            </a:r>
            <a:r>
              <a:rPr lang="ko-KR" altLang="en-US" sz="2000" dirty="0" smtClean="0"/>
              <a:t>기명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이름이 있는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 즉시 실행 함수 </a:t>
            </a:r>
            <a:r>
              <a:rPr lang="en-US" altLang="ko-KR" sz="2000" dirty="0" smtClean="0"/>
              <a:t>]</a:t>
            </a:r>
            <a:endParaRPr lang="en-US" sz="2000" dirty="0"/>
          </a:p>
        </p:txBody>
      </p:sp>
      <p:sp>
        <p:nvSpPr>
          <p:cNvPr id="20" name="직사각형 19"/>
          <p:cNvSpPr/>
          <p:nvPr/>
        </p:nvSpPr>
        <p:spPr>
          <a:xfrm>
            <a:off x="1070166" y="4084687"/>
            <a:ext cx="3006080" cy="132343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rgbClr val="FF0000"/>
                </a:solidFill>
              </a:rPr>
              <a:t>(</a:t>
            </a:r>
            <a:r>
              <a:rPr lang="es-ES" sz="2000" dirty="0"/>
              <a:t> </a:t>
            </a:r>
            <a:r>
              <a:rPr lang="es-ES" sz="2000" dirty="0" smtClean="0"/>
              <a:t>fVal = function </a:t>
            </a:r>
            <a:r>
              <a:rPr lang="es-ES" sz="2000" dirty="0"/>
              <a:t>x(y) {</a:t>
            </a:r>
          </a:p>
          <a:p>
            <a:r>
              <a:rPr lang="es-ES" sz="2000" dirty="0"/>
              <a:t>    return y * y;</a:t>
            </a:r>
          </a:p>
          <a:p>
            <a:r>
              <a:rPr lang="es-ES" sz="2000" dirty="0"/>
              <a:t>} </a:t>
            </a:r>
            <a:r>
              <a:rPr lang="es-ES" sz="2000" dirty="0">
                <a:solidFill>
                  <a:srgbClr val="FF0000"/>
                </a:solidFill>
              </a:rPr>
              <a:t>)</a:t>
            </a:r>
            <a:r>
              <a:rPr lang="es-ES" sz="2000" dirty="0">
                <a:solidFill>
                  <a:srgbClr val="0000FF"/>
                </a:solidFill>
              </a:rPr>
              <a:t>(3</a:t>
            </a:r>
            <a:r>
              <a:rPr lang="es-ES" sz="2000" dirty="0" smtClean="0">
                <a:solidFill>
                  <a:srgbClr val="0000FF"/>
                </a:solidFill>
              </a:rPr>
              <a:t>)</a:t>
            </a:r>
            <a:r>
              <a:rPr lang="es-ES" sz="2000" dirty="0" smtClean="0"/>
              <a:t>;</a:t>
            </a:r>
          </a:p>
          <a:p>
            <a:r>
              <a:rPr lang="es-ES" sz="2000" dirty="0" smtClean="0"/>
              <a:t>fVal(4)</a:t>
            </a:r>
            <a:endParaRPr lang="es-ES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1260988" y="5408126"/>
            <a:ext cx="2624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/>
              <a:t>[ </a:t>
            </a:r>
            <a:r>
              <a:rPr lang="ko-KR" altLang="en-US" sz="2000" dirty="0" smtClean="0"/>
              <a:t>변수에 저장도 가능 </a:t>
            </a:r>
            <a:r>
              <a:rPr lang="en-US" altLang="ko-KR" sz="2000" dirty="0" smtClean="0"/>
              <a:t>]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7151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함수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err="1" smtClean="0">
                <a:solidFill>
                  <a:prstClr val="black"/>
                </a:solidFill>
              </a:rPr>
              <a:t>클로저</a:t>
            </a:r>
            <a:r>
              <a:rPr lang="en-US" altLang="ko-KR" sz="2200" b="1" dirty="0">
                <a:solidFill>
                  <a:prstClr val="black"/>
                </a:solidFill>
              </a:rPr>
              <a:t>(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closure)</a:t>
            </a:r>
          </a:p>
          <a:p>
            <a:pPr lvl="1"/>
            <a:r>
              <a:rPr lang="ko-KR" altLang="en-US" dirty="0"/>
              <a:t>생성될 당시의 환경을 기억하는 함수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	</a:t>
            </a:r>
            <a:r>
              <a:rPr lang="ko-KR" altLang="en-US" dirty="0" err="1" smtClean="0"/>
              <a:t>스코프가</a:t>
            </a:r>
            <a:r>
              <a:rPr lang="ko-KR" altLang="en-US" dirty="0" smtClean="0"/>
              <a:t> </a:t>
            </a:r>
            <a:r>
              <a:rPr lang="ko-KR" altLang="en-US" dirty="0"/>
              <a:t>해제되어야 할 시점에도 사라지지 </a:t>
            </a:r>
            <a:r>
              <a:rPr lang="ko-KR" altLang="en-US" dirty="0" smtClean="0"/>
              <a:t>않는 특징</a:t>
            </a:r>
            <a:endParaRPr lang="en-US" altLang="ko-K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함수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안에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외부 함수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또 다른 함수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내부함수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를 정의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내부 함수가 외부 함수의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스코프에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접근 할 수 있게 하는 </a:t>
            </a:r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것</a:t>
            </a:r>
            <a:endParaRPr lang="en-US" altLang="ko-K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7</a:t>
            </a:fld>
            <a:endParaRPr lang="en-US"/>
          </a:p>
        </p:txBody>
      </p: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1047750" y="3377403"/>
            <a:ext cx="6432384" cy="2084399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2000" tIns="72000" rIns="72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08D49"/>
                </a:solidFill>
                <a:effectLst/>
                <a:latin typeface="Consolas" panose="020B0609020204030204" pitchFamily="49" charset="0"/>
              </a:rPr>
              <a:t>outFunc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(name) {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outVar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7CD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EC699"/>
                </a:solidFill>
                <a:effectLst/>
                <a:latin typeface="Consolas" panose="020B0609020204030204" pitchFamily="49" charset="0"/>
              </a:rPr>
              <a:t>'my name is '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08D49"/>
                </a:solidFill>
                <a:effectLst/>
                <a:latin typeface="Consolas" panose="020B0609020204030204" pitchFamily="49" charset="0"/>
              </a:rPr>
              <a:t>innerFunc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outVar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7CDC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name }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innerFunc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result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7CD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08D49"/>
                </a:solidFill>
                <a:effectLst/>
                <a:latin typeface="Consolas" panose="020B0609020204030204" pitchFamily="49" charset="0"/>
              </a:rPr>
              <a:t>outFunc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EC699"/>
                </a:solidFill>
                <a:effectLst/>
                <a:latin typeface="Consolas" panose="020B0609020204030204" pitchFamily="49" charset="0"/>
              </a:rPr>
              <a:t>'bono'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08D49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EC699"/>
                </a:solidFill>
                <a:effectLst/>
                <a:latin typeface="Consolas" panose="020B0609020204030204" pitchFamily="49" charset="0"/>
              </a:rPr>
              <a:t>'result: '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7CDC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08D4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047750" y="5577959"/>
            <a:ext cx="29433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// result: my name is bono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6034656" y="6350000"/>
            <a:ext cx="55999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https://blueshw.github.io/2017/04/12/javascript-closure/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9050" y="4219575"/>
            <a:ext cx="41120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outFunc</a:t>
            </a:r>
            <a:r>
              <a:rPr lang="ko-KR" altLang="en-US" dirty="0" smtClean="0"/>
              <a:t>함수 실행이 종료된 시점이므로</a:t>
            </a:r>
            <a:endParaRPr lang="en-US" altLang="ko-KR" dirty="0" smtClean="0"/>
          </a:p>
          <a:p>
            <a:r>
              <a:rPr lang="en-US" altLang="ko-KR" dirty="0"/>
              <a:t>name </a:t>
            </a:r>
            <a:r>
              <a:rPr lang="ko-KR" altLang="en-US" dirty="0"/>
              <a:t>과 </a:t>
            </a:r>
            <a:r>
              <a:rPr lang="ko-KR" altLang="en-US" dirty="0" err="1"/>
              <a:t>지역변수인</a:t>
            </a:r>
            <a:r>
              <a:rPr lang="ko-KR" altLang="en-US" dirty="0"/>
              <a:t> </a:t>
            </a:r>
            <a:r>
              <a:rPr lang="en-US" altLang="ko-KR" dirty="0" err="1"/>
              <a:t>outVar</a:t>
            </a:r>
            <a:r>
              <a:rPr lang="en-US" altLang="ko-KR" dirty="0"/>
              <a:t> </a:t>
            </a:r>
            <a:r>
              <a:rPr lang="ko-KR" altLang="en-US" dirty="0"/>
              <a:t>는 </a:t>
            </a:r>
            <a:endParaRPr lang="en-US" altLang="ko-KR" dirty="0" smtClean="0"/>
          </a:p>
          <a:p>
            <a:r>
              <a:rPr lang="ko-KR" altLang="en-US" dirty="0" smtClean="0"/>
              <a:t>메모리에서 정리되어야 하는데</a:t>
            </a:r>
            <a:r>
              <a:rPr lang="en-US" altLang="ko-KR" dirty="0" smtClean="0"/>
              <a:t>..</a:t>
            </a:r>
            <a:endParaRPr lang="en-US" dirty="0"/>
          </a:p>
        </p:txBody>
      </p:sp>
      <p:cxnSp>
        <p:nvCxnSpPr>
          <p:cNvPr id="16" name="구부러진 연결선 15"/>
          <p:cNvCxnSpPr>
            <a:endCxn id="9" idx="1"/>
          </p:cNvCxnSpPr>
          <p:nvPr/>
        </p:nvCxnSpPr>
        <p:spPr>
          <a:xfrm flipV="1">
            <a:off x="5248275" y="4681240"/>
            <a:ext cx="2390775" cy="599849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48575" y="5388832"/>
            <a:ext cx="37721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innerFunc</a:t>
            </a:r>
            <a:r>
              <a:rPr lang="ko-KR" altLang="en-US" dirty="0" smtClean="0"/>
              <a:t>함수가 선언될 때</a:t>
            </a:r>
            <a:r>
              <a:rPr lang="en-US" altLang="ko-KR" dirty="0" smtClean="0"/>
              <a:t>, </a:t>
            </a:r>
            <a:r>
              <a:rPr lang="en-US" altLang="ko-KR" dirty="0" smtClean="0">
                <a:solidFill>
                  <a:srgbClr val="0000FF"/>
                </a:solidFill>
              </a:rPr>
              <a:t>name</a:t>
            </a:r>
            <a:r>
              <a:rPr lang="ko-KR" altLang="en-US" dirty="0" smtClean="0"/>
              <a:t>과 </a:t>
            </a:r>
            <a:endParaRPr lang="en-US" altLang="ko-KR" dirty="0" smtClean="0"/>
          </a:p>
          <a:p>
            <a:r>
              <a:rPr lang="en-US" dirty="0" err="1" smtClean="0">
                <a:solidFill>
                  <a:srgbClr val="0000FF"/>
                </a:solidFill>
              </a:rPr>
              <a:t>outVar</a:t>
            </a:r>
            <a:r>
              <a:rPr lang="ko-KR" altLang="en-US" dirty="0" smtClean="0"/>
              <a:t>를 기억하고 있음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239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함수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err="1" smtClean="0">
                <a:solidFill>
                  <a:prstClr val="black"/>
                </a:solidFill>
              </a:rPr>
              <a:t>클로저</a:t>
            </a:r>
            <a:r>
              <a:rPr lang="en-US" altLang="ko-KR" sz="2200" b="1" dirty="0">
                <a:solidFill>
                  <a:prstClr val="black"/>
                </a:solidFill>
              </a:rPr>
              <a:t>(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closure)</a:t>
            </a:r>
          </a:p>
          <a:p>
            <a:pPr lvl="1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8</a:t>
            </a:fld>
            <a:endParaRPr lang="en-US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828675" y="1338764"/>
            <a:ext cx="6781800" cy="4577389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out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7CD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EC699"/>
                </a:solidFill>
                <a:effectLst/>
                <a:latin typeface="Consolas" panose="020B0609020204030204" pitchFamily="49" charset="0"/>
              </a:rPr>
              <a:t>'out value'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//</a:t>
            </a:r>
            <a:r>
              <a:rPr lang="ko-KR" alt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전역스코프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08D49"/>
                </a:solidFill>
                <a:effectLst/>
                <a:latin typeface="Consolas" panose="020B0609020204030204" pitchFamily="49" charset="0"/>
              </a:rPr>
              <a:t>outFunc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            </a:t>
            </a:r>
            <a:r>
              <a:rPr lang="en-US" altLang="en-US" dirty="0" smtClean="0">
                <a:solidFill>
                  <a:srgbClr val="CCCCCC"/>
                </a:solidFill>
                <a:latin typeface="Consolas" panose="020B0609020204030204" pitchFamily="49" charset="0"/>
              </a:rPr>
              <a:t>//</a:t>
            </a:r>
            <a:r>
              <a:rPr lang="en-US" alt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outFunc</a:t>
            </a:r>
            <a:r>
              <a:rPr lang="ko-KR" altLang="en-US" dirty="0" err="1" smtClean="0">
                <a:solidFill>
                  <a:srgbClr val="CCCCCC"/>
                </a:solidFill>
                <a:latin typeface="Consolas" panose="020B0609020204030204" pitchFamily="49" charset="0"/>
              </a:rPr>
              <a:t>스코프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CC99CD"/>
              </a:solidFill>
              <a:effectLst/>
              <a:latin typeface="Consolas" panose="020B0609020204030204" pitchFamily="49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inner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7CD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EC699"/>
                </a:solidFill>
                <a:effectLst/>
                <a:latin typeface="Consolas" panose="020B0609020204030204" pitchFamily="49" charset="0"/>
              </a:rPr>
              <a:t>'in value'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08D49"/>
                </a:solidFill>
                <a:effectLst/>
                <a:latin typeface="Consolas" panose="020B0609020204030204" pitchFamily="49" charset="0"/>
              </a:rPr>
              <a:t>inFunc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inParam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  </a:t>
            </a:r>
            <a:r>
              <a:rPr lang="en-US" altLang="en-US" dirty="0" smtClean="0">
                <a:solidFill>
                  <a:srgbClr val="CCCCCC"/>
                </a:solidFill>
                <a:latin typeface="Consolas" panose="020B0609020204030204" pitchFamily="49" charset="0"/>
              </a:rPr>
              <a:t>//</a:t>
            </a:r>
            <a:r>
              <a:rPr lang="en-US" alt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inFunc</a:t>
            </a:r>
            <a:r>
              <a:rPr lang="en-US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ko-KR" alt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스코프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08D49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EC699"/>
                </a:solidFill>
                <a:effectLst/>
                <a:latin typeface="Consolas" panose="020B0609020204030204" pitchFamily="49" charset="0"/>
              </a:rPr>
              <a:t>'out: '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7CDC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out)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08D49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EC699"/>
                </a:solidFill>
                <a:effectLst/>
                <a:latin typeface="Consolas" panose="020B0609020204030204" pitchFamily="49" charset="0"/>
              </a:rPr>
              <a:t>'inner: '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7CDC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inner)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console.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08D49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EC69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7EC699"/>
                </a:solidFill>
                <a:effectLst/>
                <a:latin typeface="Consolas" panose="020B0609020204030204" pitchFamily="49" charset="0"/>
              </a:rPr>
              <a:t>inParam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EC699"/>
                </a:solidFill>
                <a:effectLst/>
                <a:latin typeface="Consolas" panose="020B0609020204030204" pitchFamily="49" charset="0"/>
              </a:rPr>
              <a:t>: '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7CDC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inParam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inFunc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7CD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EC699"/>
                </a:solidFill>
                <a:effectLst/>
                <a:latin typeface="Consolas" panose="020B0609020204030204" pitchFamily="49" charset="0"/>
              </a:rPr>
              <a:t>'this is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7EC699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EC69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outResult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7CD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08D49"/>
                </a:solidFill>
                <a:effectLst/>
                <a:latin typeface="Consolas" panose="020B0609020204030204" pitchFamily="49" charset="0"/>
              </a:rPr>
              <a:t>outFunc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08D49"/>
                </a:solidFill>
                <a:effectLst/>
                <a:latin typeface="Consolas" panose="020B0609020204030204" pitchFamily="49" charset="0"/>
              </a:rPr>
              <a:t>outResult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// out: out value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// inner: in value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inParam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 this is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783666" y="1338764"/>
            <a:ext cx="405431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/>
              <a:t>inFunc</a:t>
            </a:r>
            <a:r>
              <a:rPr lang="ko-KR" altLang="en-US" dirty="0" smtClean="0"/>
              <a:t>은 선언되었지만</a:t>
            </a:r>
            <a:endParaRPr lang="en-US" altLang="ko-KR" dirty="0" smtClean="0"/>
          </a:p>
          <a:p>
            <a:r>
              <a:rPr lang="ko-KR" altLang="en-US" dirty="0" smtClean="0"/>
              <a:t>언제 호출될 지 모르니</a:t>
            </a:r>
            <a:endParaRPr lang="en-US" altLang="ko-KR" dirty="0" smtClean="0"/>
          </a:p>
          <a:p>
            <a:r>
              <a:rPr lang="ko-KR" altLang="en-US" dirty="0" err="1" smtClean="0"/>
              <a:t>안전빵</a:t>
            </a:r>
            <a:r>
              <a:rPr lang="en-US" altLang="ko-KR" dirty="0" smtClean="0"/>
              <a:t>(?)</a:t>
            </a:r>
            <a:r>
              <a:rPr lang="ko-KR" altLang="en-US" dirty="0" smtClean="0"/>
              <a:t>으로 변수들을 저장하고 있음</a:t>
            </a:r>
            <a:endParaRPr 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704849" y="5972352"/>
            <a:ext cx="103413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함수가 선언되는 </a:t>
            </a:r>
            <a:r>
              <a:rPr lang="ko-KR" altLang="en-US" dirty="0" smtClean="0"/>
              <a:t>순간에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/>
              <a:t>함수가 </a:t>
            </a:r>
            <a:r>
              <a:rPr lang="ko-KR" altLang="en-US" dirty="0" smtClean="0"/>
              <a:t>실행될 때 </a:t>
            </a:r>
            <a:r>
              <a:rPr lang="ko-KR" altLang="en-US" dirty="0"/>
              <a:t>실제 </a:t>
            </a:r>
            <a:r>
              <a:rPr lang="ko-KR" altLang="en-US" dirty="0" err="1"/>
              <a:t>외부변수에</a:t>
            </a:r>
            <a:r>
              <a:rPr lang="ko-KR" altLang="en-US" dirty="0"/>
              <a:t> 접근하기 위한 </a:t>
            </a:r>
            <a:r>
              <a:rPr lang="ko-KR" altLang="en-US" dirty="0" smtClean="0"/>
              <a:t>객체</a:t>
            </a:r>
            <a:endParaRPr lang="en-US" altLang="ko-KR" dirty="0" smtClean="0"/>
          </a:p>
          <a:p>
            <a:r>
              <a:rPr lang="ko-KR" altLang="en-US" dirty="0" smtClean="0"/>
              <a:t>가비지컬렉션 되어야하는 변수가 메모리상에 강제로</a:t>
            </a:r>
            <a:r>
              <a:rPr lang="en-US" altLang="ko-KR" dirty="0" smtClean="0"/>
              <a:t>(?) </a:t>
            </a:r>
            <a:r>
              <a:rPr lang="ko-KR" altLang="en-US" dirty="0" smtClean="0"/>
              <a:t>남아있게 되므로 </a:t>
            </a:r>
            <a:r>
              <a:rPr lang="ko-KR" altLang="en-US" dirty="0" err="1" smtClean="0">
                <a:solidFill>
                  <a:srgbClr val="0000FF"/>
                </a:solidFill>
              </a:rPr>
              <a:t>오버플로우의</a:t>
            </a:r>
            <a:r>
              <a:rPr lang="ko-KR" altLang="en-US" dirty="0" smtClean="0">
                <a:solidFill>
                  <a:srgbClr val="0000FF"/>
                </a:solidFill>
              </a:rPr>
              <a:t> 위험이 존재</a:t>
            </a:r>
            <a:endParaRPr lang="en-US" altLang="ko-KR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182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함수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err="1" smtClean="0">
                <a:solidFill>
                  <a:prstClr val="black"/>
                </a:solidFill>
              </a:rPr>
              <a:t>클로저</a:t>
            </a:r>
            <a:r>
              <a:rPr lang="en-US" altLang="ko-KR" sz="2200" b="1" dirty="0">
                <a:solidFill>
                  <a:prstClr val="black"/>
                </a:solidFill>
              </a:rPr>
              <a:t>(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closure)</a:t>
            </a:r>
          </a:p>
          <a:p>
            <a:pPr lvl="1"/>
            <a:r>
              <a:rPr lang="ko-KR" alt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은닉화</a:t>
            </a:r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외부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함수의 매개변수를 마치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private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변수처럼 관리 할 수 </a:t>
            </a:r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있음</a:t>
            </a:r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9</a:t>
            </a:fld>
            <a:endParaRPr lang="en-US"/>
          </a:p>
        </p:txBody>
      </p:sp>
      <p:sp>
        <p:nvSpPr>
          <p:cNvPr id="8" name="직사각형 7"/>
          <p:cNvSpPr/>
          <p:nvPr/>
        </p:nvSpPr>
        <p:spPr>
          <a:xfrm>
            <a:off x="1101526" y="1986930"/>
            <a:ext cx="3756223" cy="3170099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function </a:t>
            </a:r>
            <a:r>
              <a:rPr lang="en-US" sz="2000" dirty="0" err="1"/>
              <a:t>makeAdder</a:t>
            </a:r>
            <a:r>
              <a:rPr lang="en-US" sz="2000" dirty="0"/>
              <a:t>(x) {</a:t>
            </a:r>
          </a:p>
          <a:p>
            <a:r>
              <a:rPr lang="en-US" sz="2000" dirty="0" smtClean="0"/>
              <a:t>    return </a:t>
            </a:r>
            <a:r>
              <a:rPr lang="en-US" sz="2000" dirty="0"/>
              <a:t>function(y) {</a:t>
            </a:r>
          </a:p>
          <a:p>
            <a:r>
              <a:rPr lang="en-US" sz="2000" dirty="0"/>
              <a:t>    return x + y;</a:t>
            </a:r>
          </a:p>
          <a:p>
            <a:r>
              <a:rPr lang="en-US" sz="2000" dirty="0" smtClean="0"/>
              <a:t>    };</a:t>
            </a:r>
            <a:endParaRPr lang="en-US" sz="2000" dirty="0"/>
          </a:p>
          <a:p>
            <a:r>
              <a:rPr lang="en-US" sz="2000" dirty="0" smtClean="0"/>
              <a:t>}</a:t>
            </a:r>
            <a:endParaRPr lang="en-US" sz="2000" dirty="0"/>
          </a:p>
          <a:p>
            <a:r>
              <a:rPr lang="en-US" sz="2000" dirty="0" err="1"/>
              <a:t>var</a:t>
            </a:r>
            <a:r>
              <a:rPr lang="en-US" sz="2000" dirty="0"/>
              <a:t> add5 = </a:t>
            </a:r>
            <a:r>
              <a:rPr lang="en-US" sz="2000" dirty="0" err="1"/>
              <a:t>makeAdder</a:t>
            </a:r>
            <a:r>
              <a:rPr lang="en-US" sz="2000" dirty="0"/>
              <a:t>(5);</a:t>
            </a:r>
          </a:p>
          <a:p>
            <a:r>
              <a:rPr lang="en-US" sz="2000" dirty="0" err="1"/>
              <a:t>var</a:t>
            </a:r>
            <a:r>
              <a:rPr lang="en-US" sz="2000" dirty="0"/>
              <a:t> add10 = </a:t>
            </a:r>
            <a:r>
              <a:rPr lang="en-US" sz="2000" dirty="0" err="1"/>
              <a:t>makeAdder</a:t>
            </a:r>
            <a:r>
              <a:rPr lang="en-US" sz="2000" dirty="0"/>
              <a:t>(10);</a:t>
            </a:r>
          </a:p>
          <a:p>
            <a:endParaRPr lang="en-US" sz="2000" dirty="0"/>
          </a:p>
          <a:p>
            <a:r>
              <a:rPr lang="en-US" sz="2000" dirty="0"/>
              <a:t>console.log(add5(2));  // 7</a:t>
            </a:r>
          </a:p>
          <a:p>
            <a:r>
              <a:rPr lang="en-US" sz="2000" dirty="0"/>
              <a:t>console.log(add10(2)); //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526" y="5410400"/>
            <a:ext cx="80201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add5</a:t>
            </a:r>
            <a:r>
              <a:rPr lang="ko-KR" altLang="en-US" sz="2000" dirty="0" smtClean="0"/>
              <a:t>의 변수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매개변수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x</a:t>
            </a:r>
            <a:r>
              <a:rPr lang="ko-KR" altLang="en-US" sz="2000" dirty="0" smtClean="0"/>
              <a:t>는 오직 </a:t>
            </a:r>
            <a:r>
              <a:rPr lang="en-US" altLang="ko-KR" sz="2000" dirty="0" smtClean="0"/>
              <a:t>add5</a:t>
            </a:r>
            <a:r>
              <a:rPr lang="ko-KR" altLang="en-US" sz="2000" dirty="0" smtClean="0"/>
              <a:t>라는 개체에 의해서만 초기화</a:t>
            </a:r>
            <a:endParaRPr lang="en-US" altLang="ko-KR" sz="20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add10</a:t>
            </a:r>
            <a:r>
              <a:rPr lang="ko-KR" altLang="en-US" sz="2000" dirty="0" smtClean="0"/>
              <a:t>의 변수</a:t>
            </a:r>
            <a:r>
              <a:rPr lang="en-US" altLang="ko-KR" sz="2000" dirty="0"/>
              <a:t> (</a:t>
            </a:r>
            <a:r>
              <a:rPr lang="ko-KR" altLang="en-US" sz="2000" dirty="0"/>
              <a:t>매개변수</a:t>
            </a:r>
            <a:r>
              <a:rPr lang="en-US" altLang="ko-KR" sz="2000" dirty="0"/>
              <a:t>)</a:t>
            </a:r>
            <a:r>
              <a:rPr lang="ko-KR" altLang="en-US" sz="2000" dirty="0" smtClean="0"/>
              <a:t> </a:t>
            </a:r>
            <a:r>
              <a:rPr lang="en-US" altLang="ko-KR" sz="2000" dirty="0"/>
              <a:t>x</a:t>
            </a:r>
            <a:r>
              <a:rPr lang="ko-KR" altLang="en-US" sz="2000" dirty="0"/>
              <a:t>는 오직 </a:t>
            </a:r>
            <a:r>
              <a:rPr lang="en-US" altLang="ko-KR" sz="2000" dirty="0"/>
              <a:t>add5</a:t>
            </a:r>
            <a:r>
              <a:rPr lang="ko-KR" altLang="en-US" sz="2000" dirty="0"/>
              <a:t>라는 개체에 의해서만 </a:t>
            </a:r>
            <a:r>
              <a:rPr lang="ko-KR" altLang="en-US" sz="2000" dirty="0" smtClean="0"/>
              <a:t>초기화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2148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함수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err="1" smtClean="0">
                <a:solidFill>
                  <a:prstClr val="black"/>
                </a:solidFill>
              </a:rPr>
              <a:t>클로저</a:t>
            </a:r>
            <a:r>
              <a:rPr lang="en-US" altLang="ko-KR" sz="2200" b="1" dirty="0">
                <a:solidFill>
                  <a:prstClr val="black"/>
                </a:solidFill>
              </a:rPr>
              <a:t>(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closure)</a:t>
            </a:r>
          </a:p>
          <a:p>
            <a:pPr lvl="1"/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클로저를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이용해서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private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메소드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흉내내기</a:t>
            </a:r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10</a:t>
            </a:fld>
            <a:endParaRPr lang="en-US"/>
          </a:p>
        </p:txBody>
      </p:sp>
      <p:sp>
        <p:nvSpPr>
          <p:cNvPr id="7" name="직사각형 6"/>
          <p:cNvSpPr/>
          <p:nvPr/>
        </p:nvSpPr>
        <p:spPr>
          <a:xfrm>
            <a:off x="1092771" y="1938533"/>
            <a:ext cx="5149603" cy="48013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</a:rPr>
              <a:t>var</a:t>
            </a:r>
            <a:r>
              <a:rPr lang="en-US" dirty="0"/>
              <a:t> </a:t>
            </a:r>
            <a:r>
              <a:rPr lang="en-US" dirty="0" err="1"/>
              <a:t>makeCounter</a:t>
            </a:r>
            <a:r>
              <a:rPr lang="en-US" dirty="0"/>
              <a:t> </a:t>
            </a:r>
            <a:r>
              <a:rPr lang="en-US" dirty="0" smtClean="0"/>
              <a:t>= function</a:t>
            </a:r>
            <a:r>
              <a:rPr lang="en-US" dirty="0"/>
              <a:t>() {</a:t>
            </a:r>
          </a:p>
          <a:p>
            <a:r>
              <a:rPr lang="en-US" dirty="0" smtClean="0"/>
              <a:t>    </a:t>
            </a:r>
            <a:r>
              <a:rPr lang="en-US" dirty="0" err="1" smtClean="0">
                <a:solidFill>
                  <a:srgbClr val="0000FF"/>
                </a:solidFill>
              </a:rPr>
              <a:t>var</a:t>
            </a:r>
            <a:r>
              <a:rPr lang="en-US" dirty="0" smtClean="0"/>
              <a:t> </a:t>
            </a:r>
            <a:r>
              <a:rPr lang="en-US" dirty="0" err="1">
                <a:solidFill>
                  <a:srgbClr val="FF0000"/>
                </a:solidFill>
              </a:rPr>
              <a:t>privateCounter</a:t>
            </a:r>
            <a:r>
              <a:rPr lang="en-US" dirty="0"/>
              <a:t> = 0;</a:t>
            </a:r>
          </a:p>
          <a:p>
            <a:r>
              <a:rPr lang="en-US" dirty="0" smtClean="0"/>
              <a:t>    </a:t>
            </a:r>
            <a:r>
              <a:rPr lang="en-US" dirty="0" smtClean="0">
                <a:solidFill>
                  <a:srgbClr val="0000FF"/>
                </a:solidFill>
              </a:rPr>
              <a:t>function</a:t>
            </a:r>
            <a:r>
              <a:rPr lang="en-US" dirty="0" smtClean="0"/>
              <a:t> </a:t>
            </a:r>
            <a:r>
              <a:rPr lang="en-US" dirty="0" err="1">
                <a:solidFill>
                  <a:srgbClr val="FF0000"/>
                </a:solidFill>
              </a:rPr>
              <a:t>changeBy</a:t>
            </a:r>
            <a:r>
              <a:rPr lang="en-US" dirty="0"/>
              <a:t>(</a:t>
            </a:r>
            <a:r>
              <a:rPr lang="en-US" dirty="0" err="1"/>
              <a:t>val</a:t>
            </a:r>
            <a:r>
              <a:rPr lang="en-US" dirty="0"/>
              <a:t>)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privateCounter</a:t>
            </a:r>
            <a:r>
              <a:rPr lang="en-US" dirty="0" smtClean="0"/>
              <a:t> </a:t>
            </a:r>
            <a:r>
              <a:rPr lang="en-US" dirty="0"/>
              <a:t>+= </a:t>
            </a:r>
            <a:r>
              <a:rPr lang="en-US" dirty="0" err="1"/>
              <a:t>val</a:t>
            </a:r>
            <a:r>
              <a:rPr lang="en-US" dirty="0"/>
              <a:t>;</a:t>
            </a:r>
          </a:p>
          <a:p>
            <a:r>
              <a:rPr lang="en-US" dirty="0" smtClean="0"/>
              <a:t>    }</a:t>
            </a:r>
            <a:endParaRPr lang="en-US" dirty="0"/>
          </a:p>
          <a:p>
            <a:r>
              <a:rPr lang="en-US" dirty="0"/>
              <a:t>  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0000FF"/>
                </a:solidFill>
              </a:rPr>
              <a:t>return</a:t>
            </a:r>
            <a:r>
              <a:rPr lang="en-US" dirty="0" smtClean="0"/>
              <a:t> </a:t>
            </a:r>
            <a:r>
              <a:rPr lang="en-US" dirty="0"/>
              <a:t>{</a:t>
            </a:r>
          </a:p>
          <a:p>
            <a:r>
              <a:rPr lang="en-US" dirty="0" smtClean="0"/>
              <a:t>        increment</a:t>
            </a:r>
            <a:r>
              <a:rPr lang="en-US" dirty="0"/>
              <a:t>: </a:t>
            </a:r>
            <a:r>
              <a:rPr lang="en-US" dirty="0">
                <a:solidFill>
                  <a:srgbClr val="0000FF"/>
                </a:solidFill>
              </a:rPr>
              <a:t>function</a:t>
            </a:r>
            <a:r>
              <a:rPr lang="en-US" dirty="0"/>
              <a:t>() {</a:t>
            </a:r>
          </a:p>
          <a:p>
            <a:r>
              <a:rPr lang="en-US" dirty="0" smtClean="0"/>
              <a:t>        </a:t>
            </a:r>
            <a:r>
              <a:rPr lang="en-US" dirty="0" err="1"/>
              <a:t>changeBy</a:t>
            </a:r>
            <a:r>
              <a:rPr lang="en-US" dirty="0"/>
              <a:t>(1);</a:t>
            </a:r>
          </a:p>
          <a:p>
            <a:r>
              <a:rPr lang="en-US" dirty="0" smtClean="0"/>
              <a:t>    },</a:t>
            </a:r>
            <a:endParaRPr lang="en-US" dirty="0"/>
          </a:p>
          <a:p>
            <a:r>
              <a:rPr lang="en-US" dirty="0" smtClean="0"/>
              <a:t>    decrement</a:t>
            </a:r>
            <a:r>
              <a:rPr lang="en-US" dirty="0"/>
              <a:t>: </a:t>
            </a:r>
            <a:r>
              <a:rPr lang="en-US" dirty="0">
                <a:solidFill>
                  <a:srgbClr val="0000FF"/>
                </a:solidFill>
              </a:rPr>
              <a:t>function</a:t>
            </a:r>
            <a:r>
              <a:rPr lang="en-US" dirty="0"/>
              <a:t>()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changeBy</a:t>
            </a:r>
            <a:r>
              <a:rPr lang="en-US" dirty="0"/>
              <a:t>(-1);</a:t>
            </a:r>
          </a:p>
          <a:p>
            <a:r>
              <a:rPr lang="en-US" dirty="0"/>
              <a:t>    },</a:t>
            </a:r>
          </a:p>
          <a:p>
            <a:r>
              <a:rPr lang="en-US" dirty="0" smtClean="0"/>
              <a:t>    value</a:t>
            </a:r>
            <a:r>
              <a:rPr lang="en-US" dirty="0"/>
              <a:t>: </a:t>
            </a:r>
            <a:r>
              <a:rPr lang="en-US" dirty="0">
                <a:solidFill>
                  <a:srgbClr val="0000FF"/>
                </a:solidFill>
              </a:rPr>
              <a:t>function</a:t>
            </a:r>
            <a:r>
              <a:rPr lang="en-US" dirty="0"/>
              <a:t>() {</a:t>
            </a:r>
          </a:p>
          <a:p>
            <a:r>
              <a:rPr lang="en-US" dirty="0" smtClean="0"/>
              <a:t>        </a:t>
            </a:r>
            <a:r>
              <a:rPr lang="en-US" dirty="0" smtClean="0">
                <a:solidFill>
                  <a:srgbClr val="0000FF"/>
                </a:solidFill>
              </a:rPr>
              <a:t>return</a:t>
            </a:r>
            <a:r>
              <a:rPr lang="en-US" dirty="0" smtClean="0"/>
              <a:t> </a:t>
            </a:r>
            <a:r>
              <a:rPr lang="en-US" dirty="0" err="1"/>
              <a:t>privateCounter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};   </a:t>
            </a:r>
          </a:p>
          <a:p>
            <a:r>
              <a:rPr lang="en-US" dirty="0" smtClean="0"/>
              <a:t>};</a:t>
            </a:r>
            <a:endParaRPr 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308795" y="2275351"/>
            <a:ext cx="3168352" cy="1080120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직사각형 10"/>
          <p:cNvSpPr/>
          <p:nvPr/>
        </p:nvSpPr>
        <p:spPr>
          <a:xfrm>
            <a:off x="1308795" y="3394227"/>
            <a:ext cx="3168352" cy="302433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477147" y="2347359"/>
            <a:ext cx="17652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실행 후 </a:t>
            </a:r>
            <a:endParaRPr lang="en-US" altLang="ko-KR" sz="1600" dirty="0" smtClean="0"/>
          </a:p>
          <a:p>
            <a:r>
              <a:rPr lang="en-US" sz="1600" dirty="0" err="1" smtClean="0"/>
              <a:t>makeCounter</a:t>
            </a:r>
            <a:r>
              <a:rPr lang="ko-KR" altLang="en-US" sz="1600" dirty="0" smtClean="0"/>
              <a:t>에</a:t>
            </a:r>
            <a:endParaRPr lang="en-US" altLang="ko-KR" sz="1600" dirty="0" smtClean="0"/>
          </a:p>
          <a:p>
            <a:r>
              <a:rPr lang="ko-KR" altLang="en-US" sz="1600" dirty="0" smtClean="0"/>
              <a:t>남아 있는 요소들</a:t>
            </a:r>
            <a:endParaRPr 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4477147" y="3429220"/>
            <a:ext cx="169309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함수 실행 후</a:t>
            </a:r>
            <a:endParaRPr lang="en-US" altLang="ko-KR" sz="1600" dirty="0" smtClean="0"/>
          </a:p>
          <a:p>
            <a:r>
              <a:rPr lang="ko-KR" altLang="en-US" sz="1600" dirty="0" smtClean="0"/>
              <a:t>반환되는 요소들</a:t>
            </a:r>
            <a:endParaRPr lang="en-US" altLang="ko-KR" sz="1600" dirty="0" smtClean="0"/>
          </a:p>
          <a:p>
            <a:r>
              <a:rPr lang="ko-KR" altLang="en-US" sz="1600" dirty="0" smtClean="0"/>
              <a:t>즉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객체에 담긴</a:t>
            </a:r>
            <a:endParaRPr lang="en-US" altLang="ko-KR" sz="1600" dirty="0" smtClean="0"/>
          </a:p>
          <a:p>
            <a:r>
              <a:rPr lang="ko-KR" altLang="en-US" sz="1600" dirty="0" smtClean="0"/>
              <a:t>세 개의 함수</a:t>
            </a:r>
            <a:endParaRPr lang="en-US" sz="1600" dirty="0"/>
          </a:p>
        </p:txBody>
      </p:sp>
      <p:sp>
        <p:nvSpPr>
          <p:cNvPr id="14" name="직사각형 13"/>
          <p:cNvSpPr/>
          <p:nvPr/>
        </p:nvSpPr>
        <p:spPr>
          <a:xfrm>
            <a:off x="6493371" y="1938533"/>
            <a:ext cx="3454972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err="1"/>
              <a:t>var</a:t>
            </a:r>
            <a:r>
              <a:rPr lang="en-US" dirty="0"/>
              <a:t> counter1 = </a:t>
            </a:r>
            <a:r>
              <a:rPr lang="en-US" dirty="0" err="1"/>
              <a:t>makeCounter</a:t>
            </a:r>
            <a:r>
              <a:rPr lang="en-US" dirty="0"/>
              <a:t>(); </a:t>
            </a:r>
            <a:endParaRPr lang="en-US" dirty="0" smtClean="0"/>
          </a:p>
          <a:p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/>
              <a:t>counter2 = </a:t>
            </a:r>
            <a:r>
              <a:rPr lang="en-US" dirty="0" err="1"/>
              <a:t>makeCounter</a:t>
            </a:r>
            <a:r>
              <a:rPr lang="en-US" dirty="0"/>
              <a:t>();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6495444" y="2721329"/>
            <a:ext cx="35125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두 개의 </a:t>
            </a:r>
            <a:r>
              <a:rPr lang="ko-KR" altLang="en-US" dirty="0" smtClean="0"/>
              <a:t>카운터가 </a:t>
            </a:r>
            <a:r>
              <a:rPr lang="ko-KR" altLang="en-US" u="sng" dirty="0" smtClean="0"/>
              <a:t>독립성을 유지</a:t>
            </a:r>
            <a:endParaRPr lang="en-US" u="sng" dirty="0"/>
          </a:p>
        </p:txBody>
      </p:sp>
      <p:sp>
        <p:nvSpPr>
          <p:cNvPr id="16" name="직사각형 15"/>
          <p:cNvSpPr/>
          <p:nvPr/>
        </p:nvSpPr>
        <p:spPr>
          <a:xfrm>
            <a:off x="6530330" y="4159748"/>
            <a:ext cx="3744416" cy="17543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 smtClean="0">
                <a:solidFill>
                  <a:srgbClr val="FF0000"/>
                </a:solidFill>
              </a:rPr>
              <a:t>privateCounter</a:t>
            </a:r>
            <a:r>
              <a:rPr lang="ko-KR" altLang="en-US" dirty="0" smtClean="0"/>
              <a:t>와</a:t>
            </a:r>
            <a:r>
              <a:rPr lang="en-US" altLang="ko-KR" dirty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changeBy</a:t>
            </a:r>
            <a:r>
              <a:rPr lang="ko-KR" altLang="en-US" dirty="0" smtClean="0"/>
              <a:t>는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ko-KR" altLang="en-US" dirty="0" err="1" smtClean="0"/>
              <a:t>익명함수</a:t>
            </a:r>
            <a:r>
              <a:rPr lang="ko-KR" altLang="en-US" dirty="0" smtClean="0"/>
              <a:t> 외부에서 접근될 수 없다</a:t>
            </a:r>
            <a:r>
              <a:rPr lang="en-US" altLang="ko-KR" dirty="0" smtClean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/>
              <a:t>대신 세 개의 </a:t>
            </a:r>
            <a:r>
              <a:rPr lang="ko-KR" altLang="en-US" dirty="0" err="1" smtClean="0"/>
              <a:t>퍼블릭</a:t>
            </a:r>
            <a:r>
              <a:rPr lang="ko-KR" altLang="en-US" dirty="0" smtClean="0"/>
              <a:t> 함수를 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통해서만 접근 가능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924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함수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err="1" smtClean="0">
                <a:solidFill>
                  <a:prstClr val="black"/>
                </a:solidFill>
              </a:rPr>
              <a:t>클로저</a:t>
            </a:r>
            <a:r>
              <a:rPr lang="en-US" altLang="ko-KR" sz="2200" b="1" dirty="0">
                <a:solidFill>
                  <a:prstClr val="black"/>
                </a:solidFill>
              </a:rPr>
              <a:t>(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closure)</a:t>
            </a:r>
          </a:p>
          <a:p>
            <a:pPr lvl="1"/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클로저를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이용해서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private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메소드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흉내내기</a:t>
            </a:r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11</a:t>
            </a:fld>
            <a:endParaRPr lang="en-US"/>
          </a:p>
        </p:txBody>
      </p:sp>
      <p:sp>
        <p:nvSpPr>
          <p:cNvPr id="17" name="직사각형 16"/>
          <p:cNvSpPr/>
          <p:nvPr/>
        </p:nvSpPr>
        <p:spPr>
          <a:xfrm>
            <a:off x="1297360" y="1819280"/>
            <a:ext cx="3816424" cy="480131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FF"/>
                </a:solidFill>
              </a:rPr>
              <a:t>var</a:t>
            </a:r>
            <a:r>
              <a:rPr lang="en-US" dirty="0"/>
              <a:t> counter = </a:t>
            </a:r>
            <a:r>
              <a:rPr lang="en-US" dirty="0">
                <a:solidFill>
                  <a:srgbClr val="7030A0"/>
                </a:solidFill>
              </a:rPr>
              <a:t>(</a:t>
            </a:r>
            <a:r>
              <a:rPr lang="en-US" dirty="0"/>
              <a:t>function() {</a:t>
            </a:r>
          </a:p>
          <a:p>
            <a:r>
              <a:rPr lang="en-US" dirty="0" smtClean="0"/>
              <a:t>    </a:t>
            </a:r>
            <a:r>
              <a:rPr lang="en-US" dirty="0" err="1" smtClean="0">
                <a:solidFill>
                  <a:srgbClr val="0000FF"/>
                </a:solidFill>
              </a:rPr>
              <a:t>var</a:t>
            </a:r>
            <a:r>
              <a:rPr lang="en-US" dirty="0" smtClean="0"/>
              <a:t> </a:t>
            </a:r>
            <a:r>
              <a:rPr lang="en-US" dirty="0" err="1"/>
              <a:t>privateCounter</a:t>
            </a:r>
            <a:r>
              <a:rPr lang="en-US" dirty="0"/>
              <a:t> = 0;</a:t>
            </a:r>
          </a:p>
          <a:p>
            <a:r>
              <a:rPr lang="en-US" dirty="0" smtClean="0"/>
              <a:t>    </a:t>
            </a:r>
            <a:r>
              <a:rPr lang="en-US" dirty="0" smtClean="0">
                <a:solidFill>
                  <a:srgbClr val="0000FF"/>
                </a:solidFill>
              </a:rPr>
              <a:t>function</a:t>
            </a:r>
            <a:r>
              <a:rPr lang="en-US" dirty="0" smtClean="0"/>
              <a:t> </a:t>
            </a:r>
            <a:r>
              <a:rPr lang="en-US" dirty="0" err="1"/>
              <a:t>changeBy</a:t>
            </a:r>
            <a:r>
              <a:rPr lang="en-US" dirty="0"/>
              <a:t>(</a:t>
            </a:r>
            <a:r>
              <a:rPr lang="en-US" dirty="0" err="1"/>
              <a:t>val</a:t>
            </a:r>
            <a:r>
              <a:rPr lang="en-US" dirty="0"/>
              <a:t>)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privateCounter</a:t>
            </a:r>
            <a:r>
              <a:rPr lang="en-US" dirty="0" smtClean="0"/>
              <a:t> </a:t>
            </a:r>
            <a:r>
              <a:rPr lang="en-US" dirty="0"/>
              <a:t>+= </a:t>
            </a:r>
            <a:r>
              <a:rPr lang="en-US" dirty="0" err="1"/>
              <a:t>val</a:t>
            </a:r>
            <a:r>
              <a:rPr lang="en-US" dirty="0"/>
              <a:t>;</a:t>
            </a:r>
          </a:p>
          <a:p>
            <a:r>
              <a:rPr lang="en-US" dirty="0" smtClean="0"/>
              <a:t>    }</a:t>
            </a:r>
            <a:endParaRPr lang="en-US" dirty="0"/>
          </a:p>
          <a:p>
            <a:r>
              <a:rPr lang="en-US" dirty="0"/>
              <a:t>  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0000FF"/>
                </a:solidFill>
              </a:rPr>
              <a:t>return</a:t>
            </a:r>
            <a:r>
              <a:rPr lang="en-US" dirty="0" smtClean="0"/>
              <a:t> </a:t>
            </a:r>
            <a:r>
              <a:rPr lang="en-US" dirty="0"/>
              <a:t>{</a:t>
            </a:r>
          </a:p>
          <a:p>
            <a:r>
              <a:rPr lang="en-US" dirty="0" smtClean="0"/>
              <a:t>        increment</a:t>
            </a:r>
            <a:r>
              <a:rPr lang="en-US" dirty="0"/>
              <a:t>: </a:t>
            </a:r>
            <a:r>
              <a:rPr lang="en-US" dirty="0">
                <a:solidFill>
                  <a:srgbClr val="0000FF"/>
                </a:solidFill>
              </a:rPr>
              <a:t>function</a:t>
            </a:r>
            <a:r>
              <a:rPr lang="en-US" dirty="0"/>
              <a:t>() {</a:t>
            </a:r>
          </a:p>
          <a:p>
            <a:r>
              <a:rPr lang="en-US" dirty="0" smtClean="0"/>
              <a:t>        </a:t>
            </a:r>
            <a:r>
              <a:rPr lang="en-US" dirty="0" err="1"/>
              <a:t>changeBy</a:t>
            </a:r>
            <a:r>
              <a:rPr lang="en-US" dirty="0"/>
              <a:t>(1);</a:t>
            </a:r>
          </a:p>
          <a:p>
            <a:r>
              <a:rPr lang="en-US" dirty="0" smtClean="0"/>
              <a:t>    },</a:t>
            </a:r>
            <a:endParaRPr lang="en-US" dirty="0"/>
          </a:p>
          <a:p>
            <a:r>
              <a:rPr lang="en-US" dirty="0" smtClean="0"/>
              <a:t>    decrement</a:t>
            </a:r>
            <a:r>
              <a:rPr lang="en-US" dirty="0"/>
              <a:t>: </a:t>
            </a:r>
            <a:r>
              <a:rPr lang="en-US" dirty="0">
                <a:solidFill>
                  <a:srgbClr val="0000FF"/>
                </a:solidFill>
              </a:rPr>
              <a:t>function</a:t>
            </a:r>
            <a:r>
              <a:rPr lang="en-US" dirty="0"/>
              <a:t>() {</a:t>
            </a:r>
          </a:p>
          <a:p>
            <a:r>
              <a:rPr lang="en-US" dirty="0" smtClean="0"/>
              <a:t>        </a:t>
            </a:r>
            <a:r>
              <a:rPr lang="en-US" dirty="0" err="1" smtClean="0"/>
              <a:t>changeBy</a:t>
            </a:r>
            <a:r>
              <a:rPr lang="en-US" dirty="0"/>
              <a:t>(-1);</a:t>
            </a:r>
          </a:p>
          <a:p>
            <a:r>
              <a:rPr lang="en-US" dirty="0"/>
              <a:t>    },</a:t>
            </a:r>
          </a:p>
          <a:p>
            <a:r>
              <a:rPr lang="en-US" dirty="0" smtClean="0"/>
              <a:t>    value</a:t>
            </a:r>
            <a:r>
              <a:rPr lang="en-US" dirty="0"/>
              <a:t>: </a:t>
            </a:r>
            <a:r>
              <a:rPr lang="en-US" dirty="0">
                <a:solidFill>
                  <a:srgbClr val="0000FF"/>
                </a:solidFill>
              </a:rPr>
              <a:t>function</a:t>
            </a:r>
            <a:r>
              <a:rPr lang="en-US" dirty="0"/>
              <a:t>() {</a:t>
            </a:r>
          </a:p>
          <a:p>
            <a:r>
              <a:rPr lang="en-US" dirty="0" smtClean="0"/>
              <a:t>        </a:t>
            </a:r>
            <a:r>
              <a:rPr lang="en-US" dirty="0" smtClean="0">
                <a:solidFill>
                  <a:srgbClr val="0000FF"/>
                </a:solidFill>
              </a:rPr>
              <a:t>return</a:t>
            </a:r>
            <a:r>
              <a:rPr lang="en-US" dirty="0" smtClean="0"/>
              <a:t> </a:t>
            </a:r>
            <a:r>
              <a:rPr lang="en-US" dirty="0" err="1"/>
              <a:t>privateCounter</a:t>
            </a:r>
            <a:r>
              <a:rPr lang="en-US" dirty="0"/>
              <a:t>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};   </a:t>
            </a:r>
          </a:p>
          <a:p>
            <a:r>
              <a:rPr lang="en-US" dirty="0"/>
              <a:t>}</a:t>
            </a:r>
            <a:r>
              <a:rPr lang="en-US" dirty="0">
                <a:solidFill>
                  <a:srgbClr val="7030A0"/>
                </a:solidFill>
              </a:rPr>
              <a:t>)</a:t>
            </a:r>
            <a:r>
              <a:rPr lang="en-US" dirty="0">
                <a:solidFill>
                  <a:srgbClr val="FF0000"/>
                </a:solidFill>
              </a:rPr>
              <a:t>()</a:t>
            </a:r>
            <a:r>
              <a:rPr lang="en-US" dirty="0"/>
              <a:t>;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5287924" y="1819280"/>
            <a:ext cx="4362364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console.log(</a:t>
            </a:r>
            <a:r>
              <a:rPr lang="en-US" dirty="0" err="1"/>
              <a:t>counter.value</a:t>
            </a:r>
            <a:r>
              <a:rPr lang="en-US" dirty="0"/>
              <a:t>()); // logs 0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err="1" smtClean="0"/>
              <a:t>counter.increment</a:t>
            </a:r>
            <a:r>
              <a:rPr lang="en-US" dirty="0"/>
              <a:t>();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err="1" smtClean="0"/>
              <a:t>counter.increment</a:t>
            </a:r>
            <a:r>
              <a:rPr lang="en-US" dirty="0"/>
              <a:t>();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console.log(</a:t>
            </a:r>
            <a:r>
              <a:rPr lang="en-US" dirty="0" err="1" smtClean="0"/>
              <a:t>counter.value</a:t>
            </a:r>
            <a:r>
              <a:rPr lang="en-US" dirty="0"/>
              <a:t>()); // logs 2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err="1" smtClean="0"/>
              <a:t>counter.decrement</a:t>
            </a:r>
            <a:r>
              <a:rPr lang="en-US" dirty="0"/>
              <a:t>();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console.log(</a:t>
            </a:r>
            <a:r>
              <a:rPr lang="en-US" dirty="0" err="1" smtClean="0"/>
              <a:t>counter.value</a:t>
            </a:r>
            <a:r>
              <a:rPr lang="en-US" dirty="0"/>
              <a:t>()); // logs 1</a:t>
            </a:r>
          </a:p>
        </p:txBody>
      </p:sp>
    </p:spTree>
    <p:extLst>
      <p:ext uri="{BB962C8B-B14F-4D97-AF65-F5344CB8AC3E}">
        <p14:creationId xmlns:p14="http://schemas.microsoft.com/office/powerpoint/2010/main" val="423752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함수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err="1" smtClean="0">
                <a:solidFill>
                  <a:prstClr val="black"/>
                </a:solidFill>
              </a:rPr>
              <a:t>호이스팅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(Hoisting)</a:t>
            </a:r>
          </a:p>
          <a:p>
            <a:pPr lvl="1"/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자바스크립트는 함수나 전역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스코프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전체를 </a:t>
            </a:r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살펴보고</a:t>
            </a:r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코드를 다 뒤져보고</a:t>
            </a:r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ko-KR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로 선언한 변수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(let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은 해당 안됨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를 </a:t>
            </a:r>
            <a:r>
              <a:rPr lang="ko-KR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맨 </a:t>
            </a:r>
            <a:r>
              <a:rPr lang="ko-KR" altLang="en-US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위</a:t>
            </a:r>
            <a:r>
              <a:rPr lang="en-US" altLang="ko-KR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유효범위의</a:t>
            </a:r>
            <a:r>
              <a:rPr lang="ko-KR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최상단</a:t>
            </a:r>
            <a:r>
              <a:rPr lang="en-US" altLang="ko-KR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로 </a:t>
            </a:r>
            <a:r>
              <a:rPr lang="ko-KR" alt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끌어 </a:t>
            </a:r>
            <a:r>
              <a:rPr lang="ko-KR" altLang="en-US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올림</a:t>
            </a:r>
            <a:endParaRPr lang="en-US" altLang="ko-KR" dirty="0" smtClean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ko-KR" altLang="en-US" dirty="0"/>
              <a:t>전역 범위</a:t>
            </a:r>
            <a:r>
              <a:rPr lang="en-US" altLang="ko-KR" dirty="0"/>
              <a:t>(global scope)</a:t>
            </a:r>
          </a:p>
          <a:p>
            <a:pPr lvl="2"/>
            <a:r>
              <a:rPr lang="ko-KR" altLang="en-US" dirty="0"/>
              <a:t>전역 범위에서는 스크립트 단위에서 </a:t>
            </a:r>
            <a:r>
              <a:rPr lang="ko-KR" altLang="en-US" dirty="0" err="1"/>
              <a:t>최상단으로</a:t>
            </a:r>
            <a:r>
              <a:rPr lang="ko-KR" altLang="en-US" dirty="0"/>
              <a:t> 끌어 </a:t>
            </a:r>
            <a:r>
              <a:rPr lang="ko-KR" altLang="en-US" dirty="0" err="1" smtClean="0"/>
              <a:t>올려짐</a:t>
            </a:r>
            <a:endParaRPr lang="en-US" altLang="ko-KR" dirty="0"/>
          </a:p>
          <a:p>
            <a:pPr lvl="1"/>
            <a:r>
              <a:rPr lang="ko-KR" altLang="en-US" dirty="0"/>
              <a:t>함수 범위</a:t>
            </a:r>
            <a:r>
              <a:rPr lang="en-US" altLang="ko-KR" dirty="0"/>
              <a:t>(function scope)</a:t>
            </a:r>
          </a:p>
          <a:p>
            <a:pPr lvl="2"/>
            <a:r>
              <a:rPr lang="ko-KR" altLang="en-US" dirty="0"/>
              <a:t>함수 범위에서는 해당 함수의 </a:t>
            </a:r>
            <a:r>
              <a:rPr lang="ko-KR" altLang="en-US" dirty="0" err="1"/>
              <a:t>최상단으로</a:t>
            </a:r>
            <a:r>
              <a:rPr lang="ko-KR" altLang="en-US" dirty="0"/>
              <a:t> 끌어 </a:t>
            </a:r>
            <a:r>
              <a:rPr lang="ko-KR" altLang="en-US" dirty="0" err="1" smtClean="0"/>
              <a:t>올려짐</a:t>
            </a:r>
            <a:endParaRPr lang="en-US" altLang="ko-KR" dirty="0"/>
          </a:p>
          <a:p>
            <a:pPr lvl="1"/>
            <a:endParaRPr lang="en-US" altLang="ko-KR" dirty="0" smtClean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12</a:t>
            </a:fld>
            <a:endParaRPr lang="en-US"/>
          </a:p>
        </p:txBody>
      </p:sp>
      <p:sp>
        <p:nvSpPr>
          <p:cNvPr id="8" name="직사각형 7"/>
          <p:cNvSpPr/>
          <p:nvPr/>
        </p:nvSpPr>
        <p:spPr>
          <a:xfrm>
            <a:off x="1500890" y="4448583"/>
            <a:ext cx="3816424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/>
              <a:t>x;              //undefined</a:t>
            </a:r>
          </a:p>
          <a:p>
            <a:r>
              <a:rPr lang="en-US" dirty="0" err="1" smtClean="0"/>
              <a:t>var</a:t>
            </a:r>
            <a:r>
              <a:rPr lang="en-US" dirty="0" smtClean="0"/>
              <a:t> x=3;</a:t>
            </a:r>
          </a:p>
          <a:p>
            <a:r>
              <a:rPr lang="en-US" dirty="0" smtClean="0"/>
              <a:t>x;              //3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5793" y="5396876"/>
            <a:ext cx="45095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ko-KR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를 사용하면 선언하기 전에도 사용할 수 있다</a:t>
            </a:r>
            <a:endParaRPr lang="en-US" sz="1600" dirty="0"/>
          </a:p>
        </p:txBody>
      </p:sp>
      <p:sp>
        <p:nvSpPr>
          <p:cNvPr id="10" name="직사각형 9"/>
          <p:cNvSpPr/>
          <p:nvPr/>
        </p:nvSpPr>
        <p:spPr>
          <a:xfrm>
            <a:off x="6514426" y="4448583"/>
            <a:ext cx="5029874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err="1" smtClean="0"/>
              <a:t>var</a:t>
            </a:r>
            <a:r>
              <a:rPr lang="en-US" dirty="0" smtClean="0"/>
              <a:t> x;  //</a:t>
            </a:r>
            <a:r>
              <a:rPr lang="ko-KR" altLang="en-US" dirty="0" smtClean="0"/>
              <a:t>선언</a:t>
            </a:r>
            <a:r>
              <a:rPr lang="en-US" altLang="ko-KR" dirty="0" smtClean="0"/>
              <a:t>(</a:t>
            </a:r>
            <a:r>
              <a:rPr lang="ko-KR" altLang="en-US" dirty="0" smtClean="0"/>
              <a:t>할당은 아닌</a:t>
            </a:r>
            <a:r>
              <a:rPr lang="en-US" altLang="ko-KR" dirty="0" smtClean="0"/>
              <a:t>)</a:t>
            </a:r>
            <a:r>
              <a:rPr lang="ko-KR" altLang="en-US" dirty="0" smtClean="0"/>
              <a:t>이 </a:t>
            </a:r>
            <a:r>
              <a:rPr lang="ko-KR" altLang="en-US" dirty="0" err="1" smtClean="0"/>
              <a:t>끌어올려</a:t>
            </a:r>
            <a:r>
              <a:rPr lang="ko-KR" altLang="en-US" dirty="0" err="1"/>
              <a:t>짐</a:t>
            </a:r>
            <a:endParaRPr lang="en-US" dirty="0" smtClean="0"/>
          </a:p>
          <a:p>
            <a:r>
              <a:rPr lang="en-US" dirty="0" smtClean="0"/>
              <a:t>x; </a:t>
            </a:r>
          </a:p>
          <a:p>
            <a:r>
              <a:rPr lang="en-US" dirty="0" smtClean="0"/>
              <a:t>x=3;</a:t>
            </a:r>
          </a:p>
          <a:p>
            <a:r>
              <a:rPr lang="en-US" dirty="0" smtClean="0"/>
              <a:t>x;          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4426" y="5744727"/>
            <a:ext cx="2614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할당은 끌어 올려지지 않음</a:t>
            </a:r>
            <a:endParaRPr lang="en-US" sz="1600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rcRect l="23448" r="29231"/>
          <a:stretch/>
        </p:blipFill>
        <p:spPr>
          <a:xfrm>
            <a:off x="10791825" y="1936433"/>
            <a:ext cx="752475" cy="20753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153313" y="317437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선언부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08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함수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err="1" smtClean="0">
                <a:solidFill>
                  <a:prstClr val="black"/>
                </a:solidFill>
              </a:rPr>
              <a:t>호이스팅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(Hoisting)</a:t>
            </a:r>
          </a:p>
          <a:p>
            <a:pPr lvl="1"/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유효 범위의 </a:t>
            </a:r>
            <a:r>
              <a:rPr lang="ko-KR" alt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최상단</a:t>
            </a:r>
            <a:r>
              <a:rPr lang="en-US" altLang="ko-KR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13</a:t>
            </a:fld>
            <a:endParaRPr lang="en-US"/>
          </a:p>
        </p:txBody>
      </p:sp>
      <p:sp>
        <p:nvSpPr>
          <p:cNvPr id="16" name="직사각형 15"/>
          <p:cNvSpPr/>
          <p:nvPr/>
        </p:nvSpPr>
        <p:spPr>
          <a:xfrm>
            <a:off x="1060942" y="2094368"/>
            <a:ext cx="4023424" cy="45243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i="1" dirty="0">
                <a:solidFill>
                  <a:srgbClr val="66D9EF"/>
                </a:solidFill>
                <a:latin typeface="Monaco"/>
              </a:rPr>
              <a:t>function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>
                <a:solidFill>
                  <a:srgbClr val="A6E22E"/>
                </a:solidFill>
                <a:latin typeface="Monaco"/>
              </a:rPr>
              <a:t>ho1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(){ </a:t>
            </a:r>
          </a:p>
          <a:p>
            <a:pPr lvl="1"/>
            <a:r>
              <a:rPr lang="en-US" dirty="0">
                <a:solidFill>
                  <a:srgbClr val="F92672"/>
                </a:solidFill>
                <a:latin typeface="Monaco"/>
              </a:rPr>
              <a:t>if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US" dirty="0">
                <a:solidFill>
                  <a:srgbClr val="AE81FF"/>
                </a:solidFill>
                <a:latin typeface="Monaco"/>
              </a:rPr>
              <a:t>true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){ </a:t>
            </a:r>
          </a:p>
          <a:p>
            <a:pPr lvl="1"/>
            <a:r>
              <a:rPr lang="en-US" i="1" dirty="0" smtClean="0">
                <a:solidFill>
                  <a:srgbClr val="66D9EF"/>
                </a:solidFill>
                <a:latin typeface="Monaco"/>
              </a:rPr>
              <a:t>	</a:t>
            </a:r>
            <a:r>
              <a:rPr lang="en-US" i="1" dirty="0" err="1" smtClean="0">
                <a:solidFill>
                  <a:srgbClr val="66D9EF"/>
                </a:solidFill>
                <a:latin typeface="Monaco"/>
              </a:rPr>
              <a:t>var</a:t>
            </a:r>
            <a:r>
              <a:rPr lang="en-US" dirty="0" smtClean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name </a:t>
            </a:r>
            <a:r>
              <a:rPr lang="en-US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>
                <a:solidFill>
                  <a:srgbClr val="E6DB74"/>
                </a:solidFill>
                <a:latin typeface="Monaco"/>
              </a:rPr>
              <a:t>'</a:t>
            </a:r>
            <a:r>
              <a:rPr lang="en-US" dirty="0" err="1">
                <a:solidFill>
                  <a:srgbClr val="E6DB74"/>
                </a:solidFill>
                <a:latin typeface="Monaco"/>
              </a:rPr>
              <a:t>yuddomack</a:t>
            </a:r>
            <a:r>
              <a:rPr lang="en-US" dirty="0">
                <a:solidFill>
                  <a:srgbClr val="E6DB74"/>
                </a:solidFill>
                <a:latin typeface="Monaco"/>
              </a:rPr>
              <a:t>'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</a:p>
          <a:p>
            <a:pPr lvl="1"/>
            <a:r>
              <a:rPr lang="en-US" dirty="0">
                <a:solidFill>
                  <a:srgbClr val="F8F8F2"/>
                </a:solidFill>
                <a:latin typeface="Monaco"/>
              </a:rPr>
              <a:t>} </a:t>
            </a:r>
            <a:endParaRPr lang="en-US" i="1" dirty="0" smtClean="0">
              <a:solidFill>
                <a:srgbClr val="66D9EF"/>
              </a:solidFill>
              <a:latin typeface="Monaco"/>
            </a:endParaRPr>
          </a:p>
          <a:p>
            <a:pPr lvl="1"/>
            <a:r>
              <a:rPr lang="en-US" i="1" dirty="0" smtClean="0">
                <a:solidFill>
                  <a:srgbClr val="66D9EF"/>
                </a:solidFill>
                <a:latin typeface="Monaco"/>
              </a:rPr>
              <a:t>console</a:t>
            </a:r>
            <a:r>
              <a:rPr lang="en-US" dirty="0" smtClean="0">
                <a:solidFill>
                  <a:srgbClr val="FFFFFF"/>
                </a:solidFill>
                <a:latin typeface="Monaco"/>
              </a:rPr>
              <a:t>.</a:t>
            </a:r>
            <a:r>
              <a:rPr lang="en-US" dirty="0" smtClean="0">
                <a:solidFill>
                  <a:srgbClr val="66D9EF"/>
                </a:solidFill>
                <a:latin typeface="Monaco"/>
              </a:rPr>
              <a:t>log</a:t>
            </a:r>
            <a:r>
              <a:rPr lang="en-US" dirty="0" smtClean="0">
                <a:solidFill>
                  <a:srgbClr val="F8F8F2"/>
                </a:solidFill>
                <a:latin typeface="Monaco"/>
              </a:rPr>
              <a:t>(name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)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</a:p>
          <a:p>
            <a:r>
              <a:rPr lang="en-US" dirty="0">
                <a:solidFill>
                  <a:srgbClr val="F8F8F2"/>
                </a:solidFill>
                <a:latin typeface="Monaco"/>
              </a:rPr>
              <a:t>} </a:t>
            </a:r>
          </a:p>
          <a:p>
            <a:r>
              <a:rPr lang="en-US" i="1" dirty="0">
                <a:solidFill>
                  <a:srgbClr val="66D9EF"/>
                </a:solidFill>
                <a:latin typeface="Monaco"/>
              </a:rPr>
              <a:t>function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>
                <a:solidFill>
                  <a:srgbClr val="A6E22E"/>
                </a:solidFill>
                <a:latin typeface="Monaco"/>
              </a:rPr>
              <a:t>ho2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(){ </a:t>
            </a:r>
          </a:p>
          <a:p>
            <a:pPr lvl="1"/>
            <a:r>
              <a:rPr lang="en-US" dirty="0">
                <a:solidFill>
                  <a:srgbClr val="F92672"/>
                </a:solidFill>
                <a:latin typeface="Monaco"/>
              </a:rPr>
              <a:t>for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US" i="1" dirty="0" err="1">
                <a:solidFill>
                  <a:srgbClr val="66D9EF"/>
                </a:solidFill>
                <a:latin typeface="Monaco"/>
              </a:rPr>
              <a:t>var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 err="1">
                <a:solidFill>
                  <a:srgbClr val="F8F8F2"/>
                </a:solidFill>
                <a:latin typeface="Monaco"/>
              </a:rPr>
              <a:t>i</a:t>
            </a:r>
            <a:r>
              <a:rPr lang="en-US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US" dirty="0">
                <a:solidFill>
                  <a:srgbClr val="AE81FF"/>
                </a:solidFill>
                <a:latin typeface="Monaco"/>
              </a:rPr>
              <a:t>0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 err="1">
                <a:solidFill>
                  <a:srgbClr val="F8F8F2"/>
                </a:solidFill>
                <a:latin typeface="Monaco"/>
              </a:rPr>
              <a:t>i</a:t>
            </a:r>
            <a:r>
              <a:rPr lang="en-US" dirty="0">
                <a:solidFill>
                  <a:srgbClr val="F92672"/>
                </a:solidFill>
                <a:latin typeface="Monaco"/>
              </a:rPr>
              <a:t>&lt;</a:t>
            </a:r>
            <a:r>
              <a:rPr lang="en-US" dirty="0">
                <a:solidFill>
                  <a:srgbClr val="AE81FF"/>
                </a:solidFill>
                <a:latin typeface="Monaco"/>
              </a:rPr>
              <a:t>5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 err="1">
                <a:solidFill>
                  <a:srgbClr val="F8F8F2"/>
                </a:solidFill>
                <a:latin typeface="Monaco"/>
              </a:rPr>
              <a:t>i</a:t>
            </a:r>
            <a:r>
              <a:rPr lang="en-US" dirty="0">
                <a:solidFill>
                  <a:srgbClr val="F92672"/>
                </a:solidFill>
                <a:latin typeface="Monaco"/>
              </a:rPr>
              <a:t>++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){ </a:t>
            </a:r>
          </a:p>
          <a:p>
            <a:pPr lvl="1"/>
            <a:r>
              <a:rPr lang="en-US" dirty="0">
                <a:solidFill>
                  <a:srgbClr val="75715E"/>
                </a:solidFill>
                <a:latin typeface="Monaco"/>
              </a:rPr>
              <a:t>// do something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</a:p>
          <a:p>
            <a:pPr lvl="1"/>
            <a:r>
              <a:rPr lang="en-US" dirty="0">
                <a:solidFill>
                  <a:srgbClr val="F8F8F2"/>
                </a:solidFill>
                <a:latin typeface="Monaco"/>
              </a:rPr>
              <a:t>} </a:t>
            </a:r>
          </a:p>
          <a:p>
            <a:pPr lvl="1"/>
            <a:r>
              <a:rPr lang="en-US" i="1" dirty="0">
                <a:solidFill>
                  <a:srgbClr val="66D9EF"/>
                </a:solidFill>
                <a:latin typeface="Monaco"/>
              </a:rPr>
              <a:t>console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.</a:t>
            </a:r>
            <a:r>
              <a:rPr lang="en-US" dirty="0">
                <a:solidFill>
                  <a:srgbClr val="66D9EF"/>
                </a:solidFill>
                <a:latin typeface="Monaco"/>
              </a:rPr>
              <a:t>log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US" dirty="0" err="1">
                <a:solidFill>
                  <a:srgbClr val="F8F8F2"/>
                </a:solidFill>
                <a:latin typeface="Monaco"/>
              </a:rPr>
              <a:t>i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)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</a:p>
          <a:p>
            <a:r>
              <a:rPr lang="en-US" dirty="0">
                <a:solidFill>
                  <a:srgbClr val="F8F8F2"/>
                </a:solidFill>
                <a:latin typeface="Monaco"/>
              </a:rPr>
              <a:t>} </a:t>
            </a:r>
          </a:p>
          <a:p>
            <a:r>
              <a:rPr lang="en-US" dirty="0">
                <a:solidFill>
                  <a:srgbClr val="F92672"/>
                </a:solidFill>
                <a:latin typeface="Monaco"/>
              </a:rPr>
              <a:t>if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US" dirty="0">
                <a:solidFill>
                  <a:srgbClr val="AE81FF"/>
                </a:solidFill>
                <a:latin typeface="Monaco"/>
              </a:rPr>
              <a:t>true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){ </a:t>
            </a:r>
            <a:endParaRPr lang="en-US" i="1" dirty="0" smtClean="0">
              <a:solidFill>
                <a:srgbClr val="66D9EF"/>
              </a:solidFill>
              <a:latin typeface="Monaco"/>
            </a:endParaRPr>
          </a:p>
          <a:p>
            <a:pPr lvl="1"/>
            <a:r>
              <a:rPr lang="en-US" i="1" dirty="0" err="1" smtClean="0">
                <a:solidFill>
                  <a:srgbClr val="66D9EF"/>
                </a:solidFill>
                <a:latin typeface="Monaco"/>
              </a:rPr>
              <a:t>var</a:t>
            </a:r>
            <a:r>
              <a:rPr lang="en-US" dirty="0" smtClean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score </a:t>
            </a:r>
            <a:r>
              <a:rPr lang="en-US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>
                <a:solidFill>
                  <a:srgbClr val="AE81FF"/>
                </a:solidFill>
                <a:latin typeface="Monaco"/>
              </a:rPr>
              <a:t>100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</a:p>
          <a:p>
            <a:r>
              <a:rPr lang="en-US" dirty="0">
                <a:solidFill>
                  <a:srgbClr val="F8F8F2"/>
                </a:solidFill>
                <a:latin typeface="Monaco"/>
              </a:rPr>
              <a:t>} </a:t>
            </a:r>
          </a:p>
          <a:p>
            <a:r>
              <a:rPr lang="en-US" i="1" dirty="0">
                <a:solidFill>
                  <a:srgbClr val="66D9EF"/>
                </a:solidFill>
                <a:latin typeface="Monaco"/>
              </a:rPr>
              <a:t>console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.</a:t>
            </a:r>
            <a:r>
              <a:rPr lang="en-US" dirty="0">
                <a:solidFill>
                  <a:srgbClr val="66D9EF"/>
                </a:solidFill>
                <a:latin typeface="Monaco"/>
              </a:rPr>
              <a:t>log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(score)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endParaRPr lang="en-US" b="0" i="0" dirty="0">
              <a:solidFill>
                <a:srgbClr val="F8F8F2"/>
              </a:solidFill>
              <a:effectLst/>
              <a:latin typeface="Monaco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029189" y="1263371"/>
            <a:ext cx="4933950" cy="53553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i="1" dirty="0" err="1">
                <a:solidFill>
                  <a:srgbClr val="66D9EF"/>
                </a:solidFill>
                <a:latin typeface="Monaco"/>
              </a:rPr>
              <a:t>var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score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>
                <a:solidFill>
                  <a:srgbClr val="75715E"/>
                </a:solidFill>
                <a:latin typeface="Monaco"/>
              </a:rPr>
              <a:t>// </a:t>
            </a:r>
            <a:r>
              <a:rPr lang="ko-KR" altLang="en-US" dirty="0">
                <a:solidFill>
                  <a:srgbClr val="75715E"/>
                </a:solidFill>
                <a:latin typeface="Monaco"/>
              </a:rPr>
              <a:t>선언</a:t>
            </a:r>
            <a:r>
              <a:rPr lang="ko-KR" altLang="en-US" dirty="0">
                <a:solidFill>
                  <a:srgbClr val="F8F8F2"/>
                </a:solidFill>
                <a:latin typeface="Monaco"/>
              </a:rPr>
              <a:t> </a:t>
            </a:r>
          </a:p>
          <a:p>
            <a:r>
              <a:rPr lang="en-US" i="1" dirty="0">
                <a:solidFill>
                  <a:srgbClr val="66D9EF"/>
                </a:solidFill>
                <a:latin typeface="Monaco"/>
              </a:rPr>
              <a:t>function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>
                <a:solidFill>
                  <a:srgbClr val="A6E22E"/>
                </a:solidFill>
                <a:latin typeface="Monaco"/>
              </a:rPr>
              <a:t>ho1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(){ </a:t>
            </a:r>
          </a:p>
          <a:p>
            <a:pPr lvl="1"/>
            <a:r>
              <a:rPr lang="en-US" i="1" dirty="0" err="1">
                <a:solidFill>
                  <a:srgbClr val="66D9EF"/>
                </a:solidFill>
                <a:latin typeface="Monaco"/>
              </a:rPr>
              <a:t>var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name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>
                <a:solidFill>
                  <a:srgbClr val="75715E"/>
                </a:solidFill>
                <a:latin typeface="Monaco"/>
              </a:rPr>
              <a:t>// </a:t>
            </a:r>
            <a:r>
              <a:rPr lang="ko-KR" altLang="en-US" dirty="0">
                <a:solidFill>
                  <a:srgbClr val="75715E"/>
                </a:solidFill>
                <a:latin typeface="Monaco"/>
              </a:rPr>
              <a:t>선언</a:t>
            </a:r>
            <a:r>
              <a:rPr lang="ko-KR" altLang="en-US" dirty="0">
                <a:solidFill>
                  <a:srgbClr val="F8F8F2"/>
                </a:solidFill>
                <a:latin typeface="Monaco"/>
              </a:rPr>
              <a:t> </a:t>
            </a:r>
          </a:p>
          <a:p>
            <a:pPr lvl="1"/>
            <a:r>
              <a:rPr lang="en-US" dirty="0">
                <a:solidFill>
                  <a:srgbClr val="F92672"/>
                </a:solidFill>
                <a:latin typeface="Monaco"/>
              </a:rPr>
              <a:t>if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US" dirty="0">
                <a:solidFill>
                  <a:srgbClr val="AE81FF"/>
                </a:solidFill>
                <a:latin typeface="Monaco"/>
              </a:rPr>
              <a:t>true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){ </a:t>
            </a:r>
            <a:endParaRPr lang="en-US" dirty="0" smtClean="0">
              <a:solidFill>
                <a:srgbClr val="F8F8F2"/>
              </a:solidFill>
              <a:latin typeface="Monaco"/>
            </a:endParaRPr>
          </a:p>
          <a:p>
            <a:pPr lvl="2"/>
            <a:r>
              <a:rPr lang="en-US" dirty="0" smtClean="0">
                <a:solidFill>
                  <a:srgbClr val="F8F8F2"/>
                </a:solidFill>
                <a:latin typeface="Monaco"/>
              </a:rPr>
              <a:t>name </a:t>
            </a:r>
            <a:r>
              <a:rPr lang="en-US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>
                <a:solidFill>
                  <a:srgbClr val="E6DB74"/>
                </a:solidFill>
                <a:latin typeface="Monaco"/>
              </a:rPr>
              <a:t>'</a:t>
            </a:r>
            <a:r>
              <a:rPr lang="en-US" dirty="0" err="1">
                <a:solidFill>
                  <a:srgbClr val="E6DB74"/>
                </a:solidFill>
                <a:latin typeface="Monaco"/>
              </a:rPr>
              <a:t>yuddomack</a:t>
            </a:r>
            <a:r>
              <a:rPr lang="en-US" dirty="0">
                <a:solidFill>
                  <a:srgbClr val="E6DB74"/>
                </a:solidFill>
                <a:latin typeface="Monaco"/>
              </a:rPr>
              <a:t>'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>
                <a:solidFill>
                  <a:srgbClr val="75715E"/>
                </a:solidFill>
                <a:latin typeface="Monaco"/>
              </a:rPr>
              <a:t>// </a:t>
            </a:r>
            <a:r>
              <a:rPr lang="ko-KR" altLang="en-US" dirty="0">
                <a:solidFill>
                  <a:srgbClr val="75715E"/>
                </a:solidFill>
                <a:latin typeface="Monaco"/>
              </a:rPr>
              <a:t>할당</a:t>
            </a:r>
            <a:r>
              <a:rPr lang="ko-KR" altLang="en-US" dirty="0">
                <a:solidFill>
                  <a:srgbClr val="F8F8F2"/>
                </a:solidFill>
                <a:latin typeface="Monaco"/>
              </a:rPr>
              <a:t> </a:t>
            </a:r>
          </a:p>
          <a:p>
            <a:pPr lvl="1"/>
            <a:r>
              <a:rPr lang="en-US" altLang="ko-KR" dirty="0">
                <a:solidFill>
                  <a:srgbClr val="F8F8F2"/>
                </a:solidFill>
                <a:latin typeface="Monaco"/>
              </a:rPr>
              <a:t>} </a:t>
            </a:r>
          </a:p>
          <a:p>
            <a:pPr lvl="1"/>
            <a:r>
              <a:rPr lang="en-US" i="1" dirty="0">
                <a:solidFill>
                  <a:srgbClr val="66D9EF"/>
                </a:solidFill>
                <a:latin typeface="Monaco"/>
              </a:rPr>
              <a:t>console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.</a:t>
            </a:r>
            <a:r>
              <a:rPr lang="en-US" dirty="0">
                <a:solidFill>
                  <a:srgbClr val="66D9EF"/>
                </a:solidFill>
                <a:latin typeface="Monaco"/>
              </a:rPr>
              <a:t>log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(name)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</a:p>
          <a:p>
            <a:r>
              <a:rPr lang="en-US" dirty="0">
                <a:solidFill>
                  <a:srgbClr val="F8F8F2"/>
                </a:solidFill>
                <a:latin typeface="Monaco"/>
              </a:rPr>
              <a:t>} </a:t>
            </a:r>
          </a:p>
          <a:p>
            <a:r>
              <a:rPr lang="en-US" i="1" dirty="0">
                <a:solidFill>
                  <a:srgbClr val="66D9EF"/>
                </a:solidFill>
                <a:latin typeface="Monaco"/>
              </a:rPr>
              <a:t>function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>
                <a:solidFill>
                  <a:srgbClr val="A6E22E"/>
                </a:solidFill>
                <a:latin typeface="Monaco"/>
              </a:rPr>
              <a:t>ho2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(){ </a:t>
            </a:r>
          </a:p>
          <a:p>
            <a:pPr lvl="1"/>
            <a:r>
              <a:rPr lang="en-US" i="1" dirty="0" err="1">
                <a:solidFill>
                  <a:srgbClr val="66D9EF"/>
                </a:solidFill>
                <a:latin typeface="Monaco"/>
              </a:rPr>
              <a:t>var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 err="1">
                <a:solidFill>
                  <a:srgbClr val="F8F8F2"/>
                </a:solidFill>
                <a:latin typeface="Monaco"/>
              </a:rPr>
              <a:t>i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>
                <a:solidFill>
                  <a:srgbClr val="75715E"/>
                </a:solidFill>
                <a:latin typeface="Monaco"/>
              </a:rPr>
              <a:t>// </a:t>
            </a:r>
            <a:r>
              <a:rPr lang="ko-KR" altLang="en-US" dirty="0">
                <a:solidFill>
                  <a:srgbClr val="75715E"/>
                </a:solidFill>
                <a:latin typeface="Monaco"/>
              </a:rPr>
              <a:t>선언</a:t>
            </a:r>
            <a:r>
              <a:rPr lang="ko-KR" altLang="en-US" dirty="0">
                <a:solidFill>
                  <a:srgbClr val="F8F8F2"/>
                </a:solidFill>
                <a:latin typeface="Monaco"/>
              </a:rPr>
              <a:t> </a:t>
            </a:r>
          </a:p>
          <a:p>
            <a:pPr lvl="1"/>
            <a:r>
              <a:rPr lang="en-US" dirty="0">
                <a:solidFill>
                  <a:srgbClr val="F92672"/>
                </a:solidFill>
                <a:latin typeface="Monaco"/>
              </a:rPr>
              <a:t>for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US" dirty="0" err="1">
                <a:solidFill>
                  <a:srgbClr val="F8F8F2"/>
                </a:solidFill>
                <a:latin typeface="Monaco"/>
              </a:rPr>
              <a:t>i</a:t>
            </a:r>
            <a:r>
              <a:rPr lang="en-US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US" dirty="0">
                <a:solidFill>
                  <a:srgbClr val="AE81FF"/>
                </a:solidFill>
                <a:latin typeface="Monaco"/>
              </a:rPr>
              <a:t>0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 err="1">
                <a:solidFill>
                  <a:srgbClr val="F8F8F2"/>
                </a:solidFill>
                <a:latin typeface="Monaco"/>
              </a:rPr>
              <a:t>i</a:t>
            </a:r>
            <a:r>
              <a:rPr lang="en-US" dirty="0">
                <a:solidFill>
                  <a:srgbClr val="F92672"/>
                </a:solidFill>
                <a:latin typeface="Monaco"/>
              </a:rPr>
              <a:t>&lt;</a:t>
            </a:r>
            <a:r>
              <a:rPr lang="en-US" dirty="0">
                <a:solidFill>
                  <a:srgbClr val="AE81FF"/>
                </a:solidFill>
                <a:latin typeface="Monaco"/>
              </a:rPr>
              <a:t>5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 err="1">
                <a:solidFill>
                  <a:srgbClr val="F8F8F2"/>
                </a:solidFill>
                <a:latin typeface="Monaco"/>
              </a:rPr>
              <a:t>i</a:t>
            </a:r>
            <a:r>
              <a:rPr lang="en-US" dirty="0">
                <a:solidFill>
                  <a:srgbClr val="F92672"/>
                </a:solidFill>
                <a:latin typeface="Monaco"/>
              </a:rPr>
              <a:t>++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){ </a:t>
            </a:r>
            <a:r>
              <a:rPr lang="en-US" dirty="0">
                <a:solidFill>
                  <a:srgbClr val="75715E"/>
                </a:solidFill>
                <a:latin typeface="Monaco"/>
              </a:rPr>
              <a:t>// </a:t>
            </a:r>
            <a:r>
              <a:rPr lang="ko-KR" altLang="en-US" dirty="0">
                <a:solidFill>
                  <a:srgbClr val="75715E"/>
                </a:solidFill>
                <a:latin typeface="Monaco"/>
              </a:rPr>
              <a:t>할당</a:t>
            </a:r>
            <a:r>
              <a:rPr lang="ko-KR" altLang="en-US" dirty="0">
                <a:solidFill>
                  <a:srgbClr val="F8F8F2"/>
                </a:solidFill>
                <a:latin typeface="Monaco"/>
              </a:rPr>
              <a:t> </a:t>
            </a:r>
          </a:p>
          <a:p>
            <a:pPr lvl="1"/>
            <a:r>
              <a:rPr lang="en-US" altLang="ko-KR" dirty="0">
                <a:solidFill>
                  <a:srgbClr val="75715E"/>
                </a:solidFill>
                <a:latin typeface="Monaco"/>
              </a:rPr>
              <a:t>// </a:t>
            </a:r>
            <a:r>
              <a:rPr lang="en-US" dirty="0">
                <a:solidFill>
                  <a:srgbClr val="75715E"/>
                </a:solidFill>
                <a:latin typeface="Monaco"/>
              </a:rPr>
              <a:t>do something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</a:p>
          <a:p>
            <a:pPr lvl="1"/>
            <a:r>
              <a:rPr lang="en-US" dirty="0">
                <a:solidFill>
                  <a:srgbClr val="F8F8F2"/>
                </a:solidFill>
                <a:latin typeface="Monaco"/>
              </a:rPr>
              <a:t>} </a:t>
            </a:r>
          </a:p>
          <a:p>
            <a:pPr lvl="1"/>
            <a:r>
              <a:rPr lang="en-US" i="1" dirty="0">
                <a:solidFill>
                  <a:srgbClr val="66D9EF"/>
                </a:solidFill>
                <a:latin typeface="Monaco"/>
              </a:rPr>
              <a:t>console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.</a:t>
            </a:r>
            <a:r>
              <a:rPr lang="en-US" dirty="0">
                <a:solidFill>
                  <a:srgbClr val="66D9EF"/>
                </a:solidFill>
                <a:latin typeface="Monaco"/>
              </a:rPr>
              <a:t>log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US" dirty="0" err="1">
                <a:solidFill>
                  <a:srgbClr val="F8F8F2"/>
                </a:solidFill>
                <a:latin typeface="Monaco"/>
              </a:rPr>
              <a:t>i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)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</a:p>
          <a:p>
            <a:r>
              <a:rPr lang="en-US" dirty="0">
                <a:solidFill>
                  <a:srgbClr val="F8F8F2"/>
                </a:solidFill>
                <a:latin typeface="Monaco"/>
              </a:rPr>
              <a:t>} </a:t>
            </a:r>
          </a:p>
          <a:p>
            <a:r>
              <a:rPr lang="en-US" dirty="0">
                <a:solidFill>
                  <a:srgbClr val="F92672"/>
                </a:solidFill>
                <a:latin typeface="Monaco"/>
              </a:rPr>
              <a:t>if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US" dirty="0">
                <a:solidFill>
                  <a:srgbClr val="AE81FF"/>
                </a:solidFill>
                <a:latin typeface="Monaco"/>
              </a:rPr>
              <a:t>true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){ </a:t>
            </a:r>
            <a:endParaRPr lang="en-US" dirty="0" smtClean="0">
              <a:solidFill>
                <a:srgbClr val="F8F8F2"/>
              </a:solidFill>
              <a:latin typeface="Monaco"/>
            </a:endParaRPr>
          </a:p>
          <a:p>
            <a:pPr lvl="1"/>
            <a:r>
              <a:rPr lang="en-US" dirty="0" smtClean="0">
                <a:solidFill>
                  <a:srgbClr val="F8F8F2"/>
                </a:solidFill>
                <a:latin typeface="Monaco"/>
              </a:rPr>
              <a:t>score </a:t>
            </a:r>
            <a:r>
              <a:rPr lang="en-US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>
                <a:solidFill>
                  <a:srgbClr val="AE81FF"/>
                </a:solidFill>
                <a:latin typeface="Monaco"/>
              </a:rPr>
              <a:t>100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>
                <a:solidFill>
                  <a:srgbClr val="75715E"/>
                </a:solidFill>
                <a:latin typeface="Monaco"/>
              </a:rPr>
              <a:t>// </a:t>
            </a:r>
            <a:r>
              <a:rPr lang="ko-KR" altLang="en-US" dirty="0">
                <a:solidFill>
                  <a:srgbClr val="75715E"/>
                </a:solidFill>
                <a:latin typeface="Monaco"/>
              </a:rPr>
              <a:t>할당</a:t>
            </a:r>
            <a:r>
              <a:rPr lang="ko-KR" altLang="en-US" dirty="0">
                <a:solidFill>
                  <a:srgbClr val="F8F8F2"/>
                </a:solidFill>
                <a:latin typeface="Monaco"/>
              </a:rPr>
              <a:t> </a:t>
            </a:r>
          </a:p>
          <a:p>
            <a:r>
              <a:rPr lang="en-US" altLang="ko-KR" dirty="0">
                <a:solidFill>
                  <a:srgbClr val="F8F8F2"/>
                </a:solidFill>
                <a:latin typeface="Monaco"/>
              </a:rPr>
              <a:t>} </a:t>
            </a:r>
          </a:p>
          <a:p>
            <a:r>
              <a:rPr lang="en-US" i="1" dirty="0">
                <a:solidFill>
                  <a:srgbClr val="66D9EF"/>
                </a:solidFill>
                <a:latin typeface="Monaco"/>
              </a:rPr>
              <a:t>console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.</a:t>
            </a:r>
            <a:r>
              <a:rPr lang="en-US" dirty="0">
                <a:solidFill>
                  <a:srgbClr val="66D9EF"/>
                </a:solidFill>
                <a:latin typeface="Monaco"/>
              </a:rPr>
              <a:t>log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(score)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endParaRPr lang="en-US" b="0" i="0" dirty="0">
              <a:solidFill>
                <a:srgbClr val="F8F8F2"/>
              </a:solidFill>
              <a:effectLst/>
              <a:latin typeface="Monaco"/>
            </a:endParaRPr>
          </a:p>
        </p:txBody>
      </p:sp>
      <p:sp>
        <p:nvSpPr>
          <p:cNvPr id="20" name="오른쪽 화살표 19"/>
          <p:cNvSpPr/>
          <p:nvPr/>
        </p:nvSpPr>
        <p:spPr>
          <a:xfrm>
            <a:off x="5357677" y="4048125"/>
            <a:ext cx="519248" cy="308401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0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함수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6195850"/>
          </a:xfrm>
        </p:spPr>
        <p:txBody>
          <a:bodyPr>
            <a:normAutofit/>
          </a:bodyPr>
          <a:lstStyle/>
          <a:p>
            <a:r>
              <a:rPr lang="ko-KR" altLang="en-US" sz="2200" b="1" dirty="0" err="1" smtClean="0">
                <a:solidFill>
                  <a:prstClr val="black"/>
                </a:solidFill>
              </a:rPr>
              <a:t>호이스팅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(Hoisting)</a:t>
            </a:r>
          </a:p>
          <a:p>
            <a:pPr lvl="1"/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함수도 </a:t>
            </a:r>
            <a:r>
              <a:rPr lang="ko-KR" alt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호이스팅이</a:t>
            </a:r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일어남</a:t>
            </a:r>
            <a:endParaRPr lang="en-US" altLang="ko-K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ko-K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ko-K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altLang="ko-K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ko-K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ko-K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ko-KR" alt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호이스팅이</a:t>
            </a:r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일어난다는 뜻이지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선언되지 않은 변수를 사용하는 것을 추천하는 것은 </a:t>
            </a:r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아님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이러한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문제를 차단하기 위해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let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이 소개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14</a:t>
            </a:fld>
            <a:endParaRPr lang="en-US"/>
          </a:p>
        </p:txBody>
      </p:sp>
      <p:sp>
        <p:nvSpPr>
          <p:cNvPr id="21" name="직사각형 20"/>
          <p:cNvSpPr/>
          <p:nvPr/>
        </p:nvSpPr>
        <p:spPr>
          <a:xfrm>
            <a:off x="1066774" y="2060096"/>
            <a:ext cx="2592288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/>
              <a:t>f()</a:t>
            </a:r>
          </a:p>
          <a:p>
            <a:r>
              <a:rPr lang="en-US" dirty="0" smtClean="0"/>
              <a:t>function f(){</a:t>
            </a:r>
          </a:p>
          <a:p>
            <a:r>
              <a:rPr lang="en-US" dirty="0" smtClean="0"/>
              <a:t>    console.log</a:t>
            </a:r>
            <a:r>
              <a:rPr lang="en-US" dirty="0"/>
              <a:t>('f</a:t>
            </a:r>
            <a:r>
              <a:rPr lang="en-US" dirty="0" smtClean="0"/>
              <a:t>');</a:t>
            </a:r>
            <a:endParaRPr lang="en-US" dirty="0"/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426814" y="3332433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함수 </a:t>
            </a:r>
            <a:r>
              <a:rPr lang="ko-KR" alt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호이스팅</a:t>
            </a:r>
            <a:r>
              <a:rPr lang="ko-KR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예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29050" y="2438400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'f'</a:t>
            </a:r>
            <a:r>
              <a:rPr lang="ko-KR" altLang="en-US" dirty="0" smtClean="0"/>
              <a:t>가 출력</a:t>
            </a:r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038199" y="3962956"/>
            <a:ext cx="4067175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8F8F2"/>
                </a:solidFill>
                <a:latin typeface="Monaco"/>
              </a:rPr>
              <a:t>sayName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()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</a:p>
          <a:p>
            <a:r>
              <a:rPr lang="en-US" i="1" dirty="0" err="1">
                <a:solidFill>
                  <a:srgbClr val="66D9EF"/>
                </a:solidFill>
                <a:latin typeface="Monaco"/>
              </a:rPr>
              <a:t>var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 err="1">
                <a:solidFill>
                  <a:srgbClr val="A6E22E"/>
                </a:solidFill>
                <a:latin typeface="Monaco"/>
              </a:rPr>
              <a:t>sayName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i="1" dirty="0">
                <a:solidFill>
                  <a:srgbClr val="66D9EF"/>
                </a:solidFill>
                <a:latin typeface="Monaco"/>
              </a:rPr>
              <a:t>function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(){ </a:t>
            </a:r>
            <a:endParaRPr lang="en-US" i="1" dirty="0" smtClean="0">
              <a:solidFill>
                <a:srgbClr val="66D9EF"/>
              </a:solidFill>
              <a:latin typeface="Monaco"/>
            </a:endParaRPr>
          </a:p>
          <a:p>
            <a:pPr lvl="1"/>
            <a:r>
              <a:rPr lang="en-US" i="1" dirty="0" smtClean="0">
                <a:solidFill>
                  <a:srgbClr val="66D9EF"/>
                </a:solidFill>
                <a:latin typeface="Monaco"/>
              </a:rPr>
              <a:t>console</a:t>
            </a:r>
            <a:r>
              <a:rPr lang="en-US" dirty="0" smtClean="0">
                <a:solidFill>
                  <a:srgbClr val="FFFFFF"/>
                </a:solidFill>
                <a:latin typeface="Monaco"/>
              </a:rPr>
              <a:t>.</a:t>
            </a:r>
            <a:r>
              <a:rPr lang="en-US" dirty="0" smtClean="0">
                <a:solidFill>
                  <a:srgbClr val="66D9EF"/>
                </a:solidFill>
                <a:latin typeface="Monaco"/>
              </a:rPr>
              <a:t>log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US" dirty="0">
                <a:solidFill>
                  <a:srgbClr val="E6DB74"/>
                </a:solidFill>
                <a:latin typeface="Monaco"/>
              </a:rPr>
              <a:t>'</a:t>
            </a:r>
            <a:r>
              <a:rPr lang="en-US" dirty="0" err="1">
                <a:solidFill>
                  <a:srgbClr val="E6DB74"/>
                </a:solidFill>
                <a:latin typeface="Monaco"/>
              </a:rPr>
              <a:t>yuddomack</a:t>
            </a:r>
            <a:r>
              <a:rPr lang="en-US" dirty="0">
                <a:solidFill>
                  <a:srgbClr val="E6DB74"/>
                </a:solidFill>
                <a:latin typeface="Monaco"/>
              </a:rPr>
              <a:t>'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)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</a:p>
          <a:p>
            <a:r>
              <a:rPr lang="en-US" dirty="0">
                <a:solidFill>
                  <a:srgbClr val="F8F8F2"/>
                </a:solidFill>
                <a:latin typeface="Monaco"/>
              </a:rPr>
              <a:t>}</a:t>
            </a:r>
            <a:endParaRPr lang="en-US" b="0" i="0" dirty="0">
              <a:solidFill>
                <a:srgbClr val="F8F8F2"/>
              </a:solidFill>
              <a:effectLst/>
              <a:latin typeface="Monaco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926006" y="3657382"/>
            <a:ext cx="4733925" cy="14773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i="1" dirty="0" err="1">
                <a:solidFill>
                  <a:srgbClr val="66D9EF"/>
                </a:solidFill>
                <a:latin typeface="Monaco"/>
              </a:rPr>
              <a:t>var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 err="1">
                <a:solidFill>
                  <a:srgbClr val="F8F8F2"/>
                </a:solidFill>
                <a:latin typeface="Monaco"/>
              </a:rPr>
              <a:t>sayName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</a:p>
          <a:p>
            <a:r>
              <a:rPr lang="en-US" dirty="0" err="1">
                <a:solidFill>
                  <a:srgbClr val="F8F8F2"/>
                </a:solidFill>
                <a:latin typeface="Monaco"/>
              </a:rPr>
              <a:t>sayName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()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</a:p>
          <a:p>
            <a:r>
              <a:rPr lang="en-US" dirty="0" err="1">
                <a:solidFill>
                  <a:srgbClr val="A6E22E"/>
                </a:solidFill>
                <a:latin typeface="Monaco"/>
              </a:rPr>
              <a:t>sayName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dirty="0">
                <a:solidFill>
                  <a:srgbClr val="F92672"/>
                </a:solidFill>
                <a:latin typeface="Monaco"/>
              </a:rPr>
              <a:t>=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US" i="1" dirty="0">
                <a:solidFill>
                  <a:srgbClr val="66D9EF"/>
                </a:solidFill>
                <a:latin typeface="Monaco"/>
              </a:rPr>
              <a:t>function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(){ </a:t>
            </a:r>
            <a:endParaRPr lang="en-US" i="1" dirty="0" smtClean="0">
              <a:solidFill>
                <a:srgbClr val="66D9EF"/>
              </a:solidFill>
              <a:latin typeface="Monaco"/>
            </a:endParaRPr>
          </a:p>
          <a:p>
            <a:pPr lvl="1"/>
            <a:r>
              <a:rPr lang="en-US" i="1" dirty="0" smtClean="0">
                <a:solidFill>
                  <a:srgbClr val="66D9EF"/>
                </a:solidFill>
                <a:latin typeface="Monaco"/>
              </a:rPr>
              <a:t>console</a:t>
            </a:r>
            <a:r>
              <a:rPr lang="en-US" dirty="0" smtClean="0">
                <a:solidFill>
                  <a:srgbClr val="FFFFFF"/>
                </a:solidFill>
                <a:latin typeface="Monaco"/>
              </a:rPr>
              <a:t>.</a:t>
            </a:r>
            <a:r>
              <a:rPr lang="en-US" dirty="0" smtClean="0">
                <a:solidFill>
                  <a:srgbClr val="66D9EF"/>
                </a:solidFill>
                <a:latin typeface="Monaco"/>
              </a:rPr>
              <a:t>log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(</a:t>
            </a:r>
            <a:r>
              <a:rPr lang="en-US" dirty="0">
                <a:solidFill>
                  <a:srgbClr val="E6DB74"/>
                </a:solidFill>
                <a:latin typeface="Monaco"/>
              </a:rPr>
              <a:t>'</a:t>
            </a:r>
            <a:r>
              <a:rPr lang="en-US" dirty="0" err="1">
                <a:solidFill>
                  <a:srgbClr val="E6DB74"/>
                </a:solidFill>
                <a:latin typeface="Monaco"/>
              </a:rPr>
              <a:t>yuddomack</a:t>
            </a:r>
            <a:r>
              <a:rPr lang="en-US" dirty="0">
                <a:solidFill>
                  <a:srgbClr val="E6DB74"/>
                </a:solidFill>
                <a:latin typeface="Monaco"/>
              </a:rPr>
              <a:t>'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)</a:t>
            </a:r>
            <a:r>
              <a:rPr lang="en-US" dirty="0">
                <a:solidFill>
                  <a:srgbClr val="FFFFFF"/>
                </a:solidFill>
                <a:latin typeface="Monaco"/>
              </a:rPr>
              <a:t>;</a:t>
            </a:r>
            <a:r>
              <a:rPr lang="en-US" dirty="0">
                <a:solidFill>
                  <a:srgbClr val="F8F8F2"/>
                </a:solidFill>
                <a:latin typeface="Monaco"/>
              </a:rPr>
              <a:t> </a:t>
            </a:r>
          </a:p>
          <a:p>
            <a:r>
              <a:rPr lang="en-US" dirty="0">
                <a:solidFill>
                  <a:srgbClr val="F8F8F2"/>
                </a:solidFill>
                <a:latin typeface="Monaco"/>
              </a:rPr>
              <a:t>}</a:t>
            </a:r>
            <a:endParaRPr lang="en-US" b="0" i="0" dirty="0">
              <a:solidFill>
                <a:srgbClr val="F8F8F2"/>
              </a:solidFill>
              <a:effectLst/>
              <a:latin typeface="Monaco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515475" y="2438400"/>
            <a:ext cx="20842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이것은 </a:t>
            </a:r>
            <a:r>
              <a:rPr lang="ko-KR" altLang="en-US" dirty="0" err="1" smtClean="0"/>
              <a:t>익명함수를</a:t>
            </a:r>
            <a:endParaRPr lang="en-US" altLang="ko-KR" dirty="0" smtClean="0"/>
          </a:p>
          <a:p>
            <a:r>
              <a:rPr lang="en-US" dirty="0" err="1" smtClean="0"/>
              <a:t>sayName</a:t>
            </a:r>
            <a:r>
              <a:rPr lang="ko-KR" altLang="en-US" dirty="0" smtClean="0"/>
              <a:t>에 할당</a:t>
            </a:r>
            <a:endParaRPr lang="en-US" dirty="0"/>
          </a:p>
        </p:txBody>
      </p:sp>
      <p:cxnSp>
        <p:nvCxnSpPr>
          <p:cNvPr id="26" name="구부러진 연결선 25"/>
          <p:cNvCxnSpPr/>
          <p:nvPr/>
        </p:nvCxnSpPr>
        <p:spPr>
          <a:xfrm flipV="1">
            <a:off x="7153275" y="2657477"/>
            <a:ext cx="2343150" cy="1685923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933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함수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고계함수</a:t>
            </a:r>
            <a:r>
              <a:rPr lang="en-US" altLang="ko-KR" dirty="0" smtClean="0"/>
              <a:t>(higher-order function)</a:t>
            </a:r>
          </a:p>
          <a:p>
            <a:pPr lvl="1"/>
            <a:r>
              <a:rPr lang="ko-KR" altLang="en-US" dirty="0" smtClean="0"/>
              <a:t>인자나 </a:t>
            </a:r>
            <a:r>
              <a:rPr lang="ko-KR" altLang="en-US" dirty="0" err="1" smtClean="0"/>
              <a:t>반환값으로</a:t>
            </a:r>
            <a:r>
              <a:rPr lang="ko-KR" altLang="en-US" dirty="0" smtClean="0"/>
              <a:t> 함수를 사용하는 함수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함수형 프로그래밍에서 나오는 개념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코틀린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스칼라</a:t>
            </a:r>
            <a:r>
              <a:rPr lang="en-US" altLang="ko-KR" dirty="0" smtClean="0"/>
              <a:t>..)</a:t>
            </a:r>
          </a:p>
          <a:p>
            <a:pPr lvl="1"/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A67E06-563C-4DAC-B352-5CBE54DE7B56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81131" y="2548931"/>
            <a:ext cx="2862219" cy="3265097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8000" tIns="108000" rIns="108000" bIns="108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E38800"/>
                </a:solidFill>
                <a:effectLst/>
                <a:latin typeface="Arial Unicode MS"/>
                <a:ea typeface="SF Mono"/>
              </a:rPr>
              <a:t>function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9464E"/>
                </a:solidFill>
                <a:effectLst/>
                <a:latin typeface="Arial Unicode MS"/>
                <a:ea typeface="SF Mon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A3D58"/>
                </a:solidFill>
                <a:effectLst/>
                <a:latin typeface="Arial Unicode MS"/>
                <a:ea typeface="SF Mono"/>
              </a:rPr>
              <a:t>twice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9464E"/>
                </a:solidFill>
                <a:effectLst/>
                <a:latin typeface="Arial Unicode MS"/>
                <a:ea typeface="SF Mono"/>
              </a:rPr>
              <a:t>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8D44EB"/>
                </a:solidFill>
                <a:effectLst/>
                <a:latin typeface="Arial Unicode MS"/>
                <a:ea typeface="SF Mono"/>
              </a:rPr>
              <a:t>f,x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9464E"/>
                </a:solidFill>
                <a:effectLst/>
                <a:latin typeface="Arial Unicode MS"/>
                <a:ea typeface="SF Mono"/>
              </a:rPr>
              <a:t>){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E38800"/>
              </a:solidFill>
              <a:effectLst/>
              <a:latin typeface="Arial Unicode MS"/>
              <a:ea typeface="SF Mono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E38800"/>
                </a:solidFill>
                <a:effectLst/>
                <a:latin typeface="Arial Unicode MS"/>
                <a:ea typeface="SF Mono"/>
              </a:rPr>
              <a:t>return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9464E"/>
                </a:solidFill>
                <a:effectLst/>
                <a:latin typeface="Arial Unicode MS"/>
                <a:ea typeface="SF Mono"/>
              </a:rPr>
              <a:t> f(f(x));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39464E"/>
              </a:solidFill>
              <a:effectLst/>
              <a:latin typeface="Arial Unicode MS"/>
              <a:ea typeface="SF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9464E"/>
                </a:solidFill>
                <a:effectLst/>
                <a:latin typeface="Arial Unicode MS"/>
                <a:ea typeface="SF Mono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E38800"/>
                </a:solidFill>
                <a:effectLst/>
                <a:latin typeface="Arial Unicode MS"/>
                <a:ea typeface="SF Mono"/>
              </a:rPr>
              <a:t>function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9464E"/>
                </a:solidFill>
                <a:effectLst/>
                <a:latin typeface="Arial Unicode MS"/>
                <a:ea typeface="SF Mono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A3D58"/>
                </a:solidFill>
                <a:effectLst/>
                <a:latin typeface="Arial Unicode MS"/>
                <a:ea typeface="SF Mono"/>
              </a:rPr>
              <a:t>f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9464E"/>
                </a:solidFill>
                <a:effectLst/>
                <a:latin typeface="Arial Unicode MS"/>
                <a:ea typeface="SF Mono"/>
              </a:rPr>
              <a:t>(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D44EB"/>
                </a:solidFill>
                <a:effectLst/>
                <a:latin typeface="Arial Unicode MS"/>
                <a:ea typeface="SF Mono"/>
              </a:rPr>
              <a:t>x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9464E"/>
                </a:solidFill>
                <a:effectLst/>
                <a:latin typeface="Arial Unicode MS"/>
                <a:ea typeface="SF Mono"/>
              </a:rPr>
              <a:t>){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E38800"/>
              </a:solidFill>
              <a:effectLst/>
              <a:latin typeface="Arial Unicode MS"/>
              <a:ea typeface="SF Mono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E38800"/>
                </a:solidFill>
                <a:effectLst/>
                <a:latin typeface="Arial Unicode MS"/>
                <a:ea typeface="SF Mono"/>
              </a:rPr>
              <a:t>return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9464E"/>
                </a:solidFill>
                <a:effectLst/>
                <a:latin typeface="Arial Unicode MS"/>
                <a:ea typeface="SF Mono"/>
              </a:rPr>
              <a:t> x*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ED6E55"/>
                </a:solidFill>
                <a:effectLst/>
                <a:latin typeface="Arial Unicode MS"/>
                <a:ea typeface="SF Mono"/>
              </a:rPr>
              <a:t>3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9464E"/>
                </a:solidFill>
                <a:effectLst/>
                <a:latin typeface="Arial Unicode MS"/>
                <a:ea typeface="SF Mono"/>
              </a:rPr>
              <a:t>;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39464E"/>
              </a:solidFill>
              <a:effectLst/>
              <a:latin typeface="Arial Unicode MS"/>
              <a:ea typeface="SF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9464E"/>
                </a:solidFill>
                <a:effectLst/>
                <a:latin typeface="Arial Unicode MS"/>
                <a:ea typeface="SF Mono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9464E"/>
                </a:solidFill>
                <a:effectLst/>
                <a:latin typeface="Arial Unicode MS"/>
                <a:ea typeface="SF Mono"/>
              </a:rPr>
              <a:t>twice(f,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ED6E55"/>
                </a:solidFill>
                <a:effectLst/>
                <a:latin typeface="Arial Unicode MS"/>
                <a:ea typeface="SF Mono"/>
              </a:rPr>
              <a:t>7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9464E"/>
                </a:solidFill>
                <a:effectLst/>
                <a:latin typeface="Arial Unicode MS"/>
                <a:ea typeface="SF Mono"/>
              </a:rPr>
              <a:t>);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96325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8195</TotalTime>
  <Words>1227</Words>
  <Application>Microsoft Office PowerPoint</Application>
  <PresentationFormat>와이드스크린</PresentationFormat>
  <Paragraphs>353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5" baseType="lpstr">
      <vt:lpstr>Arial Unicode MS</vt:lpstr>
      <vt:lpstr>Monaco</vt:lpstr>
      <vt:lpstr>SF Mono</vt:lpstr>
      <vt:lpstr>맑은 고딕</vt:lpstr>
      <vt:lpstr>Arial</vt:lpstr>
      <vt:lpstr>Calibri</vt:lpstr>
      <vt:lpstr>Calibri Light</vt:lpstr>
      <vt:lpstr>Consolas</vt:lpstr>
      <vt:lpstr>Wingdings</vt:lpstr>
      <vt:lpstr>Office 테마</vt:lpstr>
      <vt:lpstr>함수</vt:lpstr>
      <vt:lpstr>함수</vt:lpstr>
      <vt:lpstr>함수</vt:lpstr>
      <vt:lpstr>함수</vt:lpstr>
      <vt:lpstr>함수</vt:lpstr>
      <vt:lpstr>함수</vt:lpstr>
      <vt:lpstr>함수</vt:lpstr>
      <vt:lpstr>함수</vt:lpstr>
      <vt:lpstr>함수</vt:lpstr>
      <vt:lpstr>함수</vt:lpstr>
      <vt:lpstr>함수</vt:lpstr>
      <vt:lpstr>함수</vt:lpstr>
      <vt:lpstr>함수</vt:lpstr>
      <vt:lpstr>함수</vt:lpstr>
      <vt:lpstr>함수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2860</cp:revision>
  <dcterms:created xsi:type="dcterms:W3CDTF">2020-03-06T01:35:43Z</dcterms:created>
  <dcterms:modified xsi:type="dcterms:W3CDTF">2020-04-20T03:39:31Z</dcterms:modified>
  <cp:version>1000.0000.01</cp:version>
</cp:coreProperties>
</file>