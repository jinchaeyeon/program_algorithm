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19"/>
  </p:notesMasterIdLst>
  <p:sldIdLst>
    <p:sldId id="256" r:id="rId2"/>
    <p:sldId id="321" r:id="rId3"/>
    <p:sldId id="322" r:id="rId4"/>
    <p:sldId id="324" r:id="rId5"/>
    <p:sldId id="323" r:id="rId6"/>
    <p:sldId id="325" r:id="rId7"/>
    <p:sldId id="333" r:id="rId8"/>
    <p:sldId id="334" r:id="rId9"/>
    <p:sldId id="326" r:id="rId10"/>
    <p:sldId id="328" r:id="rId11"/>
    <p:sldId id="330" r:id="rId12"/>
    <p:sldId id="332" r:id="rId13"/>
    <p:sldId id="337" r:id="rId14"/>
    <p:sldId id="329" r:id="rId15"/>
    <p:sldId id="344" r:id="rId16"/>
    <p:sldId id="335" r:id="rId17"/>
    <p:sldId id="3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70" y="1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4/7/2021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4/7/2021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4/7/2021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4/7/2021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4/7/2021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4/7/2021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4/7/2021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4/7/2021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4/7/2021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4/7/2021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4/7/2021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4/7/2021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4/7/2021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91546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 smtClean="0"/>
              <a:t>Event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이벤트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이벤트</a:t>
            </a:r>
          </a:p>
          <a:p>
            <a:pPr lvl="1"/>
            <a:r>
              <a:rPr lang="ko-KR" altLang="en-US" sz="1800" dirty="0">
                <a:solidFill>
                  <a:prstClr val="black"/>
                </a:solidFill>
              </a:rPr>
              <a:t>문서나 브라우저 창에서 특정 순간에 일어난 </a:t>
            </a:r>
            <a:r>
              <a:rPr lang="ko-KR" altLang="en-US" sz="1800" dirty="0" smtClean="0">
                <a:solidFill>
                  <a:prstClr val="black"/>
                </a:solidFill>
              </a:rPr>
              <a:t>일</a:t>
            </a:r>
          </a:p>
          <a:p>
            <a:pPr marL="0" indent="0">
              <a:buNone/>
            </a:pPr>
            <a:endParaRPr lang="ko-KR" altLang="en-US" sz="2200" b="1" dirty="0" smtClean="0">
              <a:solidFill>
                <a:prstClr val="black"/>
              </a:solidFill>
            </a:endParaRPr>
          </a:p>
          <a:p>
            <a:r>
              <a:rPr lang="ko-KR" altLang="en-US" sz="2200" b="1" dirty="0" err="1" smtClean="0">
                <a:solidFill>
                  <a:prstClr val="black"/>
                </a:solidFill>
              </a:rPr>
              <a:t>리스너</a:t>
            </a:r>
            <a:r>
              <a:rPr lang="en-US" altLang="ko-KR" sz="2200" b="1" dirty="0">
                <a:solidFill>
                  <a:prstClr val="black"/>
                </a:solidFill>
              </a:rPr>
              <a:t>(</a:t>
            </a:r>
            <a:r>
              <a:rPr lang="ko-KR" altLang="en-US" sz="2200" b="1" dirty="0" err="1">
                <a:solidFill>
                  <a:prstClr val="black"/>
                </a:solidFill>
              </a:rPr>
              <a:t>핸들러</a:t>
            </a:r>
            <a:r>
              <a:rPr lang="en-US" altLang="ko-KR" sz="2200" b="1" dirty="0">
                <a:solidFill>
                  <a:prstClr val="black"/>
                </a:solidFill>
              </a:rPr>
              <a:t>) </a:t>
            </a:r>
          </a:p>
          <a:p>
            <a:pPr lvl="1"/>
            <a:r>
              <a:rPr lang="ko-KR" altLang="en-US" sz="1800" dirty="0">
                <a:solidFill>
                  <a:prstClr val="black"/>
                </a:solidFill>
              </a:rPr>
              <a:t>일어난 이벤트를 적절하게 처리하는 함수</a:t>
            </a:r>
            <a:r>
              <a:rPr lang="en-US" altLang="ko-KR" sz="1800" dirty="0">
                <a:solidFill>
                  <a:prstClr val="black"/>
                </a:solidFill>
              </a:rPr>
              <a:t>(</a:t>
            </a:r>
            <a:r>
              <a:rPr lang="ko-KR" altLang="en-US" sz="1800" dirty="0">
                <a:solidFill>
                  <a:prstClr val="black"/>
                </a:solidFill>
              </a:rPr>
              <a:t>루틴</a:t>
            </a:r>
            <a:r>
              <a:rPr lang="en-US" altLang="ko-KR" sz="1800" dirty="0" smtClean="0">
                <a:solidFill>
                  <a:prstClr val="black"/>
                </a:solidFill>
              </a:rPr>
              <a:t>)</a:t>
            </a: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r>
              <a:rPr lang="en-US" altLang="ko-KR" sz="2200" b="1" dirty="0" smtClean="0">
                <a:solidFill>
                  <a:prstClr val="black"/>
                </a:solidFill>
              </a:rPr>
              <a:t>DOM </a:t>
            </a:r>
            <a:r>
              <a:rPr lang="en-US" altLang="ko-KR" sz="2200" b="1" dirty="0">
                <a:solidFill>
                  <a:prstClr val="black"/>
                </a:solidFill>
              </a:rPr>
              <a:t>API</a:t>
            </a:r>
            <a:r>
              <a:rPr lang="ko-KR" altLang="en-US" sz="2200" b="1" dirty="0">
                <a:solidFill>
                  <a:prstClr val="black"/>
                </a:solidFill>
              </a:rPr>
              <a:t>에는 </a:t>
            </a:r>
            <a:r>
              <a:rPr lang="en-US" altLang="ko-KR" sz="2200" b="1" dirty="0">
                <a:solidFill>
                  <a:prstClr val="black"/>
                </a:solidFill>
              </a:rPr>
              <a:t>200</a:t>
            </a:r>
            <a:r>
              <a:rPr lang="ko-KR" altLang="en-US" sz="2200" b="1" dirty="0">
                <a:solidFill>
                  <a:prstClr val="black"/>
                </a:solidFill>
              </a:rPr>
              <a:t>개 가까운 이벤트가 정의되어 있고</a:t>
            </a:r>
            <a:r>
              <a:rPr lang="en-US" altLang="ko-KR" sz="2200" b="1" dirty="0">
                <a:solidFill>
                  <a:prstClr val="black"/>
                </a:solidFill>
              </a:rPr>
              <a:t>, </a:t>
            </a:r>
            <a:r>
              <a:rPr lang="ko-KR" altLang="en-US" sz="2200" b="1" dirty="0">
                <a:solidFill>
                  <a:prstClr val="black"/>
                </a:solidFill>
              </a:rPr>
              <a:t>각 브라우저마다 </a:t>
            </a:r>
            <a:r>
              <a:rPr lang="ko-KR" altLang="en-US" sz="2200" b="1" dirty="0" err="1">
                <a:solidFill>
                  <a:prstClr val="black"/>
                </a:solidFill>
              </a:rPr>
              <a:t>비표준</a:t>
            </a:r>
            <a:r>
              <a:rPr lang="ko-KR" altLang="en-US" sz="2200" b="1" dirty="0">
                <a:solidFill>
                  <a:prstClr val="black"/>
                </a:solidFill>
              </a:rPr>
              <a:t> 이벤트를 따로 만들고 있음</a:t>
            </a:r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2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이벤트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dirty="0" smtClean="0"/>
              <a:t>이벤트를 등록하는 세 가지 방법</a:t>
            </a:r>
            <a:endParaRPr lang="en-US" altLang="ko-KR" sz="2200" dirty="0"/>
          </a:p>
          <a:p>
            <a:pPr lvl="1"/>
            <a:r>
              <a:rPr lang="en-US" dirty="0"/>
              <a:t>inline</a:t>
            </a:r>
          </a:p>
          <a:p>
            <a:pPr lvl="1"/>
            <a:r>
              <a:rPr lang="en-US" altLang="ko-KR" dirty="0"/>
              <a:t>on* </a:t>
            </a:r>
            <a:r>
              <a:rPr lang="ko-KR" altLang="en-US" dirty="0" err="1"/>
              <a:t>프로퍼티에</a:t>
            </a:r>
            <a:r>
              <a:rPr lang="ko-KR" altLang="en-US" dirty="0"/>
              <a:t> </a:t>
            </a:r>
            <a:r>
              <a:rPr lang="ko-KR" altLang="en-US" dirty="0" err="1"/>
              <a:t>핸들러</a:t>
            </a:r>
            <a:r>
              <a:rPr lang="ko-KR" altLang="en-US" dirty="0"/>
              <a:t> 등록</a:t>
            </a:r>
            <a:endParaRPr lang="en-US" altLang="ko-KR" dirty="0"/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addEventListener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dirty="0" err="1">
                <a:solidFill>
                  <a:srgbClr val="0000FF"/>
                </a:solidFill>
              </a:rPr>
              <a:t>attachEvent</a:t>
            </a:r>
            <a:r>
              <a:rPr lang="en-US" dirty="0" smtClean="0">
                <a:solidFill>
                  <a:srgbClr val="0000FF"/>
                </a:solidFill>
              </a:rPr>
              <a:t>)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ko-KR" altLang="en-US" dirty="0" smtClean="0">
                <a:sym typeface="Wingdings" panose="05000000000000000000" pitchFamily="2" charset="2"/>
              </a:rPr>
              <a:t>선호되는 방식</a:t>
            </a:r>
            <a:endParaRPr lang="en-US" altLang="ko-KR" dirty="0" smtClean="0"/>
          </a:p>
          <a:p>
            <a:r>
              <a:rPr lang="en-US" altLang="ko-KR" sz="2200" b="1" dirty="0">
                <a:solidFill>
                  <a:prstClr val="black"/>
                </a:solidFill>
              </a:rPr>
              <a:t>inline</a:t>
            </a:r>
          </a:p>
          <a:p>
            <a:pPr lvl="1"/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580428" y="3494008"/>
            <a:ext cx="5400600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/>
              <a:t>&lt;div </a:t>
            </a:r>
            <a:r>
              <a:rPr lang="en-US" sz="2000" dirty="0" err="1" smtClean="0">
                <a:solidFill>
                  <a:srgbClr val="0000FF"/>
                </a:solidFill>
              </a:rPr>
              <a:t>onclick</a:t>
            </a:r>
            <a:r>
              <a:rPr lang="en-US" sz="2000" dirty="0"/>
              <a:t>="</a:t>
            </a:r>
            <a:r>
              <a:rPr lang="en-US" sz="2000" dirty="0">
                <a:solidFill>
                  <a:srgbClr val="FF0000"/>
                </a:solidFill>
              </a:rPr>
              <a:t>alert('clicked</a:t>
            </a:r>
            <a:r>
              <a:rPr lang="en-US" sz="2000" dirty="0" smtClean="0">
                <a:solidFill>
                  <a:srgbClr val="FF0000"/>
                </a:solidFill>
              </a:rPr>
              <a:t>!')</a:t>
            </a:r>
            <a:r>
              <a:rPr lang="en-US" sz="2000" dirty="0" smtClean="0"/>
              <a:t>"&gt;Click me!&lt;/div&gt;</a:t>
            </a:r>
            <a:endParaRPr lang="en-US" sz="2000" dirty="0"/>
          </a:p>
        </p:txBody>
      </p:sp>
      <p:sp>
        <p:nvSpPr>
          <p:cNvPr id="9" name="직사각형 8"/>
          <p:cNvSpPr/>
          <p:nvPr/>
        </p:nvSpPr>
        <p:spPr>
          <a:xfrm>
            <a:off x="580428" y="4151372"/>
            <a:ext cx="7128792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&lt;div </a:t>
            </a:r>
            <a:r>
              <a:rPr lang="en-US" sz="2000" dirty="0" smtClean="0"/>
              <a:t>id= "div" </a:t>
            </a:r>
            <a:r>
              <a:rPr lang="en-US" sz="2000" dirty="0" err="1" smtClean="0">
                <a:solidFill>
                  <a:srgbClr val="0000FF"/>
                </a:solidFill>
              </a:rPr>
              <a:t>onclick</a:t>
            </a:r>
            <a:r>
              <a:rPr lang="en-US" sz="2000" dirty="0"/>
              <a:t>="</a:t>
            </a:r>
            <a:r>
              <a:rPr lang="en-US" sz="2000" dirty="0">
                <a:solidFill>
                  <a:srgbClr val="FF0000"/>
                </a:solidFill>
              </a:rPr>
              <a:t>handler()</a:t>
            </a:r>
            <a:r>
              <a:rPr lang="en-US" sz="2000" dirty="0"/>
              <a:t>"</a:t>
            </a:r>
            <a:r>
              <a:rPr lang="en-US" sz="2000" dirty="0" smtClean="0"/>
              <a:t>&gt;</a:t>
            </a:r>
            <a:r>
              <a:rPr lang="en-US" sz="2000" dirty="0"/>
              <a:t>Click me!&lt;/div</a:t>
            </a:r>
            <a:r>
              <a:rPr lang="en-US" sz="2000" dirty="0" smtClean="0"/>
              <a:t>&gt;</a:t>
            </a:r>
          </a:p>
          <a:p>
            <a:r>
              <a:rPr lang="en-US" sz="2000" dirty="0" smtClean="0"/>
              <a:t>&lt;script</a:t>
            </a:r>
            <a:r>
              <a:rPr lang="en-US" sz="2000" dirty="0"/>
              <a:t>&gt; </a:t>
            </a:r>
            <a:endParaRPr lang="en-US" sz="2000" dirty="0" smtClean="0"/>
          </a:p>
          <a:p>
            <a:r>
              <a:rPr lang="en-US" sz="2000" dirty="0" smtClean="0"/>
              <a:t>	function </a:t>
            </a:r>
            <a:r>
              <a:rPr lang="en-US" sz="2000" dirty="0" smtClean="0">
                <a:solidFill>
                  <a:srgbClr val="FF0000"/>
                </a:solidFill>
              </a:rPr>
              <a:t>handler()</a:t>
            </a:r>
            <a:r>
              <a:rPr lang="en-US" sz="2000" dirty="0" smtClean="0"/>
              <a:t> </a:t>
            </a:r>
            <a:r>
              <a:rPr lang="en-US" sz="2000" dirty="0"/>
              <a:t>{  </a:t>
            </a:r>
            <a:r>
              <a:rPr lang="en-US" sz="2000" dirty="0" smtClean="0"/>
              <a:t>alert</a:t>
            </a:r>
            <a:r>
              <a:rPr lang="en-US" sz="2000" dirty="0"/>
              <a:t>("clicked!"); </a:t>
            </a:r>
            <a:r>
              <a:rPr lang="en-US" sz="2000" dirty="0" smtClean="0"/>
              <a:t>}</a:t>
            </a:r>
          </a:p>
          <a:p>
            <a:r>
              <a:rPr lang="en-US" sz="2000" smtClean="0"/>
              <a:t>&lt;/</a:t>
            </a:r>
            <a:r>
              <a:rPr lang="en-US" sz="2000" dirty="0"/>
              <a:t>script</a:t>
            </a:r>
            <a:r>
              <a:rPr lang="en-US" sz="2000" dirty="0" smtClean="0"/>
              <a:t>&gt;</a:t>
            </a:r>
            <a:endParaRPr lang="en-US" sz="2000" dirty="0"/>
          </a:p>
        </p:txBody>
      </p:sp>
      <p:sp>
        <p:nvSpPr>
          <p:cNvPr id="10" name="직사각형 9"/>
          <p:cNvSpPr/>
          <p:nvPr/>
        </p:nvSpPr>
        <p:spPr>
          <a:xfrm>
            <a:off x="580428" y="5584296"/>
            <a:ext cx="4533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바람직하지 않음</a:t>
            </a:r>
            <a:endParaRPr lang="en-US" altLang="ko-KR" dirty="0" smtClean="0"/>
          </a:p>
          <a:p>
            <a:r>
              <a:rPr lang="en-US" dirty="0" smtClean="0"/>
              <a:t>CSS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inline</a:t>
            </a:r>
            <a:r>
              <a:rPr lang="ko-KR" altLang="en-US" dirty="0" smtClean="0"/>
              <a:t>으로 사용하지 않는 이유와 유사</a:t>
            </a:r>
            <a:endParaRPr lang="en-US" dirty="0"/>
          </a:p>
        </p:txBody>
      </p:sp>
      <p:sp>
        <p:nvSpPr>
          <p:cNvPr id="4" name="오른쪽 중괄호 3"/>
          <p:cNvSpPr/>
          <p:nvPr/>
        </p:nvSpPr>
        <p:spPr>
          <a:xfrm>
            <a:off x="4498848" y="1517904"/>
            <a:ext cx="356616" cy="59436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855464" y="1630418"/>
            <a:ext cx="3187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이벤트 이름 앞에 </a:t>
            </a:r>
            <a:r>
              <a:rPr lang="en-US" altLang="ko-KR" dirty="0" smtClean="0"/>
              <a:t>"</a:t>
            </a:r>
            <a:r>
              <a:rPr lang="en-US" altLang="ko-KR" dirty="0"/>
              <a:t> </a:t>
            </a:r>
            <a:r>
              <a:rPr lang="en-US" altLang="ko-KR" dirty="0" smtClean="0"/>
              <a:t>on"</a:t>
            </a:r>
            <a:r>
              <a:rPr lang="ko-KR" altLang="en-US" dirty="0" smtClean="0"/>
              <a:t>이 붙음</a:t>
            </a:r>
            <a:endParaRPr 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068596" y="180863"/>
            <a:ext cx="70043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dirty="0" smtClean="0"/>
              <a:t>예제</a:t>
            </a:r>
            <a:r>
              <a:rPr lang="en-US" altLang="ko-KR" dirty="0" smtClean="0">
                <a:sym typeface="Wingdings" panose="05000000000000000000" pitchFamily="2" charset="2"/>
              </a:rPr>
              <a:t> </a:t>
            </a:r>
            <a:r>
              <a:rPr lang="en-US" dirty="0" smtClean="0"/>
              <a:t>https</a:t>
            </a:r>
            <a:r>
              <a:rPr lang="en-US" dirty="0"/>
              <a:t>://www.w3schools.com/jsref/tryit.asp?filename=tryjsref_onclick</a:t>
            </a:r>
          </a:p>
        </p:txBody>
      </p:sp>
    </p:spTree>
    <p:extLst>
      <p:ext uri="{BB962C8B-B14F-4D97-AF65-F5344CB8AC3E}">
        <p14:creationId xmlns:p14="http://schemas.microsoft.com/office/powerpoint/2010/main" val="1776363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이벤트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>
                <a:solidFill>
                  <a:prstClr val="black"/>
                </a:solidFill>
              </a:rPr>
              <a:t>on* </a:t>
            </a:r>
            <a:r>
              <a:rPr lang="ko-KR" altLang="en-US" sz="2200" b="1" dirty="0" err="1">
                <a:solidFill>
                  <a:prstClr val="black"/>
                </a:solidFill>
              </a:rPr>
              <a:t>프로퍼티에</a:t>
            </a:r>
            <a:r>
              <a:rPr lang="ko-KR" altLang="en-US" sz="2200" b="1" dirty="0">
                <a:solidFill>
                  <a:prstClr val="black"/>
                </a:solidFill>
              </a:rPr>
              <a:t> </a:t>
            </a:r>
            <a:r>
              <a:rPr lang="ko-KR" altLang="en-US" sz="2200" b="1" dirty="0" err="1">
                <a:solidFill>
                  <a:prstClr val="black"/>
                </a:solidFill>
              </a:rPr>
              <a:t>핸들러</a:t>
            </a:r>
            <a:r>
              <a:rPr lang="ko-KR" altLang="en-US" sz="2200" b="1" dirty="0">
                <a:solidFill>
                  <a:prstClr val="black"/>
                </a:solidFill>
              </a:rPr>
              <a:t>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등록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간단하고 </a:t>
            </a:r>
            <a:r>
              <a:rPr lang="ko-KR" altLang="en-US" dirty="0"/>
              <a:t>빠른 개발을 위해</a:t>
            </a:r>
            <a:endParaRPr lang="en-US" altLang="ko-KR" dirty="0"/>
          </a:p>
          <a:p>
            <a:pPr lvl="1"/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요소에는 </a:t>
            </a:r>
            <a:r>
              <a:rPr lang="ko-KR" altLang="en-US" u="sng" dirty="0"/>
              <a:t>이벤트 </a:t>
            </a:r>
            <a:r>
              <a:rPr lang="ko-KR" altLang="en-US" u="sng" dirty="0" err="1"/>
              <a:t>핸들러</a:t>
            </a:r>
            <a:r>
              <a:rPr lang="ko-KR" altLang="en-US" u="sng" dirty="0"/>
              <a:t> </a:t>
            </a:r>
            <a:r>
              <a:rPr lang="ko-KR" altLang="en-US" u="sng" dirty="0" err="1"/>
              <a:t>프로퍼티</a:t>
            </a:r>
            <a:r>
              <a:rPr lang="ko-KR" altLang="en-US" dirty="0" err="1"/>
              <a:t>가</a:t>
            </a:r>
            <a:r>
              <a:rPr lang="ko-KR" altLang="en-US" dirty="0"/>
              <a:t> 있으며 </a:t>
            </a:r>
            <a:r>
              <a:rPr lang="en-US" altLang="ko-KR" dirty="0" err="1"/>
              <a:t>onclick</a:t>
            </a:r>
            <a:r>
              <a:rPr lang="ko-KR" altLang="en-US" dirty="0"/>
              <a:t>처럼 일반적으로 소문자</a:t>
            </a:r>
            <a:endParaRPr lang="en-US" altLang="ko-KR" dirty="0"/>
          </a:p>
          <a:p>
            <a:pPr lvl="1"/>
            <a:endParaRPr lang="en-US" altLang="ko-KR" sz="1800" b="1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821969" y="2448313"/>
            <a:ext cx="7488832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&lt;script&gt; </a:t>
            </a:r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/>
              <a:t>element = </a:t>
            </a:r>
            <a:r>
              <a:rPr lang="en-US" sz="2000" dirty="0" err="1"/>
              <a:t>document.getElementById</a:t>
            </a:r>
            <a:r>
              <a:rPr lang="en-US" sz="2000" dirty="0" smtClean="0"/>
              <a:t>("div"); </a:t>
            </a:r>
            <a:endParaRPr lang="en-US" sz="2000" dirty="0"/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element.</a:t>
            </a:r>
            <a:r>
              <a:rPr lang="en-US" sz="2000" dirty="0" err="1" smtClean="0">
                <a:solidFill>
                  <a:srgbClr val="0000FF"/>
                </a:solidFill>
              </a:rPr>
              <a:t>onclick</a:t>
            </a:r>
            <a:r>
              <a:rPr lang="en-US" sz="2000" dirty="0" smtClean="0"/>
              <a:t> </a:t>
            </a:r>
            <a:r>
              <a:rPr lang="en-US" sz="2000" dirty="0"/>
              <a:t>= function () {   alert("clicked!"); </a:t>
            </a:r>
            <a:r>
              <a:rPr lang="en-US" sz="2000" dirty="0" smtClean="0"/>
              <a:t> }</a:t>
            </a:r>
            <a:endParaRPr lang="en-US" sz="2000" dirty="0"/>
          </a:p>
          <a:p>
            <a:r>
              <a:rPr lang="en-US" sz="2000" dirty="0"/>
              <a:t>&lt;/script&gt;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821969" y="3744457"/>
            <a:ext cx="7488832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&lt;script&gt; </a:t>
            </a:r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/>
              <a:t>element = </a:t>
            </a:r>
            <a:r>
              <a:rPr lang="en-US" sz="2000" dirty="0" err="1"/>
              <a:t>document.getElementById</a:t>
            </a:r>
            <a:r>
              <a:rPr lang="en-US" sz="2000" dirty="0" smtClean="0"/>
              <a:t>("</a:t>
            </a:r>
            <a:r>
              <a:rPr lang="en-US" sz="2000" dirty="0"/>
              <a:t> div </a:t>
            </a:r>
            <a:r>
              <a:rPr lang="en-US" sz="2000" dirty="0" smtClean="0"/>
              <a:t>"); </a:t>
            </a:r>
            <a:endParaRPr lang="en-US" sz="2000" dirty="0"/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element.</a:t>
            </a:r>
            <a:r>
              <a:rPr lang="en-US" sz="2000" dirty="0" err="1" smtClean="0">
                <a:solidFill>
                  <a:srgbClr val="0000FF"/>
                </a:solidFill>
              </a:rPr>
              <a:t>onclick</a:t>
            </a:r>
            <a:r>
              <a:rPr lang="en-US" sz="2000" dirty="0" smtClean="0">
                <a:solidFill>
                  <a:srgbClr val="0000FF"/>
                </a:solidFill>
              </a:rPr>
              <a:t> </a:t>
            </a:r>
            <a:r>
              <a:rPr lang="en-US" sz="2000" dirty="0"/>
              <a:t>= function () {   </a:t>
            </a:r>
            <a:r>
              <a:rPr lang="en-US" sz="2000" dirty="0" smtClean="0"/>
              <a:t>alert(</a:t>
            </a:r>
            <a:r>
              <a:rPr lang="en-US" sz="2000" dirty="0" smtClean="0">
                <a:solidFill>
                  <a:srgbClr val="FF0000"/>
                </a:solidFill>
              </a:rPr>
              <a:t>this.id</a:t>
            </a:r>
            <a:r>
              <a:rPr lang="en-US" sz="2000" dirty="0" smtClean="0"/>
              <a:t>);  }</a:t>
            </a:r>
            <a:endParaRPr lang="en-US" sz="2000" dirty="0"/>
          </a:p>
          <a:p>
            <a:r>
              <a:rPr lang="en-US" sz="2000" dirty="0"/>
              <a:t>&lt;/script</a:t>
            </a:r>
            <a:r>
              <a:rPr lang="en-US" sz="2000" dirty="0" smtClean="0"/>
              <a:t>&gt;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//this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</a:rPr>
              <a:t>는 </a:t>
            </a:r>
            <a:r>
              <a:rPr lang="ko-KR" altLang="en-US" sz="2000" dirty="0" err="1" smtClean="0">
                <a:solidFill>
                  <a:schemeClr val="accent3">
                    <a:lumMod val="50000"/>
                  </a:schemeClr>
                </a:solidFill>
              </a:rPr>
              <a:t>핸들러가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</a:rPr>
              <a:t> 지정된 요소</a:t>
            </a:r>
            <a:r>
              <a:rPr lang="en-US" altLang="ko-KR" sz="2000" dirty="0" smtClean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</a:rPr>
              <a:t>여기서는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altLang="ko-KR" sz="2000" dirty="0" smtClean="0">
                <a:solidFill>
                  <a:schemeClr val="accent3">
                    <a:lumMod val="50000"/>
                  </a:schemeClr>
                </a:solidFill>
              </a:rPr>
              <a:t>div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</a:rPr>
              <a:t>요소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21969" y="5257654"/>
            <a:ext cx="7488832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 smtClean="0"/>
              <a:t>element.onclick</a:t>
            </a:r>
            <a:r>
              <a:rPr lang="en-US" sz="2000" dirty="0" smtClean="0"/>
              <a:t> =null                   //</a:t>
            </a:r>
            <a:r>
              <a:rPr lang="ko-KR" altLang="en-US" sz="2000" dirty="0" smtClean="0"/>
              <a:t>이벤트 </a:t>
            </a:r>
            <a:r>
              <a:rPr lang="ko-KR" altLang="en-US" sz="2000" dirty="0" err="1" smtClean="0"/>
              <a:t>핸들러</a:t>
            </a:r>
            <a:r>
              <a:rPr lang="ko-KR" altLang="en-US" sz="2000" dirty="0" smtClean="0"/>
              <a:t> 제거</a:t>
            </a:r>
            <a:endParaRPr lang="en-US" sz="2000" dirty="0"/>
          </a:p>
        </p:txBody>
      </p:sp>
      <p:sp>
        <p:nvSpPr>
          <p:cNvPr id="11" name="직사각형 10"/>
          <p:cNvSpPr/>
          <p:nvPr/>
        </p:nvSpPr>
        <p:spPr>
          <a:xfrm>
            <a:off x="455736" y="5784449"/>
            <a:ext cx="6094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ko-KR" altLang="en-US" dirty="0">
                <a:solidFill>
                  <a:srgbClr val="0000FF"/>
                </a:solidFill>
              </a:rPr>
              <a:t>전역 변수를 사용하는 것과 같으므로 피하는 것이 좋음</a:t>
            </a:r>
            <a:endParaRPr lang="en-US" altLang="ko-K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06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이벤트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err="1">
                <a:solidFill>
                  <a:prstClr val="black"/>
                </a:solidFill>
              </a:rPr>
              <a:t>addEventListener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1800" b="1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/>
          </a:p>
        </p:txBody>
      </p:sp>
      <p:sp>
        <p:nvSpPr>
          <p:cNvPr id="14" name="직사각형 13"/>
          <p:cNvSpPr/>
          <p:nvPr/>
        </p:nvSpPr>
        <p:spPr>
          <a:xfrm>
            <a:off x="821969" y="1562599"/>
            <a:ext cx="684776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2"/>
            <a:r>
              <a:rPr lang="en-US" sz="2000" i="1" dirty="0" err="1"/>
              <a:t>target</a:t>
            </a:r>
            <a:r>
              <a:rPr lang="en-US" sz="2000" dirty="0" err="1"/>
              <a:t>.addEventListener</a:t>
            </a:r>
            <a:r>
              <a:rPr lang="en-US" sz="2000" dirty="0"/>
              <a:t>(</a:t>
            </a:r>
            <a:r>
              <a:rPr lang="en-US" sz="2000" i="1" dirty="0"/>
              <a:t>type</a:t>
            </a:r>
            <a:r>
              <a:rPr lang="en-US" sz="2000" dirty="0"/>
              <a:t>, </a:t>
            </a:r>
            <a:r>
              <a:rPr lang="en-US" sz="2000" i="1" dirty="0"/>
              <a:t>listener</a:t>
            </a:r>
            <a:r>
              <a:rPr lang="en-US" sz="2000" dirty="0"/>
              <a:t>, </a:t>
            </a:r>
            <a:r>
              <a:rPr lang="en-US" sz="2000" i="1" dirty="0"/>
              <a:t>options</a:t>
            </a:r>
            <a:r>
              <a:rPr lang="en-US" sz="2000" dirty="0"/>
              <a:t>);</a:t>
            </a:r>
            <a:endParaRPr lang="en-US" altLang="ko-KR" sz="2000" dirty="0"/>
          </a:p>
        </p:txBody>
      </p:sp>
      <p:sp>
        <p:nvSpPr>
          <p:cNvPr id="15" name="직사각형 14"/>
          <p:cNvSpPr/>
          <p:nvPr/>
        </p:nvSpPr>
        <p:spPr>
          <a:xfrm>
            <a:off x="821969" y="2195068"/>
            <a:ext cx="7488832" cy="16312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&lt;script&gt;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/>
              <a:t>element = </a:t>
            </a:r>
            <a:r>
              <a:rPr lang="en-US" sz="2000" dirty="0" err="1"/>
              <a:t>document.getElementById</a:t>
            </a:r>
            <a:r>
              <a:rPr lang="en-US" sz="2000" dirty="0"/>
              <a:t>("div"); </a:t>
            </a:r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element.</a:t>
            </a:r>
            <a:r>
              <a:rPr lang="en-US" sz="2000" b="1" dirty="0" err="1" smtClean="0"/>
              <a:t>addEventListener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FF0000"/>
                </a:solidFill>
              </a:rPr>
              <a:t>"click"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B050"/>
                </a:solidFill>
              </a:rPr>
              <a:t>function () {</a:t>
            </a:r>
          </a:p>
          <a:p>
            <a:r>
              <a:rPr lang="en-US" sz="2000" dirty="0" smtClean="0">
                <a:solidFill>
                  <a:srgbClr val="00B050"/>
                </a:solidFill>
              </a:rPr>
              <a:t>		alert</a:t>
            </a:r>
            <a:r>
              <a:rPr lang="en-US" sz="2000" dirty="0">
                <a:solidFill>
                  <a:srgbClr val="00B050"/>
                </a:solidFill>
              </a:rPr>
              <a:t>("clicked!"); }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00FF"/>
                </a:solidFill>
              </a:rPr>
              <a:t>false</a:t>
            </a:r>
            <a:r>
              <a:rPr lang="en-US" sz="2000" dirty="0"/>
              <a:t>);</a:t>
            </a:r>
          </a:p>
          <a:p>
            <a:r>
              <a:rPr lang="en-US" sz="2000" dirty="0"/>
              <a:t>&lt;/script&gt;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821969" y="4373604"/>
            <a:ext cx="7488832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&lt;script&gt;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/>
              <a:t>element = </a:t>
            </a:r>
            <a:r>
              <a:rPr lang="en-US" sz="2000" dirty="0" err="1"/>
              <a:t>document.getElementById</a:t>
            </a:r>
            <a:r>
              <a:rPr lang="en-US" sz="2000" dirty="0"/>
              <a:t>("div"); </a:t>
            </a:r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element.</a:t>
            </a:r>
            <a:r>
              <a:rPr lang="en-US" sz="2000" b="1" dirty="0" err="1" smtClean="0"/>
              <a:t>addEventListener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FF0000"/>
                </a:solidFill>
              </a:rPr>
              <a:t>"click"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B050"/>
                </a:solidFill>
              </a:rPr>
              <a:t>function () {</a:t>
            </a:r>
          </a:p>
          <a:p>
            <a:r>
              <a:rPr lang="en-US" sz="2000" dirty="0" smtClean="0">
                <a:solidFill>
                  <a:srgbClr val="00B050"/>
                </a:solidFill>
              </a:rPr>
              <a:t>		alert(this.id); </a:t>
            </a:r>
            <a:r>
              <a:rPr lang="en-US" sz="2000" dirty="0">
                <a:solidFill>
                  <a:srgbClr val="00B050"/>
                </a:solidFill>
              </a:rPr>
              <a:t>}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00FF"/>
                </a:solidFill>
              </a:rPr>
              <a:t>false</a:t>
            </a:r>
            <a:r>
              <a:rPr lang="en-US" sz="2000" dirty="0" smtClean="0"/>
              <a:t>);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element.addEventListener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FF0000"/>
                </a:solidFill>
              </a:rPr>
              <a:t>"click"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B050"/>
                </a:solidFill>
              </a:rPr>
              <a:t>function () {</a:t>
            </a:r>
          </a:p>
          <a:p>
            <a:r>
              <a:rPr lang="en-US" sz="2000" dirty="0">
                <a:solidFill>
                  <a:srgbClr val="00B050"/>
                </a:solidFill>
              </a:rPr>
              <a:t>		alert</a:t>
            </a:r>
            <a:r>
              <a:rPr lang="en-US" sz="2000" dirty="0" smtClean="0">
                <a:solidFill>
                  <a:srgbClr val="00B050"/>
                </a:solidFill>
              </a:rPr>
              <a:t>(“hello world!"); </a:t>
            </a:r>
            <a:r>
              <a:rPr lang="en-US" sz="2000" dirty="0">
                <a:solidFill>
                  <a:srgbClr val="00B050"/>
                </a:solidFill>
              </a:rPr>
              <a:t>}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00FF"/>
                </a:solidFill>
              </a:rPr>
              <a:t>false</a:t>
            </a:r>
            <a:r>
              <a:rPr lang="en-US" sz="2000" dirty="0" smtClean="0"/>
              <a:t>);</a:t>
            </a:r>
            <a:endParaRPr lang="en-US" sz="2000" dirty="0"/>
          </a:p>
          <a:p>
            <a:r>
              <a:rPr lang="en-US" sz="2000" dirty="0"/>
              <a:t>&lt;/script&gt;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9516" y="2195068"/>
            <a:ext cx="326884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tx1"/>
                </a:solidFill>
              </a:rPr>
              <a:t>on*</a:t>
            </a:r>
            <a:r>
              <a:rPr lang="ko-KR" altLang="en-US" sz="2000" dirty="0" err="1" smtClean="0">
                <a:solidFill>
                  <a:schemeClr val="tx1"/>
                </a:solidFill>
              </a:rPr>
              <a:t>프로퍼티</a:t>
            </a:r>
            <a:r>
              <a:rPr lang="ko-KR" altLang="en-US" sz="2000" dirty="0" smtClean="0">
                <a:solidFill>
                  <a:schemeClr val="tx1"/>
                </a:solidFill>
              </a:rPr>
              <a:t> 이름 </a:t>
            </a:r>
            <a:r>
              <a:rPr lang="en-US" altLang="ko-KR" sz="20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dirty="0" err="1" smtClean="0">
                <a:solidFill>
                  <a:schemeClr val="tx1"/>
                </a:solidFill>
              </a:rPr>
              <a:t>onclick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r>
              <a:rPr lang="en-US" altLang="ko-KR" sz="2000" dirty="0" err="1" smtClean="0">
                <a:solidFill>
                  <a:schemeClr val="tx1"/>
                </a:solidFill>
              </a:rPr>
              <a:t>addEventListener</a:t>
            </a:r>
            <a:r>
              <a:rPr lang="en-US" altLang="ko-KR" sz="2000" dirty="0" smtClean="0">
                <a:solidFill>
                  <a:schemeClr val="tx1"/>
                </a:solidFill>
              </a:rPr>
              <a:t> </a:t>
            </a:r>
            <a:r>
              <a:rPr lang="en-US" altLang="ko-KR" sz="20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click</a:t>
            </a:r>
            <a:endParaRPr lang="en-US" altLang="ko-KR" sz="2000" dirty="0" smtClean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1969" y="3965956"/>
            <a:ext cx="1887055" cy="40011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</a:rPr>
              <a:t>multiple binding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9516" y="4373604"/>
            <a:ext cx="323678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2000" dirty="0" smtClean="0">
                <a:solidFill>
                  <a:schemeClr val="tx1"/>
                </a:solidFill>
              </a:rPr>
              <a:t>하나의 이벤트에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ko-KR" altLang="en-US" sz="2000" dirty="0" smtClean="0">
                <a:solidFill>
                  <a:schemeClr val="tx1"/>
                </a:solidFill>
              </a:rPr>
              <a:t>여러 개의 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r>
              <a:rPr lang="ko-KR" altLang="en-US" sz="2000" dirty="0" err="1" smtClean="0">
                <a:solidFill>
                  <a:schemeClr val="tx1"/>
                </a:solidFill>
              </a:rPr>
              <a:t>핸들러를</a:t>
            </a:r>
            <a:r>
              <a:rPr lang="ko-KR" altLang="en-US" sz="2000" dirty="0" smtClean="0">
                <a:solidFill>
                  <a:schemeClr val="tx1"/>
                </a:solidFill>
              </a:rPr>
              <a:t> 등록할 수 있음</a:t>
            </a:r>
            <a:endParaRPr lang="en-US" altLang="ko-KR" sz="2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509089" y="593752"/>
            <a:ext cx="76034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dirty="0" smtClean="0"/>
              <a:t>예제</a:t>
            </a:r>
            <a:endParaRPr lang="en-US" dirty="0" smtClean="0"/>
          </a:p>
          <a:p>
            <a:pPr algn="r"/>
            <a:r>
              <a:rPr lang="en-US" dirty="0" smtClean="0"/>
              <a:t>https</a:t>
            </a:r>
            <a:r>
              <a:rPr lang="en-US" dirty="0"/>
              <a:t>://www.w3schools.com/js/tryit.asp?filename=tryjs_addeventlistener_add</a:t>
            </a:r>
          </a:p>
        </p:txBody>
      </p:sp>
    </p:spTree>
    <p:extLst>
      <p:ext uri="{BB962C8B-B14F-4D97-AF65-F5344CB8AC3E}">
        <p14:creationId xmlns:p14="http://schemas.microsoft.com/office/powerpoint/2010/main" val="4196527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이벤트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dirty="0"/>
              <a:t>이벤트를 등록하는 세 가지 방법</a:t>
            </a:r>
            <a:endParaRPr lang="en-US" altLang="ko-KR" dirty="0"/>
          </a:p>
          <a:p>
            <a:pPr lvl="1"/>
            <a:r>
              <a:rPr lang="ko-KR" altLang="en-US" u="sng" dirty="0"/>
              <a:t>결론</a:t>
            </a:r>
            <a:r>
              <a:rPr lang="en-US" altLang="ko-KR" u="sng" dirty="0"/>
              <a:t>: </a:t>
            </a:r>
            <a:r>
              <a:rPr lang="en-US" u="sng" dirty="0" err="1"/>
              <a:t>addEventListener</a:t>
            </a:r>
            <a:r>
              <a:rPr lang="ko-KR" altLang="en-US" u="sng" dirty="0"/>
              <a:t>를 써라</a:t>
            </a:r>
            <a:endParaRPr lang="en-US" altLang="ko-KR" u="sng" dirty="0"/>
          </a:p>
          <a:p>
            <a:pPr lvl="2"/>
            <a:r>
              <a:rPr lang="ko-KR" altLang="en-US" sz="2000" dirty="0"/>
              <a:t>이벤트의 </a:t>
            </a:r>
            <a:r>
              <a:rPr lang="ko-KR" altLang="en-US" sz="2000" dirty="0" smtClean="0"/>
              <a:t>흐름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구체적으로는 </a:t>
            </a:r>
            <a:r>
              <a:rPr lang="ko-KR" altLang="en-US" sz="2000" dirty="0" err="1" smtClean="0"/>
              <a:t>버블링과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캡처링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을 </a:t>
            </a:r>
            <a:r>
              <a:rPr lang="ko-KR" altLang="en-US" sz="2000" dirty="0"/>
              <a:t>조절할 수 </a:t>
            </a:r>
            <a:r>
              <a:rPr lang="ko-KR" altLang="en-US" sz="2000" dirty="0" smtClean="0"/>
              <a:t>있음</a:t>
            </a:r>
            <a:endParaRPr lang="en-US" altLang="ko-KR" sz="2000" dirty="0"/>
          </a:p>
          <a:p>
            <a:pPr lvl="2"/>
            <a:r>
              <a:rPr lang="ko-KR" altLang="en-US" sz="2000" dirty="0"/>
              <a:t>동일한 이벤트에 여러 개의 </a:t>
            </a:r>
            <a:r>
              <a:rPr lang="ko-KR" altLang="en-US" sz="2000" dirty="0" err="1"/>
              <a:t>핸들러를</a:t>
            </a:r>
            <a:r>
              <a:rPr lang="ko-KR" altLang="en-US" sz="2000" dirty="0"/>
              <a:t> 등록 할 수 </a:t>
            </a:r>
            <a:r>
              <a:rPr lang="ko-KR" altLang="en-US" sz="2000" dirty="0" smtClean="0"/>
              <a:t>있</a:t>
            </a:r>
            <a:r>
              <a:rPr lang="ko-KR" altLang="en-US" sz="2000" dirty="0"/>
              <a:t>음</a:t>
            </a:r>
            <a:endParaRPr lang="en-US" altLang="ko-KR" sz="2000" dirty="0"/>
          </a:p>
          <a:p>
            <a:pPr lvl="2"/>
            <a:r>
              <a:rPr lang="ko-KR" altLang="en-US" sz="2000" dirty="0"/>
              <a:t>표준적인 사용법으로 받아들여지고 </a:t>
            </a:r>
            <a:r>
              <a:rPr lang="ko-KR" altLang="en-US" sz="2000" dirty="0" smtClean="0"/>
              <a:t>있음</a:t>
            </a:r>
            <a:endParaRPr lang="en-US" altLang="ko-KR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8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이벤트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event</a:t>
            </a:r>
            <a:r>
              <a:rPr lang="ko-KR" altLang="en-US" dirty="0" smtClean="0"/>
              <a:t>객체</a:t>
            </a:r>
            <a:endParaRPr lang="en-US" altLang="ko-KR" dirty="0" smtClean="0"/>
          </a:p>
          <a:p>
            <a:pPr lvl="1"/>
            <a:r>
              <a:rPr lang="en-US" altLang="ko-KR" dirty="0"/>
              <a:t>DOM</a:t>
            </a:r>
            <a:r>
              <a:rPr lang="ko-KR" altLang="en-US" dirty="0"/>
              <a:t>과 관련된 이벤트가 발생하면 관련 정보는 모두</a:t>
            </a:r>
            <a:r>
              <a:rPr lang="en-US" altLang="ko-KR" dirty="0"/>
              <a:t>event</a:t>
            </a:r>
            <a:r>
              <a:rPr lang="ko-KR" altLang="en-US" dirty="0"/>
              <a:t>라는 객체에 저장</a:t>
            </a:r>
            <a:endParaRPr lang="en-US" altLang="ko-KR" dirty="0"/>
          </a:p>
          <a:p>
            <a:pPr lvl="1"/>
            <a:r>
              <a:rPr lang="ko-KR" altLang="en-US" u="sng" dirty="0"/>
              <a:t>이벤트 </a:t>
            </a:r>
            <a:r>
              <a:rPr lang="ko-KR" altLang="en-US" u="sng" dirty="0" err="1"/>
              <a:t>핸들러에</a:t>
            </a:r>
            <a:r>
              <a:rPr lang="ko-KR" altLang="en-US" u="sng" dirty="0"/>
              <a:t> </a:t>
            </a:r>
            <a:r>
              <a:rPr lang="ko-KR" altLang="en-US" u="sng" dirty="0" smtClean="0"/>
              <a:t>매개변수로 전달</a:t>
            </a:r>
            <a:r>
              <a:rPr lang="en-US" altLang="ko-KR" u="sng" dirty="0" smtClean="0"/>
              <a:t> </a:t>
            </a:r>
            <a:r>
              <a:rPr lang="ko-KR" altLang="en-US" u="sng" dirty="0" smtClean="0"/>
              <a:t>가능</a:t>
            </a:r>
            <a:endParaRPr lang="en-US" altLang="ko-KR" u="sng" dirty="0" smtClean="0"/>
          </a:p>
          <a:p>
            <a:pPr lvl="1"/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852728" y="3450713"/>
            <a:ext cx="7488832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 smtClean="0"/>
              <a:t>var</a:t>
            </a:r>
            <a:r>
              <a:rPr lang="en-US" sz="2400" dirty="0" smtClean="0"/>
              <a:t> </a:t>
            </a:r>
            <a:r>
              <a:rPr lang="en-US" sz="2400" dirty="0"/>
              <a:t>element = </a:t>
            </a:r>
            <a:r>
              <a:rPr lang="en-US" sz="2400" dirty="0" err="1"/>
              <a:t>document.getElementById</a:t>
            </a:r>
            <a:r>
              <a:rPr lang="en-US" sz="2400" dirty="0"/>
              <a:t>("div"); </a:t>
            </a:r>
          </a:p>
          <a:p>
            <a:r>
              <a:rPr lang="en-US" sz="2400" dirty="0" err="1" smtClean="0"/>
              <a:t>element.addEventListener</a:t>
            </a:r>
            <a:r>
              <a:rPr lang="en-US" sz="2400" dirty="0"/>
              <a:t>("click", function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FF0000"/>
                </a:solidFill>
              </a:rPr>
              <a:t>event</a:t>
            </a:r>
            <a:r>
              <a:rPr lang="en-US" sz="2400" dirty="0" smtClean="0"/>
              <a:t>) </a:t>
            </a:r>
            <a:r>
              <a:rPr lang="en-US" sz="2400" dirty="0"/>
              <a:t>{</a:t>
            </a:r>
          </a:p>
          <a:p>
            <a:r>
              <a:rPr lang="en-US" sz="2400" dirty="0" smtClean="0"/>
              <a:t>	alert("</a:t>
            </a:r>
            <a:r>
              <a:rPr lang="en-US" sz="2400" dirty="0" err="1" smtClean="0"/>
              <a:t>event.type</a:t>
            </a:r>
            <a:r>
              <a:rPr lang="en-US" sz="2400" dirty="0" smtClean="0"/>
              <a:t>"); </a:t>
            </a:r>
            <a:r>
              <a:rPr lang="en-US" sz="2400" dirty="0"/>
              <a:t>}, false</a:t>
            </a:r>
            <a:r>
              <a:rPr lang="en-US" sz="2400" dirty="0" smtClean="0"/>
              <a:t>);</a:t>
            </a:r>
            <a:endParaRPr lang="en-US" sz="2400" dirty="0"/>
          </a:p>
        </p:txBody>
      </p:sp>
      <p:sp>
        <p:nvSpPr>
          <p:cNvPr id="7" name="직사각형 6"/>
          <p:cNvSpPr/>
          <p:nvPr/>
        </p:nvSpPr>
        <p:spPr>
          <a:xfrm>
            <a:off x="852728" y="2489456"/>
            <a:ext cx="7488832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/>
              <a:t>var</a:t>
            </a:r>
            <a:r>
              <a:rPr lang="en-US" sz="2400" dirty="0"/>
              <a:t> element = </a:t>
            </a:r>
            <a:r>
              <a:rPr lang="en-US" sz="2400" dirty="0" err="1"/>
              <a:t>document.getElementById</a:t>
            </a:r>
            <a:r>
              <a:rPr lang="en-US" sz="2400" dirty="0"/>
              <a:t>(" div "); </a:t>
            </a:r>
          </a:p>
          <a:p>
            <a:r>
              <a:rPr lang="en-US" sz="2400" dirty="0" err="1" smtClean="0"/>
              <a:t>element.onclick</a:t>
            </a:r>
            <a:r>
              <a:rPr lang="en-US" sz="2400" dirty="0" smtClean="0"/>
              <a:t> </a:t>
            </a:r>
            <a:r>
              <a:rPr lang="en-US" sz="2400" dirty="0"/>
              <a:t>= function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FF0000"/>
                </a:solidFill>
              </a:rPr>
              <a:t>event</a:t>
            </a:r>
            <a:r>
              <a:rPr lang="en-US" sz="2400" dirty="0" smtClean="0"/>
              <a:t>) </a:t>
            </a:r>
            <a:r>
              <a:rPr lang="en-US" sz="2400" dirty="0"/>
              <a:t>{   </a:t>
            </a:r>
            <a:r>
              <a:rPr lang="en-US" sz="2400" dirty="0" smtClean="0"/>
              <a:t>alert(</a:t>
            </a:r>
            <a:r>
              <a:rPr lang="en-US" sz="2400" dirty="0" err="1" smtClean="0"/>
              <a:t>event.type</a:t>
            </a:r>
            <a:r>
              <a:rPr lang="en-US" sz="2400" dirty="0" smtClean="0"/>
              <a:t>);  </a:t>
            </a: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712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이벤트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853712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event</a:t>
            </a:r>
            <a:r>
              <a:rPr lang="ko-KR" altLang="en-US" dirty="0" smtClean="0"/>
              <a:t>객체</a:t>
            </a:r>
            <a:endParaRPr lang="en-US" altLang="ko-KR" dirty="0" smtClean="0"/>
          </a:p>
          <a:p>
            <a:pPr lvl="1"/>
            <a:r>
              <a:rPr lang="ko-KR" altLang="en-US" dirty="0"/>
              <a:t>자주 쓰이는 </a:t>
            </a:r>
            <a:r>
              <a:rPr lang="ko-KR" altLang="en-US" dirty="0" err="1" smtClean="0"/>
              <a:t>프로퍼티와</a:t>
            </a:r>
            <a:r>
              <a:rPr lang="ko-KR" altLang="en-US" dirty="0" smtClean="0"/>
              <a:t> 메서드</a:t>
            </a:r>
            <a:endParaRPr lang="en-US" altLang="ko-KR" dirty="0" smtClean="0"/>
          </a:p>
          <a:p>
            <a:pPr lvl="2">
              <a:lnSpc>
                <a:spcPct val="150000"/>
              </a:lnSpc>
            </a:pPr>
            <a:r>
              <a:rPr lang="en-US" altLang="ko-KR" sz="2000" dirty="0"/>
              <a:t>target: </a:t>
            </a:r>
            <a:r>
              <a:rPr lang="ko-KR" altLang="en-US" sz="2000" dirty="0"/>
              <a:t>발생된 이벤트와 가장 밀접한 </a:t>
            </a:r>
            <a:r>
              <a:rPr lang="ko-KR" altLang="en-US" sz="2000" dirty="0" smtClean="0"/>
              <a:t>요소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클릭의 경우 내가 클릭한 바로 그 요소</a:t>
            </a:r>
            <a:r>
              <a:rPr lang="en-US" altLang="ko-KR" sz="2000" dirty="0" smtClean="0"/>
              <a:t>)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2000" dirty="0"/>
              <a:t>type: </a:t>
            </a:r>
            <a:r>
              <a:rPr lang="ko-KR" altLang="en-US" sz="2000" dirty="0"/>
              <a:t>발생한 이벤트 타입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2000" dirty="0" err="1"/>
              <a:t>eventPhase</a:t>
            </a:r>
            <a:r>
              <a:rPr lang="en-US" altLang="ko-KR" sz="2000" dirty="0"/>
              <a:t>: 1 </a:t>
            </a:r>
            <a:r>
              <a:rPr lang="ko-KR" altLang="en-US" sz="2000" dirty="0" err="1"/>
              <a:t>캡처링</a:t>
            </a:r>
            <a:r>
              <a:rPr lang="ko-KR" altLang="en-US" sz="2000" dirty="0"/>
              <a:t> 단계</a:t>
            </a:r>
            <a:r>
              <a:rPr lang="en-US" altLang="ko-KR" sz="2000" dirty="0"/>
              <a:t>, 2 target, 3 </a:t>
            </a:r>
            <a:r>
              <a:rPr lang="ko-KR" altLang="en-US" sz="2000" dirty="0" err="1"/>
              <a:t>버블링</a:t>
            </a:r>
            <a:r>
              <a:rPr lang="ko-KR" altLang="en-US" sz="2000" dirty="0"/>
              <a:t> 단계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2000" dirty="0" err="1"/>
              <a:t>preventDefault</a:t>
            </a:r>
            <a:r>
              <a:rPr lang="en-US" altLang="ko-KR" sz="2000" dirty="0"/>
              <a:t>()</a:t>
            </a:r>
          </a:p>
          <a:p>
            <a:pPr lvl="3">
              <a:lnSpc>
                <a:spcPct val="150000"/>
              </a:lnSpc>
            </a:pPr>
            <a:r>
              <a:rPr lang="ko-KR" altLang="en-US" sz="2000" dirty="0"/>
              <a:t>프로그래머가 지정하지 않아도 기본적으로 등록되어 있는 </a:t>
            </a:r>
            <a:r>
              <a:rPr lang="ko-KR" altLang="en-US" sz="2000" dirty="0" err="1"/>
              <a:t>핸들러를</a:t>
            </a:r>
            <a:r>
              <a:rPr lang="ko-KR" altLang="en-US" sz="2000" dirty="0"/>
              <a:t> 중지</a:t>
            </a:r>
            <a:endParaRPr lang="en-US" altLang="ko-KR" sz="2000" dirty="0"/>
          </a:p>
          <a:p>
            <a:pPr lvl="3">
              <a:lnSpc>
                <a:spcPct val="150000"/>
              </a:lnSpc>
            </a:pPr>
            <a:r>
              <a:rPr lang="en-US" altLang="ko-KR" sz="2000" dirty="0"/>
              <a:t>cancelable </a:t>
            </a:r>
            <a:r>
              <a:rPr lang="ko-KR" altLang="en-US" sz="2000" dirty="0" err="1"/>
              <a:t>프로퍼티가</a:t>
            </a:r>
            <a:r>
              <a:rPr lang="ko-KR" altLang="en-US" sz="2000" dirty="0"/>
              <a:t> </a:t>
            </a:r>
            <a:r>
              <a:rPr lang="en-US" altLang="ko-KR" sz="2000" dirty="0"/>
              <a:t>true</a:t>
            </a:r>
            <a:r>
              <a:rPr lang="ko-KR" altLang="en-US" sz="2000" dirty="0" smtClean="0"/>
              <a:t>여야 함</a:t>
            </a:r>
            <a:endParaRPr lang="en-US" altLang="ko-KR" sz="2000" dirty="0"/>
          </a:p>
          <a:p>
            <a:pPr lvl="3">
              <a:lnSpc>
                <a:spcPct val="150000"/>
              </a:lnSpc>
            </a:pPr>
            <a:r>
              <a:rPr lang="ko-KR" altLang="en-US" sz="2000" dirty="0" smtClean="0"/>
              <a:t>기본 이벤트 예</a:t>
            </a:r>
            <a:r>
              <a:rPr lang="en-US" altLang="ko-KR" sz="2000" dirty="0"/>
              <a:t>) a</a:t>
            </a:r>
            <a:r>
              <a:rPr lang="ko-KR" altLang="en-US" sz="2000" dirty="0"/>
              <a:t>태그에 </a:t>
            </a:r>
            <a:r>
              <a:rPr lang="en-US" altLang="ko-KR" sz="2000" dirty="0" err="1"/>
              <a:t>href</a:t>
            </a:r>
            <a:r>
              <a:rPr lang="ko-KR" altLang="en-US" sz="2000" dirty="0"/>
              <a:t>를 지정하면 </a:t>
            </a:r>
            <a:r>
              <a:rPr lang="ko-KR" altLang="en-US" sz="2000" dirty="0" err="1" smtClean="0"/>
              <a:t>핸들러</a:t>
            </a:r>
            <a:r>
              <a:rPr lang="ko-KR" altLang="en-US" sz="2000" dirty="0" smtClean="0"/>
              <a:t> 지정 없이 </a:t>
            </a:r>
            <a:r>
              <a:rPr lang="ko-KR" altLang="en-US" sz="2000" dirty="0"/>
              <a:t>새로운 웹 페이지로 이동 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2000" dirty="0" err="1"/>
              <a:t>stopPropagation</a:t>
            </a:r>
            <a:r>
              <a:rPr lang="en-US" altLang="ko-KR" sz="2000" dirty="0"/>
              <a:t>(): </a:t>
            </a:r>
            <a:r>
              <a:rPr lang="ko-KR" altLang="en-US" sz="2000" dirty="0" err="1"/>
              <a:t>캡처링</a:t>
            </a:r>
            <a:r>
              <a:rPr lang="ko-KR" altLang="en-US" sz="2000" dirty="0"/>
              <a:t> 혹은 </a:t>
            </a:r>
            <a:r>
              <a:rPr lang="ko-KR" altLang="en-US" sz="2000" dirty="0" err="1"/>
              <a:t>버블링이</a:t>
            </a:r>
            <a:r>
              <a:rPr lang="ko-KR" altLang="en-US" sz="2000" dirty="0"/>
              <a:t> 더 이상 전파되지 않도록 </a:t>
            </a:r>
            <a:r>
              <a:rPr lang="ko-KR" altLang="en-US" sz="2000" dirty="0" smtClean="0"/>
              <a:t>막음</a:t>
            </a:r>
            <a:endParaRPr lang="en-US" altLang="ko-KR" sz="2000" dirty="0" smtClean="0"/>
          </a:p>
          <a:p>
            <a:pPr lvl="2"/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7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이벤트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dirty="0"/>
              <a:t>이벤트 </a:t>
            </a:r>
            <a:r>
              <a:rPr lang="ko-KR" altLang="en-US" dirty="0" smtClean="0"/>
              <a:t>흐름</a:t>
            </a:r>
            <a:endParaRPr lang="en-US" altLang="ko-KR" dirty="0" smtClean="0"/>
          </a:p>
          <a:p>
            <a:pPr lvl="1"/>
            <a:r>
              <a:rPr lang="ko-KR" altLang="en-US" dirty="0" err="1"/>
              <a:t>버블링</a:t>
            </a:r>
            <a:r>
              <a:rPr lang="en-US" altLang="ko-KR" dirty="0"/>
              <a:t>(bubbling),</a:t>
            </a:r>
            <a:r>
              <a:rPr lang="ko-KR" altLang="en-US" dirty="0"/>
              <a:t> </a:t>
            </a:r>
            <a:r>
              <a:rPr lang="ko-KR" altLang="en-US" dirty="0" err="1"/>
              <a:t>캡처링</a:t>
            </a:r>
            <a:r>
              <a:rPr lang="en-US" altLang="ko-KR" dirty="0"/>
              <a:t>(capturing)</a:t>
            </a:r>
          </a:p>
          <a:p>
            <a:pPr lvl="1"/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l="1318" r="2508"/>
          <a:stretch/>
        </p:blipFill>
        <p:spPr>
          <a:xfrm>
            <a:off x="797864" y="2056272"/>
            <a:ext cx="4798264" cy="31948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0792" y="2066364"/>
            <a:ext cx="357726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ea typeface="Arial Unicode MS"/>
              </a:rPr>
              <a:t>click me!</a:t>
            </a:r>
            <a:r>
              <a:rPr lang="ko-KR" altLang="en-US" dirty="0" smtClean="0">
                <a:ea typeface="Arial Unicode MS"/>
              </a:rPr>
              <a:t>라는 버튼을 클릭하면</a:t>
            </a:r>
            <a:endParaRPr lang="en-US" altLang="ko-KR" dirty="0" smtClean="0">
              <a:ea typeface="Arial Unicode MS"/>
            </a:endParaRPr>
          </a:p>
          <a:p>
            <a:r>
              <a:rPr lang="ko-KR" altLang="en-US" dirty="0" smtClean="0">
                <a:ea typeface="Arial Unicode MS"/>
              </a:rPr>
              <a:t>버튼을 클릭한 것이지만</a:t>
            </a:r>
            <a:endParaRPr lang="en-US" altLang="ko-KR" dirty="0" smtClean="0">
              <a:ea typeface="Arial Unicode MS"/>
            </a:endParaRPr>
          </a:p>
          <a:p>
            <a:r>
              <a:rPr lang="ko-KR" altLang="en-US" dirty="0" smtClean="0">
                <a:ea typeface="Arial Unicode MS"/>
              </a:rPr>
              <a:t>문서 전체로 보면</a:t>
            </a:r>
            <a:endParaRPr lang="en-US" altLang="ko-KR" dirty="0" smtClean="0">
              <a:ea typeface="Arial Unicode MS"/>
            </a:endParaRPr>
          </a:p>
          <a:p>
            <a:r>
              <a:rPr lang="en-US" dirty="0" smtClean="0">
                <a:ea typeface="Arial Unicode MS"/>
              </a:rPr>
              <a:t>html, body, div</a:t>
            </a:r>
            <a:r>
              <a:rPr lang="ko-KR" altLang="en-US" dirty="0" smtClean="0">
                <a:ea typeface="Arial Unicode MS"/>
              </a:rPr>
              <a:t>를 클릭한 것으로도 </a:t>
            </a:r>
            <a:endParaRPr lang="en-US" altLang="ko-KR" dirty="0" smtClean="0">
              <a:ea typeface="Arial Unicode MS"/>
            </a:endParaRPr>
          </a:p>
          <a:p>
            <a:r>
              <a:rPr lang="ko-KR" altLang="en-US" dirty="0" smtClean="0">
                <a:ea typeface="Arial Unicode MS"/>
              </a:rPr>
              <a:t>볼 수 있음</a:t>
            </a:r>
            <a:endParaRPr lang="en-US" dirty="0">
              <a:ea typeface="Arial Unicode M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58772" y="4124056"/>
            <a:ext cx="386198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ea typeface="Arial Unicode MS"/>
              </a:rPr>
              <a:t>모든 요소에 클릭 이벤트에 대한 </a:t>
            </a:r>
            <a:endParaRPr lang="en-US" altLang="ko-KR" dirty="0" smtClean="0">
              <a:ea typeface="Arial Unicode MS"/>
            </a:endParaRPr>
          </a:p>
          <a:p>
            <a:r>
              <a:rPr lang="ko-KR" altLang="en-US" dirty="0" err="1" smtClean="0">
                <a:ea typeface="Arial Unicode MS"/>
              </a:rPr>
              <a:t>핸들러가</a:t>
            </a:r>
            <a:r>
              <a:rPr lang="ko-KR" altLang="en-US" dirty="0" smtClean="0">
                <a:ea typeface="Arial Unicode MS"/>
              </a:rPr>
              <a:t> 등록되어 있다면 </a:t>
            </a:r>
            <a:endParaRPr lang="en-US" altLang="ko-KR" dirty="0" smtClean="0">
              <a:ea typeface="Arial Unicode MS"/>
            </a:endParaRPr>
          </a:p>
          <a:p>
            <a:r>
              <a:rPr lang="ko-KR" altLang="en-US" u="sng" dirty="0" smtClean="0">
                <a:ea typeface="Arial Unicode MS"/>
              </a:rPr>
              <a:t>어떤 순서</a:t>
            </a:r>
            <a:r>
              <a:rPr lang="en-US" altLang="ko-KR" u="sng" dirty="0" smtClean="0">
                <a:ea typeface="Arial Unicode MS"/>
              </a:rPr>
              <a:t>(</a:t>
            </a:r>
            <a:r>
              <a:rPr lang="ko-KR" altLang="en-US" u="sng" dirty="0" smtClean="0">
                <a:ea typeface="Arial Unicode MS"/>
              </a:rPr>
              <a:t>흐름</a:t>
            </a:r>
            <a:r>
              <a:rPr lang="en-US" altLang="ko-KR" u="sng" dirty="0" smtClean="0">
                <a:ea typeface="Arial Unicode MS"/>
              </a:rPr>
              <a:t>)</a:t>
            </a:r>
            <a:r>
              <a:rPr lang="ko-KR" altLang="en-US" u="sng" dirty="0" smtClean="0">
                <a:ea typeface="Arial Unicode MS"/>
              </a:rPr>
              <a:t>로 처리 될 것인가</a:t>
            </a:r>
            <a:r>
              <a:rPr lang="en-US" altLang="ko-KR" u="sng" dirty="0">
                <a:ea typeface="Arial Unicode MS"/>
              </a:rPr>
              <a:t>?</a:t>
            </a:r>
            <a:endParaRPr lang="en-US" u="sng" dirty="0">
              <a:ea typeface="Arial Unicode M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2046" y="4893695"/>
            <a:ext cx="6575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619096" y="4322294"/>
            <a:ext cx="71365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body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436989" y="3950692"/>
            <a:ext cx="49244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div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501609" y="3442793"/>
            <a:ext cx="8848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button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96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이벤트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dirty="0"/>
              <a:t>이벤트 </a:t>
            </a:r>
            <a:r>
              <a:rPr lang="ko-KR" altLang="en-US" dirty="0" smtClean="0"/>
              <a:t>흐름</a:t>
            </a:r>
            <a:endParaRPr lang="en-US" altLang="ko-KR" dirty="0" smtClean="0"/>
          </a:p>
          <a:p>
            <a:pPr lvl="1"/>
            <a:r>
              <a:rPr lang="ko-KR" altLang="en-US" u="sng" dirty="0"/>
              <a:t>버튼을 클릭할 경우</a:t>
            </a:r>
            <a:r>
              <a:rPr lang="en-US" altLang="ko-KR" dirty="0"/>
              <a:t>, </a:t>
            </a:r>
            <a:r>
              <a:rPr lang="ko-KR" altLang="en-US" dirty="0"/>
              <a:t>두 종류의 이벤트 흐름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1318" r="2508"/>
          <a:stretch/>
        </p:blipFill>
        <p:spPr>
          <a:xfrm>
            <a:off x="925078" y="1891680"/>
            <a:ext cx="3528392" cy="2349315"/>
          </a:xfrm>
          <a:prstGeom prst="rect">
            <a:avLst/>
          </a:prstGeom>
        </p:spPr>
      </p:pic>
      <p:cxnSp>
        <p:nvCxnSpPr>
          <p:cNvPr id="14" name="직선 화살표 연결선 13"/>
          <p:cNvCxnSpPr/>
          <p:nvPr/>
        </p:nvCxnSpPr>
        <p:spPr>
          <a:xfrm flipH="1" flipV="1">
            <a:off x="925078" y="1908306"/>
            <a:ext cx="1368152" cy="991486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33787" y="1908306"/>
            <a:ext cx="26564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핸들러가</a:t>
            </a:r>
            <a:r>
              <a:rPr lang="ko-KR" altLang="en-US" dirty="0" smtClean="0"/>
              <a:t> 실행되는 순서</a:t>
            </a:r>
            <a:endParaRPr 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1357126" y="4352238"/>
            <a:ext cx="23038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/>
            <a:r>
              <a:rPr lang="ko-KR" altLang="en-US" dirty="0" err="1"/>
              <a:t>버블링</a:t>
            </a:r>
            <a:r>
              <a:rPr lang="en-US" altLang="ko-KR" dirty="0"/>
              <a:t>(bubbling</a:t>
            </a:r>
            <a:r>
              <a:rPr lang="en-US" altLang="ko-KR" dirty="0" smtClean="0"/>
              <a:t>)</a:t>
            </a:r>
          </a:p>
          <a:p>
            <a:pPr lvl="1" algn="ctr"/>
            <a:r>
              <a:rPr lang="ko-KR" altLang="en-US" dirty="0" smtClean="0"/>
              <a:t>이벤트 전파</a:t>
            </a:r>
            <a:endParaRPr lang="en-US" altLang="ko-KR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rcRect l="1318" r="2508"/>
          <a:stretch/>
        </p:blipFill>
        <p:spPr>
          <a:xfrm>
            <a:off x="4999634" y="1891680"/>
            <a:ext cx="3528392" cy="23493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98952" y="1908306"/>
            <a:ext cx="26564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핸들러가</a:t>
            </a:r>
            <a:r>
              <a:rPr lang="ko-KR" altLang="en-US" dirty="0" smtClean="0"/>
              <a:t> 실행되는 순서</a:t>
            </a:r>
            <a:endParaRPr 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5431682" y="4339952"/>
            <a:ext cx="23698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/>
            <a:r>
              <a:rPr lang="ko-KR" altLang="en-US" dirty="0" err="1" smtClean="0"/>
              <a:t>캡처링</a:t>
            </a:r>
            <a:r>
              <a:rPr lang="en-US" altLang="ko-KR" dirty="0" smtClean="0"/>
              <a:t>(capturing)</a:t>
            </a:r>
          </a:p>
          <a:p>
            <a:pPr lvl="1" algn="ctr"/>
            <a:r>
              <a:rPr lang="ko-KR" altLang="en-US" dirty="0" smtClean="0"/>
              <a:t>이벤트 탐색</a:t>
            </a:r>
            <a:endParaRPr lang="en-US" altLang="ko-KR" dirty="0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4999634" y="1908306"/>
            <a:ext cx="1470060" cy="991486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25078" y="5375275"/>
            <a:ext cx="5869026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ea typeface="Arial Unicode MS"/>
              </a:rPr>
              <a:t>target: </a:t>
            </a:r>
            <a:r>
              <a:rPr lang="ko-KR" altLang="en-US" dirty="0" smtClean="0">
                <a:ea typeface="Arial Unicode MS"/>
              </a:rPr>
              <a:t>발생한 이벤트와 가장 밀접한 관련이 있는 요소</a:t>
            </a:r>
            <a:endParaRPr lang="en-US" dirty="0" smtClean="0">
              <a:ea typeface="Arial Unicode M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ea typeface="Arial Unicode MS"/>
              </a:rPr>
              <a:t>click me! </a:t>
            </a:r>
            <a:r>
              <a:rPr lang="ko-KR" altLang="en-US" dirty="0" smtClean="0">
                <a:ea typeface="Arial Unicode MS"/>
              </a:rPr>
              <a:t>버튼을 누르면 </a:t>
            </a:r>
            <a:r>
              <a:rPr lang="en-US" altLang="ko-KR" dirty="0" smtClean="0">
                <a:ea typeface="Arial Unicode MS"/>
              </a:rPr>
              <a:t>target</a:t>
            </a:r>
            <a:r>
              <a:rPr lang="ko-KR" altLang="en-US" dirty="0" smtClean="0">
                <a:ea typeface="Arial Unicode MS"/>
              </a:rPr>
              <a:t>은 </a:t>
            </a:r>
            <a:r>
              <a:rPr lang="en-US" altLang="ko-KR" dirty="0" smtClean="0">
                <a:ea typeface="Arial Unicode MS"/>
              </a:rPr>
              <a:t>button</a:t>
            </a:r>
            <a:r>
              <a:rPr lang="ko-KR" altLang="en-US" dirty="0" smtClean="0">
                <a:ea typeface="Arial Unicode MS"/>
              </a:rPr>
              <a:t>요소</a:t>
            </a:r>
            <a:endParaRPr lang="en-US" altLang="ko-KR" dirty="0" smtClean="0">
              <a:ea typeface="Arial Unicode M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ea typeface="Arial Unicode MS"/>
              </a:rPr>
              <a:t>div</a:t>
            </a:r>
            <a:r>
              <a:rPr lang="ko-KR" altLang="en-US" dirty="0" smtClean="0">
                <a:ea typeface="Arial Unicode MS"/>
              </a:rPr>
              <a:t>를 클릭하면 </a:t>
            </a:r>
            <a:r>
              <a:rPr lang="en-US" altLang="ko-KR" dirty="0" err="1" smtClean="0">
                <a:ea typeface="Arial Unicode MS"/>
              </a:rPr>
              <a:t>targe</a:t>
            </a:r>
            <a:r>
              <a:rPr lang="ko-KR" altLang="en-US" dirty="0" smtClean="0">
                <a:ea typeface="Arial Unicode MS"/>
              </a:rPr>
              <a:t>은 </a:t>
            </a:r>
            <a:r>
              <a:rPr lang="en-US" altLang="ko-KR" dirty="0" smtClean="0">
                <a:ea typeface="Arial Unicode MS"/>
              </a:rPr>
              <a:t>div</a:t>
            </a:r>
            <a:r>
              <a:rPr lang="ko-KR" altLang="en-US" dirty="0" smtClean="0">
                <a:ea typeface="Arial Unicode MS"/>
              </a:rPr>
              <a:t>요소</a:t>
            </a:r>
            <a:endParaRPr lang="en-US" dirty="0">
              <a:ea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71007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이벤트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dirty="0"/>
              <a:t>이벤트 </a:t>
            </a:r>
            <a:r>
              <a:rPr lang="ko-KR" altLang="en-US" dirty="0" smtClean="0"/>
              <a:t>흐름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버블링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/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813816" y="4158957"/>
            <a:ext cx="5267569" cy="194165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8000" tIns="108000" rIns="108000" bIns="108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divs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querySelectorAll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'div'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divs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'click'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logEvent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});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7FDBC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logEvent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currentTarget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" name="Picture 2" descr="https://joshua1988.github.io/images/posts/web/javascript/event/event-bubble-lo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259" y="2048190"/>
            <a:ext cx="4743450" cy="146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813816" y="1896151"/>
            <a:ext cx="3385643" cy="2187879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8000" tIns="108000" rIns="108000" bIns="108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&lt;body&gt;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&lt;div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CB8B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&lt;div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CB8B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&lt;div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CB8B"/>
                </a:solidFill>
                <a:effectLst/>
                <a:latin typeface="Consolas" panose="020B0609020204030204" pitchFamily="49" charset="0"/>
              </a:rPr>
              <a:t>three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&lt;/body&gt;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480560" y="117362"/>
            <a:ext cx="79461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https://joshua1988.github.io/web-development/javascript/event-propagation-delegation/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025259" y="1552173"/>
            <a:ext cx="3624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&lt;div class="three"&gt;&lt;/div&gt; </a:t>
            </a:r>
            <a:r>
              <a:rPr lang="ko-KR" altLang="en-US" dirty="0" smtClean="0"/>
              <a:t>클릭 결과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66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이벤트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dirty="0"/>
              <a:t>이벤트 </a:t>
            </a:r>
            <a:r>
              <a:rPr lang="ko-KR" altLang="en-US" dirty="0" smtClean="0"/>
              <a:t>흐름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캡처링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813816" y="1850318"/>
            <a:ext cx="3385643" cy="215152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8000" tIns="72000" rIns="108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&lt;body&gt;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&lt;div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CB8B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&lt;div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CB8B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&lt;div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CB8B"/>
                </a:solidFill>
                <a:effectLst/>
                <a:latin typeface="Consolas" panose="020B0609020204030204" pitchFamily="49" charset="0"/>
              </a:rPr>
              <a:t>three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&lt;/body&gt;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13816" y="4126818"/>
            <a:ext cx="5617023" cy="264397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08000" tIns="72000" rIns="108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divs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querySelectorAll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'div'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divs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'click'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logEvent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capture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5874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637777"/>
                </a:solidFill>
                <a:effectLst/>
                <a:latin typeface="Consolas" panose="020B0609020204030204" pitchFamily="49" charset="0"/>
              </a:rPr>
              <a:t>// default </a:t>
            </a:r>
            <a:r>
              <a:rPr kumimoji="0" lang="en-US" altLang="en-US" sz="1600" b="0" i="1" u="none" strike="noStrike" cap="none" normalizeH="0" baseline="0" dirty="0" err="1" smtClean="0">
                <a:ln>
                  <a:noFill/>
                </a:ln>
                <a:solidFill>
                  <a:srgbClr val="637777"/>
                </a:solidFill>
                <a:effectLst/>
                <a:latin typeface="Consolas" panose="020B0609020204030204" pitchFamily="49" charset="0"/>
              </a:rPr>
              <a:t>값은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63777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1" u="none" strike="noStrike" cap="none" normalizeH="0" baseline="0" dirty="0" err="1" smtClean="0">
                <a:ln>
                  <a:noFill/>
                </a:ln>
                <a:solidFill>
                  <a:srgbClr val="637777"/>
                </a:solidFill>
                <a:effectLst/>
                <a:latin typeface="Consolas" panose="020B0609020204030204" pitchFamily="49" charset="0"/>
              </a:rPr>
              <a:t>false입니다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63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});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});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7FDBC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logEvent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2AAF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currentTarget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297862" y="4151154"/>
            <a:ext cx="3624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&lt;div class="three"&gt;&lt;/div&gt; </a:t>
            </a:r>
            <a:r>
              <a:rPr lang="ko-KR" altLang="en-US" dirty="0" smtClean="0"/>
              <a:t>클릭 결과</a:t>
            </a:r>
            <a:endParaRPr lang="en-US" dirty="0"/>
          </a:p>
        </p:txBody>
      </p:sp>
      <p:pic>
        <p:nvPicPr>
          <p:cNvPr id="2050" name="Picture 2" descr="https://joshua1988.github.io/images/posts/web/javascript/event/event-capture-lo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675" y="4667565"/>
            <a:ext cx="260985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11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이벤트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dirty="0"/>
              <a:t>이벤트 </a:t>
            </a:r>
            <a:r>
              <a:rPr lang="ko-KR" altLang="en-US" dirty="0" smtClean="0"/>
              <a:t>흐름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흐름 단절</a:t>
            </a:r>
            <a:r>
              <a:rPr lang="en-US" altLang="ko-KR" dirty="0" smtClean="0"/>
              <a:t>: </a:t>
            </a:r>
            <a:r>
              <a:rPr lang="en-US" dirty="0" err="1"/>
              <a:t>stopPropagation</a:t>
            </a:r>
            <a:r>
              <a:rPr lang="en-US" dirty="0" smtClean="0"/>
              <a:t>()</a:t>
            </a:r>
          </a:p>
          <a:p>
            <a:pPr lvl="1"/>
            <a:r>
              <a:rPr lang="ko-KR" altLang="en-US" dirty="0" err="1" smtClean="0">
                <a:latin typeface="Arial" panose="020B0604020202020204" pitchFamily="34" charset="0"/>
              </a:rPr>
              <a:t>버블링이나</a:t>
            </a:r>
            <a:r>
              <a:rPr lang="ko-KR" altLang="en-US" dirty="0" smtClean="0">
                <a:latin typeface="Arial" panose="020B0604020202020204" pitchFamily="34" charset="0"/>
              </a:rPr>
              <a:t> </a:t>
            </a:r>
            <a:r>
              <a:rPr lang="ko-KR" altLang="en-US" dirty="0" err="1" smtClean="0">
                <a:latin typeface="Arial" panose="020B0604020202020204" pitchFamily="34" charset="0"/>
              </a:rPr>
              <a:t>캡처링과</a:t>
            </a:r>
            <a:r>
              <a:rPr lang="ko-KR" altLang="en-US" dirty="0" smtClean="0">
                <a:latin typeface="Arial" panose="020B0604020202020204" pitchFamily="34" charset="0"/>
              </a:rPr>
              <a:t> 같이 다른 요소의 이벤트까지 트리거 되는 것을 막음</a:t>
            </a:r>
            <a:endParaRPr lang="en-US" altLang="ko-KR" dirty="0" smtClean="0">
              <a:latin typeface="Arial" panose="020B0604020202020204" pitchFamily="34" charset="0"/>
            </a:endParaRPr>
          </a:p>
          <a:p>
            <a:pPr lvl="1"/>
            <a:r>
              <a:rPr lang="ko-KR" altLang="en-US" dirty="0" smtClean="0">
                <a:latin typeface="Arial" panose="020B0604020202020204" pitchFamily="34" charset="0"/>
              </a:rPr>
              <a:t>앞선 설명과 같이 </a:t>
            </a:r>
            <a:r>
              <a:rPr lang="en-US" altLang="ko-KR" dirty="0" smtClean="0">
                <a:latin typeface="Arial" panose="020B0604020202020204" pitchFamily="34" charset="0"/>
              </a:rPr>
              <a:t>event</a:t>
            </a:r>
            <a:r>
              <a:rPr lang="ko-KR" altLang="en-US" dirty="0" smtClean="0">
                <a:latin typeface="Arial" panose="020B0604020202020204" pitchFamily="34" charset="0"/>
              </a:rPr>
              <a:t>객체의 메서드</a:t>
            </a:r>
            <a:r>
              <a:rPr lang="en-US" altLang="ko-KR" dirty="0" smtClean="0">
                <a:latin typeface="Arial" panose="020B0604020202020204" pitchFamily="34" charset="0"/>
              </a:rPr>
              <a:t>(</a:t>
            </a:r>
            <a:r>
              <a:rPr lang="ko-KR" altLang="en-US" dirty="0" smtClean="0">
                <a:latin typeface="Arial" panose="020B0604020202020204" pitchFamily="34" charset="0"/>
              </a:rPr>
              <a:t>즉</a:t>
            </a:r>
            <a:r>
              <a:rPr lang="en-US" altLang="ko-KR" dirty="0" smtClean="0">
                <a:latin typeface="Arial" panose="020B0604020202020204" pitchFamily="34" charset="0"/>
              </a:rPr>
              <a:t>, </a:t>
            </a:r>
            <a:r>
              <a:rPr lang="ko-KR" altLang="en-US" dirty="0" err="1" smtClean="0">
                <a:latin typeface="Arial" panose="020B0604020202020204" pitchFamily="34" charset="0"/>
              </a:rPr>
              <a:t>핸들러에서</a:t>
            </a:r>
            <a:r>
              <a:rPr lang="ko-KR" altLang="en-US" dirty="0" smtClean="0">
                <a:latin typeface="Arial" panose="020B0604020202020204" pitchFamily="34" charset="0"/>
              </a:rPr>
              <a:t> </a:t>
            </a:r>
            <a:r>
              <a:rPr lang="en-US" altLang="ko-KR" dirty="0" smtClean="0">
                <a:latin typeface="Arial" panose="020B0604020202020204" pitchFamily="34" charset="0"/>
              </a:rPr>
              <a:t>event</a:t>
            </a:r>
            <a:r>
              <a:rPr lang="ko-KR" altLang="en-US" dirty="0" smtClean="0">
                <a:latin typeface="Arial" panose="020B0604020202020204" pitchFamily="34" charset="0"/>
              </a:rPr>
              <a:t>객체가 필요</a:t>
            </a:r>
            <a:r>
              <a:rPr lang="en-US" altLang="ko-KR" dirty="0" smtClean="0">
                <a:latin typeface="Arial" panose="020B0604020202020204" pitchFamily="34" charset="0"/>
              </a:rPr>
              <a:t>)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pPr lvl="1"/>
            <a:r>
              <a:rPr lang="en-US" altLang="en-US" dirty="0" smtClean="0">
                <a:latin typeface="Arial" panose="020B0604020202020204" pitchFamily="34" charset="0"/>
              </a:rPr>
              <a:t>https</a:t>
            </a:r>
            <a:r>
              <a:rPr lang="en-US" altLang="en-US" dirty="0">
                <a:latin typeface="Arial" panose="020B0604020202020204" pitchFamily="34" charset="0"/>
              </a:rPr>
              <a:t>://</a:t>
            </a:r>
            <a:r>
              <a:rPr lang="en-US" altLang="en-US" dirty="0" smtClean="0">
                <a:latin typeface="Arial" panose="020B0604020202020204" pitchFamily="34" charset="0"/>
              </a:rPr>
              <a:t>www.w3schools.com/jsref/tryit.asp?filename=tryjsref_event_stoppropagation</a:t>
            </a:r>
          </a:p>
          <a:p>
            <a:pPr lvl="1"/>
            <a:r>
              <a:rPr lang="ko-KR" altLang="en-US" dirty="0" smtClean="0">
                <a:latin typeface="Arial" panose="020B0604020202020204" pitchFamily="34" charset="0"/>
              </a:rPr>
              <a:t>위 예제의 </a:t>
            </a:r>
            <a:r>
              <a:rPr lang="en-US" altLang="ko-KR" dirty="0" smtClean="0">
                <a:latin typeface="Arial" panose="020B0604020202020204" pitchFamily="34" charset="0"/>
              </a:rPr>
              <a:t>func1(event)</a:t>
            </a:r>
            <a:r>
              <a:rPr lang="ko-KR" altLang="en-US" dirty="0" smtClean="0">
                <a:latin typeface="Arial" panose="020B0604020202020204" pitchFamily="34" charset="0"/>
              </a:rPr>
              <a:t>에서 </a:t>
            </a:r>
            <a:r>
              <a:rPr lang="en-US" altLang="ko-KR" dirty="0" smtClean="0">
                <a:latin typeface="Arial" panose="020B0604020202020204" pitchFamily="34" charset="0"/>
              </a:rPr>
              <a:t>event</a:t>
            </a:r>
            <a:r>
              <a:rPr lang="ko-KR" altLang="en-US" dirty="0" smtClean="0">
                <a:latin typeface="Arial" panose="020B0604020202020204" pitchFamily="34" charset="0"/>
              </a:rPr>
              <a:t>는 문자열이 아니라 </a:t>
            </a:r>
            <a:r>
              <a:rPr lang="en-US" altLang="ko-KR" dirty="0" smtClean="0">
                <a:latin typeface="Arial" panose="020B0604020202020204" pitchFamily="34" charset="0"/>
              </a:rPr>
              <a:t>event</a:t>
            </a:r>
            <a:r>
              <a:rPr lang="ko-KR" altLang="en-US" dirty="0" smtClean="0">
                <a:latin typeface="Arial" panose="020B0604020202020204" pitchFamily="34" charset="0"/>
              </a:rPr>
              <a:t>객체를 의미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/>
            <a:endParaRPr lang="en-US" altLang="en-US" sz="2800" dirty="0" smtClean="0">
              <a:latin typeface="Arial" panose="020B0604020202020204" pitchFamily="34" charset="0"/>
            </a:endParaRPr>
          </a:p>
          <a:p>
            <a:pPr lvl="1"/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7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이벤트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dirty="0"/>
              <a:t>이벤트 </a:t>
            </a:r>
            <a:r>
              <a:rPr lang="ko-KR" altLang="en-US" dirty="0" smtClean="0"/>
              <a:t>위임</a:t>
            </a:r>
            <a:r>
              <a:rPr lang="en-US" altLang="ko-KR" dirty="0" smtClean="0"/>
              <a:t>(delegation)</a:t>
            </a:r>
          </a:p>
          <a:p>
            <a:pPr lvl="1"/>
            <a:r>
              <a:rPr lang="ko-KR" altLang="en-US" dirty="0" err="1" smtClean="0"/>
              <a:t>버블링을</a:t>
            </a:r>
            <a:r>
              <a:rPr lang="ko-KR" altLang="en-US" dirty="0" smtClean="0"/>
              <a:t> 이용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요소마다 </a:t>
            </a:r>
            <a:r>
              <a:rPr lang="ko-KR" altLang="en-US" dirty="0" err="1"/>
              <a:t>핸들러를</a:t>
            </a:r>
            <a:r>
              <a:rPr lang="ko-KR" altLang="en-US" dirty="0"/>
              <a:t> 할당하지 </a:t>
            </a:r>
            <a:r>
              <a:rPr lang="ko-KR" altLang="en-US" dirty="0" smtClean="0"/>
              <a:t>않고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다수의 </a:t>
            </a:r>
            <a:r>
              <a:rPr lang="ko-KR" altLang="en-US" dirty="0"/>
              <a:t>요소에 공통으로 적용되는 이벤트 </a:t>
            </a:r>
            <a:r>
              <a:rPr lang="ko-KR" altLang="en-US" dirty="0" err="1"/>
              <a:t>핸들러를</a:t>
            </a:r>
            <a:r>
              <a:rPr lang="ko-KR" altLang="en-US" dirty="0"/>
              <a:t> 공통된 조상 요소에 단 한 번만 연결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단일 </a:t>
            </a:r>
            <a:r>
              <a:rPr lang="ko-KR" altLang="en-US" dirty="0" err="1" smtClean="0"/>
              <a:t>핸들러를</a:t>
            </a:r>
            <a:r>
              <a:rPr lang="ko-KR" altLang="en-US" dirty="0" smtClean="0"/>
              <a:t> 통해 모든 후손 및 </a:t>
            </a:r>
            <a:r>
              <a:rPr lang="ko-KR" altLang="en-US" dirty="0" smtClean="0">
                <a:solidFill>
                  <a:srgbClr val="FF0000"/>
                </a:solidFill>
              </a:rPr>
              <a:t>미래에 생길 후손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동적 요소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r>
              <a:rPr lang="ko-KR" altLang="en-US" dirty="0" smtClean="0"/>
              <a:t>에게까지 이벤트를 적용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(</a:t>
            </a:r>
            <a:r>
              <a:rPr lang="ko-KR" altLang="en-US" dirty="0" smtClean="0"/>
              <a:t>예시</a:t>
            </a:r>
            <a:r>
              <a:rPr lang="en-US" altLang="ko-KR" dirty="0" smtClean="0"/>
              <a:t>: https://frontsom.tistory.com/13 , </a:t>
            </a:r>
            <a:r>
              <a:rPr lang="ko-KR" altLang="en-US" dirty="0" smtClean="0">
                <a:solidFill>
                  <a:srgbClr val="FF0000"/>
                </a:solidFill>
              </a:rPr>
              <a:t>좋은 예제이므로 이해 바람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err="1" smtClean="0"/>
              <a:t>자식요소가</a:t>
            </a:r>
            <a:r>
              <a:rPr lang="ko-KR" altLang="en-US" dirty="0" smtClean="0"/>
              <a:t> 해야 할 이벤트 등록 및 처리를 부모가 대신</a:t>
            </a:r>
            <a:r>
              <a:rPr lang="en-US" altLang="ko-KR" dirty="0" smtClean="0"/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위임</a:t>
            </a:r>
            <a:endParaRPr lang="en-US" altLang="ko-KR" dirty="0"/>
          </a:p>
          <a:p>
            <a:pPr lvl="1"/>
            <a:r>
              <a:rPr lang="ko-KR" altLang="en-US" dirty="0" err="1" smtClean="0"/>
              <a:t>부모요소는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자식요소에</a:t>
            </a:r>
            <a:r>
              <a:rPr lang="ko-KR" altLang="en-US" dirty="0" smtClean="0"/>
              <a:t> 발생할 이벤트를 감시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이벤트 위임의 장점</a:t>
            </a:r>
            <a:r>
              <a:rPr lang="en-US" altLang="ko-KR" dirty="0" smtClean="0"/>
              <a:t>(</a:t>
            </a:r>
            <a:r>
              <a:rPr lang="ko-KR" altLang="en-US" dirty="0" smtClean="0"/>
              <a:t>정리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>
                <a:solidFill>
                  <a:srgbClr val="0000FF"/>
                </a:solidFill>
              </a:rPr>
              <a:t>다수의 요소에 공통된 이벤트를 등록할 때 편리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lvl="2"/>
            <a:r>
              <a:rPr lang="ko-KR" altLang="en-US" dirty="0" smtClean="0">
                <a:solidFill>
                  <a:srgbClr val="0000FF"/>
                </a:solidFill>
              </a:rPr>
              <a:t>미래에</a:t>
            </a:r>
            <a:r>
              <a:rPr lang="en-US" altLang="ko-KR" dirty="0" smtClean="0">
                <a:solidFill>
                  <a:srgbClr val="0000FF"/>
                </a:solidFill>
              </a:rPr>
              <a:t>(</a:t>
            </a:r>
            <a:r>
              <a:rPr lang="ko-KR" altLang="en-US" dirty="0" smtClean="0">
                <a:solidFill>
                  <a:srgbClr val="0000FF"/>
                </a:solidFill>
              </a:rPr>
              <a:t>동적으로</a:t>
            </a:r>
            <a:r>
              <a:rPr lang="en-US" altLang="ko-KR" dirty="0" smtClean="0">
                <a:solidFill>
                  <a:srgbClr val="0000FF"/>
                </a:solidFill>
              </a:rPr>
              <a:t>) </a:t>
            </a:r>
            <a:r>
              <a:rPr lang="ko-KR" altLang="en-US" dirty="0" smtClean="0">
                <a:solidFill>
                  <a:srgbClr val="0000FF"/>
                </a:solidFill>
              </a:rPr>
              <a:t>추가될 요소에도 이벤트 적용 가능</a:t>
            </a:r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5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이벤트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7" y="757400"/>
            <a:ext cx="6127944" cy="5740119"/>
          </a:xfrm>
        </p:spPr>
        <p:txBody>
          <a:bodyPr>
            <a:normAutofit lnSpcReduction="10000"/>
          </a:bodyPr>
          <a:lstStyle/>
          <a:p>
            <a:r>
              <a:rPr lang="en-US" altLang="ko-KR" sz="2200" b="1" dirty="0" err="1" smtClean="0">
                <a:solidFill>
                  <a:prstClr val="black"/>
                </a:solidFill>
              </a:rPr>
              <a:t>addEventListener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의 옵션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r>
              <a:rPr lang="en-US" altLang="ko-KR" sz="1800" dirty="0">
                <a:solidFill>
                  <a:prstClr val="black"/>
                </a:solidFill>
              </a:rPr>
              <a:t>capture(</a:t>
            </a:r>
            <a:r>
              <a:rPr lang="en-US" altLang="ko-KR" sz="1800" dirty="0" err="1">
                <a:solidFill>
                  <a:prstClr val="black"/>
                </a:solidFill>
              </a:rPr>
              <a:t>useCapture</a:t>
            </a:r>
            <a:r>
              <a:rPr lang="en-US" altLang="ko-KR" sz="1800" dirty="0">
                <a:solidFill>
                  <a:prstClr val="black"/>
                </a:solidFill>
              </a:rPr>
              <a:t>) – </a:t>
            </a:r>
            <a:r>
              <a:rPr lang="ko-KR" altLang="en-US" sz="1800" dirty="0" err="1">
                <a:solidFill>
                  <a:prstClr val="black"/>
                </a:solidFill>
              </a:rPr>
              <a:t>캡처링</a:t>
            </a:r>
            <a:r>
              <a:rPr lang="ko-KR" altLang="en-US" sz="1800" dirty="0">
                <a:solidFill>
                  <a:prstClr val="black"/>
                </a:solidFill>
              </a:rPr>
              <a:t> 사용 여부 </a:t>
            </a:r>
            <a:r>
              <a:rPr lang="en-US" altLang="ko-KR" sz="1800" dirty="0">
                <a:solidFill>
                  <a:prstClr val="black"/>
                </a:solidFill>
              </a:rPr>
              <a:t>(false</a:t>
            </a:r>
            <a:r>
              <a:rPr lang="ko-KR" altLang="en-US" sz="1800" dirty="0">
                <a:solidFill>
                  <a:prstClr val="black"/>
                </a:solidFill>
              </a:rPr>
              <a:t>가 기본값</a:t>
            </a:r>
            <a:r>
              <a:rPr lang="en-US" altLang="ko-KR" sz="1800" dirty="0">
                <a:solidFill>
                  <a:prstClr val="black"/>
                </a:solidFill>
              </a:rPr>
              <a:t>)</a:t>
            </a:r>
          </a:p>
          <a:p>
            <a:r>
              <a:rPr lang="en-US" altLang="ko-KR" sz="1800" dirty="0">
                <a:solidFill>
                  <a:prstClr val="black"/>
                </a:solidFill>
              </a:rPr>
              <a:t>once - true </a:t>
            </a:r>
            <a:r>
              <a:rPr lang="ko-KR" altLang="en-US" sz="1800" dirty="0">
                <a:solidFill>
                  <a:prstClr val="black"/>
                </a:solidFill>
              </a:rPr>
              <a:t>면 이벤트가 딱 한번만 발생됨</a:t>
            </a:r>
          </a:p>
          <a:p>
            <a:r>
              <a:rPr lang="en-US" altLang="ko-KR" sz="1800" dirty="0">
                <a:solidFill>
                  <a:prstClr val="black"/>
                </a:solidFill>
              </a:rPr>
              <a:t>passive - true </a:t>
            </a:r>
            <a:r>
              <a:rPr lang="ko-KR" altLang="en-US" sz="1800" dirty="0">
                <a:solidFill>
                  <a:prstClr val="black"/>
                </a:solidFill>
              </a:rPr>
              <a:t>면 이벤트를 받는 </a:t>
            </a:r>
            <a:r>
              <a:rPr lang="en-US" altLang="ko-KR" sz="1800" dirty="0">
                <a:solidFill>
                  <a:prstClr val="black"/>
                </a:solidFill>
              </a:rPr>
              <a:t>composite </a:t>
            </a:r>
            <a:r>
              <a:rPr lang="ko-KR" altLang="en-US" sz="1800" dirty="0" err="1">
                <a:solidFill>
                  <a:prstClr val="black"/>
                </a:solidFill>
              </a:rPr>
              <a:t>쓰레드가</a:t>
            </a:r>
            <a:r>
              <a:rPr lang="ko-KR" altLang="en-US" sz="1800" dirty="0">
                <a:solidFill>
                  <a:prstClr val="black"/>
                </a:solidFill>
              </a:rPr>
              <a:t> </a:t>
            </a:r>
            <a:r>
              <a:rPr lang="en-US" altLang="ko-KR" sz="1800" dirty="0">
                <a:solidFill>
                  <a:prstClr val="black"/>
                </a:solidFill>
              </a:rPr>
              <a:t>main </a:t>
            </a:r>
            <a:r>
              <a:rPr lang="ko-KR" altLang="en-US" sz="1800" dirty="0" err="1">
                <a:solidFill>
                  <a:prstClr val="black"/>
                </a:solidFill>
              </a:rPr>
              <a:t>쓰레드의</a:t>
            </a:r>
            <a:r>
              <a:rPr lang="ko-KR" altLang="en-US" sz="1800" dirty="0">
                <a:solidFill>
                  <a:prstClr val="black"/>
                </a:solidFill>
              </a:rPr>
              <a:t> 처리를 기다리지 않고 화면 그리기를 </a:t>
            </a:r>
            <a:r>
              <a:rPr lang="ko-KR" altLang="en-US" sz="1800" dirty="0" smtClean="0">
                <a:solidFill>
                  <a:prstClr val="black"/>
                </a:solidFill>
              </a:rPr>
              <a:t>수행</a:t>
            </a:r>
            <a:r>
              <a:rPr lang="en-US" altLang="ko-KR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</a:t>
            </a:r>
            <a:r>
              <a:rPr lang="ko-KR" altLang="en-US" sz="1800" dirty="0" smtClean="0">
                <a:solidFill>
                  <a:prstClr val="black"/>
                </a:solidFill>
              </a:rPr>
              <a:t> </a:t>
            </a:r>
            <a:r>
              <a:rPr lang="ko-KR" altLang="en-US" sz="1800" dirty="0">
                <a:solidFill>
                  <a:prstClr val="black"/>
                </a:solidFill>
              </a:rPr>
              <a:t>즉 이벤트가 발생할 경우 빠르게 화면에 표시</a:t>
            </a:r>
            <a:r>
              <a:rPr lang="en-US" altLang="ko-KR" sz="1800" dirty="0">
                <a:solidFill>
                  <a:prstClr val="black"/>
                </a:solidFill>
              </a:rPr>
              <a:t>( </a:t>
            </a:r>
            <a:r>
              <a:rPr lang="ko-KR" altLang="en-US" sz="1800" dirty="0">
                <a:solidFill>
                  <a:prstClr val="black"/>
                </a:solidFill>
              </a:rPr>
              <a:t>대표적인 예 스크롤 </a:t>
            </a:r>
            <a:r>
              <a:rPr lang="en-US" altLang="ko-KR" sz="1800" dirty="0">
                <a:solidFill>
                  <a:prstClr val="black"/>
                </a:solidFill>
              </a:rPr>
              <a:t>)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sz="1800" b="1" dirty="0">
              <a:solidFill>
                <a:prstClr val="black"/>
              </a:solidFill>
            </a:endParaRPr>
          </a:p>
          <a:p>
            <a:pPr marL="914400" lvl="2" indent="0">
              <a:buNone/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1800" b="1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15</a:t>
            </a:fld>
            <a:endParaRPr 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520217" y="1370575"/>
            <a:ext cx="684776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2"/>
            <a:r>
              <a:rPr lang="en-US" sz="2000" i="1" dirty="0" err="1"/>
              <a:t>target</a:t>
            </a:r>
            <a:r>
              <a:rPr lang="en-US" sz="2000" dirty="0" err="1"/>
              <a:t>.addEventListener</a:t>
            </a:r>
            <a:r>
              <a:rPr lang="en-US" sz="2000" dirty="0"/>
              <a:t>(</a:t>
            </a:r>
            <a:r>
              <a:rPr lang="en-US" sz="2000" i="1" dirty="0"/>
              <a:t>type</a:t>
            </a:r>
            <a:r>
              <a:rPr lang="en-US" sz="2000" dirty="0"/>
              <a:t>, </a:t>
            </a:r>
            <a:r>
              <a:rPr lang="en-US" sz="2000" i="1" dirty="0"/>
              <a:t>listener</a:t>
            </a:r>
            <a:r>
              <a:rPr lang="en-US" sz="2000" dirty="0"/>
              <a:t>, </a:t>
            </a:r>
            <a:r>
              <a:rPr lang="en-US" sz="2000" i="1" dirty="0">
                <a:solidFill>
                  <a:srgbClr val="0000FF"/>
                </a:solidFill>
              </a:rPr>
              <a:t>options</a:t>
            </a:r>
            <a:r>
              <a:rPr lang="en-US" sz="2000" dirty="0"/>
              <a:t>);</a:t>
            </a:r>
            <a:endParaRPr lang="en-US" altLang="ko-KR" sz="2000" dirty="0"/>
          </a:p>
        </p:txBody>
      </p:sp>
      <p:sp>
        <p:nvSpPr>
          <p:cNvPr id="20" name="직사각형 19"/>
          <p:cNvSpPr/>
          <p:nvPr/>
        </p:nvSpPr>
        <p:spPr>
          <a:xfrm>
            <a:off x="520217" y="1891281"/>
            <a:ext cx="5880583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element.addEventListener</a:t>
            </a:r>
            <a:r>
              <a:rPr 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('click', </a:t>
            </a:r>
            <a:r>
              <a:rPr 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doSomething</a:t>
            </a:r>
            <a:r>
              <a:rPr 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{</a:t>
            </a:r>
            <a:r>
              <a:rPr 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endParaRPr lang="en-US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capture</a:t>
            </a:r>
            <a:r>
              <a:rPr 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 false, </a:t>
            </a:r>
            <a:endParaRPr lang="en-US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once</a:t>
            </a:r>
            <a:r>
              <a:rPr 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 true, </a:t>
            </a:r>
            <a:endParaRPr lang="en-US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passive</a:t>
            </a:r>
            <a:r>
              <a:rPr 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 false </a:t>
            </a:r>
            <a:endParaRPr lang="en-US" dirty="0" smtClean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});</a:t>
            </a:r>
            <a:endParaRPr 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862760" y="4457392"/>
            <a:ext cx="5178552" cy="1477328"/>
          </a:xfrm>
          <a:prstGeom prst="rect">
            <a:avLst/>
          </a:prstGeom>
          <a:ln>
            <a:solidFill>
              <a:schemeClr val="accent3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document.addEventListener</a:t>
            </a:r>
            <a:r>
              <a:rPr lang="en-US" dirty="0"/>
              <a:t>('</a:t>
            </a:r>
            <a:r>
              <a:rPr lang="en-US" dirty="0" err="1"/>
              <a:t>touchmove</a:t>
            </a:r>
            <a:r>
              <a:rPr lang="en-US" dirty="0"/>
              <a:t>', (e) =&gt; {</a:t>
            </a:r>
          </a:p>
          <a:p>
            <a:r>
              <a:rPr lang="en-US" dirty="0" smtClean="0"/>
              <a:t>// </a:t>
            </a:r>
            <a:r>
              <a:rPr lang="en-US" dirty="0"/>
              <a:t>Do something...</a:t>
            </a:r>
          </a:p>
          <a:p>
            <a:r>
              <a:rPr lang="en-US" dirty="0"/>
              <a:t>},</a:t>
            </a:r>
          </a:p>
          <a:p>
            <a:r>
              <a:rPr lang="en-US" dirty="0"/>
              <a:t>  { passive: true }</a:t>
            </a:r>
          </a:p>
          <a:p>
            <a:r>
              <a:rPr lang="en-US" dirty="0"/>
              <a:t>);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8483464" y="5934720"/>
            <a:ext cx="3684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e.preventDefault</a:t>
            </a:r>
            <a:r>
              <a:rPr lang="en-US" dirty="0" smtClean="0"/>
              <a:t>()</a:t>
            </a:r>
            <a:r>
              <a:rPr lang="ko-KR" altLang="en-US" dirty="0" smtClean="0"/>
              <a:t>는 사용할 수 없음</a:t>
            </a:r>
            <a:endParaRPr lang="en-US" dirty="0"/>
          </a:p>
        </p:txBody>
      </p:sp>
      <p:pic>
        <p:nvPicPr>
          <p:cNvPr id="2051" name="Picture 3" descr="이미지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51"/>
          <a:stretch/>
        </p:blipFill>
        <p:spPr bwMode="auto">
          <a:xfrm>
            <a:off x="6856393" y="2550510"/>
            <a:ext cx="5191285" cy="62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타원 11"/>
          <p:cNvSpPr/>
          <p:nvPr/>
        </p:nvSpPr>
        <p:spPr>
          <a:xfrm>
            <a:off x="9838944" y="1460651"/>
            <a:ext cx="1737359" cy="52070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composite</a:t>
            </a:r>
            <a:endParaRPr lang="en-US" dirty="0"/>
          </a:p>
        </p:txBody>
      </p:sp>
      <p:sp>
        <p:nvSpPr>
          <p:cNvPr id="23" name="타원 22"/>
          <p:cNvSpPr/>
          <p:nvPr/>
        </p:nvSpPr>
        <p:spPr>
          <a:xfrm>
            <a:off x="8000021" y="1249979"/>
            <a:ext cx="966885" cy="84399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main</a:t>
            </a:r>
            <a:endParaRPr 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9613003" y="584644"/>
            <a:ext cx="71295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smtClean="0"/>
              <a:t>event</a:t>
            </a:r>
            <a:endParaRPr lang="en-US" dirty="0"/>
          </a:p>
        </p:txBody>
      </p:sp>
      <p:cxnSp>
        <p:nvCxnSpPr>
          <p:cNvPr id="25" name="구부러진 연결선 24"/>
          <p:cNvCxnSpPr>
            <a:endCxn id="12" idx="0"/>
          </p:cNvCxnSpPr>
          <p:nvPr/>
        </p:nvCxnSpPr>
        <p:spPr>
          <a:xfrm rot="16200000" flipH="1">
            <a:off x="10165164" y="918190"/>
            <a:ext cx="703251" cy="38166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구부러진 연결선 26"/>
          <p:cNvCxnSpPr>
            <a:stCxn id="12" idx="4"/>
            <a:endCxn id="23" idx="4"/>
          </p:cNvCxnSpPr>
          <p:nvPr/>
        </p:nvCxnSpPr>
        <p:spPr>
          <a:xfrm rot="5400000">
            <a:off x="9539235" y="925586"/>
            <a:ext cx="112619" cy="2224160"/>
          </a:xfrm>
          <a:prstGeom prst="curvedConnector3">
            <a:avLst>
              <a:gd name="adj1" fmla="val 30298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9146799" y="1853000"/>
            <a:ext cx="71295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smtClean="0"/>
              <a:t>event</a:t>
            </a:r>
            <a:endParaRPr lang="en-US" dirty="0"/>
          </a:p>
        </p:txBody>
      </p:sp>
      <p:sp>
        <p:nvSpPr>
          <p:cNvPr id="29" name="타원 28"/>
          <p:cNvSpPr/>
          <p:nvPr/>
        </p:nvSpPr>
        <p:spPr>
          <a:xfrm>
            <a:off x="10476830" y="725794"/>
            <a:ext cx="283464" cy="2850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2" name="타원 31"/>
          <p:cNvSpPr/>
          <p:nvPr/>
        </p:nvSpPr>
        <p:spPr>
          <a:xfrm>
            <a:off x="10424159" y="2194938"/>
            <a:ext cx="283464" cy="2850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1" name="오른쪽 중괄호 30"/>
          <p:cNvSpPr/>
          <p:nvPr/>
        </p:nvSpPr>
        <p:spPr>
          <a:xfrm rot="5400000">
            <a:off x="8740041" y="2074285"/>
            <a:ext cx="356476" cy="255455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직사각형 33"/>
          <p:cNvSpPr/>
          <p:nvPr/>
        </p:nvSpPr>
        <p:spPr>
          <a:xfrm>
            <a:off x="8283125" y="3584903"/>
            <a:ext cx="1168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main </a:t>
            </a:r>
            <a:r>
              <a:rPr lang="ko-KR" altLang="en-US" dirty="0" smtClean="0"/>
              <a:t>담당</a:t>
            </a:r>
            <a:endParaRPr 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10609357" y="3183943"/>
            <a:ext cx="1464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 smtClean="0"/>
              <a:t>composite</a:t>
            </a:r>
            <a:r>
              <a:rPr lang="ko-KR" altLang="en-US" sz="1600" dirty="0" smtClean="0"/>
              <a:t>담당</a:t>
            </a:r>
            <a:endParaRPr lang="en-US" sz="1600" dirty="0" smtClean="0"/>
          </a:p>
          <a:p>
            <a:pPr algn="ctr"/>
            <a:r>
              <a:rPr lang="en-US" altLang="ko-KR" sz="1600" dirty="0" smtClean="0"/>
              <a:t>(</a:t>
            </a:r>
            <a:r>
              <a:rPr lang="ko-KR" altLang="en-US" sz="1600" dirty="0" smtClean="0"/>
              <a:t>화면 그리기</a:t>
            </a:r>
            <a:r>
              <a:rPr lang="en-US" altLang="ko-KR" sz="1600" dirty="0" smtClean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7894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이벤트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dirty="0"/>
              <a:t>자바스크립트 코드의 위치</a:t>
            </a:r>
            <a:endParaRPr lang="en-US" dirty="0"/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안에</a:t>
            </a:r>
            <a:endParaRPr lang="en-US" altLang="ko-KR" dirty="0"/>
          </a:p>
          <a:p>
            <a:pPr lvl="2"/>
            <a:r>
              <a:rPr lang="en-US" altLang="ko-KR" dirty="0"/>
              <a:t>script</a:t>
            </a:r>
            <a:r>
              <a:rPr lang="ko-KR" altLang="en-US" dirty="0"/>
              <a:t>태그 안에 자바스크립트 작성</a:t>
            </a:r>
            <a:endParaRPr lang="en-US" altLang="ko-KR" dirty="0"/>
          </a:p>
          <a:p>
            <a:pPr lvl="2"/>
            <a:r>
              <a:rPr lang="en-US" altLang="ko-KR" dirty="0" smtClean="0"/>
              <a:t>script</a:t>
            </a:r>
            <a:r>
              <a:rPr lang="ko-KR" altLang="en-US" dirty="0" smtClean="0"/>
              <a:t>태그의 위치 </a:t>
            </a:r>
            <a:endParaRPr lang="en-US" altLang="ko-KR" dirty="0"/>
          </a:p>
          <a:p>
            <a:pPr lvl="3"/>
            <a:r>
              <a:rPr lang="en-US" altLang="ko-KR" dirty="0">
                <a:ea typeface="Arial Unicode MS"/>
              </a:rPr>
              <a:t>body</a:t>
            </a:r>
            <a:r>
              <a:rPr lang="ko-KR" altLang="en-US" dirty="0">
                <a:ea typeface="Arial Unicode MS"/>
              </a:rPr>
              <a:t>에 위치할 것인가</a:t>
            </a:r>
            <a:r>
              <a:rPr lang="en-US" altLang="ko-KR" dirty="0">
                <a:ea typeface="Arial Unicode MS"/>
              </a:rPr>
              <a:t>: html</a:t>
            </a:r>
            <a:r>
              <a:rPr lang="ko-KR" altLang="en-US" dirty="0">
                <a:ea typeface="Arial Unicode MS"/>
              </a:rPr>
              <a:t>요소가 나오는 </a:t>
            </a:r>
            <a:r>
              <a:rPr lang="en-US" altLang="ko-KR" dirty="0">
                <a:ea typeface="Arial Unicode MS"/>
              </a:rPr>
              <a:t>body </a:t>
            </a:r>
            <a:r>
              <a:rPr lang="ko-KR" altLang="en-US" dirty="0">
                <a:ea typeface="Arial Unicode MS"/>
              </a:rPr>
              <a:t>끝에</a:t>
            </a:r>
            <a:endParaRPr lang="en-US" altLang="ko-KR" dirty="0">
              <a:ea typeface="Arial Unicode MS"/>
            </a:endParaRPr>
          </a:p>
          <a:p>
            <a:pPr lvl="3"/>
            <a:r>
              <a:rPr lang="en-US" altLang="ko-KR" dirty="0">
                <a:ea typeface="Arial Unicode MS"/>
              </a:rPr>
              <a:t>head</a:t>
            </a:r>
            <a:r>
              <a:rPr lang="ko-KR" altLang="en-US" dirty="0">
                <a:ea typeface="Arial Unicode MS"/>
              </a:rPr>
              <a:t>에 위치할 것인가</a:t>
            </a:r>
            <a:r>
              <a:rPr lang="en-US" altLang="ko-KR" dirty="0">
                <a:ea typeface="Arial Unicode MS"/>
              </a:rPr>
              <a:t>: </a:t>
            </a:r>
            <a:r>
              <a:rPr lang="en-US" altLang="ko-KR" dirty="0" err="1">
                <a:ea typeface="Arial Unicode MS"/>
              </a:rPr>
              <a:t>onload</a:t>
            </a:r>
            <a:r>
              <a:rPr lang="ko-KR" altLang="en-US" dirty="0">
                <a:ea typeface="Arial Unicode MS"/>
              </a:rPr>
              <a:t>사용 </a:t>
            </a:r>
            <a:endParaRPr lang="en-US" altLang="ko-KR" dirty="0">
              <a:ea typeface="Arial Unicode MS"/>
            </a:endParaRPr>
          </a:p>
          <a:p>
            <a:pPr lvl="1"/>
            <a:r>
              <a:rPr lang="ko-KR" altLang="en-US" dirty="0" err="1"/>
              <a:t>외부파일</a:t>
            </a:r>
            <a:endParaRPr lang="en-US" altLang="ko-KR" dirty="0"/>
          </a:p>
          <a:p>
            <a:pPr lvl="2"/>
            <a:r>
              <a:rPr lang="ko-KR" altLang="en-US" dirty="0"/>
              <a:t>자바스크립트 코드를 </a:t>
            </a:r>
            <a:r>
              <a:rPr lang="en-US" altLang="ko-KR" dirty="0"/>
              <a:t>.</a:t>
            </a:r>
            <a:r>
              <a:rPr lang="en-US" altLang="ko-KR" dirty="0" err="1"/>
              <a:t>js</a:t>
            </a:r>
            <a:r>
              <a:rPr lang="ko-KR" altLang="en-US" dirty="0"/>
              <a:t>파일 안에 넣기</a:t>
            </a:r>
            <a:endParaRPr lang="en-US" altLang="ko-KR" dirty="0"/>
          </a:p>
          <a:p>
            <a:pPr lvl="2"/>
            <a:r>
              <a:rPr lang="en-US" altLang="ko-KR" dirty="0"/>
              <a:t>.</a:t>
            </a:r>
            <a:r>
              <a:rPr lang="en-US" altLang="ko-KR" dirty="0" err="1"/>
              <a:t>js</a:t>
            </a:r>
            <a:r>
              <a:rPr lang="ko-KR" altLang="en-US" dirty="0"/>
              <a:t>파일 안에는 </a:t>
            </a:r>
            <a:r>
              <a:rPr lang="en-US" altLang="ko-KR" dirty="0"/>
              <a:t>script</a:t>
            </a:r>
            <a:r>
              <a:rPr lang="ko-KR" altLang="en-US" dirty="0"/>
              <a:t>태그를 사용할 필요 없음</a:t>
            </a:r>
            <a:r>
              <a:rPr lang="en-US" altLang="ko-KR" dirty="0"/>
              <a:t>(</a:t>
            </a:r>
            <a:r>
              <a:rPr lang="en-US" altLang="ko-KR" dirty="0" smtClean="0"/>
              <a:t>CSS</a:t>
            </a:r>
            <a:r>
              <a:rPr lang="ko-KR" altLang="en-US" dirty="0" smtClean="0"/>
              <a:t>파일을 따로 만들듯이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2"/>
            <a:r>
              <a:rPr lang="en-US" altLang="en-US" dirty="0">
                <a:latin typeface="Consolas" panose="020B0609020204030204" pitchFamily="49" charset="0"/>
              </a:rPr>
              <a:t>head</a:t>
            </a:r>
            <a:r>
              <a:rPr lang="ko-KR" altLang="en-US" dirty="0">
                <a:latin typeface="Consolas" panose="020B0609020204030204" pitchFamily="49" charset="0"/>
              </a:rPr>
              <a:t>안에 다음과 같이 </a:t>
            </a:r>
            <a:r>
              <a:rPr lang="en-US" altLang="ko-KR" dirty="0" err="1">
                <a:latin typeface="Consolas" panose="020B0609020204030204" pitchFamily="49" charset="0"/>
              </a:rPr>
              <a:t>src</a:t>
            </a:r>
            <a:r>
              <a:rPr lang="ko-KR" altLang="en-US" dirty="0">
                <a:latin typeface="Consolas" panose="020B0609020204030204" pitchFamily="49" charset="0"/>
              </a:rPr>
              <a:t>지정</a:t>
            </a:r>
            <a:endParaRPr lang="en-US" altLang="en-US" dirty="0">
              <a:latin typeface="Consolas" panose="020B0609020204030204" pitchFamily="49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16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1280694" y="5238336"/>
            <a:ext cx="7487202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>
                <a:latin typeface="Consolas" panose="020B0609020204030204" pitchFamily="49" charset="0"/>
                <a:ea typeface="inherit"/>
              </a:rPr>
              <a:t>&lt;script type="text/</a:t>
            </a:r>
            <a:r>
              <a:rPr lang="en-US" altLang="en-US" dirty="0" err="1">
                <a:latin typeface="Consolas" panose="020B0609020204030204" pitchFamily="49" charset="0"/>
                <a:ea typeface="inherit"/>
              </a:rPr>
              <a:t>javascript</a:t>
            </a:r>
            <a:r>
              <a:rPr lang="en-US" altLang="en-US" dirty="0">
                <a:latin typeface="Consolas" panose="020B0609020204030204" pitchFamily="49" charset="0"/>
                <a:ea typeface="inherit"/>
              </a:rPr>
              <a:t>"</a:t>
            </a:r>
            <a:r>
              <a:rPr lang="en-US" altLang="en-US" sz="600" dirty="0"/>
              <a:t> </a:t>
            </a:r>
            <a:r>
              <a:rPr lang="en-US" altLang="en-US" dirty="0" err="1">
                <a:latin typeface="Consolas" panose="020B0609020204030204" pitchFamily="49" charset="0"/>
                <a:ea typeface="inherit"/>
              </a:rPr>
              <a:t>src</a:t>
            </a:r>
            <a:r>
              <a:rPr lang="en-US" altLang="en-US" dirty="0">
                <a:latin typeface="Consolas" panose="020B0609020204030204" pitchFamily="49" charset="0"/>
                <a:ea typeface="inherit"/>
              </a:rPr>
              <a:t>=＂myscript.js"&gt;&lt;/script&gt;</a:t>
            </a:r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280694" y="6171684"/>
            <a:ext cx="9475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 smtClean="0"/>
              <a:t>Jquery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공부하다보면</a:t>
            </a:r>
            <a:r>
              <a:rPr lang="ko-KR" altLang="en-US" dirty="0" smtClean="0"/>
              <a:t> </a:t>
            </a:r>
            <a:r>
              <a:rPr lang="en-US" dirty="0" smtClean="0"/>
              <a:t>$(</a:t>
            </a:r>
            <a:r>
              <a:rPr lang="en-US" dirty="0"/>
              <a:t>document).ready() vs </a:t>
            </a:r>
            <a:r>
              <a:rPr lang="en-US" dirty="0" err="1" smtClean="0"/>
              <a:t>window.onload</a:t>
            </a:r>
            <a:r>
              <a:rPr lang="ko-KR" altLang="en-US" dirty="0" smtClean="0"/>
              <a:t>의</a:t>
            </a:r>
            <a:r>
              <a:rPr lang="en-US" dirty="0" smtClean="0"/>
              <a:t> </a:t>
            </a:r>
            <a:r>
              <a:rPr lang="ko-KR" altLang="en-US" dirty="0" smtClean="0"/>
              <a:t>차이 이해하는 것도 자주 등장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19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이벤트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17</a:t>
            </a:fld>
            <a:endParaRPr 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469140"/>
              </p:ext>
            </p:extLst>
          </p:nvPr>
        </p:nvGraphicFramePr>
        <p:xfrm>
          <a:off x="664344" y="690392"/>
          <a:ext cx="10729079" cy="5957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814">
                  <a:extLst>
                    <a:ext uri="{9D8B030D-6E8A-4147-A177-3AD203B41FA5}">
                      <a16:colId xmlns:a16="http://schemas.microsoft.com/office/drawing/2014/main" val="2636971576"/>
                    </a:ext>
                  </a:extLst>
                </a:gridCol>
                <a:gridCol w="2235225">
                  <a:extLst>
                    <a:ext uri="{9D8B030D-6E8A-4147-A177-3AD203B41FA5}">
                      <a16:colId xmlns:a16="http://schemas.microsoft.com/office/drawing/2014/main" val="1448523306"/>
                    </a:ext>
                  </a:extLst>
                </a:gridCol>
                <a:gridCol w="6348040">
                  <a:extLst>
                    <a:ext uri="{9D8B030D-6E8A-4147-A177-3AD203B41FA5}">
                      <a16:colId xmlns:a16="http://schemas.microsoft.com/office/drawing/2014/main" val="867389788"/>
                    </a:ext>
                  </a:extLst>
                </a:gridCol>
              </a:tblGrid>
              <a:tr h="356848"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종류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설명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101781"/>
                  </a:ext>
                </a:extLst>
              </a:tr>
              <a:tr h="356848">
                <a:tc rowSpan="5">
                  <a:txBody>
                    <a:bodyPr/>
                    <a:lstStyle/>
                    <a:p>
                      <a:r>
                        <a:rPr lang="ko-KR" altLang="en-US" sz="1600" dirty="0" smtClean="0"/>
                        <a:t>마우스 이벤트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onmouseover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지정한 요소에 커서가 올라 갔을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611677"/>
                  </a:ext>
                </a:extLst>
              </a:tr>
              <a:tr h="35684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onmouseout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지정한 요소에서 커서가 벗어 났을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953047"/>
                  </a:ext>
                </a:extLst>
              </a:tr>
              <a:tr h="35684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onmousemove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지정한 요소 영역에서 커서가 움직일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599014"/>
                  </a:ext>
                </a:extLst>
              </a:tr>
              <a:tr h="35684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onclick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지정한 요소를 클릭했을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485290"/>
                  </a:ext>
                </a:extLst>
              </a:tr>
              <a:tr h="35684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ondbclick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지정한 요소를 더블클릭 했을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26501"/>
                  </a:ext>
                </a:extLst>
              </a:tr>
              <a:tr h="608898">
                <a:tc rowSpan="3">
                  <a:txBody>
                    <a:bodyPr/>
                    <a:lstStyle/>
                    <a:p>
                      <a:r>
                        <a:rPr lang="ko-KR" altLang="en-US" sz="1600" dirty="0" smtClean="0"/>
                        <a:t>키보드</a:t>
                      </a:r>
                      <a:r>
                        <a:rPr lang="ko-KR" altLang="en-US" sz="1600" baseline="0" dirty="0" smtClean="0"/>
                        <a:t> 이벤트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onkeypress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지정한 요소에서 키보드가 눌렸을 때</a:t>
                      </a:r>
                      <a:r>
                        <a:rPr lang="en-US" altLang="ko-KR" sz="1600" dirty="0" smtClean="0"/>
                        <a:t>(SHIFT, ALT, CTRL, </a:t>
                      </a:r>
                      <a:r>
                        <a:rPr lang="ko-KR" altLang="en-US" sz="1600" dirty="0" smtClean="0"/>
                        <a:t>방향 키 등 기능 키는 제외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한글</a:t>
                      </a:r>
                      <a:r>
                        <a:rPr lang="en-US" altLang="ko-KR" sz="1600" dirty="0" smtClean="0"/>
                        <a:t>X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579532"/>
                  </a:ext>
                </a:extLst>
              </a:tr>
              <a:tr h="3525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onkeydown</a:t>
                      </a:r>
                      <a:r>
                        <a:rPr lang="en-US" sz="1600" dirty="0" smtClean="0"/>
                        <a:t>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모든 키를 눌렀을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374955"/>
                  </a:ext>
                </a:extLst>
              </a:tr>
              <a:tr h="35684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onkeyup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키보드를 눌렀다 떼었을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788225"/>
                  </a:ext>
                </a:extLst>
              </a:tr>
              <a:tr h="356848">
                <a:tc rowSpan="7">
                  <a:txBody>
                    <a:bodyPr/>
                    <a:lstStyle/>
                    <a:p>
                      <a:r>
                        <a:rPr lang="ko-KR" altLang="en-US" sz="1600" dirty="0" smtClean="0"/>
                        <a:t>기타 이벤트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onfucus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지정한 요소에 포커스가 갔을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548701"/>
                  </a:ext>
                </a:extLst>
              </a:tr>
              <a:tr h="3568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onblur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포커스가 왔다가 잃었을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328747"/>
                  </a:ext>
                </a:extLst>
              </a:tr>
              <a:tr h="3568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onload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지정한 요소의 하위 요소를 모두 </a:t>
                      </a:r>
                      <a:r>
                        <a:rPr lang="ko-KR" altLang="en-US" sz="1600" dirty="0" err="1" smtClean="0"/>
                        <a:t>로딩했을</a:t>
                      </a:r>
                      <a:r>
                        <a:rPr lang="ko-KR" altLang="en-US" sz="1600" dirty="0" smtClean="0"/>
                        <a:t>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365035"/>
                  </a:ext>
                </a:extLst>
              </a:tr>
              <a:tr h="35684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onunload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문서를 닫거나 다른 문서로 이동했을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32664"/>
                  </a:ext>
                </a:extLst>
              </a:tr>
              <a:tr h="3568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onsubmit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폼 요소에</a:t>
                      </a:r>
                      <a:r>
                        <a:rPr lang="ko-KR" altLang="en-US" sz="1600" baseline="0" dirty="0" smtClean="0"/>
                        <a:t> 전송 버튼을 눌렀을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541309"/>
                  </a:ext>
                </a:extLst>
              </a:tr>
              <a:tr h="35684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onreset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폼 요소에 취소 버튼을 눌렀을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862964"/>
                  </a:ext>
                </a:extLst>
              </a:tr>
              <a:tr h="35684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onresize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지정된 요소의 크기가 변경되었을 때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600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7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9702</TotalTime>
  <Words>1265</Words>
  <Application>Microsoft Office PowerPoint</Application>
  <PresentationFormat>와이드스크린</PresentationFormat>
  <Paragraphs>274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Arial Unicode MS</vt:lpstr>
      <vt:lpstr>inherit</vt:lpstr>
      <vt:lpstr>맑은 고딕</vt:lpstr>
      <vt:lpstr>Arial</vt:lpstr>
      <vt:lpstr>Calibri</vt:lpstr>
      <vt:lpstr>Calibri Light</vt:lpstr>
      <vt:lpstr>Consolas</vt:lpstr>
      <vt:lpstr>Wingdings</vt:lpstr>
      <vt:lpstr>Office 테마</vt:lpstr>
      <vt:lpstr>Event</vt:lpstr>
      <vt:lpstr>이벤트</vt:lpstr>
      <vt:lpstr>이벤트</vt:lpstr>
      <vt:lpstr>이벤트</vt:lpstr>
      <vt:lpstr>이벤트</vt:lpstr>
      <vt:lpstr>이벤트</vt:lpstr>
      <vt:lpstr>이벤트</vt:lpstr>
      <vt:lpstr>이벤트</vt:lpstr>
      <vt:lpstr>이벤트</vt:lpstr>
      <vt:lpstr>이벤트</vt:lpstr>
      <vt:lpstr>이벤트</vt:lpstr>
      <vt:lpstr>이벤트</vt:lpstr>
      <vt:lpstr>이벤트</vt:lpstr>
      <vt:lpstr>이벤트</vt:lpstr>
      <vt:lpstr>이벤트</vt:lpstr>
      <vt:lpstr>이벤트</vt:lpstr>
      <vt:lpstr>이벤트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3373</cp:revision>
  <dcterms:created xsi:type="dcterms:W3CDTF">2020-03-06T01:35:43Z</dcterms:created>
  <dcterms:modified xsi:type="dcterms:W3CDTF">2021-04-06T23:41:06Z</dcterms:modified>
  <cp:version>1000.0000.01</cp:version>
</cp:coreProperties>
</file>