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25"/>
  </p:notesMasterIdLst>
  <p:sldIdLst>
    <p:sldId id="357" r:id="rId2"/>
    <p:sldId id="346" r:id="rId3"/>
    <p:sldId id="360" r:id="rId4"/>
    <p:sldId id="361" r:id="rId5"/>
    <p:sldId id="358" r:id="rId6"/>
    <p:sldId id="362" r:id="rId7"/>
    <p:sldId id="363" r:id="rId8"/>
    <p:sldId id="375" r:id="rId9"/>
    <p:sldId id="365" r:id="rId10"/>
    <p:sldId id="367" r:id="rId11"/>
    <p:sldId id="368" r:id="rId12"/>
    <p:sldId id="370" r:id="rId13"/>
    <p:sldId id="371" r:id="rId14"/>
    <p:sldId id="369" r:id="rId15"/>
    <p:sldId id="377" r:id="rId16"/>
    <p:sldId id="378" r:id="rId17"/>
    <p:sldId id="376" r:id="rId18"/>
    <p:sldId id="372" r:id="rId19"/>
    <p:sldId id="379" r:id="rId20"/>
    <p:sldId id="380" r:id="rId21"/>
    <p:sldId id="381" r:id="rId22"/>
    <p:sldId id="382" r:id="rId23"/>
    <p:sldId id="3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4C8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7" autoAdjust="0"/>
    <p:restoredTop sz="94660"/>
  </p:normalViewPr>
  <p:slideViewPr>
    <p:cSldViewPr snapToGrid="0">
      <p:cViewPr>
        <p:scale>
          <a:sx n="100" d="100"/>
          <a:sy n="100" d="100"/>
        </p:scale>
        <p:origin x="138" y="42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5/16/2020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5/16/2020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5/16/2020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5/16/2020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5/16/2020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5/16/2020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5/16/2020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5/16/2020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5/16/2020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5/16/2020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5/16/2020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5/16/2020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5/16/2020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400" dirty="0" smtClean="0"/>
              <a:t>데이터 공유하기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Servlet </a:t>
            </a:r>
            <a:r>
              <a:rPr lang="ko-KR" altLang="en-US" sz="2800" dirty="0"/>
              <a:t>이해하기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컴포넌트의 협력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>
              <a:spcAft>
                <a:spcPts val="300"/>
              </a:spcAft>
            </a:pPr>
            <a:r>
              <a:rPr lang="ko-KR" altLang="en-US" sz="1900" dirty="0"/>
              <a:t>서버는 하나의 컴포넌트에서 모든 것을 처리하는 것이 아닌 여러 </a:t>
            </a:r>
            <a:r>
              <a:rPr lang="en-US" altLang="ko-KR" sz="1900" dirty="0"/>
              <a:t>JSP/Servlet/HTML</a:t>
            </a:r>
            <a:r>
              <a:rPr lang="ko-KR" altLang="en-US" sz="1900" dirty="0"/>
              <a:t> 컴포넌트들이 협력해야 함</a:t>
            </a:r>
            <a:endParaRPr lang="en-US" altLang="ko-KR" sz="1900" dirty="0"/>
          </a:p>
          <a:p>
            <a:pPr lvl="1">
              <a:spcAft>
                <a:spcPts val="300"/>
              </a:spcAft>
            </a:pPr>
            <a:r>
              <a:rPr lang="ko-KR" altLang="en-US" sz="1900" dirty="0"/>
              <a:t>각자의 컴포넌트는 자신의 업무를 다른 </a:t>
            </a:r>
            <a:r>
              <a:rPr lang="ko-KR" altLang="en-US" sz="1900" dirty="0" err="1"/>
              <a:t>컴포넌트에게</a:t>
            </a:r>
            <a:r>
              <a:rPr lang="ko-KR" altLang="en-US" sz="1900" dirty="0"/>
              <a:t> 위임하거나 협력을 요청해야 하며</a:t>
            </a:r>
            <a:r>
              <a:rPr lang="en-US" altLang="ko-KR" sz="1900" dirty="0"/>
              <a:t>, </a:t>
            </a:r>
            <a:r>
              <a:rPr lang="ko-KR" altLang="en-US" sz="1900" dirty="0"/>
              <a:t>따라서 컴포넌트 간 데이터를 공유해야 함</a:t>
            </a:r>
            <a:endParaRPr lang="en-US" altLang="ko-KR" sz="1900" dirty="0"/>
          </a:p>
          <a:p>
            <a:pPr lvl="1"/>
            <a:endParaRPr lang="en-US" altLang="ko-KR" sz="18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r>
              <a:rPr lang="ko-KR" altLang="en-US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endParaRPr lang="ko-KR" altLang="en-US" sz="18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2066925" y="3543371"/>
            <a:ext cx="1921369" cy="6370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[servlet1]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13</a:t>
            </a:r>
            <a:r>
              <a:rPr lang="ko-KR" altLang="en-US" dirty="0" smtClean="0">
                <a:solidFill>
                  <a:schemeClr val="tx1"/>
                </a:solidFill>
              </a:rPr>
              <a:t>번 </a:t>
            </a:r>
            <a:r>
              <a:rPr lang="ko-KR" altLang="en-US" dirty="0" err="1" smtClean="0">
                <a:solidFill>
                  <a:schemeClr val="tx1"/>
                </a:solidFill>
              </a:rPr>
              <a:t>게시글</a:t>
            </a:r>
            <a:r>
              <a:rPr lang="ko-KR" altLang="en-US" dirty="0" smtClean="0">
                <a:solidFill>
                  <a:schemeClr val="tx1"/>
                </a:solidFill>
              </a:rPr>
              <a:t> 요청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143625" y="3543371"/>
            <a:ext cx="2001033" cy="6370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[servlet2]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게시글</a:t>
            </a:r>
            <a:r>
              <a:rPr lang="ko-KR" altLang="en-US" dirty="0" smtClean="0">
                <a:solidFill>
                  <a:schemeClr val="tx1"/>
                </a:solidFill>
              </a:rPr>
              <a:t> 가져오기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841269" y="3333750"/>
            <a:ext cx="7124007" cy="18288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191000" y="4382206"/>
            <a:ext cx="1875476" cy="63703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[JSP]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게시판 페이지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/>
          <p:cNvCxnSpPr>
            <a:stCxn id="11" idx="3"/>
            <a:endCxn id="48" idx="1"/>
          </p:cNvCxnSpPr>
          <p:nvPr/>
        </p:nvCxnSpPr>
        <p:spPr>
          <a:xfrm>
            <a:off x="3988294" y="3861890"/>
            <a:ext cx="21553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1007955" y="3861890"/>
            <a:ext cx="1049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48" idx="2"/>
            <a:endCxn id="8" idx="3"/>
          </p:cNvCxnSpPr>
          <p:nvPr/>
        </p:nvCxnSpPr>
        <p:spPr>
          <a:xfrm flipH="1">
            <a:off x="6066476" y="4180409"/>
            <a:ext cx="1077666" cy="520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원통 14"/>
          <p:cNvSpPr/>
          <p:nvPr/>
        </p:nvSpPr>
        <p:spPr>
          <a:xfrm>
            <a:off x="9550933" y="3543371"/>
            <a:ext cx="1388225" cy="628239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DB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endCxn id="15" idx="2"/>
          </p:cNvCxnSpPr>
          <p:nvPr/>
        </p:nvCxnSpPr>
        <p:spPr>
          <a:xfrm>
            <a:off x="8144658" y="3857490"/>
            <a:ext cx="1406275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841269" y="5494558"/>
            <a:ext cx="7124007" cy="72864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1434608" y="2992162"/>
            <a:ext cx="9919192" cy="336418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9239310" y="2623728"/>
            <a:ext cx="211449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Application(Context)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8005846" y="4794656"/>
            <a:ext cx="95943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service1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005846" y="5845410"/>
            <a:ext cx="95943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service2</a:t>
            </a:r>
            <a:endParaRPr lang="en-US" dirty="0"/>
          </a:p>
        </p:txBody>
      </p:sp>
      <p:cxnSp>
        <p:nvCxnSpPr>
          <p:cNvPr id="30" name="직선 화살표 연결선 29"/>
          <p:cNvCxnSpPr>
            <a:stCxn id="8" idx="1"/>
          </p:cNvCxnSpPr>
          <p:nvPr/>
        </p:nvCxnSpPr>
        <p:spPr>
          <a:xfrm flipH="1">
            <a:off x="1005681" y="4700725"/>
            <a:ext cx="3185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그룹 34"/>
          <p:cNvGrpSpPr/>
          <p:nvPr/>
        </p:nvGrpSpPr>
        <p:grpSpPr>
          <a:xfrm>
            <a:off x="381489" y="3729175"/>
            <a:ext cx="419100" cy="971550"/>
            <a:chOff x="285750" y="3619500"/>
            <a:chExt cx="419100" cy="971550"/>
          </a:xfrm>
        </p:grpSpPr>
        <p:sp>
          <p:nvSpPr>
            <p:cNvPr id="33" name="타원 32"/>
            <p:cNvSpPr/>
            <p:nvPr/>
          </p:nvSpPr>
          <p:spPr>
            <a:xfrm>
              <a:off x="285750" y="3619500"/>
              <a:ext cx="419100" cy="37147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이등변 삼각형 33"/>
            <p:cNvSpPr/>
            <p:nvPr/>
          </p:nvSpPr>
          <p:spPr>
            <a:xfrm>
              <a:off x="291467" y="3990975"/>
              <a:ext cx="395907" cy="600075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4890811" y="3440533"/>
            <a:ext cx="4187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6661059" y="4359969"/>
            <a:ext cx="13917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err="1" smtClean="0"/>
              <a:t>게시글</a:t>
            </a:r>
            <a:r>
              <a:rPr lang="ko-KR" altLang="en-US" dirty="0" smtClean="0"/>
              <a:t> 정보</a:t>
            </a:r>
            <a:endParaRPr lang="en-US" dirty="0"/>
          </a:p>
        </p:txBody>
      </p:sp>
      <p:sp>
        <p:nvSpPr>
          <p:cNvPr id="38" name="위쪽/아래쪽 화살표 37"/>
          <p:cNvSpPr/>
          <p:nvPr/>
        </p:nvSpPr>
        <p:spPr>
          <a:xfrm>
            <a:off x="5056628" y="5101228"/>
            <a:ext cx="304800" cy="457200"/>
          </a:xfrm>
          <a:prstGeom prst="up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6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데이터 저장 범위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b="1" dirty="0" smtClean="0">
                <a:solidFill>
                  <a:prstClr val="black"/>
                </a:solidFill>
              </a:rPr>
              <a:t>변수의</a:t>
            </a:r>
            <a:r>
              <a:rPr lang="en-US" altLang="ko-KR" sz="1800" b="1" dirty="0" smtClean="0">
                <a:solidFill>
                  <a:prstClr val="black"/>
                </a:solidFill>
              </a:rPr>
              <a:t> </a:t>
            </a:r>
            <a:r>
              <a:rPr lang="ko-KR" altLang="en-US" sz="1800" b="1" dirty="0" smtClean="0">
                <a:solidFill>
                  <a:prstClr val="black"/>
                </a:solidFill>
              </a:rPr>
              <a:t>유효 범위</a:t>
            </a:r>
            <a:r>
              <a:rPr lang="en-US" altLang="ko-KR" sz="1800" b="1" dirty="0" smtClean="0">
                <a:solidFill>
                  <a:prstClr val="black"/>
                </a:solidFill>
              </a:rPr>
              <a:t>(scope)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r>
              <a:rPr lang="ko-KR" altLang="en-US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endParaRPr lang="ko-KR" altLang="en-US" sz="18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168601" y="1885931"/>
            <a:ext cx="5584499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extern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extern_num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global_num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5;</a:t>
            </a:r>
            <a:endParaRPr lang="en-US" dirty="0"/>
          </a:p>
          <a:p>
            <a:endParaRPr lang="en-US" dirty="0" smtClean="0">
              <a:solidFill>
                <a:srgbClr val="0000FF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local_print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(){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local_num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5;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printf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local_num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%d\n"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local_num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_</a:t>
            </a:r>
            <a:r>
              <a:rPr lang="en-US" dirty="0" err="1">
                <a:solidFill>
                  <a:srgbClr val="6F008A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tmain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argc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_TCHAR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*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argv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[])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printNumber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printf(</a:t>
            </a:r>
            <a:r>
              <a:rPr lang="pt-BR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"global_num: %d\n"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extern_num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+</a:t>
            </a:r>
            <a:r>
              <a:rPr lang="pt-BR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1);</a:t>
            </a:r>
            <a:endParaRPr lang="pt-BR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local_print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0;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61901" y="1885931"/>
            <a:ext cx="581746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extern_num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10;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printNumber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(){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printf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extern_num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%d\n"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extern_num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3126" y="5913315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main.c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185314" y="3363259"/>
            <a:ext cx="791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print.c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835571" y="4147861"/>
            <a:ext cx="576965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/>
              <a:t>local_num</a:t>
            </a:r>
            <a:r>
              <a:rPr lang="en-US" sz="1600" dirty="0" smtClean="0"/>
              <a:t>: </a:t>
            </a:r>
            <a:r>
              <a:rPr lang="en-US" sz="1600" dirty="0" err="1" smtClean="0"/>
              <a:t>local_print</a:t>
            </a:r>
            <a:r>
              <a:rPr lang="ko-KR" altLang="en-US" sz="1600" dirty="0" smtClean="0"/>
              <a:t>함수에서만 접근 가능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/>
              <a:t>global_num</a:t>
            </a:r>
            <a:r>
              <a:rPr lang="en-US" sz="1600" dirty="0" smtClean="0"/>
              <a:t>: </a:t>
            </a:r>
            <a:r>
              <a:rPr lang="ko-KR" altLang="en-US" sz="1600" dirty="0" smtClean="0"/>
              <a:t>현재 파일에서만 접근 가능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/>
              <a:t>extern_num</a:t>
            </a:r>
            <a:r>
              <a:rPr lang="en-US" sz="1600" dirty="0" smtClean="0"/>
              <a:t>: </a:t>
            </a:r>
            <a:r>
              <a:rPr lang="ko-KR" altLang="en-US" sz="1600" dirty="0" smtClean="0"/>
              <a:t>현재 프로젝트에 속한 모든 파일에서 접근 가능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2186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범위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(scope),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생명주기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웹 애플리케이션에는 </a:t>
            </a:r>
            <a:r>
              <a:rPr lang="en-US" altLang="ko-KR" dirty="0"/>
              <a:t>4</a:t>
            </a:r>
            <a:r>
              <a:rPr lang="ko-KR" altLang="en-US" dirty="0"/>
              <a:t>개의 객체 범위가 </a:t>
            </a:r>
            <a:r>
              <a:rPr lang="ko-KR" altLang="en-US" dirty="0" smtClean="0"/>
              <a:t>존재</a:t>
            </a:r>
            <a:endParaRPr lang="en-US" altLang="ko-KR" sz="1800" b="1" dirty="0" smtClean="0">
              <a:solidFill>
                <a:srgbClr val="0000FF"/>
              </a:solidFill>
            </a:endParaRPr>
          </a:p>
          <a:p>
            <a:pPr lvl="1"/>
            <a:r>
              <a:rPr lang="en-US" altLang="ko-KR" sz="1800" b="1" dirty="0" smtClean="0">
                <a:solidFill>
                  <a:srgbClr val="0000FF"/>
                </a:solidFill>
              </a:rPr>
              <a:t>page</a:t>
            </a:r>
            <a:r>
              <a:rPr lang="en-US" altLang="ko-KR" sz="1800" b="1" dirty="0" smtClean="0">
                <a:solidFill>
                  <a:prstClr val="black"/>
                </a:solidFill>
              </a:rPr>
              <a:t> </a:t>
            </a:r>
            <a:r>
              <a:rPr lang="en-US" altLang="ko-KR" sz="1800" b="1" dirty="0">
                <a:solidFill>
                  <a:prstClr val="black"/>
                </a:solidFill>
              </a:rPr>
              <a:t>&lt; </a:t>
            </a:r>
            <a:r>
              <a:rPr lang="en-US" altLang="ko-KR" sz="1800" b="1" dirty="0" smtClean="0">
                <a:solidFill>
                  <a:srgbClr val="00B0F0"/>
                </a:solidFill>
              </a:rPr>
              <a:t>request</a:t>
            </a:r>
            <a:r>
              <a:rPr lang="en-US" altLang="ko-KR" sz="1800" b="1" dirty="0" smtClean="0">
                <a:solidFill>
                  <a:prstClr val="black"/>
                </a:solidFill>
              </a:rPr>
              <a:t> &lt; </a:t>
            </a:r>
            <a:r>
              <a:rPr lang="en-US" sz="1800" dirty="0" smtClean="0">
                <a:solidFill>
                  <a:srgbClr val="FF0000"/>
                </a:solidFill>
              </a:rPr>
              <a:t>session</a:t>
            </a:r>
            <a:r>
              <a:rPr lang="en-US" sz="1800" dirty="0" smtClean="0"/>
              <a:t> &lt; </a:t>
            </a:r>
            <a:r>
              <a:rPr lang="en-US" altLang="ko-KR" sz="1800" dirty="0">
                <a:solidFill>
                  <a:srgbClr val="00B050"/>
                </a:solidFill>
              </a:rPr>
              <a:t>application</a:t>
            </a:r>
            <a:endParaRPr lang="en-US" altLang="ko-KR" sz="18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r>
              <a:rPr lang="ko-KR" altLang="en-US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endParaRPr lang="ko-KR" altLang="en-US" sz="18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1464504" y="3175331"/>
            <a:ext cx="1517804" cy="66373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크롬</a:t>
            </a:r>
            <a:endParaRPr lang="en-US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1878851" y="4733504"/>
            <a:ext cx="1517804" cy="66373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인터넷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익스플로어</a:t>
            </a:r>
            <a:endParaRPr lang="en-US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6044848" y="2435350"/>
            <a:ext cx="5156552" cy="4247874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553201" y="2075310"/>
            <a:ext cx="3179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웹</a:t>
            </a:r>
            <a:r>
              <a:rPr lang="en-US" altLang="ko-KR" dirty="0"/>
              <a:t> </a:t>
            </a:r>
            <a:r>
              <a:rPr lang="ko-KR" altLang="en-US" dirty="0" smtClean="0"/>
              <a:t>어플리케이션</a:t>
            </a:r>
            <a:r>
              <a:rPr lang="en-US" altLang="ko-KR" dirty="0" smtClean="0"/>
              <a:t>(</a:t>
            </a:r>
            <a:r>
              <a:rPr lang="en-US" altLang="ko-KR" dirty="0" smtClean="0">
                <a:solidFill>
                  <a:srgbClr val="00B050"/>
                </a:solidFill>
              </a:rPr>
              <a:t>application</a:t>
            </a:r>
            <a:r>
              <a:rPr lang="en-US" altLang="ko-KR" dirty="0" smtClean="0"/>
              <a:t>)</a:t>
            </a:r>
            <a:endParaRPr lang="en-US" dirty="0"/>
          </a:p>
        </p:txBody>
      </p:sp>
      <p:sp>
        <p:nvSpPr>
          <p:cNvPr id="57" name="직사각형 56"/>
          <p:cNvSpPr/>
          <p:nvPr/>
        </p:nvSpPr>
        <p:spPr>
          <a:xfrm>
            <a:off x="5371237" y="3592921"/>
            <a:ext cx="5392013" cy="9139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9114404" y="3715735"/>
            <a:ext cx="1517804" cy="5973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JSP </a:t>
            </a:r>
            <a:r>
              <a:rPr lang="ko-KR" altLang="en-US" dirty="0" smtClean="0"/>
              <a:t>페이지</a:t>
            </a:r>
            <a:endParaRPr lang="en-US" altLang="ko-KR" dirty="0" smtClean="0"/>
          </a:p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pageContext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5371237" y="2545128"/>
            <a:ext cx="5392013" cy="9139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63" name="직선 화살표 연결선 62"/>
          <p:cNvCxnSpPr/>
          <p:nvPr/>
        </p:nvCxnSpPr>
        <p:spPr>
          <a:xfrm flipV="1">
            <a:off x="3077369" y="2809875"/>
            <a:ext cx="5009356" cy="19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flipH="1">
            <a:off x="3100249" y="3124550"/>
            <a:ext cx="4929396" cy="16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flipV="1">
            <a:off x="3057693" y="3788759"/>
            <a:ext cx="6061321" cy="19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/>
          <p:nvPr/>
        </p:nvCxnSpPr>
        <p:spPr>
          <a:xfrm flipH="1">
            <a:off x="3127068" y="4036759"/>
            <a:ext cx="5964570" cy="16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7158450" y="3686929"/>
            <a:ext cx="1517804" cy="5973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servlet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586973" y="2675047"/>
            <a:ext cx="1465867" cy="15512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session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8071539" y="2632324"/>
            <a:ext cx="1517804" cy="5973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JSP </a:t>
            </a:r>
            <a:r>
              <a:rPr lang="ko-KR" altLang="en-US" dirty="0" smtClean="0"/>
              <a:t>페이지</a:t>
            </a:r>
            <a:endParaRPr lang="en-US" altLang="ko-KR" dirty="0" smtClean="0"/>
          </a:p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pageContext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590121" y="4805512"/>
            <a:ext cx="1517804" cy="1592953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session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338937" y="4767680"/>
            <a:ext cx="5392013" cy="9139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86" name="직선 화살표 연결선 85"/>
          <p:cNvCxnSpPr/>
          <p:nvPr/>
        </p:nvCxnSpPr>
        <p:spPr>
          <a:xfrm flipV="1">
            <a:off x="3410973" y="4925839"/>
            <a:ext cx="4553960" cy="19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/>
          <p:nvPr/>
        </p:nvCxnSpPr>
        <p:spPr>
          <a:xfrm flipH="1">
            <a:off x="3430219" y="5240514"/>
            <a:ext cx="4481269" cy="16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7964933" y="4852143"/>
            <a:ext cx="1517804" cy="5973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JSP </a:t>
            </a:r>
            <a:r>
              <a:rPr lang="ko-KR" altLang="en-US" dirty="0" smtClean="0"/>
              <a:t>페이지</a:t>
            </a:r>
            <a:endParaRPr lang="en-US" altLang="ko-KR" dirty="0" smtClean="0"/>
          </a:p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pageContext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96784" y="3113556"/>
            <a:ext cx="1017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94C8"/>
                </a:solidFill>
              </a:rPr>
              <a:t>request1</a:t>
            </a:r>
            <a:endParaRPr lang="en-US" dirty="0">
              <a:solidFill>
                <a:srgbClr val="0094C8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18099" y="4120750"/>
            <a:ext cx="1017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94C8"/>
                </a:solidFill>
              </a:rPr>
              <a:t>request2</a:t>
            </a:r>
            <a:endParaRPr lang="en-US" dirty="0">
              <a:solidFill>
                <a:srgbClr val="0094C8"/>
              </a:solidFill>
            </a:endParaRPr>
          </a:p>
        </p:txBody>
      </p:sp>
      <p:cxnSp>
        <p:nvCxnSpPr>
          <p:cNvPr id="92" name="직선 화살표 연결선 91"/>
          <p:cNvCxnSpPr>
            <a:stCxn id="59" idx="0"/>
            <a:endCxn id="77" idx="2"/>
          </p:cNvCxnSpPr>
          <p:nvPr/>
        </p:nvCxnSpPr>
        <p:spPr>
          <a:xfrm flipH="1" flipV="1">
            <a:off x="8830441" y="3229681"/>
            <a:ext cx="1042865" cy="48605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219718" y="3268318"/>
            <a:ext cx="1005403" cy="33855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600" dirty="0" err="1" smtClean="0">
                <a:solidFill>
                  <a:schemeClr val="tx1"/>
                </a:solidFill>
              </a:rPr>
              <a:t>공유안됨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74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err="1">
                <a:solidFill>
                  <a:prstClr val="black"/>
                </a:solidFill>
              </a:rPr>
              <a:t>pageContext</a:t>
            </a:r>
            <a:r>
              <a:rPr lang="en-US" altLang="ko-KR" sz="2200" b="1" dirty="0">
                <a:solidFill>
                  <a:prstClr val="black"/>
                </a:solidFill>
              </a:rPr>
              <a:t>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범위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>
                <a:cs typeface="Times New Roman" pitchFamily="18" charset="0"/>
              </a:rPr>
              <a:t>하나의 </a:t>
            </a:r>
            <a:r>
              <a:rPr lang="en-US" altLang="ko-KR" sz="1800" dirty="0">
                <a:cs typeface="Times New Roman" pitchFamily="18" charset="0"/>
              </a:rPr>
              <a:t>JSP </a:t>
            </a:r>
            <a:r>
              <a:rPr lang="ko-KR" altLang="en-US" sz="1800" dirty="0">
                <a:cs typeface="Times New Roman" pitchFamily="18" charset="0"/>
              </a:rPr>
              <a:t>페이지에 대한 범위를 </a:t>
            </a:r>
            <a:r>
              <a:rPr lang="ko-KR" altLang="en-US" sz="1800" dirty="0" smtClean="0">
                <a:cs typeface="Times New Roman" pitchFamily="18" charset="0"/>
              </a:rPr>
              <a:t>가짐</a:t>
            </a:r>
            <a:r>
              <a:rPr lang="en-US" altLang="ko-KR" sz="1800" dirty="0" smtClean="0">
                <a:cs typeface="Times New Roman" pitchFamily="18" charset="0"/>
              </a:rPr>
              <a:t>(</a:t>
            </a:r>
            <a:r>
              <a:rPr lang="ko-KR" altLang="en-US" sz="1800" dirty="0" smtClean="0">
                <a:cs typeface="Times New Roman" pitchFamily="18" charset="0"/>
              </a:rPr>
              <a:t>즉</a:t>
            </a:r>
            <a:r>
              <a:rPr lang="en-US" altLang="ko-KR" sz="1800" dirty="0" smtClean="0">
                <a:cs typeface="Times New Roman" pitchFamily="18" charset="0"/>
              </a:rPr>
              <a:t>, JSP</a:t>
            </a:r>
            <a:r>
              <a:rPr lang="ko-KR" altLang="en-US" sz="1800" dirty="0" smtClean="0">
                <a:cs typeface="Times New Roman" pitchFamily="18" charset="0"/>
              </a:rPr>
              <a:t>만 접근할 수 있는 영역</a:t>
            </a:r>
            <a:r>
              <a:rPr lang="en-US" altLang="ko-KR" sz="1800" dirty="0" smtClean="0">
                <a:cs typeface="Times New Roman" pitchFamily="18" charset="0"/>
              </a:rPr>
              <a:t>)</a:t>
            </a:r>
          </a:p>
          <a:p>
            <a:pPr lvl="1"/>
            <a:r>
              <a:rPr lang="ko-KR" altLang="en-US" sz="1800" dirty="0">
                <a:cs typeface="Times New Roman" pitchFamily="18" charset="0"/>
              </a:rPr>
              <a:t>페이지 간 공유가 안됨</a:t>
            </a:r>
            <a:endParaRPr lang="en-US" altLang="ko-KR" sz="1800" dirty="0">
              <a:cs typeface="Times New Roman" pitchFamily="18" charset="0"/>
            </a:endParaRPr>
          </a:p>
          <a:p>
            <a:pPr lvl="1"/>
            <a:r>
              <a:rPr lang="ko-KR" altLang="en-US" sz="1800" dirty="0">
                <a:cs typeface="Times New Roman" pitchFamily="18" charset="0"/>
              </a:rPr>
              <a:t>페이지 간 공유가 필요할 경우</a:t>
            </a:r>
            <a:r>
              <a:rPr lang="en-US" altLang="ko-KR" sz="1800" dirty="0">
                <a:cs typeface="Times New Roman" pitchFamily="18" charset="0"/>
              </a:rPr>
              <a:t>, </a:t>
            </a:r>
            <a:r>
              <a:rPr lang="ko-KR" altLang="en-US" sz="1800" dirty="0">
                <a:cs typeface="Times New Roman" pitchFamily="18" charset="0"/>
              </a:rPr>
              <a:t>상위개념</a:t>
            </a:r>
            <a:r>
              <a:rPr lang="en-US" altLang="ko-KR" sz="1800" dirty="0">
                <a:cs typeface="Times New Roman" pitchFamily="18" charset="0"/>
              </a:rPr>
              <a:t>(</a:t>
            </a:r>
            <a:r>
              <a:rPr lang="ko-KR" altLang="en-US" sz="1800" dirty="0">
                <a:cs typeface="Times New Roman" pitchFamily="18" charset="0"/>
              </a:rPr>
              <a:t>더 오래 사는 혹은 범위가 더 넓은</a:t>
            </a:r>
            <a:r>
              <a:rPr lang="en-US" altLang="ko-KR" sz="1800" dirty="0">
                <a:cs typeface="Times New Roman" pitchFamily="18" charset="0"/>
              </a:rPr>
              <a:t>) request, session, application </a:t>
            </a:r>
            <a:r>
              <a:rPr lang="ko-KR" altLang="en-US" sz="1800" dirty="0">
                <a:cs typeface="Times New Roman" pitchFamily="18" charset="0"/>
              </a:rPr>
              <a:t>객체를 통해 </a:t>
            </a:r>
            <a:r>
              <a:rPr lang="ko-KR" altLang="en-US" sz="1800" dirty="0" smtClean="0">
                <a:cs typeface="Times New Roman" pitchFamily="18" charset="0"/>
              </a:rPr>
              <a:t>공유</a:t>
            </a:r>
            <a:endParaRPr lang="en-US" altLang="ko-KR" sz="1800" dirty="0" smtClean="0">
              <a:cs typeface="Times New Roman" pitchFamily="18" charset="0"/>
            </a:endParaRPr>
          </a:p>
          <a:p>
            <a:r>
              <a:rPr lang="en-US" altLang="ko-KR" sz="2200" b="1" dirty="0" smtClean="0">
                <a:solidFill>
                  <a:prstClr val="black"/>
                </a:solidFill>
              </a:rPr>
              <a:t>request </a:t>
            </a:r>
            <a:r>
              <a:rPr lang="ko-KR" altLang="en-US" sz="2200" b="1" dirty="0">
                <a:solidFill>
                  <a:prstClr val="black"/>
                </a:solidFill>
              </a:rPr>
              <a:t>범위</a:t>
            </a:r>
            <a:endParaRPr lang="en-US" altLang="ko-KR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dirty="0">
                <a:cs typeface="Times New Roman" pitchFamily="18" charset="0"/>
              </a:rPr>
              <a:t>웹 브라우저에서 요청한 하나의 트랜잭션에서 유효</a:t>
            </a:r>
            <a:endParaRPr lang="en-US" altLang="ko-KR" dirty="0">
              <a:cs typeface="Times New Roman" pitchFamily="18" charset="0"/>
            </a:endParaRPr>
          </a:p>
          <a:p>
            <a:pPr lvl="2"/>
            <a:r>
              <a:rPr lang="ko-KR" altLang="en-US" dirty="0">
                <a:cs typeface="Times New Roman" pitchFamily="18" charset="0"/>
              </a:rPr>
              <a:t>트랜잭션</a:t>
            </a:r>
            <a:r>
              <a:rPr lang="en-US" altLang="ko-KR" dirty="0">
                <a:cs typeface="Times New Roman" pitchFamily="18" charset="0"/>
              </a:rPr>
              <a:t>: </a:t>
            </a:r>
            <a:r>
              <a:rPr lang="ko-KR" altLang="en-US" dirty="0"/>
              <a:t>요청부터 </a:t>
            </a:r>
            <a:r>
              <a:rPr lang="ko-KR" altLang="en-US" dirty="0" err="1"/>
              <a:t>응답까지를</a:t>
            </a:r>
            <a:r>
              <a:rPr lang="ko-KR" altLang="en-US" dirty="0"/>
              <a:t> 하나의 </a:t>
            </a:r>
            <a:r>
              <a:rPr lang="en-US" altLang="ko-KR" i="1" dirty="0">
                <a:solidFill>
                  <a:srgbClr val="0000FF"/>
                </a:solidFill>
              </a:rPr>
              <a:t>HTTP </a:t>
            </a:r>
            <a:r>
              <a:rPr lang="ko-KR" altLang="en-US" i="1" dirty="0">
                <a:solidFill>
                  <a:srgbClr val="0000FF"/>
                </a:solidFill>
              </a:rPr>
              <a:t>트랜잭션</a:t>
            </a:r>
            <a:r>
              <a:rPr lang="ko-KR" altLang="en-US" dirty="0"/>
              <a:t> 이라고 </a:t>
            </a:r>
            <a:r>
              <a:rPr lang="ko-KR" altLang="en-US" dirty="0" smtClean="0"/>
              <a:t>부름</a:t>
            </a:r>
            <a:endParaRPr lang="en-US" altLang="ko-KR" dirty="0" smtClean="0"/>
          </a:p>
          <a:p>
            <a:pPr lvl="2"/>
            <a:r>
              <a:rPr lang="ko-KR" altLang="en-US" dirty="0" smtClean="0">
                <a:cs typeface="Times New Roman" pitchFamily="18" charset="0"/>
              </a:rPr>
              <a:t>하나의 요청을 응답하기 전까지 거치는 모든 컴포넌트가 사용 가능하며 응답이 완료되면 </a:t>
            </a:r>
            <a:r>
              <a:rPr lang="en-US" altLang="ko-KR" dirty="0" smtClean="0">
                <a:cs typeface="Times New Roman" pitchFamily="18" charset="0"/>
              </a:rPr>
              <a:t>request</a:t>
            </a:r>
            <a:r>
              <a:rPr lang="ko-KR" altLang="en-US" dirty="0" smtClean="0">
                <a:cs typeface="Times New Roman" pitchFamily="18" charset="0"/>
              </a:rPr>
              <a:t>범위는 사라짐</a:t>
            </a:r>
            <a:endParaRPr lang="en-US" altLang="ko-KR" dirty="0">
              <a:cs typeface="Times New Roman" pitchFamily="18" charset="0"/>
            </a:endParaRPr>
          </a:p>
          <a:p>
            <a:pPr lvl="1"/>
            <a:r>
              <a:rPr lang="ko-KR" altLang="en-US" dirty="0"/>
              <a:t>같은 브라우저에서 여러 번의 </a:t>
            </a:r>
            <a:r>
              <a:rPr lang="ko-KR" altLang="en-US" dirty="0" err="1"/>
              <a:t>새로고침을</a:t>
            </a:r>
            <a:r>
              <a:rPr lang="ko-KR" altLang="en-US" dirty="0"/>
              <a:t> 하는 경우라 할지라도 각각 다른 </a:t>
            </a:r>
            <a:r>
              <a:rPr lang="en-US" altLang="ko-KR" dirty="0"/>
              <a:t>request </a:t>
            </a:r>
            <a:r>
              <a:rPr lang="ko-KR" altLang="en-US" dirty="0"/>
              <a:t>객체를 생성</a:t>
            </a:r>
            <a:endParaRPr lang="en-US" altLang="ko-KR" sz="1800" dirty="0"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7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session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범위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>
                <a:cs typeface="Times New Roman" pitchFamily="18" charset="0"/>
              </a:rPr>
              <a:t>브라우저 당 생성되는 객체</a:t>
            </a:r>
            <a:endParaRPr lang="en-US" altLang="ko-KR" sz="1800" dirty="0">
              <a:cs typeface="Times New Roman" pitchFamily="18" charset="0"/>
            </a:endParaRPr>
          </a:p>
          <a:p>
            <a:pPr lvl="1"/>
            <a:r>
              <a:rPr lang="ko-KR" altLang="en-US" sz="1800" dirty="0">
                <a:cs typeface="Times New Roman" pitchFamily="18" charset="0"/>
              </a:rPr>
              <a:t>브라우저가 종료할 때까지 객체가 소멸되지 </a:t>
            </a:r>
            <a:r>
              <a:rPr lang="ko-KR" altLang="en-US" sz="1800" dirty="0" smtClean="0">
                <a:cs typeface="Times New Roman" pitchFamily="18" charset="0"/>
              </a:rPr>
              <a:t>않음</a:t>
            </a:r>
            <a:endParaRPr lang="en-US" altLang="ko-KR" sz="1800" dirty="0" smtClean="0">
              <a:cs typeface="Times New Roman" pitchFamily="18" charset="0"/>
            </a:endParaRPr>
          </a:p>
          <a:p>
            <a:pPr lvl="1"/>
            <a:r>
              <a:rPr lang="en-US" altLang="ko-KR" sz="1800" dirty="0" smtClean="0">
                <a:cs typeface="Times New Roman" pitchFamily="18" charset="0"/>
              </a:rPr>
              <a:t>Ex) </a:t>
            </a:r>
            <a:r>
              <a:rPr lang="ko-KR" altLang="en-US" sz="1800" dirty="0" smtClean="0">
                <a:cs typeface="Times New Roman" pitchFamily="18" charset="0"/>
              </a:rPr>
              <a:t>하나의 창에서 </a:t>
            </a:r>
            <a:r>
              <a:rPr lang="ko-KR" altLang="en-US" sz="1800" dirty="0" err="1" smtClean="0">
                <a:cs typeface="Times New Roman" pitchFamily="18" charset="0"/>
              </a:rPr>
              <a:t>로그인을</a:t>
            </a:r>
            <a:r>
              <a:rPr lang="ko-KR" altLang="en-US" sz="1800" dirty="0" smtClean="0">
                <a:cs typeface="Times New Roman" pitchFamily="18" charset="0"/>
              </a:rPr>
              <a:t> 하면 다른 탭을 열어도 여전히 로그인 상태 유지</a:t>
            </a:r>
            <a:endParaRPr lang="en-US" altLang="ko-KR" sz="1800" dirty="0">
              <a:cs typeface="Times New Roman" pitchFamily="18" charset="0"/>
            </a:endParaRPr>
          </a:p>
          <a:p>
            <a:r>
              <a:rPr lang="en-US" altLang="ko-KR" sz="2200" b="1" dirty="0" smtClean="0">
                <a:solidFill>
                  <a:prstClr val="black"/>
                </a:solidFill>
              </a:rPr>
              <a:t>application </a:t>
            </a:r>
            <a:r>
              <a:rPr lang="ko-KR" altLang="en-US" sz="2200" b="1" dirty="0">
                <a:solidFill>
                  <a:prstClr val="black"/>
                </a:solidFill>
              </a:rPr>
              <a:t>범위</a:t>
            </a:r>
            <a:endParaRPr lang="en-US" altLang="ko-KR" sz="2200" b="1" dirty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>
                <a:cs typeface="Times New Roman" pitchFamily="18" charset="0"/>
              </a:rPr>
              <a:t>웹</a:t>
            </a:r>
            <a:r>
              <a:rPr lang="en-US" altLang="ko-KR" sz="1800" dirty="0">
                <a:cs typeface="Times New Roman" pitchFamily="18" charset="0"/>
              </a:rPr>
              <a:t> </a:t>
            </a:r>
            <a:r>
              <a:rPr lang="ko-KR" altLang="en-US" sz="1800" dirty="0">
                <a:cs typeface="Times New Roman" pitchFamily="18" charset="0"/>
              </a:rPr>
              <a:t>어플리케이션마다 하나씩 생성</a:t>
            </a:r>
            <a:endParaRPr lang="en-US" altLang="ko-KR" sz="1800" dirty="0">
              <a:cs typeface="Times New Roman" pitchFamily="18" charset="0"/>
            </a:endParaRPr>
          </a:p>
          <a:p>
            <a:pPr lvl="1"/>
            <a:r>
              <a:rPr lang="ko-KR" altLang="en-US" sz="1800" dirty="0">
                <a:cs typeface="Times New Roman" pitchFamily="18" charset="0"/>
              </a:rPr>
              <a:t>웹 어플리케이션이 종료될 때 소멸</a:t>
            </a:r>
            <a:endParaRPr lang="en-US" altLang="ko-KR" sz="1800" dirty="0">
              <a:cs typeface="Times New Roman" pitchFamily="18" charset="0"/>
            </a:endParaRPr>
          </a:p>
          <a:p>
            <a:pPr lvl="1"/>
            <a:r>
              <a:rPr lang="ko-KR" altLang="en-US" sz="1800" dirty="0">
                <a:cs typeface="Times New Roman" pitchFamily="18" charset="0"/>
              </a:rPr>
              <a:t>하나의 웹 어플리케이션 안에서는 어디서든 공유</a:t>
            </a:r>
            <a:endParaRPr lang="en-US" altLang="ko-KR" sz="1800" dirty="0"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3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데이터 공유 예</a:t>
            </a:r>
            <a:endParaRPr lang="en-US" altLang="ko-KR" sz="1800" dirty="0"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1454721" y="3206663"/>
            <a:ext cx="1368152" cy="72008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브라우저</a:t>
            </a:r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984890" y="2346804"/>
            <a:ext cx="1460424" cy="2732067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session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"s" : 5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453425" y="2198551"/>
            <a:ext cx="4642256" cy="2736304"/>
          </a:xfrm>
          <a:prstGeom prst="roundRect">
            <a:avLst>
              <a:gd name="adj" fmla="val 589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7469649" y="2414575"/>
            <a:ext cx="2160240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Servlet/JSP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"a": 3 </a:t>
            </a:r>
            <a:r>
              <a:rPr lang="ko-KR" altLang="en-US" dirty="0" smtClean="0">
                <a:solidFill>
                  <a:schemeClr val="tx1"/>
                </a:solidFill>
              </a:rPr>
              <a:t>참조 가능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"s</a:t>
            </a:r>
            <a:r>
              <a:rPr lang="en-US" dirty="0">
                <a:solidFill>
                  <a:schemeClr val="tx1"/>
                </a:solidFill>
              </a:rPr>
              <a:t>"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참조 가능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485388" y="3710719"/>
            <a:ext cx="2143957" cy="10801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Servlet/JSP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"a": </a:t>
            </a:r>
            <a:r>
              <a:rPr lang="en-US" altLang="ko-KR" dirty="0"/>
              <a:t>3 </a:t>
            </a:r>
            <a:r>
              <a:rPr lang="ko-KR" altLang="en-US" dirty="0" smtClean="0"/>
              <a:t>참조 불가능</a:t>
            </a:r>
            <a:endParaRPr lang="en-US" altLang="ko-KR" dirty="0" smtClean="0"/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"s" </a:t>
            </a:r>
            <a:r>
              <a:rPr lang="en-US" dirty="0">
                <a:solidFill>
                  <a:schemeClr val="tx1"/>
                </a:solidFill>
              </a:rPr>
              <a:t>: 5</a:t>
            </a:r>
            <a:r>
              <a:rPr lang="ko-KR" altLang="en-US" dirty="0" smtClean="0">
                <a:solidFill>
                  <a:schemeClr val="tx1"/>
                </a:solidFill>
              </a:rPr>
              <a:t>참조 가능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V="1">
            <a:off x="2885485" y="2929804"/>
            <a:ext cx="4584164" cy="180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2885485" y="4242520"/>
            <a:ext cx="4599905" cy="1710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81516" y="1790132"/>
            <a:ext cx="3167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웹</a:t>
            </a:r>
            <a:r>
              <a:rPr lang="en-US" altLang="ko-KR" dirty="0"/>
              <a:t> </a:t>
            </a:r>
            <a:r>
              <a:rPr lang="ko-KR" altLang="en-US" dirty="0" smtClean="0"/>
              <a:t>어플리케이션</a:t>
            </a:r>
            <a:r>
              <a:rPr lang="en-US" altLang="ko-KR" dirty="0" smtClean="0"/>
              <a:t>(</a:t>
            </a:r>
            <a:r>
              <a:rPr lang="en-US" altLang="ko-KR" dirty="0" smtClean="0">
                <a:solidFill>
                  <a:srgbClr val="00B050"/>
                </a:solidFill>
              </a:rPr>
              <a:t>application</a:t>
            </a:r>
            <a:r>
              <a:rPr lang="en-US" altLang="ko-KR" dirty="0" smtClean="0"/>
              <a:t>)</a:t>
            </a:r>
            <a:endParaRPr lang="en-US" dirty="0"/>
          </a:p>
        </p:txBody>
      </p:sp>
      <p:cxnSp>
        <p:nvCxnSpPr>
          <p:cNvPr id="21" name="직선 화살표 연결선 20"/>
          <p:cNvCxnSpPr/>
          <p:nvPr/>
        </p:nvCxnSpPr>
        <p:spPr>
          <a:xfrm flipH="1" flipV="1">
            <a:off x="2885485" y="3163908"/>
            <a:ext cx="4584164" cy="3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4769348" y="2494896"/>
            <a:ext cx="1512168" cy="8821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accent5"/>
                </a:solidFill>
              </a:rPr>
              <a:t>request1</a:t>
            </a:r>
          </a:p>
          <a:p>
            <a:pPr algn="ctr"/>
            <a:r>
              <a:rPr lang="en-US" sz="2400" dirty="0" smtClean="0">
                <a:solidFill>
                  <a:schemeClr val="accent5"/>
                </a:solidFill>
              </a:rPr>
              <a:t>"a": 3</a:t>
            </a:r>
            <a:endParaRPr lang="en-US" sz="2400" dirty="0">
              <a:solidFill>
                <a:schemeClr val="accent5"/>
              </a:solidFill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 flipH="1" flipV="1">
            <a:off x="2885485" y="4383446"/>
            <a:ext cx="4584164" cy="3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4769348" y="3904665"/>
            <a:ext cx="1512168" cy="68407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accent5"/>
                </a:solidFill>
              </a:rPr>
              <a:t>request2</a:t>
            </a:r>
            <a:endParaRPr lang="en-US" sz="2400" dirty="0">
              <a:solidFill>
                <a:schemeClr val="accent5"/>
              </a:solidFill>
            </a:endParaRPr>
          </a:p>
        </p:txBody>
      </p:sp>
      <p:cxnSp>
        <p:nvCxnSpPr>
          <p:cNvPr id="28" name="직선 화살표 연결선 27"/>
          <p:cNvCxnSpPr>
            <a:stCxn id="29" idx="2"/>
          </p:cNvCxnSpPr>
          <p:nvPr/>
        </p:nvCxnSpPr>
        <p:spPr>
          <a:xfrm>
            <a:off x="2226568" y="2080546"/>
            <a:ext cx="658917" cy="1083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35376" y="1711214"/>
            <a:ext cx="2382383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"a":3</a:t>
            </a:r>
            <a:r>
              <a:rPr lang="ko-KR" altLang="en-US" dirty="0" smtClean="0">
                <a:solidFill>
                  <a:schemeClr val="tx1"/>
                </a:solidFill>
              </a:rPr>
              <a:t>이 사라지는 시점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71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538325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예제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dirty="0" smtClean="0">
                <a:solidFill>
                  <a:prstClr val="black"/>
                </a:solidFill>
              </a:rPr>
              <a:t>Controller.java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2"/>
            <a:r>
              <a:rPr lang="ko-KR" altLang="en-US" sz="1600" dirty="0" smtClean="0">
                <a:solidFill>
                  <a:prstClr val="black"/>
                </a:solidFill>
              </a:rPr>
              <a:t>사용자의 요청 </a:t>
            </a:r>
            <a:r>
              <a:rPr lang="ko-KR" altLang="en-US" sz="1600" dirty="0" err="1" smtClean="0">
                <a:solidFill>
                  <a:prstClr val="black"/>
                </a:solidFill>
              </a:rPr>
              <a:t>파라미터</a:t>
            </a:r>
            <a:r>
              <a:rPr lang="ko-KR" altLang="en-US" sz="1600" dirty="0" smtClean="0">
                <a:solidFill>
                  <a:prstClr val="black"/>
                </a:solidFill>
              </a:rPr>
              <a:t> </a:t>
            </a:r>
            <a:r>
              <a:rPr lang="en-US" altLang="ko-KR" sz="1600" dirty="0" smtClean="0">
                <a:solidFill>
                  <a:prstClr val="black"/>
                </a:solidFill>
              </a:rPr>
              <a:t>m</a:t>
            </a:r>
            <a:r>
              <a:rPr lang="ko-KR" altLang="en-US" sz="1600" dirty="0" smtClean="0">
                <a:solidFill>
                  <a:prstClr val="black"/>
                </a:solidFill>
              </a:rPr>
              <a:t>의 값에 따라 적절한 동작을 수행</a:t>
            </a:r>
            <a:endParaRPr lang="en-US" altLang="ko-KR" sz="1600" dirty="0" smtClean="0">
              <a:solidFill>
                <a:prstClr val="black"/>
              </a:solidFill>
            </a:endParaRPr>
          </a:p>
          <a:p>
            <a:pPr lvl="2"/>
            <a:r>
              <a:rPr lang="en-US" altLang="ko-KR" sz="1600" dirty="0" smtClean="0">
                <a:solidFill>
                  <a:prstClr val="black"/>
                </a:solidFill>
              </a:rPr>
              <a:t>c(current) </a:t>
            </a:r>
            <a:r>
              <a:rPr lang="en-US" altLang="ko-KR" sz="16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dirty="0" smtClean="0">
                <a:solidFill>
                  <a:prstClr val="black"/>
                </a:solidFill>
              </a:rPr>
              <a:t>사용자가 전달한 </a:t>
            </a:r>
            <a:r>
              <a:rPr lang="en-US" altLang="ko-KR" sz="1600" dirty="0" smtClean="0">
                <a:solidFill>
                  <a:prstClr val="black"/>
                </a:solidFill>
              </a:rPr>
              <a:t>id</a:t>
            </a:r>
            <a:r>
              <a:rPr lang="ko-KR" altLang="en-US" sz="1600" dirty="0" smtClean="0">
                <a:solidFill>
                  <a:prstClr val="black"/>
                </a:solidFill>
              </a:rPr>
              <a:t>를 </a:t>
            </a:r>
            <a:r>
              <a:rPr lang="en-US" altLang="ko-KR" sz="1600" dirty="0" smtClean="0">
                <a:solidFill>
                  <a:prstClr val="black"/>
                </a:solidFill>
              </a:rPr>
              <a:t>request, session, application</a:t>
            </a:r>
            <a:r>
              <a:rPr lang="ko-KR" altLang="en-US" sz="1600" dirty="0" smtClean="0">
                <a:solidFill>
                  <a:prstClr val="black"/>
                </a:solidFill>
              </a:rPr>
              <a:t>공간에 저장하고 이를 </a:t>
            </a:r>
            <a:r>
              <a:rPr lang="en-US" altLang="ko-KR" sz="1600" dirty="0" smtClean="0">
                <a:solidFill>
                  <a:prstClr val="black"/>
                </a:solidFill>
              </a:rPr>
              <a:t>PrintNumber.java</a:t>
            </a:r>
            <a:r>
              <a:rPr lang="ko-KR" altLang="en-US" sz="1600" dirty="0" smtClean="0">
                <a:solidFill>
                  <a:prstClr val="black"/>
                </a:solidFill>
              </a:rPr>
              <a:t>로 출력</a:t>
            </a:r>
            <a:endParaRPr lang="en-US" altLang="ko-KR" sz="1600" dirty="0" smtClean="0">
              <a:solidFill>
                <a:prstClr val="black"/>
              </a:solidFill>
            </a:endParaRPr>
          </a:p>
          <a:p>
            <a:pPr lvl="2"/>
            <a:r>
              <a:rPr lang="en-US" altLang="ko-KR" sz="1600" dirty="0" smtClean="0">
                <a:solidFill>
                  <a:prstClr val="black"/>
                </a:solidFill>
              </a:rPr>
              <a:t>p(previous) </a:t>
            </a:r>
            <a:r>
              <a:rPr lang="en-US" altLang="ko-KR" sz="1600" dirty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600" dirty="0" smtClean="0">
                <a:solidFill>
                  <a:prstClr val="black"/>
                </a:solidFill>
                <a:sym typeface="Wingdings" panose="05000000000000000000" pitchFamily="2" charset="2"/>
              </a:rPr>
              <a:t>id</a:t>
            </a:r>
            <a:r>
              <a:rPr lang="ko-KR" altLang="en-US" sz="1600" dirty="0" smtClean="0">
                <a:solidFill>
                  <a:prstClr val="black"/>
                </a:solidFill>
                <a:sym typeface="Wingdings" panose="05000000000000000000" pitchFamily="2" charset="2"/>
              </a:rPr>
              <a:t>저장 없이 이전에 저장한 값을 출력</a:t>
            </a:r>
            <a:endParaRPr lang="en-US" altLang="ko-KR" sz="1600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PrintNumber.java: request, session, application </a:t>
            </a:r>
            <a:r>
              <a:rPr lang="ko-KR" altLang="en-US" sz="1800" dirty="0" smtClean="0">
                <a:solidFill>
                  <a:prstClr val="black"/>
                </a:solidFill>
              </a:rPr>
              <a:t>공간에 저장된 속성을 출력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4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538325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예제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9550426" y="728460"/>
            <a:ext cx="208422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Controller.java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8021782" y="4563687"/>
            <a:ext cx="3446441" cy="2032774"/>
            <a:chOff x="9001248" y="5224861"/>
            <a:chExt cx="2466975" cy="1371600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01248" y="5224861"/>
              <a:ext cx="2466975" cy="1371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직사각형 9"/>
            <p:cNvSpPr/>
            <p:nvPr/>
          </p:nvSpPr>
          <p:spPr>
            <a:xfrm>
              <a:off x="9493134" y="5915355"/>
              <a:ext cx="1886989" cy="1828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3383280" y="5054139"/>
            <a:ext cx="415636" cy="2161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직사각형 12"/>
          <p:cNvSpPr/>
          <p:nvPr/>
        </p:nvSpPr>
        <p:spPr>
          <a:xfrm>
            <a:off x="647883" y="1109347"/>
            <a:ext cx="10986768" cy="4801314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dirty="0" err="1">
                <a:solidFill>
                  <a:srgbClr val="646464"/>
                </a:solidFill>
                <a:latin typeface="Consolas" panose="020B0609020204030204" pitchFamily="49" charset="0"/>
              </a:rPr>
              <a:t>WebServlet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"/scope"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Controller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extends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@Override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protected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doGet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HttpServletRequest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HttpServletResponse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mode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"m"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mode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"c"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lvl="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"id"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3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setAttribute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a_id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id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request</a:t>
            </a:r>
            <a:r>
              <a:rPr lang="ko-KR" alt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에 등록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lvl="3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setAttribute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a_id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id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session</a:t>
            </a:r>
            <a:r>
              <a:rPr lang="ko-KR" alt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에 등록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lvl="3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.getServletContext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setAttribute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a_id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id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application</a:t>
            </a:r>
            <a:r>
              <a:rPr lang="ko-KR" alt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에</a:t>
            </a:r>
            <a:r>
              <a:rPr lang="en-US" altLang="ko-KR" dirty="0" smtClean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 smtClean="0">
                <a:solidFill>
                  <a:srgbClr val="00B050"/>
                </a:solidFill>
                <a:latin typeface="Consolas" panose="020B0609020204030204" pitchFamily="49" charset="0"/>
              </a:rPr>
              <a:t>등록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.setAttribute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"mode"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mode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printer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PrintNumber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printer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64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예제</a:t>
            </a:r>
            <a:endParaRPr lang="ko-KR" altLang="en-US" sz="1800" dirty="0">
              <a:solidFill>
                <a:srgbClr val="0000FF"/>
              </a:solidFill>
            </a:endParaRPr>
          </a:p>
          <a:p>
            <a:pPr lvl="1"/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530550" y="1571716"/>
            <a:ext cx="11280449" cy="3693319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PrintNumber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HttpServletRequest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HttpServletResponse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idRequest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(String)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.getAttribute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a_id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idSession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(String)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getAttribute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a_id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idApplication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(String)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.getServletContext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getAttribute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a_id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"request scope: %s 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idRequest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"session scope: %s 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idSession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"application scope: %s 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idApplication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9621999" y="1133679"/>
            <a:ext cx="221086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PrintNumber.java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64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예제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실행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ko-KR" altLang="en-US" sz="1800" dirty="0">
                <a:solidFill>
                  <a:prstClr val="black"/>
                </a:solidFill>
              </a:rPr>
              <a:t>크롬에서 </a:t>
            </a:r>
            <a:r>
              <a:rPr lang="en-US" altLang="ko-KR" sz="1800" dirty="0">
                <a:solidFill>
                  <a:prstClr val="black"/>
                </a:solidFill>
              </a:rPr>
              <a:t>query string</a:t>
            </a:r>
            <a:r>
              <a:rPr lang="ko-KR" altLang="en-US" sz="1800" dirty="0">
                <a:solidFill>
                  <a:prstClr val="black"/>
                </a:solidFill>
              </a:rPr>
              <a:t>을 이용하여 </a:t>
            </a:r>
            <a:r>
              <a:rPr lang="en-US" altLang="ko-KR" sz="1800" dirty="0" smtClean="0">
                <a:solidFill>
                  <a:prstClr val="black"/>
                </a:solidFill>
              </a:rPr>
              <a:t>request</a:t>
            </a:r>
          </a:p>
          <a:p>
            <a:pPr lvl="2"/>
            <a:r>
              <a:rPr lang="en-US" altLang="ko-KR" dirty="0">
                <a:solidFill>
                  <a:prstClr val="black"/>
                </a:solidFill>
              </a:rPr>
              <a:t>http://localhost:8080/scope?m=c&amp;id=kim</a:t>
            </a:r>
          </a:p>
          <a:p>
            <a:pPr lvl="1"/>
            <a:r>
              <a:rPr lang="ko-KR" altLang="en-US" sz="1800" dirty="0">
                <a:solidFill>
                  <a:prstClr val="black"/>
                </a:solidFill>
              </a:rPr>
              <a:t>크롬에서 </a:t>
            </a:r>
            <a:r>
              <a:rPr lang="ko-KR" altLang="en-US" sz="1800" dirty="0" smtClean="0">
                <a:solidFill>
                  <a:prstClr val="black"/>
                </a:solidFill>
              </a:rPr>
              <a:t>새 탭을 열고 요청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2"/>
            <a:r>
              <a:rPr lang="en-US" altLang="ko-KR" dirty="0">
                <a:solidFill>
                  <a:prstClr val="black"/>
                </a:solidFill>
              </a:rPr>
              <a:t>http://</a:t>
            </a:r>
            <a:r>
              <a:rPr lang="en-US" altLang="ko-KR" dirty="0" smtClean="0">
                <a:solidFill>
                  <a:prstClr val="black"/>
                </a:solidFill>
              </a:rPr>
              <a:t>localhost:8080/scope?m=</a:t>
            </a:r>
            <a:r>
              <a:rPr lang="en-US" altLang="ko-KR" dirty="0" smtClean="0">
                <a:solidFill>
                  <a:srgbClr val="FF0000"/>
                </a:solidFill>
              </a:rPr>
              <a:t>p</a:t>
            </a:r>
            <a:r>
              <a:rPr lang="en-US" altLang="ko-KR" dirty="0" smtClean="0">
                <a:solidFill>
                  <a:prstClr val="black"/>
                </a:solidFill>
              </a:rPr>
              <a:t>&amp;id=kim</a:t>
            </a:r>
          </a:p>
          <a:p>
            <a:pPr lvl="1"/>
            <a:r>
              <a:rPr lang="ko-KR" altLang="en-US" sz="1800" dirty="0" err="1" smtClean="0">
                <a:solidFill>
                  <a:prstClr val="black"/>
                </a:solidFill>
              </a:rPr>
              <a:t>크롬창을</a:t>
            </a:r>
            <a:r>
              <a:rPr lang="ko-KR" altLang="en-US" sz="1800" dirty="0" smtClean="0">
                <a:solidFill>
                  <a:prstClr val="black"/>
                </a:solidFill>
              </a:rPr>
              <a:t> 하나 더 띄우고 요청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2"/>
            <a:r>
              <a:rPr lang="en-US" altLang="ko-KR" dirty="0">
                <a:solidFill>
                  <a:prstClr val="black"/>
                </a:solidFill>
              </a:rPr>
              <a:t>http://</a:t>
            </a:r>
            <a:r>
              <a:rPr lang="en-US" altLang="ko-KR" dirty="0" smtClean="0">
                <a:solidFill>
                  <a:prstClr val="black"/>
                </a:solidFill>
              </a:rPr>
              <a:t>localhost:8080/scope?m=</a:t>
            </a:r>
            <a:r>
              <a:rPr lang="en-US" altLang="ko-KR" dirty="0" smtClean="0">
                <a:solidFill>
                  <a:srgbClr val="FF0000"/>
                </a:solidFill>
              </a:rPr>
              <a:t>p</a:t>
            </a:r>
            <a:r>
              <a:rPr lang="en-US" altLang="ko-KR" dirty="0" smtClean="0">
                <a:solidFill>
                  <a:prstClr val="black"/>
                </a:solidFill>
              </a:rPr>
              <a:t>&amp;id=kim</a:t>
            </a: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모든 </a:t>
            </a:r>
            <a:r>
              <a:rPr lang="ko-KR" altLang="en-US" sz="1800" dirty="0" err="1" smtClean="0">
                <a:solidFill>
                  <a:prstClr val="black"/>
                </a:solidFill>
              </a:rPr>
              <a:t>크롬창을</a:t>
            </a:r>
            <a:r>
              <a:rPr lang="ko-KR" altLang="en-US" sz="1800" dirty="0" smtClean="0">
                <a:solidFill>
                  <a:prstClr val="black"/>
                </a:solidFill>
              </a:rPr>
              <a:t> 닫고 다시 </a:t>
            </a:r>
            <a:r>
              <a:rPr lang="ko-KR" altLang="en-US" sz="1800" dirty="0" err="1" smtClean="0">
                <a:solidFill>
                  <a:prstClr val="black"/>
                </a:solidFill>
              </a:rPr>
              <a:t>크롬창을</a:t>
            </a:r>
            <a:r>
              <a:rPr lang="ko-KR" altLang="en-US" sz="1800" dirty="0" smtClean="0">
                <a:solidFill>
                  <a:prstClr val="black"/>
                </a:solidFill>
              </a:rPr>
              <a:t> 열어서 요청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2"/>
            <a:r>
              <a:rPr lang="en-US" altLang="ko-KR" dirty="0">
                <a:solidFill>
                  <a:prstClr val="black"/>
                </a:solidFill>
              </a:rPr>
              <a:t>http://</a:t>
            </a:r>
            <a:r>
              <a:rPr lang="en-US" altLang="ko-KR" dirty="0" smtClean="0">
                <a:solidFill>
                  <a:prstClr val="black"/>
                </a:solidFill>
              </a:rPr>
              <a:t>localhost:8080/scope?m=</a:t>
            </a:r>
            <a:r>
              <a:rPr lang="en-US" altLang="ko-KR" dirty="0" smtClean="0">
                <a:solidFill>
                  <a:srgbClr val="FF0000"/>
                </a:solidFill>
              </a:rPr>
              <a:t>p</a:t>
            </a:r>
            <a:r>
              <a:rPr lang="en-US" altLang="ko-KR" dirty="0" smtClean="0">
                <a:solidFill>
                  <a:prstClr val="black"/>
                </a:solidFill>
              </a:rPr>
              <a:t>&amp;id=kim</a:t>
            </a: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인터넷 </a:t>
            </a:r>
            <a:r>
              <a:rPr lang="ko-KR" altLang="en-US" sz="1800" dirty="0" err="1" smtClean="0">
                <a:solidFill>
                  <a:prstClr val="black"/>
                </a:solidFill>
              </a:rPr>
              <a:t>익스플로어를</a:t>
            </a:r>
            <a:r>
              <a:rPr lang="ko-KR" altLang="en-US" sz="1800" dirty="0" smtClean="0">
                <a:solidFill>
                  <a:prstClr val="black"/>
                </a:solidFill>
              </a:rPr>
              <a:t> 열고 요청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2"/>
            <a:r>
              <a:rPr lang="en-US" altLang="ko-KR" dirty="0">
                <a:solidFill>
                  <a:prstClr val="black"/>
                </a:solidFill>
              </a:rPr>
              <a:t>http://localhost:8080/scope?m=</a:t>
            </a:r>
            <a:r>
              <a:rPr lang="en-US" altLang="ko-KR" dirty="0">
                <a:solidFill>
                  <a:srgbClr val="FF0000"/>
                </a:solidFill>
              </a:rPr>
              <a:t>p</a:t>
            </a:r>
            <a:r>
              <a:rPr lang="en-US" altLang="ko-KR" dirty="0">
                <a:solidFill>
                  <a:prstClr val="black"/>
                </a:solidFill>
              </a:rPr>
              <a:t>&amp;id=kim</a:t>
            </a:r>
          </a:p>
          <a:p>
            <a:pPr lvl="1"/>
            <a:endParaRPr lang="en-US" altLang="ko-KR" sz="1600" dirty="0" smtClean="0">
              <a:solidFill>
                <a:prstClr val="black"/>
              </a:solidFill>
            </a:endParaRPr>
          </a:p>
          <a:p>
            <a:pPr lvl="1"/>
            <a:endParaRPr lang="en-US" altLang="ko-KR" sz="1600" dirty="0">
              <a:solidFill>
                <a:prstClr val="black"/>
              </a:solidFill>
            </a:endParaRPr>
          </a:p>
          <a:p>
            <a:pPr lvl="1"/>
            <a:endParaRPr lang="en-US" altLang="ko-KR" sz="1600" dirty="0">
              <a:solidFill>
                <a:prstClr val="black"/>
              </a:solidFill>
            </a:endParaRPr>
          </a:p>
          <a:p>
            <a:pPr lvl="1"/>
            <a:endParaRPr lang="ko-KR" altLang="en-US" sz="1400" b="1" dirty="0" smtClean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데이터 저장 영역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>
                <a:solidFill>
                  <a:prstClr val="black"/>
                </a:solidFill>
              </a:rPr>
              <a:t>A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ttribute</a:t>
            </a:r>
            <a:r>
              <a:rPr lang="ko-KR" altLang="en-US" sz="2200" b="1" dirty="0">
                <a:solidFill>
                  <a:prstClr val="black"/>
                </a:solidFill>
              </a:rPr>
              <a:t>와 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Parameter</a:t>
            </a:r>
            <a:r>
              <a:rPr lang="ko-KR" altLang="en-US" sz="2200" b="1" dirty="0">
                <a:solidFill>
                  <a:prstClr val="black"/>
                </a:solidFill>
              </a:rPr>
              <a:t>의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차이점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>
              <a:spcAft>
                <a:spcPts val="300"/>
              </a:spcAft>
            </a:pPr>
            <a:r>
              <a:rPr lang="en-US" altLang="ko-KR" sz="1800" dirty="0"/>
              <a:t>parameter</a:t>
            </a:r>
            <a:r>
              <a:rPr lang="ko-KR" altLang="en-US" sz="1800" dirty="0"/>
              <a:t>는 웹 브라우저</a:t>
            </a:r>
            <a:r>
              <a:rPr lang="en-US" altLang="ko-KR" sz="1800" dirty="0"/>
              <a:t>(</a:t>
            </a:r>
            <a:r>
              <a:rPr lang="ko-KR" altLang="en-US" sz="1800" dirty="0"/>
              <a:t>클라이언트</a:t>
            </a:r>
            <a:r>
              <a:rPr lang="en-US" altLang="ko-KR" sz="1800" dirty="0"/>
              <a:t>)</a:t>
            </a:r>
            <a:r>
              <a:rPr lang="ko-KR" altLang="en-US" sz="1800" dirty="0"/>
              <a:t>가 최초의 요청 시 서버로 전달되는 데이터</a:t>
            </a:r>
            <a:endParaRPr lang="en-US" altLang="ko-KR" sz="1800" dirty="0"/>
          </a:p>
          <a:p>
            <a:pPr lvl="1">
              <a:spcAft>
                <a:spcPts val="300"/>
              </a:spcAft>
            </a:pPr>
            <a:r>
              <a:rPr lang="en-US" altLang="ko-KR" sz="1800" dirty="0" smtClean="0"/>
              <a:t>parameter</a:t>
            </a:r>
            <a:r>
              <a:rPr lang="ko-KR" altLang="en-US" sz="1800" dirty="0" smtClean="0"/>
              <a:t>는 </a:t>
            </a:r>
            <a:r>
              <a:rPr lang="en-US" altLang="ko-KR" sz="1800" dirty="0"/>
              <a:t>HTML(</a:t>
            </a:r>
            <a:r>
              <a:rPr lang="ko-KR" altLang="en-US" sz="1800" dirty="0"/>
              <a:t>클라이언트</a:t>
            </a:r>
            <a:r>
              <a:rPr lang="en-US" altLang="ko-KR" sz="1800" dirty="0"/>
              <a:t>)</a:t>
            </a:r>
            <a:r>
              <a:rPr lang="ko-KR" altLang="en-US" sz="1800" dirty="0"/>
              <a:t>의 </a:t>
            </a:r>
            <a:r>
              <a:rPr lang="en-US" altLang="ko-KR" sz="1800" dirty="0"/>
              <a:t>form </a:t>
            </a:r>
            <a:r>
              <a:rPr lang="ko-KR" altLang="en-US" sz="1800" dirty="0"/>
              <a:t>데이터 전송 시 </a:t>
            </a:r>
            <a:r>
              <a:rPr lang="en-US" altLang="ko-KR" sz="1800" dirty="0"/>
              <a:t>key/value </a:t>
            </a:r>
            <a:r>
              <a:rPr lang="ko-KR" altLang="en-US" sz="1800" dirty="0"/>
              <a:t>쌍으로 사용되며</a:t>
            </a:r>
            <a:r>
              <a:rPr lang="en-US" altLang="ko-KR" sz="1800" dirty="0"/>
              <a:t>, set </a:t>
            </a:r>
            <a:r>
              <a:rPr lang="ko-KR" altLang="en-US" sz="1800" dirty="0"/>
              <a:t>없이도 </a:t>
            </a:r>
            <a:r>
              <a:rPr lang="en-US" altLang="ko-KR" sz="1800" dirty="0"/>
              <a:t>get</a:t>
            </a:r>
            <a:r>
              <a:rPr lang="ko-KR" altLang="en-US" sz="1800" dirty="0"/>
              <a:t>가능</a:t>
            </a:r>
            <a:endParaRPr lang="en-US" altLang="ko-KR" sz="1800" dirty="0">
              <a:solidFill>
                <a:srgbClr val="0000FF"/>
              </a:solidFill>
            </a:endParaRPr>
          </a:p>
          <a:p>
            <a:pPr lvl="1">
              <a:spcAft>
                <a:spcPts val="300"/>
              </a:spcAft>
            </a:pPr>
            <a:r>
              <a:rPr lang="en-US" altLang="ko-KR" sz="1800" dirty="0"/>
              <a:t>parameter</a:t>
            </a:r>
            <a:r>
              <a:rPr lang="ko-KR" altLang="en-US" sz="1800" dirty="0"/>
              <a:t>에는 </a:t>
            </a:r>
            <a:r>
              <a:rPr lang="en-US" altLang="ko-KR" sz="1800" dirty="0"/>
              <a:t>value</a:t>
            </a:r>
            <a:r>
              <a:rPr lang="ko-KR" altLang="en-US" sz="1800" dirty="0"/>
              <a:t>로 </a:t>
            </a:r>
            <a:r>
              <a:rPr lang="en-US" altLang="ko-KR" sz="1800" dirty="0"/>
              <a:t>String</a:t>
            </a:r>
            <a:r>
              <a:rPr lang="ko-KR" altLang="en-US" sz="1800" dirty="0"/>
              <a:t>만 사용가능</a:t>
            </a:r>
          </a:p>
          <a:p>
            <a:pPr lvl="1">
              <a:spcAft>
                <a:spcPts val="300"/>
              </a:spcAft>
            </a:pPr>
            <a:r>
              <a:rPr lang="en-US" altLang="ko-KR" sz="1800" dirty="0">
                <a:solidFill>
                  <a:srgbClr val="0000FF"/>
                </a:solidFill>
              </a:rPr>
              <a:t>attribute</a:t>
            </a:r>
            <a:r>
              <a:rPr lang="ko-KR" altLang="en-US" sz="1800" dirty="0">
                <a:solidFill>
                  <a:srgbClr val="0000FF"/>
                </a:solidFill>
              </a:rPr>
              <a:t>는 다른 </a:t>
            </a:r>
            <a:r>
              <a:rPr lang="en-US" altLang="ko-KR" sz="1800" dirty="0">
                <a:solidFill>
                  <a:srgbClr val="0000FF"/>
                </a:solidFill>
              </a:rPr>
              <a:t>String</a:t>
            </a:r>
            <a:r>
              <a:rPr lang="ko-KR" altLang="en-US" sz="1800" dirty="0">
                <a:solidFill>
                  <a:srgbClr val="0000FF"/>
                </a:solidFill>
              </a:rPr>
              <a:t>외에 </a:t>
            </a:r>
            <a:r>
              <a:rPr lang="en-US" altLang="ko-KR" sz="1800" dirty="0">
                <a:solidFill>
                  <a:srgbClr val="0000FF"/>
                </a:solidFill>
              </a:rPr>
              <a:t>Object, Array </a:t>
            </a:r>
            <a:r>
              <a:rPr lang="ko-KR" altLang="en-US" sz="1800" dirty="0">
                <a:solidFill>
                  <a:srgbClr val="0000FF"/>
                </a:solidFill>
              </a:rPr>
              <a:t>등 다양한 데이터 입력이 </a:t>
            </a:r>
            <a:r>
              <a:rPr lang="ko-KR" altLang="en-US" sz="1800" dirty="0" smtClean="0">
                <a:solidFill>
                  <a:srgbClr val="0000FF"/>
                </a:solidFill>
              </a:rPr>
              <a:t>가능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r>
              <a:rPr lang="en-US" altLang="ko-KR" sz="2200" b="1" dirty="0">
                <a:solidFill>
                  <a:prstClr val="black"/>
                </a:solidFill>
              </a:rPr>
              <a:t>Query String(</a:t>
            </a:r>
            <a:r>
              <a:rPr lang="ko-KR" altLang="en-US" sz="2200" b="1" dirty="0">
                <a:solidFill>
                  <a:prstClr val="black"/>
                </a:solidFill>
              </a:rPr>
              <a:t>쿼리 스트링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)</a:t>
            </a:r>
          </a:p>
          <a:p>
            <a:pPr lvl="1">
              <a:spcAft>
                <a:spcPts val="300"/>
              </a:spcAft>
            </a:pPr>
            <a:r>
              <a:rPr lang="en-US" altLang="ko-KR" sz="1800" dirty="0"/>
              <a:t>URL </a:t>
            </a:r>
            <a:r>
              <a:rPr lang="ko-KR" altLang="en-US" sz="1800" dirty="0"/>
              <a:t>주소</a:t>
            </a:r>
            <a:r>
              <a:rPr lang="en-US" altLang="ko-KR" sz="1800" dirty="0"/>
              <a:t> </a:t>
            </a:r>
            <a:r>
              <a:rPr lang="ko-KR" altLang="en-US" sz="1800" dirty="0"/>
              <a:t>뒤에 입력 데이터를 함께 제공하는 방법</a:t>
            </a:r>
            <a:endParaRPr lang="en-US" altLang="ko-KR" sz="1800" dirty="0"/>
          </a:p>
          <a:p>
            <a:pPr lvl="1">
              <a:spcAft>
                <a:spcPts val="300"/>
              </a:spcAft>
            </a:pPr>
            <a:r>
              <a:rPr lang="en-US" altLang="ko-KR" sz="1800" dirty="0" smtClean="0"/>
              <a:t>URI</a:t>
            </a:r>
            <a:r>
              <a:rPr lang="en-US" altLang="ko-KR" sz="1800" dirty="0" smtClean="0">
                <a:solidFill>
                  <a:srgbClr val="FF0000"/>
                </a:solidFill>
              </a:rPr>
              <a:t>?</a:t>
            </a:r>
            <a:r>
              <a:rPr lang="ko-KR" altLang="en-US" sz="1800" dirty="0">
                <a:solidFill>
                  <a:srgbClr val="0000FF"/>
                </a:solidFill>
              </a:rPr>
              <a:t>변수</a:t>
            </a:r>
            <a:r>
              <a:rPr lang="en-US" altLang="ko-KR" sz="1800" dirty="0">
                <a:solidFill>
                  <a:srgbClr val="0000FF"/>
                </a:solidFill>
              </a:rPr>
              <a:t>1=</a:t>
            </a:r>
            <a:r>
              <a:rPr lang="ko-KR" altLang="en-US" sz="1800" dirty="0">
                <a:solidFill>
                  <a:srgbClr val="0000FF"/>
                </a:solidFill>
              </a:rPr>
              <a:t>값</a:t>
            </a:r>
            <a:r>
              <a:rPr lang="en-US" altLang="ko-KR" sz="1800" dirty="0">
                <a:solidFill>
                  <a:srgbClr val="0000FF"/>
                </a:solidFill>
              </a:rPr>
              <a:t>1</a:t>
            </a:r>
            <a:r>
              <a:rPr lang="en-US" altLang="ko-KR" sz="1800" dirty="0">
                <a:solidFill>
                  <a:srgbClr val="FF0000"/>
                </a:solidFill>
              </a:rPr>
              <a:t>&amp;</a:t>
            </a:r>
            <a:r>
              <a:rPr lang="ko-KR" altLang="en-US" sz="1800" dirty="0">
                <a:solidFill>
                  <a:srgbClr val="0000FF"/>
                </a:solidFill>
              </a:rPr>
              <a:t>변수</a:t>
            </a:r>
            <a:r>
              <a:rPr lang="en-US" altLang="ko-KR" sz="1800" dirty="0">
                <a:solidFill>
                  <a:srgbClr val="0000FF"/>
                </a:solidFill>
              </a:rPr>
              <a:t>2=</a:t>
            </a:r>
            <a:r>
              <a:rPr lang="ko-KR" altLang="en-US" sz="1800" dirty="0">
                <a:solidFill>
                  <a:srgbClr val="0000FF"/>
                </a:solidFill>
              </a:rPr>
              <a:t>값</a:t>
            </a:r>
            <a:r>
              <a:rPr lang="en-US" altLang="ko-KR" sz="1800" dirty="0">
                <a:solidFill>
                  <a:srgbClr val="0000FF"/>
                </a:solidFill>
              </a:rPr>
              <a:t>2</a:t>
            </a:r>
            <a:r>
              <a:rPr lang="en-US" altLang="ko-KR" sz="1800" dirty="0">
                <a:solidFill>
                  <a:srgbClr val="FF0000"/>
                </a:solidFill>
              </a:rPr>
              <a:t>&amp;</a:t>
            </a:r>
            <a:r>
              <a:rPr lang="en-US" altLang="ko-KR" sz="1800" dirty="0"/>
              <a:t>...</a:t>
            </a:r>
          </a:p>
          <a:p>
            <a:pPr marL="457200" lvl="1" indent="0">
              <a:buNone/>
            </a:pPr>
            <a:endParaRPr lang="ko-KR" altLang="en-US" sz="18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6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400" dirty="0" smtClean="0"/>
              <a:t>쿠키와 세션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9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쿠키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HTTP </a:t>
            </a:r>
            <a:r>
              <a:rPr lang="ko-KR" altLang="en-US" sz="2000" dirty="0"/>
              <a:t>프로토콜은 </a:t>
            </a:r>
            <a:r>
              <a:rPr lang="ko-KR" altLang="en-US" sz="2000" dirty="0" err="1">
                <a:solidFill>
                  <a:srgbClr val="FF0000"/>
                </a:solidFill>
              </a:rPr>
              <a:t>비연결지향</a:t>
            </a:r>
            <a:r>
              <a:rPr lang="en-US" altLang="ko-KR" sz="2000" dirty="0">
                <a:solidFill>
                  <a:srgbClr val="FF0000"/>
                </a:solidFill>
              </a:rPr>
              <a:t>(Connection-less)</a:t>
            </a:r>
            <a:r>
              <a:rPr lang="en-US" altLang="ko-KR" sz="2000" dirty="0"/>
              <a:t> </a:t>
            </a:r>
            <a:r>
              <a:rPr lang="ko-KR" altLang="en-US" sz="2000" dirty="0"/>
              <a:t>프로토콜</a:t>
            </a:r>
            <a:endParaRPr lang="en-US" altLang="ko-KR" sz="2000" dirty="0"/>
          </a:p>
          <a:p>
            <a:pPr lvl="1"/>
            <a:r>
              <a:rPr lang="ko-KR" altLang="en-US" sz="1800" dirty="0" smtClean="0"/>
              <a:t>이전 요청과 현재 요청은 서로 관계 없음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사용자 </a:t>
            </a:r>
            <a:r>
              <a:rPr lang="ko-KR" altLang="en-US" sz="1800" dirty="0"/>
              <a:t>정보를 요구하는 페이지마다 </a:t>
            </a:r>
            <a:r>
              <a:rPr lang="ko-KR" altLang="en-US" sz="1800" dirty="0" err="1"/>
              <a:t>로그인을</a:t>
            </a:r>
            <a:r>
              <a:rPr lang="ko-KR" altLang="en-US" sz="1800" dirty="0"/>
              <a:t> 해야 할까</a:t>
            </a:r>
            <a:r>
              <a:rPr lang="en-US" altLang="ko-KR" sz="1800" dirty="0"/>
              <a:t>?</a:t>
            </a:r>
          </a:p>
          <a:p>
            <a:r>
              <a:rPr lang="ko-KR" altLang="en-US" sz="2000" dirty="0"/>
              <a:t>세션</a:t>
            </a:r>
            <a:r>
              <a:rPr lang="en-US" altLang="ko-KR" sz="2000" dirty="0"/>
              <a:t>(Session) - </a:t>
            </a:r>
            <a:r>
              <a:rPr lang="ko-KR" altLang="en-US" sz="2000" dirty="0"/>
              <a:t>정의</a:t>
            </a:r>
            <a:endParaRPr lang="en-US" altLang="ko-KR" sz="2000" dirty="0"/>
          </a:p>
          <a:p>
            <a:pPr lvl="1"/>
            <a:r>
              <a:rPr lang="ko-KR" altLang="en-US" dirty="0"/>
              <a:t>일련의 웹 컴포넌트들이 클라이언트의 연속적인 요청에 의해 실행하면서 클라이언트와의 연결 상태를 유지시키는 개념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홈쇼핑 사이트에서의 로그인과 로그아웃</a:t>
            </a:r>
            <a:endParaRPr lang="en-US" altLang="ko-KR" dirty="0"/>
          </a:p>
          <a:p>
            <a:pPr lvl="1"/>
            <a:r>
              <a:rPr lang="ko-KR" altLang="en-US" dirty="0"/>
              <a:t>웹 서버는 한 클라이언트의 세션 상태를 유지하기 위한 메커니즘이 요구됨</a:t>
            </a:r>
            <a:endParaRPr lang="en-US" altLang="ko-KR" dirty="0"/>
          </a:p>
          <a:p>
            <a:pPr lvl="2"/>
            <a:r>
              <a:rPr lang="ko-KR" altLang="en-US" dirty="0"/>
              <a:t>세션</a:t>
            </a:r>
            <a:r>
              <a:rPr lang="en-US" altLang="ko-KR" dirty="0"/>
              <a:t>(Session)</a:t>
            </a:r>
            <a:r>
              <a:rPr lang="ko-KR" altLang="en-US" dirty="0"/>
              <a:t> 기술 </a:t>
            </a:r>
            <a:r>
              <a:rPr lang="en-US" altLang="ko-KR" dirty="0"/>
              <a:t>– </a:t>
            </a:r>
            <a:r>
              <a:rPr lang="ko-KR" altLang="en-US" dirty="0"/>
              <a:t>세션 관련 정보를 </a:t>
            </a:r>
            <a:r>
              <a:rPr lang="ko-KR" altLang="en-US" dirty="0">
                <a:solidFill>
                  <a:srgbClr val="0000FF"/>
                </a:solidFill>
              </a:rPr>
              <a:t>웹 서버에 저장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쿠키</a:t>
            </a:r>
            <a:r>
              <a:rPr lang="en-US" altLang="ko-KR" dirty="0"/>
              <a:t>(cookie)</a:t>
            </a:r>
            <a:r>
              <a:rPr lang="ko-KR" altLang="en-US" dirty="0"/>
              <a:t> 기술 </a:t>
            </a:r>
            <a:r>
              <a:rPr lang="en-US" altLang="ko-KR" dirty="0"/>
              <a:t>– </a:t>
            </a:r>
            <a:r>
              <a:rPr lang="ko-KR" altLang="en-US" dirty="0"/>
              <a:t>세션 관련 정보를 </a:t>
            </a:r>
            <a:r>
              <a:rPr lang="ko-KR" altLang="en-US" dirty="0">
                <a:solidFill>
                  <a:srgbClr val="0000FF"/>
                </a:solidFill>
              </a:rPr>
              <a:t>클라이언트에 저장</a:t>
            </a:r>
            <a:endParaRPr lang="en-US" altLang="ko-KR" dirty="0">
              <a:solidFill>
                <a:srgbClr val="0000FF"/>
              </a:solidFill>
            </a:endParaRPr>
          </a:p>
          <a:p>
            <a:pPr lvl="2"/>
            <a:endParaRPr lang="en-US" altLang="ko-KR" dirty="0" smtClean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7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세션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89900" cy="574011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세션</a:t>
            </a:r>
            <a:r>
              <a:rPr lang="en-US" altLang="ko-KR" dirty="0" smtClean="0"/>
              <a:t>(</a:t>
            </a:r>
            <a:r>
              <a:rPr lang="en-US" altLang="ko-KR" dirty="0"/>
              <a:t>Session</a:t>
            </a:r>
            <a:r>
              <a:rPr lang="en-US" altLang="ko-KR" dirty="0" smtClean="0"/>
              <a:t>)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세션은 쿠키를 기반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2261062" y="2241433"/>
            <a:ext cx="2493818" cy="3800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Browser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960524" y="2241432"/>
            <a:ext cx="2493818" cy="3800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Server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507971" y="2621510"/>
            <a:ext cx="0" cy="32639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stCxn id="7" idx="2"/>
          </p:cNvCxnSpPr>
          <p:nvPr/>
        </p:nvCxnSpPr>
        <p:spPr>
          <a:xfrm>
            <a:off x="8207433" y="2621510"/>
            <a:ext cx="0" cy="32639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3507971" y="2992582"/>
            <a:ext cx="4699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06284" y="28079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176174" y="2565588"/>
            <a:ext cx="1051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최초 요청</a:t>
            </a:r>
            <a:endParaRPr lang="en-US" sz="1600" dirty="0"/>
          </a:p>
        </p:txBody>
      </p:sp>
      <p:cxnSp>
        <p:nvCxnSpPr>
          <p:cNvPr id="18" name="직선 화살표 연결선 17"/>
          <p:cNvCxnSpPr/>
          <p:nvPr/>
        </p:nvCxnSpPr>
        <p:spPr>
          <a:xfrm flipH="1" flipV="1">
            <a:off x="3507970" y="3963765"/>
            <a:ext cx="4699461" cy="8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86916" y="37790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286916" y="3242056"/>
            <a:ext cx="2759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처음 요청이므로 세션 </a:t>
            </a:r>
            <a:r>
              <a:rPr lang="en-US" altLang="ko-KR" sz="1600" dirty="0" smtClean="0"/>
              <a:t>ID</a:t>
            </a:r>
            <a:r>
              <a:rPr lang="ko-KR" altLang="en-US" sz="1600" dirty="0" smtClean="0"/>
              <a:t>생성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5207904" y="3536771"/>
            <a:ext cx="2600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응답 시 세션</a:t>
            </a:r>
            <a:r>
              <a:rPr lang="en-US" altLang="ko-KR" sz="1600" dirty="0" smtClean="0"/>
              <a:t>ID</a:t>
            </a:r>
            <a:r>
              <a:rPr lang="ko-KR" altLang="en-US" sz="1600" dirty="0" smtClean="0"/>
              <a:t>로 함께 전달</a:t>
            </a:r>
            <a:endParaRPr lang="en-US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3189658" y="37885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87287" y="3787412"/>
            <a:ext cx="2507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브라우저는 세션</a:t>
            </a:r>
            <a:r>
              <a:rPr lang="en-US" altLang="ko-KR" sz="1600" dirty="0" smtClean="0"/>
              <a:t>ID</a:t>
            </a:r>
            <a:r>
              <a:rPr lang="ko-KR" altLang="en-US" sz="1600" dirty="0" smtClean="0"/>
              <a:t>를 저장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3134653" y="49533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3507970" y="5126266"/>
            <a:ext cx="46994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46094" y="4769086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다음 요청 시 세션</a:t>
            </a:r>
            <a:r>
              <a:rPr lang="en-US" altLang="ko-KR" sz="1600" dirty="0" smtClean="0"/>
              <a:t>ID </a:t>
            </a:r>
            <a:r>
              <a:rPr lang="ko-KR" altLang="en-US" sz="1600" dirty="0" smtClean="0"/>
              <a:t>함께 전달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3524599" y="5379638"/>
            <a:ext cx="4725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/>
              <a:t>프로그래머가 명시적인 코드를 작성하는 것이 아닌</a:t>
            </a:r>
            <a:endParaRPr lang="en-US" altLang="ko-KR" sz="1600" dirty="0" smtClean="0"/>
          </a:p>
          <a:p>
            <a:pPr algn="ctr"/>
            <a:r>
              <a:rPr lang="ko-KR" altLang="en-US" sz="1600" dirty="0" smtClean="0"/>
              <a:t>브라우저가 알아서 전달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9832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세션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89900" cy="574011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세션</a:t>
            </a:r>
            <a:r>
              <a:rPr lang="en-US" altLang="ko-KR" dirty="0" smtClean="0"/>
              <a:t>(</a:t>
            </a:r>
            <a:r>
              <a:rPr lang="en-US" altLang="ko-KR" dirty="0"/>
              <a:t>Session</a:t>
            </a:r>
            <a:r>
              <a:rPr lang="en-US" altLang="ko-KR" dirty="0" smtClean="0"/>
              <a:t>)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요청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ko-KR" altLang="en-US" dirty="0" smtClean="0"/>
              <a:t>크롬 개발자 도구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Network  </a:t>
            </a:r>
            <a:r>
              <a:rPr lang="ko-KR" altLang="en-US" dirty="0" smtClean="0">
                <a:sym typeface="Wingdings" panose="05000000000000000000" pitchFamily="2" charset="2"/>
              </a:rPr>
              <a:t>요청 클릭 </a:t>
            </a:r>
            <a:r>
              <a:rPr lang="en-US" altLang="ko-KR" dirty="0" smtClean="0">
                <a:sym typeface="Wingdings" panose="05000000000000000000" pitchFamily="2" charset="2"/>
              </a:rPr>
              <a:t> Headers</a:t>
            </a:r>
            <a:r>
              <a:rPr lang="ko-KR" altLang="en-US" dirty="0" smtClean="0">
                <a:sym typeface="Wingdings" panose="05000000000000000000" pitchFamily="2" charset="2"/>
              </a:rPr>
              <a:t>안을 조회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33" y="1902942"/>
            <a:ext cx="89058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0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세션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89900" cy="574011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세션 관련 메서드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17</a:t>
            </a:fld>
            <a:endParaRPr 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095566"/>
              </p:ext>
            </p:extLst>
          </p:nvPr>
        </p:nvGraphicFramePr>
        <p:xfrm>
          <a:off x="530551" y="1421087"/>
          <a:ext cx="11231958" cy="34239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42685">
                  <a:extLst>
                    <a:ext uri="{9D8B030D-6E8A-4147-A177-3AD203B41FA5}">
                      <a16:colId xmlns:a16="http://schemas.microsoft.com/office/drawing/2014/main" val="623363925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2130926653"/>
                    </a:ext>
                  </a:extLst>
                </a:gridCol>
                <a:gridCol w="6392487">
                  <a:extLst>
                    <a:ext uri="{9D8B030D-6E8A-4147-A177-3AD203B41FA5}">
                      <a16:colId xmlns:a16="http://schemas.microsoft.com/office/drawing/2014/main" val="2130411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Method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Return Type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Desc</a:t>
                      </a:r>
                      <a:r>
                        <a:rPr lang="en-US" sz="1600" dirty="0" smtClean="0"/>
                        <a:t>.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892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effectLst/>
                        </a:rPr>
                        <a:t>setAttribute</a:t>
                      </a:r>
                      <a:r>
                        <a:rPr lang="en-US" sz="1600" kern="1200" dirty="0" smtClean="0">
                          <a:effectLst/>
                        </a:rPr>
                        <a:t>(String name, Object value)</a:t>
                      </a:r>
                      <a:endParaRPr lang="en-US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void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 smtClean="0">
                          <a:effectLst/>
                        </a:rPr>
                        <a:t>세션 </a:t>
                      </a:r>
                      <a:r>
                        <a:rPr lang="ko-KR" altLang="en-US" sz="1600" kern="1200" dirty="0" err="1" smtClean="0">
                          <a:effectLst/>
                        </a:rPr>
                        <a:t>속성명이</a:t>
                      </a:r>
                      <a:r>
                        <a:rPr lang="ko-KR" altLang="en-US" sz="1600" kern="1200" dirty="0" smtClean="0">
                          <a:effectLst/>
                        </a:rPr>
                        <a:t> </a:t>
                      </a:r>
                      <a:r>
                        <a:rPr lang="en-US" altLang="ko-KR" sz="1600" kern="1200" dirty="0" smtClean="0">
                          <a:effectLst/>
                        </a:rPr>
                        <a:t>name</a:t>
                      </a:r>
                      <a:r>
                        <a:rPr lang="ko-KR" altLang="en-US" sz="1600" kern="1200" dirty="0" smtClean="0">
                          <a:effectLst/>
                        </a:rPr>
                        <a:t>인 속성에 속성값으로 </a:t>
                      </a:r>
                      <a:r>
                        <a:rPr lang="en-US" altLang="ko-KR" sz="1600" kern="1200" dirty="0" smtClean="0">
                          <a:effectLst/>
                        </a:rPr>
                        <a:t>value</a:t>
                      </a:r>
                      <a:r>
                        <a:rPr lang="ko-KR" altLang="en-US" sz="1600" kern="1200" dirty="0" smtClean="0">
                          <a:effectLst/>
                        </a:rPr>
                        <a:t>를 할당</a:t>
                      </a:r>
                      <a:endParaRPr lang="en-US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07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effectLst/>
                        </a:rPr>
                        <a:t>getAttribute</a:t>
                      </a:r>
                      <a:r>
                        <a:rPr lang="en-US" sz="1600" kern="1200" dirty="0" smtClean="0">
                          <a:effectLst/>
                        </a:rPr>
                        <a:t>(String name)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Object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 smtClean="0">
                          <a:effectLst/>
                        </a:rPr>
                        <a:t>세션 </a:t>
                      </a:r>
                      <a:r>
                        <a:rPr lang="ko-KR" altLang="en-US" sz="1600" kern="1200" dirty="0" err="1" smtClean="0">
                          <a:effectLst/>
                        </a:rPr>
                        <a:t>속성명이</a:t>
                      </a:r>
                      <a:r>
                        <a:rPr lang="ko-KR" altLang="en-US" sz="1600" kern="1200" dirty="0" smtClean="0">
                          <a:effectLst/>
                        </a:rPr>
                        <a:t> </a:t>
                      </a:r>
                      <a:r>
                        <a:rPr lang="en-US" altLang="ko-KR" sz="1600" kern="1200" dirty="0" smtClean="0">
                          <a:effectLst/>
                        </a:rPr>
                        <a:t>name</a:t>
                      </a:r>
                      <a:r>
                        <a:rPr lang="ko-KR" altLang="en-US" sz="1600" kern="1200" dirty="0" smtClean="0">
                          <a:effectLst/>
                        </a:rPr>
                        <a:t>인 속성의 값을 </a:t>
                      </a:r>
                      <a:r>
                        <a:rPr lang="en-US" altLang="ko-KR" sz="1600" kern="1200" dirty="0" smtClean="0">
                          <a:effectLst/>
                        </a:rPr>
                        <a:t>Object </a:t>
                      </a:r>
                      <a:r>
                        <a:rPr lang="ko-KR" altLang="en-US" sz="1600" kern="1200" dirty="0" smtClean="0">
                          <a:effectLst/>
                        </a:rPr>
                        <a:t>타입으로 리턴</a:t>
                      </a:r>
                      <a:endParaRPr lang="en-US" altLang="ko-KR" sz="1600" kern="1200" dirty="0" smtClean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 smtClean="0">
                          <a:effectLst/>
                        </a:rPr>
                        <a:t>해당 되는 </a:t>
                      </a:r>
                      <a:r>
                        <a:rPr lang="ko-KR" altLang="en-US" sz="1600" kern="1200" dirty="0" err="1" smtClean="0">
                          <a:effectLst/>
                        </a:rPr>
                        <a:t>속성명이</a:t>
                      </a:r>
                      <a:r>
                        <a:rPr lang="ko-KR" altLang="en-US" sz="1600" kern="1200" dirty="0" smtClean="0">
                          <a:effectLst/>
                        </a:rPr>
                        <a:t> 없을 경우에는 </a:t>
                      </a:r>
                      <a:r>
                        <a:rPr lang="en-US" altLang="ko-KR" sz="1600" kern="1200" dirty="0" smtClean="0">
                          <a:effectLst/>
                        </a:rPr>
                        <a:t>null </a:t>
                      </a:r>
                      <a:r>
                        <a:rPr lang="ko-KR" altLang="en-US" sz="1600" kern="1200" dirty="0" smtClean="0">
                          <a:effectLst/>
                        </a:rPr>
                        <a:t>값을 리턴</a:t>
                      </a:r>
                      <a:endParaRPr lang="en-US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298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effectLst/>
                        </a:rPr>
                        <a:t>getId</a:t>
                      </a:r>
                      <a:r>
                        <a:rPr lang="en-US" sz="1600" kern="1200" dirty="0" smtClean="0">
                          <a:effectLst/>
                        </a:rPr>
                        <a:t>() 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String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 smtClean="0">
                          <a:effectLst/>
                        </a:rPr>
                        <a:t>세션에 할당된 고유 </a:t>
                      </a:r>
                      <a:r>
                        <a:rPr lang="ko-KR" altLang="en-US" sz="1600" kern="1200" dirty="0" err="1" smtClean="0">
                          <a:effectLst/>
                        </a:rPr>
                        <a:t>식별자를</a:t>
                      </a:r>
                      <a:r>
                        <a:rPr lang="ko-KR" altLang="en-US" sz="1600" kern="1200" dirty="0" smtClean="0">
                          <a:effectLst/>
                        </a:rPr>
                        <a:t> </a:t>
                      </a:r>
                      <a:r>
                        <a:rPr lang="en-US" altLang="ko-KR" sz="1600" kern="1200" dirty="0" smtClean="0">
                          <a:effectLst/>
                        </a:rPr>
                        <a:t>String </a:t>
                      </a:r>
                      <a:r>
                        <a:rPr lang="ko-KR" altLang="en-US" sz="1600" kern="1200" dirty="0" smtClean="0">
                          <a:effectLst/>
                        </a:rPr>
                        <a:t>타입으로 리턴</a:t>
                      </a:r>
                      <a:endParaRPr lang="en-US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07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effectLst/>
                        </a:rPr>
                        <a:t>invalidate() 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void 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kern="1200" dirty="0" smtClean="0">
                          <a:effectLst/>
                        </a:rPr>
                        <a:t>현재 생성된 세션을 무효화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84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effectLst/>
                        </a:rPr>
                        <a:t>removeAttribute</a:t>
                      </a:r>
                      <a:r>
                        <a:rPr lang="en-US" sz="1600" kern="1200" dirty="0" smtClean="0">
                          <a:effectLst/>
                        </a:rPr>
                        <a:t>(String.name)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void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kern="1200" dirty="0" smtClean="0">
                          <a:effectLst/>
                        </a:rPr>
                        <a:t>세션 </a:t>
                      </a:r>
                      <a:r>
                        <a:rPr lang="ko-KR" altLang="en-US" sz="1600" kern="1200" dirty="0" err="1" smtClean="0">
                          <a:effectLst/>
                        </a:rPr>
                        <a:t>속성명이</a:t>
                      </a:r>
                      <a:r>
                        <a:rPr lang="ko-KR" altLang="en-US" sz="1600" kern="1200" dirty="0" smtClean="0">
                          <a:effectLst/>
                        </a:rPr>
                        <a:t> </a:t>
                      </a:r>
                      <a:r>
                        <a:rPr lang="en-US" altLang="ko-KR" sz="1600" kern="1200" dirty="0" smtClean="0">
                          <a:effectLst/>
                        </a:rPr>
                        <a:t>name</a:t>
                      </a:r>
                      <a:r>
                        <a:rPr lang="ko-KR" altLang="en-US" sz="1600" kern="1200" dirty="0" smtClean="0">
                          <a:effectLst/>
                        </a:rPr>
                        <a:t>인 속성을 제거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2232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effectLst/>
                        </a:rPr>
                        <a:t>getCreationTime</a:t>
                      </a:r>
                      <a:r>
                        <a:rPr lang="en-US" sz="1600" kern="1200" dirty="0" smtClean="0">
                          <a:effectLst/>
                        </a:rPr>
                        <a:t>()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 smtClean="0">
                          <a:effectLst/>
                        </a:rPr>
                        <a:t>long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kern="1200" dirty="0" smtClean="0">
                          <a:effectLst/>
                        </a:rPr>
                        <a:t>1970</a:t>
                      </a:r>
                      <a:r>
                        <a:rPr lang="ko-KR" altLang="en-US" sz="1600" kern="1200" dirty="0" smtClean="0">
                          <a:effectLst/>
                        </a:rPr>
                        <a:t>년 </a:t>
                      </a:r>
                      <a:r>
                        <a:rPr lang="en-US" altLang="ko-KR" sz="1600" kern="1200" dirty="0" smtClean="0">
                          <a:effectLst/>
                        </a:rPr>
                        <a:t>1</a:t>
                      </a:r>
                      <a:r>
                        <a:rPr lang="ko-KR" altLang="en-US" sz="1600" kern="1200" dirty="0" smtClean="0">
                          <a:effectLst/>
                        </a:rPr>
                        <a:t>월 </a:t>
                      </a:r>
                      <a:r>
                        <a:rPr lang="en-US" altLang="ko-KR" sz="1600" kern="1200" dirty="0" smtClean="0">
                          <a:effectLst/>
                        </a:rPr>
                        <a:t>1</a:t>
                      </a:r>
                      <a:r>
                        <a:rPr lang="ko-KR" altLang="en-US" sz="1600" kern="1200" dirty="0" smtClean="0">
                          <a:effectLst/>
                        </a:rPr>
                        <a:t>일 </a:t>
                      </a:r>
                      <a:r>
                        <a:rPr lang="en-US" altLang="ko-KR" sz="1600" kern="1200" dirty="0" smtClean="0">
                          <a:effectLst/>
                        </a:rPr>
                        <a:t>0</a:t>
                      </a:r>
                      <a:r>
                        <a:rPr lang="ko-KR" altLang="en-US" sz="1600" kern="1200" dirty="0" smtClean="0">
                          <a:effectLst/>
                        </a:rPr>
                        <a:t>시 </a:t>
                      </a:r>
                      <a:r>
                        <a:rPr lang="en-US" altLang="ko-KR" sz="1600" kern="1200" dirty="0" smtClean="0">
                          <a:effectLst/>
                        </a:rPr>
                        <a:t>0</a:t>
                      </a:r>
                      <a:r>
                        <a:rPr lang="ko-KR" altLang="en-US" sz="1600" kern="1200" dirty="0" smtClean="0">
                          <a:effectLst/>
                        </a:rPr>
                        <a:t>초를 기준으로 하여 현재 세션이 생성된 시간까지 경과한 시간을 계산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7618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effectLst/>
                        </a:rPr>
                        <a:t>setMaxInactiveInterval</a:t>
                      </a:r>
                      <a:r>
                        <a:rPr lang="en-US" sz="1800" kern="1200" dirty="0" smtClean="0">
                          <a:effectLst/>
                        </a:rPr>
                        <a:t>(</a:t>
                      </a:r>
                      <a:r>
                        <a:rPr lang="en-US" sz="1800" kern="1200" dirty="0" err="1" smtClean="0">
                          <a:effectLst/>
                        </a:rPr>
                        <a:t>int</a:t>
                      </a:r>
                      <a:r>
                        <a:rPr lang="en-US" sz="1800" kern="1200" dirty="0" smtClean="0">
                          <a:effectLst/>
                        </a:rPr>
                        <a:t> interval)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void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 smtClean="0"/>
                        <a:t>세션 객체의 유효 시간을 초단위로 설정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554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39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쿠키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256896" cy="5740119"/>
          </a:xfrm>
        </p:spPr>
        <p:txBody>
          <a:bodyPr>
            <a:normAutofit/>
          </a:bodyPr>
          <a:lstStyle/>
          <a:p>
            <a:r>
              <a:rPr lang="ko-KR" altLang="en-US" dirty="0"/>
              <a:t>쿠키</a:t>
            </a:r>
            <a:r>
              <a:rPr lang="en-US" altLang="ko-KR" dirty="0"/>
              <a:t>(Cookie) </a:t>
            </a:r>
            <a:r>
              <a:rPr lang="ko-KR" altLang="en-US" dirty="0"/>
              <a:t>기술</a:t>
            </a:r>
            <a:endParaRPr lang="en-US" altLang="ko-KR" dirty="0"/>
          </a:p>
          <a:p>
            <a:pPr lvl="1"/>
            <a:r>
              <a:rPr lang="ko-KR" altLang="en-US" sz="1800" dirty="0"/>
              <a:t>쿠키 </a:t>
            </a:r>
            <a:r>
              <a:rPr lang="en-US" altLang="ko-KR" sz="1800" dirty="0"/>
              <a:t>(Cookie) – </a:t>
            </a:r>
            <a:r>
              <a:rPr lang="ko-KR" altLang="en-US" sz="1800" dirty="0"/>
              <a:t>웹 서버와 클라이언트가 주고받는 작은 데이터 조각</a:t>
            </a:r>
            <a:endParaRPr lang="en-US" altLang="ko-KR" sz="1800" dirty="0"/>
          </a:p>
          <a:p>
            <a:pPr lvl="1"/>
            <a:r>
              <a:rPr lang="ko-KR" altLang="en-US" sz="1800" dirty="0"/>
              <a:t>웹 서버가 웹 브라우저로 쿠키</a:t>
            </a:r>
            <a:r>
              <a:rPr lang="en-US" altLang="ko-KR" sz="1800" dirty="0"/>
              <a:t>(</a:t>
            </a:r>
            <a:r>
              <a:rPr lang="ko-KR" altLang="en-US" sz="1800" dirty="0"/>
              <a:t>데이터</a:t>
            </a:r>
            <a:r>
              <a:rPr lang="en-US" altLang="ko-KR" sz="1800" dirty="0"/>
              <a:t>)</a:t>
            </a:r>
            <a:r>
              <a:rPr lang="ko-KR" altLang="en-US" sz="1800" dirty="0"/>
              <a:t>를 보냈다가 웹 서버 쪽으로 다시 되돌려 받는 </a:t>
            </a:r>
            <a:r>
              <a:rPr lang="ko-KR" altLang="en-US" sz="1800" dirty="0" smtClean="0"/>
              <a:t>방법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예</a:t>
            </a:r>
            <a:endParaRPr lang="en-US" altLang="ko-KR" sz="1800" dirty="0" smtClean="0"/>
          </a:p>
          <a:p>
            <a:pPr lvl="2"/>
            <a:r>
              <a:rPr lang="en-US" altLang="ko-KR" dirty="0"/>
              <a:t>ID </a:t>
            </a:r>
            <a:r>
              <a:rPr lang="ko-KR" altLang="en-US" dirty="0"/>
              <a:t>저장</a:t>
            </a:r>
            <a:r>
              <a:rPr lang="en-US" altLang="ko-KR" dirty="0"/>
              <a:t>, </a:t>
            </a:r>
            <a:r>
              <a:rPr lang="ko-KR" altLang="en-US" dirty="0"/>
              <a:t>로그인 상태 유지</a:t>
            </a:r>
          </a:p>
          <a:p>
            <a:pPr lvl="2"/>
            <a:r>
              <a:rPr lang="en-US" altLang="ko-KR" dirty="0"/>
              <a:t>7</a:t>
            </a:r>
            <a:r>
              <a:rPr lang="ko-KR" altLang="en-US" dirty="0"/>
              <a:t>일간 다시 보지 않기</a:t>
            </a:r>
            <a:r>
              <a:rPr lang="en-US" altLang="ko-KR" dirty="0"/>
              <a:t>. (</a:t>
            </a:r>
            <a:r>
              <a:rPr lang="ko-KR" altLang="en-US" dirty="0"/>
              <a:t>쿠키에 체크한 날짜를 기록하여 다시 방문 했을 때의 시간과 시차를 이용하여 계산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최근 검색한 상품들을 광고에서 추천</a:t>
            </a:r>
          </a:p>
          <a:p>
            <a:pPr lvl="2"/>
            <a:r>
              <a:rPr lang="ko-KR" altLang="en-US" dirty="0"/>
              <a:t>쇼핑몰 장바구니 기능</a:t>
            </a:r>
          </a:p>
          <a:p>
            <a:pPr lvl="2"/>
            <a:endParaRPr lang="en-US" altLang="ko-KR" sz="1600" dirty="0" smtClean="0"/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6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쿠키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3375" y="757400"/>
            <a:ext cx="11242349" cy="574011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ko-KR" altLang="en-US" sz="2000" b="1" dirty="0" smtClean="0"/>
              <a:t>서버에서 쿠키 생성하고 브라우저에 전달</a:t>
            </a:r>
            <a:endParaRPr lang="en-US" altLang="ko-KR" sz="2000" b="1" dirty="0" smtClean="0"/>
          </a:p>
          <a:p>
            <a:endParaRPr lang="en-US" altLang="ko-KR" sz="2000" b="1" dirty="0" smtClean="0"/>
          </a:p>
          <a:p>
            <a:pPr lvl="3"/>
            <a:endParaRPr lang="en-US" altLang="ko-KR" dirty="0" smtClean="0"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endParaRPr lang="en-US" altLang="ko-KR" sz="2000" b="1" dirty="0" smtClean="0"/>
          </a:p>
          <a:p>
            <a:r>
              <a:rPr lang="ko-KR" altLang="en-US" sz="2000" b="1" dirty="0" smtClean="0"/>
              <a:t>서버에서 </a:t>
            </a:r>
            <a:r>
              <a:rPr lang="ko-KR" altLang="en-US" sz="2000" b="1" dirty="0"/>
              <a:t>쿠키 생성하고 브라우저에 전달</a:t>
            </a:r>
            <a:endParaRPr lang="en-US" altLang="ko-KR" sz="2000" b="1" dirty="0"/>
          </a:p>
          <a:p>
            <a:pPr lvl="3"/>
            <a:endParaRPr lang="en-US" altLang="ko-KR" dirty="0" smtClean="0"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 lvl="3"/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19</a:t>
            </a:fld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606723" y="1444109"/>
            <a:ext cx="4562467" cy="8715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  <a:cs typeface="Times New Roman" pitchFamily="18" charset="0"/>
              </a:rPr>
              <a:t>Cookie </a:t>
            </a:r>
            <a:r>
              <a:rPr lang="en-US" altLang="ko-KR" dirty="0" err="1">
                <a:latin typeface="+mn-ea"/>
                <a:cs typeface="Times New Roman" pitchFamily="18" charset="0"/>
              </a:rPr>
              <a:t>cookie</a:t>
            </a:r>
            <a:r>
              <a:rPr lang="en-US" altLang="ko-KR" dirty="0">
                <a:latin typeface="+mn-ea"/>
                <a:cs typeface="Times New Roman" pitchFamily="18" charset="0"/>
              </a:rPr>
              <a:t> = new Cookie( </a:t>
            </a:r>
            <a:r>
              <a:rPr lang="en-US" altLang="ko-KR" dirty="0" smtClean="0">
                <a:latin typeface="+mn-ea"/>
                <a:cs typeface="Times New Roman" pitchFamily="18" charset="0"/>
              </a:rPr>
              <a:t>"id", "</a:t>
            </a:r>
            <a:r>
              <a:rPr lang="en-US" altLang="ko-KR" dirty="0" err="1" smtClean="0">
                <a:latin typeface="+mn-ea"/>
                <a:cs typeface="Times New Roman" pitchFamily="18" charset="0"/>
              </a:rPr>
              <a:t>kim</a:t>
            </a:r>
            <a:r>
              <a:rPr lang="en-US" altLang="ko-KR" dirty="0" smtClean="0">
                <a:latin typeface="+mn-ea"/>
                <a:cs typeface="Times New Roman" pitchFamily="18" charset="0"/>
              </a:rPr>
              <a:t>");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+mn-ea"/>
                <a:cs typeface="Times New Roman" pitchFamily="18" charset="0"/>
              </a:rPr>
              <a:t>response.addCookie</a:t>
            </a:r>
            <a:r>
              <a:rPr lang="en-US" altLang="ko-KR" dirty="0">
                <a:latin typeface="+mn-ea"/>
                <a:cs typeface="Times New Roman" pitchFamily="18" charset="0"/>
              </a:rPr>
              <a:t>(cookie);</a:t>
            </a:r>
            <a:endParaRPr lang="en-US" dirty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78147" y="3412689"/>
            <a:ext cx="9280227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Cookie</a:t>
            </a:r>
            <a:r>
              <a:rPr 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[]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</a:t>
            </a:r>
            <a:r>
              <a:rPr 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ookies 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request.getCookies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();</a:t>
            </a:r>
          </a:p>
          <a:p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if 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(cookies 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!= null) {</a:t>
            </a:r>
          </a:p>
          <a:p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for (Cookie </a:t>
            </a:r>
            <a:r>
              <a:rPr 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coo 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cookies</a:t>
            </a:r>
            <a:r>
              <a:rPr 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{</a:t>
            </a:r>
          </a:p>
          <a:p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	if </a:t>
            </a:r>
            <a:r>
              <a:rPr 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coo</a:t>
            </a:r>
            <a:r>
              <a:rPr lang="en-US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.getName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().equals("id")) {</a:t>
            </a:r>
          </a:p>
          <a:p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		</a:t>
            </a:r>
            <a:r>
              <a:rPr 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	}</a:t>
            </a:r>
          </a:p>
          <a:p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}</a:t>
            </a:r>
          </a:p>
          <a:p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866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20</a:t>
            </a:fld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9859025" y="184206"/>
            <a:ext cx="221086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PrintNumber.java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4775" y="553538"/>
            <a:ext cx="11936537" cy="6186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HttpServletRequest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HttpServletResponse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ServletException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PrintWriter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.getWriter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fr-FR" sz="1200" dirty="0">
                <a:solidFill>
                  <a:srgbClr val="6A3E3E"/>
                </a:solidFill>
                <a:latin typeface="Consolas" panose="020B0609020204030204" pitchFamily="49" charset="0"/>
              </a:rPr>
              <a:t>mode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 = (String) </a:t>
            </a:r>
            <a:r>
              <a:rPr lang="fr-FR" sz="1200" dirty="0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.getAttribute(</a:t>
            </a:r>
            <a:r>
              <a:rPr lang="fr-FR" sz="1200" dirty="0">
                <a:solidFill>
                  <a:srgbClr val="2A00FF"/>
                </a:solidFill>
                <a:latin typeface="Consolas" panose="020B0609020204030204" pitchFamily="49" charset="0"/>
              </a:rPr>
              <a:t>"mode"</a:t>
            </a:r>
            <a:r>
              <a:rPr lang="fr-FR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idRequest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(String)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.getAttribute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2A00FF"/>
                </a:solidFill>
                <a:latin typeface="Consolas" panose="020B0609020204030204" pitchFamily="49" charset="0"/>
              </a:rPr>
              <a:t>a_id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idSession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(String)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.getSession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getAttribute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2A00FF"/>
                </a:solidFill>
                <a:latin typeface="Consolas" panose="020B0609020204030204" pitchFamily="49" charset="0"/>
              </a:rPr>
              <a:t>a_id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idApplication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(String)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getServletContext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sz="1200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getAttribute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a_id</a:t>
            </a:r>
            <a:r>
              <a:rPr lang="en-US" sz="1200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endParaRPr lang="en-US" sz="1200" dirty="0">
              <a:latin typeface="Consolas" panose="020B0609020204030204" pitchFamily="49" charset="0"/>
            </a:endParaRPr>
          </a:p>
          <a:p>
            <a:pPr lvl="1"/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"request scope: %s &lt;</a:t>
            </a:r>
            <a:r>
              <a:rPr lang="en-US" sz="1200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idRequest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"session scope: %s &lt;</a:t>
            </a:r>
            <a:r>
              <a:rPr lang="en-US" sz="1200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idSession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out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"application scope: %s &lt;</a:t>
            </a:r>
            <a:r>
              <a:rPr lang="en-US" sz="1200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sz="1200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6A3E3E"/>
                </a:solidFill>
                <a:latin typeface="Consolas" panose="020B0609020204030204" pitchFamily="49" charset="0"/>
              </a:rPr>
              <a:t>idApplication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mode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.equals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"c"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Cookie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idCookie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Cookie(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"id"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"lee"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Cookie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ageCookie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Cookie(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pwd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"20"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.addCookie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idCookie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.addCookie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ageCookie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Cookie[]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cookies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req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.getCookies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cookies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(Cookie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coo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cookies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"Name: %s, Value:%s\n"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coo</a:t>
            </a:r>
            <a:r>
              <a:rPr lang="en-US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.getName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  <a:r>
              <a:rPr lang="en-US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coo</a:t>
            </a:r>
            <a:r>
              <a:rPr lang="en-US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.getValue</a:t>
            </a:r>
            <a:r>
              <a:rPr lang="en-US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3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75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쿠키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256896" cy="574011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브라우저에 저장된 쿠키 검색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설정 </a:t>
            </a: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ko-KR" altLang="en-US" sz="1800" dirty="0" smtClean="0">
                <a:sym typeface="Wingdings" panose="05000000000000000000" pitchFamily="2" charset="2"/>
              </a:rPr>
              <a:t>사이트 설정 </a:t>
            </a: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모든 쿠키 및 사이트 </a:t>
            </a:r>
            <a:r>
              <a:rPr lang="ko-KR" altLang="en-US" dirty="0" smtClean="0"/>
              <a:t>데이터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모든 쿠키 및 사이트 </a:t>
            </a:r>
            <a:r>
              <a:rPr lang="ko-KR" altLang="en-US" dirty="0" smtClean="0"/>
              <a:t>데이터 보기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err="1" smtClean="0">
                <a:sym typeface="Wingdings" panose="05000000000000000000" pitchFamily="2" charset="2"/>
              </a:rPr>
              <a:t>검색창에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localhost</a:t>
            </a:r>
            <a:r>
              <a:rPr lang="ko-KR" altLang="en-US" dirty="0" smtClean="0">
                <a:sym typeface="Wingdings" panose="05000000000000000000" pitchFamily="2" charset="2"/>
              </a:rPr>
              <a:t>입력</a:t>
            </a:r>
            <a:endParaRPr lang="en-US" altLang="ko-KR" sz="2000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요청 후 개발자 도구를 이용하여 요청 쿠키 확인해보기</a:t>
            </a:r>
            <a:endParaRPr lang="en-US" altLang="ko-KR" sz="1800" dirty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21</a:t>
            </a:fld>
            <a:endParaRPr 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28" y="3627459"/>
            <a:ext cx="10725150" cy="21907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829883" y="5291756"/>
            <a:ext cx="5650890" cy="2710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31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쿠키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256896" cy="5740119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쿠키 관련 메서드</a:t>
            </a:r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22</a:t>
            </a:fld>
            <a:endParaRPr 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550043"/>
              </p:ext>
            </p:extLst>
          </p:nvPr>
        </p:nvGraphicFramePr>
        <p:xfrm>
          <a:off x="680699" y="1383743"/>
          <a:ext cx="10956600" cy="3489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900826">
                  <a:extLst>
                    <a:ext uri="{9D8B030D-6E8A-4147-A177-3AD203B41FA5}">
                      <a16:colId xmlns:a16="http://schemas.microsoft.com/office/drawing/2014/main" val="865995660"/>
                    </a:ext>
                  </a:extLst>
                </a:gridCol>
                <a:gridCol w="7055774">
                  <a:extLst>
                    <a:ext uri="{9D8B030D-6E8A-4147-A177-3AD203B41FA5}">
                      <a16:colId xmlns:a16="http://schemas.microsoft.com/office/drawing/2014/main" val="724808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114300" marB="1143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061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public void </a:t>
                      </a:r>
                      <a:r>
                        <a:rPr lang="en-US" dirty="0" err="1">
                          <a:effectLst/>
                        </a:rPr>
                        <a:t>setMaxAge</a:t>
                      </a:r>
                      <a:r>
                        <a:rPr lang="en-US" dirty="0">
                          <a:effectLst/>
                        </a:rPr>
                        <a:t>(</a:t>
                      </a:r>
                      <a:r>
                        <a:rPr lang="en-US" dirty="0" err="1">
                          <a:effectLst/>
                        </a:rPr>
                        <a:t>int</a:t>
                      </a:r>
                      <a:r>
                        <a:rPr lang="en-US" dirty="0">
                          <a:effectLst/>
                        </a:rPr>
                        <a:t> expiry)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dirty="0" smtClean="0">
                          <a:effectLst/>
                        </a:rPr>
                        <a:t>쿠키의 유효 시간을 초 단위로 설정</a:t>
                      </a:r>
                      <a:r>
                        <a:rPr lang="en-US" altLang="ko-KR" dirty="0" smtClean="0">
                          <a:effectLst/>
                        </a:rPr>
                        <a:t>, </a:t>
                      </a:r>
                      <a:r>
                        <a:rPr lang="ko-KR" altLang="en-US" dirty="0" smtClean="0">
                          <a:effectLst/>
                        </a:rPr>
                        <a:t>브라우저가 닫혀도 유지 가능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49436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public String </a:t>
                      </a:r>
                      <a:r>
                        <a:rPr lang="en-US" dirty="0" err="1">
                          <a:effectLst/>
                        </a:rPr>
                        <a:t>getName</a:t>
                      </a:r>
                      <a:r>
                        <a:rPr lang="en-US" dirty="0">
                          <a:effectLst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dirty="0" smtClean="0">
                          <a:effectLst/>
                        </a:rPr>
                        <a:t>쿠키의 이름 조회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80988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public String </a:t>
                      </a:r>
                      <a:r>
                        <a:rPr lang="en-US" dirty="0" err="1">
                          <a:effectLst/>
                        </a:rPr>
                        <a:t>getValue</a:t>
                      </a:r>
                      <a:r>
                        <a:rPr lang="en-US" dirty="0">
                          <a:effectLst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dirty="0" smtClean="0">
                          <a:effectLst/>
                        </a:rPr>
                        <a:t>쿠키의 값 조회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655918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public void setName(String name)</a:t>
                      </a:r>
                      <a:endParaRPr lang="en-US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dirty="0" smtClean="0">
                          <a:effectLst/>
                        </a:rPr>
                        <a:t>쿠키의 이름 설정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536229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public void </a:t>
                      </a:r>
                      <a:r>
                        <a:rPr lang="en-US" dirty="0" err="1">
                          <a:effectLst/>
                        </a:rPr>
                        <a:t>setValue</a:t>
                      </a:r>
                      <a:r>
                        <a:rPr lang="en-US" dirty="0">
                          <a:effectLst/>
                        </a:rPr>
                        <a:t>(String value)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dirty="0" smtClean="0">
                          <a:effectLst/>
                        </a:rPr>
                        <a:t>쿠키의 값 설정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96310816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>
                          <a:effectLst/>
                        </a:rPr>
                        <a:t>public void </a:t>
                      </a:r>
                      <a:r>
                        <a:rPr lang="en-US" dirty="0" err="1" smtClean="0">
                          <a:effectLst/>
                        </a:rPr>
                        <a:t>setPath</a:t>
                      </a:r>
                      <a:r>
                        <a:rPr lang="en-US" dirty="0" smtClean="0">
                          <a:effectLst/>
                        </a:rPr>
                        <a:t>(String </a:t>
                      </a:r>
                      <a:r>
                        <a:rPr lang="en-US" dirty="0" err="1" smtClean="0">
                          <a:effectLst/>
                        </a:rPr>
                        <a:t>url</a:t>
                      </a:r>
                      <a:r>
                        <a:rPr lang="en-US" dirty="0" smtClean="0">
                          <a:effectLst/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dirty="0" smtClean="0">
                          <a:effectLst/>
                        </a:rPr>
                        <a:t>쿠키가 적용될 </a:t>
                      </a:r>
                      <a:r>
                        <a:rPr lang="en-US" altLang="ko-KR" dirty="0" smtClean="0">
                          <a:effectLst/>
                        </a:rPr>
                        <a:t> </a:t>
                      </a:r>
                      <a:r>
                        <a:rPr lang="ko-KR" altLang="en-US" dirty="0" smtClean="0">
                          <a:effectLst/>
                        </a:rPr>
                        <a:t>경로 설정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17840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>
                          <a:effectLst/>
                        </a:rPr>
                        <a:t>public </a:t>
                      </a:r>
                      <a:r>
                        <a:rPr lang="en-US" dirty="0" smtClean="0">
                          <a:effectLst/>
                        </a:rPr>
                        <a:t>String </a:t>
                      </a:r>
                      <a:r>
                        <a:rPr lang="en-US" dirty="0" err="1" smtClean="0">
                          <a:effectLst/>
                        </a:rPr>
                        <a:t>getPath</a:t>
                      </a:r>
                      <a:r>
                        <a:rPr lang="en-US" dirty="0" smtClean="0">
                          <a:effectLst/>
                        </a:rPr>
                        <a:t>()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dirty="0" smtClean="0">
                          <a:effectLst/>
                        </a:rPr>
                        <a:t>설정된 경로 조회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225601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79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쿠키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3375" y="757400"/>
            <a:ext cx="11242349" cy="574011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ko-KR" altLang="en-US" sz="2000" dirty="0" smtClean="0"/>
              <a:t>쿠키와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세션 비교</a:t>
            </a:r>
            <a:endParaRPr lang="en-US" altLang="ko-KR" sz="2000" dirty="0"/>
          </a:p>
          <a:p>
            <a:pPr lvl="1"/>
            <a:r>
              <a:rPr lang="ko-KR" altLang="en-US" sz="1800" dirty="0"/>
              <a:t>쿠키는 클라이언트 쪽에 저장되기 때문에 보안상 문제가 될 수 있음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23</a:t>
            </a:fld>
            <a:endParaRPr 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922752"/>
              </p:ext>
            </p:extLst>
          </p:nvPr>
        </p:nvGraphicFramePr>
        <p:xfrm>
          <a:off x="839019" y="1901505"/>
          <a:ext cx="8280921" cy="2885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4158">
                  <a:extLst>
                    <a:ext uri="{9D8B030D-6E8A-4147-A177-3AD203B41FA5}">
                      <a16:colId xmlns:a16="http://schemas.microsoft.com/office/drawing/2014/main" val="1854138436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345306072"/>
                    </a:ext>
                  </a:extLst>
                </a:gridCol>
                <a:gridCol w="3492387">
                  <a:extLst>
                    <a:ext uri="{9D8B030D-6E8A-4147-A177-3AD203B41FA5}">
                      <a16:colId xmlns:a16="http://schemas.microsoft.com/office/drawing/2014/main" val="2338112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구분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쿠키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세션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8607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저장 위치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클라이언트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서버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1642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저장 형식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err="1" smtClean="0"/>
                        <a:t>텍스트형식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solidFill>
                            <a:srgbClr val="0000FF"/>
                          </a:solidFill>
                        </a:rPr>
                        <a:t>Ojbect</a:t>
                      </a:r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ko-KR" altLang="en-US" sz="1600" dirty="0" smtClean="0">
                          <a:solidFill>
                            <a:srgbClr val="0000FF"/>
                          </a:solidFill>
                        </a:rPr>
                        <a:t>형</a:t>
                      </a:r>
                      <a:endParaRPr 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97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종료 시점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쿠키 저장 시 설정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설정하지 않으면 브라우저 종료 시 소멸</a:t>
                      </a:r>
                      <a:r>
                        <a:rPr lang="en-US" altLang="ko-KR" sz="1600" dirty="0" smtClean="0"/>
                        <a:t>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세션이 종료되는 시점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796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자원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클라이언트 자원 사용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서버의 자원 사용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426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err="1" smtClean="0"/>
                        <a:t>용량제한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한 도메인당 </a:t>
                      </a:r>
                      <a:r>
                        <a:rPr lang="en-US" altLang="ko-KR" sz="1600" dirty="0" smtClean="0"/>
                        <a:t>20</a:t>
                      </a:r>
                      <a:r>
                        <a:rPr lang="ko-KR" altLang="en-US" sz="1600" dirty="0" smtClean="0"/>
                        <a:t>개</a:t>
                      </a:r>
                      <a:endParaRPr lang="en-US" altLang="ko-KR" sz="1600" dirty="0" smtClean="0"/>
                    </a:p>
                    <a:p>
                      <a:pPr algn="ctr"/>
                      <a:r>
                        <a:rPr lang="ko-KR" altLang="en-US" sz="1600" dirty="0" smtClean="0"/>
                        <a:t>쿠키 하나당 </a:t>
                      </a:r>
                      <a:r>
                        <a:rPr lang="en-US" altLang="ko-KR" sz="1600" dirty="0" smtClean="0"/>
                        <a:t>4KB</a:t>
                      </a:r>
                    </a:p>
                    <a:p>
                      <a:pPr algn="ctr"/>
                      <a:r>
                        <a:rPr lang="ko-KR" altLang="en-US" sz="1600" dirty="0" smtClean="0"/>
                        <a:t>총</a:t>
                      </a:r>
                      <a:r>
                        <a:rPr lang="en-US" sz="1600" dirty="0" smtClean="0"/>
                        <a:t> 300</a:t>
                      </a:r>
                      <a:r>
                        <a:rPr lang="ko-KR" altLang="en-US" sz="1600" dirty="0" smtClean="0"/>
                        <a:t>개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 smtClean="0"/>
                        <a:t>서버가 허용하는 한 용량 제한 없음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0750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54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16278</TotalTime>
  <Words>1571</Words>
  <Application>Microsoft Office PowerPoint</Application>
  <PresentationFormat>와이드스크린</PresentationFormat>
  <Paragraphs>403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5" baseType="lpstr">
      <vt:lpstr>Arial Unicode MS</vt:lpstr>
      <vt:lpstr>돋움체</vt:lpstr>
      <vt:lpstr>맑은 고딕</vt:lpstr>
      <vt:lpstr>Arial</vt:lpstr>
      <vt:lpstr>Calibri</vt:lpstr>
      <vt:lpstr>Calibri Light</vt:lpstr>
      <vt:lpstr>Consolas</vt:lpstr>
      <vt:lpstr>times new roman</vt:lpstr>
      <vt:lpstr>times new roman</vt:lpstr>
      <vt:lpstr>verdana</vt:lpstr>
      <vt:lpstr>Wingdings</vt:lpstr>
      <vt:lpstr>Office 테마</vt:lpstr>
      <vt:lpstr>데이터 공유하기</vt:lpstr>
      <vt:lpstr>Servlet 이해하기</vt:lpstr>
      <vt:lpstr>데이터 저장 영역</vt:lpstr>
      <vt:lpstr>데이터 저장 영역</vt:lpstr>
      <vt:lpstr>데이터 저장 영역</vt:lpstr>
      <vt:lpstr>데이터 저장 영역</vt:lpstr>
      <vt:lpstr>데이터 저장 영역</vt:lpstr>
      <vt:lpstr>데이터 저장 영역</vt:lpstr>
      <vt:lpstr>데이터 저장 영역</vt:lpstr>
      <vt:lpstr>데이터 저장 영역</vt:lpstr>
      <vt:lpstr>데이터 저장 영역</vt:lpstr>
      <vt:lpstr>데이터 저장 영역</vt:lpstr>
      <vt:lpstr>쿠키와 세션</vt:lpstr>
      <vt:lpstr>쿠키</vt:lpstr>
      <vt:lpstr>세션</vt:lpstr>
      <vt:lpstr>세션</vt:lpstr>
      <vt:lpstr>세션</vt:lpstr>
      <vt:lpstr>쿠키</vt:lpstr>
      <vt:lpstr>쿠키</vt:lpstr>
      <vt:lpstr>PowerPoint 프레젠테이션</vt:lpstr>
      <vt:lpstr>쿠키</vt:lpstr>
      <vt:lpstr>쿠키</vt:lpstr>
      <vt:lpstr>쿠키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3871</cp:revision>
  <dcterms:created xsi:type="dcterms:W3CDTF">2020-03-06T01:35:43Z</dcterms:created>
  <dcterms:modified xsi:type="dcterms:W3CDTF">2020-05-16T04:42:25Z</dcterms:modified>
  <cp:version>1000.0000.01</cp:version>
</cp:coreProperties>
</file>