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68" r:id="rId1"/>
  </p:sldMasterIdLst>
  <p:notesMasterIdLst>
    <p:notesMasterId r:id="rId23"/>
  </p:notesMasterIdLst>
  <p:sldIdLst>
    <p:sldId id="256" r:id="rId2"/>
    <p:sldId id="319" r:id="rId3"/>
    <p:sldId id="322" r:id="rId4"/>
    <p:sldId id="320" r:id="rId5"/>
    <p:sldId id="324" r:id="rId6"/>
    <p:sldId id="321" r:id="rId7"/>
    <p:sldId id="325" r:id="rId8"/>
    <p:sldId id="327" r:id="rId9"/>
    <p:sldId id="350" r:id="rId10"/>
    <p:sldId id="352" r:id="rId11"/>
    <p:sldId id="356" r:id="rId12"/>
    <p:sldId id="351" r:id="rId13"/>
    <p:sldId id="341" r:id="rId14"/>
    <p:sldId id="353" r:id="rId15"/>
    <p:sldId id="343" r:id="rId16"/>
    <p:sldId id="344" r:id="rId17"/>
    <p:sldId id="354" r:id="rId18"/>
    <p:sldId id="331" r:id="rId19"/>
    <p:sldId id="355" r:id="rId20"/>
    <p:sldId id="332" r:id="rId21"/>
    <p:sldId id="34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2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BC5610"/>
    <a:srgbClr val="FF00FF"/>
    <a:srgbClr val="ADFF2F"/>
    <a:srgbClr val="7FFFD4"/>
    <a:srgbClr val="FFA500"/>
    <a:srgbClr val="FF6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5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38" y="42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9B25A7D-0240-4D0E-A5B3-3234B957F6EF}" type="datetime1">
              <a:rPr lang="en-US"/>
              <a:pPr lvl="0">
                <a:defRPr/>
              </a:pPr>
              <a:t>5/4/2020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E163349B-D4CA-41F9-BE36-059942AD9331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DAD7-809B-4C4A-8A23-1E146EAD9E8F}" type="datetime1">
              <a:rPr lang="en-US" smtClean="0"/>
              <a:t>5/4/2020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2777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0552" y="160027"/>
            <a:ext cx="10515600" cy="344002"/>
          </a:xfrm>
        </p:spPr>
        <p:txBody>
          <a:bodyPr>
            <a:noAutofit/>
          </a:bodyPr>
          <a:lstStyle>
            <a:lvl1pPr>
              <a:defRPr sz="2500" b="1">
                <a:latin typeface="+mj-ea"/>
                <a:ea typeface="+mj-ea"/>
              </a:defRPr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530551" y="757400"/>
            <a:ext cx="11331011" cy="5429755"/>
          </a:xfrm>
        </p:spPr>
        <p:txBody>
          <a:bodyPr/>
          <a:lstStyle>
            <a:lvl1pPr>
              <a:lnSpc>
                <a:spcPct val="140000"/>
              </a:lnSpc>
              <a:defRPr sz="2400">
                <a:latin typeface="+mn-ea"/>
                <a:ea typeface="+mn-ea"/>
              </a:defRPr>
            </a:lvl1pPr>
            <a:lvl2pPr marL="685800" indent="-228600">
              <a:lnSpc>
                <a:spcPct val="140000"/>
              </a:lnSpc>
              <a:buFont typeface="Wingdings"/>
              <a:buChar char="§"/>
              <a:defRPr sz="2000">
                <a:latin typeface="+mn-ea"/>
                <a:ea typeface="+mn-ea"/>
              </a:defRPr>
            </a:lvl2pPr>
            <a:lvl3pPr>
              <a:lnSpc>
                <a:spcPct val="140000"/>
              </a:lnSpc>
              <a:defRPr sz="1800">
                <a:latin typeface="+mn-ea"/>
                <a:ea typeface="+mn-ea"/>
              </a:defRPr>
            </a:lvl3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06EDA91-2055-40FE-B45A-5804B08C2696}" type="datetime1">
              <a:rPr lang="en-US" smtClean="0"/>
              <a:t>5/4/2020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9227048" y="6356350"/>
            <a:ext cx="2743200" cy="365125"/>
          </a:xfrm>
        </p:spPr>
        <p:txBody>
          <a:bodyPr/>
          <a:lstStyle>
            <a:lvl1pPr>
              <a:defRPr sz="15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DA67E06-563C-4DAC-B352-5CBE54DE7B5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5C795-451E-46E0-AE92-5A497CF41061}" type="datetime1">
              <a:rPr lang="en-US" smtClean="0"/>
              <a:t>5/4/2020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5134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8975-3397-4FC8-A820-2112C504E006}" type="datetime1">
              <a:rPr lang="en-US" smtClean="0"/>
              <a:t>5/4/2020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74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B25CA-AD45-4C95-8C23-1C6A039469A5}" type="datetime1">
              <a:rPr lang="en-US" smtClean="0"/>
              <a:t>5/4/2020</a:t>
            </a:fld>
            <a:endParaRPr 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92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12E71-0A1A-4073-B60F-FA59C2CA001A}" type="datetime1">
              <a:rPr lang="en-US" smtClean="0"/>
              <a:t>5/4/2020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766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7758C-1694-4565-82D4-EBBF833CB257}" type="datetime1">
              <a:rPr lang="en-US" smtClean="0"/>
              <a:t>5/4/2020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756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25484-FD6D-41C0-A29C-477D0CF69679}" type="datetime1">
              <a:rPr lang="en-US" smtClean="0"/>
              <a:t>5/4/2020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916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A1DD6-19D4-44B1-8E93-C64691C69E13}" type="datetime1">
              <a:rPr lang="en-US" smtClean="0"/>
              <a:t>5/4/2020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051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333E4-9C34-4B01-AEFF-3C6F1AF12FD7}" type="datetime1">
              <a:rPr lang="en-US" smtClean="0"/>
              <a:t>5/4/2020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34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72B1E-F176-43F3-BFB4-FA11701E5307}" type="datetime1">
              <a:rPr lang="en-US" smtClean="0"/>
              <a:t>5/4/2020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755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ED2D49-5DE7-4756-AE86-CEB698DB686D}" type="datetime1">
              <a:rPr lang="en-US" smtClean="0"/>
              <a:t>5/4/2020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054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22130" y="838518"/>
            <a:ext cx="9700846" cy="1538922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4400" dirty="0" smtClean="0"/>
              <a:t>Web Application Server(WAS)</a:t>
            </a:r>
            <a:br>
              <a:rPr lang="en-US" altLang="ko-KR" sz="4400" dirty="0" smtClean="0"/>
            </a:br>
            <a:r>
              <a:rPr lang="ko-KR" altLang="en-US" sz="4400" dirty="0" smtClean="0"/>
              <a:t>웹 어플리케이션 서버</a:t>
            </a:r>
            <a:endParaRPr lang="ko-KR" altLang="en-US" sz="44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웹 서버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>
                <a:solidFill>
                  <a:prstClr val="black"/>
                </a:solidFill>
              </a:rPr>
              <a:t>웹 서버</a:t>
            </a:r>
            <a:r>
              <a:rPr lang="en-US" altLang="ko-KR" sz="2200" b="1" dirty="0">
                <a:solidFill>
                  <a:prstClr val="black"/>
                </a:solidFill>
              </a:rPr>
              <a:t>(web server)</a:t>
            </a:r>
          </a:p>
          <a:p>
            <a:pPr lvl="1"/>
            <a:r>
              <a:rPr lang="ko-KR" altLang="en-US" sz="1800" dirty="0"/>
              <a:t>웹 </a:t>
            </a:r>
            <a:r>
              <a:rPr lang="ko-KR" altLang="en-US" sz="1800" dirty="0" smtClean="0"/>
              <a:t>클라이언트</a:t>
            </a:r>
            <a:r>
              <a:rPr lang="en-US" altLang="ko-KR" sz="1800" dirty="0" smtClean="0"/>
              <a:t>(</a:t>
            </a:r>
            <a:r>
              <a:rPr lang="ko-KR" altLang="en-US" sz="1800" dirty="0" smtClean="0"/>
              <a:t>브라우저</a:t>
            </a:r>
            <a:r>
              <a:rPr lang="en-US" altLang="ko-KR" sz="1800" dirty="0" smtClean="0"/>
              <a:t>)</a:t>
            </a:r>
            <a:r>
              <a:rPr lang="ko-KR" altLang="en-US" sz="1800" dirty="0" smtClean="0"/>
              <a:t>로부터 </a:t>
            </a:r>
            <a:r>
              <a:rPr lang="en-US" altLang="ko-KR" sz="1800" dirty="0"/>
              <a:t>HTTP </a:t>
            </a:r>
            <a:r>
              <a:rPr lang="ko-KR" altLang="en-US" sz="1800" dirty="0"/>
              <a:t>요청을 받아들이고 적절하게 응답하는 역할</a:t>
            </a:r>
            <a:endParaRPr lang="en-US" altLang="ko-KR" sz="1600" dirty="0"/>
          </a:p>
          <a:p>
            <a:endParaRPr lang="en-US" altLang="ko-KR" sz="2200" b="1" dirty="0" smtClean="0">
              <a:solidFill>
                <a:prstClr val="black"/>
              </a:solidFill>
            </a:endParaRPr>
          </a:p>
          <a:p>
            <a:r>
              <a:rPr lang="ko-KR" altLang="en-US" sz="2200" b="1" dirty="0">
                <a:solidFill>
                  <a:prstClr val="black"/>
                </a:solidFill>
              </a:rPr>
              <a:t>웹  어플리케이션 서버</a:t>
            </a:r>
            <a:r>
              <a:rPr lang="en-US" altLang="ko-KR" sz="2200" b="1" dirty="0">
                <a:solidFill>
                  <a:prstClr val="black"/>
                </a:solidFill>
              </a:rPr>
              <a:t>(Web Application Server, WAS)</a:t>
            </a:r>
          </a:p>
          <a:p>
            <a:pPr lvl="1"/>
            <a:r>
              <a:rPr lang="ko-KR" altLang="en-US" sz="1800" dirty="0" smtClean="0"/>
              <a:t>웹 서버 </a:t>
            </a:r>
            <a:r>
              <a:rPr lang="en-US" altLang="ko-KR" sz="1800" dirty="0" smtClean="0"/>
              <a:t>+ Web Container</a:t>
            </a:r>
          </a:p>
          <a:p>
            <a:pPr lvl="1"/>
            <a:r>
              <a:rPr lang="en-US" altLang="ko-KR" sz="1800" dirty="0"/>
              <a:t>Web Container </a:t>
            </a:r>
            <a:r>
              <a:rPr lang="en-US" altLang="ko-KR" sz="1800" dirty="0" smtClean="0">
                <a:sym typeface="Wingdings" panose="05000000000000000000" pitchFamily="2" charset="2"/>
              </a:rPr>
              <a:t> </a:t>
            </a:r>
            <a:r>
              <a:rPr lang="en-US" altLang="ko-KR" sz="1800" dirty="0" smtClean="0"/>
              <a:t>Servlet</a:t>
            </a:r>
            <a:r>
              <a:rPr lang="en-US" altLang="ko-KR" sz="1800" dirty="0"/>
              <a:t>, ASP, JSP, PHP </a:t>
            </a:r>
            <a:r>
              <a:rPr lang="ko-KR" altLang="en-US" sz="1800" dirty="0"/>
              <a:t>등의 웹 언어로 작성된 웹 어플리케이션을 </a:t>
            </a:r>
            <a:r>
              <a:rPr lang="ko-KR" altLang="en-US" sz="1800" dirty="0" err="1"/>
              <a:t>서버단에서</a:t>
            </a:r>
            <a:r>
              <a:rPr lang="ko-KR" altLang="en-US" sz="1800" dirty="0"/>
              <a:t> </a:t>
            </a:r>
            <a:r>
              <a:rPr lang="ko-KR" altLang="en-US" sz="1800" dirty="0" smtClean="0"/>
              <a:t>실행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r>
              <a:rPr lang="ko-KR" altLang="en-US" dirty="0"/>
              <a:t>주요 기능</a:t>
            </a:r>
            <a:endParaRPr lang="en-US" altLang="ko-KR" dirty="0"/>
          </a:p>
          <a:p>
            <a:pPr lvl="2"/>
            <a:r>
              <a:rPr lang="ko-KR" altLang="en-US" dirty="0"/>
              <a:t>데이터베이스 관련 작업</a:t>
            </a:r>
            <a:endParaRPr lang="en-US" altLang="ko-KR" dirty="0"/>
          </a:p>
          <a:p>
            <a:pPr lvl="2"/>
            <a:r>
              <a:rPr lang="ko-KR" altLang="en-US" dirty="0" smtClean="0"/>
              <a:t>핵심 서비스</a:t>
            </a:r>
            <a:r>
              <a:rPr lang="en-US" altLang="ko-KR" dirty="0" smtClean="0"/>
              <a:t>(</a:t>
            </a:r>
            <a:r>
              <a:rPr lang="ko-KR" altLang="en-US" dirty="0"/>
              <a:t>비즈니스</a:t>
            </a:r>
            <a:r>
              <a:rPr lang="en-US" altLang="ko-KR" dirty="0" smtClean="0"/>
              <a:t>)</a:t>
            </a:r>
            <a:r>
              <a:rPr lang="ko-KR" altLang="en-US" dirty="0" smtClean="0"/>
              <a:t> </a:t>
            </a:r>
            <a:r>
              <a:rPr lang="ko-KR" altLang="en-US" dirty="0" err="1"/>
              <a:t>로직</a:t>
            </a:r>
            <a:r>
              <a:rPr lang="ko-KR" altLang="en-US" dirty="0"/>
              <a:t> 수행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sz="2000" dirty="0" smtClean="0"/>
          </a:p>
          <a:p>
            <a:pPr lvl="2"/>
            <a:endParaRPr lang="en-US" altLang="ko-KR" dirty="0" smtClean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233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웹 서버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altLang="ko-KR" sz="2000" dirty="0" smtClean="0"/>
          </a:p>
          <a:p>
            <a:pPr lvl="2"/>
            <a:endParaRPr lang="en-US" altLang="ko-KR" dirty="0" smtClean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3</a:t>
            </a:fld>
            <a:endParaRPr 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rcRect r="21838"/>
          <a:stretch/>
        </p:blipFill>
        <p:spPr>
          <a:xfrm>
            <a:off x="160857" y="972155"/>
            <a:ext cx="3074758" cy="2886075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160856" y="890750"/>
            <a:ext cx="1456591" cy="37407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서버 웹 네트워크 - Pixabay의 무료 벡터 그래픽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0901" y="1502120"/>
            <a:ext cx="1240810" cy="1741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데이터 베이스 - 무료 과학 기술개 아이콘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8985" y="2454721"/>
            <a:ext cx="1278062" cy="1278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아래쪽 화살표 10"/>
          <p:cNvSpPr/>
          <p:nvPr/>
        </p:nvSpPr>
        <p:spPr>
          <a:xfrm rot="5400000">
            <a:off x="6097644" y="255356"/>
            <a:ext cx="727947" cy="479107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아래쪽 화살표 13"/>
          <p:cNvSpPr/>
          <p:nvPr/>
        </p:nvSpPr>
        <p:spPr>
          <a:xfrm rot="16200000">
            <a:off x="6087041" y="-723430"/>
            <a:ext cx="749153" cy="479107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5681865" y="1470778"/>
            <a:ext cx="1503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요청</a:t>
            </a:r>
            <a:r>
              <a:rPr lang="en-US" altLang="ko-KR" dirty="0" smtClean="0"/>
              <a:t>(request)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5681865" y="2471118"/>
            <a:ext cx="1640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응답</a:t>
            </a:r>
            <a:r>
              <a:rPr lang="en-US" altLang="ko-KR" dirty="0" smtClean="0"/>
              <a:t>(response)</a:t>
            </a:r>
            <a:endParaRPr lang="en-US" dirty="0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5"/>
          <a:srcRect l="1369" t="1575"/>
          <a:stretch/>
        </p:blipFill>
        <p:spPr>
          <a:xfrm>
            <a:off x="4903969" y="3215448"/>
            <a:ext cx="3248101" cy="28195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직사각형 15"/>
          <p:cNvSpPr/>
          <p:nvPr/>
        </p:nvSpPr>
        <p:spPr>
          <a:xfrm>
            <a:off x="9639300" y="1220661"/>
            <a:ext cx="2402012" cy="2780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10415794" y="4050448"/>
            <a:ext cx="930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웹</a:t>
            </a:r>
            <a:r>
              <a:rPr lang="en-US" dirty="0" smtClean="0"/>
              <a:t> </a:t>
            </a:r>
            <a:r>
              <a:rPr lang="ko-KR" altLang="en-US" dirty="0" smtClean="0"/>
              <a:t>서버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78655" y="4358864"/>
            <a:ext cx="1622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웹</a:t>
            </a:r>
            <a:r>
              <a:rPr lang="en-US" dirty="0" smtClean="0"/>
              <a:t> </a:t>
            </a:r>
            <a:r>
              <a:rPr lang="ko-KR" altLang="en-US" dirty="0" smtClean="0"/>
              <a:t>클라이언트</a:t>
            </a:r>
            <a:endParaRPr lang="en-US" dirty="0"/>
          </a:p>
        </p:txBody>
      </p:sp>
      <p:pic>
        <p:nvPicPr>
          <p:cNvPr id="1034" name="Picture 10" descr="Vector Document Icon, Document Icon, Sheet, List PNG and Vector ...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91" t="13460" r="22789" b="13728"/>
          <a:stretch/>
        </p:blipFill>
        <p:spPr bwMode="auto">
          <a:xfrm>
            <a:off x="9816091" y="4566264"/>
            <a:ext cx="846460" cy="1136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10" descr="Vector Document Icon, Document Icon, Sheet, List PNG and Vector ...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91" t="13460" r="22789" b="13728"/>
          <a:stretch/>
        </p:blipFill>
        <p:spPr bwMode="auto">
          <a:xfrm>
            <a:off x="10996712" y="4573659"/>
            <a:ext cx="846460" cy="1136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9943720" y="571357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정적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11119518" y="573182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동적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0442243" y="4992334"/>
            <a:ext cx="877163" cy="369332"/>
          </a:xfrm>
          <a:prstGeom prst="rect">
            <a:avLst/>
          </a:prstGeom>
          <a:solidFill>
            <a:schemeClr val="accent4">
              <a:alpha val="8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페이지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타원 3"/>
          <p:cNvSpPr/>
          <p:nvPr/>
        </p:nvSpPr>
        <p:spPr>
          <a:xfrm>
            <a:off x="731637" y="3339236"/>
            <a:ext cx="318420" cy="31071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이등변 삼각형 9"/>
          <p:cNvSpPr/>
          <p:nvPr/>
        </p:nvSpPr>
        <p:spPr>
          <a:xfrm>
            <a:off x="731637" y="3649952"/>
            <a:ext cx="318420" cy="579366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4645763" y="1918967"/>
            <a:ext cx="3617337" cy="46166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/>
              <a:t>HTTP(</a:t>
            </a:r>
            <a:r>
              <a:rPr lang="en-US" dirty="0" err="1"/>
              <a:t>HyperText</a:t>
            </a:r>
            <a:r>
              <a:rPr lang="en-US" dirty="0"/>
              <a:t> Transfer Protocol</a:t>
            </a:r>
            <a:r>
              <a:rPr lang="en-US" sz="2400" dirty="0" smtClean="0"/>
              <a:t>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78160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웹 서버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altLang="ko-KR" sz="2000" dirty="0" smtClean="0"/>
          </a:p>
          <a:p>
            <a:pPr lvl="2"/>
            <a:endParaRPr lang="en-US" altLang="ko-KR" dirty="0" smtClean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4</a:t>
            </a:fld>
            <a:endParaRPr 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rcRect r="21838"/>
          <a:stretch/>
        </p:blipFill>
        <p:spPr>
          <a:xfrm>
            <a:off x="160857" y="972155"/>
            <a:ext cx="3074758" cy="2886075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2374381" y="2276821"/>
            <a:ext cx="872836" cy="37407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직사각형 7"/>
          <p:cNvSpPr/>
          <p:nvPr/>
        </p:nvSpPr>
        <p:spPr>
          <a:xfrm>
            <a:off x="160856" y="890750"/>
            <a:ext cx="1456591" cy="37407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rcRect t="3005"/>
          <a:stretch/>
        </p:blipFill>
        <p:spPr>
          <a:xfrm>
            <a:off x="460990" y="4078566"/>
            <a:ext cx="2781300" cy="12102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28" name="Picture 4" descr="데이터 베이스 - 무료 과학 기술개 아이콘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3457" y="4703520"/>
            <a:ext cx="1278062" cy="1278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아래쪽 화살표 10"/>
          <p:cNvSpPr/>
          <p:nvPr/>
        </p:nvSpPr>
        <p:spPr>
          <a:xfrm rot="5400000">
            <a:off x="5554719" y="851091"/>
            <a:ext cx="727947" cy="359960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아래쪽 화살표 13"/>
          <p:cNvSpPr/>
          <p:nvPr/>
        </p:nvSpPr>
        <p:spPr>
          <a:xfrm rot="16200000">
            <a:off x="5544115" y="-127695"/>
            <a:ext cx="749154" cy="359960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457713" y="1926150"/>
            <a:ext cx="841321" cy="46166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/>
              <a:t>HTTP</a:t>
            </a: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5119890" y="1470778"/>
            <a:ext cx="1503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요청</a:t>
            </a:r>
            <a:r>
              <a:rPr lang="en-US" altLang="ko-KR" dirty="0" smtClean="0"/>
              <a:t>(request)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5119890" y="2471118"/>
            <a:ext cx="1640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응답</a:t>
            </a:r>
            <a:r>
              <a:rPr lang="en-US" altLang="ko-KR" dirty="0" smtClean="0"/>
              <a:t>(response)</a:t>
            </a:r>
            <a:endParaRPr lang="en-US" dirty="0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5"/>
          <a:srcRect l="1369" t="1575"/>
          <a:stretch/>
        </p:blipFill>
        <p:spPr>
          <a:xfrm>
            <a:off x="4332469" y="3243608"/>
            <a:ext cx="3248101" cy="28195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직사각형 15"/>
          <p:cNvSpPr/>
          <p:nvPr/>
        </p:nvSpPr>
        <p:spPr>
          <a:xfrm>
            <a:off x="8099099" y="757400"/>
            <a:ext cx="3905246" cy="53057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9675512" y="6128187"/>
            <a:ext cx="618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WAS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1019065" y="5357551"/>
            <a:ext cx="1622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웹</a:t>
            </a:r>
            <a:r>
              <a:rPr lang="en-US" dirty="0" smtClean="0"/>
              <a:t> </a:t>
            </a:r>
            <a:r>
              <a:rPr lang="ko-KR" altLang="en-US" dirty="0" smtClean="0"/>
              <a:t>클라이언트</a:t>
            </a:r>
            <a:endParaRPr lang="en-US" dirty="0"/>
          </a:p>
        </p:txBody>
      </p:sp>
      <p:sp>
        <p:nvSpPr>
          <p:cNvPr id="25" name="정육면체 24"/>
          <p:cNvSpPr/>
          <p:nvPr/>
        </p:nvSpPr>
        <p:spPr>
          <a:xfrm>
            <a:off x="8760574" y="2872402"/>
            <a:ext cx="2238226" cy="1206769"/>
          </a:xfrm>
          <a:prstGeom prst="cub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실행 환경</a:t>
            </a:r>
            <a:endParaRPr lang="en-US" dirty="0"/>
          </a:p>
        </p:txBody>
      </p:sp>
      <p:sp>
        <p:nvSpPr>
          <p:cNvPr id="26" name="왼쪽/오른쪽 화살표 25"/>
          <p:cNvSpPr/>
          <p:nvPr/>
        </p:nvSpPr>
        <p:spPr>
          <a:xfrm rot="2782628">
            <a:off x="10812103" y="4110279"/>
            <a:ext cx="787190" cy="364894"/>
          </a:xfrm>
          <a:prstGeom prst="left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직사각형 27"/>
          <p:cNvSpPr/>
          <p:nvPr/>
        </p:nvSpPr>
        <p:spPr>
          <a:xfrm>
            <a:off x="8249612" y="940343"/>
            <a:ext cx="2389445" cy="33872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freeboard</a:t>
            </a:r>
            <a:endParaRPr lang="en-US" dirty="0"/>
          </a:p>
        </p:txBody>
      </p:sp>
      <p:sp>
        <p:nvSpPr>
          <p:cNvPr id="36" name="직사각형 35"/>
          <p:cNvSpPr/>
          <p:nvPr/>
        </p:nvSpPr>
        <p:spPr>
          <a:xfrm>
            <a:off x="8258017" y="1365850"/>
            <a:ext cx="2389445" cy="33872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archive</a:t>
            </a:r>
            <a:endParaRPr lang="en-US" dirty="0"/>
          </a:p>
        </p:txBody>
      </p:sp>
      <p:sp>
        <p:nvSpPr>
          <p:cNvPr id="37" name="직사각형 36"/>
          <p:cNvSpPr/>
          <p:nvPr/>
        </p:nvSpPr>
        <p:spPr>
          <a:xfrm>
            <a:off x="8249611" y="1793132"/>
            <a:ext cx="2389445" cy="33872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KIN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9239250" y="4144218"/>
            <a:ext cx="1104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Container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10627334" y="1030699"/>
            <a:ext cx="14139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Server</a:t>
            </a:r>
          </a:p>
          <a:p>
            <a:pPr algn="ctr"/>
            <a:r>
              <a:rPr lang="en-US" dirty="0" smtClean="0"/>
              <a:t>Application</a:t>
            </a:r>
          </a:p>
          <a:p>
            <a:pPr algn="ctr"/>
            <a:r>
              <a:rPr lang="en-US" dirty="0" smtClean="0"/>
              <a:t>(</a:t>
            </a:r>
            <a:r>
              <a:rPr lang="en-US" dirty="0"/>
              <a:t>servlet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0" name="왼쪽/오른쪽 화살표 39"/>
          <p:cNvSpPr/>
          <p:nvPr/>
        </p:nvSpPr>
        <p:spPr>
          <a:xfrm rot="2782628">
            <a:off x="9389411" y="2639581"/>
            <a:ext cx="591427" cy="364894"/>
          </a:xfrm>
          <a:prstGeom prst="left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8237023" y="2157328"/>
            <a:ext cx="24104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 smtClean="0"/>
              <a:t>동적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페이지 생성 코드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70508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웹 서버</a:t>
            </a:r>
            <a:endParaRPr lang="ko-KR" altLang="en-US" sz="28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5</a:t>
            </a:fld>
            <a:endParaRPr 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530552" y="689819"/>
            <a:ext cx="10706100" cy="415498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808080"/>
                </a:solidFill>
                <a:latin typeface="Consolas" panose="020B0609020204030204" pitchFamily="49" charset="0"/>
              </a:rPr>
              <a:t>     &lt;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table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style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"border: 1px solid black;"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tr</a:t>
            </a:r>
            <a:r>
              <a:rPr lang="en-US" sz="1600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ko-KR" alt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ko-KR" alt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th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ko-KR" alt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번호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th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th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ko-KR" alt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제목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th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th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ko-KR" alt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글쓴이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th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th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ko-KR" alt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날짜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th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th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ko-KR" alt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조횟수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th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tr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tr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td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ko-KR" alt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공지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td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td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ko-KR" alt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학사</a:t>
            </a:r>
            <a:r>
              <a:rPr lang="en-US" altLang="ko-KR" sz="1600" dirty="0">
                <a:solidFill>
                  <a:srgbClr val="D4D4D4"/>
                </a:solidFill>
                <a:latin typeface="Consolas" panose="020B0609020204030204" pitchFamily="49" charset="0"/>
              </a:rPr>
              <a:t>] 2020-2</a:t>
            </a:r>
            <a:r>
              <a:rPr lang="ko-KR" alt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학기 교내 </a:t>
            </a:r>
            <a:r>
              <a:rPr lang="ko-KR" alt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성적장학생</a:t>
            </a:r>
            <a:r>
              <a:rPr lang="ko-KR" alt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ko-KR" alt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선발관련</a:t>
            </a:r>
            <a:r>
              <a:rPr lang="ko-KR" alt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외국어 성적표 제출 안내</a:t>
            </a:r>
            <a:r>
              <a:rPr lang="en-US" altLang="ko-KR" sz="1600" dirty="0">
                <a:solidFill>
                  <a:srgbClr val="D4D4D4"/>
                </a:solidFill>
                <a:latin typeface="Consolas" panose="020B0609020204030204" pitchFamily="49" charset="0"/>
              </a:rPr>
              <a:t>(~6/30,</a:t>
            </a:r>
            <a:r>
              <a:rPr lang="ko-KR" alt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화</a:t>
            </a:r>
            <a:r>
              <a:rPr lang="en-US" altLang="ko-KR" sz="1600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td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td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ko-KR" alt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조교</a:t>
            </a:r>
            <a:r>
              <a:rPr lang="en-US" altLang="ko-KR" sz="1600" dirty="0">
                <a:solidFill>
                  <a:srgbClr val="D4D4D4"/>
                </a:solidFill>
                <a:latin typeface="Consolas" panose="020B0609020204030204" pitchFamily="49" charset="0"/>
              </a:rPr>
              <a:t>]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td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td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2020.04.28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td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td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98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td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tr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table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/>
          <a:srcRect t="3196"/>
          <a:stretch/>
        </p:blipFill>
        <p:spPr>
          <a:xfrm>
            <a:off x="521027" y="4924425"/>
            <a:ext cx="7810500" cy="58090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30552" y="5631851"/>
            <a:ext cx="682270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온전한 게시판을 만들려면</a:t>
            </a:r>
            <a:r>
              <a:rPr lang="en-US" altLang="ko-KR" dirty="0" smtClean="0"/>
              <a:t>?</a:t>
            </a:r>
          </a:p>
          <a:p>
            <a:r>
              <a:rPr lang="en-US" altLang="ko-KR" sz="1600" dirty="0" smtClean="0"/>
              <a:t>1. SQL </a:t>
            </a:r>
            <a:r>
              <a:rPr lang="ko-KR" altLang="en-US" sz="1600" dirty="0" smtClean="0"/>
              <a:t>실행을 통해 데이터베이스에서 전체 </a:t>
            </a:r>
            <a:r>
              <a:rPr lang="ko-KR" altLang="en-US" sz="1600" dirty="0" err="1" smtClean="0"/>
              <a:t>게시글의</a:t>
            </a:r>
            <a:r>
              <a:rPr lang="ko-KR" altLang="en-US" sz="1600" dirty="0" smtClean="0"/>
              <a:t> 정보를 조회하는 코드</a:t>
            </a:r>
            <a:endParaRPr lang="en-US" altLang="ko-KR" sz="1600" dirty="0" smtClean="0"/>
          </a:p>
          <a:p>
            <a:r>
              <a:rPr lang="en-US" sz="1600" dirty="0" smtClean="0"/>
              <a:t>2. </a:t>
            </a:r>
            <a:r>
              <a:rPr lang="en-US" sz="1600" dirty="0" err="1" smtClean="0"/>
              <a:t>tr</a:t>
            </a:r>
            <a:r>
              <a:rPr lang="en-US" sz="1600" dirty="0" smtClean="0"/>
              <a:t>, td</a:t>
            </a:r>
            <a:r>
              <a:rPr lang="ko-KR" altLang="en-US" sz="1600" dirty="0" smtClean="0"/>
              <a:t>를 반복적으로</a:t>
            </a:r>
            <a:r>
              <a:rPr lang="en-US" altLang="ko-KR" sz="1600" dirty="0" smtClean="0"/>
              <a:t>( for</a:t>
            </a:r>
            <a:r>
              <a:rPr lang="ko-KR" altLang="en-US" sz="1600" dirty="0" smtClean="0"/>
              <a:t>문</a:t>
            </a:r>
            <a:r>
              <a:rPr lang="en-US" altLang="ko-KR" sz="1600" dirty="0" smtClean="0"/>
              <a:t>) </a:t>
            </a:r>
            <a:r>
              <a:rPr lang="ko-KR" altLang="en-US" sz="1600" dirty="0" smtClean="0"/>
              <a:t>실행하는 코드</a:t>
            </a:r>
            <a:endParaRPr lang="en-US" altLang="ko-KR" sz="1600" dirty="0" smtClean="0"/>
          </a:p>
          <a:p>
            <a:r>
              <a:rPr lang="en-US" sz="1600" dirty="0" smtClean="0">
                <a:sym typeface="Wingdings" panose="05000000000000000000" pitchFamily="2" charset="2"/>
              </a:rPr>
              <a:t></a:t>
            </a:r>
            <a:r>
              <a:rPr lang="ko-KR" altLang="en-US" sz="1600" dirty="0" smtClean="0">
                <a:sym typeface="Wingdings" panose="05000000000000000000" pitchFamily="2" charset="2"/>
              </a:rPr>
              <a:t>이러한 코드</a:t>
            </a:r>
            <a:r>
              <a:rPr lang="en-US" altLang="ko-KR" sz="1600" dirty="0" smtClean="0">
                <a:sym typeface="Wingdings" panose="05000000000000000000" pitchFamily="2" charset="2"/>
              </a:rPr>
              <a:t>(</a:t>
            </a:r>
            <a:r>
              <a:rPr lang="ko-KR" altLang="en-US" sz="1600" dirty="0" smtClean="0">
                <a:sym typeface="Wingdings" panose="05000000000000000000" pitchFamily="2" charset="2"/>
              </a:rPr>
              <a:t>프로그램</a:t>
            </a:r>
            <a:r>
              <a:rPr lang="en-US" altLang="ko-KR" sz="1600" dirty="0" smtClean="0">
                <a:sym typeface="Wingdings" panose="05000000000000000000" pitchFamily="2" charset="2"/>
              </a:rPr>
              <a:t>)</a:t>
            </a:r>
            <a:r>
              <a:rPr lang="ko-KR" altLang="en-US" sz="1600" dirty="0" smtClean="0">
                <a:sym typeface="Wingdings" panose="05000000000000000000" pitchFamily="2" charset="2"/>
              </a:rPr>
              <a:t>을 실행할 수 있는 환경이 필요함 </a:t>
            </a:r>
            <a:r>
              <a:rPr lang="en-US" altLang="ko-KR" sz="1600" dirty="0" smtClean="0">
                <a:sym typeface="Wingdings" panose="05000000000000000000" pitchFamily="2" charset="2"/>
              </a:rPr>
              <a:t> Web Container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55680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/>
        </p:nvSpPr>
        <p:spPr>
          <a:xfrm>
            <a:off x="2114354" y="4729305"/>
            <a:ext cx="7601146" cy="177630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웹 서버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>
                <a:solidFill>
                  <a:prstClr val="black"/>
                </a:solidFill>
              </a:rPr>
              <a:t>요청 페이지 특성에 따른 역할 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구분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r>
              <a:rPr lang="ko-KR" altLang="en-US" dirty="0"/>
              <a:t>정적 페이지</a:t>
            </a:r>
            <a:endParaRPr lang="en-US" altLang="ko-KR" dirty="0"/>
          </a:p>
          <a:p>
            <a:pPr lvl="2"/>
            <a:r>
              <a:rPr lang="ko-KR" altLang="en-US" dirty="0"/>
              <a:t>항상 동일한 파일</a:t>
            </a:r>
            <a:endParaRPr lang="en-US" altLang="ko-KR" dirty="0"/>
          </a:p>
          <a:p>
            <a:pPr lvl="2"/>
            <a:r>
              <a:rPr lang="ko-KR" altLang="en-US" dirty="0"/>
              <a:t>이미지</a:t>
            </a:r>
            <a:r>
              <a:rPr lang="en-US" altLang="ko-KR" dirty="0"/>
              <a:t>, html, </a:t>
            </a:r>
            <a:r>
              <a:rPr lang="en-US" altLang="ko-KR" dirty="0" err="1"/>
              <a:t>css</a:t>
            </a:r>
            <a:r>
              <a:rPr lang="en-US" altLang="ko-KR" dirty="0"/>
              <a:t>, </a:t>
            </a:r>
            <a:r>
              <a:rPr lang="en-US" altLang="ko-KR" dirty="0" err="1"/>
              <a:t>javascript</a:t>
            </a:r>
            <a:r>
              <a:rPr lang="en-US" altLang="ko-KR" dirty="0"/>
              <a:t> </a:t>
            </a:r>
            <a:r>
              <a:rPr lang="ko-KR" altLang="en-US" dirty="0"/>
              <a:t>파일</a:t>
            </a:r>
            <a:endParaRPr lang="en-US" altLang="ko-KR" dirty="0"/>
          </a:p>
          <a:p>
            <a:pPr lvl="1"/>
            <a:r>
              <a:rPr lang="ko-KR" altLang="en-US" dirty="0"/>
              <a:t>동적 페이지</a:t>
            </a:r>
            <a:endParaRPr lang="en-US" altLang="ko-KR" dirty="0"/>
          </a:p>
          <a:p>
            <a:pPr lvl="2"/>
            <a:r>
              <a:rPr lang="ko-KR" altLang="en-US" dirty="0"/>
              <a:t>요청에 맞는 동적인 컨텐츠</a:t>
            </a:r>
            <a:endParaRPr lang="en-US" altLang="ko-KR" dirty="0"/>
          </a:p>
          <a:p>
            <a:pPr lvl="2"/>
            <a:r>
              <a:rPr lang="ko-KR" altLang="en-US" dirty="0"/>
              <a:t>사용자 장바구니</a:t>
            </a:r>
            <a:r>
              <a:rPr lang="en-US" altLang="ko-KR" dirty="0"/>
              <a:t>, </a:t>
            </a:r>
            <a:r>
              <a:rPr lang="ko-KR" altLang="en-US" dirty="0" smtClean="0"/>
              <a:t>게시판</a:t>
            </a:r>
            <a:r>
              <a:rPr lang="en-US" altLang="ko-KR" dirty="0" smtClean="0"/>
              <a:t>(</a:t>
            </a:r>
            <a:r>
              <a:rPr lang="ko-KR" altLang="en-US" dirty="0"/>
              <a:t>특히</a:t>
            </a:r>
            <a:r>
              <a:rPr lang="en-US" altLang="ko-KR" dirty="0"/>
              <a:t>,</a:t>
            </a:r>
            <a:r>
              <a:rPr lang="ko-KR" altLang="en-US" dirty="0"/>
              <a:t> 데이터베이스를 활용하는 작업</a:t>
            </a:r>
            <a:r>
              <a:rPr lang="en-US" altLang="ko-KR" dirty="0"/>
              <a:t>)</a:t>
            </a:r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ko-KR" altLang="en-US" sz="1800" b="1" dirty="0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6</a:t>
            </a:fld>
            <a:endParaRPr lang="en-US"/>
          </a:p>
        </p:txBody>
      </p:sp>
      <p:sp>
        <p:nvSpPr>
          <p:cNvPr id="6" name="정육면체 5"/>
          <p:cNvSpPr/>
          <p:nvPr/>
        </p:nvSpPr>
        <p:spPr>
          <a:xfrm>
            <a:off x="6886315" y="5116187"/>
            <a:ext cx="2457709" cy="1206769"/>
          </a:xfrm>
          <a:prstGeom prst="cub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962016" y="4753616"/>
            <a:ext cx="2384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Web(Servlet) Container</a:t>
            </a:r>
            <a:endParaRPr lang="en-US" dirty="0"/>
          </a:p>
        </p:txBody>
      </p:sp>
      <p:pic>
        <p:nvPicPr>
          <p:cNvPr id="2050" name="Picture 2" descr="Code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73" t="10707" r="23774" b="12442"/>
          <a:stretch/>
        </p:blipFill>
        <p:spPr bwMode="auto">
          <a:xfrm>
            <a:off x="10085574" y="3707709"/>
            <a:ext cx="1695450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od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9716" y="4172124"/>
            <a:ext cx="2029312" cy="822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모서리가 둥근 직사각형 19"/>
          <p:cNvSpPr/>
          <p:nvPr/>
        </p:nvSpPr>
        <p:spPr>
          <a:xfrm>
            <a:off x="2356148" y="5050431"/>
            <a:ext cx="3312368" cy="1296144"/>
          </a:xfrm>
          <a:prstGeom prst="round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4675689" y="4310405"/>
            <a:ext cx="2478476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 dirty="0" smtClean="0"/>
              <a:t>웹</a:t>
            </a:r>
            <a:r>
              <a:rPr lang="en-US" altLang="ko-KR" dirty="0"/>
              <a:t> </a:t>
            </a:r>
            <a:r>
              <a:rPr lang="ko-KR" altLang="en-US" dirty="0" smtClean="0"/>
              <a:t>어플리케이션 서버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2462198" y="5111183"/>
            <a:ext cx="320631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/>
              <a:t>요청 받음</a:t>
            </a:r>
            <a:endParaRPr lang="en-US" altLang="ko-KR" sz="1600" dirty="0" smtClean="0"/>
          </a:p>
          <a:p>
            <a:r>
              <a:rPr lang="ko-KR" altLang="en-US" sz="1600" dirty="0" smtClean="0"/>
              <a:t>클라이언트 요청이</a:t>
            </a:r>
            <a:endParaRPr lang="en-US" altLang="ko-KR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정적 컨텐츠</a:t>
            </a:r>
            <a:r>
              <a:rPr lang="en-US" altLang="ko-KR" sz="1600" dirty="0" smtClean="0"/>
              <a:t>: </a:t>
            </a:r>
            <a:r>
              <a:rPr lang="ko-KR" altLang="en-US" sz="1600" dirty="0" smtClean="0"/>
              <a:t>내가 처리</a:t>
            </a:r>
            <a:r>
              <a:rPr lang="en-US" altLang="ko-KR" sz="1600" dirty="0" smtClean="0"/>
              <a:t>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동적 콘텐츠</a:t>
            </a:r>
            <a:r>
              <a:rPr lang="en-US" altLang="ko-KR" sz="1600" dirty="0" smtClean="0"/>
              <a:t>: WAS</a:t>
            </a:r>
            <a:r>
              <a:rPr lang="ko-KR" altLang="en-US" sz="1600" dirty="0" smtClean="0"/>
              <a:t>에 넘김</a:t>
            </a:r>
            <a:endParaRPr lang="en-US" altLang="ko-KR" sz="1600" dirty="0" smtClean="0"/>
          </a:p>
          <a:p>
            <a:endParaRPr lang="en-US" sz="1600" dirty="0"/>
          </a:p>
        </p:txBody>
      </p:sp>
      <p:sp>
        <p:nvSpPr>
          <p:cNvPr id="26" name="오른쪽 화살표 25"/>
          <p:cNvSpPr/>
          <p:nvPr/>
        </p:nvSpPr>
        <p:spPr>
          <a:xfrm>
            <a:off x="1921084" y="5520742"/>
            <a:ext cx="386540" cy="231535"/>
          </a:xfrm>
          <a:prstGeom prst="rightArrow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854" y="5093251"/>
            <a:ext cx="923818" cy="1086518"/>
          </a:xfrm>
          <a:prstGeom prst="rect">
            <a:avLst/>
          </a:prstGeom>
        </p:spPr>
      </p:pic>
      <p:sp>
        <p:nvSpPr>
          <p:cNvPr id="28" name="오른쪽 화살표 27"/>
          <p:cNvSpPr/>
          <p:nvPr/>
        </p:nvSpPr>
        <p:spPr>
          <a:xfrm>
            <a:off x="6107807" y="5410471"/>
            <a:ext cx="386540" cy="231535"/>
          </a:xfrm>
          <a:prstGeom prst="rightArrow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오른쪽 화살표 28"/>
          <p:cNvSpPr/>
          <p:nvPr/>
        </p:nvSpPr>
        <p:spPr>
          <a:xfrm rot="10800000">
            <a:off x="6081928" y="5786247"/>
            <a:ext cx="386540" cy="231535"/>
          </a:xfrm>
          <a:prstGeom prst="rightArrow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7010169" y="5509094"/>
            <a:ext cx="19524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600" dirty="0" smtClean="0"/>
              <a:t>동적 페이지 생성을 위한 코드 실행</a:t>
            </a:r>
            <a:endParaRPr lang="en-US" altLang="ko-KR" sz="1600" dirty="0" smtClean="0"/>
          </a:p>
          <a:p>
            <a:r>
              <a:rPr lang="en-US" altLang="ko-KR" sz="1600" dirty="0" smtClean="0"/>
              <a:t>(</a:t>
            </a:r>
            <a:r>
              <a:rPr lang="en-US" altLang="ko-KR" sz="1600" dirty="0"/>
              <a:t>JSP, ASP, PHP.. </a:t>
            </a:r>
            <a:r>
              <a:rPr lang="en-US" altLang="ko-KR" sz="1600" dirty="0" smtClean="0"/>
              <a:t>)</a:t>
            </a:r>
            <a:endParaRPr lang="en-US" altLang="ko-KR" sz="1600" dirty="0" smtClean="0"/>
          </a:p>
        </p:txBody>
      </p:sp>
      <p:cxnSp>
        <p:nvCxnSpPr>
          <p:cNvPr id="19" name="직선 화살표 연결선 18"/>
          <p:cNvCxnSpPr>
            <a:stCxn id="23" idx="3"/>
            <a:endCxn id="2050" idx="1"/>
          </p:cNvCxnSpPr>
          <p:nvPr/>
        </p:nvCxnSpPr>
        <p:spPr>
          <a:xfrm>
            <a:off x="7154165" y="4495071"/>
            <a:ext cx="2931409" cy="32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402544" y="4714442"/>
            <a:ext cx="1207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웹 서버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804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웹 서버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 smtClean="0">
                <a:solidFill>
                  <a:prstClr val="black"/>
                </a:solidFill>
              </a:rPr>
              <a:t>웹 컨테이너의 역할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r>
              <a:rPr lang="ko-KR" altLang="en-US" dirty="0"/>
              <a:t>통신</a:t>
            </a:r>
            <a:r>
              <a:rPr lang="en-US" altLang="ko-KR" dirty="0"/>
              <a:t>(</a:t>
            </a:r>
            <a:r>
              <a:rPr lang="ko-KR" altLang="en-US" dirty="0"/>
              <a:t>커뮤니케이션</a:t>
            </a:r>
            <a:r>
              <a:rPr lang="en-US" altLang="ko-KR" dirty="0"/>
              <a:t>) </a:t>
            </a:r>
            <a:r>
              <a:rPr lang="ko-KR" altLang="en-US" dirty="0"/>
              <a:t>지원</a:t>
            </a:r>
            <a:endParaRPr lang="en-US" altLang="ko-KR" dirty="0"/>
          </a:p>
          <a:p>
            <a:pPr lvl="2"/>
            <a:r>
              <a:rPr lang="en-US" altLang="ko-KR" dirty="0"/>
              <a:t>s</a:t>
            </a:r>
            <a:r>
              <a:rPr lang="en-US" altLang="ko-KR" dirty="0" smtClean="0"/>
              <a:t>ervlet</a:t>
            </a:r>
            <a:r>
              <a:rPr lang="ko-KR" altLang="en-US" dirty="0"/>
              <a:t>과</a:t>
            </a:r>
            <a:r>
              <a:rPr lang="en-US" altLang="ko-KR" dirty="0"/>
              <a:t> </a:t>
            </a:r>
            <a:r>
              <a:rPr lang="ko-KR" altLang="en-US" dirty="0"/>
              <a:t>웹 서버가 서로 통신할 수 있는 손쉬운 방법 제공</a:t>
            </a:r>
            <a:endParaRPr lang="en-US" altLang="ko-KR" dirty="0"/>
          </a:p>
          <a:p>
            <a:pPr lvl="1"/>
            <a:r>
              <a:rPr lang="ko-KR" altLang="en-US" dirty="0" smtClean="0"/>
              <a:t>생명주기 </a:t>
            </a:r>
            <a:r>
              <a:rPr lang="ko-KR" altLang="en-US" dirty="0"/>
              <a:t>관리</a:t>
            </a:r>
            <a:endParaRPr lang="en-US" altLang="ko-KR" dirty="0"/>
          </a:p>
          <a:p>
            <a:pPr lvl="2"/>
            <a:r>
              <a:rPr lang="en-US" altLang="ko-KR" dirty="0"/>
              <a:t>servlet</a:t>
            </a:r>
            <a:r>
              <a:rPr lang="ko-KR" altLang="en-US" dirty="0"/>
              <a:t>이 생성</a:t>
            </a:r>
            <a:r>
              <a:rPr lang="en-US" altLang="ko-KR" dirty="0"/>
              <a:t>-&gt;</a:t>
            </a:r>
            <a:r>
              <a:rPr lang="ko-KR" altLang="en-US" dirty="0"/>
              <a:t>동작</a:t>
            </a:r>
            <a:r>
              <a:rPr lang="en-US" altLang="ko-KR" dirty="0"/>
              <a:t>-&gt;</a:t>
            </a:r>
            <a:r>
              <a:rPr lang="ko-KR" altLang="en-US" dirty="0"/>
              <a:t>죽음</a:t>
            </a:r>
            <a:r>
              <a:rPr lang="en-US" altLang="ko-KR" dirty="0"/>
              <a:t>(</a:t>
            </a:r>
            <a:r>
              <a:rPr lang="ko-KR" altLang="en-US" dirty="0"/>
              <a:t>가비지컬렉션</a:t>
            </a:r>
            <a:r>
              <a:rPr lang="en-US" altLang="ko-KR" dirty="0"/>
              <a:t>)</a:t>
            </a:r>
            <a:r>
              <a:rPr lang="ko-KR" altLang="en-US" dirty="0"/>
              <a:t>을 알아서 관리</a:t>
            </a:r>
            <a:r>
              <a:rPr lang="en-US" altLang="ko-KR" dirty="0"/>
              <a:t> </a:t>
            </a:r>
          </a:p>
          <a:p>
            <a:pPr lvl="1"/>
            <a:r>
              <a:rPr lang="ko-KR" altLang="en-US" dirty="0" err="1"/>
              <a:t>멀티스레딩</a:t>
            </a:r>
            <a:r>
              <a:rPr lang="ko-KR" altLang="en-US" dirty="0"/>
              <a:t> 지원</a:t>
            </a:r>
            <a:endParaRPr lang="en-US" altLang="ko-KR" dirty="0"/>
          </a:p>
          <a:p>
            <a:pPr lvl="2"/>
            <a:r>
              <a:rPr lang="ko-KR" altLang="en-US" dirty="0"/>
              <a:t>컨테이너는 요청이 들어오면 그 요청을 전담하는 새로운 자바 스레드를 생성</a:t>
            </a:r>
            <a:endParaRPr lang="en-US" altLang="ko-KR" dirty="0"/>
          </a:p>
          <a:p>
            <a:pPr lvl="1"/>
            <a:r>
              <a:rPr lang="ko-KR" altLang="en-US" dirty="0"/>
              <a:t>보안</a:t>
            </a:r>
            <a:endParaRPr lang="en-US" altLang="ko-KR" dirty="0"/>
          </a:p>
          <a:p>
            <a:pPr lvl="1"/>
            <a:r>
              <a:rPr lang="en-US" altLang="ko-KR" dirty="0" smtClean="0"/>
              <a:t>JSP(Java Server Page)</a:t>
            </a:r>
            <a:r>
              <a:rPr lang="ko-KR" altLang="en-US" dirty="0" smtClean="0"/>
              <a:t>지원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sz="2000" dirty="0" smtClean="0"/>
          </a:p>
          <a:p>
            <a:pPr lvl="2"/>
            <a:endParaRPr lang="en-US" altLang="ko-KR" dirty="0" smtClean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533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22130" y="838518"/>
            <a:ext cx="9700846" cy="895032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4400" dirty="0" smtClean="0"/>
              <a:t>WAS</a:t>
            </a:r>
            <a:r>
              <a:rPr lang="ko-KR" altLang="en-US" sz="4400" dirty="0" smtClean="0"/>
              <a:t>에서 </a:t>
            </a:r>
            <a:r>
              <a:rPr lang="en-US" altLang="ko-KR" sz="4400" dirty="0" smtClean="0"/>
              <a:t>HTML</a:t>
            </a:r>
            <a:r>
              <a:rPr lang="ko-KR" altLang="en-US" sz="4400" dirty="0" smtClean="0"/>
              <a:t>페이지 요청하기</a:t>
            </a:r>
            <a:endParaRPr lang="ko-KR" altLang="en-US" sz="44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717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HTML</a:t>
            </a:r>
            <a:r>
              <a:rPr lang="ko-KR" altLang="en-US" sz="2800" dirty="0" smtClean="0"/>
              <a:t>페이지 실습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 smtClean="0">
                <a:solidFill>
                  <a:prstClr val="black"/>
                </a:solidFill>
              </a:rPr>
              <a:t>프로젝트 생성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r>
              <a:rPr lang="en-US" altLang="ko-KR" sz="1800" dirty="0" smtClean="0">
                <a:solidFill>
                  <a:prstClr val="black"/>
                </a:solidFill>
              </a:rPr>
              <a:t>File </a:t>
            </a:r>
            <a:r>
              <a:rPr lang="en-US" altLang="ko-KR" sz="1800" dirty="0" smtClean="0">
                <a:solidFill>
                  <a:prstClr val="black"/>
                </a:solidFill>
                <a:sym typeface="Wingdings" panose="05000000000000000000" pitchFamily="2" charset="2"/>
              </a:rPr>
              <a:t> New  Project</a:t>
            </a:r>
          </a:p>
          <a:p>
            <a:pPr lvl="1"/>
            <a:r>
              <a:rPr lang="ko-KR" altLang="en-US" sz="1800" dirty="0" smtClean="0">
                <a:solidFill>
                  <a:prstClr val="black"/>
                </a:solidFill>
                <a:sym typeface="Wingdings" panose="05000000000000000000" pitchFamily="2" charset="2"/>
              </a:rPr>
              <a:t>계속 </a:t>
            </a:r>
            <a:r>
              <a:rPr lang="en-US" altLang="ko-KR" sz="1800" dirty="0" smtClean="0">
                <a:solidFill>
                  <a:prstClr val="black"/>
                </a:solidFill>
                <a:sym typeface="Wingdings" panose="05000000000000000000" pitchFamily="2" charset="2"/>
              </a:rPr>
              <a:t>Next</a:t>
            </a:r>
            <a:r>
              <a:rPr lang="ko-KR" altLang="en-US" sz="1800" dirty="0" smtClean="0">
                <a:solidFill>
                  <a:prstClr val="black"/>
                </a:solidFill>
                <a:sym typeface="Wingdings" panose="05000000000000000000" pitchFamily="2" charset="2"/>
              </a:rPr>
              <a:t>누른 뒤 </a:t>
            </a:r>
            <a:r>
              <a:rPr lang="en-US" altLang="ko-KR" sz="1800" dirty="0" smtClean="0">
                <a:solidFill>
                  <a:prstClr val="black"/>
                </a:solidFill>
                <a:sym typeface="Wingdings" panose="05000000000000000000" pitchFamily="2" charset="2"/>
              </a:rPr>
              <a:t>Generate web.xml </a:t>
            </a:r>
            <a:r>
              <a:rPr lang="ko-KR" altLang="en-US" sz="1800" dirty="0" smtClean="0">
                <a:solidFill>
                  <a:prstClr val="black"/>
                </a:solidFill>
                <a:sym typeface="Wingdings" panose="05000000000000000000" pitchFamily="2" charset="2"/>
              </a:rPr>
              <a:t>체크</a:t>
            </a:r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ko-KR" altLang="en-US" sz="1800" b="1" dirty="0">
              <a:solidFill>
                <a:prstClr val="black"/>
              </a:solidFill>
            </a:endParaRPr>
          </a:p>
          <a:p>
            <a:pPr lvl="1"/>
            <a:endParaRPr lang="ko-KR" altLang="en-US" sz="1800" b="1" dirty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en-US" altLang="ko-KR" sz="2000" dirty="0" smtClean="0"/>
          </a:p>
          <a:p>
            <a:pPr lvl="2"/>
            <a:endParaRPr lang="en-US" altLang="ko-KR" dirty="0" smtClean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9</a:t>
            </a:fld>
            <a:endParaRPr 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rcRect t="18814"/>
          <a:stretch/>
        </p:blipFill>
        <p:spPr>
          <a:xfrm>
            <a:off x="1069714" y="2371725"/>
            <a:ext cx="4857750" cy="378142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rcRect b="21236"/>
          <a:stretch/>
        </p:blipFill>
        <p:spPr>
          <a:xfrm>
            <a:off x="6815001" y="2371725"/>
            <a:ext cx="4819650" cy="3518578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3044641" y="5803343"/>
            <a:ext cx="952500" cy="25337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직사각형 10"/>
          <p:cNvSpPr/>
          <p:nvPr/>
        </p:nvSpPr>
        <p:spPr>
          <a:xfrm>
            <a:off x="6825412" y="4004328"/>
            <a:ext cx="2470541" cy="25337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305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HTML</a:t>
            </a:r>
            <a:r>
              <a:rPr lang="ko-KR" altLang="en-US" sz="2800" dirty="0"/>
              <a:t>페이지 실습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>
                <a:solidFill>
                  <a:prstClr val="black"/>
                </a:solidFill>
              </a:rPr>
              <a:t>웹 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어플리케이션의 </a:t>
            </a:r>
            <a:r>
              <a:rPr lang="ko-KR" altLang="en-US" sz="2200" b="1" dirty="0">
                <a:solidFill>
                  <a:prstClr val="black"/>
                </a:solidFill>
              </a:rPr>
              <a:t>폴더 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구조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endParaRPr lang="ko-KR" altLang="en-US" sz="1800" b="1" dirty="0">
              <a:solidFill>
                <a:prstClr val="black"/>
              </a:solidFill>
            </a:endParaRPr>
          </a:p>
          <a:p>
            <a:pPr lvl="1"/>
            <a:endParaRPr lang="ko-KR" altLang="en-US" sz="1800" b="1" dirty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en-US" altLang="ko-KR" sz="2000" dirty="0" smtClean="0"/>
          </a:p>
          <a:p>
            <a:pPr lvl="2"/>
            <a:endParaRPr lang="en-US" altLang="ko-KR" dirty="0" smtClean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10</a:t>
            </a:fld>
            <a:endParaRPr 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551" y="1305204"/>
            <a:ext cx="4739618" cy="46445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3"/>
          <a:srcRect l="3097" r="39104"/>
          <a:stretch/>
        </p:blipFill>
        <p:spPr>
          <a:xfrm>
            <a:off x="5433039" y="757399"/>
            <a:ext cx="6713385" cy="1918893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733854"/>
              </p:ext>
            </p:extLst>
          </p:nvPr>
        </p:nvGraphicFramePr>
        <p:xfrm>
          <a:off x="5433039" y="2929663"/>
          <a:ext cx="6493080" cy="3545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59505">
                  <a:extLst>
                    <a:ext uri="{9D8B030D-6E8A-4147-A177-3AD203B41FA5}">
                      <a16:colId xmlns:a16="http://schemas.microsoft.com/office/drawing/2014/main" val="1404671968"/>
                    </a:ext>
                  </a:extLst>
                </a:gridCol>
                <a:gridCol w="4733575">
                  <a:extLst>
                    <a:ext uri="{9D8B030D-6E8A-4147-A177-3AD203B41FA5}">
                      <a16:colId xmlns:a16="http://schemas.microsoft.com/office/drawing/2014/main" val="13956883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dirty="0" smtClean="0"/>
                        <a:t>폴더</a:t>
                      </a:r>
                      <a:r>
                        <a:rPr lang="en-US" altLang="ko-KR" dirty="0" smtClean="0"/>
                        <a:t>/</a:t>
                      </a:r>
                      <a:r>
                        <a:rPr lang="ko-KR" altLang="en-US" dirty="0" smtClean="0"/>
                        <a:t>파일 이름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 smtClean="0"/>
                        <a:t>설명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92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smtClean="0"/>
                        <a:t>WebContent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600" dirty="0" smtClean="0"/>
                        <a:t>홈 디렉토리</a:t>
                      </a:r>
                      <a:endParaRPr lang="en-US" altLang="ko-KR" sz="1600" dirty="0" smtClean="0"/>
                    </a:p>
                    <a:p>
                      <a:r>
                        <a:rPr lang="ko-KR" altLang="en-US" sz="1600" dirty="0" smtClean="0"/>
                        <a:t>컴파일이 필요 없는 파일들의 최상위 폴더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3297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smtClean="0"/>
                        <a:t>WEB-INF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600" smtClean="0"/>
                        <a:t>웹 어플리케이션을 실행하는 데 필요한 클래스 파일 및 설정 파일 등이 저장되는 폴더 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283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WEB-INF\classes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 smtClean="0"/>
                        <a:t>클래스 파일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4009357"/>
                  </a:ext>
                </a:extLst>
              </a:tr>
              <a:tr h="1236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WEB-INF\lib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 smtClean="0"/>
                        <a:t>실행에 필요한 </a:t>
                      </a:r>
                      <a:r>
                        <a:rPr lang="en-US" dirty="0" smtClean="0"/>
                        <a:t>Jar</a:t>
                      </a:r>
                      <a:r>
                        <a:rPr lang="ko-KR" altLang="en-US" dirty="0" smtClean="0"/>
                        <a:t>파일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756235"/>
                  </a:ext>
                </a:extLst>
              </a:tr>
              <a:tr h="2421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web.xml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 smtClean="0"/>
                        <a:t>설정 정보</a:t>
                      </a:r>
                      <a:endParaRPr lang="en-US" altLang="ko-KR" dirty="0" smtClean="0"/>
                    </a:p>
                    <a:p>
                      <a:r>
                        <a:rPr lang="ko-KR" altLang="en-US" dirty="0" smtClean="0"/>
                        <a:t>주로 </a:t>
                      </a:r>
                      <a:r>
                        <a:rPr lang="en-US" altLang="ko-KR" dirty="0" smtClean="0"/>
                        <a:t>servlet</a:t>
                      </a:r>
                      <a:r>
                        <a:rPr lang="ko-KR" altLang="en-US" baseline="0" dirty="0" smtClean="0"/>
                        <a:t> </a:t>
                      </a:r>
                      <a:r>
                        <a:rPr lang="ko-KR" altLang="en-US" baseline="0" dirty="0" err="1" smtClean="0"/>
                        <a:t>맵핑이나</a:t>
                      </a:r>
                      <a:r>
                        <a:rPr lang="ko-KR" altLang="en-US" baseline="0" dirty="0" smtClean="0"/>
                        <a:t> 초기화를 위해 사용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037963"/>
                  </a:ext>
                </a:extLst>
              </a:tr>
              <a:tr h="1236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Java Resources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Java</a:t>
                      </a:r>
                      <a:r>
                        <a:rPr lang="ko-KR" altLang="en-US" dirty="0" smtClean="0"/>
                        <a:t>파일을 저장하는 폴더</a:t>
                      </a:r>
                      <a:endParaRPr lang="en-US" altLang="ko-KR" dirty="0" smtClean="0"/>
                    </a:p>
                    <a:p>
                      <a:r>
                        <a:rPr lang="en-US" dirty="0" smtClean="0"/>
                        <a:t>servlet</a:t>
                      </a:r>
                      <a:r>
                        <a:rPr lang="ko-KR" altLang="en-US" dirty="0" smtClean="0"/>
                        <a:t>은 그 하위 폴더인 </a:t>
                      </a:r>
                      <a:r>
                        <a:rPr lang="en-US" altLang="ko-KR" dirty="0" err="1" smtClean="0"/>
                        <a:t>src</a:t>
                      </a:r>
                      <a:r>
                        <a:rPr lang="ko-KR" altLang="en-US" dirty="0" smtClean="0"/>
                        <a:t>에 저장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98729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123890" y="6185362"/>
            <a:ext cx="57442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rgbClr val="0000FF"/>
                </a:solidFill>
              </a:rPr>
              <a:t>참고</a:t>
            </a:r>
            <a:r>
              <a:rPr lang="en-US" altLang="ko-KR" dirty="0" smtClean="0">
                <a:solidFill>
                  <a:srgbClr val="0000FF"/>
                </a:solidFill>
              </a:rPr>
              <a:t>!</a:t>
            </a:r>
            <a:r>
              <a:rPr lang="en-US" altLang="ko-KR" dirty="0" smtClean="0"/>
              <a:t> </a:t>
            </a:r>
            <a:r>
              <a:rPr lang="ko-KR" altLang="en-US" dirty="0" smtClean="0"/>
              <a:t>실제로는 </a:t>
            </a:r>
            <a:r>
              <a:rPr lang="en-US" altLang="ko-KR" dirty="0" smtClean="0"/>
              <a:t>maven</a:t>
            </a:r>
            <a:r>
              <a:rPr lang="ko-KR" altLang="en-US" dirty="0" smtClean="0"/>
              <a:t>이라는 빌드 툴을 자주 이용</a:t>
            </a:r>
            <a:endParaRPr lang="en-US" altLang="ko-KR" dirty="0" smtClean="0"/>
          </a:p>
          <a:p>
            <a:r>
              <a:rPr lang="en-US" dirty="0" smtClean="0">
                <a:sym typeface="Wingdings" panose="05000000000000000000" pitchFamily="2" charset="2"/>
              </a:rPr>
              <a:t> </a:t>
            </a:r>
            <a:r>
              <a:rPr lang="en-US" altLang="ko-KR" dirty="0" smtClean="0"/>
              <a:t>maven</a:t>
            </a:r>
            <a:r>
              <a:rPr lang="ko-KR" altLang="en-US" dirty="0" smtClean="0"/>
              <a:t>이 기본적으로 사용하는 디렉터리 구조를 사용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36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HTML</a:t>
            </a:r>
            <a:r>
              <a:rPr lang="ko-KR" altLang="en-US" sz="2800" dirty="0"/>
              <a:t>페이지 실습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>
                <a:solidFill>
                  <a:prstClr val="black"/>
                </a:solidFill>
              </a:rPr>
              <a:t>웹 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어플리케이션의 </a:t>
            </a:r>
            <a:r>
              <a:rPr lang="ko-KR" altLang="en-US" sz="2200" b="1" dirty="0">
                <a:solidFill>
                  <a:prstClr val="black"/>
                </a:solidFill>
              </a:rPr>
              <a:t>폴더 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구조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endParaRPr lang="ko-KR" altLang="en-US" sz="1800" b="1" dirty="0">
              <a:solidFill>
                <a:prstClr val="black"/>
              </a:solidFill>
            </a:endParaRPr>
          </a:p>
          <a:p>
            <a:pPr lvl="1"/>
            <a:endParaRPr lang="ko-KR" altLang="en-US" sz="1800" b="1" dirty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en-US" altLang="ko-KR" sz="2000" dirty="0" smtClean="0"/>
          </a:p>
          <a:p>
            <a:pPr lvl="2"/>
            <a:endParaRPr lang="en-US" altLang="ko-KR" dirty="0" smtClean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11</a:t>
            </a:fld>
            <a:endParaRPr lang="en-US"/>
          </a:p>
        </p:txBody>
      </p:sp>
      <p:pic>
        <p:nvPicPr>
          <p:cNvPr id="4098" name="Picture 2" descr="eclipse_fold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571" y="1219161"/>
            <a:ext cx="5114781" cy="5399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직사각형 6"/>
          <p:cNvSpPr/>
          <p:nvPr/>
        </p:nvSpPr>
        <p:spPr>
          <a:xfrm>
            <a:off x="4553774" y="864293"/>
            <a:ext cx="45190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(</a:t>
            </a:r>
            <a:r>
              <a:rPr lang="en-US" dirty="0"/>
              <a:t>https://myblog.opendocs.co.kr/archives/436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1746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HTML</a:t>
            </a:r>
            <a:r>
              <a:rPr lang="ko-KR" altLang="en-US" sz="2800" dirty="0"/>
              <a:t>페이지 실습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5097094" cy="5740119"/>
          </a:xfrm>
        </p:spPr>
        <p:txBody>
          <a:bodyPr>
            <a:normAutofit/>
          </a:bodyPr>
          <a:lstStyle/>
          <a:p>
            <a:r>
              <a:rPr lang="en-US" altLang="ko-KR" sz="2200" dirty="0" smtClean="0">
                <a:solidFill>
                  <a:prstClr val="black"/>
                </a:solidFill>
              </a:rPr>
              <a:t>index.html </a:t>
            </a:r>
            <a:r>
              <a:rPr lang="ko-KR" altLang="en-US" sz="2200" dirty="0" smtClean="0">
                <a:solidFill>
                  <a:prstClr val="black"/>
                </a:solidFill>
              </a:rPr>
              <a:t>파일 만들기</a:t>
            </a:r>
            <a:endParaRPr lang="en-US" altLang="ko-KR" sz="2200" dirty="0" smtClean="0">
              <a:solidFill>
                <a:prstClr val="black"/>
              </a:solidFill>
            </a:endParaRPr>
          </a:p>
          <a:p>
            <a:pPr lvl="1"/>
            <a:r>
              <a:rPr lang="en-US" altLang="ko-KR" sz="1800" dirty="0" err="1" smtClean="0">
                <a:solidFill>
                  <a:prstClr val="black"/>
                </a:solidFill>
                <a:sym typeface="Wingdings" panose="05000000000000000000" pitchFamily="2" charset="2"/>
              </a:rPr>
              <a:t>WebContent</a:t>
            </a:r>
            <a:r>
              <a:rPr lang="en-US" altLang="ko-KR" sz="1800" dirty="0" smtClean="0">
                <a:solidFill>
                  <a:prstClr val="black"/>
                </a:solidFill>
                <a:sym typeface="Wingdings" panose="05000000000000000000" pitchFamily="2" charset="2"/>
              </a:rPr>
              <a:t> </a:t>
            </a:r>
            <a:r>
              <a:rPr lang="ko-KR" altLang="en-US" sz="1800" dirty="0" err="1" smtClean="0">
                <a:solidFill>
                  <a:prstClr val="black"/>
                </a:solidFill>
                <a:sym typeface="Wingdings" panose="05000000000000000000" pitchFamily="2" charset="2"/>
              </a:rPr>
              <a:t>우클릭</a:t>
            </a:r>
            <a:endParaRPr lang="en-US" altLang="ko-KR" sz="1800" dirty="0" smtClean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 lvl="1"/>
            <a:r>
              <a:rPr lang="en-US" altLang="ko-KR" sz="1800" dirty="0" smtClean="0">
                <a:solidFill>
                  <a:prstClr val="black"/>
                </a:solidFill>
              </a:rPr>
              <a:t>New -&gt; HTML File</a:t>
            </a:r>
          </a:p>
          <a:p>
            <a:pPr lvl="1"/>
            <a:r>
              <a:rPr lang="ko-KR" altLang="en-US" sz="1800" dirty="0" smtClean="0">
                <a:solidFill>
                  <a:prstClr val="black"/>
                </a:solidFill>
              </a:rPr>
              <a:t>파일명</a:t>
            </a:r>
            <a:r>
              <a:rPr lang="en-US" altLang="ko-KR" sz="1800" dirty="0" smtClean="0">
                <a:solidFill>
                  <a:prstClr val="black"/>
                </a:solidFill>
              </a:rPr>
              <a:t>: index.html</a:t>
            </a:r>
          </a:p>
          <a:p>
            <a:r>
              <a:rPr lang="en-US" sz="2000" dirty="0"/>
              <a:t>URL</a:t>
            </a:r>
            <a:r>
              <a:rPr lang="ko-KR" altLang="en-US" sz="2000" dirty="0"/>
              <a:t>에 도메인만 입력했을 </a:t>
            </a:r>
            <a:r>
              <a:rPr lang="ko-KR" altLang="en-US" sz="2000" dirty="0" smtClean="0"/>
              <a:t>경우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자동으로 </a:t>
            </a:r>
            <a:r>
              <a:rPr lang="ko-KR" altLang="en-US" sz="2000" dirty="0"/>
              <a:t>찾는 순서</a:t>
            </a:r>
            <a:endParaRPr lang="en-US" sz="2000" dirty="0"/>
          </a:p>
          <a:p>
            <a:pPr lvl="1"/>
            <a:r>
              <a:rPr lang="en-US" sz="1800" dirty="0" smtClean="0"/>
              <a:t>index.html</a:t>
            </a:r>
            <a:r>
              <a:rPr lang="en-US" sz="1800" dirty="0">
                <a:sym typeface="Wingdings" panose="05000000000000000000" pitchFamily="2" charset="2"/>
              </a:rPr>
              <a:t> index.htm  </a:t>
            </a:r>
            <a:r>
              <a:rPr lang="en-US" sz="1800" dirty="0" err="1">
                <a:sym typeface="Wingdings" panose="05000000000000000000" pitchFamily="2" charset="2"/>
              </a:rPr>
              <a:t>index.jsp</a:t>
            </a:r>
            <a:r>
              <a:rPr lang="en-US" sz="1800" dirty="0">
                <a:sym typeface="Wingdings" panose="05000000000000000000" pitchFamily="2" charset="2"/>
              </a:rPr>
              <a:t>..</a:t>
            </a:r>
            <a:endParaRPr lang="en-US" sz="1800" dirty="0"/>
          </a:p>
          <a:p>
            <a:pPr lvl="1"/>
            <a:r>
              <a:rPr lang="en-US" sz="1800" dirty="0" smtClean="0"/>
              <a:t>web.xml</a:t>
            </a:r>
            <a:r>
              <a:rPr lang="ko-KR" altLang="en-US" sz="1800" dirty="0" smtClean="0"/>
              <a:t>의 </a:t>
            </a:r>
            <a:r>
              <a:rPr lang="en-US" sz="1800" dirty="0" smtClean="0"/>
              <a:t>&lt;welcome-file&gt; </a:t>
            </a:r>
            <a:r>
              <a:rPr lang="ko-KR" altLang="en-US" sz="1800" dirty="0" smtClean="0"/>
              <a:t>태그 아래에 정의되어 있음</a:t>
            </a:r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ko-KR" altLang="en-US" sz="1800" b="1" dirty="0">
              <a:solidFill>
                <a:prstClr val="black"/>
              </a:solidFill>
            </a:endParaRPr>
          </a:p>
          <a:p>
            <a:pPr lvl="1"/>
            <a:endParaRPr lang="ko-KR" altLang="en-US" sz="1800" b="1" dirty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en-US" altLang="ko-KR" sz="2000" dirty="0" smtClean="0"/>
          </a:p>
          <a:p>
            <a:pPr lvl="2"/>
            <a:endParaRPr lang="en-US" altLang="ko-KR" dirty="0" smtClean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12</a:t>
            </a:fld>
            <a:endParaRPr 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9498" y="819393"/>
            <a:ext cx="6172200" cy="22193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직사각형 5"/>
          <p:cNvSpPr/>
          <p:nvPr/>
        </p:nvSpPr>
        <p:spPr>
          <a:xfrm>
            <a:off x="5783760" y="3572088"/>
            <a:ext cx="6096000" cy="286232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&lt;!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DOCTYPE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html&gt;</a:t>
            </a:r>
          </a:p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html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head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meta </a:t>
            </a:r>
            <a:r>
              <a:rPr lang="en-US" dirty="0">
                <a:solidFill>
                  <a:srgbClr val="7F007F"/>
                </a:solidFill>
                <a:latin typeface="Consolas" panose="020B0609020204030204" pitchFamily="49" charset="0"/>
              </a:rPr>
              <a:t>charset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"EUC-KR"</a:t>
            </a:r>
            <a:r>
              <a:rPr lang="en-US" i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title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Insert title here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title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head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body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Welcome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!</a:t>
            </a:r>
          </a:p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body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html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414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HTML</a:t>
            </a:r>
            <a:r>
              <a:rPr lang="ko-KR" altLang="en-US" sz="2800" dirty="0"/>
              <a:t>페이지 실습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en-US" altLang="ko-KR" sz="2200" b="1" dirty="0" smtClean="0">
                <a:solidFill>
                  <a:prstClr val="black"/>
                </a:solidFill>
              </a:rPr>
              <a:t>Request 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객체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r>
              <a:rPr lang="en-US" altLang="ko-KR" sz="1800" dirty="0" err="1" smtClean="0">
                <a:solidFill>
                  <a:prstClr val="black"/>
                </a:solidFill>
                <a:sym typeface="Wingdings" panose="05000000000000000000" pitchFamily="2" charset="2"/>
              </a:rPr>
              <a:t>WebContent</a:t>
            </a:r>
            <a:r>
              <a:rPr lang="en-US" altLang="ko-KR" sz="1800" dirty="0" smtClean="0">
                <a:solidFill>
                  <a:prstClr val="black"/>
                </a:solidFill>
                <a:sym typeface="Wingdings" panose="05000000000000000000" pitchFamily="2" charset="2"/>
              </a:rPr>
              <a:t> </a:t>
            </a:r>
            <a:r>
              <a:rPr lang="ko-KR" altLang="en-US" sz="1800" dirty="0" err="1" smtClean="0">
                <a:solidFill>
                  <a:prstClr val="black"/>
                </a:solidFill>
                <a:sym typeface="Wingdings" panose="05000000000000000000" pitchFamily="2" charset="2"/>
              </a:rPr>
              <a:t>우클릭</a:t>
            </a:r>
            <a:endParaRPr lang="en-US" altLang="ko-KR" sz="1800" dirty="0" smtClean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 lvl="1"/>
            <a:r>
              <a:rPr lang="en-US" altLang="ko-KR" sz="1800" dirty="0" smtClean="0">
                <a:solidFill>
                  <a:prstClr val="black"/>
                </a:solidFill>
              </a:rPr>
              <a:t>New -&gt; HTML File</a:t>
            </a:r>
          </a:p>
          <a:p>
            <a:pPr lvl="1"/>
            <a:r>
              <a:rPr lang="ko-KR" altLang="en-US" sz="1800" dirty="0" smtClean="0">
                <a:solidFill>
                  <a:prstClr val="black"/>
                </a:solidFill>
              </a:rPr>
              <a:t>파일명</a:t>
            </a:r>
            <a:r>
              <a:rPr lang="en-US" altLang="ko-KR" sz="1800" dirty="0" smtClean="0">
                <a:solidFill>
                  <a:prstClr val="black"/>
                </a:solidFill>
              </a:rPr>
              <a:t>: index.html</a:t>
            </a:r>
          </a:p>
          <a:p>
            <a:pPr lvl="1"/>
            <a:r>
              <a:rPr lang="en-US" altLang="ko-KR" sz="1800" dirty="0">
                <a:solidFill>
                  <a:prstClr val="black"/>
                </a:solidFill>
              </a:rPr>
              <a:t>ctrl </a:t>
            </a:r>
            <a:r>
              <a:rPr lang="en-US" altLang="ko-KR" sz="1800" dirty="0" smtClean="0">
                <a:solidFill>
                  <a:prstClr val="black"/>
                </a:solidFill>
              </a:rPr>
              <a:t>+ F11</a:t>
            </a:r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ko-KR" altLang="en-US" sz="1800" b="1" dirty="0">
              <a:solidFill>
                <a:prstClr val="black"/>
              </a:solidFill>
            </a:endParaRPr>
          </a:p>
          <a:p>
            <a:pPr lvl="1"/>
            <a:endParaRPr lang="ko-KR" altLang="en-US" sz="1800" b="1" dirty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en-US" altLang="ko-KR" sz="2000" dirty="0" smtClean="0"/>
          </a:p>
          <a:p>
            <a:pPr lvl="2"/>
            <a:endParaRPr lang="en-US" altLang="ko-KR" dirty="0" smtClean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13</a:t>
            </a:fld>
            <a:endParaRPr 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rcRect t="14375"/>
          <a:stretch/>
        </p:blipFill>
        <p:spPr>
          <a:xfrm>
            <a:off x="6326399" y="757400"/>
            <a:ext cx="5143500" cy="54399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733" y="3915398"/>
            <a:ext cx="4667250" cy="13716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직사각형 9"/>
          <p:cNvSpPr/>
          <p:nvPr/>
        </p:nvSpPr>
        <p:spPr>
          <a:xfrm>
            <a:off x="1892399" y="3926549"/>
            <a:ext cx="2989355" cy="25337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938733" y="3477361"/>
            <a:ext cx="4399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HelloServlet</a:t>
            </a:r>
            <a:r>
              <a:rPr lang="en-US" dirty="0" smtClean="0"/>
              <a:t>/</a:t>
            </a:r>
            <a:r>
              <a:rPr lang="en-US" dirty="0" err="1" smtClean="0"/>
              <a:t>webContent</a:t>
            </a:r>
            <a:r>
              <a:rPr lang="en-US" dirty="0" smtClean="0"/>
              <a:t>/index.html</a:t>
            </a:r>
            <a:r>
              <a:rPr lang="ko-KR" altLang="en-US" dirty="0" smtClean="0"/>
              <a:t>은 아님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471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HTML</a:t>
            </a:r>
            <a:r>
              <a:rPr lang="ko-KR" altLang="en-US" sz="2800" dirty="0"/>
              <a:t>페이지 실습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 smtClean="0">
                <a:solidFill>
                  <a:prstClr val="black"/>
                </a:solidFill>
              </a:rPr>
              <a:t>결과를 보여줄 브라우저 지정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r>
              <a:rPr lang="en-US" altLang="ko-KR" sz="1800" b="1" dirty="0" smtClean="0">
                <a:solidFill>
                  <a:prstClr val="black"/>
                </a:solidFill>
              </a:rPr>
              <a:t>Window </a:t>
            </a:r>
            <a:r>
              <a:rPr lang="en-US" altLang="ko-KR" sz="1800" b="1" dirty="0" smtClean="0">
                <a:solidFill>
                  <a:prstClr val="black"/>
                </a:solidFill>
                <a:sym typeface="Wingdings" panose="05000000000000000000" pitchFamily="2" charset="2"/>
              </a:rPr>
              <a:t> Web Browser  </a:t>
            </a:r>
            <a:r>
              <a:rPr lang="ko-KR" altLang="en-US" sz="1800" b="1" dirty="0" smtClean="0">
                <a:solidFill>
                  <a:prstClr val="black"/>
                </a:solidFill>
                <a:sym typeface="Wingdings" panose="05000000000000000000" pitchFamily="2" charset="2"/>
              </a:rPr>
              <a:t>원하는 브라우저</a:t>
            </a:r>
            <a:endParaRPr lang="ko-KR" altLang="en-US" sz="1800" b="1" dirty="0">
              <a:solidFill>
                <a:prstClr val="black"/>
              </a:solidFill>
            </a:endParaRPr>
          </a:p>
          <a:p>
            <a:pPr lvl="1"/>
            <a:endParaRPr lang="ko-KR" altLang="en-US" sz="1800" b="1" dirty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en-US" altLang="ko-KR" sz="2000" dirty="0" smtClean="0"/>
          </a:p>
          <a:p>
            <a:pPr lvl="2"/>
            <a:endParaRPr lang="en-US" altLang="ko-KR" dirty="0" smtClean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14</a:t>
            </a:fld>
            <a:endParaRPr 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10" y="1979812"/>
            <a:ext cx="7194048" cy="41333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42536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HTML</a:t>
            </a:r>
            <a:r>
              <a:rPr lang="ko-KR" altLang="en-US" sz="2800" dirty="0"/>
              <a:t>페이지 실습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 smtClean="0">
                <a:solidFill>
                  <a:prstClr val="black"/>
                </a:solidFill>
              </a:rPr>
              <a:t>컨텍스트명을 프로젝트명이 아닌 </a:t>
            </a:r>
            <a:r>
              <a:rPr lang="en-US" altLang="ko-KR" sz="2200" b="1" dirty="0" smtClean="0">
                <a:solidFill>
                  <a:prstClr val="black"/>
                </a:solidFill>
              </a:rPr>
              <a:t>root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로 수정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r>
              <a:rPr lang="ko-KR" altLang="en-US" sz="1800" dirty="0" smtClean="0">
                <a:solidFill>
                  <a:prstClr val="black"/>
                </a:solidFill>
              </a:rPr>
              <a:t>프로젝트 </a:t>
            </a:r>
            <a:r>
              <a:rPr lang="ko-KR" altLang="en-US" sz="1800" dirty="0" err="1" smtClean="0">
                <a:solidFill>
                  <a:prstClr val="black"/>
                </a:solidFill>
              </a:rPr>
              <a:t>우클릭</a:t>
            </a:r>
            <a:r>
              <a:rPr lang="ko-KR" altLang="en-US" sz="1800" dirty="0" smtClean="0">
                <a:solidFill>
                  <a:prstClr val="black"/>
                </a:solidFill>
              </a:rPr>
              <a:t> </a:t>
            </a:r>
            <a:r>
              <a:rPr lang="en-US" altLang="ko-KR" sz="1800" dirty="0" smtClean="0">
                <a:solidFill>
                  <a:prstClr val="black"/>
                </a:solidFill>
                <a:sym typeface="Wingdings" panose="05000000000000000000" pitchFamily="2" charset="2"/>
              </a:rPr>
              <a:t> properties  Web Project Settings</a:t>
            </a:r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ko-KR" altLang="en-US" sz="1800" b="1" dirty="0">
              <a:solidFill>
                <a:prstClr val="black"/>
              </a:solidFill>
            </a:endParaRPr>
          </a:p>
          <a:p>
            <a:pPr lvl="1"/>
            <a:endParaRPr lang="ko-KR" altLang="en-US" sz="1800" b="1" dirty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en-US" altLang="ko-KR" sz="2000" dirty="0" smtClean="0"/>
          </a:p>
          <a:p>
            <a:pPr lvl="2"/>
            <a:endParaRPr lang="en-US" altLang="ko-KR" dirty="0" smtClean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15</a:t>
            </a:fld>
            <a:endParaRPr 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rcRect t="6226"/>
          <a:stretch/>
        </p:blipFill>
        <p:spPr>
          <a:xfrm>
            <a:off x="1071818" y="1795346"/>
            <a:ext cx="7448550" cy="486794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직사각형 6"/>
          <p:cNvSpPr/>
          <p:nvPr/>
        </p:nvSpPr>
        <p:spPr>
          <a:xfrm>
            <a:off x="6469100" y="6303177"/>
            <a:ext cx="952500" cy="25337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직사각형 7"/>
          <p:cNvSpPr/>
          <p:nvPr/>
        </p:nvSpPr>
        <p:spPr>
          <a:xfrm>
            <a:off x="2884320" y="2106601"/>
            <a:ext cx="1267778" cy="25337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518209" y="248656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수정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2793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HTML</a:t>
            </a:r>
            <a:r>
              <a:rPr lang="ko-KR" altLang="en-US" sz="2800" dirty="0"/>
              <a:t>페이지 실습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>
                <a:solidFill>
                  <a:prstClr val="black"/>
                </a:solidFill>
              </a:rPr>
              <a:t>컨텍스트명을 프로젝트명이 아닌 </a:t>
            </a:r>
            <a:r>
              <a:rPr lang="en-US" altLang="ko-KR" sz="2200" b="1" dirty="0">
                <a:solidFill>
                  <a:prstClr val="black"/>
                </a:solidFill>
              </a:rPr>
              <a:t>root</a:t>
            </a:r>
            <a:r>
              <a:rPr lang="ko-KR" altLang="en-US" sz="2200" b="1" dirty="0">
                <a:solidFill>
                  <a:prstClr val="black"/>
                </a:solidFill>
              </a:rPr>
              <a:t>로 수정</a:t>
            </a:r>
            <a:endParaRPr lang="en-US" altLang="ko-KR" sz="2200" b="1" dirty="0">
              <a:solidFill>
                <a:prstClr val="black"/>
              </a:solidFill>
            </a:endParaRPr>
          </a:p>
          <a:p>
            <a:pPr lvl="1"/>
            <a:endParaRPr lang="ko-KR" altLang="en-US" sz="1800" b="1" dirty="0">
              <a:solidFill>
                <a:prstClr val="black"/>
              </a:solidFill>
            </a:endParaRPr>
          </a:p>
          <a:p>
            <a:pPr lvl="1"/>
            <a:endParaRPr lang="ko-KR" altLang="en-US" sz="1800" b="1" dirty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en-US" altLang="ko-KR" sz="2000" dirty="0" smtClean="0"/>
          </a:p>
          <a:p>
            <a:pPr lvl="2"/>
            <a:endParaRPr lang="en-US" altLang="ko-KR" dirty="0" smtClean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16</a:t>
            </a:fld>
            <a:endParaRPr lang="en-US"/>
          </a:p>
        </p:txBody>
      </p:sp>
      <p:grpSp>
        <p:nvGrpSpPr>
          <p:cNvPr id="8" name="그룹 7"/>
          <p:cNvGrpSpPr/>
          <p:nvPr/>
        </p:nvGrpSpPr>
        <p:grpSpPr>
          <a:xfrm>
            <a:off x="642937" y="1474809"/>
            <a:ext cx="9048750" cy="2152650"/>
            <a:chOff x="928687" y="1543470"/>
            <a:chExt cx="9048750" cy="2152650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 rotWithShape="1">
            <a:blip r:embed="rId2"/>
            <a:srcRect r="61768"/>
            <a:stretch/>
          </p:blipFill>
          <p:spPr>
            <a:xfrm>
              <a:off x="928687" y="1543470"/>
              <a:ext cx="5662613" cy="2152650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 rotWithShape="1">
            <a:blip r:embed="rId2"/>
            <a:srcRect l="77138"/>
            <a:stretch/>
          </p:blipFill>
          <p:spPr>
            <a:xfrm>
              <a:off x="6591300" y="1543470"/>
              <a:ext cx="3386137" cy="2152650"/>
            </a:xfrm>
            <a:prstGeom prst="rect">
              <a:avLst/>
            </a:prstGeom>
          </p:spPr>
        </p:pic>
      </p:grp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7" y="3981401"/>
            <a:ext cx="7381875" cy="216217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7198" y="3981401"/>
            <a:ext cx="3724275" cy="1390650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8438577" y="1499479"/>
            <a:ext cx="303495" cy="25337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8267158" y="113014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중지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70182" y="4676726"/>
            <a:ext cx="19766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server</a:t>
            </a:r>
            <a:r>
              <a:rPr lang="ko-KR" altLang="en-US" dirty="0" smtClean="0"/>
              <a:t>아래에 있는</a:t>
            </a:r>
            <a:endParaRPr lang="en-US" altLang="ko-KR" dirty="0" smtClean="0"/>
          </a:p>
          <a:p>
            <a:r>
              <a:rPr lang="en-US" dirty="0" err="1" smtClean="0"/>
              <a:t>HelloServlet</a:t>
            </a:r>
            <a:endParaRPr lang="en-US" dirty="0" smtClean="0"/>
          </a:p>
          <a:p>
            <a:r>
              <a:rPr lang="ko-KR" altLang="en-US" dirty="0" smtClean="0"/>
              <a:t>제거</a:t>
            </a:r>
            <a:endParaRPr lang="en-US" dirty="0"/>
          </a:p>
        </p:txBody>
      </p:sp>
      <p:sp>
        <p:nvSpPr>
          <p:cNvPr id="16" name="직사각형 15"/>
          <p:cNvSpPr/>
          <p:nvPr/>
        </p:nvSpPr>
        <p:spPr>
          <a:xfrm>
            <a:off x="5960168" y="5505305"/>
            <a:ext cx="1047750" cy="27870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직사각형 16"/>
          <p:cNvSpPr/>
          <p:nvPr/>
        </p:nvSpPr>
        <p:spPr>
          <a:xfrm>
            <a:off x="9104589" y="4027453"/>
            <a:ext cx="2041769" cy="23033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815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22130" y="838518"/>
            <a:ext cx="9700846" cy="895032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4400" dirty="0" smtClean="0"/>
              <a:t>간단한 </a:t>
            </a:r>
            <a:r>
              <a:rPr lang="en-US" altLang="ko-KR" sz="4400" dirty="0" smtClean="0"/>
              <a:t>Servlet</a:t>
            </a:r>
            <a:r>
              <a:rPr lang="ko-KR" altLang="en-US" sz="4400" dirty="0" smtClean="0"/>
              <a:t>만들어보기</a:t>
            </a:r>
            <a:endParaRPr lang="ko-KR" altLang="en-US" sz="44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623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 smtClean="0"/>
              <a:t>Servlet </a:t>
            </a:r>
            <a:r>
              <a:rPr lang="ko-KR" altLang="en-US" sz="2800" dirty="0" smtClean="0"/>
              <a:t>실습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en-US" altLang="ko-KR" sz="2200" b="1" dirty="0" smtClean="0">
                <a:solidFill>
                  <a:prstClr val="black"/>
                </a:solidFill>
              </a:rPr>
              <a:t>servlet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만들기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r>
              <a:rPr lang="en-US" altLang="ko-KR" sz="1800" b="1" dirty="0" smtClean="0">
                <a:solidFill>
                  <a:prstClr val="black"/>
                </a:solidFill>
              </a:rPr>
              <a:t>Java Resources </a:t>
            </a:r>
            <a:r>
              <a:rPr lang="en-US" altLang="ko-KR" sz="1800" b="1" dirty="0" smtClean="0">
                <a:solidFill>
                  <a:prstClr val="black"/>
                </a:solidFill>
                <a:sym typeface="Wingdings" panose="05000000000000000000" pitchFamily="2" charset="2"/>
              </a:rPr>
              <a:t> </a:t>
            </a:r>
            <a:r>
              <a:rPr lang="en-US" altLang="ko-KR" sz="1800" b="1" dirty="0" err="1" smtClean="0">
                <a:solidFill>
                  <a:prstClr val="black"/>
                </a:solidFill>
                <a:sym typeface="Wingdings" panose="05000000000000000000" pitchFamily="2" charset="2"/>
              </a:rPr>
              <a:t>src</a:t>
            </a:r>
            <a:r>
              <a:rPr lang="en-US" altLang="ko-KR" sz="1800" b="1" dirty="0" smtClean="0">
                <a:solidFill>
                  <a:prstClr val="black"/>
                </a:solidFill>
                <a:sym typeface="Wingdings" panose="05000000000000000000" pitchFamily="2" charset="2"/>
              </a:rPr>
              <a:t>  </a:t>
            </a:r>
            <a:r>
              <a:rPr lang="ko-KR" altLang="en-US" sz="1800" b="1" dirty="0" err="1" smtClean="0">
                <a:solidFill>
                  <a:prstClr val="black"/>
                </a:solidFill>
                <a:sym typeface="Wingdings" panose="05000000000000000000" pitchFamily="2" charset="2"/>
              </a:rPr>
              <a:t>우클릭</a:t>
            </a:r>
            <a:r>
              <a:rPr lang="ko-KR" altLang="en-US" sz="1800" b="1" dirty="0" smtClean="0">
                <a:solidFill>
                  <a:prstClr val="black"/>
                </a:solidFill>
                <a:sym typeface="Wingdings" panose="05000000000000000000" pitchFamily="2" charset="2"/>
              </a:rPr>
              <a:t> </a:t>
            </a:r>
            <a:r>
              <a:rPr lang="en-US" altLang="ko-KR" sz="1800" b="1" dirty="0" smtClean="0">
                <a:solidFill>
                  <a:prstClr val="black"/>
                </a:solidFill>
                <a:sym typeface="Wingdings" panose="05000000000000000000" pitchFamily="2" charset="2"/>
              </a:rPr>
              <a:t> new  class</a:t>
            </a:r>
            <a:endParaRPr lang="ko-KR" altLang="en-US" sz="1800" b="1" dirty="0">
              <a:solidFill>
                <a:prstClr val="black"/>
              </a:solidFill>
            </a:endParaRPr>
          </a:p>
          <a:p>
            <a:pPr lvl="1"/>
            <a:endParaRPr lang="ko-KR" altLang="en-US" sz="1800" b="1" dirty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en-US" altLang="ko-KR" sz="2000" dirty="0" smtClean="0"/>
          </a:p>
          <a:p>
            <a:pPr lvl="2"/>
            <a:endParaRPr lang="en-US" altLang="ko-KR" dirty="0" smtClean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18</a:t>
            </a:fld>
            <a:endParaRPr 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591" y="1947179"/>
            <a:ext cx="4103068" cy="35289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630" y="1947179"/>
            <a:ext cx="5019675" cy="40671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50242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Servlet </a:t>
            </a:r>
            <a:r>
              <a:rPr lang="ko-KR" altLang="en-US" sz="2800" dirty="0"/>
              <a:t>실습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en-US" altLang="ko-KR" sz="2200" b="1" dirty="0" smtClean="0">
                <a:solidFill>
                  <a:prstClr val="black"/>
                </a:solidFill>
              </a:rPr>
              <a:t>HelloWorld servlet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작성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endParaRPr lang="ko-KR" altLang="en-US" sz="1800" b="1" dirty="0">
              <a:solidFill>
                <a:prstClr val="black"/>
              </a:solidFill>
            </a:endParaRPr>
          </a:p>
          <a:p>
            <a:pPr lvl="1"/>
            <a:endParaRPr lang="ko-KR" altLang="en-US" sz="1800" b="1" dirty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en-US" altLang="ko-KR" sz="2000" dirty="0" smtClean="0"/>
          </a:p>
          <a:p>
            <a:pPr lvl="2"/>
            <a:endParaRPr lang="en-US" altLang="ko-KR" dirty="0" smtClean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19</a:t>
            </a:fld>
            <a:endParaRPr lang="en-US"/>
          </a:p>
        </p:txBody>
      </p:sp>
      <p:sp>
        <p:nvSpPr>
          <p:cNvPr id="6" name="직사각형 5"/>
          <p:cNvSpPr/>
          <p:nvPr/>
        </p:nvSpPr>
        <p:spPr>
          <a:xfrm>
            <a:off x="4070195" y="1700673"/>
            <a:ext cx="2888166" cy="28501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직사각형 6"/>
          <p:cNvSpPr/>
          <p:nvPr/>
        </p:nvSpPr>
        <p:spPr>
          <a:xfrm>
            <a:off x="3264551" y="2332578"/>
            <a:ext cx="1012285" cy="28501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직사각형 7"/>
          <p:cNvSpPr/>
          <p:nvPr/>
        </p:nvSpPr>
        <p:spPr>
          <a:xfrm>
            <a:off x="669071" y="1645687"/>
            <a:ext cx="9857679" cy="255454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HelloWorld </a:t>
            </a:r>
            <a:r>
              <a:rPr lang="en-US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extends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HttpServlet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endParaRPr lang="en-US" sz="2000" dirty="0">
              <a:latin typeface="Consolas" panose="020B0609020204030204" pitchFamily="49" charset="0"/>
            </a:endParaRPr>
          </a:p>
          <a:p>
            <a:pPr lvl="1"/>
            <a:r>
              <a:rPr lang="en-US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protected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service(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HttpServletRequest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req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HttpServletResponse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resp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ServletException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IOException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2"/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PrintWriter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6A3E3E"/>
                </a:solidFill>
                <a:latin typeface="Consolas" panose="020B0609020204030204" pitchFamily="49" charset="0"/>
              </a:rPr>
              <a:t>out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rgbClr val="6A3E3E"/>
                </a:solidFill>
                <a:latin typeface="Consolas" panose="020B0609020204030204" pitchFamily="49" charset="0"/>
              </a:rPr>
              <a:t>resp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.getWriter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2"/>
            <a:r>
              <a:rPr lang="en-US" sz="2000" dirty="0" err="1">
                <a:solidFill>
                  <a:srgbClr val="6A3E3E"/>
                </a:solidFill>
                <a:latin typeface="Consolas" panose="020B0609020204030204" pitchFamily="49" charset="0"/>
              </a:rPr>
              <a:t>out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2A00FF"/>
                </a:solidFill>
                <a:latin typeface="Consolas" panose="020B0609020204030204" pitchFamily="49" charset="0"/>
              </a:rPr>
              <a:t>"Hello Servlet"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89927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Servlet </a:t>
            </a:r>
            <a:r>
              <a:rPr lang="ko-KR" altLang="en-US" sz="2800" dirty="0"/>
              <a:t>실습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en-US" altLang="ko-KR" sz="2200" b="1" dirty="0" smtClean="0">
                <a:solidFill>
                  <a:prstClr val="black"/>
                </a:solidFill>
              </a:rPr>
              <a:t>servlet </a:t>
            </a:r>
            <a:r>
              <a:rPr lang="ko-KR" altLang="en-US" sz="2200" b="1" dirty="0" err="1" smtClean="0">
                <a:solidFill>
                  <a:prstClr val="black"/>
                </a:solidFill>
              </a:rPr>
              <a:t>맵핑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r>
              <a:rPr lang="ko-KR" altLang="en-US" sz="1800" b="1" dirty="0" smtClean="0">
                <a:solidFill>
                  <a:prstClr val="black"/>
                </a:solidFill>
              </a:rPr>
              <a:t>사용자가 </a:t>
            </a:r>
            <a:r>
              <a:rPr lang="en-US" altLang="ko-KR" sz="1800" b="1" dirty="0" smtClean="0">
                <a:solidFill>
                  <a:prstClr val="black"/>
                </a:solidFill>
              </a:rPr>
              <a:t>servlet</a:t>
            </a:r>
            <a:r>
              <a:rPr lang="ko-KR" altLang="en-US" sz="1800" b="1" dirty="0" smtClean="0">
                <a:solidFill>
                  <a:prstClr val="black"/>
                </a:solidFill>
              </a:rPr>
              <a:t>을 요청할 때</a:t>
            </a:r>
            <a:r>
              <a:rPr lang="en-US" altLang="ko-KR" sz="1800" b="1" dirty="0" smtClean="0">
                <a:solidFill>
                  <a:prstClr val="black"/>
                </a:solidFill>
              </a:rPr>
              <a:t>, </a:t>
            </a:r>
            <a:r>
              <a:rPr lang="ko-KR" altLang="en-US" sz="1800" b="1" dirty="0" smtClean="0">
                <a:solidFill>
                  <a:prstClr val="black"/>
                </a:solidFill>
              </a:rPr>
              <a:t>전체 경로를 </a:t>
            </a:r>
            <a:r>
              <a:rPr lang="en-US" altLang="ko-KR" sz="1800" b="1" dirty="0" err="1" smtClean="0">
                <a:solidFill>
                  <a:prstClr val="black"/>
                </a:solidFill>
              </a:rPr>
              <a:t>url</a:t>
            </a:r>
            <a:r>
              <a:rPr lang="ko-KR" altLang="en-US" sz="1800" b="1" dirty="0" smtClean="0">
                <a:solidFill>
                  <a:prstClr val="black"/>
                </a:solidFill>
              </a:rPr>
              <a:t>에 써주면 너무 복잡하고 디렉터리 구조가 노출되므로 보안에도 취약</a:t>
            </a:r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r>
              <a:rPr lang="en-US" sz="1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HelloWorld/</a:t>
            </a:r>
            <a:r>
              <a:rPr lang="en-US" sz="18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helloWorld</a:t>
            </a:r>
            <a:r>
              <a:rPr lang="ko-KR" altLang="en-US" sz="1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으로 요청하는 대신 </a:t>
            </a:r>
            <a:r>
              <a:rPr lang="en-US" altLang="ko-KR" sz="1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/hello</a:t>
            </a:r>
            <a:r>
              <a:rPr lang="ko-KR" altLang="en-US" sz="1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로 요청했을 때 내가 만든 </a:t>
            </a:r>
            <a:r>
              <a:rPr lang="en-US" altLang="ko-KR" sz="1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servlet</a:t>
            </a:r>
            <a:r>
              <a:rPr lang="ko-KR" altLang="en-US" sz="1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을 실행하고 싶음</a:t>
            </a:r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ko-KR" altLang="en-US" sz="1800" b="1" dirty="0">
              <a:solidFill>
                <a:prstClr val="black"/>
              </a:solidFill>
            </a:endParaRPr>
          </a:p>
          <a:p>
            <a:pPr lvl="1"/>
            <a:endParaRPr lang="ko-KR" altLang="en-US" sz="1800" b="1" dirty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en-US" altLang="ko-KR" sz="2000" dirty="0" smtClean="0"/>
          </a:p>
          <a:p>
            <a:pPr lvl="2"/>
            <a:endParaRPr lang="en-US" altLang="ko-KR" dirty="0" smtClean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20</a:t>
            </a:fld>
            <a:endParaRPr lang="en-US"/>
          </a:p>
        </p:txBody>
      </p:sp>
      <p:sp>
        <p:nvSpPr>
          <p:cNvPr id="7" name="직사각형 6"/>
          <p:cNvSpPr/>
          <p:nvPr/>
        </p:nvSpPr>
        <p:spPr>
          <a:xfrm>
            <a:off x="1111979" y="3055092"/>
            <a:ext cx="10106626" cy="258532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08080"/>
                </a:solidFill>
                <a:latin typeface="Consolas" panose="020B0609020204030204" pitchFamily="49" charset="0"/>
              </a:rPr>
              <a:t>  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servlet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servlet-name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helloWorld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servlet-name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servlet-class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com.web.servlet.HelloWorld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servlet-class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servlet</a:t>
            </a:r>
            <a:r>
              <a:rPr lang="en-US" dirty="0" smtClean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endParaRPr lang="en-US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servlet-mapping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servlet-name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helloWorld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servlet-name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3F7F7F"/>
                </a:solidFill>
                <a:latin typeface="Consolas" panose="020B0609020204030204" pitchFamily="49" charset="0"/>
              </a:rPr>
              <a:t>url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-pattern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/hello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 err="1">
                <a:solidFill>
                  <a:srgbClr val="3F7F7F"/>
                </a:solidFill>
                <a:latin typeface="Consolas" panose="020B0609020204030204" pitchFamily="49" charset="0"/>
              </a:rPr>
              <a:t>url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-pattern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servlet-mapping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dirty="0"/>
          </a:p>
        </p:txBody>
      </p:sp>
      <p:sp>
        <p:nvSpPr>
          <p:cNvPr id="8" name="직사각형 7"/>
          <p:cNvSpPr/>
          <p:nvPr/>
        </p:nvSpPr>
        <p:spPr>
          <a:xfrm>
            <a:off x="1111979" y="5846012"/>
            <a:ext cx="10694499" cy="7849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smtClean="0">
                <a:solidFill>
                  <a:srgbClr val="0000FF"/>
                </a:solidFill>
                <a:latin typeface="+mj-ea"/>
                <a:ea typeface="+mj-ea"/>
              </a:rPr>
              <a:t>참고</a:t>
            </a:r>
            <a:r>
              <a:rPr lang="en-US" altLang="ko-KR" sz="1600" dirty="0" smtClean="0">
                <a:solidFill>
                  <a:srgbClr val="0000FF"/>
                </a:solidFill>
                <a:latin typeface="+mj-ea"/>
                <a:ea typeface="+mj-ea"/>
              </a:rPr>
              <a:t>!</a:t>
            </a:r>
            <a:r>
              <a:rPr lang="en-US" altLang="ko-KR" sz="1600" dirty="0" smtClean="0">
                <a:solidFill>
                  <a:srgbClr val="333333"/>
                </a:solidFill>
                <a:latin typeface="+mj-ea"/>
                <a:ea typeface="+mj-ea"/>
              </a:rPr>
              <a:t> </a:t>
            </a:r>
            <a:r>
              <a:rPr lang="ko-KR" altLang="en-US" sz="1600" dirty="0" smtClean="0">
                <a:solidFill>
                  <a:srgbClr val="333333"/>
                </a:solidFill>
                <a:latin typeface="+mj-ea"/>
                <a:ea typeface="+mj-ea"/>
              </a:rPr>
              <a:t>프로젝트 생성 시 </a:t>
            </a:r>
            <a:r>
              <a:rPr lang="en-US" altLang="ko-KR" sz="1600" dirty="0" smtClean="0">
                <a:solidFill>
                  <a:srgbClr val="333333"/>
                </a:solidFill>
                <a:latin typeface="+mj-ea"/>
                <a:ea typeface="+mj-ea"/>
              </a:rPr>
              <a:t>web.xml(Deployment Descriptor)</a:t>
            </a:r>
            <a:r>
              <a:rPr lang="ko-KR" altLang="en-US" sz="1600" dirty="0" smtClean="0">
                <a:solidFill>
                  <a:srgbClr val="333333"/>
                </a:solidFill>
                <a:latin typeface="+mj-ea"/>
                <a:ea typeface="+mj-ea"/>
              </a:rPr>
              <a:t>파일을 생성하지 않았을 경우</a:t>
            </a:r>
            <a:endParaRPr lang="en-US" altLang="ko-KR" sz="1600" dirty="0" smtClean="0">
              <a:solidFill>
                <a:srgbClr val="333333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 smtClean="0">
                <a:solidFill>
                  <a:srgbClr val="333333"/>
                </a:solidFill>
                <a:latin typeface="+mj-ea"/>
                <a:ea typeface="+mj-ea"/>
              </a:rPr>
              <a:t>프로젝트 </a:t>
            </a:r>
            <a:r>
              <a:rPr lang="ko-KR" altLang="en-US" sz="1600" dirty="0" err="1" smtClean="0">
                <a:solidFill>
                  <a:srgbClr val="333333"/>
                </a:solidFill>
                <a:latin typeface="+mj-ea"/>
                <a:ea typeface="+mj-ea"/>
              </a:rPr>
              <a:t>우클릭</a:t>
            </a:r>
            <a:r>
              <a:rPr lang="ko-KR" altLang="en-US" sz="1600" dirty="0" smtClean="0">
                <a:solidFill>
                  <a:srgbClr val="333333"/>
                </a:solidFill>
                <a:latin typeface="+mj-ea"/>
                <a:ea typeface="+mj-ea"/>
              </a:rPr>
              <a:t> </a:t>
            </a:r>
            <a:r>
              <a:rPr lang="ko-KR" altLang="en-US" sz="1600" dirty="0">
                <a:solidFill>
                  <a:srgbClr val="333333"/>
                </a:solidFill>
                <a:latin typeface="+mj-ea"/>
                <a:ea typeface="+mj-ea"/>
              </a:rPr>
              <a:t>클릭 </a:t>
            </a:r>
            <a:r>
              <a:rPr lang="en-US" altLang="ko-KR" sz="1600" dirty="0">
                <a:solidFill>
                  <a:srgbClr val="333333"/>
                </a:solidFill>
                <a:latin typeface="+mj-ea"/>
                <a:ea typeface="+mj-ea"/>
              </a:rPr>
              <a:t>-&gt; java EE tools </a:t>
            </a:r>
            <a:r>
              <a:rPr lang="en-US" altLang="ko-KR" sz="1600" dirty="0" smtClean="0">
                <a:solidFill>
                  <a:srgbClr val="333333"/>
                </a:solidFill>
                <a:latin typeface="+mj-ea"/>
                <a:ea typeface="+mj-ea"/>
              </a:rPr>
              <a:t>-&gt; </a:t>
            </a:r>
            <a:r>
              <a:rPr lang="en-US" altLang="ko-KR" sz="1600" dirty="0">
                <a:solidFill>
                  <a:srgbClr val="333333"/>
                </a:solidFill>
                <a:latin typeface="+mj-ea"/>
                <a:ea typeface="+mj-ea"/>
              </a:rPr>
              <a:t>Generate Deployment </a:t>
            </a:r>
            <a:r>
              <a:rPr lang="en-US" altLang="ko-KR" sz="1600" dirty="0" err="1">
                <a:solidFill>
                  <a:srgbClr val="333333"/>
                </a:solidFill>
                <a:latin typeface="+mj-ea"/>
                <a:ea typeface="+mj-ea"/>
              </a:rPr>
              <a:t>Discriptor</a:t>
            </a:r>
            <a:r>
              <a:rPr lang="en-US" altLang="ko-KR" sz="1600" dirty="0">
                <a:solidFill>
                  <a:srgbClr val="333333"/>
                </a:solidFill>
                <a:latin typeface="+mj-ea"/>
                <a:ea typeface="+mj-ea"/>
              </a:rPr>
              <a:t> </a:t>
            </a:r>
            <a:r>
              <a:rPr lang="en-US" altLang="ko-KR" sz="1600" dirty="0" smtClean="0">
                <a:solidFill>
                  <a:srgbClr val="333333"/>
                </a:solidFill>
                <a:latin typeface="+mj-ea"/>
                <a:ea typeface="+mj-ea"/>
              </a:rPr>
              <a:t>stub</a:t>
            </a:r>
            <a:endParaRPr lang="en-US" sz="16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420416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Servlet </a:t>
            </a:r>
            <a:r>
              <a:rPr lang="ko-KR" altLang="en-US" sz="2800" dirty="0"/>
              <a:t>실습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1900" b="1" dirty="0" smtClean="0"/>
              <a:t>작성한 </a:t>
            </a:r>
            <a:r>
              <a:rPr lang="en-US" altLang="ko-KR" sz="1900" b="1" dirty="0" smtClean="0"/>
              <a:t>servlet</a:t>
            </a:r>
            <a:r>
              <a:rPr lang="ko-KR" altLang="en-US" sz="1900" b="1" dirty="0" smtClean="0"/>
              <a:t>요청</a:t>
            </a:r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21</a:t>
            </a:fld>
            <a:endParaRPr 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550" y="1394569"/>
            <a:ext cx="4999371" cy="2318787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2236641" y="1441073"/>
            <a:ext cx="3288291" cy="44886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395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2147483647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2147483647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11301</TotalTime>
  <Words>1016</Words>
  <Application>Microsoft Office PowerPoint</Application>
  <PresentationFormat>와이드스크린</PresentationFormat>
  <Paragraphs>253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8" baseType="lpstr">
      <vt:lpstr>맑은 고딕</vt:lpstr>
      <vt:lpstr>Arial</vt:lpstr>
      <vt:lpstr>Calibri</vt:lpstr>
      <vt:lpstr>Calibri Light</vt:lpstr>
      <vt:lpstr>Consolas</vt:lpstr>
      <vt:lpstr>Wingdings</vt:lpstr>
      <vt:lpstr>Office 테마</vt:lpstr>
      <vt:lpstr>Web Application Server(WAS) 웹 어플리케이션 서버</vt:lpstr>
      <vt:lpstr>웹 서버</vt:lpstr>
      <vt:lpstr>웹 서버</vt:lpstr>
      <vt:lpstr>웹 서버</vt:lpstr>
      <vt:lpstr>웹 서버</vt:lpstr>
      <vt:lpstr>웹 서버</vt:lpstr>
      <vt:lpstr>웹 서버</vt:lpstr>
      <vt:lpstr>WAS에서 HTML페이지 요청하기</vt:lpstr>
      <vt:lpstr>HTML페이지 실습</vt:lpstr>
      <vt:lpstr>HTML페이지 실습</vt:lpstr>
      <vt:lpstr>HTML페이지 실습</vt:lpstr>
      <vt:lpstr>HTML페이지 실습</vt:lpstr>
      <vt:lpstr>HTML페이지 실습</vt:lpstr>
      <vt:lpstr>HTML페이지 실습</vt:lpstr>
      <vt:lpstr>HTML페이지 실습</vt:lpstr>
      <vt:lpstr>HTML페이지 실습</vt:lpstr>
      <vt:lpstr>간단한 Servlet만들어보기</vt:lpstr>
      <vt:lpstr>Servlet 실습</vt:lpstr>
      <vt:lpstr>Servlet 실습</vt:lpstr>
      <vt:lpstr>Servlet 실습</vt:lpstr>
      <vt:lpstr>Servlet 실습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3304</cp:revision>
  <dcterms:created xsi:type="dcterms:W3CDTF">2020-03-06T01:35:43Z</dcterms:created>
  <dcterms:modified xsi:type="dcterms:W3CDTF">2020-05-06T08:38:45Z</dcterms:modified>
  <cp:version>1000.0000.01</cp:version>
</cp:coreProperties>
</file>