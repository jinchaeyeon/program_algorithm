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8" r:id="rId1"/>
  </p:sldMasterIdLst>
  <p:notesMasterIdLst>
    <p:notesMasterId r:id="rId18"/>
  </p:notesMasterIdLst>
  <p:sldIdLst>
    <p:sldId id="357" r:id="rId2"/>
    <p:sldId id="359" r:id="rId3"/>
    <p:sldId id="346" r:id="rId4"/>
    <p:sldId id="358" r:id="rId5"/>
    <p:sldId id="360" r:id="rId6"/>
    <p:sldId id="361" r:id="rId7"/>
    <p:sldId id="362" r:id="rId8"/>
    <p:sldId id="363" r:id="rId9"/>
    <p:sldId id="364" r:id="rId10"/>
    <p:sldId id="365" r:id="rId11"/>
    <p:sldId id="366" r:id="rId12"/>
    <p:sldId id="367" r:id="rId13"/>
    <p:sldId id="368" r:id="rId14"/>
    <p:sldId id="369" r:id="rId15"/>
    <p:sldId id="371" r:id="rId16"/>
    <p:sldId id="3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BC5610"/>
    <a:srgbClr val="ADFF2F"/>
    <a:srgbClr val="7FFFD4"/>
    <a:srgbClr val="FFA500"/>
    <a:srgbClr val="FF6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82" y="10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9B25A7D-0240-4D0E-A5B3-3234B957F6EF}" type="datetime1">
              <a:rPr lang="en-US"/>
              <a:pPr lvl="0">
                <a:defRPr/>
              </a:pPr>
              <a:t>6/3/2020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163349B-D4CA-41F9-BE36-059942AD9331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DAD7-809B-4C4A-8A23-1E146EAD9E8F}" type="datetime1">
              <a:rPr lang="en-US" smtClean="0"/>
              <a:t>6/3/2020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77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10515600" cy="344002"/>
          </a:xfrm>
        </p:spPr>
        <p:txBody>
          <a:bodyPr>
            <a:noAutofit/>
          </a:bodyPr>
          <a:lstStyle>
            <a:lvl1pPr>
              <a:defRPr sz="2500" b="1"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530551" y="757400"/>
            <a:ext cx="11331011" cy="5429755"/>
          </a:xfrm>
        </p:spPr>
        <p:txBody>
          <a:bodyPr/>
          <a:lstStyle>
            <a:lvl1pPr>
              <a:lnSpc>
                <a:spcPct val="140000"/>
              </a:lnSpc>
              <a:defRPr sz="2400">
                <a:latin typeface="+mn-ea"/>
                <a:ea typeface="+mn-ea"/>
              </a:defRPr>
            </a:lvl1pPr>
            <a:lvl2pPr marL="685800" indent="-228600">
              <a:lnSpc>
                <a:spcPct val="140000"/>
              </a:lnSpc>
              <a:buFont typeface="Wingdings"/>
              <a:buChar char="§"/>
              <a:defRPr sz="2000">
                <a:latin typeface="+mn-ea"/>
                <a:ea typeface="+mn-ea"/>
              </a:defRPr>
            </a:lvl2pPr>
            <a:lvl3pPr>
              <a:lnSpc>
                <a:spcPct val="140000"/>
              </a:lnSpc>
              <a:defRPr sz="1800">
                <a:latin typeface="+mn-ea"/>
                <a:ea typeface="+mn-ea"/>
              </a:defRPr>
            </a:lvl3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06EDA91-2055-40FE-B45A-5804B08C2696}" type="datetime1">
              <a:rPr lang="en-US" smtClean="0"/>
              <a:t>6/3/2020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227048" y="6356350"/>
            <a:ext cx="2743200" cy="365125"/>
          </a:xfrm>
        </p:spPr>
        <p:txBody>
          <a:bodyPr/>
          <a:lstStyle>
            <a:lvl1pPr>
              <a:defRPr sz="15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DA67E06-563C-4DAC-B352-5CBE54DE7B5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C795-451E-46E0-AE92-5A497CF41061}" type="datetime1">
              <a:rPr lang="en-US" smtClean="0"/>
              <a:t>6/3/2020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13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975-3397-4FC8-A820-2112C504E006}" type="datetime1">
              <a:rPr lang="en-US" smtClean="0"/>
              <a:t>6/3/2020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4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B25CA-AD45-4C95-8C23-1C6A039469A5}" type="datetime1">
              <a:rPr lang="en-US" smtClean="0"/>
              <a:t>6/3/2020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9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2E71-0A1A-4073-B60F-FA59C2CA001A}" type="datetime1">
              <a:rPr lang="en-US" smtClean="0"/>
              <a:t>6/3/2020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6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758C-1694-4565-82D4-EBBF833CB257}" type="datetime1">
              <a:rPr lang="en-US" smtClean="0"/>
              <a:t>6/3/2020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5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5484-FD6D-41C0-A29C-477D0CF69679}" type="datetime1">
              <a:rPr lang="en-US" smtClean="0"/>
              <a:t>6/3/2020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1DD6-19D4-44B1-8E93-C64691C69E13}" type="datetime1">
              <a:rPr lang="en-US" smtClean="0"/>
              <a:t>6/3/2020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5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33E4-9C34-4B01-AEFF-3C6F1AF12FD7}" type="datetime1">
              <a:rPr lang="en-US" smtClean="0"/>
              <a:t>6/3/2020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3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72B1E-F176-43F3-BFB4-FA11701E5307}" type="datetime1">
              <a:rPr lang="en-US" smtClean="0"/>
              <a:t>6/3/2020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5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D2D49-5DE7-4756-AE86-CEB698DB686D}" type="datetime1">
              <a:rPr lang="en-US" smtClean="0"/>
              <a:t>6/3/2020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89503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4400" dirty="0" err="1" smtClean="0"/>
              <a:t>표준액션</a:t>
            </a:r>
            <a:endParaRPr lang="ko-KR" altLang="en-US" sz="44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3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err="1" smtClean="0">
                <a:latin typeface="+mn-ea"/>
                <a:ea typeface="+mn-ea"/>
                <a:cs typeface="Times New Roman" pitchFamily="18" charset="0"/>
              </a:rPr>
              <a:t>표준액션</a:t>
            </a:r>
            <a:endParaRPr lang="ko-KR" altLang="en-US" sz="2800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pPr latinLnBrk="1"/>
            <a:r>
              <a:rPr lang="en-US" altLang="ko-KR" sz="2000" dirty="0" smtClean="0"/>
              <a:t>EL(${})</a:t>
            </a:r>
            <a:r>
              <a:rPr lang="ko-KR" altLang="en-US" sz="2000" dirty="0" smtClean="0"/>
              <a:t>은 값을 화면에 표시하는 용도로 사용하며 제어와 </a:t>
            </a:r>
            <a:r>
              <a:rPr lang="ko-KR" altLang="en-US" sz="2000" dirty="0" err="1" smtClean="0"/>
              <a:t>산술연산과</a:t>
            </a:r>
            <a:r>
              <a:rPr lang="ko-KR" altLang="en-US" sz="2000" dirty="0" smtClean="0"/>
              <a:t> 같은 복잡한 기능은 수행하지 못함</a:t>
            </a:r>
            <a:endParaRPr lang="en-US" altLang="ko-KR" sz="2000" dirty="0" smtClean="0"/>
          </a:p>
          <a:p>
            <a:pPr latinLnBrk="1"/>
            <a:r>
              <a:rPr lang="ko-KR" altLang="en-US" sz="2000" dirty="0" smtClean="0"/>
              <a:t>액션 태그</a:t>
            </a:r>
            <a:r>
              <a:rPr lang="en-US" altLang="ko-KR" sz="2000" dirty="0" smtClean="0"/>
              <a:t>(action tag)</a:t>
            </a:r>
          </a:p>
          <a:p>
            <a:pPr lvl="1" latinLnBrk="1"/>
            <a:r>
              <a:rPr lang="ko-KR" altLang="en-US" sz="1800" dirty="0" smtClean="0"/>
              <a:t>일련의 </a:t>
            </a:r>
            <a:r>
              <a:rPr lang="ko-KR" altLang="en-US" sz="1800" dirty="0"/>
              <a:t>프로그램 동작</a:t>
            </a:r>
            <a:r>
              <a:rPr lang="en-US" altLang="ko-KR" sz="1800" dirty="0"/>
              <a:t>(</a:t>
            </a:r>
            <a:r>
              <a:rPr lang="ko-KR" altLang="en-US" sz="1800" dirty="0" err="1"/>
              <a:t>산술연산</a:t>
            </a:r>
            <a:r>
              <a:rPr lang="ko-KR" altLang="en-US" sz="1800" dirty="0"/>
              <a:t> 및 실행 제어 등</a:t>
            </a:r>
            <a:r>
              <a:rPr lang="en-US" altLang="ko-KR" sz="1800" dirty="0"/>
              <a:t>)</a:t>
            </a:r>
            <a:r>
              <a:rPr lang="ko-KR" altLang="en-US" sz="1800" dirty="0"/>
              <a:t>을 태그 형태로 정의</a:t>
            </a:r>
            <a:endParaRPr lang="en-US" altLang="ko-KR" sz="1800" dirty="0"/>
          </a:p>
          <a:p>
            <a:pPr lvl="1" latinLnBrk="1"/>
            <a:r>
              <a:rPr lang="en-US" altLang="ko-KR" sz="1800" dirty="0"/>
              <a:t>XML </a:t>
            </a:r>
            <a:r>
              <a:rPr lang="ko-KR" altLang="en-US" sz="1800" dirty="0"/>
              <a:t>기술을 이용해서 기존의 </a:t>
            </a:r>
            <a:r>
              <a:rPr lang="en-US" altLang="ko-KR" sz="1800" dirty="0"/>
              <a:t>JSP </a:t>
            </a:r>
            <a:r>
              <a:rPr lang="ko-KR" altLang="en-US" sz="1800" dirty="0"/>
              <a:t>문법을 </a:t>
            </a:r>
            <a:r>
              <a:rPr lang="ko-KR" altLang="en-US" sz="1800" dirty="0" smtClean="0"/>
              <a:t>확장하는 방식</a:t>
            </a:r>
            <a:endParaRPr lang="en-US" altLang="ko-KR" sz="1800" dirty="0"/>
          </a:p>
          <a:p>
            <a:pPr lvl="1" latinLnBrk="1"/>
            <a:r>
              <a:rPr lang="ko-KR" altLang="en-US" sz="1800" dirty="0"/>
              <a:t>확장된 문법은 </a:t>
            </a:r>
            <a:r>
              <a:rPr lang="en-US" altLang="ko-KR" sz="1800" dirty="0"/>
              <a:t>XML </a:t>
            </a:r>
            <a:r>
              <a:rPr lang="ko-KR" altLang="en-US" sz="1800" dirty="0"/>
              <a:t>태그 형태를 띠고 있으므로 액션 </a:t>
            </a:r>
            <a:r>
              <a:rPr lang="ko-KR" altLang="en-US" sz="1800" dirty="0" err="1" smtClean="0"/>
              <a:t>태그라고</a:t>
            </a:r>
            <a:r>
              <a:rPr lang="ko-KR" altLang="en-US" sz="1800" dirty="0" smtClean="0"/>
              <a:t> 부르며 </a:t>
            </a:r>
            <a:r>
              <a:rPr lang="ko-KR" altLang="en-US" sz="1800" dirty="0"/>
              <a:t>단순히 액션</a:t>
            </a:r>
            <a:r>
              <a:rPr lang="en-US" altLang="ko-KR" sz="1800" dirty="0"/>
              <a:t>(action)</a:t>
            </a:r>
            <a:r>
              <a:rPr lang="ko-KR" altLang="en-US" sz="1800" dirty="0"/>
              <a:t>으로 불림 </a:t>
            </a:r>
            <a:endParaRPr lang="en-US" altLang="ko-KR" sz="1600" dirty="0"/>
          </a:p>
          <a:p>
            <a:pPr latinLnBrk="1"/>
            <a:r>
              <a:rPr lang="ko-KR" altLang="en-US" sz="2000" dirty="0"/>
              <a:t>액션의 종류</a:t>
            </a:r>
            <a:endParaRPr lang="en-US" altLang="ko-KR" sz="2000" dirty="0"/>
          </a:p>
          <a:p>
            <a:pPr lvl="1" latinLnBrk="1"/>
            <a:r>
              <a:rPr lang="ko-KR" altLang="en-US" sz="1800" dirty="0"/>
              <a:t>표준 액션</a:t>
            </a:r>
            <a:r>
              <a:rPr lang="en-US" altLang="ko-KR" sz="1800" dirty="0"/>
              <a:t>(standard action): JSP </a:t>
            </a:r>
            <a:r>
              <a:rPr lang="ko-KR" altLang="en-US" sz="1800" dirty="0"/>
              <a:t>페이지에서 바로 사용 가능</a:t>
            </a:r>
          </a:p>
          <a:p>
            <a:pPr lvl="1" latinLnBrk="1"/>
            <a:r>
              <a:rPr lang="ko-KR" altLang="en-US" sz="1800" dirty="0" err="1"/>
              <a:t>커스텀</a:t>
            </a:r>
            <a:r>
              <a:rPr lang="ko-KR" altLang="en-US" sz="1800" dirty="0"/>
              <a:t> 액션</a:t>
            </a:r>
            <a:r>
              <a:rPr lang="en-US" altLang="ko-KR" sz="1800" dirty="0"/>
              <a:t>(custom action): </a:t>
            </a:r>
            <a:r>
              <a:rPr lang="ko-KR" altLang="en-US" sz="1800" dirty="0"/>
              <a:t>별도의 라이브러리를 설치해야만 사용 가능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90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err="1" smtClean="0">
                <a:latin typeface="+mn-ea"/>
                <a:ea typeface="+mn-ea"/>
                <a:cs typeface="Times New Roman" pitchFamily="18" charset="0"/>
              </a:rPr>
              <a:t>표준액션</a:t>
            </a:r>
            <a:endParaRPr lang="ko-KR" altLang="en-US" sz="2800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 lnSpcReduction="10000"/>
          </a:bodyPr>
          <a:lstStyle/>
          <a:p>
            <a:r>
              <a:rPr lang="ko-KR" altLang="en-US" sz="2000" dirty="0" smtClean="0"/>
              <a:t>표준 </a:t>
            </a:r>
            <a:r>
              <a:rPr lang="ko-KR" altLang="en-US" sz="2000" dirty="0"/>
              <a:t>액션</a:t>
            </a:r>
            <a:r>
              <a:rPr lang="en-US" altLang="ko-KR" sz="2000" dirty="0"/>
              <a:t>(Standard Action)</a:t>
            </a:r>
          </a:p>
          <a:p>
            <a:pPr lvl="1"/>
            <a:r>
              <a:rPr lang="ko-KR" altLang="en-US" u="sng" dirty="0" smtClean="0"/>
              <a:t>별도의 </a:t>
            </a:r>
            <a:r>
              <a:rPr lang="ko-KR" altLang="en-US" u="sng" dirty="0"/>
              <a:t>라이브러리 없이 </a:t>
            </a:r>
            <a:r>
              <a:rPr lang="en-US" altLang="ko-KR" u="sng" dirty="0"/>
              <a:t>JSP </a:t>
            </a:r>
            <a:r>
              <a:rPr lang="ko-KR" altLang="en-US" u="sng" dirty="0"/>
              <a:t>페이지에서 바로 사용 가능한 액션</a:t>
            </a:r>
          </a:p>
          <a:p>
            <a:pPr lvl="1"/>
            <a:r>
              <a:rPr lang="ko-KR" altLang="en-US" dirty="0"/>
              <a:t>표준 액션에는 모든 태그의 이름 앞에 </a:t>
            </a:r>
            <a:r>
              <a:rPr lang="en-US" altLang="ko-KR" dirty="0" err="1">
                <a:solidFill>
                  <a:srgbClr val="0000FF"/>
                </a:solidFill>
              </a:rPr>
              <a:t>jsp</a:t>
            </a:r>
            <a:r>
              <a:rPr lang="ko-KR" altLang="en-US" dirty="0">
                <a:solidFill>
                  <a:srgbClr val="0000FF"/>
                </a:solidFill>
              </a:rPr>
              <a:t>라는 </a:t>
            </a:r>
            <a:r>
              <a:rPr lang="ko-KR" altLang="en-US" dirty="0" err="1">
                <a:solidFill>
                  <a:srgbClr val="0000FF"/>
                </a:solidFill>
              </a:rPr>
              <a:t>접두어</a:t>
            </a:r>
            <a:r>
              <a:rPr lang="ko-KR" altLang="en-US" dirty="0"/>
              <a:t> 사용</a:t>
            </a:r>
          </a:p>
          <a:p>
            <a:pPr lvl="1"/>
            <a:r>
              <a:rPr lang="ko-KR" altLang="en-US" dirty="0"/>
              <a:t>크게 </a:t>
            </a:r>
            <a:r>
              <a:rPr lang="en-US" altLang="ko-KR" dirty="0"/>
              <a:t>3 </a:t>
            </a:r>
            <a:r>
              <a:rPr lang="ko-KR" altLang="en-US" dirty="0"/>
              <a:t>종류의 표준 액션 지원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1) </a:t>
            </a:r>
            <a:r>
              <a:rPr lang="ko-KR" altLang="en-US" dirty="0"/>
              <a:t>요청 실행 제어 표준 액션</a:t>
            </a:r>
          </a:p>
          <a:p>
            <a:pPr lvl="2"/>
            <a:r>
              <a:rPr lang="en-US" altLang="ko-KR" sz="1900" dirty="0"/>
              <a:t>&lt;</a:t>
            </a:r>
            <a:r>
              <a:rPr lang="en-US" altLang="ko-KR" sz="1900" dirty="0" err="1"/>
              <a:t>jsp:include</a:t>
            </a:r>
            <a:r>
              <a:rPr lang="en-US" altLang="ko-KR" sz="1900" dirty="0"/>
              <a:t>&gt;</a:t>
            </a:r>
          </a:p>
          <a:p>
            <a:pPr lvl="2"/>
            <a:r>
              <a:rPr lang="en-US" altLang="ko-KR" sz="1900" dirty="0"/>
              <a:t>&lt;</a:t>
            </a:r>
            <a:r>
              <a:rPr lang="en-US" altLang="ko-KR" sz="1900" dirty="0" err="1"/>
              <a:t>jsp:forward</a:t>
            </a:r>
            <a:r>
              <a:rPr lang="en-US" altLang="ko-KR" sz="1900" dirty="0"/>
              <a:t>&gt;</a:t>
            </a:r>
          </a:p>
          <a:p>
            <a:pPr marL="457200" lvl="1" indent="0">
              <a:buNone/>
            </a:pPr>
            <a:r>
              <a:rPr lang="en-US" altLang="ko-KR" dirty="0" smtClean="0"/>
              <a:t>2</a:t>
            </a:r>
            <a:r>
              <a:rPr lang="en-US" altLang="ko-KR" dirty="0"/>
              <a:t>) </a:t>
            </a:r>
            <a:r>
              <a:rPr lang="ko-KR" altLang="en-US" dirty="0" err="1"/>
              <a:t>자바빈</a:t>
            </a:r>
            <a:r>
              <a:rPr lang="ko-KR" altLang="en-US" dirty="0"/>
              <a:t> 호출 표준 액션</a:t>
            </a:r>
          </a:p>
          <a:p>
            <a:pPr lvl="2"/>
            <a:r>
              <a:rPr lang="en-US" altLang="ko-KR" sz="1900" dirty="0"/>
              <a:t>&lt;</a:t>
            </a:r>
            <a:r>
              <a:rPr lang="en-US" altLang="ko-KR" sz="1900" dirty="0" err="1"/>
              <a:t>jsp:useBean</a:t>
            </a:r>
            <a:r>
              <a:rPr lang="en-US" altLang="ko-KR" sz="1900" dirty="0"/>
              <a:t>&gt;</a:t>
            </a:r>
          </a:p>
          <a:p>
            <a:pPr lvl="2"/>
            <a:r>
              <a:rPr lang="en-US" altLang="ko-KR" sz="1900" dirty="0"/>
              <a:t>&lt;</a:t>
            </a:r>
            <a:r>
              <a:rPr lang="en-US" altLang="ko-KR" sz="1900" dirty="0" err="1"/>
              <a:t>jsp:setProperty</a:t>
            </a:r>
            <a:r>
              <a:rPr lang="en-US" altLang="ko-KR" sz="1900" dirty="0"/>
              <a:t>&gt;</a:t>
            </a:r>
          </a:p>
          <a:p>
            <a:pPr lvl="2"/>
            <a:r>
              <a:rPr lang="en-US" altLang="ko-KR" sz="1900" dirty="0"/>
              <a:t>&lt;</a:t>
            </a:r>
            <a:r>
              <a:rPr lang="en-US" altLang="ko-KR" sz="1900" dirty="0" err="1"/>
              <a:t>jsp:getProperty</a:t>
            </a:r>
            <a:r>
              <a:rPr lang="en-US" altLang="ko-KR" sz="1900" dirty="0"/>
              <a:t>&gt;</a:t>
            </a:r>
          </a:p>
          <a:p>
            <a:pPr marL="457200" lvl="1" indent="0">
              <a:buNone/>
            </a:pPr>
            <a:r>
              <a:rPr lang="en-US" altLang="ko-KR" dirty="0"/>
              <a:t>3) </a:t>
            </a:r>
            <a:r>
              <a:rPr lang="ko-KR" altLang="en-US" dirty="0"/>
              <a:t>애플릿 호출 표준 액션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267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>
                <a:latin typeface="+mn-ea"/>
                <a:ea typeface="+mn-ea"/>
                <a:cs typeface="Times New Roman" pitchFamily="18" charset="0"/>
              </a:rPr>
              <a:t>Include</a:t>
            </a:r>
            <a:endParaRPr lang="ko-KR" altLang="en-US" sz="2800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&lt;</a:t>
            </a:r>
            <a:r>
              <a:rPr lang="en-US" altLang="ko-KR" sz="2000" dirty="0" err="1"/>
              <a:t>jsp:include</a:t>
            </a:r>
            <a:r>
              <a:rPr lang="en-US" altLang="ko-KR" sz="2000" dirty="0"/>
              <a:t>&gt; </a:t>
            </a:r>
            <a:r>
              <a:rPr lang="ko-KR" altLang="en-US" sz="2000" dirty="0"/>
              <a:t>표준 액션</a:t>
            </a:r>
          </a:p>
          <a:p>
            <a:pPr lvl="1"/>
            <a:r>
              <a:rPr lang="en-US" altLang="ko-KR" sz="1800" dirty="0"/>
              <a:t>JSP </a:t>
            </a:r>
            <a:r>
              <a:rPr lang="ko-KR" altLang="en-US" sz="1800" dirty="0"/>
              <a:t>페이지에서 다른 웹 자원</a:t>
            </a:r>
            <a:r>
              <a:rPr lang="en-US" altLang="ko-KR" sz="1800" dirty="0"/>
              <a:t>(JSP </a:t>
            </a:r>
            <a:r>
              <a:rPr lang="ko-KR" altLang="en-US" sz="1800" dirty="0"/>
              <a:t>페이지</a:t>
            </a:r>
            <a:r>
              <a:rPr lang="en-US" altLang="ko-KR" sz="1800" dirty="0"/>
              <a:t>, HTML </a:t>
            </a:r>
            <a:r>
              <a:rPr lang="ko-KR" altLang="en-US" sz="1800" dirty="0"/>
              <a:t>문서 등</a:t>
            </a:r>
            <a:r>
              <a:rPr lang="en-US" altLang="ko-KR" sz="1800" dirty="0"/>
              <a:t>)</a:t>
            </a:r>
            <a:r>
              <a:rPr lang="ko-KR" altLang="en-US" sz="1800" dirty="0"/>
              <a:t>의 실행을 포함시키고자 할 때 사용</a:t>
            </a:r>
          </a:p>
          <a:p>
            <a:pPr lvl="1"/>
            <a:r>
              <a:rPr lang="ko-KR" altLang="en-US" sz="1800" dirty="0"/>
              <a:t>포함할 웹 자원의 </a:t>
            </a:r>
            <a:r>
              <a:rPr lang="en-US" altLang="ko-KR" sz="1800" dirty="0"/>
              <a:t>URL</a:t>
            </a:r>
            <a:r>
              <a:rPr lang="ko-KR" altLang="en-US" sz="1800" dirty="0"/>
              <a:t>을 지정하는 </a:t>
            </a:r>
            <a:r>
              <a:rPr lang="en-US" altLang="ko-KR" sz="1800" dirty="0"/>
              <a:t>page </a:t>
            </a:r>
            <a:r>
              <a:rPr lang="ko-KR" altLang="en-US" sz="1800" dirty="0"/>
              <a:t>속성을 사용</a:t>
            </a:r>
          </a:p>
          <a:p>
            <a:pPr marL="0" indent="0">
              <a:buNone/>
            </a:pPr>
            <a:endParaRPr lang="ko-KR" altLang="en-US" sz="20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 smtClean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 smtClean="0"/>
          </a:p>
          <a:p>
            <a:pPr lvl="1"/>
            <a:endParaRPr lang="en-US" altLang="ko-KR" sz="1800" dirty="0"/>
          </a:p>
          <a:p>
            <a:pPr lvl="1"/>
            <a:r>
              <a:rPr lang="ko-KR" altLang="en-US" sz="1800" dirty="0" smtClean="0"/>
              <a:t>액션 </a:t>
            </a:r>
            <a:r>
              <a:rPr lang="ko-KR" altLang="en-US" sz="1800" dirty="0"/>
              <a:t>태그는 </a:t>
            </a:r>
            <a:r>
              <a:rPr lang="en-US" altLang="ko-KR" sz="1800" dirty="0"/>
              <a:t>XML </a:t>
            </a:r>
            <a:r>
              <a:rPr lang="ko-KR" altLang="en-US" sz="1800" dirty="0"/>
              <a:t>문법을 따르므로 </a:t>
            </a:r>
            <a:r>
              <a:rPr lang="ko-KR" altLang="en-US" sz="1800" dirty="0">
                <a:solidFill>
                  <a:srgbClr val="FF0000"/>
                </a:solidFill>
              </a:rPr>
              <a:t>단독 태그일 경우에는 ‘</a:t>
            </a:r>
            <a:r>
              <a:rPr lang="en-US" altLang="ko-KR" sz="1800" dirty="0">
                <a:solidFill>
                  <a:srgbClr val="FF0000"/>
                </a:solidFill>
              </a:rPr>
              <a:t>/&gt;’</a:t>
            </a:r>
            <a:r>
              <a:rPr lang="ko-KR" altLang="en-US" sz="1800" dirty="0">
                <a:solidFill>
                  <a:srgbClr val="FF0000"/>
                </a:solidFill>
              </a:rPr>
              <a:t>로  종료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4</a:t>
            </a:fld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620765" y="2397064"/>
            <a:ext cx="3724354" cy="55399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 algn="ctr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latin typeface="Times New Roman" pitchFamily="18" charset="0"/>
                <a:ea typeface="Arial Unicode MS"/>
                <a:cs typeface="Times New Roman" pitchFamily="18" charset="0"/>
              </a:rPr>
              <a:t>&lt;</a:t>
            </a:r>
            <a:r>
              <a:rPr lang="en-US" altLang="ko-KR" sz="2000" dirty="0" err="1">
                <a:solidFill>
                  <a:srgbClr val="FF0000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jsp:include</a:t>
            </a:r>
            <a:r>
              <a:rPr lang="en-US" altLang="ko-KR" sz="2000" dirty="0">
                <a:latin typeface="Times New Roman" pitchFamily="18" charset="0"/>
                <a:ea typeface="Arial Unicode MS"/>
                <a:cs typeface="Times New Roman" pitchFamily="18" charset="0"/>
              </a:rPr>
              <a:t> </a:t>
            </a:r>
            <a:r>
              <a:rPr lang="en-US" altLang="ko-KR" sz="2000" dirty="0">
                <a:solidFill>
                  <a:srgbClr val="0000FF"/>
                </a:solidFill>
                <a:latin typeface="Times New Roman" pitchFamily="18" charset="0"/>
                <a:ea typeface="Arial Unicode MS"/>
                <a:cs typeface="Times New Roman" pitchFamily="18" charset="0"/>
              </a:rPr>
              <a:t>page</a:t>
            </a:r>
            <a:r>
              <a:rPr lang="en-US" altLang="ko-KR" sz="2000" dirty="0">
                <a:latin typeface="Times New Roman" pitchFamily="18" charset="0"/>
                <a:ea typeface="Arial Unicode MS"/>
                <a:cs typeface="Times New Roman" pitchFamily="18" charset="0"/>
              </a:rPr>
              <a:t>= </a:t>
            </a:r>
            <a:r>
              <a:rPr lang="en-US" altLang="ko-KR" sz="2000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"/</a:t>
            </a:r>
            <a:r>
              <a:rPr lang="en-US" altLang="ko-KR" sz="2000" dirty="0" err="1" smtClean="0">
                <a:latin typeface="Times New Roman" pitchFamily="18" charset="0"/>
                <a:ea typeface="Arial Unicode MS"/>
                <a:cs typeface="Times New Roman" pitchFamily="18" charset="0"/>
              </a:rPr>
              <a:t>footer.jsp</a:t>
            </a:r>
            <a:r>
              <a:rPr lang="en-US" altLang="ko-KR" sz="2000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"/&gt;</a:t>
            </a:r>
            <a:endParaRPr lang="en-US" altLang="ko-KR" sz="2000" dirty="0">
              <a:latin typeface="Times New Roman" pitchFamily="18" charset="0"/>
              <a:ea typeface="Arial Unicode MS"/>
              <a:cs typeface="Times New Roman" pitchFamily="18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42687" y="3204433"/>
            <a:ext cx="8424936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RequestDispatcher</a:t>
            </a:r>
            <a:r>
              <a:rPr lang="en-US" dirty="0"/>
              <a:t> dispatcher = </a:t>
            </a:r>
            <a:r>
              <a:rPr lang="en-US" dirty="0" err="1"/>
              <a:t>request.getRequestDispatcher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000000"/>
                </a:solidFill>
              </a:rPr>
              <a:t>"/</a:t>
            </a:r>
            <a:r>
              <a:rPr lang="en-US" dirty="0" err="1" smtClean="0">
                <a:solidFill>
                  <a:srgbClr val="000000"/>
                </a:solidFill>
              </a:rPr>
              <a:t>footer.jsp</a:t>
            </a:r>
            <a:r>
              <a:rPr lang="en-US" dirty="0">
                <a:solidFill>
                  <a:srgbClr val="000000"/>
                </a:solidFill>
              </a:rPr>
              <a:t>"</a:t>
            </a:r>
            <a:r>
              <a:rPr lang="en-US" dirty="0"/>
              <a:t>);</a:t>
            </a:r>
            <a:endParaRPr lang="en-US" sz="4000" dirty="0"/>
          </a:p>
          <a:p>
            <a:pPr>
              <a:lnSpc>
                <a:spcPct val="150000"/>
              </a:lnSpc>
            </a:pPr>
            <a:r>
              <a:rPr lang="en-US" dirty="0" err="1" smtClean="0"/>
              <a:t>dispatcher.include</a:t>
            </a:r>
            <a:r>
              <a:rPr lang="en-US" dirty="0" smtClean="0"/>
              <a:t>(request</a:t>
            </a:r>
            <a:r>
              <a:rPr lang="en-US" dirty="0"/>
              <a:t>, response</a:t>
            </a:r>
            <a:r>
              <a:rPr lang="en-US" dirty="0" smtClean="0"/>
              <a:t>);</a:t>
            </a:r>
            <a:endParaRPr lang="en-US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530551" y="3442793"/>
            <a:ext cx="64633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dirty="0" smtClean="0"/>
              <a:t>비교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91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>
                <a:latin typeface="+mn-ea"/>
                <a:ea typeface="+mn-ea"/>
                <a:cs typeface="Times New Roman" pitchFamily="18" charset="0"/>
              </a:rPr>
              <a:t>Include</a:t>
            </a:r>
            <a:endParaRPr lang="ko-KR" altLang="en-US" sz="2800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&lt;</a:t>
            </a:r>
            <a:r>
              <a:rPr lang="en-US" altLang="ko-KR" sz="2000" dirty="0" err="1"/>
              <a:t>jsp:include</a:t>
            </a:r>
            <a:r>
              <a:rPr lang="en-US" altLang="ko-KR" sz="2000" dirty="0"/>
              <a:t>&gt; </a:t>
            </a:r>
            <a:r>
              <a:rPr lang="ko-KR" altLang="en-US" sz="2000" dirty="0"/>
              <a:t>표준 액션</a:t>
            </a:r>
          </a:p>
          <a:p>
            <a:pPr lvl="1"/>
            <a:r>
              <a:rPr lang="ko-KR" altLang="en-US" sz="1800" dirty="0"/>
              <a:t>포함할 </a:t>
            </a:r>
            <a:r>
              <a:rPr lang="en-US" altLang="ko-KR" sz="1800" dirty="0">
                <a:solidFill>
                  <a:srgbClr val="0000FF"/>
                </a:solidFill>
              </a:rPr>
              <a:t>HTML</a:t>
            </a:r>
            <a:r>
              <a:rPr lang="en-US" altLang="ko-KR" sz="1800" dirty="0"/>
              <a:t> </a:t>
            </a:r>
            <a:r>
              <a:rPr lang="ko-KR" altLang="en-US" sz="1800" dirty="0"/>
              <a:t>문서가 다른 디렉터리에 있으면 그에 해당하는 </a:t>
            </a:r>
            <a:r>
              <a:rPr lang="en-US" altLang="ko-KR" sz="1800" dirty="0"/>
              <a:t>URL </a:t>
            </a:r>
            <a:r>
              <a:rPr lang="ko-KR" altLang="en-US" sz="1800" dirty="0"/>
              <a:t>경로명</a:t>
            </a:r>
            <a:r>
              <a:rPr lang="en-US" altLang="ko-KR" sz="1800" dirty="0"/>
              <a:t>(</a:t>
            </a:r>
            <a:r>
              <a:rPr lang="ko-KR" altLang="en-US" sz="1800" dirty="0" err="1"/>
              <a:t>상대경로</a:t>
            </a:r>
            <a:r>
              <a:rPr lang="ko-KR" altLang="en-US" sz="1800" dirty="0"/>
              <a:t> 및 </a:t>
            </a:r>
            <a:r>
              <a:rPr lang="ko-KR" altLang="en-US" sz="1800" dirty="0" err="1"/>
              <a:t>절대경로</a:t>
            </a:r>
            <a:r>
              <a:rPr lang="en-US" altLang="ko-KR" sz="1800" dirty="0"/>
              <a:t>)</a:t>
            </a:r>
            <a:r>
              <a:rPr lang="ko-KR" altLang="en-US" sz="1800" dirty="0"/>
              <a:t>을 다음과 같이 쓰면 </a:t>
            </a:r>
            <a:r>
              <a:rPr lang="ko-KR" altLang="en-US" sz="1800" dirty="0" smtClean="0"/>
              <a:t>됨</a:t>
            </a:r>
            <a:endParaRPr lang="en-US" altLang="ko-KR" sz="1800" dirty="0" smtClean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 smtClean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 smtClean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 smtClean="0"/>
          </a:p>
          <a:p>
            <a:pPr lvl="1"/>
            <a:r>
              <a:rPr lang="ko-KR" altLang="en-US" sz="1800" dirty="0"/>
              <a:t>다른 </a:t>
            </a:r>
            <a:r>
              <a:rPr lang="en-US" altLang="ko-KR" sz="1800" dirty="0">
                <a:solidFill>
                  <a:srgbClr val="0000FF"/>
                </a:solidFill>
              </a:rPr>
              <a:t>JSP</a:t>
            </a:r>
            <a:r>
              <a:rPr lang="en-US" altLang="ko-KR" sz="1800" dirty="0"/>
              <a:t> </a:t>
            </a:r>
            <a:r>
              <a:rPr lang="ko-KR" altLang="en-US" sz="1800" dirty="0"/>
              <a:t>페이지를 포함시키기 위해서도 사용될 수 </a:t>
            </a:r>
            <a:r>
              <a:rPr lang="ko-KR" altLang="en-US" sz="1800" dirty="0" smtClean="0"/>
              <a:t>있음</a:t>
            </a:r>
            <a:endParaRPr lang="en-US" altLang="ko-KR" sz="1800" dirty="0" smtClean="0"/>
          </a:p>
          <a:p>
            <a:pPr lvl="1"/>
            <a:endParaRPr lang="en-US" altLang="ko-KR" sz="1800" dirty="0"/>
          </a:p>
          <a:p>
            <a:pPr marL="0" indent="0">
              <a:buNone/>
            </a:pPr>
            <a:endParaRPr lang="ko-KR" altLang="en-US" sz="20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 smtClean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 smtClean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5</a:t>
            </a:fld>
            <a:endParaRPr 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315133" y="2223145"/>
            <a:ext cx="5317466" cy="498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ctr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latin typeface="Times New Roman" pitchFamily="18" charset="0"/>
                <a:ea typeface="Arial Unicode MS"/>
                <a:cs typeface="Times New Roman" pitchFamily="18" charset="0"/>
              </a:rPr>
              <a:t>&lt;</a:t>
            </a:r>
            <a:r>
              <a:rPr lang="en-US" altLang="ko-KR" sz="2000" dirty="0" err="1">
                <a:latin typeface="Times New Roman" pitchFamily="18" charset="0"/>
                <a:ea typeface="Arial Unicode MS"/>
                <a:cs typeface="Times New Roman" pitchFamily="18" charset="0"/>
              </a:rPr>
              <a:t>jsp:include</a:t>
            </a:r>
            <a:r>
              <a:rPr lang="en-US" altLang="ko-KR" sz="2000" dirty="0">
                <a:latin typeface="Times New Roman" pitchFamily="18" charset="0"/>
                <a:ea typeface="Arial Unicode MS"/>
                <a:cs typeface="Times New Roman" pitchFamily="18" charset="0"/>
              </a:rPr>
              <a:t> page= </a:t>
            </a:r>
            <a:r>
              <a:rPr lang="en-US" altLang="ko-KR" sz="2000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"common/Copyright.html"/&gt;</a:t>
            </a:r>
            <a:endParaRPr lang="en-US" altLang="ko-KR" sz="2000" dirty="0">
              <a:latin typeface="Times New Roman" pitchFamily="18" charset="0"/>
              <a:ea typeface="Arial Unicode MS"/>
              <a:cs typeface="Times New Roman" pitchFamily="18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315133" y="2871217"/>
            <a:ext cx="5238934" cy="498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 algn="ctr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latin typeface="Times New Roman" pitchFamily="18" charset="0"/>
                <a:ea typeface="Arial Unicode MS"/>
                <a:cs typeface="Times New Roman" pitchFamily="18" charset="0"/>
              </a:rPr>
              <a:t>&lt;</a:t>
            </a:r>
            <a:r>
              <a:rPr lang="en-US" altLang="ko-KR" sz="2000" dirty="0" err="1">
                <a:latin typeface="Times New Roman" pitchFamily="18" charset="0"/>
                <a:ea typeface="Arial Unicode MS"/>
                <a:cs typeface="Times New Roman" pitchFamily="18" charset="0"/>
              </a:rPr>
              <a:t>jsp:include</a:t>
            </a:r>
            <a:r>
              <a:rPr lang="en-US" altLang="ko-KR" sz="2000" dirty="0">
                <a:latin typeface="Times New Roman" pitchFamily="18" charset="0"/>
                <a:ea typeface="Arial Unicode MS"/>
                <a:cs typeface="Times New Roman" pitchFamily="18" charset="0"/>
              </a:rPr>
              <a:t> page= </a:t>
            </a:r>
            <a:r>
              <a:rPr lang="en-US" altLang="ko-KR" sz="2000" dirty="0" smtClean="0">
                <a:latin typeface="Times New Roman" pitchFamily="18" charset="0"/>
                <a:ea typeface="Arial Unicode MS"/>
                <a:cs typeface="Times New Roman" pitchFamily="18" charset="0"/>
              </a:rPr>
              <a:t>"/common/Copyright.html"/&gt;</a:t>
            </a:r>
            <a:endParaRPr lang="en-US" altLang="ko-KR" sz="2000" dirty="0">
              <a:latin typeface="Times New Roman" pitchFamily="18" charset="0"/>
              <a:ea typeface="Arial Unicode MS"/>
              <a:cs typeface="Times New Roman" pitchFamily="18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739776" y="2333909"/>
            <a:ext cx="20521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dirty="0">
                <a:latin typeface="휴먼매직체" pitchFamily="18" charset="-127"/>
                <a:ea typeface="휴먼매직체" pitchFamily="18" charset="-127"/>
              </a:rPr>
              <a:t>상대적인 </a:t>
            </a:r>
            <a:r>
              <a:rPr lang="en-US" altLang="ko-KR" dirty="0">
                <a:latin typeface="휴먼매직체" pitchFamily="18" charset="-127"/>
                <a:ea typeface="휴먼매직체" pitchFamily="18" charset="-127"/>
              </a:rPr>
              <a:t>URL </a:t>
            </a:r>
            <a:r>
              <a:rPr lang="ko-KR" altLang="en-US" dirty="0" smtClean="0">
                <a:latin typeface="휴먼매직체" pitchFamily="18" charset="-127"/>
                <a:ea typeface="휴먼매직체" pitchFamily="18" charset="-127"/>
              </a:rPr>
              <a:t>경로명</a:t>
            </a:r>
            <a:endParaRPr lang="en-US" altLang="ko-KR" dirty="0">
              <a:latin typeface="휴먼매직체" pitchFamily="18" charset="-127"/>
              <a:ea typeface="휴먼매직체" pitchFamily="18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198740" y="3369880"/>
            <a:ext cx="4032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>
                <a:latin typeface="휴먼매직체" pitchFamily="18" charset="-127"/>
                <a:ea typeface="휴먼매직체" pitchFamily="18" charset="-127"/>
              </a:rPr>
              <a:t>슬래시</a:t>
            </a:r>
            <a:r>
              <a:rPr lang="en-US" altLang="ko-KR" dirty="0">
                <a:latin typeface="휴먼매직체" pitchFamily="18" charset="-127"/>
                <a:ea typeface="휴먼매직체" pitchFamily="18" charset="-127"/>
              </a:rPr>
              <a:t>(/)</a:t>
            </a:r>
            <a:r>
              <a:rPr lang="ko-KR" altLang="en-US" dirty="0">
                <a:latin typeface="휴먼매직체" pitchFamily="18" charset="-127"/>
                <a:ea typeface="휴먼매직체" pitchFamily="18" charset="-127"/>
              </a:rPr>
              <a:t>로 시작하는 값은 </a:t>
            </a:r>
            <a:r>
              <a:rPr lang="ko-KR" altLang="en-US" dirty="0" smtClean="0">
                <a:latin typeface="휴먼매직체" pitchFamily="18" charset="-127"/>
                <a:ea typeface="휴먼매직체" pitchFamily="18" charset="-127"/>
              </a:rPr>
              <a:t>웹 </a:t>
            </a:r>
            <a:r>
              <a:rPr lang="ko-KR" altLang="en-US" dirty="0">
                <a:latin typeface="휴먼매직체" pitchFamily="18" charset="-127"/>
                <a:ea typeface="휴먼매직체" pitchFamily="18" charset="-127"/>
              </a:rPr>
              <a:t>애플리케이션 </a:t>
            </a:r>
            <a:endParaRPr lang="en-US" altLang="ko-KR" dirty="0" smtClean="0">
              <a:latin typeface="휴먼매직체" pitchFamily="18" charset="-127"/>
              <a:ea typeface="휴먼매직체" pitchFamily="18" charset="-127"/>
            </a:endParaRPr>
          </a:p>
          <a:p>
            <a:pPr>
              <a:defRPr/>
            </a:pPr>
            <a:r>
              <a:rPr lang="ko-KR" altLang="en-US" dirty="0" smtClean="0">
                <a:latin typeface="휴먼매직체" pitchFamily="18" charset="-127"/>
                <a:ea typeface="휴먼매직체" pitchFamily="18" charset="-127"/>
              </a:rPr>
              <a:t>디렉터리를 기준으로 </a:t>
            </a:r>
            <a:r>
              <a:rPr lang="ko-KR" altLang="en-US" dirty="0">
                <a:latin typeface="휴먼매직체" pitchFamily="18" charset="-127"/>
                <a:ea typeface="휴먼매직체" pitchFamily="18" charset="-127"/>
              </a:rPr>
              <a:t>한 </a:t>
            </a:r>
            <a:r>
              <a:rPr lang="en-US" altLang="ko-KR" dirty="0">
                <a:latin typeface="휴먼매직체" pitchFamily="18" charset="-127"/>
                <a:ea typeface="휴먼매직체" pitchFamily="18" charset="-127"/>
              </a:rPr>
              <a:t>URL </a:t>
            </a:r>
            <a:r>
              <a:rPr lang="ko-KR" altLang="en-US" dirty="0" smtClean="0">
                <a:latin typeface="휴먼매직체" pitchFamily="18" charset="-127"/>
                <a:ea typeface="휴먼매직체" pitchFamily="18" charset="-127"/>
              </a:rPr>
              <a:t>경로명</a:t>
            </a:r>
            <a:endParaRPr lang="en-US" altLang="ko-KR" dirty="0" err="1">
              <a:latin typeface="휴먼매직체" pitchFamily="18" charset="-127"/>
              <a:ea typeface="휴먼매직체" pitchFamily="18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315134" y="5397244"/>
            <a:ext cx="4041490" cy="55399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ctr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latin typeface="Times New Roman" pitchFamily="18" charset="0"/>
                <a:ea typeface="Arial Unicode MS"/>
                <a:cs typeface="Times New Roman" pitchFamily="18" charset="0"/>
              </a:rPr>
              <a:t>&lt;</a:t>
            </a:r>
            <a:r>
              <a:rPr lang="en-US" altLang="ko-KR" sz="2000" dirty="0" err="1">
                <a:latin typeface="Times New Roman" pitchFamily="18" charset="0"/>
                <a:ea typeface="Arial Unicode MS"/>
                <a:cs typeface="Times New Roman" pitchFamily="18" charset="0"/>
              </a:rPr>
              <a:t>jsp:include</a:t>
            </a:r>
            <a:r>
              <a:rPr lang="en-US" altLang="ko-KR" sz="2000" dirty="0">
                <a:latin typeface="Times New Roman" pitchFamily="18" charset="0"/>
                <a:ea typeface="Arial Unicode MS"/>
                <a:cs typeface="Times New Roman" pitchFamily="18" charset="0"/>
              </a:rPr>
              <a:t> page= “</a:t>
            </a:r>
            <a:r>
              <a:rPr lang="en-US" altLang="ko-KR" sz="2000" dirty="0" err="1">
                <a:latin typeface="Times New Roman" pitchFamily="18" charset="0"/>
                <a:ea typeface="Arial Unicode MS"/>
                <a:cs typeface="Times New Roman" pitchFamily="18" charset="0"/>
              </a:rPr>
              <a:t>Date.jsp</a:t>
            </a:r>
            <a:r>
              <a:rPr lang="en-US" altLang="ko-KR" sz="2000" dirty="0">
                <a:latin typeface="Times New Roman" pitchFamily="18" charset="0"/>
                <a:ea typeface="Arial Unicode MS"/>
                <a:cs typeface="Times New Roman" pitchFamily="18" charset="0"/>
              </a:rPr>
              <a:t> ”/&gt;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315133" y="6045316"/>
            <a:ext cx="4041491" cy="498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 algn="ctr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2000" dirty="0">
                <a:latin typeface="Times New Roman" pitchFamily="18" charset="0"/>
                <a:ea typeface="Arial Unicode MS"/>
                <a:cs typeface="Times New Roman" pitchFamily="18" charset="0"/>
              </a:rPr>
              <a:t>&lt;</a:t>
            </a:r>
            <a:r>
              <a:rPr lang="en-US" altLang="ko-KR" sz="2000" dirty="0" err="1">
                <a:latin typeface="Times New Roman" pitchFamily="18" charset="0"/>
                <a:ea typeface="Arial Unicode MS"/>
                <a:cs typeface="Times New Roman" pitchFamily="18" charset="0"/>
              </a:rPr>
              <a:t>jsp:include</a:t>
            </a:r>
            <a:r>
              <a:rPr lang="en-US" altLang="ko-KR" sz="2000" dirty="0">
                <a:latin typeface="Times New Roman" pitchFamily="18" charset="0"/>
                <a:ea typeface="Arial Unicode MS"/>
                <a:cs typeface="Times New Roman" pitchFamily="18" charset="0"/>
              </a:rPr>
              <a:t> page= “/</a:t>
            </a:r>
            <a:r>
              <a:rPr lang="en-US" altLang="ko-KR" sz="2000" dirty="0" err="1">
                <a:latin typeface="Times New Roman" pitchFamily="18" charset="0"/>
                <a:ea typeface="Arial Unicode MS"/>
                <a:cs typeface="Times New Roman" pitchFamily="18" charset="0"/>
              </a:rPr>
              <a:t>util</a:t>
            </a:r>
            <a:r>
              <a:rPr lang="en-US" altLang="ko-KR" sz="2000" dirty="0">
                <a:latin typeface="Times New Roman" pitchFamily="18" charset="0"/>
                <a:ea typeface="Arial Unicode MS"/>
                <a:cs typeface="Times New Roman" pitchFamily="18" charset="0"/>
              </a:rPr>
              <a:t>/</a:t>
            </a:r>
            <a:r>
              <a:rPr lang="en-US" altLang="ko-KR" sz="2000" dirty="0" err="1">
                <a:latin typeface="Times New Roman" pitchFamily="18" charset="0"/>
                <a:ea typeface="Arial Unicode MS"/>
                <a:cs typeface="Times New Roman" pitchFamily="18" charset="0"/>
              </a:rPr>
              <a:t>Date.jsp</a:t>
            </a:r>
            <a:r>
              <a:rPr lang="en-US" altLang="ko-KR" sz="2000" dirty="0">
                <a:latin typeface="Times New Roman" pitchFamily="18" charset="0"/>
                <a:ea typeface="Arial Unicode MS"/>
                <a:cs typeface="Times New Roman" pitchFamily="18" charset="0"/>
              </a:rPr>
              <a:t> ”/&gt;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5362975" y="539724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dirty="0">
                <a:latin typeface="휴먼매직체" pitchFamily="18" charset="-127"/>
                <a:ea typeface="휴먼매직체" pitchFamily="18" charset="-127"/>
              </a:rPr>
              <a:t>같은 디렉터리에 있는 </a:t>
            </a:r>
            <a:r>
              <a:rPr lang="en-US" altLang="ko-KR" dirty="0" err="1">
                <a:latin typeface="휴먼매직체" pitchFamily="18" charset="-127"/>
                <a:ea typeface="휴먼매직체" pitchFamily="18" charset="-127"/>
              </a:rPr>
              <a:t>Date.jsp</a:t>
            </a:r>
            <a:r>
              <a:rPr lang="ko-KR" altLang="en-US" dirty="0">
                <a:latin typeface="휴먼매직체" pitchFamily="18" charset="-127"/>
                <a:ea typeface="휴먼매직체" pitchFamily="18" charset="-127"/>
              </a:rPr>
              <a:t>를 </a:t>
            </a:r>
            <a:r>
              <a:rPr lang="en-US" altLang="ko-KR" dirty="0" smtClean="0">
                <a:latin typeface="휴먼매직체" pitchFamily="18" charset="-127"/>
                <a:ea typeface="휴먼매직체" pitchFamily="18" charset="-127"/>
              </a:rPr>
              <a:t>include</a:t>
            </a:r>
            <a:endParaRPr lang="en-US" altLang="ko-KR" dirty="0">
              <a:latin typeface="휴먼매직체" pitchFamily="18" charset="-127"/>
              <a:ea typeface="휴먼매직체" pitchFamily="18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365586" y="5914107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dirty="0">
                <a:latin typeface="휴먼매직체" pitchFamily="18" charset="-127"/>
                <a:ea typeface="휴먼매직체" pitchFamily="18" charset="-127"/>
              </a:rPr>
              <a:t>웹 애플리케이션 디렉터리의 </a:t>
            </a:r>
            <a:r>
              <a:rPr lang="en-US" altLang="ko-KR" dirty="0" err="1" smtClean="0">
                <a:latin typeface="휴먼매직체" pitchFamily="18" charset="-127"/>
                <a:ea typeface="휴먼매직체" pitchFamily="18" charset="-127"/>
              </a:rPr>
              <a:t>util</a:t>
            </a:r>
            <a:r>
              <a:rPr lang="ko-KR" altLang="en-US" dirty="0" smtClean="0">
                <a:latin typeface="휴먼매직체" pitchFamily="18" charset="-127"/>
                <a:ea typeface="휴먼매직체" pitchFamily="18" charset="-127"/>
              </a:rPr>
              <a:t>이라고 하는</a:t>
            </a:r>
            <a:endParaRPr lang="en-US" altLang="ko-KR" dirty="0" smtClean="0">
              <a:latin typeface="휴먼매직체" pitchFamily="18" charset="-127"/>
              <a:ea typeface="휴먼매직체" pitchFamily="18" charset="-127"/>
            </a:endParaRPr>
          </a:p>
          <a:p>
            <a:pPr>
              <a:defRPr/>
            </a:pPr>
            <a:r>
              <a:rPr lang="en-US" altLang="ko-KR" dirty="0" smtClean="0">
                <a:latin typeface="휴먼매직체" pitchFamily="18" charset="-127"/>
                <a:ea typeface="휴먼매직체" pitchFamily="18" charset="-127"/>
              </a:rPr>
              <a:t>sub</a:t>
            </a:r>
            <a:r>
              <a:rPr lang="ko-KR" altLang="en-US" dirty="0" smtClean="0">
                <a:latin typeface="휴먼매직체" pitchFamily="18" charset="-127"/>
                <a:ea typeface="휴먼매직체" pitchFamily="18" charset="-127"/>
              </a:rPr>
              <a:t>디렉터리에 있는 </a:t>
            </a:r>
            <a:r>
              <a:rPr lang="en-US" altLang="ko-KR" dirty="0" err="1">
                <a:latin typeface="휴먼매직체" pitchFamily="18" charset="-127"/>
                <a:ea typeface="휴먼매직체" pitchFamily="18" charset="-127"/>
              </a:rPr>
              <a:t>Date.jsp</a:t>
            </a:r>
            <a:r>
              <a:rPr lang="ko-KR" altLang="en-US" dirty="0">
                <a:latin typeface="휴먼매직체" pitchFamily="18" charset="-127"/>
                <a:ea typeface="휴먼매직체" pitchFamily="18" charset="-127"/>
              </a:rPr>
              <a:t>를 </a:t>
            </a:r>
            <a:r>
              <a:rPr lang="en-US" altLang="ko-KR" dirty="0" smtClean="0">
                <a:latin typeface="휴먼매직체" pitchFamily="18" charset="-127"/>
                <a:ea typeface="휴먼매직체" pitchFamily="18" charset="-127"/>
              </a:rPr>
              <a:t>include</a:t>
            </a:r>
            <a:endParaRPr lang="en-US" altLang="ko-KR" dirty="0">
              <a:latin typeface="휴먼매직체" pitchFamily="18" charset="-127"/>
              <a:ea typeface="휴먼매직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0145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>
                <a:latin typeface="+mn-ea"/>
                <a:ea typeface="+mn-ea"/>
                <a:cs typeface="Times New Roman" pitchFamily="18" charset="0"/>
              </a:rPr>
              <a:t>Include</a:t>
            </a:r>
            <a:endParaRPr lang="ko-KR" altLang="en-US" sz="2800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&lt;%@ include&gt; </a:t>
            </a:r>
            <a:r>
              <a:rPr lang="ko-KR" altLang="en-US" sz="2000" b="1" dirty="0"/>
              <a:t>지시자</a:t>
            </a:r>
            <a:r>
              <a:rPr lang="ko-KR" altLang="en-US" sz="2000" dirty="0"/>
              <a:t> </a:t>
            </a:r>
            <a:r>
              <a:rPr lang="en-US" altLang="ko-KR" sz="2000" dirty="0"/>
              <a:t>vs. &lt;</a:t>
            </a:r>
            <a:r>
              <a:rPr lang="en-US" altLang="ko-KR" sz="2000" dirty="0" err="1"/>
              <a:t>jsp:include</a:t>
            </a:r>
            <a:r>
              <a:rPr lang="en-US" altLang="ko-KR" sz="2000" dirty="0"/>
              <a:t>&gt; </a:t>
            </a:r>
            <a:r>
              <a:rPr lang="ko-KR" altLang="en-US" sz="2000" b="1" dirty="0" err="1"/>
              <a:t>액션태그</a:t>
            </a:r>
            <a:r>
              <a:rPr lang="ko-KR" altLang="en-US" sz="2000" dirty="0"/>
              <a:t> </a:t>
            </a:r>
          </a:p>
          <a:p>
            <a:pPr lvl="1"/>
            <a:r>
              <a:rPr lang="ko-KR" altLang="en-US" sz="1800" dirty="0"/>
              <a:t>지시자</a:t>
            </a:r>
          </a:p>
          <a:p>
            <a:pPr lvl="2"/>
            <a:r>
              <a:rPr lang="ko-KR" altLang="en-US" dirty="0"/>
              <a:t>정적인 페이지를 </a:t>
            </a:r>
            <a:r>
              <a:rPr lang="en-US" altLang="ko-KR" dirty="0"/>
              <a:t>include</a:t>
            </a:r>
          </a:p>
          <a:p>
            <a:pPr lvl="2"/>
            <a:r>
              <a:rPr lang="ko-KR" altLang="en-US" dirty="0"/>
              <a:t>빠르다</a:t>
            </a:r>
          </a:p>
          <a:p>
            <a:pPr lvl="2"/>
            <a:r>
              <a:rPr lang="en-US" altLang="ko-KR" dirty="0"/>
              <a:t>include</a:t>
            </a:r>
            <a:r>
              <a:rPr lang="ko-KR" altLang="en-US" dirty="0"/>
              <a:t>한 페이지와 </a:t>
            </a:r>
            <a:r>
              <a:rPr lang="en-US" altLang="ko-KR" dirty="0"/>
              <a:t>include</a:t>
            </a:r>
            <a:r>
              <a:rPr lang="ko-KR" altLang="en-US" dirty="0"/>
              <a:t>된 페이지 간 변수 공유가 자동으로 됨</a:t>
            </a:r>
          </a:p>
          <a:p>
            <a:pPr marL="914400" lvl="2" indent="0">
              <a:buNone/>
            </a:pPr>
            <a:r>
              <a:rPr lang="en-US" altLang="ko-KR" dirty="0"/>
              <a:t>-&gt;</a:t>
            </a:r>
            <a:r>
              <a:rPr lang="ko-KR" altLang="en-US" dirty="0"/>
              <a:t>개발의 편의성이 있으나 너무 많은 </a:t>
            </a:r>
            <a:r>
              <a:rPr lang="en-US" altLang="ko-KR" dirty="0"/>
              <a:t>include</a:t>
            </a:r>
            <a:r>
              <a:rPr lang="ko-KR" altLang="en-US" dirty="0"/>
              <a:t>는 유지보수 측면에서 부담</a:t>
            </a:r>
          </a:p>
          <a:p>
            <a:pPr lvl="1"/>
            <a:r>
              <a:rPr lang="ko-KR" altLang="en-US" sz="1800" dirty="0" err="1"/>
              <a:t>액션태그</a:t>
            </a:r>
            <a:endParaRPr lang="ko-KR" altLang="en-US" sz="1800" dirty="0"/>
          </a:p>
          <a:p>
            <a:pPr lvl="2"/>
            <a:r>
              <a:rPr lang="ko-KR" altLang="en-US" dirty="0"/>
              <a:t>동적인 페이지를 </a:t>
            </a:r>
            <a:r>
              <a:rPr lang="en-US" altLang="ko-KR" dirty="0"/>
              <a:t>include</a:t>
            </a:r>
          </a:p>
          <a:p>
            <a:pPr lvl="2"/>
            <a:r>
              <a:rPr lang="en-US" altLang="ko-KR" dirty="0"/>
              <a:t>include</a:t>
            </a:r>
            <a:r>
              <a:rPr lang="ko-KR" altLang="en-US" dirty="0"/>
              <a:t>한 페이지와 </a:t>
            </a:r>
            <a:r>
              <a:rPr lang="en-US" altLang="ko-KR" dirty="0"/>
              <a:t>include</a:t>
            </a:r>
            <a:r>
              <a:rPr lang="ko-KR" altLang="en-US" dirty="0"/>
              <a:t>된 페이지 간 변수 공유가 없으므로 유지 보수 측면에서 편리하지만 공유가 필요한 경우 추가적인 지정이 필요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6</a:t>
            </a:fld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562100" y="5366819"/>
            <a:ext cx="6096000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dirty="0"/>
              <a:t>&lt;</a:t>
            </a:r>
            <a:r>
              <a:rPr lang="en-US" dirty="0" err="1"/>
              <a:t>jsp:include</a:t>
            </a:r>
            <a:r>
              <a:rPr lang="en-US" dirty="0"/>
              <a:t> page="/</a:t>
            </a:r>
            <a:r>
              <a:rPr lang="en-US" dirty="0" err="1"/>
              <a:t>inc</a:t>
            </a:r>
            <a:r>
              <a:rPr lang="en-US" dirty="0"/>
              <a:t>/</a:t>
            </a:r>
            <a:r>
              <a:rPr lang="en-US" dirty="0" err="1"/>
              <a:t>common.jsp</a:t>
            </a:r>
            <a:r>
              <a:rPr lang="en-US" dirty="0"/>
              <a:t>" flush="true"&gt;</a:t>
            </a:r>
          </a:p>
          <a:p>
            <a:r>
              <a:rPr lang="en-US" dirty="0"/>
              <a:t>    &lt;</a:t>
            </a:r>
            <a:r>
              <a:rPr lang="en-US" dirty="0" err="1">
                <a:solidFill>
                  <a:srgbClr val="0000FF"/>
                </a:solidFill>
              </a:rPr>
              <a:t>jsp:param</a:t>
            </a:r>
            <a:r>
              <a:rPr lang="en-US" dirty="0"/>
              <a:t> name="</a:t>
            </a:r>
            <a:r>
              <a:rPr lang="en-US" dirty="0" err="1"/>
              <a:t>userName</a:t>
            </a:r>
            <a:r>
              <a:rPr lang="en-US" dirty="0"/>
              <a:t>" value="&lt;%=</a:t>
            </a:r>
            <a:r>
              <a:rPr lang="en-US" dirty="0" err="1"/>
              <a:t>userName</a:t>
            </a:r>
            <a:r>
              <a:rPr lang="en-US" dirty="0"/>
              <a:t>%&gt;"/&gt;</a:t>
            </a:r>
          </a:p>
          <a:p>
            <a:r>
              <a:rPr lang="en-US" dirty="0"/>
              <a:t>    &lt;</a:t>
            </a:r>
            <a:r>
              <a:rPr lang="en-US" dirty="0" err="1">
                <a:solidFill>
                  <a:srgbClr val="0000FF"/>
                </a:solidFill>
              </a:rPr>
              <a:t>jsp:param</a:t>
            </a:r>
            <a:r>
              <a:rPr lang="en-US" dirty="0"/>
              <a:t> name="</a:t>
            </a:r>
            <a:r>
              <a:rPr lang="en-US" dirty="0" err="1"/>
              <a:t>userAge</a:t>
            </a:r>
            <a:r>
              <a:rPr lang="en-US" dirty="0"/>
              <a:t>" value="&lt;%=</a:t>
            </a:r>
            <a:r>
              <a:rPr lang="en-US" dirty="0" err="1"/>
              <a:t>userAge</a:t>
            </a:r>
            <a:r>
              <a:rPr lang="en-US" dirty="0"/>
              <a:t>%&gt;"/&gt;</a:t>
            </a:r>
          </a:p>
          <a:p>
            <a:r>
              <a:rPr lang="en-US" dirty="0"/>
              <a:t>&lt;/</a:t>
            </a:r>
            <a:r>
              <a:rPr lang="en-US" dirty="0" err="1"/>
              <a:t>jsp:include</a:t>
            </a:r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807410" y="6228594"/>
            <a:ext cx="18389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(</a:t>
            </a:r>
            <a:r>
              <a:rPr lang="ko-KR" altLang="en-US" sz="1600" dirty="0"/>
              <a:t>뒤에서 다시 설명</a:t>
            </a:r>
            <a:r>
              <a:rPr lang="en-US" altLang="ko-KR" sz="1600" dirty="0" smtClean="0"/>
              <a:t>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1006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forward</a:t>
            </a:r>
            <a:endParaRPr lang="ko-KR" altLang="en-US" sz="2800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&lt;</a:t>
            </a:r>
            <a:r>
              <a:rPr lang="en-US" altLang="ko-KR" sz="2000" dirty="0" err="1"/>
              <a:t>jsp:forward</a:t>
            </a:r>
            <a:r>
              <a:rPr lang="en-US" altLang="ko-KR" sz="2000" dirty="0"/>
              <a:t>&gt; </a:t>
            </a:r>
            <a:r>
              <a:rPr lang="ko-KR" altLang="en-US" sz="2000" dirty="0"/>
              <a:t>표준 액션</a:t>
            </a:r>
          </a:p>
          <a:p>
            <a:pPr lvl="1"/>
            <a:r>
              <a:rPr lang="en-US" altLang="ko-KR" sz="1800" dirty="0"/>
              <a:t>JSP </a:t>
            </a:r>
            <a:r>
              <a:rPr lang="ko-KR" altLang="en-US" sz="1800" dirty="0"/>
              <a:t>페이지에서 다른 </a:t>
            </a:r>
            <a:r>
              <a:rPr lang="en-US" altLang="ko-KR" sz="1800" dirty="0"/>
              <a:t>JSP </a:t>
            </a:r>
            <a:r>
              <a:rPr lang="ko-KR" altLang="en-US" sz="1800" dirty="0"/>
              <a:t>페이지로 제어를 넘기고자 할 때 사용</a:t>
            </a:r>
          </a:p>
          <a:p>
            <a:pPr lvl="1"/>
            <a:r>
              <a:rPr lang="en-US" altLang="ko-KR" sz="1800" dirty="0"/>
              <a:t>&lt;</a:t>
            </a:r>
            <a:r>
              <a:rPr lang="en-US" altLang="ko-KR" sz="1800" dirty="0" err="1"/>
              <a:t>jsp:include</a:t>
            </a:r>
            <a:r>
              <a:rPr lang="en-US" altLang="ko-KR" sz="1800" dirty="0"/>
              <a:t>&gt;</a:t>
            </a:r>
            <a:r>
              <a:rPr lang="ko-KR" altLang="en-US" sz="1800" dirty="0"/>
              <a:t>와 마찬가지로 </a:t>
            </a:r>
            <a:r>
              <a:rPr lang="en-US" altLang="ko-KR" sz="1800" dirty="0"/>
              <a:t>page </a:t>
            </a:r>
            <a:r>
              <a:rPr lang="ko-KR" altLang="en-US" sz="1800" dirty="0"/>
              <a:t>속성을 이용해서 해당 </a:t>
            </a:r>
            <a:r>
              <a:rPr lang="en-US" altLang="ko-KR" sz="1800" dirty="0"/>
              <a:t>JSP </a:t>
            </a:r>
            <a:r>
              <a:rPr lang="ko-KR" altLang="en-US" sz="1800" dirty="0"/>
              <a:t>페이지의 </a:t>
            </a:r>
            <a:r>
              <a:rPr lang="en-US" altLang="ko-KR" sz="1800" dirty="0"/>
              <a:t>URL</a:t>
            </a:r>
            <a:r>
              <a:rPr lang="ko-KR" altLang="en-US" sz="1800" dirty="0"/>
              <a:t>을 지정</a:t>
            </a:r>
          </a:p>
          <a:p>
            <a:endParaRPr lang="en-US" altLang="ko-KR" sz="1800" dirty="0" smtClean="0"/>
          </a:p>
          <a:p>
            <a:pPr marL="0" indent="0">
              <a:buNone/>
            </a:pPr>
            <a:endParaRPr lang="ko-KR" altLang="en-US" sz="1800" dirty="0"/>
          </a:p>
          <a:p>
            <a:pPr lvl="1"/>
            <a:r>
              <a:rPr lang="ko-KR" altLang="en-US" sz="1800" dirty="0"/>
              <a:t>주의 사항</a:t>
            </a:r>
          </a:p>
          <a:p>
            <a:pPr lvl="2"/>
            <a:r>
              <a:rPr lang="ko-KR" altLang="en-US" dirty="0"/>
              <a:t>현재 </a:t>
            </a:r>
            <a:r>
              <a:rPr lang="en-US" altLang="ko-KR" dirty="0"/>
              <a:t>JSP </a:t>
            </a:r>
            <a:r>
              <a:rPr lang="ko-KR" altLang="en-US" dirty="0"/>
              <a:t>페이지의 출력 스트림을 </a:t>
            </a:r>
            <a:r>
              <a:rPr lang="en-US" altLang="ko-KR" dirty="0"/>
              <a:t>flush</a:t>
            </a:r>
            <a:r>
              <a:rPr lang="ko-KR" altLang="en-US" dirty="0"/>
              <a:t>한 후</a:t>
            </a:r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이미 출력 스트림을 통해 클라이언트로 출력된 후</a:t>
            </a:r>
            <a:r>
              <a:rPr lang="en-US" altLang="ko-KR" dirty="0"/>
              <a:t>)</a:t>
            </a:r>
            <a:r>
              <a:rPr lang="ko-KR" altLang="en-US" dirty="0"/>
              <a:t>에는 요청 처리 제어를 </a:t>
            </a:r>
            <a:r>
              <a:rPr lang="en-US" altLang="ko-KR" dirty="0"/>
              <a:t>forwarding</a:t>
            </a:r>
            <a:r>
              <a:rPr lang="ko-KR" altLang="en-US" dirty="0"/>
              <a:t>할 수 없음</a:t>
            </a:r>
          </a:p>
          <a:p>
            <a:pPr lvl="2"/>
            <a:r>
              <a:rPr lang="ko-KR" altLang="en-US" dirty="0"/>
              <a:t>위의 제약사항을 어길 경우에 예외가 발생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7</a:t>
            </a:fld>
            <a:endParaRPr lang="en-US" dirty="0"/>
          </a:p>
        </p:txBody>
      </p:sp>
      <p:sp>
        <p:nvSpPr>
          <p:cNvPr id="7" name="직사각형 6"/>
          <p:cNvSpPr/>
          <p:nvPr/>
        </p:nvSpPr>
        <p:spPr>
          <a:xfrm>
            <a:off x="4217714" y="2489285"/>
            <a:ext cx="3470822" cy="45807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</a:t>
            </a:r>
            <a:r>
              <a:rPr lang="en-US" altLang="ko-KR" b="1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jsp:forward</a:t>
            </a:r>
            <a:r>
              <a:rPr lang="en-US" altLang="ko-KR" b="1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page= "</a:t>
            </a:r>
            <a:r>
              <a:rPr lang="en-US" altLang="ko-KR" b="1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Next.jsp</a:t>
            </a:r>
            <a:r>
              <a:rPr lang="en-US" altLang="ko-KR" b="1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"/&gt;</a:t>
            </a:r>
          </a:p>
        </p:txBody>
      </p:sp>
    </p:spTree>
    <p:extLst>
      <p:ext uri="{BB962C8B-B14F-4D97-AF65-F5344CB8AC3E}">
        <p14:creationId xmlns:p14="http://schemas.microsoft.com/office/powerpoint/2010/main" val="3652990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err="1">
                <a:cs typeface="Times New Roman" pitchFamily="18" charset="0"/>
              </a:rPr>
              <a:t>param</a:t>
            </a:r>
            <a:endParaRPr lang="ko-KR" altLang="en-US" sz="2800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&lt;</a:t>
            </a:r>
            <a:r>
              <a:rPr lang="en-US" altLang="ko-KR" sz="2000" dirty="0" err="1" smtClean="0">
                <a:cs typeface="Times New Roman" pitchFamily="18" charset="0"/>
              </a:rPr>
              <a:t>jsp:param</a:t>
            </a:r>
            <a:r>
              <a:rPr lang="en-US" altLang="ko-KR" sz="2000" dirty="0" smtClean="0"/>
              <a:t>&gt; </a:t>
            </a:r>
            <a:r>
              <a:rPr lang="ko-KR" altLang="en-US" sz="2000" dirty="0"/>
              <a:t>표준 액션</a:t>
            </a:r>
            <a:endParaRPr lang="en-US" altLang="ko-KR" sz="2000" dirty="0"/>
          </a:p>
          <a:p>
            <a:pPr lvl="1"/>
            <a:r>
              <a:rPr lang="en-US" altLang="ko-KR" sz="1800" dirty="0"/>
              <a:t>&lt;</a:t>
            </a:r>
            <a:r>
              <a:rPr lang="en-US" altLang="ko-KR" sz="1800" dirty="0" err="1"/>
              <a:t>jsp:include</a:t>
            </a:r>
            <a:r>
              <a:rPr lang="en-US" altLang="ko-KR" sz="1800" dirty="0"/>
              <a:t>&gt;</a:t>
            </a:r>
            <a:r>
              <a:rPr lang="ko-KR" altLang="en-US" sz="1800" dirty="0"/>
              <a:t>와</a:t>
            </a:r>
            <a:r>
              <a:rPr lang="en-US" altLang="ko-KR" sz="1800" dirty="0"/>
              <a:t> &lt;</a:t>
            </a:r>
            <a:r>
              <a:rPr lang="en-US" altLang="ko-KR" sz="1800" dirty="0" err="1">
                <a:cs typeface="Times New Roman" pitchFamily="18" charset="0"/>
              </a:rPr>
              <a:t>jsp:forward</a:t>
            </a:r>
            <a:r>
              <a:rPr lang="en-US" altLang="ko-KR" sz="1800" dirty="0"/>
              <a:t>&gt;</a:t>
            </a:r>
            <a:r>
              <a:rPr lang="ko-KR" altLang="en-US" sz="1800" dirty="0"/>
              <a:t>를 이용하여 다른 페이지를 호출</a:t>
            </a:r>
            <a:r>
              <a:rPr lang="en-US" altLang="ko-KR" sz="1800" dirty="0"/>
              <a:t>(</a:t>
            </a:r>
            <a:r>
              <a:rPr lang="ko-KR" altLang="en-US" sz="1800" dirty="0" err="1"/>
              <a:t>제어권</a:t>
            </a:r>
            <a:r>
              <a:rPr lang="ko-KR" altLang="en-US" sz="1800" dirty="0"/>
              <a:t> 이동</a:t>
            </a:r>
            <a:r>
              <a:rPr lang="en-US" altLang="ko-KR" sz="1800" dirty="0"/>
              <a:t>)</a:t>
            </a:r>
            <a:r>
              <a:rPr lang="ko-KR" altLang="en-US" sz="1800" dirty="0"/>
              <a:t>할 때 </a:t>
            </a:r>
            <a:r>
              <a:rPr lang="en-US" altLang="ko-KR" sz="1800" dirty="0"/>
              <a:t>&lt;</a:t>
            </a:r>
            <a:r>
              <a:rPr lang="en-US" altLang="ko-KR" sz="1800" dirty="0" err="1">
                <a:cs typeface="Times New Roman" pitchFamily="18" charset="0"/>
              </a:rPr>
              <a:t>jsp:param</a:t>
            </a:r>
            <a:r>
              <a:rPr lang="en-US" altLang="ko-KR" sz="1800" dirty="0">
                <a:cs typeface="Times New Roman" pitchFamily="18" charset="0"/>
              </a:rPr>
              <a:t> </a:t>
            </a:r>
            <a:r>
              <a:rPr lang="en-US" altLang="ko-KR" sz="1800" dirty="0"/>
              <a:t>&gt;</a:t>
            </a:r>
            <a:r>
              <a:rPr lang="ko-KR" altLang="en-US" sz="1800" dirty="0"/>
              <a:t>를 이용하여</a:t>
            </a:r>
            <a:r>
              <a:rPr lang="en-US" altLang="ko-KR" sz="1800" dirty="0"/>
              <a:t> </a:t>
            </a:r>
            <a:r>
              <a:rPr lang="ko-KR" altLang="en-US" sz="1800" dirty="0" err="1"/>
              <a:t>파라미터를</a:t>
            </a:r>
            <a:r>
              <a:rPr lang="ko-KR" altLang="en-US" sz="1800" dirty="0"/>
              <a:t> 전달</a:t>
            </a:r>
            <a:endParaRPr lang="en-US" altLang="ko-KR" sz="18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8</a:t>
            </a:fld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175445" y="2237839"/>
            <a:ext cx="6643165" cy="3416320"/>
          </a:xfrm>
          <a:prstGeom prst="rect">
            <a:avLst/>
          </a:prstGeom>
          <a:noFill/>
          <a:ln>
            <a:solidFill>
              <a:schemeClr val="dk1">
                <a:shade val="50000"/>
              </a:schemeClr>
            </a:solidFill>
          </a:ln>
          <a:effectLst/>
          <a:ex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&lt;title&gt;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JSP include with parameters example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jsp:include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file.jsp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jsp:param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"Chaitanya"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jsp:param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middlename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Pratap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jsp:param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"Singh"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jsp:include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8262853" y="2767788"/>
            <a:ext cx="3108960" cy="923330"/>
          </a:xfrm>
          <a:prstGeom prst="rect">
            <a:avLst/>
          </a:prstGeom>
          <a:noFill/>
          <a:ln>
            <a:solidFill>
              <a:schemeClr val="dk1">
                <a:shade val="50000"/>
              </a:schemeClr>
            </a:solidFill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param.firstname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}&lt;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param.middlename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}&lt;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param.lastname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474337" y="2237839"/>
            <a:ext cx="898003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PT Sans"/>
              </a:rPr>
              <a:t>file.jsp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626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err="1">
                <a:cs typeface="Times New Roman" pitchFamily="18" charset="0"/>
              </a:rPr>
              <a:t>param</a:t>
            </a:r>
            <a:endParaRPr lang="ko-KR" altLang="en-US" sz="2800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&lt;</a:t>
            </a:r>
            <a:r>
              <a:rPr lang="en-US" altLang="ko-KR" sz="2000" dirty="0" err="1">
                <a:cs typeface="Times New Roman" pitchFamily="18" charset="0"/>
              </a:rPr>
              <a:t>jsp:param</a:t>
            </a:r>
            <a:r>
              <a:rPr lang="en-US" altLang="ko-KR" sz="2000" dirty="0">
                <a:cs typeface="Times New Roman" pitchFamily="18" charset="0"/>
              </a:rPr>
              <a:t> </a:t>
            </a:r>
            <a:r>
              <a:rPr lang="en-US" altLang="ko-KR" sz="2000" dirty="0"/>
              <a:t>&gt; </a:t>
            </a:r>
            <a:r>
              <a:rPr lang="ko-KR" altLang="en-US" sz="2000" dirty="0"/>
              <a:t>표준 </a:t>
            </a:r>
            <a:r>
              <a:rPr lang="ko-KR" altLang="en-US" sz="2000" dirty="0" smtClean="0"/>
              <a:t>액션</a:t>
            </a:r>
            <a:endParaRPr lang="en-US" altLang="ko-KR" sz="20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9</a:t>
            </a:fld>
            <a:endParaRPr lang="en-US" dirty="0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835917" y="1229394"/>
            <a:ext cx="8905094" cy="36933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&lt;title&gt;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JSP forward example with parameters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&lt;/title&gt;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jsp:forward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display.jsp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jsp:param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"Chaitanya"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jsp:param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"site"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"BeginnersBook.com"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jsp:param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tutorialname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jsp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forward action"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jsp:param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reqcamefrom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index.jsp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jsp:forward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832524" y="4994493"/>
            <a:ext cx="8937062" cy="18158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 this is a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display.jsp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Page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 name is: &lt;%=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request.getParameter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%&gt;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Website: &lt;%=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request.getParameter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"site"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%&gt;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Topic: &lt;%=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request.getParameter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tutorialname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%&gt;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Forward Request came from the page: &lt;%=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request.getParameter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reqcamefrom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%&gt;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8137801" y="4986675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 err="1">
                <a:latin typeface="Consolas" panose="020B0609020204030204" pitchFamily="49" charset="0"/>
              </a:rPr>
              <a:t>display.jsp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134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>
                <a:latin typeface="+mn-ea"/>
                <a:ea typeface="+mn-ea"/>
              </a:rPr>
              <a:t>JavaBean</a:t>
            </a:r>
            <a:endParaRPr lang="ko-KR" altLang="en-US" sz="2800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자바빈</a:t>
            </a:r>
            <a:r>
              <a:rPr lang="en-US" altLang="ko-KR" dirty="0" smtClean="0"/>
              <a:t>(JavaBean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가독성과</a:t>
            </a:r>
            <a:r>
              <a:rPr lang="ko-KR" altLang="en-US" dirty="0"/>
              <a:t> 코드 </a:t>
            </a:r>
            <a:r>
              <a:rPr lang="ko-KR" altLang="en-US" dirty="0" err="1"/>
              <a:t>재사용성을</a:t>
            </a:r>
            <a:r>
              <a:rPr lang="ko-KR" altLang="en-US" dirty="0"/>
              <a:t> 높이기 위해 사용</a:t>
            </a:r>
          </a:p>
          <a:p>
            <a:pPr lvl="1"/>
            <a:r>
              <a:rPr lang="ko-KR" altLang="en-US" dirty="0" err="1"/>
              <a:t>자바빈은</a:t>
            </a:r>
            <a:r>
              <a:rPr lang="ko-KR" altLang="en-US" dirty="0"/>
              <a:t> 아래의 규격을 따라 만들어야 함</a:t>
            </a:r>
          </a:p>
          <a:p>
            <a:pPr lvl="1"/>
            <a:r>
              <a:rPr lang="ko-KR" altLang="en-US" dirty="0" smtClean="0"/>
              <a:t>반드시 빈은 패키지화 하여야 </a:t>
            </a:r>
            <a:r>
              <a:rPr lang="ko-KR" altLang="en-US" dirty="0"/>
              <a:t>함</a:t>
            </a:r>
            <a:endParaRPr lang="en-US" altLang="ko-KR" dirty="0" smtClean="0"/>
          </a:p>
          <a:p>
            <a:pPr lvl="2"/>
            <a:r>
              <a:rPr lang="ko-KR" altLang="en-US" dirty="0" err="1" smtClean="0"/>
              <a:t>프로퍼티의</a:t>
            </a:r>
            <a:r>
              <a:rPr lang="ko-KR" altLang="en-US" dirty="0" smtClean="0"/>
              <a:t> </a:t>
            </a:r>
            <a:r>
              <a:rPr lang="ko-KR" altLang="en-US" dirty="0"/>
              <a:t>접근 지정자는 </a:t>
            </a:r>
            <a:r>
              <a:rPr lang="en-US" altLang="ko-KR" dirty="0" smtClean="0"/>
              <a:t>private</a:t>
            </a:r>
            <a:endParaRPr lang="en-US" altLang="ko-KR" dirty="0"/>
          </a:p>
          <a:p>
            <a:pPr lvl="2"/>
            <a:r>
              <a:rPr lang="ko-KR" altLang="en-US" dirty="0" err="1"/>
              <a:t>프로퍼티</a:t>
            </a:r>
            <a:r>
              <a:rPr lang="ko-KR" altLang="en-US" dirty="0"/>
              <a:t> 마다 </a:t>
            </a:r>
            <a:r>
              <a:rPr lang="en-US" altLang="ko-KR" dirty="0"/>
              <a:t>getter, setter (public)</a:t>
            </a:r>
            <a:r>
              <a:rPr lang="ko-KR" altLang="en-US" dirty="0"/>
              <a:t>가 존재해야 함</a:t>
            </a:r>
            <a:endParaRPr lang="en-US" altLang="ko-KR" dirty="0"/>
          </a:p>
          <a:p>
            <a:pPr lvl="2"/>
            <a:r>
              <a:rPr lang="ko-KR" altLang="en-US" dirty="0"/>
              <a:t>읽기 전용인 경우에는 </a:t>
            </a:r>
            <a:r>
              <a:rPr lang="en-US" altLang="ko-KR" dirty="0"/>
              <a:t>getter</a:t>
            </a:r>
            <a:r>
              <a:rPr lang="ko-KR" altLang="en-US" dirty="0"/>
              <a:t>만 정의할 수 </a:t>
            </a:r>
            <a:r>
              <a:rPr lang="ko-KR" altLang="en-US" dirty="0" smtClean="0"/>
              <a:t>있음</a:t>
            </a: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971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>
                <a:latin typeface="+mn-ea"/>
                <a:ea typeface="+mn-ea"/>
              </a:rPr>
              <a:t>JavaBean</a:t>
            </a:r>
            <a:endParaRPr lang="ko-KR" altLang="en-US" sz="2800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개인 정보를 표현하는 </a:t>
            </a:r>
            <a:r>
              <a:rPr lang="ko-KR" alt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자바빈</a:t>
            </a:r>
            <a:r>
              <a:rPr lang="ko-KR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클래스</a:t>
            </a:r>
            <a:endParaRPr lang="en-US" sz="20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11</a:t>
            </a:fld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30374" y="1407056"/>
            <a:ext cx="5403726" cy="507831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>
                <a:latin typeface="+mn-ea"/>
              </a:rPr>
              <a:t>package mall;</a:t>
            </a:r>
          </a:p>
          <a:p>
            <a:r>
              <a:rPr lang="en-US" dirty="0" smtClean="0">
                <a:latin typeface="+mn-ea"/>
              </a:rPr>
              <a:t>public class </a:t>
            </a:r>
            <a:r>
              <a:rPr lang="en-US" dirty="0" err="1" smtClean="0">
                <a:latin typeface="+mn-ea"/>
              </a:rPr>
              <a:t>PersonalInfo</a:t>
            </a:r>
            <a:r>
              <a:rPr lang="en-US" dirty="0" smtClean="0">
                <a:latin typeface="+mn-ea"/>
              </a:rPr>
              <a:t> {</a:t>
            </a:r>
          </a:p>
          <a:p>
            <a:r>
              <a:rPr lang="en-US" dirty="0" smtClean="0">
                <a:latin typeface="+mn-ea"/>
              </a:rPr>
              <a:t>       private String name;       // </a:t>
            </a:r>
            <a:r>
              <a:rPr lang="ko-KR" altLang="en-US" dirty="0" smtClean="0">
                <a:latin typeface="+mn-ea"/>
              </a:rPr>
              <a:t>이름</a:t>
            </a:r>
          </a:p>
          <a:p>
            <a:r>
              <a:rPr lang="ko-KR" altLang="en-US" dirty="0" smtClean="0">
                <a:latin typeface="+mn-ea"/>
              </a:rPr>
              <a:t>       </a:t>
            </a:r>
            <a:r>
              <a:rPr lang="en-US" dirty="0" smtClean="0">
                <a:latin typeface="+mn-ea"/>
              </a:rPr>
              <a:t>private char gender;       // </a:t>
            </a:r>
            <a:r>
              <a:rPr lang="ko-KR" altLang="en-US" dirty="0" smtClean="0">
                <a:latin typeface="+mn-ea"/>
              </a:rPr>
              <a:t>성별</a:t>
            </a:r>
          </a:p>
          <a:p>
            <a:r>
              <a:rPr lang="ko-KR" altLang="en-US" dirty="0" smtClean="0">
                <a:latin typeface="+mn-ea"/>
              </a:rPr>
              <a:t>       </a:t>
            </a:r>
            <a:r>
              <a:rPr lang="en-US" dirty="0" smtClean="0">
                <a:latin typeface="+mn-ea"/>
              </a:rPr>
              <a:t>private </a:t>
            </a:r>
            <a:r>
              <a:rPr lang="en-US" dirty="0" err="1" smtClean="0">
                <a:latin typeface="+mn-ea"/>
              </a:rPr>
              <a:t>int</a:t>
            </a:r>
            <a:r>
              <a:rPr lang="en-US" dirty="0" smtClean="0">
                <a:latin typeface="+mn-ea"/>
              </a:rPr>
              <a:t> age;              // </a:t>
            </a:r>
            <a:r>
              <a:rPr lang="ko-KR" altLang="en-US" dirty="0" smtClean="0">
                <a:latin typeface="+mn-ea"/>
              </a:rPr>
              <a:t>나이</a:t>
            </a:r>
          </a:p>
          <a:p>
            <a:endParaRPr lang="ko-KR" altLang="en-US" dirty="0" smtClean="0">
              <a:latin typeface="+mn-ea"/>
            </a:endParaRPr>
          </a:p>
          <a:p>
            <a:r>
              <a:rPr lang="ko-KR" altLang="en-US" dirty="0" smtClean="0">
                <a:latin typeface="+mn-ea"/>
              </a:rPr>
              <a:t>       </a:t>
            </a:r>
            <a:r>
              <a:rPr lang="en-US" dirty="0" smtClean="0">
                <a:latin typeface="+mn-ea"/>
              </a:rPr>
              <a:t>public void </a:t>
            </a:r>
            <a:r>
              <a:rPr lang="en-US" dirty="0" err="1" smtClean="0">
                <a:latin typeface="+mn-ea"/>
              </a:rPr>
              <a:t>setName</a:t>
            </a:r>
            <a:r>
              <a:rPr lang="en-US" dirty="0" smtClean="0">
                <a:latin typeface="+mn-ea"/>
              </a:rPr>
              <a:t>(String name) {</a:t>
            </a:r>
          </a:p>
          <a:p>
            <a:r>
              <a:rPr lang="en-US" dirty="0" smtClean="0">
                <a:latin typeface="+mn-ea"/>
              </a:rPr>
              <a:t>            this.name = name;</a:t>
            </a:r>
          </a:p>
          <a:p>
            <a:r>
              <a:rPr lang="en-US" dirty="0" smtClean="0">
                <a:latin typeface="+mn-ea"/>
              </a:rPr>
              <a:t>       }</a:t>
            </a:r>
          </a:p>
          <a:p>
            <a:r>
              <a:rPr lang="en-US" dirty="0" smtClean="0">
                <a:latin typeface="+mn-ea"/>
              </a:rPr>
              <a:t>       public String </a:t>
            </a:r>
            <a:r>
              <a:rPr lang="en-US" dirty="0" err="1" smtClean="0">
                <a:latin typeface="+mn-ea"/>
              </a:rPr>
              <a:t>getName</a:t>
            </a:r>
            <a:r>
              <a:rPr lang="en-US" dirty="0" smtClean="0">
                <a:latin typeface="+mn-ea"/>
              </a:rPr>
              <a:t>() {</a:t>
            </a:r>
          </a:p>
          <a:p>
            <a:r>
              <a:rPr lang="en-US" dirty="0" smtClean="0">
                <a:latin typeface="+mn-ea"/>
              </a:rPr>
              <a:t>            return name;</a:t>
            </a:r>
          </a:p>
          <a:p>
            <a:r>
              <a:rPr lang="en-US" dirty="0" smtClean="0">
                <a:latin typeface="+mn-ea"/>
              </a:rPr>
              <a:t>       }</a:t>
            </a:r>
          </a:p>
          <a:p>
            <a:r>
              <a:rPr lang="en-US" dirty="0" smtClean="0">
                <a:latin typeface="+mn-ea"/>
              </a:rPr>
              <a:t>       public void </a:t>
            </a:r>
            <a:r>
              <a:rPr lang="en-US" dirty="0" err="1" smtClean="0">
                <a:latin typeface="+mn-ea"/>
              </a:rPr>
              <a:t>setGender</a:t>
            </a:r>
            <a:r>
              <a:rPr lang="en-US" dirty="0" smtClean="0">
                <a:latin typeface="+mn-ea"/>
              </a:rPr>
              <a:t>(char gender) {</a:t>
            </a:r>
          </a:p>
          <a:p>
            <a:r>
              <a:rPr lang="en-US" dirty="0" smtClean="0">
                <a:latin typeface="+mn-ea"/>
              </a:rPr>
              <a:t>            </a:t>
            </a:r>
            <a:r>
              <a:rPr lang="en-US" dirty="0" err="1" smtClean="0">
                <a:latin typeface="+mn-ea"/>
              </a:rPr>
              <a:t>this.gender</a:t>
            </a:r>
            <a:r>
              <a:rPr lang="en-US" dirty="0" smtClean="0">
                <a:latin typeface="+mn-ea"/>
              </a:rPr>
              <a:t> = gender;</a:t>
            </a:r>
          </a:p>
          <a:p>
            <a:r>
              <a:rPr lang="en-US" dirty="0" smtClean="0">
                <a:latin typeface="+mn-ea"/>
              </a:rPr>
              <a:t>       }</a:t>
            </a:r>
          </a:p>
          <a:p>
            <a:r>
              <a:rPr lang="en-US" dirty="0" smtClean="0">
                <a:latin typeface="+mn-ea"/>
              </a:rPr>
              <a:t>       public char </a:t>
            </a:r>
            <a:r>
              <a:rPr lang="en-US" dirty="0" err="1" smtClean="0">
                <a:latin typeface="+mn-ea"/>
              </a:rPr>
              <a:t>getGender</a:t>
            </a:r>
            <a:r>
              <a:rPr lang="en-US" dirty="0" smtClean="0">
                <a:latin typeface="+mn-ea"/>
              </a:rPr>
              <a:t>() {</a:t>
            </a:r>
          </a:p>
          <a:p>
            <a:r>
              <a:rPr lang="en-US" dirty="0" smtClean="0">
                <a:latin typeface="+mn-ea"/>
              </a:rPr>
              <a:t>            return gender;</a:t>
            </a:r>
          </a:p>
          <a:p>
            <a:r>
              <a:rPr lang="en-US" dirty="0" smtClean="0">
                <a:latin typeface="+mn-ea"/>
              </a:rPr>
              <a:t>       }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6333923" y="1407056"/>
            <a:ext cx="4145478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atinLnBrk="0"/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public void </a:t>
            </a:r>
            <a:r>
              <a:rPr 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setAge</a:t>
            </a:r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int</a:t>
            </a:r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age) {</a:t>
            </a:r>
          </a:p>
          <a:p>
            <a:pPr latinLnBrk="0"/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</a:t>
            </a:r>
            <a:r>
              <a:rPr 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this.age</a:t>
            </a:r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= age</a:t>
            </a:r>
            <a:r>
              <a:rPr 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;</a:t>
            </a:r>
          </a:p>
          <a:p>
            <a:pPr latinLnBrk="0"/>
            <a:r>
              <a:rPr 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}</a:t>
            </a:r>
            <a:endParaRPr 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0"/>
            <a:r>
              <a:rPr 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public </a:t>
            </a:r>
            <a:r>
              <a:rPr 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int</a:t>
            </a:r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getAge</a:t>
            </a:r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() {</a:t>
            </a:r>
          </a:p>
          <a:p>
            <a:pPr latinLnBrk="0"/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</a:t>
            </a:r>
            <a:r>
              <a:rPr 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return age;</a:t>
            </a:r>
            <a:endParaRPr 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atinLnBrk="0"/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}</a:t>
            </a:r>
          </a:p>
          <a:p>
            <a:pPr latinLnBrk="0"/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}</a:t>
            </a:r>
            <a:endParaRPr lang="en-US" sz="2400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1536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>
                <a:latin typeface="+mn-ea"/>
                <a:ea typeface="+mn-ea"/>
              </a:rPr>
              <a:t>JavaBean</a:t>
            </a:r>
            <a:endParaRPr lang="ko-KR" altLang="en-US" sz="2800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endParaRPr lang="en-US" altLang="ko-KR" sz="2000" dirty="0" smtClean="0"/>
          </a:p>
          <a:p>
            <a:endParaRPr lang="en-US" altLang="ko-KR" sz="2000" dirty="0" smtClean="0"/>
          </a:p>
          <a:p>
            <a:endParaRPr lang="en-US" altLang="ko-KR" sz="2000" dirty="0" smtClean="0"/>
          </a:p>
          <a:p>
            <a:r>
              <a:rPr lang="en-US" altLang="ko-KR" sz="2000" dirty="0" smtClean="0"/>
              <a:t>&lt;</a:t>
            </a:r>
            <a:r>
              <a:rPr lang="en-US" altLang="ko-KR" sz="2000" dirty="0" err="1"/>
              <a:t>jsp:useBean</a:t>
            </a:r>
            <a:r>
              <a:rPr lang="en-US" altLang="ko-KR" sz="2000" dirty="0"/>
              <a:t>&gt; </a:t>
            </a:r>
            <a:r>
              <a:rPr lang="ko-KR" altLang="en-US" sz="2000" dirty="0"/>
              <a:t>표준 </a:t>
            </a:r>
            <a:r>
              <a:rPr lang="ko-KR" altLang="en-US" sz="2000" dirty="0" smtClean="0"/>
              <a:t>액션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빈 정의</a:t>
            </a:r>
            <a:r>
              <a:rPr lang="en-US" altLang="ko-KR" sz="2000" dirty="0" smtClean="0"/>
              <a:t>)</a:t>
            </a:r>
            <a:endParaRPr lang="en-US" altLang="ko-KR" sz="2000" dirty="0" smtClean="0"/>
          </a:p>
          <a:p>
            <a:pPr marL="0" indent="0">
              <a:buNone/>
            </a:pPr>
            <a:endParaRPr lang="en-US" altLang="ko-KR" sz="2000" dirty="0" smtClean="0"/>
          </a:p>
          <a:p>
            <a:pPr lvl="1"/>
            <a:endParaRPr lang="en-US" altLang="ko-KR" sz="1800" dirty="0" smtClean="0"/>
          </a:p>
          <a:p>
            <a:pPr lvl="1"/>
            <a:r>
              <a:rPr lang="en-US" altLang="ko-KR" sz="1800" dirty="0" smtClean="0"/>
              <a:t>id </a:t>
            </a:r>
            <a:r>
              <a:rPr lang="en-US" altLang="ko-KR" sz="1800" dirty="0"/>
              <a:t>: JSP </a:t>
            </a:r>
            <a:r>
              <a:rPr lang="ko-KR" altLang="en-US" sz="1800" dirty="0"/>
              <a:t>페이지에서 </a:t>
            </a:r>
            <a:r>
              <a:rPr lang="ko-KR" altLang="en-US" sz="1800" dirty="0" err="1"/>
              <a:t>자바빈</a:t>
            </a:r>
            <a:r>
              <a:rPr lang="ko-KR" altLang="en-US" sz="1800" dirty="0"/>
              <a:t> 객체에 접근할 때 사용할 이름</a:t>
            </a:r>
            <a:r>
              <a:rPr lang="en-US" altLang="ko-KR" sz="1800" dirty="0"/>
              <a:t>(</a:t>
            </a:r>
            <a:r>
              <a:rPr lang="ko-KR" altLang="en-US" sz="1800" dirty="0"/>
              <a:t>인스턴스</a:t>
            </a:r>
            <a:r>
              <a:rPr lang="en-US" altLang="ko-KR" sz="1800" dirty="0"/>
              <a:t>)</a:t>
            </a:r>
          </a:p>
          <a:p>
            <a:pPr lvl="1"/>
            <a:r>
              <a:rPr lang="en-US" altLang="ko-KR" sz="1800" dirty="0"/>
              <a:t>class : </a:t>
            </a:r>
            <a:r>
              <a:rPr lang="ko-KR" altLang="en-US" sz="1800" dirty="0"/>
              <a:t>패키지이름을 포함한 </a:t>
            </a:r>
            <a:r>
              <a:rPr lang="ko-KR" altLang="en-US" sz="1800" dirty="0" err="1"/>
              <a:t>자바빈</a:t>
            </a:r>
            <a:r>
              <a:rPr lang="ko-KR" altLang="en-US" sz="1800" dirty="0"/>
              <a:t> 클래스의 완전한 이름</a:t>
            </a:r>
          </a:p>
          <a:p>
            <a:pPr lvl="1"/>
            <a:r>
              <a:rPr lang="en-US" altLang="ko-KR" sz="1800" dirty="0"/>
              <a:t>scope : </a:t>
            </a:r>
            <a:r>
              <a:rPr lang="ko-KR" altLang="en-US" sz="1800" dirty="0" err="1"/>
              <a:t>자바빈</a:t>
            </a:r>
            <a:r>
              <a:rPr lang="ko-KR" altLang="en-US" sz="1800" dirty="0"/>
              <a:t> 객체가 저장될 영역을 지정 </a:t>
            </a:r>
            <a:r>
              <a:rPr lang="en-US" altLang="ko-KR" sz="1800" dirty="0"/>
              <a:t>(page, request, session, application </a:t>
            </a:r>
            <a:r>
              <a:rPr lang="ko-KR" altLang="en-US" sz="1800" dirty="0"/>
              <a:t>중 하나</a:t>
            </a:r>
            <a:r>
              <a:rPr lang="en-US" altLang="ko-KR" sz="1800" dirty="0"/>
              <a:t>, </a:t>
            </a:r>
            <a:r>
              <a:rPr lang="ko-KR" altLang="en-US" sz="1800" dirty="0"/>
              <a:t>기본값은 </a:t>
            </a:r>
            <a:r>
              <a:rPr lang="en-US" altLang="ko-KR" sz="1800" dirty="0"/>
              <a:t>page)</a:t>
            </a:r>
          </a:p>
          <a:p>
            <a:pPr lvl="1"/>
            <a:r>
              <a:rPr lang="ko-KR" altLang="en-US" sz="1800" dirty="0"/>
              <a:t>지정한 영역에 이미 </a:t>
            </a:r>
            <a:r>
              <a:rPr lang="en-US" altLang="ko-KR" sz="1800" dirty="0"/>
              <a:t>id </a:t>
            </a:r>
            <a:r>
              <a:rPr lang="ko-KR" altLang="en-US" sz="1800" dirty="0"/>
              <a:t>속성에서 지정한이름의 속성 값이 존재할 경우 객체를 새로 생성하지 않고 기존에 존재하는 객체를 그대로 </a:t>
            </a:r>
            <a:r>
              <a:rPr lang="ko-KR" altLang="en-US" sz="1800" dirty="0" smtClean="0"/>
              <a:t>사용</a:t>
            </a:r>
            <a:endParaRPr lang="en-US" altLang="ko-KR" sz="1800" dirty="0"/>
          </a:p>
          <a:p>
            <a:pPr lvl="1"/>
            <a:endParaRPr lang="en-US" altLang="ko-KR" sz="16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12</a:t>
            </a:fld>
            <a:endParaRPr lang="en-US" dirty="0"/>
          </a:p>
        </p:txBody>
      </p:sp>
      <p:sp>
        <p:nvSpPr>
          <p:cNvPr id="8" name="직사각형 7"/>
          <p:cNvSpPr/>
          <p:nvPr/>
        </p:nvSpPr>
        <p:spPr>
          <a:xfrm>
            <a:off x="794817" y="2969007"/>
            <a:ext cx="763284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/>
              <a:t>&lt;</a:t>
            </a:r>
            <a:r>
              <a:rPr lang="en-US" dirty="0" err="1"/>
              <a:t>jsp:useBean</a:t>
            </a:r>
            <a:r>
              <a:rPr lang="en-US" dirty="0"/>
              <a:t> id="</a:t>
            </a:r>
            <a:r>
              <a:rPr lang="en-US" dirty="0" err="1"/>
              <a:t>빈이름</a:t>
            </a:r>
            <a:r>
              <a:rPr lang="en-US" dirty="0"/>
              <a:t>" class="</a:t>
            </a:r>
            <a:r>
              <a:rPr lang="en-US" dirty="0" err="1" smtClean="0"/>
              <a:t>자바빈</a:t>
            </a:r>
            <a:r>
              <a:rPr lang="en-US" dirty="0" smtClean="0"/>
              <a:t> </a:t>
            </a:r>
            <a:r>
              <a:rPr lang="en-US" dirty="0" err="1" smtClean="0"/>
              <a:t>클래스이름</a:t>
            </a:r>
            <a:r>
              <a:rPr lang="en-US" dirty="0"/>
              <a:t>" scope="</a:t>
            </a:r>
            <a:r>
              <a:rPr lang="en-US" dirty="0" err="1"/>
              <a:t>범위</a:t>
            </a:r>
            <a:r>
              <a:rPr lang="en-US" dirty="0"/>
              <a:t>"/&gt;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209675" y="885825"/>
            <a:ext cx="1838325" cy="9048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빈 정의</a:t>
            </a:r>
            <a:endParaRPr lang="en-US" altLang="ko-KR" dirty="0" smtClean="0"/>
          </a:p>
          <a:p>
            <a:pPr algn="ctr"/>
            <a:r>
              <a:rPr lang="en-US" dirty="0" err="1" smtClean="0"/>
              <a:t>useBean</a:t>
            </a:r>
            <a:endParaRPr lang="en-US" dirty="0"/>
          </a:p>
        </p:txBody>
      </p:sp>
      <p:sp>
        <p:nvSpPr>
          <p:cNvPr id="9" name="직사각형 8"/>
          <p:cNvSpPr/>
          <p:nvPr/>
        </p:nvSpPr>
        <p:spPr>
          <a:xfrm>
            <a:off x="4677916" y="885824"/>
            <a:ext cx="1838325" cy="9048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프로퍼티</a:t>
            </a:r>
            <a:r>
              <a:rPr lang="ko-KR" altLang="en-US" dirty="0" smtClean="0"/>
              <a:t> 설정</a:t>
            </a:r>
            <a:endParaRPr lang="en-US" altLang="ko-KR" dirty="0" smtClean="0"/>
          </a:p>
          <a:p>
            <a:pPr algn="ctr"/>
            <a:r>
              <a:rPr lang="en-US" dirty="0" err="1" smtClean="0"/>
              <a:t>setProperty</a:t>
            </a:r>
            <a:endParaRPr 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8305800" y="885823"/>
            <a:ext cx="1838325" cy="9048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빈 사용</a:t>
            </a:r>
            <a:endParaRPr lang="en-US" altLang="ko-KR" dirty="0" smtClean="0"/>
          </a:p>
          <a:p>
            <a:pPr algn="ctr"/>
            <a:r>
              <a:rPr lang="en-US" dirty="0" err="1" smtClean="0"/>
              <a:t>getProperty</a:t>
            </a:r>
            <a:endParaRPr lang="en-US" dirty="0"/>
          </a:p>
        </p:txBody>
      </p:sp>
      <p:sp>
        <p:nvSpPr>
          <p:cNvPr id="11" name="오른쪽 화살표 10"/>
          <p:cNvSpPr/>
          <p:nvPr/>
        </p:nvSpPr>
        <p:spPr>
          <a:xfrm>
            <a:off x="3762375" y="1163455"/>
            <a:ext cx="476250" cy="444864"/>
          </a:xfrm>
          <a:prstGeom prst="rightArrow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오른쪽 화살표 11"/>
          <p:cNvSpPr/>
          <p:nvPr/>
        </p:nvSpPr>
        <p:spPr>
          <a:xfrm>
            <a:off x="7172895" y="1163455"/>
            <a:ext cx="476250" cy="444864"/>
          </a:xfrm>
          <a:prstGeom prst="rightArrow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361002" y="2010521"/>
            <a:ext cx="2472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[ </a:t>
            </a:r>
            <a:r>
              <a:rPr lang="en-US" dirty="0" err="1" smtClean="0"/>
              <a:t>jsp</a:t>
            </a:r>
            <a:r>
              <a:rPr lang="ko-KR" altLang="en-US" dirty="0"/>
              <a:t>에서 빈 사용 </a:t>
            </a:r>
            <a:r>
              <a:rPr lang="ko-KR" altLang="en-US" dirty="0" smtClean="0"/>
              <a:t>절차 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794817" y="3450594"/>
            <a:ext cx="763284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smtClean="0"/>
              <a:t>&lt;</a:t>
            </a:r>
            <a:r>
              <a:rPr lang="en-US" dirty="0" err="1"/>
              <a:t>jsp:useBean</a:t>
            </a:r>
            <a:r>
              <a:rPr lang="en-US" dirty="0"/>
              <a:t> id</a:t>
            </a:r>
            <a:r>
              <a:rPr lang="en-US" dirty="0" smtClean="0"/>
              <a:t>="</a:t>
            </a:r>
            <a:r>
              <a:rPr lang="en-US" dirty="0" err="1" smtClean="0"/>
              <a:t>obj</a:t>
            </a:r>
            <a:r>
              <a:rPr lang="en-US" dirty="0" smtClean="0"/>
              <a:t>" </a:t>
            </a:r>
            <a:r>
              <a:rPr lang="en-US" dirty="0"/>
              <a:t>class</a:t>
            </a:r>
            <a:r>
              <a:rPr lang="en-US" dirty="0" smtClean="0"/>
              <a:t>="persistence.obj" </a:t>
            </a:r>
            <a:r>
              <a:rPr lang="en-US" dirty="0"/>
              <a:t>scope</a:t>
            </a:r>
            <a:r>
              <a:rPr lang="en-US" dirty="0" smtClean="0"/>
              <a:t>="request"/&gt;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36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>
                <a:latin typeface="+mn-ea"/>
                <a:ea typeface="+mn-ea"/>
              </a:rPr>
              <a:t>JavaBean</a:t>
            </a:r>
            <a:endParaRPr lang="ko-KR" altLang="en-US" sz="2800" dirty="0">
              <a:latin typeface="+mn-ea"/>
              <a:ea typeface="+mn-ea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&lt;</a:t>
            </a:r>
            <a:r>
              <a:rPr lang="en-US" altLang="ko-KR" sz="2000" dirty="0" err="1"/>
              <a:t>jsp:</a:t>
            </a:r>
            <a:r>
              <a:rPr lang="en-US" altLang="ko-KR" sz="2000" dirty="0" err="1">
                <a:solidFill>
                  <a:srgbClr val="0000FF"/>
                </a:solidFill>
              </a:rPr>
              <a:t>set</a:t>
            </a:r>
            <a:r>
              <a:rPr lang="en-US" altLang="ko-KR" sz="2000" dirty="0" err="1"/>
              <a:t>Property</a:t>
            </a:r>
            <a:r>
              <a:rPr lang="en-US" altLang="ko-KR" sz="2000" dirty="0"/>
              <a:t>&gt; </a:t>
            </a:r>
            <a:r>
              <a:rPr lang="ko-KR" altLang="en-US" sz="2000" dirty="0"/>
              <a:t>표준 </a:t>
            </a:r>
            <a:r>
              <a:rPr lang="ko-KR" altLang="en-US" sz="2000" dirty="0" smtClean="0"/>
              <a:t>액션</a:t>
            </a:r>
            <a:r>
              <a:rPr lang="en-US" altLang="ko-KR" sz="2000" dirty="0" smtClean="0"/>
              <a:t>(</a:t>
            </a:r>
            <a:r>
              <a:rPr lang="ko-KR" altLang="en-US" sz="2000" dirty="0" err="1" smtClean="0"/>
              <a:t>프로퍼티</a:t>
            </a:r>
            <a:r>
              <a:rPr lang="ko-KR" altLang="en-US" sz="2000" dirty="0" smtClean="0"/>
              <a:t> 설정</a:t>
            </a:r>
            <a:r>
              <a:rPr lang="en-US" altLang="ko-KR" sz="2000" dirty="0" smtClean="0"/>
              <a:t>)</a:t>
            </a:r>
            <a:endParaRPr lang="en-US" altLang="ko-KR" sz="2000" dirty="0"/>
          </a:p>
          <a:p>
            <a:pPr lvl="1"/>
            <a:r>
              <a:rPr lang="ko-KR" altLang="en-US" sz="1800" dirty="0"/>
              <a:t>설정자 메서드 호출을 대신하여 </a:t>
            </a:r>
            <a:r>
              <a:rPr lang="ko-KR" altLang="en-US" sz="1800" dirty="0" err="1"/>
              <a:t>프로퍼티</a:t>
            </a:r>
            <a:r>
              <a:rPr lang="ko-KR" altLang="en-US" sz="1800" dirty="0"/>
              <a:t> 값을 설정하는 동작을 수행</a:t>
            </a:r>
          </a:p>
          <a:p>
            <a:pPr lvl="2"/>
            <a:r>
              <a:rPr lang="en-US" altLang="ko-KR" dirty="0"/>
              <a:t>name, property, value</a:t>
            </a:r>
            <a:r>
              <a:rPr lang="ko-KR" altLang="en-US" dirty="0"/>
              <a:t>라는 세 개의 속성을 </a:t>
            </a:r>
            <a:r>
              <a:rPr lang="ko-KR" altLang="en-US" dirty="0" smtClean="0"/>
              <a:t>사용</a:t>
            </a:r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r>
              <a:rPr lang="en-US" altLang="ko-KR" sz="2000" dirty="0"/>
              <a:t>&lt;</a:t>
            </a:r>
            <a:r>
              <a:rPr lang="en-US" altLang="ko-KR" sz="2000" dirty="0" err="1"/>
              <a:t>jsp:</a:t>
            </a:r>
            <a:r>
              <a:rPr lang="en-US" altLang="ko-KR" sz="2000" dirty="0" err="1">
                <a:solidFill>
                  <a:srgbClr val="0000FF"/>
                </a:solidFill>
              </a:rPr>
              <a:t>get</a:t>
            </a:r>
            <a:r>
              <a:rPr lang="en-US" altLang="ko-KR" sz="2000" dirty="0" err="1"/>
              <a:t>Property</a:t>
            </a:r>
            <a:r>
              <a:rPr lang="en-US" altLang="ko-KR" sz="2000" dirty="0"/>
              <a:t>&gt; </a:t>
            </a:r>
            <a:r>
              <a:rPr lang="ko-KR" altLang="en-US" sz="2000" dirty="0"/>
              <a:t>표준 </a:t>
            </a:r>
            <a:r>
              <a:rPr lang="ko-KR" altLang="en-US" sz="2000" dirty="0" smtClean="0"/>
              <a:t>액션</a:t>
            </a:r>
            <a:r>
              <a:rPr lang="en-US" altLang="ko-KR" sz="2000" dirty="0" smtClean="0"/>
              <a:t>(</a:t>
            </a:r>
            <a:r>
              <a:rPr lang="ko-KR" altLang="en-US" sz="2000" dirty="0" smtClean="0"/>
              <a:t>빈 사용</a:t>
            </a:r>
            <a:r>
              <a:rPr lang="en-US" altLang="ko-KR" sz="2000" dirty="0" smtClean="0"/>
              <a:t>)</a:t>
            </a:r>
            <a:endParaRPr lang="en-US" altLang="ko-KR" sz="2000" dirty="0"/>
          </a:p>
          <a:p>
            <a:pPr lvl="1"/>
            <a:r>
              <a:rPr lang="ko-KR" altLang="en-US" sz="1800" dirty="0" err="1"/>
              <a:t>접근자</a:t>
            </a:r>
            <a:r>
              <a:rPr lang="ko-KR" altLang="en-US" sz="1800" dirty="0"/>
              <a:t> 메서드 호출을 대신 </a:t>
            </a:r>
            <a:r>
              <a:rPr lang="en-US" altLang="ko-KR" sz="1800" dirty="0"/>
              <a:t>name</a:t>
            </a:r>
            <a:r>
              <a:rPr lang="ko-KR" altLang="en-US" sz="1800" dirty="0"/>
              <a:t>과 </a:t>
            </a:r>
            <a:r>
              <a:rPr lang="en-US" altLang="ko-KR" sz="1800" dirty="0"/>
              <a:t>property </a:t>
            </a:r>
            <a:r>
              <a:rPr lang="ko-KR" altLang="en-US" sz="1800" dirty="0"/>
              <a:t>속성을 이용하여 </a:t>
            </a:r>
            <a:r>
              <a:rPr lang="ko-KR" altLang="en-US" sz="1800" dirty="0" err="1"/>
              <a:t>프로퍼티</a:t>
            </a:r>
            <a:r>
              <a:rPr lang="ko-KR" altLang="en-US" sz="1800" dirty="0"/>
              <a:t> 값을 읽어 오기</a:t>
            </a:r>
          </a:p>
          <a:p>
            <a:pPr lvl="2"/>
            <a:endParaRPr lang="en-US" altLang="ko-KR" dirty="0">
              <a:ea typeface="Arial Unicode MS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13</a:t>
            </a:fld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004120" y="2613670"/>
            <a:ext cx="6606480" cy="45807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ctr" fontAlgn="base" latinLnBrk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&lt;</a:t>
            </a:r>
            <a:r>
              <a:rPr lang="en-US" altLang="ko-KR" dirty="0" err="1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jsp:setProperty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 name=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</a:t>
            </a:r>
            <a:r>
              <a:rPr lang="en-US" altLang="ko-KR" dirty="0" err="1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obj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 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property=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"age" 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value= </a:t>
            </a:r>
            <a:r>
              <a:rPr lang="en-US" altLang="ko-KR" dirty="0" smtClean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"27" </a:t>
            </a:r>
            <a:r>
              <a:rPr lang="en-US" altLang="ko-KR" dirty="0">
                <a:latin typeface="Times New Roman" pitchFamily="18" charset="0"/>
                <a:ea typeface="HY견고딕" pitchFamily="18" charset="-127"/>
                <a:cs typeface="Times New Roman" pitchFamily="18" charset="0"/>
              </a:rPr>
              <a:t>/&gt;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502968" y="3600125"/>
            <a:ext cx="1165448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2000" dirty="0">
                <a:solidFill>
                  <a:schemeClr val="tx1"/>
                </a:solidFill>
                <a:latin typeface="휴먼매직체" pitchFamily="18" charset="-127"/>
                <a:ea typeface="휴먼매직체" pitchFamily="18" charset="-127"/>
              </a:rPr>
              <a:t>변수 이름</a:t>
            </a:r>
            <a:endParaRPr lang="en-US" altLang="ko-KR" sz="2000" dirty="0" err="1">
              <a:solidFill>
                <a:schemeClr val="tx1"/>
              </a:solidFill>
              <a:latin typeface="휴먼매직체" pitchFamily="18" charset="-127"/>
              <a:ea typeface="휴먼매직체" pitchFamily="18" charset="-127"/>
            </a:endParaRPr>
          </a:p>
        </p:txBody>
      </p:sp>
      <p:cxnSp>
        <p:nvCxnSpPr>
          <p:cNvPr id="9" name="직선 화살표 연결선 8"/>
          <p:cNvCxnSpPr/>
          <p:nvPr/>
        </p:nvCxnSpPr>
        <p:spPr>
          <a:xfrm flipV="1">
            <a:off x="4380384" y="3071744"/>
            <a:ext cx="406896" cy="42583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5285896" y="3680824"/>
            <a:ext cx="1161256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2000" smtClean="0">
                <a:solidFill>
                  <a:schemeClr val="tx1"/>
                </a:solidFill>
                <a:latin typeface="휴먼매직체" pitchFamily="18" charset="-127"/>
                <a:ea typeface="휴먼매직체" pitchFamily="18" charset="-127"/>
              </a:rPr>
              <a:t>속성 </a:t>
            </a:r>
            <a:r>
              <a:rPr lang="ko-KR" altLang="en-US" sz="2000" dirty="0">
                <a:solidFill>
                  <a:schemeClr val="tx1"/>
                </a:solidFill>
                <a:latin typeface="휴먼매직체" pitchFamily="18" charset="-127"/>
                <a:ea typeface="휴먼매직체" pitchFamily="18" charset="-127"/>
              </a:rPr>
              <a:t>이름</a:t>
            </a:r>
            <a:endParaRPr lang="en-US" altLang="ko-KR" sz="2000" dirty="0" err="1">
              <a:solidFill>
                <a:schemeClr val="tx1"/>
              </a:solidFill>
              <a:latin typeface="휴먼매직체" pitchFamily="18" charset="-127"/>
              <a:ea typeface="휴먼매직체" pitchFamily="18" charset="-127"/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 flipH="1" flipV="1">
            <a:off x="5866524" y="3022025"/>
            <a:ext cx="1088" cy="60863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7501685" y="3757513"/>
            <a:ext cx="2994865" cy="2525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2000" dirty="0" err="1">
                <a:solidFill>
                  <a:schemeClr val="tx1"/>
                </a:solidFill>
                <a:latin typeface="휴먼매직체" pitchFamily="18" charset="-127"/>
                <a:ea typeface="휴먼매직체" pitchFamily="18" charset="-127"/>
              </a:rPr>
              <a:t>프로퍼티</a:t>
            </a:r>
            <a:r>
              <a:rPr lang="ko-KR" altLang="en-US" sz="2000" dirty="0">
                <a:solidFill>
                  <a:schemeClr val="tx1"/>
                </a:solidFill>
                <a:latin typeface="휴먼매직체" pitchFamily="18" charset="-127"/>
                <a:ea typeface="휴먼매직체" pitchFamily="18" charset="-127"/>
              </a:rPr>
              <a:t> </a:t>
            </a:r>
            <a:r>
              <a:rPr lang="ko-KR" altLang="en-US" sz="2000" dirty="0" smtClean="0">
                <a:solidFill>
                  <a:schemeClr val="tx1"/>
                </a:solidFill>
                <a:latin typeface="휴먼매직체" pitchFamily="18" charset="-127"/>
                <a:ea typeface="휴먼매직체" pitchFamily="18" charset="-127"/>
              </a:rPr>
              <a:t>값</a:t>
            </a:r>
            <a:r>
              <a:rPr lang="en-US" altLang="ko-KR" sz="2000" dirty="0" smtClean="0">
                <a:solidFill>
                  <a:schemeClr val="tx1"/>
                </a:solidFill>
                <a:latin typeface="휴먼매직체" pitchFamily="18" charset="-127"/>
                <a:ea typeface="휴먼매직체" pitchFamily="18" charset="-127"/>
              </a:rPr>
              <a:t>(</a:t>
            </a:r>
            <a:r>
              <a:rPr lang="ko-KR" altLang="en-US" sz="2000" dirty="0" err="1" smtClean="0">
                <a:solidFill>
                  <a:schemeClr val="tx1"/>
                </a:solidFill>
                <a:latin typeface="휴먼매직체" pitchFamily="18" charset="-127"/>
                <a:ea typeface="휴먼매직체" pitchFamily="18" charset="-127"/>
              </a:rPr>
              <a:t>문자형으로</a:t>
            </a:r>
            <a:r>
              <a:rPr lang="ko-KR" altLang="en-US" sz="2000" dirty="0" smtClean="0">
                <a:solidFill>
                  <a:schemeClr val="tx1"/>
                </a:solidFill>
                <a:latin typeface="휴먼매직체" pitchFamily="18" charset="-127"/>
                <a:ea typeface="휴먼매직체" pitchFamily="18" charset="-127"/>
              </a:rPr>
              <a:t> 지정</a:t>
            </a:r>
            <a:r>
              <a:rPr lang="en-US" altLang="ko-KR" sz="2000" dirty="0" smtClean="0">
                <a:solidFill>
                  <a:schemeClr val="tx1"/>
                </a:solidFill>
                <a:latin typeface="휴먼매직체" pitchFamily="18" charset="-127"/>
                <a:ea typeface="휴먼매직체" pitchFamily="18" charset="-127"/>
              </a:rPr>
              <a:t>)</a:t>
            </a:r>
            <a:endParaRPr lang="en-US" altLang="ko-KR" sz="2000" dirty="0">
              <a:solidFill>
                <a:schemeClr val="tx1"/>
              </a:solidFill>
              <a:latin typeface="휴먼매직체" pitchFamily="18" charset="-127"/>
              <a:ea typeface="휴먼매직체" pitchFamily="18" charset="-127"/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 flipV="1">
            <a:off x="7346132" y="3030754"/>
            <a:ext cx="812316" cy="6410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2450107" y="5426990"/>
            <a:ext cx="5708341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&lt;</a:t>
            </a:r>
            <a:r>
              <a:rPr lang="en-US" dirty="0" err="1"/>
              <a:t>jsp:getProperty</a:t>
            </a:r>
            <a:r>
              <a:rPr lang="en-US" dirty="0"/>
              <a:t> name= </a:t>
            </a:r>
            <a:r>
              <a:rPr lang="en-US" dirty="0" smtClean="0"/>
              <a:t>"</a:t>
            </a:r>
            <a:r>
              <a:rPr lang="en-US" dirty="0" err="1" smtClean="0"/>
              <a:t>obj</a:t>
            </a:r>
            <a:r>
              <a:rPr lang="en-US" dirty="0" smtClean="0"/>
              <a:t>" </a:t>
            </a:r>
            <a:r>
              <a:rPr lang="en-US" dirty="0"/>
              <a:t>property= </a:t>
            </a:r>
            <a:r>
              <a:rPr lang="en-US" dirty="0" smtClean="0"/>
              <a:t>"age" </a:t>
            </a:r>
            <a:r>
              <a:rPr lang="en-US" dirty="0"/>
              <a:t>/&gt;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3993663" y="6195097"/>
            <a:ext cx="1224136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2400" dirty="0">
                <a:solidFill>
                  <a:schemeClr val="tx1"/>
                </a:solidFill>
                <a:latin typeface="휴먼매직체" pitchFamily="18" charset="-127"/>
                <a:ea typeface="휴먼매직체" pitchFamily="18" charset="-127"/>
              </a:rPr>
              <a:t>변수 이름</a:t>
            </a:r>
            <a:endParaRPr lang="en-US" altLang="ko-KR" sz="2400" dirty="0" err="1">
              <a:solidFill>
                <a:schemeClr val="tx1"/>
              </a:solidFill>
              <a:latin typeface="휴먼매직체" pitchFamily="18" charset="-127"/>
              <a:ea typeface="휴먼매직체" pitchFamily="18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480923" y="6239855"/>
            <a:ext cx="1662934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sz="2400" dirty="0" err="1">
                <a:solidFill>
                  <a:schemeClr val="tx1"/>
                </a:solidFill>
                <a:latin typeface="휴먼매직체" pitchFamily="18" charset="-127"/>
                <a:ea typeface="휴먼매직체" pitchFamily="18" charset="-127"/>
              </a:rPr>
              <a:t>프로퍼티</a:t>
            </a:r>
            <a:r>
              <a:rPr lang="ko-KR" altLang="en-US" sz="2400" dirty="0">
                <a:solidFill>
                  <a:schemeClr val="tx1"/>
                </a:solidFill>
                <a:latin typeface="휴먼매직체" pitchFamily="18" charset="-127"/>
                <a:ea typeface="휴먼매직체" pitchFamily="18" charset="-127"/>
              </a:rPr>
              <a:t> 이름</a:t>
            </a:r>
            <a:endParaRPr lang="en-US" altLang="ko-KR" sz="2400" dirty="0" err="1">
              <a:solidFill>
                <a:schemeClr val="tx1"/>
              </a:solidFill>
              <a:latin typeface="휴먼매직체" pitchFamily="18" charset="-127"/>
              <a:ea typeface="휴먼매직체" pitchFamily="18" charset="-127"/>
            </a:endParaRPr>
          </a:p>
        </p:txBody>
      </p:sp>
      <p:cxnSp>
        <p:nvCxnSpPr>
          <p:cNvPr id="17" name="직선 화살표 연결선 16"/>
          <p:cNvCxnSpPr>
            <a:stCxn id="15" idx="0"/>
          </p:cNvCxnSpPr>
          <p:nvPr/>
        </p:nvCxnSpPr>
        <p:spPr>
          <a:xfrm flipV="1">
            <a:off x="4605731" y="5708594"/>
            <a:ext cx="278" cy="4865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V="1">
            <a:off x="6312390" y="5698183"/>
            <a:ext cx="278" cy="4865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500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>
                <a:latin typeface="+mn-ea"/>
                <a:ea typeface="+mn-ea"/>
              </a:rPr>
              <a:t>JavaBean</a:t>
            </a:r>
            <a:endParaRPr lang="ko-KR" altLang="en-US" sz="2800" dirty="0">
              <a:latin typeface="+mn-ea"/>
              <a:ea typeface="+mn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14</a:t>
            </a:fld>
            <a:endParaRPr lang="en-US" dirty="0"/>
          </a:p>
        </p:txBody>
      </p:sp>
      <p:sp>
        <p:nvSpPr>
          <p:cNvPr id="4" name="직사각형 3"/>
          <p:cNvSpPr/>
          <p:nvPr/>
        </p:nvSpPr>
        <p:spPr>
          <a:xfrm>
            <a:off x="530552" y="706712"/>
            <a:ext cx="4762500" cy="59093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package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persist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nce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MemberDTO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passwd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age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lvl="2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getPasswd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lvl="2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passwd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lvl="2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getAge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lvl="2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age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978852" y="706712"/>
            <a:ext cx="5660698" cy="36933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setId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(String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setPasswd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(String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passwd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passwd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passwd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setName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(String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name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setAge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6A3E3E"/>
                </a:solidFill>
                <a:latin typeface="Consolas" panose="020B0609020204030204" pitchFamily="49" charset="0"/>
              </a:rPr>
              <a:t>age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en-US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age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 smtClean="0">
                <a:solidFill>
                  <a:srgbClr val="6A3E3E"/>
                </a:solidFill>
                <a:latin typeface="Consolas" panose="020B0609020204030204" pitchFamily="49" charset="0"/>
              </a:rPr>
              <a:t>age</a:t>
            </a:r>
            <a:r>
              <a:rPr lang="en-US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925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>
                <a:latin typeface="+mn-ea"/>
                <a:ea typeface="+mn-ea"/>
              </a:rPr>
              <a:t>JavaBean</a:t>
            </a:r>
            <a:endParaRPr lang="ko-KR" altLang="en-US" sz="2800" dirty="0">
              <a:latin typeface="+mn-ea"/>
              <a:ea typeface="+mn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15</a:t>
            </a:fld>
            <a:endParaRPr lang="en-US" dirty="0"/>
          </a:p>
        </p:txBody>
      </p:sp>
      <p:sp>
        <p:nvSpPr>
          <p:cNvPr id="3" name="직사각형 2"/>
          <p:cNvSpPr/>
          <p:nvPr/>
        </p:nvSpPr>
        <p:spPr>
          <a:xfrm>
            <a:off x="530552" y="1001038"/>
            <a:ext cx="11510760" cy="467820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3F7F7F"/>
                </a:solidFill>
                <a:latin typeface="Consolas" panose="020B0609020204030204" pitchFamily="49" charset="0"/>
              </a:rPr>
              <a:t>html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3F7F7F"/>
                </a:solidFill>
                <a:latin typeface="Consolas" panose="020B0609020204030204" pitchFamily="49" charset="0"/>
              </a:rPr>
              <a:t>head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3F7F7F"/>
                </a:solidFill>
                <a:latin typeface="Consolas" panose="020B0609020204030204" pitchFamily="49" charset="0"/>
              </a:rPr>
              <a:t>meta </a:t>
            </a:r>
            <a:r>
              <a:rPr lang="en-US" sz="2000" dirty="0">
                <a:solidFill>
                  <a:srgbClr val="7F007F"/>
                </a:solidFill>
                <a:latin typeface="Consolas" panose="020B0609020204030204" pitchFamily="49" charset="0"/>
              </a:rPr>
              <a:t>http-</a:t>
            </a:r>
            <a:r>
              <a:rPr lang="en-US" sz="2000" dirty="0" err="1">
                <a:solidFill>
                  <a:srgbClr val="7F007F"/>
                </a:solidFill>
                <a:latin typeface="Consolas" panose="020B0609020204030204" pitchFamily="49" charset="0"/>
              </a:rPr>
              <a:t>equiv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i="1" dirty="0">
                <a:solidFill>
                  <a:srgbClr val="2A00FF"/>
                </a:solidFill>
                <a:latin typeface="Consolas" panose="020B0609020204030204" pitchFamily="49" charset="0"/>
              </a:rPr>
              <a:t>"Content-Type" </a:t>
            </a:r>
            <a:r>
              <a:rPr lang="en-US" sz="2000" i="1" dirty="0">
                <a:solidFill>
                  <a:srgbClr val="7F007F"/>
                </a:solidFill>
                <a:latin typeface="Consolas" panose="020B0609020204030204" pitchFamily="49" charset="0"/>
              </a:rPr>
              <a:t>content</a:t>
            </a:r>
            <a:r>
              <a:rPr lang="en-US" sz="2000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i="1" dirty="0">
                <a:solidFill>
                  <a:srgbClr val="2A00FF"/>
                </a:solidFill>
                <a:latin typeface="Consolas" panose="020B0609020204030204" pitchFamily="49" charset="0"/>
              </a:rPr>
              <a:t>"text/html; charset=UTF-8"</a:t>
            </a:r>
            <a:r>
              <a:rPr lang="en-US" sz="20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2"/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3F7F7F"/>
                </a:solidFill>
                <a:latin typeface="Consolas" panose="020B0609020204030204" pitchFamily="49" charset="0"/>
              </a:rPr>
              <a:t>title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Insert title here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sz="2000" dirty="0">
                <a:solidFill>
                  <a:srgbClr val="3F7F7F"/>
                </a:solidFill>
                <a:latin typeface="Consolas" panose="020B0609020204030204" pitchFamily="49" charset="0"/>
              </a:rPr>
              <a:t>title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sz="2000" dirty="0">
                <a:solidFill>
                  <a:srgbClr val="3F7F7F"/>
                </a:solidFill>
                <a:latin typeface="Consolas" panose="020B0609020204030204" pitchFamily="49" charset="0"/>
              </a:rPr>
              <a:t>head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3F7F7F"/>
                </a:solidFill>
                <a:latin typeface="Consolas" panose="020B0609020204030204" pitchFamily="49" charset="0"/>
              </a:rPr>
              <a:t>body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2"/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3F7F7F"/>
                </a:solidFill>
                <a:latin typeface="Consolas" panose="020B0609020204030204" pitchFamily="49" charset="0"/>
              </a:rPr>
              <a:t>form </a:t>
            </a:r>
            <a:r>
              <a:rPr lang="en-US" sz="2000" dirty="0">
                <a:solidFill>
                  <a:srgbClr val="7F007F"/>
                </a:solidFill>
                <a:latin typeface="Consolas" panose="020B0609020204030204" pitchFamily="49" charset="0"/>
              </a:rPr>
              <a:t>action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20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show.jsp</a:t>
            </a:r>
            <a:r>
              <a:rPr lang="en-US" sz="2000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sz="2000" i="1" dirty="0">
                <a:solidFill>
                  <a:srgbClr val="7F007F"/>
                </a:solidFill>
                <a:latin typeface="Consolas" panose="020B0609020204030204" pitchFamily="49" charset="0"/>
              </a:rPr>
              <a:t>method</a:t>
            </a:r>
            <a:r>
              <a:rPr lang="en-US" sz="2000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i="1" dirty="0">
                <a:solidFill>
                  <a:srgbClr val="2A00FF"/>
                </a:solidFill>
                <a:latin typeface="Consolas" panose="020B0609020204030204" pitchFamily="49" charset="0"/>
              </a:rPr>
              <a:t>"post"</a:t>
            </a:r>
            <a:r>
              <a:rPr lang="en-US" sz="20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3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ID :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3F7F7F"/>
                </a:solidFill>
                <a:latin typeface="Consolas" panose="020B0609020204030204" pitchFamily="49" charset="0"/>
              </a:rPr>
              <a:t>input </a:t>
            </a:r>
            <a:r>
              <a:rPr lang="en-US" sz="2000" dirty="0">
                <a:solidFill>
                  <a:srgbClr val="7F007F"/>
                </a:solidFill>
                <a:latin typeface="Consolas" panose="020B0609020204030204" pitchFamily="49" charset="0"/>
              </a:rPr>
              <a:t>type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i="1" dirty="0">
                <a:solidFill>
                  <a:srgbClr val="2A00FF"/>
                </a:solidFill>
                <a:latin typeface="Consolas" panose="020B0609020204030204" pitchFamily="49" charset="0"/>
              </a:rPr>
              <a:t>"text" </a:t>
            </a:r>
            <a:r>
              <a:rPr lang="en-US" sz="2000" i="1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sz="2000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i="1" dirty="0">
                <a:solidFill>
                  <a:srgbClr val="2A00FF"/>
                </a:solidFill>
                <a:latin typeface="Consolas" panose="020B0609020204030204" pitchFamily="49" charset="0"/>
              </a:rPr>
              <a:t>"id"</a:t>
            </a:r>
            <a:r>
              <a:rPr lang="en-US" sz="2000" i="1" dirty="0">
                <a:solidFill>
                  <a:srgbClr val="008080"/>
                </a:solidFill>
                <a:latin typeface="Consolas" panose="020B0609020204030204" pitchFamily="49" charset="0"/>
              </a:rPr>
              <a:t>&gt;&lt;</a:t>
            </a:r>
            <a:r>
              <a:rPr lang="en-US" sz="2000" i="1" dirty="0" err="1">
                <a:solidFill>
                  <a:srgbClr val="3F7F7F"/>
                </a:solidFill>
                <a:latin typeface="Consolas" panose="020B0609020204030204" pitchFamily="49" charset="0"/>
              </a:rPr>
              <a:t>br</a:t>
            </a:r>
            <a:r>
              <a:rPr lang="en-US" sz="20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3"/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PW : 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3F7F7F"/>
                </a:solidFill>
                <a:latin typeface="Consolas" panose="020B0609020204030204" pitchFamily="49" charset="0"/>
              </a:rPr>
              <a:t>input </a:t>
            </a:r>
            <a:r>
              <a:rPr lang="en-US" sz="2000" dirty="0">
                <a:solidFill>
                  <a:srgbClr val="7F007F"/>
                </a:solidFill>
                <a:latin typeface="Consolas" panose="020B0609020204030204" pitchFamily="49" charset="0"/>
              </a:rPr>
              <a:t>type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i="1" dirty="0">
                <a:solidFill>
                  <a:srgbClr val="2A00FF"/>
                </a:solidFill>
                <a:latin typeface="Consolas" panose="020B0609020204030204" pitchFamily="49" charset="0"/>
              </a:rPr>
              <a:t>"password" </a:t>
            </a:r>
            <a:r>
              <a:rPr lang="en-US" sz="2000" i="1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sz="2000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2000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passwd</a:t>
            </a:r>
            <a:r>
              <a:rPr lang="en-US" sz="20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2000" i="1" dirty="0">
                <a:solidFill>
                  <a:srgbClr val="008080"/>
                </a:solidFill>
                <a:latin typeface="Consolas" panose="020B0609020204030204" pitchFamily="49" charset="0"/>
              </a:rPr>
              <a:t>&gt;&lt;</a:t>
            </a:r>
            <a:r>
              <a:rPr lang="en-US" sz="2000" i="1" dirty="0" err="1">
                <a:solidFill>
                  <a:srgbClr val="3F7F7F"/>
                </a:solidFill>
                <a:latin typeface="Consolas" panose="020B0609020204030204" pitchFamily="49" charset="0"/>
              </a:rPr>
              <a:t>br</a:t>
            </a:r>
            <a:r>
              <a:rPr lang="en-US" sz="20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3"/>
            <a:r>
              <a:rPr lang="ko-KR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이름 </a:t>
            </a:r>
            <a:r>
              <a:rPr lang="en-US" altLang="ko-KR" sz="20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3F7F7F"/>
                </a:solidFill>
                <a:latin typeface="Consolas" panose="020B0609020204030204" pitchFamily="49" charset="0"/>
              </a:rPr>
              <a:t>input </a:t>
            </a:r>
            <a:r>
              <a:rPr lang="en-US" sz="2000" dirty="0">
                <a:solidFill>
                  <a:srgbClr val="7F007F"/>
                </a:solidFill>
                <a:latin typeface="Consolas" panose="020B0609020204030204" pitchFamily="49" charset="0"/>
              </a:rPr>
              <a:t>type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i="1" dirty="0">
                <a:solidFill>
                  <a:srgbClr val="2A00FF"/>
                </a:solidFill>
                <a:latin typeface="Consolas" panose="020B0609020204030204" pitchFamily="49" charset="0"/>
              </a:rPr>
              <a:t>"text" </a:t>
            </a:r>
            <a:r>
              <a:rPr lang="en-US" sz="2000" i="1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sz="2000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i="1" dirty="0">
                <a:solidFill>
                  <a:srgbClr val="2A00FF"/>
                </a:solidFill>
                <a:latin typeface="Consolas" panose="020B0609020204030204" pitchFamily="49" charset="0"/>
              </a:rPr>
              <a:t>"name"</a:t>
            </a:r>
            <a:r>
              <a:rPr lang="en-US" sz="2000" i="1" dirty="0">
                <a:solidFill>
                  <a:srgbClr val="008080"/>
                </a:solidFill>
                <a:latin typeface="Consolas" panose="020B0609020204030204" pitchFamily="49" charset="0"/>
              </a:rPr>
              <a:t>&gt;&lt;</a:t>
            </a:r>
            <a:r>
              <a:rPr lang="en-US" sz="2000" i="1" dirty="0" err="1">
                <a:solidFill>
                  <a:srgbClr val="3F7F7F"/>
                </a:solidFill>
                <a:latin typeface="Consolas" panose="020B0609020204030204" pitchFamily="49" charset="0"/>
              </a:rPr>
              <a:t>br</a:t>
            </a:r>
            <a:r>
              <a:rPr lang="en-US" sz="20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3"/>
            <a:r>
              <a:rPr lang="ko-KR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나이 </a:t>
            </a:r>
            <a:r>
              <a:rPr lang="en-US" altLang="ko-KR" sz="20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3F7F7F"/>
                </a:solidFill>
                <a:latin typeface="Consolas" panose="020B0609020204030204" pitchFamily="49" charset="0"/>
              </a:rPr>
              <a:t>input </a:t>
            </a:r>
            <a:r>
              <a:rPr lang="en-US" sz="2000" dirty="0">
                <a:solidFill>
                  <a:srgbClr val="7F007F"/>
                </a:solidFill>
                <a:latin typeface="Consolas" panose="020B0609020204030204" pitchFamily="49" charset="0"/>
              </a:rPr>
              <a:t>type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i="1" dirty="0">
                <a:solidFill>
                  <a:srgbClr val="2A00FF"/>
                </a:solidFill>
                <a:latin typeface="Consolas" panose="020B0609020204030204" pitchFamily="49" charset="0"/>
              </a:rPr>
              <a:t>"text" </a:t>
            </a:r>
            <a:r>
              <a:rPr lang="en-US" sz="2000" i="1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sz="2000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i="1" dirty="0">
                <a:solidFill>
                  <a:srgbClr val="2A00FF"/>
                </a:solidFill>
                <a:latin typeface="Consolas" panose="020B0609020204030204" pitchFamily="49" charset="0"/>
              </a:rPr>
              <a:t>"age"</a:t>
            </a:r>
            <a:r>
              <a:rPr lang="en-US" sz="2000" i="1" dirty="0">
                <a:solidFill>
                  <a:srgbClr val="008080"/>
                </a:solidFill>
                <a:latin typeface="Consolas" panose="020B0609020204030204" pitchFamily="49" charset="0"/>
              </a:rPr>
              <a:t>&gt;&lt;</a:t>
            </a:r>
            <a:r>
              <a:rPr lang="en-US" sz="2000" i="1" dirty="0" err="1">
                <a:solidFill>
                  <a:srgbClr val="3F7F7F"/>
                </a:solidFill>
                <a:latin typeface="Consolas" panose="020B0609020204030204" pitchFamily="49" charset="0"/>
              </a:rPr>
              <a:t>br</a:t>
            </a:r>
            <a:r>
              <a:rPr lang="en-US" sz="20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3"/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3F7F7F"/>
                </a:solidFill>
                <a:latin typeface="Consolas" panose="020B0609020204030204" pitchFamily="49" charset="0"/>
              </a:rPr>
              <a:t>input </a:t>
            </a:r>
            <a:r>
              <a:rPr lang="en-US" sz="2000" dirty="0">
                <a:solidFill>
                  <a:srgbClr val="7F007F"/>
                </a:solidFill>
                <a:latin typeface="Consolas" panose="020B0609020204030204" pitchFamily="49" charset="0"/>
              </a:rPr>
              <a:t>type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i="1" dirty="0">
                <a:solidFill>
                  <a:srgbClr val="2A00FF"/>
                </a:solidFill>
                <a:latin typeface="Consolas" panose="020B0609020204030204" pitchFamily="49" charset="0"/>
              </a:rPr>
              <a:t>"submit" </a:t>
            </a:r>
            <a:r>
              <a:rPr lang="en-US" sz="2000" i="1" dirty="0">
                <a:solidFill>
                  <a:srgbClr val="7F007F"/>
                </a:solidFill>
                <a:latin typeface="Consolas" panose="020B0609020204030204" pitchFamily="49" charset="0"/>
              </a:rPr>
              <a:t>value</a:t>
            </a:r>
            <a:r>
              <a:rPr lang="en-US" sz="2000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ko-KR" altLang="en-US" sz="2000" i="1" dirty="0">
                <a:solidFill>
                  <a:srgbClr val="2A00FF"/>
                </a:solidFill>
                <a:latin typeface="Consolas" panose="020B0609020204030204" pitchFamily="49" charset="0"/>
              </a:rPr>
              <a:t>회원가입</a:t>
            </a:r>
            <a:r>
              <a:rPr lang="en-US" altLang="ko-KR" sz="2000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ko-KR" sz="2000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2"/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sz="2000" dirty="0">
                <a:solidFill>
                  <a:srgbClr val="3F7F7F"/>
                </a:solidFill>
                <a:latin typeface="Consolas" panose="020B0609020204030204" pitchFamily="49" charset="0"/>
              </a:rPr>
              <a:t>form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sz="2000" dirty="0">
                <a:solidFill>
                  <a:srgbClr val="3F7F7F"/>
                </a:solidFill>
                <a:latin typeface="Consolas" panose="020B0609020204030204" pitchFamily="49" charset="0"/>
              </a:rPr>
              <a:t>body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sz="2000" dirty="0">
                <a:solidFill>
                  <a:srgbClr val="3F7F7F"/>
                </a:solidFill>
                <a:latin typeface="Consolas" panose="020B0609020204030204" pitchFamily="49" charset="0"/>
              </a:rPr>
              <a:t>html</a:t>
            </a:r>
            <a:r>
              <a:rPr lang="en-US" sz="2000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0548531" y="593606"/>
            <a:ext cx="1492781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err="1" smtClean="0"/>
              <a:t>inputForm.jsp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582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 smtClean="0">
                <a:latin typeface="+mn-ea"/>
                <a:ea typeface="+mn-ea"/>
              </a:rPr>
              <a:t>JavaBean</a:t>
            </a:r>
            <a:endParaRPr lang="ko-KR" altLang="en-US" sz="2800" dirty="0">
              <a:latin typeface="+mn-ea"/>
              <a:ea typeface="+mn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16</a:t>
            </a:fld>
            <a:endParaRPr lang="en-US" dirty="0"/>
          </a:p>
        </p:txBody>
      </p:sp>
      <p:sp>
        <p:nvSpPr>
          <p:cNvPr id="7" name="직사각형 6"/>
          <p:cNvSpPr/>
          <p:nvPr/>
        </p:nvSpPr>
        <p:spPr>
          <a:xfrm>
            <a:off x="644852" y="1685925"/>
            <a:ext cx="5794048" cy="28575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직사각형 9"/>
          <p:cNvSpPr/>
          <p:nvPr/>
        </p:nvSpPr>
        <p:spPr>
          <a:xfrm>
            <a:off x="981337" y="4439007"/>
            <a:ext cx="7711878" cy="1085136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직사각형 10"/>
          <p:cNvSpPr/>
          <p:nvPr/>
        </p:nvSpPr>
        <p:spPr>
          <a:xfrm>
            <a:off x="578177" y="1088053"/>
            <a:ext cx="11115675" cy="507831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jsp:useBean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F007F"/>
                </a:solidFill>
                <a:latin typeface="Consolas" panose="020B0609020204030204" pitchFamily="49" charset="0"/>
              </a:rPr>
              <a:t>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"bean" </a:t>
            </a:r>
            <a:r>
              <a:rPr lang="en-US" i="1" dirty="0">
                <a:solidFill>
                  <a:srgbClr val="7F007F"/>
                </a:solidFill>
                <a:latin typeface="Consolas" panose="020B0609020204030204" pitchFamily="49" charset="0"/>
              </a:rPr>
              <a:t>class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persistence.MemberDTO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jsp:setProperty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F007F"/>
                </a:solidFill>
                <a:latin typeface="Consolas" panose="020B0609020204030204" pitchFamily="49" charset="0"/>
              </a:rPr>
              <a:t>property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"*" </a:t>
            </a:r>
            <a:r>
              <a:rPr lang="en-US" i="1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"bean" </a:t>
            </a:r>
            <a:r>
              <a:rPr lang="en-US" i="1" dirty="0">
                <a:solidFill>
                  <a:srgbClr val="008080"/>
                </a:solidFill>
                <a:latin typeface="Consolas" panose="020B0609020204030204" pitchFamily="49" charset="0"/>
              </a:rPr>
              <a:t>/&gt;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&lt;!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DOCTYPE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html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PUBLIC 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"-//W3C//DTD HTML 4.01 Transitional//EN"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"http://www.w3.org/TR/html4/loose.dtd"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html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head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meta </a:t>
            </a:r>
            <a:r>
              <a:rPr lang="en-US" dirty="0">
                <a:solidFill>
                  <a:srgbClr val="7F007F"/>
                </a:solidFill>
                <a:latin typeface="Consolas" panose="020B0609020204030204" pitchFamily="49" charset="0"/>
              </a:rPr>
              <a:t>http-</a:t>
            </a:r>
            <a:r>
              <a:rPr lang="en-US" dirty="0" err="1">
                <a:solidFill>
                  <a:srgbClr val="7F007F"/>
                </a:solidFill>
                <a:latin typeface="Consolas" panose="020B0609020204030204" pitchFamily="49" charset="0"/>
              </a:rPr>
              <a:t>equiv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"Content-Type" </a:t>
            </a:r>
            <a:r>
              <a:rPr lang="en-US" i="1" dirty="0">
                <a:solidFill>
                  <a:srgbClr val="7F007F"/>
                </a:solidFill>
                <a:latin typeface="Consolas" panose="020B0609020204030204" pitchFamily="49" charset="0"/>
              </a:rPr>
              <a:t>content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"text/html; charset=UTF-8"</a:t>
            </a:r>
            <a:r>
              <a:rPr lang="en-US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title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Insert title here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title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head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body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id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jsp:getProperty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F007F"/>
                </a:solidFill>
                <a:latin typeface="Consolas" panose="020B0609020204030204" pitchFamily="49" charset="0"/>
              </a:rPr>
              <a:t>property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"id" </a:t>
            </a:r>
            <a:r>
              <a:rPr lang="en-US" i="1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"bean" </a:t>
            </a:r>
            <a:r>
              <a:rPr lang="en-US" i="1" dirty="0">
                <a:solidFill>
                  <a:srgbClr val="008080"/>
                </a:solidFill>
                <a:latin typeface="Consolas" panose="020B0609020204030204" pitchFamily="49" charset="0"/>
              </a:rPr>
              <a:t>/&gt;&lt;</a:t>
            </a:r>
            <a:r>
              <a:rPr lang="en-US" i="1" dirty="0" err="1">
                <a:solidFill>
                  <a:srgbClr val="3F7F7F"/>
                </a:solidFill>
                <a:latin typeface="Consolas" panose="020B0609020204030204" pitchFamily="49" charset="0"/>
              </a:rPr>
              <a:t>br</a:t>
            </a:r>
            <a:r>
              <a:rPr lang="en-US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pw :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jsp:getProperty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F007F"/>
                </a:solidFill>
                <a:latin typeface="Consolas" panose="020B0609020204030204" pitchFamily="49" charset="0"/>
              </a:rPr>
              <a:t>property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passwd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 </a:t>
            </a:r>
            <a:r>
              <a:rPr lang="en-US" i="1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"bean" </a:t>
            </a:r>
            <a:r>
              <a:rPr lang="en-US" i="1" dirty="0">
                <a:solidFill>
                  <a:srgbClr val="008080"/>
                </a:solidFill>
                <a:latin typeface="Consolas" panose="020B0609020204030204" pitchFamily="49" charset="0"/>
              </a:rPr>
              <a:t>/&gt;&lt;</a:t>
            </a:r>
            <a:r>
              <a:rPr lang="en-US" i="1" dirty="0" err="1">
                <a:solidFill>
                  <a:srgbClr val="3F7F7F"/>
                </a:solidFill>
                <a:latin typeface="Consolas" panose="020B0609020204030204" pitchFamily="49" charset="0"/>
              </a:rPr>
              <a:t>br</a:t>
            </a:r>
            <a:r>
              <a:rPr lang="en-US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lvl="1"/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이름 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jsp:getProperty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F007F"/>
                </a:solidFill>
                <a:latin typeface="Consolas" panose="020B0609020204030204" pitchFamily="49" charset="0"/>
              </a:rPr>
              <a:t>property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"name" </a:t>
            </a:r>
            <a:r>
              <a:rPr lang="en-US" i="1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"bean" </a:t>
            </a:r>
            <a:r>
              <a:rPr lang="en-US" i="1" dirty="0">
                <a:solidFill>
                  <a:srgbClr val="008080"/>
                </a:solidFill>
                <a:latin typeface="Consolas" panose="020B0609020204030204" pitchFamily="49" charset="0"/>
              </a:rPr>
              <a:t>/&gt;&lt;</a:t>
            </a:r>
            <a:r>
              <a:rPr lang="en-US" i="1" dirty="0" err="1">
                <a:solidFill>
                  <a:srgbClr val="3F7F7F"/>
                </a:solidFill>
                <a:latin typeface="Consolas" panose="020B0609020204030204" pitchFamily="49" charset="0"/>
              </a:rPr>
              <a:t>br</a:t>
            </a:r>
            <a:r>
              <a:rPr lang="en-US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lvl="1"/>
            <a:r>
              <a:rPr lang="ko-KR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나이 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ko-KR" dirty="0">
                <a:solidFill>
                  <a:srgbClr val="008080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3F7F7F"/>
                </a:solidFill>
                <a:latin typeface="Consolas" panose="020B0609020204030204" pitchFamily="49" charset="0"/>
              </a:rPr>
              <a:t>jsp:getProperty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F007F"/>
                </a:solidFill>
                <a:latin typeface="Consolas" panose="020B0609020204030204" pitchFamily="49" charset="0"/>
              </a:rPr>
              <a:t>property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"age" </a:t>
            </a:r>
            <a:r>
              <a:rPr lang="en-US" i="1" dirty="0">
                <a:solidFill>
                  <a:srgbClr val="7F007F"/>
                </a:solidFill>
                <a:latin typeface="Consolas" panose="020B0609020204030204" pitchFamily="49" charset="0"/>
              </a:rPr>
              <a:t>name</a:t>
            </a:r>
            <a:r>
              <a:rPr lang="en-US" i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"bean" </a:t>
            </a:r>
            <a:r>
              <a:rPr lang="en-US" i="1" dirty="0">
                <a:solidFill>
                  <a:srgbClr val="008080"/>
                </a:solidFill>
                <a:latin typeface="Consolas" panose="020B0609020204030204" pitchFamily="49" charset="0"/>
              </a:rPr>
              <a:t>/&gt;&lt;</a:t>
            </a:r>
            <a:r>
              <a:rPr lang="en-US" i="1" dirty="0" err="1">
                <a:solidFill>
                  <a:srgbClr val="3F7F7F"/>
                </a:solidFill>
                <a:latin typeface="Consolas" panose="020B0609020204030204" pitchFamily="49" charset="0"/>
              </a:rPr>
              <a:t>br</a:t>
            </a:r>
            <a:r>
              <a:rPr lang="en-US" i="1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body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3F7F7F"/>
                </a:solidFill>
                <a:latin typeface="Consolas" panose="020B0609020204030204" pitchFamily="49" charset="0"/>
              </a:rPr>
              <a:t>html</a:t>
            </a:r>
            <a:r>
              <a:rPr lang="en-US" dirty="0">
                <a:solidFill>
                  <a:srgbClr val="008080"/>
                </a:solidFill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718861" y="694013"/>
            <a:ext cx="991362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err="1" smtClean="0"/>
              <a:t>show.jsp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0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22052</TotalTime>
  <Words>1498</Words>
  <Application>Microsoft Office PowerPoint</Application>
  <PresentationFormat>와이드스크린</PresentationFormat>
  <Paragraphs>288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8" baseType="lpstr">
      <vt:lpstr>Arial Unicode MS</vt:lpstr>
      <vt:lpstr>HY견고딕</vt:lpstr>
      <vt:lpstr>PT Sans</vt:lpstr>
      <vt:lpstr>맑은 고딕</vt:lpstr>
      <vt:lpstr>휴먼매직체</vt:lpstr>
      <vt:lpstr>Arial</vt:lpstr>
      <vt:lpstr>Calibri</vt:lpstr>
      <vt:lpstr>Calibri Light</vt:lpstr>
      <vt:lpstr>Consolas</vt:lpstr>
      <vt:lpstr>Times New Roman</vt:lpstr>
      <vt:lpstr>Wingdings</vt:lpstr>
      <vt:lpstr>Office 테마</vt:lpstr>
      <vt:lpstr>표준액션</vt:lpstr>
      <vt:lpstr>표준액션</vt:lpstr>
      <vt:lpstr>표준액션</vt:lpstr>
      <vt:lpstr>Include</vt:lpstr>
      <vt:lpstr>Include</vt:lpstr>
      <vt:lpstr>Include</vt:lpstr>
      <vt:lpstr>forward</vt:lpstr>
      <vt:lpstr>param</vt:lpstr>
      <vt:lpstr>param</vt:lpstr>
      <vt:lpstr>JavaBean</vt:lpstr>
      <vt:lpstr>JavaBean</vt:lpstr>
      <vt:lpstr>JavaBean</vt:lpstr>
      <vt:lpstr>JavaBean</vt:lpstr>
      <vt:lpstr>JavaBean</vt:lpstr>
      <vt:lpstr>JavaBean</vt:lpstr>
      <vt:lpstr>JavaBean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4013</cp:revision>
  <dcterms:created xsi:type="dcterms:W3CDTF">2020-03-06T01:35:43Z</dcterms:created>
  <dcterms:modified xsi:type="dcterms:W3CDTF">2020-06-03T00:22:36Z</dcterms:modified>
  <cp:version>1000.0000.01</cp:version>
</cp:coreProperties>
</file>