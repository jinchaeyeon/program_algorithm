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7"/>
  </p:notesMasterIdLst>
  <p:sldIdLst>
    <p:sldId id="357" r:id="rId2"/>
    <p:sldId id="346" r:id="rId3"/>
    <p:sldId id="358" r:id="rId4"/>
    <p:sldId id="359" r:id="rId5"/>
    <p:sldId id="360" r:id="rId6"/>
    <p:sldId id="361" r:id="rId7"/>
    <p:sldId id="363" r:id="rId8"/>
    <p:sldId id="362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3" r:id="rId18"/>
    <p:sldId id="372" r:id="rId19"/>
    <p:sldId id="374" r:id="rId20"/>
    <p:sldId id="375" r:id="rId21"/>
    <p:sldId id="376" r:id="rId22"/>
    <p:sldId id="378" r:id="rId23"/>
    <p:sldId id="377" r:id="rId24"/>
    <p:sldId id="379" r:id="rId25"/>
    <p:sldId id="3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42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5/21/2020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5/21/2020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5/21/2020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5/21/2020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5/21/2020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5/21/2020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5/21/2020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5/21/2020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5/21/2020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5/21/2020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5/21/2020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5/21/2020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5/21/2020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400" dirty="0" smtClean="0"/>
              <a:t>JSP </a:t>
            </a:r>
            <a:r>
              <a:rPr lang="ko-KR" altLang="en-US" sz="4400" dirty="0" smtClean="0"/>
              <a:t>이해하기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JSP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 lnSpcReduction="10000"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JSP(Java Server Page)</a:t>
            </a:r>
          </a:p>
          <a:p>
            <a:pPr lvl="1"/>
            <a:r>
              <a:rPr lang="en-US" altLang="ko-KR" sz="1800" dirty="0" err="1">
                <a:solidFill>
                  <a:prstClr val="black"/>
                </a:solidFill>
              </a:rPr>
              <a:t>PrintWriter</a:t>
            </a:r>
            <a:r>
              <a:rPr lang="en-US" altLang="ko-KR" sz="1800" dirty="0">
                <a:solidFill>
                  <a:prstClr val="black"/>
                </a:solidFill>
              </a:rPr>
              <a:t> out = </a:t>
            </a:r>
            <a:r>
              <a:rPr lang="en-US" altLang="ko-KR" sz="1800" dirty="0" err="1">
                <a:solidFill>
                  <a:prstClr val="black"/>
                </a:solidFill>
              </a:rPr>
              <a:t>resp.getWriter</a:t>
            </a:r>
            <a:r>
              <a:rPr lang="en-US" altLang="ko-KR" sz="1800" dirty="0" smtClean="0">
                <a:solidFill>
                  <a:prstClr val="black"/>
                </a:solidFill>
              </a:rPr>
              <a:t>()</a:t>
            </a:r>
            <a:r>
              <a:rPr lang="ko-KR" altLang="en-US" sz="1800" dirty="0" smtClean="0">
                <a:solidFill>
                  <a:prstClr val="black"/>
                </a:solidFill>
              </a:rPr>
              <a:t>의</a:t>
            </a:r>
            <a:r>
              <a:rPr lang="en-US" altLang="ko-KR" sz="1800" dirty="0" smtClean="0">
                <a:solidFill>
                  <a:prstClr val="black"/>
                </a:solidFill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한계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우리가 작성한 </a:t>
            </a:r>
            <a:r>
              <a:rPr lang="en-US" altLang="ko-KR" sz="1800" dirty="0" smtClean="0">
                <a:solidFill>
                  <a:prstClr val="black"/>
                </a:solidFill>
              </a:rPr>
              <a:t>html</a:t>
            </a:r>
            <a:r>
              <a:rPr lang="ko-KR" altLang="en-US" sz="1800" dirty="0" smtClean="0">
                <a:solidFill>
                  <a:prstClr val="black"/>
                </a:solidFill>
              </a:rPr>
              <a:t>코드를 전부 </a:t>
            </a:r>
            <a:r>
              <a:rPr lang="en-US" altLang="ko-KR" sz="1800" dirty="0" err="1" smtClean="0">
                <a:solidFill>
                  <a:prstClr val="black"/>
                </a:solidFill>
              </a:rPr>
              <a:t>out.printf</a:t>
            </a:r>
            <a:r>
              <a:rPr lang="ko-KR" altLang="en-US" sz="1800" dirty="0" smtClean="0">
                <a:solidFill>
                  <a:prstClr val="black"/>
                </a:solidFill>
              </a:rPr>
              <a:t>로 출력해야 하는가</a:t>
            </a:r>
            <a:r>
              <a:rPr lang="en-US" altLang="ko-KR" sz="1800" dirty="0" smtClean="0">
                <a:solidFill>
                  <a:prstClr val="black"/>
                </a:solidFill>
              </a:rPr>
              <a:t>?</a:t>
            </a:r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srgbClr val="FF0000"/>
                </a:solidFill>
              </a:rPr>
              <a:t>HTML </a:t>
            </a:r>
            <a:r>
              <a:rPr lang="ko-KR" altLang="en-US" sz="1800" dirty="0">
                <a:solidFill>
                  <a:srgbClr val="FF0000"/>
                </a:solidFill>
              </a:rPr>
              <a:t>코드에 </a:t>
            </a:r>
            <a:r>
              <a:rPr lang="en-US" altLang="ko-KR" sz="1800" dirty="0">
                <a:solidFill>
                  <a:srgbClr val="FF0000"/>
                </a:solidFill>
              </a:rPr>
              <a:t>Java </a:t>
            </a:r>
            <a:r>
              <a:rPr lang="ko-KR" altLang="en-US" sz="1800" dirty="0">
                <a:solidFill>
                  <a:srgbClr val="FF0000"/>
                </a:solidFill>
              </a:rPr>
              <a:t>코드를 넣어 동적인 웹 페이지를 생성</a:t>
            </a:r>
            <a:r>
              <a:rPr lang="ko-KR" altLang="en-US" sz="1800" dirty="0">
                <a:solidFill>
                  <a:prstClr val="black"/>
                </a:solidFill>
              </a:rPr>
              <a:t>하는 웹 어플리케이션 </a:t>
            </a:r>
            <a:r>
              <a:rPr lang="ko-KR" altLang="en-US" sz="1800" dirty="0" smtClean="0">
                <a:solidFill>
                  <a:prstClr val="black"/>
                </a:solidFill>
              </a:rPr>
              <a:t>도구</a:t>
            </a:r>
            <a:endParaRPr lang="en-US" altLang="ko-KR" sz="2200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endParaRPr lang="en-US" altLang="ko-KR" sz="2200" b="1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r>
              <a:rPr lang="ko-KR" altLang="en-US" sz="1800" dirty="0" smtClean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 </a:t>
            </a:r>
            <a:endParaRPr lang="ko-KR" altLang="en-US" sz="1800" dirty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2000" dirty="0" smtClean="0"/>
          </a:p>
          <a:p>
            <a:pPr lvl="2"/>
            <a:endParaRPr lang="en-US" altLang="ko-KR" dirty="0" smtClean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  <p:graphicFrame>
        <p:nvGraphicFramePr>
          <p:cNvPr id="45" name="Group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783032"/>
              </p:ext>
            </p:extLst>
          </p:nvPr>
        </p:nvGraphicFramePr>
        <p:xfrm>
          <a:off x="1120084" y="2654888"/>
          <a:ext cx="6781800" cy="3017520"/>
        </p:xfrm>
        <a:graphic>
          <a:graphicData uri="http://schemas.openxmlformats.org/drawingml/2006/table">
            <a:tbl>
              <a:tblPr/>
              <a:tblGrid>
                <a:gridCol w="678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&lt;%@page 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contentType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= ”text/html; 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charset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euc-kr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”%&gt;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&lt;HTML&gt;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&lt;HEAD&gt;&lt;TITLE&gt;1</a:t>
                      </a:r>
                      <a:r>
                        <a:rPr kumimoji="0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부터 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100</a:t>
                      </a:r>
                      <a:r>
                        <a:rPr kumimoji="0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까지의 합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&lt;/TITLE&gt;&lt;/HEAD&gt;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&lt;BODY&gt;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         &lt;%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                      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total = 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                      for (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int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cnt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= 1; 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cnt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&lt;= 100; 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cnt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++)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                             total += </a:t>
                      </a:r>
                      <a:r>
                        <a:rPr kumimoji="0" lang="en-US" altLang="ko-KR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cnt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         %&gt;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         1</a:t>
                      </a:r>
                      <a:r>
                        <a:rPr kumimoji="0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부터 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100</a:t>
                      </a:r>
                      <a:r>
                        <a:rPr kumimoji="0" lang="ko-KR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까지 더한 값은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?</a:t>
                      </a: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&lt;%= total %&gt;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         &lt;/BODY&gt;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HY견고딕" pitchFamily="18" charset="-127"/>
                          <a:cs typeface="Times New Roman" pitchFamily="18" charset="0"/>
                        </a:rPr>
                        <a:t>&lt;/HTML&gt;</a:t>
                      </a:r>
                    </a:p>
                  </a:txBody>
                  <a:tcPr horzOverflow="overflow">
                    <a:lnL w="190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1047750" y="5740557"/>
            <a:ext cx="8420100" cy="878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cs typeface="Times New Roman" pitchFamily="18" charset="0"/>
              </a:rPr>
              <a:t>JSP</a:t>
            </a:r>
            <a:r>
              <a:rPr lang="en-US" altLang="ko-KR" dirty="0"/>
              <a:t> </a:t>
            </a:r>
            <a:r>
              <a:rPr lang="ko-KR" altLang="en-US" dirty="0"/>
              <a:t>페이지에 있는 </a:t>
            </a:r>
            <a:r>
              <a:rPr lang="en-US" altLang="ko-KR" b="1" dirty="0">
                <a:cs typeface="Times New Roman" pitchFamily="18" charset="0"/>
              </a:rPr>
              <a:t>HTML</a:t>
            </a:r>
            <a:r>
              <a:rPr lang="en-US" altLang="ko-KR" dirty="0"/>
              <a:t> </a:t>
            </a:r>
            <a:r>
              <a:rPr lang="ko-KR" altLang="en-US" dirty="0"/>
              <a:t>코드는 웹 브라우저로 그대로 전송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b="1" dirty="0">
                <a:cs typeface="Times New Roman" pitchFamily="18" charset="0"/>
              </a:rPr>
              <a:t>JSP</a:t>
            </a:r>
            <a:r>
              <a:rPr lang="en-US" altLang="ko-KR" dirty="0"/>
              <a:t> </a:t>
            </a:r>
            <a:r>
              <a:rPr lang="ko-KR" altLang="en-US" dirty="0"/>
              <a:t>문법의 코드는 웹 컨테이너 쪽에서 실행되고 그 </a:t>
            </a:r>
            <a:r>
              <a:rPr lang="ko-KR" altLang="en-US" u="sng" dirty="0"/>
              <a:t>결과만 웹 브라우저로 전송</a:t>
            </a:r>
          </a:p>
        </p:txBody>
      </p:sp>
    </p:spTree>
    <p:extLst>
      <p:ext uri="{BB962C8B-B14F-4D97-AF65-F5344CB8AC3E}">
        <p14:creationId xmlns:p14="http://schemas.microsoft.com/office/powerpoint/2010/main" val="321926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JSP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JSP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페이지 실행 과정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/>
              <a:t>웹 브라우저로부터 </a:t>
            </a:r>
            <a:r>
              <a:rPr lang="en-US" altLang="ko-KR" sz="1800" dirty="0"/>
              <a:t>JSP</a:t>
            </a:r>
            <a:r>
              <a:rPr lang="ko-KR" altLang="en-US" sz="1800" dirty="0"/>
              <a:t>에 대한 </a:t>
            </a:r>
            <a:r>
              <a:rPr lang="en-US" altLang="ko-KR" sz="1800" dirty="0"/>
              <a:t>URL</a:t>
            </a:r>
            <a:r>
              <a:rPr lang="ko-KR" altLang="en-US" sz="1800" dirty="0"/>
              <a:t>이 왔을 때 </a:t>
            </a:r>
            <a:r>
              <a:rPr lang="ko-KR" altLang="en-US" sz="1800" dirty="0" smtClean="0"/>
              <a:t>최종적으로 실행되는 </a:t>
            </a:r>
            <a:r>
              <a:rPr lang="ko-KR" altLang="en-US" sz="1800" dirty="0"/>
              <a:t>것은 </a:t>
            </a:r>
            <a:r>
              <a:rPr lang="en-US" altLang="ko-KR" sz="1800" dirty="0" smtClean="0"/>
              <a:t>servlet</a:t>
            </a: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/>
              <a:t>JSP </a:t>
            </a:r>
            <a:r>
              <a:rPr lang="ko-KR" altLang="en-US" sz="1800" dirty="0"/>
              <a:t>페이지가 처음 요청되었을 때에 한번 발생</a:t>
            </a:r>
            <a:endParaRPr lang="en-US" altLang="ko-KR" sz="1800" dirty="0"/>
          </a:p>
          <a:p>
            <a:pPr lvl="1"/>
            <a:r>
              <a:rPr lang="en-US" altLang="ko-KR" sz="1800" dirty="0"/>
              <a:t>JSP </a:t>
            </a:r>
            <a:r>
              <a:rPr lang="ko-KR" altLang="en-US" sz="1800" dirty="0"/>
              <a:t>페이지가 변경되면 다시 변환과 컴파일이 실행됨</a:t>
            </a:r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1035611" y="2073796"/>
            <a:ext cx="2012696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rgbClr val="0000FF"/>
                </a:solidFill>
              </a:rPr>
              <a:t>JSP </a:t>
            </a:r>
            <a:r>
              <a:rPr lang="ko-KR" altLang="en-US" sz="1600" dirty="0" smtClean="0">
                <a:solidFill>
                  <a:srgbClr val="0000FF"/>
                </a:solidFill>
              </a:rPr>
              <a:t>페이지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987567" y="2073796"/>
            <a:ext cx="2012696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servlet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클래스의 소스코드</a:t>
            </a:r>
            <a:r>
              <a:rPr lang="en-US" altLang="ko-KR" sz="1600" dirty="0" smtClean="0">
                <a:solidFill>
                  <a:schemeClr val="tx1"/>
                </a:solidFill>
              </a:rPr>
              <a:t>(.java)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925806" y="2073796"/>
            <a:ext cx="2012696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servlet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클래스 파일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(.class)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35611" y="3225924"/>
            <a:ext cx="2012696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servlet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</a:rPr>
              <a:t>객체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074433" y="3225924"/>
            <a:ext cx="2012696" cy="504056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</a:rPr>
              <a:t>servlet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13" name="직선 화살표 연결선 12"/>
          <p:cNvCxnSpPr>
            <a:stCxn id="7" idx="3"/>
            <a:endCxn id="8" idx="1"/>
          </p:cNvCxnSpPr>
          <p:nvPr/>
        </p:nvCxnSpPr>
        <p:spPr>
          <a:xfrm>
            <a:off x="3048307" y="2325824"/>
            <a:ext cx="9392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8" idx="3"/>
            <a:endCxn id="9" idx="1"/>
          </p:cNvCxnSpPr>
          <p:nvPr/>
        </p:nvCxnSpPr>
        <p:spPr>
          <a:xfrm>
            <a:off x="6000263" y="2325824"/>
            <a:ext cx="925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3199961" y="1893274"/>
            <a:ext cx="7237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변환</a:t>
            </a:r>
            <a:endParaRPr lang="en-US" sz="1400" dirty="0"/>
          </a:p>
        </p:txBody>
      </p:sp>
      <p:sp>
        <p:nvSpPr>
          <p:cNvPr id="16" name="직사각형 15"/>
          <p:cNvSpPr/>
          <p:nvPr/>
        </p:nvSpPr>
        <p:spPr>
          <a:xfrm>
            <a:off x="6085433" y="2024857"/>
            <a:ext cx="9626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컴파일</a:t>
            </a:r>
            <a:endParaRPr lang="en-US" sz="1400" dirty="0"/>
          </a:p>
        </p:txBody>
      </p:sp>
      <p:cxnSp>
        <p:nvCxnSpPr>
          <p:cNvPr id="17" name="꺾인 연결선 16"/>
          <p:cNvCxnSpPr>
            <a:stCxn id="9" idx="3"/>
            <a:endCxn id="10" idx="1"/>
          </p:cNvCxnSpPr>
          <p:nvPr/>
        </p:nvCxnSpPr>
        <p:spPr>
          <a:xfrm flipH="1">
            <a:off x="1035611" y="2325824"/>
            <a:ext cx="7902891" cy="1152128"/>
          </a:xfrm>
          <a:prstGeom prst="bentConnector5">
            <a:avLst>
              <a:gd name="adj1" fmla="val -2893"/>
              <a:gd name="adj2" fmla="val 50000"/>
              <a:gd name="adj3" fmla="val 1028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10" idx="3"/>
            <a:endCxn id="12" idx="1"/>
          </p:cNvCxnSpPr>
          <p:nvPr/>
        </p:nvCxnSpPr>
        <p:spPr>
          <a:xfrm>
            <a:off x="3048307" y="3477952"/>
            <a:ext cx="1026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9205437" y="2480883"/>
            <a:ext cx="1440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err="1" smtClean="0"/>
              <a:t>인스턴스화</a:t>
            </a:r>
            <a:endParaRPr lang="en-US" sz="1400" dirty="0"/>
          </a:p>
        </p:txBody>
      </p:sp>
      <p:sp>
        <p:nvSpPr>
          <p:cNvPr id="20" name="직사각형 19"/>
          <p:cNvSpPr/>
          <p:nvPr/>
        </p:nvSpPr>
        <p:spPr>
          <a:xfrm>
            <a:off x="3173628" y="3166175"/>
            <a:ext cx="9626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 smtClean="0"/>
              <a:t>초기화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9812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/>
              <a:t>JSP </a:t>
            </a:r>
            <a:r>
              <a:rPr lang="ko-KR" altLang="en-US" sz="2800" dirty="0"/>
              <a:t>이해하기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>
                <a:solidFill>
                  <a:prstClr val="black"/>
                </a:solidFill>
              </a:rPr>
              <a:t>JSP </a:t>
            </a:r>
            <a:r>
              <a:rPr lang="ko-KR" altLang="en-US" sz="2200" b="1" dirty="0">
                <a:solidFill>
                  <a:prstClr val="black"/>
                </a:solidFill>
              </a:rPr>
              <a:t>문법 요소</a:t>
            </a:r>
          </a:p>
          <a:p>
            <a:pPr lvl="1"/>
            <a:r>
              <a:rPr lang="en-US" altLang="ko-KR" sz="1900" dirty="0"/>
              <a:t>JSP</a:t>
            </a:r>
            <a:r>
              <a:rPr lang="ko-KR" altLang="en-US" sz="1900" dirty="0"/>
              <a:t>의 문법에는 세가지 형태가 존재</a:t>
            </a:r>
            <a:endParaRPr lang="en-US" altLang="ko-KR" sz="1900" dirty="0"/>
          </a:p>
          <a:p>
            <a:pPr lvl="2"/>
            <a:r>
              <a:rPr lang="en-US" altLang="ko-KR" dirty="0">
                <a:solidFill>
                  <a:srgbClr val="0000FF"/>
                </a:solidFill>
              </a:rPr>
              <a:t>&lt;%</a:t>
            </a:r>
            <a:r>
              <a:rPr lang="ko-KR" altLang="en-US" dirty="0"/>
              <a:t>로 시작해서 </a:t>
            </a:r>
            <a:r>
              <a:rPr lang="en-US" altLang="ko-KR" dirty="0">
                <a:solidFill>
                  <a:srgbClr val="0000FF"/>
                </a:solidFill>
              </a:rPr>
              <a:t>%&gt;</a:t>
            </a:r>
            <a:r>
              <a:rPr lang="ko-KR" altLang="en-US" dirty="0"/>
              <a:t>로 끝나는 형태</a:t>
            </a:r>
            <a:r>
              <a:rPr lang="en-US" altLang="ko-KR" dirty="0"/>
              <a:t>: </a:t>
            </a:r>
            <a:r>
              <a:rPr lang="ko-KR" altLang="en-US" dirty="0"/>
              <a:t>지시자</a:t>
            </a:r>
            <a:r>
              <a:rPr lang="en-US" altLang="ko-KR" dirty="0"/>
              <a:t>, </a:t>
            </a:r>
            <a:r>
              <a:rPr lang="ko-KR" altLang="en-US" dirty="0" err="1"/>
              <a:t>스크립팅</a:t>
            </a:r>
            <a:r>
              <a:rPr lang="ko-KR" altLang="en-US" dirty="0"/>
              <a:t> 요소 </a:t>
            </a:r>
            <a:endParaRPr lang="en-US" altLang="ko-KR" dirty="0"/>
          </a:p>
          <a:p>
            <a:pPr lvl="2"/>
            <a:r>
              <a:rPr lang="en-US" altLang="ko-KR" dirty="0">
                <a:solidFill>
                  <a:srgbClr val="0000FF"/>
                </a:solidFill>
              </a:rPr>
              <a:t>${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시작해서</a:t>
            </a:r>
            <a:r>
              <a:rPr lang="en-US" altLang="ko-KR" dirty="0">
                <a:solidFill>
                  <a:srgbClr val="0000FF"/>
                </a:solidFill>
              </a:rPr>
              <a:t>}</a:t>
            </a:r>
            <a:r>
              <a:rPr lang="ko-KR" altLang="en-US" dirty="0"/>
              <a:t>로 끝나는 형태</a:t>
            </a:r>
            <a:r>
              <a:rPr lang="en-US" altLang="ko-KR" dirty="0"/>
              <a:t>: </a:t>
            </a:r>
            <a:r>
              <a:rPr lang="ko-KR" altLang="en-US" dirty="0"/>
              <a:t>표현식 언어</a:t>
            </a:r>
            <a:r>
              <a:rPr lang="en-US" altLang="ko-KR" dirty="0"/>
              <a:t>(Expression Language)</a:t>
            </a:r>
          </a:p>
          <a:p>
            <a:pPr lvl="2"/>
            <a:r>
              <a:rPr lang="en-US" altLang="ko-KR" dirty="0">
                <a:solidFill>
                  <a:srgbClr val="0000FF"/>
                </a:solidFill>
              </a:rPr>
              <a:t>&lt;</a:t>
            </a:r>
            <a:r>
              <a:rPr lang="en-US" altLang="ko-KR" b="1" dirty="0" err="1">
                <a:solidFill>
                  <a:srgbClr val="0000FF"/>
                </a:solidFill>
                <a:cs typeface="Times New Roman" pitchFamily="18" charset="0"/>
              </a:rPr>
              <a:t>jsp:forward</a:t>
            </a:r>
            <a:r>
              <a:rPr lang="en-US" altLang="ko-KR" dirty="0">
                <a:solidFill>
                  <a:srgbClr val="0000FF"/>
                </a:solidFill>
              </a:rPr>
              <a:t>&gt;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>
                <a:solidFill>
                  <a:srgbClr val="0000FF"/>
                </a:solidFill>
              </a:rPr>
              <a:t>&lt;</a:t>
            </a:r>
            <a:r>
              <a:rPr lang="en-US" altLang="ko-KR" b="1" dirty="0" err="1">
                <a:solidFill>
                  <a:srgbClr val="0000FF"/>
                </a:solidFill>
                <a:cs typeface="Times New Roman" pitchFamily="18" charset="0"/>
              </a:rPr>
              <a:t>C:if</a:t>
            </a:r>
            <a:r>
              <a:rPr lang="en-US" altLang="ko-KR" dirty="0">
                <a:solidFill>
                  <a:srgbClr val="0000FF"/>
                </a:solidFill>
              </a:rPr>
              <a:t>&gt;</a:t>
            </a:r>
            <a:r>
              <a:rPr lang="ko-KR" altLang="en-US" dirty="0"/>
              <a:t>와 같은 </a:t>
            </a:r>
            <a:r>
              <a:rPr lang="en-US" altLang="ko-KR" b="1" dirty="0">
                <a:cs typeface="Times New Roman" pitchFamily="18" charset="0"/>
              </a:rPr>
              <a:t>XML</a:t>
            </a:r>
            <a:r>
              <a:rPr lang="en-US" altLang="ko-KR" dirty="0"/>
              <a:t> </a:t>
            </a:r>
            <a:r>
              <a:rPr lang="ko-KR" altLang="en-US" dirty="0"/>
              <a:t>태그 형태</a:t>
            </a:r>
            <a:r>
              <a:rPr lang="en-US" altLang="ko-KR" dirty="0"/>
              <a:t>: </a:t>
            </a:r>
            <a:r>
              <a:rPr lang="ko-KR" altLang="en-US" dirty="0"/>
              <a:t>액션</a:t>
            </a:r>
            <a:r>
              <a:rPr lang="en-US" altLang="ko-KR" dirty="0"/>
              <a:t>(action)</a:t>
            </a:r>
          </a:p>
          <a:p>
            <a:pPr lvl="1"/>
            <a:r>
              <a:rPr lang="en-US" altLang="ko-KR" sz="1900" dirty="0"/>
              <a:t>JSP </a:t>
            </a:r>
            <a:r>
              <a:rPr lang="ko-KR" altLang="en-US" sz="1900" dirty="0"/>
              <a:t>문법 요소 </a:t>
            </a:r>
            <a:r>
              <a:rPr lang="en-US" altLang="ko-KR" sz="1900" dirty="0"/>
              <a:t>: 6 </a:t>
            </a:r>
            <a:r>
              <a:rPr lang="ko-KR" altLang="en-US" sz="1900" dirty="0"/>
              <a:t>가지 요소</a:t>
            </a:r>
            <a:endParaRPr lang="en-US" altLang="ko-KR" sz="1900" dirty="0"/>
          </a:p>
          <a:p>
            <a:pPr lvl="2"/>
            <a:r>
              <a:rPr lang="ko-KR" altLang="en-US" dirty="0" err="1"/>
              <a:t>스크립트릿</a:t>
            </a:r>
            <a:r>
              <a:rPr lang="en-US" altLang="ko-KR" dirty="0"/>
              <a:t>(</a:t>
            </a:r>
            <a:r>
              <a:rPr lang="en-US" altLang="ko-KR" dirty="0" err="1"/>
              <a:t>Scriptlet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표현식</a:t>
            </a:r>
            <a:r>
              <a:rPr lang="en-US" altLang="ko-KR" dirty="0"/>
              <a:t>(Expression)</a:t>
            </a:r>
          </a:p>
          <a:p>
            <a:pPr lvl="2"/>
            <a:r>
              <a:rPr lang="ko-KR" altLang="en-US" dirty="0" err="1"/>
              <a:t>선언부</a:t>
            </a:r>
            <a:r>
              <a:rPr lang="en-US" altLang="ko-KR" dirty="0"/>
              <a:t>(Declaration)</a:t>
            </a:r>
          </a:p>
          <a:p>
            <a:pPr lvl="2"/>
            <a:r>
              <a:rPr lang="ko-KR" altLang="en-US" dirty="0"/>
              <a:t>지시자</a:t>
            </a:r>
            <a:r>
              <a:rPr lang="en-US" altLang="ko-KR" dirty="0"/>
              <a:t>(Directive)</a:t>
            </a:r>
          </a:p>
          <a:p>
            <a:pPr lvl="2"/>
            <a:r>
              <a:rPr lang="ko-KR" altLang="en-US" dirty="0"/>
              <a:t>표현식 언어</a:t>
            </a:r>
            <a:r>
              <a:rPr lang="en-US" altLang="ko-KR" dirty="0"/>
              <a:t>(Expression Language)</a:t>
            </a:r>
          </a:p>
          <a:p>
            <a:pPr lvl="2"/>
            <a:r>
              <a:rPr lang="ko-KR" altLang="en-US" dirty="0"/>
              <a:t>액션</a:t>
            </a:r>
            <a:r>
              <a:rPr lang="en-US" altLang="ko-KR" dirty="0"/>
              <a:t>(Action)</a:t>
            </a: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8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0057" y="738350"/>
            <a:ext cx="5890691" cy="5740119"/>
          </a:xfrm>
        </p:spPr>
        <p:txBody>
          <a:bodyPr>
            <a:normAutofit/>
          </a:bodyPr>
          <a:lstStyle/>
          <a:p>
            <a:r>
              <a:rPr lang="ko-KR" altLang="en-US" sz="2000" dirty="0" err="1"/>
              <a:t>스크립틀릿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Scriptlet</a:t>
            </a:r>
            <a:r>
              <a:rPr lang="en-US" altLang="ko-KR" sz="2000" dirty="0" smtClean="0"/>
              <a:t>)</a:t>
            </a:r>
          </a:p>
          <a:p>
            <a:pPr lvl="1"/>
            <a:r>
              <a:rPr lang="en-US" altLang="ko-KR" sz="1800" dirty="0"/>
              <a:t>JSP </a:t>
            </a:r>
            <a:r>
              <a:rPr lang="ko-KR" altLang="en-US" sz="1800" dirty="0"/>
              <a:t>페이지 내에 삽입되는 자바 코드 부분</a:t>
            </a:r>
          </a:p>
          <a:p>
            <a:pPr lvl="1"/>
            <a:r>
              <a:rPr lang="en-US" altLang="ko-KR" sz="1800" dirty="0">
                <a:solidFill>
                  <a:srgbClr val="0000FF"/>
                </a:solidFill>
              </a:rPr>
              <a:t>&lt;%</a:t>
            </a:r>
            <a:r>
              <a:rPr lang="ko-KR" altLang="en-US" sz="1800" dirty="0"/>
              <a:t>로 시작해서 </a:t>
            </a:r>
            <a:r>
              <a:rPr lang="en-US" altLang="ko-KR" sz="1800" dirty="0">
                <a:solidFill>
                  <a:srgbClr val="0000FF"/>
                </a:solidFill>
              </a:rPr>
              <a:t>%&gt;</a:t>
            </a:r>
            <a:r>
              <a:rPr lang="en-US" altLang="ko-KR" sz="1800" dirty="0"/>
              <a:t> </a:t>
            </a:r>
            <a:r>
              <a:rPr lang="ko-KR" altLang="en-US" sz="1800" dirty="0"/>
              <a:t>로 끝나고</a:t>
            </a:r>
            <a:r>
              <a:rPr lang="en-US" altLang="ko-KR" sz="1800" dirty="0"/>
              <a:t>, </a:t>
            </a:r>
            <a:r>
              <a:rPr lang="ko-KR" altLang="en-US" sz="1800" dirty="0"/>
              <a:t>그 사이 자바 명령문을 </a:t>
            </a:r>
            <a:r>
              <a:rPr lang="ko-KR" altLang="en-US" sz="1800" dirty="0" smtClean="0"/>
              <a:t>작성</a:t>
            </a:r>
            <a:endParaRPr lang="en-US" altLang="ko-KR" sz="1800" dirty="0" smtClean="0"/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표현식</a:t>
            </a:r>
            <a:r>
              <a:rPr lang="en-US" altLang="ko-KR" sz="2000" dirty="0"/>
              <a:t>(Expression</a:t>
            </a:r>
            <a:r>
              <a:rPr lang="en-US" altLang="ko-KR" sz="2000" dirty="0" smtClean="0"/>
              <a:t>)</a:t>
            </a:r>
            <a:endParaRPr lang="en-US" altLang="ko-KR" sz="2000" dirty="0"/>
          </a:p>
          <a:p>
            <a:pPr lvl="1"/>
            <a:r>
              <a:rPr lang="en-US" altLang="ko-KR" sz="1800" dirty="0" smtClean="0">
                <a:solidFill>
                  <a:srgbClr val="0000FF"/>
                </a:solidFill>
              </a:rPr>
              <a:t>&lt;%= </a:t>
            </a:r>
            <a:r>
              <a:rPr lang="ko-KR" altLang="en-US" sz="1800" dirty="0" smtClean="0"/>
              <a:t>자바 </a:t>
            </a:r>
            <a:r>
              <a:rPr lang="ko-KR" altLang="en-US" sz="1800" dirty="0"/>
              <a:t>표현식 </a:t>
            </a:r>
            <a:r>
              <a:rPr lang="en-US" altLang="ko-KR" sz="1800" dirty="0">
                <a:solidFill>
                  <a:srgbClr val="0000FF"/>
                </a:solidFill>
              </a:rPr>
              <a:t>%&gt;</a:t>
            </a:r>
          </a:p>
          <a:p>
            <a:pPr lvl="1"/>
            <a:r>
              <a:rPr lang="ko-KR" altLang="en-US" sz="1800" dirty="0"/>
              <a:t>자바 표현식</a:t>
            </a:r>
            <a:r>
              <a:rPr lang="en-US" altLang="ko-KR" sz="1800" dirty="0"/>
              <a:t>(expression=</a:t>
            </a:r>
            <a:r>
              <a:rPr lang="ko-KR" altLang="en-US" sz="1800" dirty="0"/>
              <a:t>그 자체가 값을 나타내는 식</a:t>
            </a:r>
            <a:r>
              <a:rPr lang="en-US" altLang="ko-KR" sz="1800" dirty="0"/>
              <a:t>): </a:t>
            </a:r>
            <a:r>
              <a:rPr lang="ko-KR" altLang="en-US" sz="1800" dirty="0"/>
              <a:t>상수</a:t>
            </a:r>
            <a:r>
              <a:rPr lang="en-US" altLang="ko-KR" sz="1800" dirty="0"/>
              <a:t>, </a:t>
            </a:r>
            <a:r>
              <a:rPr lang="ko-KR" altLang="en-US" sz="1800" dirty="0"/>
              <a:t>변수</a:t>
            </a:r>
            <a:r>
              <a:rPr lang="en-US" altLang="ko-KR" sz="1800" dirty="0"/>
              <a:t>, </a:t>
            </a:r>
            <a:r>
              <a:rPr lang="ko-KR" altLang="en-US" sz="1800" dirty="0"/>
              <a:t>연산</a:t>
            </a:r>
            <a:r>
              <a:rPr lang="en-US" altLang="ko-KR" sz="1800" dirty="0"/>
              <a:t>, </a:t>
            </a:r>
            <a:r>
              <a:rPr lang="ko-KR" altLang="en-US" sz="1800" dirty="0"/>
              <a:t>반환 값이 있는 메서드 </a:t>
            </a:r>
            <a:r>
              <a:rPr lang="ko-KR" altLang="en-US" sz="1800" dirty="0" err="1"/>
              <a:t>호출식</a:t>
            </a:r>
            <a:endParaRPr lang="ko-KR" altLang="en-US" sz="1800" dirty="0"/>
          </a:p>
          <a:p>
            <a:pPr lvl="1"/>
            <a:r>
              <a:rPr lang="ko-KR" altLang="en-US" sz="1800" dirty="0">
                <a:solidFill>
                  <a:srgbClr val="FF0000"/>
                </a:solidFill>
              </a:rPr>
              <a:t>표현식 끝에 세미콜론</a:t>
            </a:r>
            <a:r>
              <a:rPr lang="en-US" altLang="ko-KR" sz="1800" dirty="0">
                <a:solidFill>
                  <a:srgbClr val="FF0000"/>
                </a:solidFill>
              </a:rPr>
              <a:t>(;) </a:t>
            </a:r>
            <a:r>
              <a:rPr lang="ko-KR" altLang="en-US" sz="1800" dirty="0">
                <a:solidFill>
                  <a:srgbClr val="FF0000"/>
                </a:solidFill>
              </a:rPr>
              <a:t>붙이면 안됨</a:t>
            </a:r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ko-KR" altLang="en-US" sz="1800" dirty="0"/>
          </a:p>
          <a:p>
            <a:pPr lvl="1"/>
            <a:endParaRPr lang="en-US" altLang="ko-KR" sz="1600" dirty="0" smtClean="0"/>
          </a:p>
          <a:p>
            <a:endParaRPr lang="en-US" altLang="ko-KR" dirty="0" smtClean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170057" y="5702227"/>
            <a:ext cx="148470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&lt;%= total %&gt;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661279" y="5702227"/>
            <a:ext cx="207620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&lt;%= total + 101 %&gt;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668072" y="5702227"/>
            <a:ext cx="252985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&lt;%=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Math.sqrt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num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) %&gt;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981825" y="2686050"/>
            <a:ext cx="3914775" cy="12954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9495920" y="4013324"/>
            <a:ext cx="1372105" cy="22900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5994073" y="1604462"/>
            <a:ext cx="6131252" cy="32316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contentType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”text/html; charset=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euc-kr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”%&gt;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&lt;HTML&gt;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&lt;HEAD&gt;&lt;TITLE&gt;1</a:t>
            </a:r>
            <a:r>
              <a:rPr lang="ko-KR" altLang="en-US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부터 </a:t>
            </a: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100</a:t>
            </a:r>
            <a:r>
              <a:rPr lang="ko-KR" altLang="en-US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까지의 합</a:t>
            </a: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&lt;/TITLE&gt;&lt;/HEAD&gt;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&lt;BODY&gt;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&lt;%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       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total = 0;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       for (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= 1; 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&lt;= 100; 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++)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              total += </a:t>
            </a:r>
            <a:r>
              <a:rPr lang="en-US" altLang="ko-KR" sz="1700" dirty="0" err="1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%&gt;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1</a:t>
            </a:r>
            <a:r>
              <a:rPr lang="ko-KR" altLang="en-US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부터 </a:t>
            </a: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100</a:t>
            </a:r>
            <a:r>
              <a:rPr lang="ko-KR" altLang="en-US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까지 더한 값은</a:t>
            </a: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?</a:t>
            </a:r>
            <a:r>
              <a:rPr lang="en-US" altLang="ko-KR" sz="17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&lt;%= total %&gt;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&lt;/BODY&gt;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&lt;/HTML&gt;</a:t>
            </a:r>
          </a:p>
        </p:txBody>
      </p:sp>
      <p:cxnSp>
        <p:nvCxnSpPr>
          <p:cNvPr id="14" name="구부러진 연결선 13"/>
          <p:cNvCxnSpPr/>
          <p:nvPr/>
        </p:nvCxnSpPr>
        <p:spPr>
          <a:xfrm>
            <a:off x="5514975" y="1924050"/>
            <a:ext cx="1466850" cy="11906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구부러진 연결선 15"/>
          <p:cNvCxnSpPr>
            <a:endCxn id="11" idx="2"/>
          </p:cNvCxnSpPr>
          <p:nvPr/>
        </p:nvCxnSpPr>
        <p:spPr>
          <a:xfrm flipV="1">
            <a:off x="4876800" y="4242325"/>
            <a:ext cx="5305173" cy="11417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86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749" y="955239"/>
            <a:ext cx="4052888" cy="2892649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3" name="직사각형 12"/>
          <p:cNvSpPr/>
          <p:nvPr/>
        </p:nvSpPr>
        <p:spPr>
          <a:xfrm>
            <a:off x="657225" y="955239"/>
            <a:ext cx="6096000" cy="2585323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total = 0;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=1;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&lt;=100;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++){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total +=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부터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까지 더한 값은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? </a:t>
            </a:r>
            <a:r>
              <a:rPr lang="en-US" altLang="ko-KR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total</a:t>
            </a:r>
            <a:r>
              <a:rPr lang="en-US" altLang="ko-KR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267700" y="3966442"/>
            <a:ext cx="3611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WebContent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</a:t>
            </a:r>
            <a:r>
              <a:rPr lang="en-US" altLang="ko-KR" dirty="0" err="1" smtClean="0">
                <a:sym typeface="Wingdings" panose="05000000000000000000" pitchFamily="2" charset="2"/>
              </a:rPr>
              <a:t>newJSP</a:t>
            </a:r>
            <a:r>
              <a:rPr lang="en-US" altLang="ko-KR" dirty="0" smtClean="0">
                <a:sym typeface="Wingdings" panose="05000000000000000000" pitchFamily="2" charset="2"/>
              </a:rPr>
              <a:t> file</a:t>
            </a:r>
            <a:endParaRPr 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4114800"/>
            <a:ext cx="3676650" cy="1333500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346589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200" b="1" dirty="0" smtClean="0">
                <a:solidFill>
                  <a:prstClr val="black"/>
                </a:solidFill>
              </a:rPr>
              <a:t>JSP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의 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Servlet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변환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최초 </a:t>
            </a:r>
            <a:r>
              <a:rPr lang="ko-KR" altLang="en-US" dirty="0" err="1"/>
              <a:t>클라언트</a:t>
            </a:r>
            <a:r>
              <a:rPr lang="ko-KR" altLang="en-US" dirty="0"/>
              <a:t> 요청이 </a:t>
            </a:r>
            <a:r>
              <a:rPr lang="ko-KR" altLang="en-US" dirty="0" err="1"/>
              <a:t>들어올때</a:t>
            </a:r>
            <a:r>
              <a:rPr lang="ko-KR" altLang="en-US" dirty="0"/>
              <a:t> </a:t>
            </a:r>
            <a:r>
              <a:rPr lang="ko-KR" altLang="en-US" dirty="0" err="1"/>
              <a:t>서블릿으로</a:t>
            </a:r>
            <a:r>
              <a:rPr lang="ko-KR" altLang="en-US" dirty="0"/>
              <a:t> </a:t>
            </a:r>
            <a:r>
              <a:rPr lang="ko-KR" altLang="en-US" dirty="0" smtClean="0"/>
              <a:t>변환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JSP</a:t>
            </a:r>
            <a:r>
              <a:rPr lang="ko-KR" altLang="en-US" dirty="0" smtClean="0"/>
              <a:t>에 작성한 소스코드는 변환 </a:t>
            </a:r>
            <a:r>
              <a:rPr lang="en-US" altLang="ko-KR" dirty="0" smtClean="0"/>
              <a:t>servlet</a:t>
            </a:r>
            <a:r>
              <a:rPr lang="ko-KR" altLang="en-US" dirty="0" smtClean="0"/>
              <a:t>의 </a:t>
            </a:r>
            <a:r>
              <a:rPr lang="en-US" altLang="ko-KR" dirty="0"/>
              <a:t>_</a:t>
            </a:r>
            <a:r>
              <a:rPr lang="en-US" altLang="ko-KR" dirty="0" err="1" smtClean="0"/>
              <a:t>jspService</a:t>
            </a:r>
            <a:r>
              <a:rPr lang="en-US" altLang="ko-KR" dirty="0" smtClean="0"/>
              <a:t> </a:t>
            </a:r>
            <a:r>
              <a:rPr lang="ko-KR" altLang="en-US" dirty="0" smtClean="0"/>
              <a:t>메서드에 들어감</a:t>
            </a:r>
            <a:endParaRPr lang="en-US" altLang="ko-KR" sz="1400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500" dirty="0" smtClean="0">
                <a:solidFill>
                  <a:srgbClr val="0000FF"/>
                </a:solidFill>
              </a:rPr>
              <a:t>C</a:t>
            </a:r>
            <a:r>
              <a:rPr lang="en-US" altLang="ko-KR" sz="1500" dirty="0">
                <a:solidFill>
                  <a:srgbClr val="0000FF"/>
                </a:solidFill>
              </a:rPr>
              <a:t>:\Users\user\apache-tomcat-9.0.19</a:t>
            </a:r>
            <a:r>
              <a:rPr lang="en-US" altLang="ko-KR" sz="1500" dirty="0">
                <a:solidFill>
                  <a:prstClr val="black"/>
                </a:solidFill>
              </a:rPr>
              <a:t>\apache-tomcat-9.0.19\work\Catalina\localhost\</a:t>
            </a:r>
            <a:r>
              <a:rPr lang="en-US" altLang="ko-KR" sz="1500" dirty="0">
                <a:solidFill>
                  <a:srgbClr val="0000FF"/>
                </a:solidFill>
              </a:rPr>
              <a:t>JSPExam</a:t>
            </a:r>
            <a:r>
              <a:rPr lang="en-US" altLang="ko-KR" sz="1500" dirty="0">
                <a:solidFill>
                  <a:prstClr val="black"/>
                </a:solidFill>
              </a:rPr>
              <a:t>\org\apache\jsp</a:t>
            </a: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1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0057" y="738350"/>
            <a:ext cx="5287768" cy="5740119"/>
          </a:xfrm>
        </p:spPr>
        <p:txBody>
          <a:bodyPr>
            <a:normAutofit/>
          </a:bodyPr>
          <a:lstStyle/>
          <a:p>
            <a:r>
              <a:rPr lang="ko-KR" altLang="en-US" sz="2000" dirty="0" err="1"/>
              <a:t>스크립틀릿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Scriptlet</a:t>
            </a:r>
            <a:r>
              <a:rPr lang="en-US" altLang="ko-KR" sz="2000" dirty="0" smtClean="0"/>
              <a:t>)</a:t>
            </a:r>
          </a:p>
          <a:p>
            <a:pPr lvl="1"/>
            <a:r>
              <a:rPr lang="ko-KR" altLang="en-US" sz="1800" dirty="0" err="1"/>
              <a:t>스크립틀릿은</a:t>
            </a:r>
            <a:r>
              <a:rPr lang="ko-KR" altLang="en-US" sz="1800" dirty="0"/>
              <a:t> </a:t>
            </a:r>
            <a:r>
              <a:rPr lang="ko-KR" altLang="en-US" sz="1800" dirty="0">
                <a:solidFill>
                  <a:srgbClr val="0000FF"/>
                </a:solidFill>
              </a:rPr>
              <a:t>모두 </a:t>
            </a:r>
            <a:r>
              <a:rPr lang="en-US" altLang="ko-KR" sz="1800" dirty="0">
                <a:solidFill>
                  <a:srgbClr val="0000FF"/>
                </a:solidFill>
              </a:rPr>
              <a:t>_</a:t>
            </a:r>
            <a:r>
              <a:rPr lang="en-US" altLang="ko-KR" sz="1800" dirty="0" err="1">
                <a:solidFill>
                  <a:srgbClr val="0000FF"/>
                </a:solidFill>
              </a:rPr>
              <a:t>jspService</a:t>
            </a:r>
            <a:r>
              <a:rPr lang="en-US" altLang="ko-KR" sz="1800" dirty="0">
                <a:solidFill>
                  <a:srgbClr val="0000FF"/>
                </a:solidFill>
              </a:rPr>
              <a:t> </a:t>
            </a:r>
            <a:r>
              <a:rPr lang="ko-KR" altLang="en-US" sz="1800" dirty="0">
                <a:solidFill>
                  <a:srgbClr val="0000FF"/>
                </a:solidFill>
              </a:rPr>
              <a:t>메서드 안에 들어가는 명령문으로 </a:t>
            </a:r>
            <a:r>
              <a:rPr lang="ko-KR" altLang="en-US" sz="1800" dirty="0" smtClean="0">
                <a:solidFill>
                  <a:srgbClr val="0000FF"/>
                </a:solidFill>
              </a:rPr>
              <a:t>변환</a:t>
            </a:r>
            <a:endParaRPr lang="en-US" altLang="ko-KR" sz="1800" dirty="0" smtClean="0">
              <a:solidFill>
                <a:srgbClr val="0000FF"/>
              </a:solidFill>
            </a:endParaRPr>
          </a:p>
          <a:p>
            <a:pPr marL="1200150" lvl="2" indent="-285750"/>
            <a:r>
              <a:rPr lang="ko-KR" altLang="en-US" dirty="0" err="1"/>
              <a:t>스크립틀릿</a:t>
            </a:r>
            <a:r>
              <a:rPr lang="ko-KR" altLang="en-US" dirty="0"/>
              <a:t> 안에서 선언한 변수는 </a:t>
            </a:r>
            <a:r>
              <a:rPr lang="en-US" altLang="ko-KR" dirty="0"/>
              <a:t>_</a:t>
            </a:r>
            <a:r>
              <a:rPr lang="en-US" altLang="ko-KR" dirty="0" err="1"/>
              <a:t>jspService</a:t>
            </a:r>
            <a:r>
              <a:rPr lang="en-US" altLang="ko-KR" dirty="0"/>
              <a:t>() </a:t>
            </a:r>
            <a:r>
              <a:rPr lang="ko-KR" altLang="en-US" dirty="0"/>
              <a:t>메서드의 </a:t>
            </a:r>
            <a:r>
              <a:rPr lang="ko-KR" altLang="en-US" dirty="0">
                <a:solidFill>
                  <a:srgbClr val="0000FF"/>
                </a:solidFill>
              </a:rPr>
              <a:t>지역 변수</a:t>
            </a:r>
            <a:endParaRPr lang="en-US" altLang="ko-KR" dirty="0">
              <a:solidFill>
                <a:srgbClr val="0000FF"/>
              </a:solidFill>
            </a:endParaRPr>
          </a:p>
          <a:p>
            <a:pPr marL="1200150" lvl="2" indent="-285750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다른 </a:t>
            </a:r>
            <a:r>
              <a:rPr lang="ko-KR" altLang="en-US" dirty="0" err="1"/>
              <a:t>스크립틀릿</a:t>
            </a:r>
            <a:r>
              <a:rPr lang="ko-KR" altLang="en-US" dirty="0"/>
              <a:t> 안에 사용 가능</a:t>
            </a:r>
          </a:p>
          <a:p>
            <a:pPr lvl="2"/>
            <a:endParaRPr lang="en-US" altLang="ko-KR" sz="1400" dirty="0" smtClean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ko-KR" altLang="en-US" sz="1800" dirty="0"/>
          </a:p>
          <a:p>
            <a:pPr lvl="1"/>
            <a:endParaRPr lang="en-US" altLang="ko-KR" sz="1600" dirty="0" smtClean="0"/>
          </a:p>
          <a:p>
            <a:endParaRPr lang="en-US" altLang="ko-KR" dirty="0" smtClean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  <p:sp>
        <p:nvSpPr>
          <p:cNvPr id="13" name="직사각형 12"/>
          <p:cNvSpPr/>
          <p:nvPr/>
        </p:nvSpPr>
        <p:spPr>
          <a:xfrm>
            <a:off x="5788352" y="1062332"/>
            <a:ext cx="6088187" cy="55861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&lt;%@page </a:t>
            </a:r>
            <a:r>
              <a:rPr lang="en-US" altLang="ko-KR" sz="17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contentType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= “text/html; charset=</a:t>
            </a:r>
            <a:r>
              <a:rPr lang="en-US" altLang="ko-KR" sz="17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euc-kr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 ”%&gt;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&lt;HTML&gt;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         &lt;HEAD&gt;&lt;TITLE&gt;1</a:t>
            </a:r>
            <a:r>
              <a:rPr lang="ko-KR" altLang="en-US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부터 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200</a:t>
            </a:r>
            <a:r>
              <a:rPr lang="ko-KR" altLang="en-US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까지의 합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&lt;/TITLE&gt;&lt;/HEAD&gt;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         &lt;BODY&gt;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&lt;%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       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sz="1700" b="1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total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= 0;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        for (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= 1;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&lt;= 100;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++)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               total +=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1</a:t>
            </a:r>
            <a:r>
              <a:rPr lang="ko-KR" altLang="en-US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부터 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100</a:t>
            </a:r>
            <a:r>
              <a:rPr lang="ko-KR" altLang="en-US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까지의 합 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= &lt;%= total %&gt; 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&lt;%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        for (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int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= 101;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&lt;= 200;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++)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               </a:t>
            </a:r>
            <a:r>
              <a:rPr lang="en-US" altLang="ko-KR" sz="1700" b="1" dirty="0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total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+= </a:t>
            </a:r>
            <a:r>
              <a:rPr lang="en-US" altLang="ko-KR" sz="1700" b="1" dirty="0" err="1">
                <a:latin typeface="Times New Roman" pitchFamily="18" charset="0"/>
                <a:ea typeface="Arial Unicode MS"/>
                <a:cs typeface="Times New Roman" pitchFamily="18" charset="0"/>
              </a:rPr>
              <a:t>cnt</a:t>
            </a: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b="1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%&gt;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                  1</a:t>
            </a:r>
            <a:r>
              <a:rPr lang="ko-KR" altLang="en-US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부터 </a:t>
            </a: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200</a:t>
            </a:r>
            <a:r>
              <a:rPr lang="ko-KR" altLang="en-US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까지의 합 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= &lt;%= total </a:t>
            </a: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%&gt;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	</a:t>
            </a: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&lt;BR</a:t>
            </a: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	</a:t>
            </a: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&lt;%</a:t>
            </a:r>
            <a:r>
              <a:rPr lang="en-US" altLang="ko-KR" sz="17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out.print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(total);%&gt;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	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	 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        </a:t>
            </a: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&lt;/BODY&gt;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700" dirty="0">
                <a:latin typeface="Times New Roman" pitchFamily="18" charset="0"/>
                <a:ea typeface="Arial Unicode MS"/>
                <a:cs typeface="Times New Roman" pitchFamily="18" charset="0"/>
              </a:rPr>
              <a:t> &lt;/HTML&gt;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7541" y="638622"/>
            <a:ext cx="420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여러 개의 </a:t>
            </a:r>
            <a:r>
              <a:rPr lang="ko-KR" altLang="en-US" dirty="0" err="1" smtClean="0"/>
              <a:t>스크립틀릿이</a:t>
            </a:r>
            <a:r>
              <a:rPr lang="ko-KR" altLang="en-US" dirty="0" smtClean="0"/>
              <a:t> 있는 </a:t>
            </a:r>
            <a:r>
              <a:rPr lang="en-US" altLang="ko-KR" dirty="0" smtClean="0"/>
              <a:t>JSP </a:t>
            </a:r>
            <a:r>
              <a:rPr lang="ko-KR" altLang="en-US" dirty="0" smtClean="0"/>
              <a:t>페이지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9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 err="1">
                <a:solidFill>
                  <a:prstClr val="black"/>
                </a:solidFill>
              </a:rPr>
              <a:t>선언부</a:t>
            </a:r>
            <a:r>
              <a:rPr lang="en-US" altLang="ko-KR" sz="2000" b="1" dirty="0">
                <a:solidFill>
                  <a:prstClr val="black"/>
                </a:solidFill>
              </a:rPr>
              <a:t>(declaration)</a:t>
            </a:r>
          </a:p>
          <a:p>
            <a:pPr lvl="1"/>
            <a:r>
              <a:rPr lang="en-US" altLang="ko-KR" sz="1800" dirty="0">
                <a:solidFill>
                  <a:srgbClr val="0000FF"/>
                </a:solidFill>
              </a:rPr>
              <a:t>&lt;%</a:t>
            </a:r>
            <a:r>
              <a:rPr lang="en-US" altLang="ko-KR" sz="1800" dirty="0">
                <a:solidFill>
                  <a:srgbClr val="FF0000"/>
                </a:solidFill>
              </a:rPr>
              <a:t>!</a:t>
            </a:r>
            <a:r>
              <a:rPr lang="ko-KR" altLang="en-US" sz="1800" dirty="0"/>
              <a:t> 자바 코드 </a:t>
            </a:r>
            <a:r>
              <a:rPr lang="en-US" altLang="ko-KR" sz="1800" dirty="0" smtClean="0">
                <a:solidFill>
                  <a:srgbClr val="0000FF"/>
                </a:solidFill>
              </a:rPr>
              <a:t>%&gt;  </a:t>
            </a:r>
            <a:r>
              <a:rPr lang="en-US" altLang="ko-KR" sz="1800" dirty="0" smtClean="0"/>
              <a:t>: </a:t>
            </a:r>
            <a:r>
              <a:rPr lang="en-US" altLang="ko-KR" sz="1800" dirty="0"/>
              <a:t>JSP</a:t>
            </a:r>
            <a:r>
              <a:rPr lang="ko-KR" altLang="en-US" sz="1800" dirty="0"/>
              <a:t>페이지 내에서 변수나 메서드를 선언할 때 </a:t>
            </a:r>
            <a:r>
              <a:rPr lang="ko-KR" altLang="en-US" sz="1800" dirty="0" smtClean="0"/>
              <a:t>사용</a:t>
            </a:r>
            <a:endParaRPr lang="en-US" altLang="ko-KR" sz="1800" dirty="0"/>
          </a:p>
          <a:p>
            <a:pPr lvl="1"/>
            <a:r>
              <a:rPr lang="ko-KR" altLang="en-US" sz="1800" dirty="0"/>
              <a:t>어디에 선언해도 상관 없음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여기서 선언된 변수나 메서드는 전역의 의미로 사용</a:t>
            </a:r>
            <a:r>
              <a:rPr lang="en-US" altLang="ko-KR" sz="1800" dirty="0" smtClean="0"/>
              <a:t>(</a:t>
            </a:r>
            <a:r>
              <a:rPr lang="ko-KR" altLang="en-US" sz="1800" dirty="0"/>
              <a:t>변환된 </a:t>
            </a:r>
            <a:r>
              <a:rPr lang="en-US" altLang="ko-KR" sz="1800" dirty="0"/>
              <a:t>servlet</a:t>
            </a:r>
            <a:r>
              <a:rPr lang="ko-KR" altLang="en-US" sz="1800" dirty="0"/>
              <a:t>코드 </a:t>
            </a:r>
            <a:r>
              <a:rPr lang="ko-KR" altLang="en-US" sz="1800" dirty="0" smtClean="0"/>
              <a:t>확인</a:t>
            </a:r>
            <a:r>
              <a:rPr lang="en-US" altLang="ko-KR" sz="1800" dirty="0" smtClean="0"/>
              <a:t>)</a:t>
            </a:r>
            <a:endParaRPr lang="en-US" altLang="ko-KR" sz="1800" dirty="0"/>
          </a:p>
          <a:p>
            <a:pPr lvl="1"/>
            <a:r>
              <a:rPr lang="ko-KR" altLang="en-US" sz="1800" dirty="0"/>
              <a:t>선언된 변수 또는 메서드는 </a:t>
            </a:r>
            <a:r>
              <a:rPr lang="en-US" altLang="ko-KR" sz="1800" b="1" dirty="0">
                <a:latin typeface="Times New Roman" pitchFamily="18" charset="0"/>
                <a:cs typeface="Times New Roman" pitchFamily="18" charset="0"/>
              </a:rPr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페이지로부터 변환된 </a:t>
            </a:r>
            <a:r>
              <a:rPr lang="ko-KR" altLang="en-US" sz="1800" dirty="0" err="1"/>
              <a:t>서블릿</a:t>
            </a:r>
            <a:r>
              <a:rPr lang="ko-KR" altLang="en-US" sz="1800" dirty="0"/>
              <a:t> </a:t>
            </a:r>
            <a:r>
              <a:rPr lang="ko-KR" altLang="en-US" sz="1800" dirty="0">
                <a:solidFill>
                  <a:srgbClr val="0000FF"/>
                </a:solidFill>
              </a:rPr>
              <a:t>클래스의 멤버</a:t>
            </a:r>
            <a:r>
              <a:rPr lang="ko-KR" altLang="en-US" sz="1800" dirty="0"/>
              <a:t>가 되므로 </a:t>
            </a:r>
            <a:r>
              <a:rPr lang="en-US" altLang="ko-KR" sz="1800" b="1" dirty="0">
                <a:latin typeface="Times New Roman" pitchFamily="18" charset="0"/>
                <a:cs typeface="Times New Roman" pitchFamily="18" charset="0"/>
              </a:rPr>
              <a:t>final</a:t>
            </a:r>
            <a:r>
              <a:rPr lang="en-US" altLang="ko-KR" sz="1800" dirty="0"/>
              <a:t>, </a:t>
            </a:r>
            <a:r>
              <a:rPr lang="en-US" altLang="ko-KR" sz="1800" b="1" dirty="0">
                <a:latin typeface="Times New Roman" pitchFamily="18" charset="0"/>
                <a:cs typeface="Times New Roman" pitchFamily="18" charset="0"/>
              </a:rPr>
              <a:t>public, private, protected, static </a:t>
            </a:r>
            <a:r>
              <a:rPr lang="ko-KR" altLang="en-US" sz="1800" dirty="0"/>
              <a:t>등의 키워드</a:t>
            </a:r>
            <a:r>
              <a:rPr lang="en-US" altLang="ko-KR" sz="1800" dirty="0"/>
              <a:t> </a:t>
            </a:r>
            <a:r>
              <a:rPr lang="ko-KR" altLang="en-US" sz="1800" dirty="0"/>
              <a:t>사용 가능</a:t>
            </a:r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7057548" y="3167202"/>
            <a:ext cx="4623382" cy="24006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</a:t>
            </a:r>
            <a:r>
              <a:rPr lang="en-US" altLang="ko-KR" sz="2000" dirty="0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!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final static </a:t>
            </a:r>
            <a:r>
              <a:rPr lang="en-US" altLang="ko-KR" sz="2000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MAX=10000; </a:t>
            </a: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  <a:endParaRPr lang="en-US" altLang="ko-KR" sz="2000" dirty="0">
              <a:solidFill>
                <a:srgbClr val="0000FF"/>
              </a:solidFill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</a:t>
            </a:r>
            <a:r>
              <a:rPr lang="en-US" altLang="ko-KR" sz="2000" dirty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!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private 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add(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num1, 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num2)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</a:t>
            </a:r>
            <a:r>
              <a:rPr lang="en-US" altLang="ko-KR" sz="2000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sum = num1 + num2;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return sum;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  <a:endParaRPr lang="en-US" altLang="ko-KR" sz="2000" dirty="0">
              <a:solidFill>
                <a:srgbClr val="0000FF"/>
              </a:solidFill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057548" y="5619571"/>
            <a:ext cx="3822786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과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의 합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add(1,2)</a:t>
            </a:r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870393" y="4080720"/>
            <a:ext cx="1660248" cy="27709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2263862" y="5172459"/>
            <a:ext cx="1660248" cy="277091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1298789" y="3497138"/>
            <a:ext cx="3812262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exam_jsp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&lt;%</a:t>
            </a:r>
            <a:r>
              <a:rPr lang="en-US" b="1" dirty="0" smtClean="0">
                <a:solidFill>
                  <a:srgbClr val="0000FF"/>
                </a:solidFill>
                <a:latin typeface="Consolas" panose="020B0609020204030204" pitchFamily="49" charset="0"/>
              </a:rPr>
              <a:t>!</a:t>
            </a:r>
            <a:r>
              <a:rPr lang="ko-KR" alt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자바 코드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%&gt;	</a:t>
            </a:r>
          </a:p>
          <a:p>
            <a:pPr lvl="1"/>
            <a:endParaRPr lang="en-US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lvl="1"/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jspService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endParaRPr lang="en-US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&lt;%</a:t>
            </a:r>
            <a:r>
              <a:rPr lang="ko-KR" alt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자바 </a:t>
            </a:r>
            <a:r>
              <a:rPr lang="ko-KR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코드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%&gt;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dirty="0"/>
              <a:t>	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85528" y="40300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선언부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485528" y="54127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스크립틀릿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3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 smtClean="0">
                <a:solidFill>
                  <a:prstClr val="black"/>
                </a:solidFill>
              </a:rPr>
              <a:t>참고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err="1"/>
              <a:t>jsp</a:t>
            </a:r>
            <a:r>
              <a:rPr lang="en-US" altLang="ko-KR" sz="1800" dirty="0"/>
              <a:t>(servlet) </a:t>
            </a:r>
            <a:r>
              <a:rPr lang="ko-KR" altLang="en-US" sz="1800" dirty="0"/>
              <a:t>사용시 </a:t>
            </a:r>
            <a:r>
              <a:rPr lang="en-US" altLang="ko-KR" sz="1800" dirty="0" smtClean="0"/>
              <a:t>member </a:t>
            </a:r>
            <a:r>
              <a:rPr lang="ko-KR" altLang="en-US" sz="1800" dirty="0" smtClean="0"/>
              <a:t>변수는 </a:t>
            </a:r>
            <a:r>
              <a:rPr lang="ko-KR" altLang="en-US" sz="1800" u="sng" dirty="0"/>
              <a:t>모든 요청이 공통으로 사용해야 하는 </a:t>
            </a:r>
            <a:r>
              <a:rPr lang="en-US" altLang="ko-KR" sz="1800" u="sng" dirty="0"/>
              <a:t>read only </a:t>
            </a:r>
            <a:r>
              <a:rPr lang="ko-KR" altLang="en-US" sz="1800" u="sng" dirty="0"/>
              <a:t>성격의 데이터만</a:t>
            </a:r>
            <a:r>
              <a:rPr lang="ko-KR" altLang="en-US" sz="1800" dirty="0"/>
              <a:t>을 사용하는 것이 안전</a:t>
            </a:r>
            <a:endParaRPr lang="en-US" altLang="ko-KR" sz="1800" dirty="0"/>
          </a:p>
          <a:p>
            <a:pPr lvl="1"/>
            <a:r>
              <a:rPr lang="ko-KR" altLang="en-US" sz="1800" dirty="0"/>
              <a:t>가급적 모든 변수는 </a:t>
            </a:r>
            <a:r>
              <a:rPr lang="en-US" altLang="ko-KR" sz="1800" dirty="0"/>
              <a:t>local </a:t>
            </a:r>
            <a:r>
              <a:rPr lang="ko-KR" altLang="en-US" sz="1800" dirty="0"/>
              <a:t>변수로 사용하는 것을 권장</a:t>
            </a:r>
            <a:endParaRPr lang="en-US" altLang="ko-KR" sz="1800" dirty="0"/>
          </a:p>
          <a:p>
            <a:pPr lvl="1"/>
            <a:endParaRPr lang="en-US" altLang="ko-KR" sz="14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603" y="3371645"/>
            <a:ext cx="5354709" cy="273133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35326" y="3023808"/>
            <a:ext cx="5832648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public class </a:t>
            </a:r>
            <a:r>
              <a:rPr lang="en-US" altLang="ko-KR" kern="0" dirty="0" err="1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MyServlet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extends </a:t>
            </a:r>
            <a:r>
              <a:rPr lang="en-US" altLang="ko-KR" kern="0" dirty="0" err="1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HttpServlet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{</a:t>
            </a:r>
            <a: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/>
            </a:r>
            <a:b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100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	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String </a:t>
            </a:r>
            <a:r>
              <a:rPr lang="en-US" altLang="ko-KR" kern="0" dirty="0" err="1">
                <a:solidFill>
                  <a:srgbClr val="FF0000"/>
                </a:solidFill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str</a:t>
            </a:r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;</a:t>
            </a:r>
            <a: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/>
            </a:r>
            <a:b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100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	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protected </a:t>
            </a:r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void </a:t>
            </a:r>
            <a:r>
              <a:rPr lang="en-US" altLang="ko-KR" kern="0" dirty="0" err="1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doGet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(...){ </a:t>
            </a:r>
            <a: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/>
            </a:r>
            <a:b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ko-KR" altLang="en-US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  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	    </a:t>
            </a:r>
            <a:r>
              <a:rPr lang="en-US" altLang="ko-KR" kern="0" dirty="0" err="1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int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number =0;</a:t>
            </a:r>
            <a: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/>
            </a:r>
            <a:br>
              <a:rPr lang="ko-KR" altLang="en-US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</a:br>
            <a:r>
              <a:rPr lang="en-US" altLang="ko-KR" sz="1100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sz="1100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                         </a:t>
            </a:r>
            <a:r>
              <a:rPr lang="en-US" altLang="ko-KR" kern="0" dirty="0" err="1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str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= </a:t>
            </a:r>
            <a:r>
              <a:rPr lang="en-US" altLang="ko-KR" kern="0" dirty="0" err="1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req.getParameter</a:t>
            </a:r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("</a:t>
            </a:r>
            <a:r>
              <a:rPr lang="en-US" altLang="ko-KR" kern="0" dirty="0" err="1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sendmessage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");</a:t>
            </a:r>
          </a:p>
          <a:p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	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   ...	</a:t>
            </a:r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  </a:t>
            </a:r>
            <a:endParaRPr lang="en-US" altLang="ko-KR" kern="0" dirty="0" smtClean="0">
              <a:latin typeface="1076019_9"/>
              <a:ea typeface="굴림" panose="020B0600000101010101" pitchFamily="50" charset="-127"/>
              <a:cs typeface="굴림" panose="020B0600000101010101" pitchFamily="50" charset="-127"/>
            </a:endParaRPr>
          </a:p>
          <a:p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              ...</a:t>
            </a:r>
          </a:p>
          <a:p>
            <a:r>
              <a:rPr lang="en-US" dirty="0" smtClean="0">
                <a:latin typeface="1076019_9"/>
              </a:rPr>
              <a:t>               </a:t>
            </a:r>
            <a:r>
              <a:rPr lang="en-US" dirty="0" err="1" smtClean="0">
                <a:latin typeface="1076019_9"/>
              </a:rPr>
              <a:t>out.println</a:t>
            </a:r>
            <a:r>
              <a:rPr lang="en-US" dirty="0" smtClean="0">
                <a:latin typeface="1076019_9"/>
              </a:rPr>
              <a:t>(</a:t>
            </a:r>
            <a:r>
              <a:rPr lang="en-US" dirty="0" err="1" smtClean="0">
                <a:solidFill>
                  <a:srgbClr val="FF0000"/>
                </a:solidFill>
                <a:latin typeface="1076019_9"/>
              </a:rPr>
              <a:t>str</a:t>
            </a:r>
            <a:r>
              <a:rPr lang="en-US" dirty="0" smtClean="0">
                <a:latin typeface="1076019_9"/>
              </a:rPr>
              <a:t>)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    </a:t>
            </a:r>
          </a:p>
          <a:p>
            <a:r>
              <a:rPr lang="en-US" altLang="ko-KR" kern="0" dirty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	</a:t>
            </a:r>
            <a:r>
              <a:rPr lang="en-US" altLang="ko-KR" kern="0" dirty="0" smtClean="0">
                <a:latin typeface="1076019_9"/>
                <a:ea typeface="굴림" panose="020B0600000101010101" pitchFamily="50" charset="-127"/>
                <a:cs typeface="굴림" panose="020B0600000101010101" pitchFamily="50" charset="-127"/>
              </a:rPr>
              <a:t>}</a:t>
            </a:r>
          </a:p>
          <a:p>
            <a:r>
              <a:rPr lang="en-US" altLang="ko-KR" dirty="0" smtClean="0">
                <a:latin typeface="1076019_9"/>
              </a:rPr>
              <a:t>}</a:t>
            </a:r>
            <a:endParaRPr lang="en-US" dirty="0">
              <a:latin typeface="1076019_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64563" y="2977105"/>
            <a:ext cx="2651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멀티 </a:t>
            </a:r>
            <a:r>
              <a:rPr lang="ko-KR" altLang="en-US" dirty="0" err="1" smtClean="0"/>
              <a:t>쓰레드로</a:t>
            </a:r>
            <a:r>
              <a:rPr lang="ko-KR" altLang="en-US" dirty="0" smtClean="0"/>
              <a:t> 요청 처리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08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>
                <a:solidFill>
                  <a:prstClr val="black"/>
                </a:solidFill>
              </a:rPr>
              <a:t>지시자</a:t>
            </a:r>
            <a:r>
              <a:rPr lang="en-US" altLang="ko-KR" sz="2000" b="1" dirty="0">
                <a:solidFill>
                  <a:prstClr val="black"/>
                </a:solidFill>
              </a:rPr>
              <a:t>(Directive)</a:t>
            </a:r>
          </a:p>
          <a:p>
            <a:pPr lvl="1"/>
            <a:r>
              <a:rPr lang="ko-KR" altLang="en-US" sz="1800" dirty="0"/>
              <a:t>웹 컨테이너가 </a:t>
            </a:r>
            <a:r>
              <a:rPr lang="en-US" altLang="ko-KR" sz="1800" dirty="0"/>
              <a:t>JSP </a:t>
            </a:r>
            <a:r>
              <a:rPr lang="ko-KR" altLang="en-US" sz="1800" dirty="0"/>
              <a:t>페이지를 </a:t>
            </a:r>
            <a:r>
              <a:rPr lang="ko-KR" altLang="en-US" sz="1800" dirty="0" err="1"/>
              <a:t>서블릿</a:t>
            </a:r>
            <a:r>
              <a:rPr lang="ko-KR" altLang="en-US" sz="1800" dirty="0"/>
              <a:t> 클래스로 변환할 때 필요한 정보들을 정의</a:t>
            </a:r>
            <a:endParaRPr lang="en-US" altLang="ko-KR" sz="1800" dirty="0"/>
          </a:p>
          <a:p>
            <a:pPr lvl="1"/>
            <a:r>
              <a:rPr lang="en-US" altLang="ko-KR" sz="1800" dirty="0">
                <a:solidFill>
                  <a:srgbClr val="0000FF"/>
                </a:solidFill>
              </a:rPr>
              <a:t>&lt;%@</a:t>
            </a:r>
            <a:r>
              <a:rPr lang="en-US" altLang="ko-KR" sz="1800" dirty="0"/>
              <a:t> </a:t>
            </a:r>
            <a:r>
              <a:rPr lang="ko-KR" altLang="en-US" sz="1800" dirty="0"/>
              <a:t>지시자 </a:t>
            </a:r>
            <a:r>
              <a:rPr lang="en-US" altLang="ko-KR" sz="1800" dirty="0">
                <a:solidFill>
                  <a:srgbClr val="0000FF"/>
                </a:solidFill>
              </a:rPr>
              <a:t>%&gt;</a:t>
            </a:r>
            <a:endParaRPr lang="ko-KR" altLang="en-US" sz="1800" dirty="0">
              <a:solidFill>
                <a:srgbClr val="0000FF"/>
              </a:solidFill>
            </a:endParaRPr>
          </a:p>
          <a:p>
            <a:pPr lvl="1"/>
            <a:r>
              <a:rPr lang="ko-KR" altLang="en-US" sz="1800" dirty="0" err="1"/>
              <a:t>지시자의</a:t>
            </a:r>
            <a:r>
              <a:rPr lang="ko-KR" altLang="en-US" sz="1800" dirty="0"/>
              <a:t> 종류</a:t>
            </a:r>
          </a:p>
          <a:p>
            <a:pPr lvl="2"/>
            <a:r>
              <a:rPr lang="en-US" altLang="ko-KR" dirty="0"/>
              <a:t>page </a:t>
            </a:r>
            <a:r>
              <a:rPr lang="ko-KR" altLang="en-US" dirty="0"/>
              <a:t>지시자</a:t>
            </a:r>
          </a:p>
          <a:p>
            <a:pPr lvl="2"/>
            <a:r>
              <a:rPr lang="en-US" altLang="ko-KR" dirty="0"/>
              <a:t>include </a:t>
            </a:r>
            <a:r>
              <a:rPr lang="ko-KR" altLang="en-US" dirty="0"/>
              <a:t>지시자</a:t>
            </a:r>
          </a:p>
          <a:p>
            <a:pPr lvl="2"/>
            <a:r>
              <a:rPr lang="en-US" altLang="ko-KR" dirty="0" err="1"/>
              <a:t>taglib</a:t>
            </a:r>
            <a:r>
              <a:rPr lang="en-US" altLang="ko-KR" dirty="0"/>
              <a:t> </a:t>
            </a:r>
            <a:r>
              <a:rPr lang="ko-KR" altLang="en-US" dirty="0" smtClean="0"/>
              <a:t>지시자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지시자 </a:t>
            </a:r>
            <a:r>
              <a:rPr lang="ko-KR" altLang="en-US" sz="1800" dirty="0"/>
              <a:t>이름 다음에는 여러 가지 속성이 올 수 있음</a:t>
            </a:r>
            <a:endParaRPr lang="en-US" altLang="ko-KR" sz="1800" dirty="0"/>
          </a:p>
          <a:p>
            <a:pPr lvl="1"/>
            <a:r>
              <a:rPr lang="ko-KR" altLang="en-US" sz="1800" dirty="0"/>
              <a:t>웹 브라우저의 요청에 의해 동적으로 실행되는 부분이 </a:t>
            </a:r>
            <a:r>
              <a:rPr lang="ko-KR" altLang="en-US" sz="1800" dirty="0" smtClean="0"/>
              <a:t>아님</a:t>
            </a:r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451" y="119225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solidFill>
                  <a:prstClr val="black"/>
                </a:solidFill>
              </a:rPr>
              <a:t>Page 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지시자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/>
              <a:t>JSP </a:t>
            </a:r>
            <a:r>
              <a:rPr lang="ko-KR" altLang="en-US" sz="1800" dirty="0"/>
              <a:t>페이지 전체에 적용되는 정보를 기술하기 위해 </a:t>
            </a:r>
            <a:r>
              <a:rPr lang="ko-KR" altLang="en-US" sz="1800" dirty="0" smtClean="0"/>
              <a:t>사용 </a:t>
            </a:r>
            <a:r>
              <a:rPr lang="en-US" altLang="ko-KR" sz="1800" dirty="0" smtClean="0">
                <a:sym typeface="Wingdings" panose="05000000000000000000" pitchFamily="2" charset="2"/>
              </a:rPr>
              <a:t> </a:t>
            </a:r>
            <a:r>
              <a:rPr lang="en-US" altLang="ko-KR" sz="1800" dirty="0">
                <a:cs typeface="Times New Roman" pitchFamily="18" charset="0"/>
              </a:rPr>
              <a:t>&lt;%@page </a:t>
            </a:r>
            <a:r>
              <a:rPr lang="ko-KR" altLang="en-US" sz="1800" dirty="0" smtClean="0">
                <a:cs typeface="Times New Roman" pitchFamily="18" charset="0"/>
              </a:rPr>
              <a:t>속성</a:t>
            </a:r>
            <a:r>
              <a:rPr lang="en-US" altLang="ko-KR" sz="1800" dirty="0" smtClean="0">
                <a:cs typeface="Times New Roman" pitchFamily="18" charset="0"/>
              </a:rPr>
              <a:t> </a:t>
            </a:r>
            <a:r>
              <a:rPr lang="ko-KR" altLang="en-US" sz="1800" dirty="0" smtClean="0">
                <a:cs typeface="Times New Roman" pitchFamily="18" charset="0"/>
              </a:rPr>
              <a:t>목록 </a:t>
            </a:r>
            <a:r>
              <a:rPr lang="en-US" altLang="ko-KR" sz="1800" dirty="0">
                <a:cs typeface="Times New Roman" pitchFamily="18" charset="0"/>
              </a:rPr>
              <a:t>%&gt;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  <p:graphicFrame>
        <p:nvGraphicFramePr>
          <p:cNvPr id="6" name="Group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51741"/>
              </p:ext>
            </p:extLst>
          </p:nvPr>
        </p:nvGraphicFramePr>
        <p:xfrm>
          <a:off x="1114425" y="1110078"/>
          <a:ext cx="10039350" cy="54380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201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8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속성 이름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HY견고딕" pitchFamily="18" charset="-127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기술하는 정보</a:t>
                      </a: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속성의 역할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HY견고딕" pitchFamily="18" charset="-127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contentType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페이지가 생성하는 문서의 종류와 그 문서를 웹 브라우저로 전송할 때 사용되는 </a:t>
                      </a: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인코딩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타입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import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스크립팅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요소 안에서 사용할 자바 클래스와 인터페이스를 </a:t>
                      </a: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임포트하기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위해 사용하는 속성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buffer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출력 버퍼의 크기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autoFlush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출력 버퍼가 모두 찼을 때의 동작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isThreadSafe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페이지가 싱글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스레드 모드로 작동하도록 만들기 위해 필요한 속성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session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페이지의 세션 참여 여부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errorPage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에러를 처리할 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페이지의 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URL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isErrorPage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에러를 처리하는 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페이지인지 여부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isELIgnored</a:t>
                      </a:r>
                      <a:endParaRPr kumimoji="0" lang="ko-KR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익스프레션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언어의 무시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처리 여부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pageEncoding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페이지의 </a:t>
                      </a: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인코딩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타입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info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페이지에 대한 설명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extends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페이지로부터 생성되는 </a:t>
                      </a: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서블릿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클래스의 </a:t>
                      </a: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슈퍼클래스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9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language</a:t>
                      </a:r>
                      <a:endParaRPr kumimoji="0" lang="ko-KR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스크립팅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요소 안에서 사용할 프로그래밍 언어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. 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현재는 ‘ 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java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’라는 값만 지정할 수 있음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9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deferredSyntaxAllowedAsLiteral</a:t>
                      </a:r>
                      <a:endParaRPr kumimoji="0" lang="ko-KR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익스프레션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언어의 예약 문자열인 ‘ </a:t>
                      </a:r>
                      <a:r>
                        <a:rPr kumimoji="0" lang="en-US" altLang="ko-KR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#{</a:t>
                      </a: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’를 사용했을 때의 에러 발생 여부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97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trimDirectiveWhitespaces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지시자 바로 다음에 있는 공백 문자를 제거하기 위해 사용하는 속성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92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 smtClean="0">
                <a:solidFill>
                  <a:prstClr val="black"/>
                </a:solidFill>
              </a:rPr>
              <a:t>페이지 지시자</a:t>
            </a:r>
            <a:r>
              <a:rPr lang="en-US" altLang="ko-KR" sz="2000" b="1" dirty="0">
                <a:solidFill>
                  <a:prstClr val="black"/>
                </a:solidFill>
              </a:rPr>
              <a:t>(Directive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)</a:t>
            </a:r>
          </a:p>
          <a:p>
            <a:endParaRPr lang="en-US" altLang="ko-KR" sz="2000" b="1" dirty="0">
              <a:solidFill>
                <a:prstClr val="black"/>
              </a:solidFill>
            </a:endParaRPr>
          </a:p>
          <a:p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Import </a:t>
            </a:r>
            <a:r>
              <a:rPr lang="ko-KR" altLang="en-US" sz="1800" dirty="0" smtClean="0">
                <a:solidFill>
                  <a:prstClr val="black"/>
                </a:solidFill>
              </a:rPr>
              <a:t>속성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자바의 </a:t>
            </a:r>
            <a:r>
              <a:rPr lang="en-US" altLang="ko-KR" sz="1800" dirty="0">
                <a:cs typeface="Times New Roman" pitchFamily="18" charset="0"/>
              </a:rPr>
              <a:t>import </a:t>
            </a:r>
            <a:r>
              <a:rPr lang="ko-KR" altLang="en-US" sz="1800" dirty="0">
                <a:cs typeface="Times New Roman" pitchFamily="18" charset="0"/>
              </a:rPr>
              <a:t>문과 마찬가지로 </a:t>
            </a:r>
            <a:r>
              <a:rPr lang="ko-KR" altLang="en-US" sz="1800" dirty="0">
                <a:solidFill>
                  <a:srgbClr val="0000FF"/>
                </a:solidFill>
                <a:cs typeface="Times New Roman" pitchFamily="18" charset="0"/>
              </a:rPr>
              <a:t>다른 패키지에 속하는 클래스나 인터페이스를 </a:t>
            </a:r>
            <a:r>
              <a:rPr lang="en-US" altLang="ko-KR" sz="1800" dirty="0">
                <a:solidFill>
                  <a:srgbClr val="0000FF"/>
                </a:solidFill>
                <a:cs typeface="Times New Roman" pitchFamily="18" charset="0"/>
              </a:rPr>
              <a:t>import</a:t>
            </a:r>
            <a:r>
              <a:rPr lang="ko-KR" altLang="en-US" sz="1800" dirty="0">
                <a:cs typeface="Times New Roman" pitchFamily="18" charset="0"/>
              </a:rPr>
              <a:t>하는 역할</a:t>
            </a:r>
            <a:endParaRPr lang="en-US" altLang="ko-KR" sz="1800" dirty="0">
              <a:cs typeface="Times New Roman" pitchFamily="18" charset="0"/>
            </a:endParaRPr>
          </a:p>
          <a:p>
            <a:pPr lvl="1"/>
            <a:endParaRPr lang="en-US" altLang="ko-KR" sz="16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600" b="1" dirty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800100" y="1300460"/>
            <a:ext cx="10322252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&lt;%@ 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page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language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"java" </a:t>
            </a:r>
            <a:r>
              <a:rPr lang="en-US" i="1" dirty="0" err="1">
                <a:solidFill>
                  <a:srgbClr val="7F007F"/>
                </a:solidFill>
                <a:latin typeface="Consolas" panose="020B0609020204030204" pitchFamily="49" charset="0"/>
              </a:rPr>
              <a:t>contentType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"text/html; charset=EUC-KR"</a:t>
            </a:r>
          </a:p>
          <a:p>
            <a:r>
              <a:rPr lang="en-US" dirty="0" err="1">
                <a:solidFill>
                  <a:srgbClr val="7F007F"/>
                </a:solidFill>
                <a:latin typeface="Consolas" panose="020B0609020204030204" pitchFamily="49" charset="0"/>
              </a:rPr>
              <a:t>pageEncoding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"EUC-KR"</a:t>
            </a:r>
            <a:r>
              <a:rPr lang="en-US" i="1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89509" y="3203880"/>
            <a:ext cx="67504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import=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sz="2000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java.util.GregorianCalendar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"%&gt;</a:t>
            </a:r>
            <a:endParaRPr lang="en-US" altLang="ko-KR" sz="2000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476478" y="3801409"/>
            <a:ext cx="395172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import=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sz="2000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java.util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.*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 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71253" y="4439145"/>
            <a:ext cx="676875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import=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sz="2000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java.util.ArrayList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, java.io.* </a:t>
            </a:r>
            <a:r>
              <a:rPr lang="en-US" altLang="ko-KR" sz="2000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 </a:t>
            </a:r>
            <a:r>
              <a:rPr lang="en-US" altLang="ko-KR" sz="2000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986" y="5246514"/>
            <a:ext cx="805323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일반적으로 사용하는 </a:t>
            </a:r>
            <a:r>
              <a:rPr lang="en-US" altLang="ko-KR" dirty="0" smtClean="0"/>
              <a:t>server</a:t>
            </a:r>
            <a:r>
              <a:rPr lang="ko-KR" altLang="en-US" dirty="0" smtClean="0"/>
              <a:t>프로그래밍 모델인 </a:t>
            </a:r>
            <a:r>
              <a:rPr lang="en-US" altLang="ko-KR" dirty="0" smtClean="0"/>
              <a:t>MVC </a:t>
            </a:r>
            <a:r>
              <a:rPr lang="ko-KR" altLang="en-US" dirty="0" smtClean="0"/>
              <a:t>패턴을 기반으로 구현하면</a:t>
            </a:r>
            <a:endParaRPr lang="en-US" altLang="ko-KR" dirty="0" smtClean="0"/>
          </a:p>
          <a:p>
            <a:r>
              <a:rPr lang="en-US" dirty="0" smtClean="0"/>
              <a:t>JSP</a:t>
            </a:r>
            <a:r>
              <a:rPr lang="ko-KR" altLang="en-US" dirty="0" smtClean="0"/>
              <a:t>는 자바 연산을 제외한 오직 보여주는 역할만을 수행하므로 </a:t>
            </a:r>
            <a:endParaRPr lang="en-US" altLang="ko-KR" dirty="0" smtClean="0"/>
          </a:p>
          <a:p>
            <a:r>
              <a:rPr lang="en-US" dirty="0" smtClean="0"/>
              <a:t>import</a:t>
            </a:r>
            <a:r>
              <a:rPr lang="ko-KR" altLang="en-US" dirty="0" smtClean="0"/>
              <a:t>속성을 많이 사용하지 않음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20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 smtClean="0">
                <a:solidFill>
                  <a:prstClr val="black"/>
                </a:solidFill>
              </a:rPr>
              <a:t>페이지 지시자</a:t>
            </a:r>
            <a:r>
              <a:rPr lang="en-US" altLang="ko-KR" sz="2000" b="1" dirty="0">
                <a:solidFill>
                  <a:prstClr val="black"/>
                </a:solidFill>
              </a:rPr>
              <a:t>(Directive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Import </a:t>
            </a:r>
            <a:r>
              <a:rPr lang="ko-KR" altLang="en-US" sz="1800" dirty="0" smtClean="0">
                <a:solidFill>
                  <a:prstClr val="black"/>
                </a:solidFill>
              </a:rPr>
              <a:t>속성 예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6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600" b="1" dirty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1132032" y="1861964"/>
            <a:ext cx="7200800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contentType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"text/html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; charset=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euc-kr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"%&gt;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import=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java.util.GregorianCalendar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"%&gt;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&lt;HTML&gt;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&lt;HEAD&gt;&lt;TITLE&gt;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날짜와 시각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&lt;/TITLE&gt;&lt;/HEAD&gt;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&lt;BODY&gt;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&lt;%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 </a:t>
            </a:r>
            <a:r>
              <a:rPr lang="en-US" altLang="ko-KR" b="1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GregorianCalendar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now = new </a:t>
            </a:r>
            <a:r>
              <a:rPr lang="en-US" altLang="ko-KR" b="1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GregorianCalendar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 String date =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String.format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 "%TF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",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now);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         String time =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String.format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"%TT",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now);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오늘의 날짜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 &lt;%= date %&gt; 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       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현재의 시각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: &lt;%= time %&gt; 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 &lt;/BODY&gt;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&lt;/HTML&gt;</a:t>
            </a:r>
          </a:p>
        </p:txBody>
      </p:sp>
    </p:spTree>
    <p:extLst>
      <p:ext uri="{BB962C8B-B14F-4D97-AF65-F5344CB8AC3E}">
        <p14:creationId xmlns:p14="http://schemas.microsoft.com/office/powerpoint/2010/main" val="9762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1" y="757400"/>
            <a:ext cx="5934696" cy="5740119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solidFill>
                  <a:prstClr val="black"/>
                </a:solidFill>
              </a:rPr>
              <a:t>include </a:t>
            </a:r>
            <a:r>
              <a:rPr lang="ko-KR" altLang="en-US" sz="2000" b="1" dirty="0">
                <a:solidFill>
                  <a:prstClr val="black"/>
                </a:solidFill>
              </a:rPr>
              <a:t>지시자</a:t>
            </a:r>
          </a:p>
          <a:p>
            <a:pPr lvl="1"/>
            <a:r>
              <a:rPr lang="ko-KR" altLang="en-US" sz="1800" dirty="0"/>
              <a:t>다른 </a:t>
            </a:r>
            <a:r>
              <a:rPr lang="en-US" altLang="ko-KR" sz="1800" dirty="0">
                <a:cs typeface="Times New Roman" pitchFamily="18" charset="0"/>
              </a:rPr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 또는</a:t>
            </a:r>
            <a:r>
              <a:rPr lang="en-US" altLang="ko-KR" sz="1800" dirty="0"/>
              <a:t> </a:t>
            </a:r>
            <a:r>
              <a:rPr lang="en-US" altLang="ko-KR" sz="1800" dirty="0">
                <a:cs typeface="Times New Roman" pitchFamily="18" charset="0"/>
              </a:rPr>
              <a:t>HTML</a:t>
            </a:r>
            <a:r>
              <a:rPr lang="en-US" altLang="ko-KR" sz="1800" dirty="0"/>
              <a:t> </a:t>
            </a:r>
            <a:r>
              <a:rPr lang="ko-KR" altLang="en-US" sz="1800" dirty="0"/>
              <a:t>문서를 불러다가 현재 </a:t>
            </a:r>
            <a:r>
              <a:rPr lang="en-US" altLang="ko-KR" sz="1800" dirty="0">
                <a:cs typeface="Times New Roman" pitchFamily="18" charset="0"/>
              </a:rPr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페이지의 일부로 만들기 위해 사용</a:t>
            </a:r>
            <a:endParaRPr lang="en-US" altLang="ko-KR" sz="1800" dirty="0"/>
          </a:p>
          <a:p>
            <a:pPr lvl="1"/>
            <a:r>
              <a:rPr lang="en-US" altLang="ko-KR" sz="1800" dirty="0"/>
              <a:t>html</a:t>
            </a:r>
            <a:r>
              <a:rPr lang="ko-KR" altLang="en-US" sz="1800" dirty="0"/>
              <a:t>에서는 이러한 기능을 하는 것을 </a:t>
            </a:r>
            <a:r>
              <a:rPr lang="en-US" altLang="ko-KR" sz="1800" dirty="0"/>
              <a:t>iframe</a:t>
            </a:r>
            <a:r>
              <a:rPr lang="ko-KR" altLang="en-US" sz="1800" dirty="0"/>
              <a:t>이라고 함</a:t>
            </a:r>
            <a:endParaRPr lang="en-US" altLang="ko-KR" sz="1800" dirty="0"/>
          </a:p>
          <a:p>
            <a:pPr lvl="1"/>
            <a:r>
              <a:rPr lang="ko-KR" altLang="en-US" sz="1800" dirty="0"/>
              <a:t>불러올 대상은 </a:t>
            </a:r>
            <a:r>
              <a:rPr lang="en-US" altLang="ko-KR" sz="1800" dirty="0">
                <a:cs typeface="Times New Roman" pitchFamily="18" charset="0"/>
              </a:rPr>
              <a:t>file</a:t>
            </a:r>
            <a:r>
              <a:rPr lang="ko-KR" altLang="en-US" sz="1800" dirty="0"/>
              <a:t> 속성을 이용해서 지정할 수 있으며</a:t>
            </a:r>
            <a:r>
              <a:rPr lang="en-US" altLang="ko-KR" sz="1800" dirty="0"/>
              <a:t>, </a:t>
            </a:r>
            <a:r>
              <a:rPr lang="ko-KR" altLang="en-US" sz="1800" dirty="0"/>
              <a:t>이 속성값은 </a:t>
            </a:r>
            <a:r>
              <a:rPr lang="ko-KR" altLang="en-US" sz="1800" dirty="0" err="1"/>
              <a:t>지시자가</a:t>
            </a:r>
            <a:r>
              <a:rPr lang="ko-KR" altLang="en-US" sz="1800" dirty="0"/>
              <a:t> 속하는 </a:t>
            </a:r>
            <a:r>
              <a:rPr lang="en-US" altLang="ko-KR" sz="1800" dirty="0">
                <a:cs typeface="Times New Roman" pitchFamily="18" charset="0"/>
              </a:rPr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페이지를 기준으로 한 상대적인 </a:t>
            </a:r>
            <a:r>
              <a:rPr lang="en-US" altLang="ko-KR" sz="1800" dirty="0">
                <a:cs typeface="Times New Roman" pitchFamily="18" charset="0"/>
              </a:rPr>
              <a:t>URL</a:t>
            </a:r>
            <a:r>
              <a:rPr lang="ko-KR" altLang="en-US" sz="1800" dirty="0"/>
              <a:t>로 </a:t>
            </a:r>
            <a:r>
              <a:rPr lang="ko-KR" altLang="en-US" sz="1800" dirty="0" smtClean="0"/>
              <a:t>해석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주로 모든 페이지의 공통 파일인 </a:t>
            </a:r>
            <a:r>
              <a:rPr lang="en-US" altLang="ko-KR" sz="1800" dirty="0" smtClean="0"/>
              <a:t>header</a:t>
            </a:r>
            <a:r>
              <a:rPr lang="ko-KR" altLang="en-US" sz="1800" dirty="0" smtClean="0"/>
              <a:t>나 </a:t>
            </a:r>
            <a:r>
              <a:rPr lang="en-US" altLang="ko-KR" sz="1800" dirty="0" smtClean="0"/>
              <a:t>footer</a:t>
            </a:r>
            <a:r>
              <a:rPr lang="ko-KR" altLang="en-US" sz="1800" dirty="0" smtClean="0"/>
              <a:t>를 조립할 때 사용</a:t>
            </a:r>
            <a:endParaRPr lang="ko-KR" altLang="en-US" sz="1800" dirty="0"/>
          </a:p>
          <a:p>
            <a:pPr lvl="1"/>
            <a:endParaRPr lang="en-US" altLang="ko-KR" sz="16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600" b="1" dirty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6072572" y="1383577"/>
            <a:ext cx="6030416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&lt;%@page 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contentType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= “text/html; charset=</a:t>
            </a:r>
            <a:r>
              <a:rPr lang="en-US" altLang="ko-KR" dirty="0" err="1">
                <a:latin typeface="Times New Roman" pitchFamily="18" charset="0"/>
                <a:ea typeface="Arial Unicode MS"/>
                <a:cs typeface="Times New Roman" pitchFamily="18" charset="0"/>
              </a:rPr>
              <a:t>euc-kr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”%&gt;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&lt;HTML&gt;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&lt;HEAD&gt;&lt;TITLE&gt;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오늘의 메뉴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&lt;/TITLE&gt;&lt;/HEAD&gt;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&lt;BODY&gt;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&lt;H3&gt;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오늘의 메뉴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&lt;/H3&gt;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- 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삼계탕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- </a:t>
            </a:r>
            <a:r>
              <a:rPr lang="ko-KR" altLang="en-US" dirty="0" err="1">
                <a:latin typeface="Times New Roman" pitchFamily="18" charset="0"/>
                <a:ea typeface="Arial Unicode MS"/>
                <a:cs typeface="Times New Roman" pitchFamily="18" charset="0"/>
              </a:rPr>
              <a:t>돈까스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- </a:t>
            </a:r>
            <a:r>
              <a:rPr lang="ko-KR" altLang="en-US" dirty="0" err="1">
                <a:latin typeface="Times New Roman" pitchFamily="18" charset="0"/>
                <a:ea typeface="Arial Unicode MS"/>
                <a:cs typeface="Times New Roman" pitchFamily="18" charset="0"/>
              </a:rPr>
              <a:t>튀김국수</a:t>
            </a:r>
            <a:r>
              <a:rPr lang="ko-KR" altLang="en-US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&lt;BR&gt;&lt;BR&gt;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        &lt;%@include file= 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</a:t>
            </a:r>
            <a:r>
              <a:rPr lang="en-US" altLang="ko-KR" dirty="0" err="1" smtClean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Today.jsp</a:t>
            </a:r>
            <a:r>
              <a:rPr lang="en-US" altLang="ko-KR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"%&gt;</a:t>
            </a:r>
            <a:endParaRPr lang="en-US" altLang="ko-KR" dirty="0">
              <a:latin typeface="Times New Roman" pitchFamily="18" charset="0"/>
              <a:ea typeface="Arial Unicode MS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       &lt;/BODY&gt;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Arial Unicode MS"/>
                <a:cs typeface="Times New Roman" pitchFamily="18" charset="0"/>
              </a:rPr>
              <a:t> &lt;/HTML&gt;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118212" y="4802281"/>
            <a:ext cx="6984776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contentType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="text/html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;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charset=</a:t>
            </a:r>
            <a:r>
              <a:rPr lang="en-US" altLang="ko-KR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euc-kr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"%&gt;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&lt;%@page import="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java.util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.*"%&gt;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&lt;%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GregorianCalendar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now = new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GregorianCalendar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(); %&gt;</a:t>
            </a:r>
          </a:p>
          <a:p>
            <a:pPr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&lt;%=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String.format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("%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TY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년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%Tm</a:t>
            </a:r>
            <a:r>
              <a:rPr lang="ko-KR" altLang="en-US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월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%Td</a:t>
            </a:r>
            <a:r>
              <a:rPr lang="ko-KR" altLang="en-US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일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",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now, now, now) %&gt;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797436" y="4840356"/>
            <a:ext cx="1244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000FF"/>
                </a:solidFill>
                <a:latin typeface="휴먼매직체" pitchFamily="18" charset="-127"/>
                <a:ea typeface="휴먼매직체" pitchFamily="18" charset="-127"/>
              </a:rPr>
              <a:t>Today.jsp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30552" y="5105400"/>
            <a:ext cx="1555423" cy="3143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Header</a:t>
            </a:r>
            <a:endParaRPr 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30552" y="5419725"/>
            <a:ext cx="1555423" cy="466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페이지 </a:t>
            </a:r>
            <a:r>
              <a:rPr lang="en-US" altLang="ko-KR" dirty="0" smtClean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30552" y="5889188"/>
            <a:ext cx="1555423" cy="2897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Footer</a:t>
            </a:r>
            <a:endParaRPr 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2368877" y="5105400"/>
            <a:ext cx="1555423" cy="3143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Header</a:t>
            </a:r>
            <a:endParaRPr 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368877" y="5419725"/>
            <a:ext cx="1555423" cy="4667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페이지 </a:t>
            </a:r>
            <a:r>
              <a:rPr lang="en-US" altLang="ko-KR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368877" y="5889188"/>
            <a:ext cx="1555423" cy="2897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15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solidFill>
                  <a:prstClr val="black"/>
                </a:solidFill>
              </a:rPr>
              <a:t>JSP </a:t>
            </a:r>
            <a:r>
              <a:rPr lang="ko-KR" altLang="en-US" sz="2800" dirty="0">
                <a:solidFill>
                  <a:prstClr val="black"/>
                </a:solidFill>
              </a:rPr>
              <a:t>문법 요소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solidFill>
                  <a:prstClr val="black"/>
                </a:solidFill>
              </a:rPr>
              <a:t>JSP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의</a:t>
            </a:r>
            <a:r>
              <a:rPr lang="en-US" altLang="ko-KR" sz="2000" b="1" dirty="0" smtClean="0">
                <a:solidFill>
                  <a:prstClr val="black"/>
                </a:solidFill>
              </a:rPr>
              <a:t> </a:t>
            </a:r>
            <a:r>
              <a:rPr lang="en-US" altLang="ko-KR" sz="2000" b="1" dirty="0">
                <a:solidFill>
                  <a:prstClr val="black"/>
                </a:solidFill>
              </a:rPr>
              <a:t>URL</a:t>
            </a:r>
            <a:r>
              <a:rPr lang="ko-KR" altLang="en-US" sz="2000" b="1" dirty="0" err="1" smtClean="0">
                <a:solidFill>
                  <a:prstClr val="black"/>
                </a:solidFill>
              </a:rPr>
              <a:t>맵핑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err="1" smtClean="0">
                <a:solidFill>
                  <a:prstClr val="black"/>
                </a:solidFill>
              </a:rPr>
              <a:t>어노테이션으로는</a:t>
            </a:r>
            <a:r>
              <a:rPr lang="ko-KR" altLang="en-US" sz="1800" dirty="0" smtClean="0">
                <a:solidFill>
                  <a:prstClr val="black"/>
                </a:solidFill>
              </a:rPr>
              <a:t> 불가능하며 </a:t>
            </a:r>
            <a:r>
              <a:rPr lang="en-US" altLang="ko-KR" sz="1800" dirty="0" smtClean="0">
                <a:solidFill>
                  <a:prstClr val="black"/>
                </a:solidFill>
              </a:rPr>
              <a:t>web.xml</a:t>
            </a:r>
            <a:r>
              <a:rPr lang="ko-KR" altLang="en-US" sz="1800" dirty="0" smtClean="0">
                <a:solidFill>
                  <a:prstClr val="black"/>
                </a:solidFill>
              </a:rPr>
              <a:t>에 명시</a:t>
            </a:r>
            <a:endParaRPr lang="en-US" altLang="ko-KR" sz="16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600" b="1" dirty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1048570" y="5929356"/>
            <a:ext cx="6984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/ </a:t>
            </a:r>
            <a:r>
              <a:rPr lang="en-US" altLang="ko-KR" dirty="0" smtClean="0">
                <a:sym typeface="Wingdings" panose="05000000000000000000" pitchFamily="2" charset="2"/>
              </a:rPr>
              <a:t> </a:t>
            </a:r>
            <a:r>
              <a:rPr lang="en-US" altLang="ko-KR" dirty="0" smtClean="0"/>
              <a:t>WEB-INF</a:t>
            </a:r>
          </a:p>
          <a:p>
            <a:r>
              <a:rPr lang="ko-KR" altLang="en-US" dirty="0" smtClean="0"/>
              <a:t>파일 </a:t>
            </a:r>
            <a:r>
              <a:rPr lang="ko-KR" altLang="en-US" dirty="0"/>
              <a:t>아래에 존재한다면 추가로 디렉터리를 </a:t>
            </a:r>
            <a:r>
              <a:rPr lang="ko-KR" altLang="en-US" dirty="0" smtClean="0"/>
              <a:t>적어줘야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</a:t>
            </a:r>
            <a:endParaRPr 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090134" y="1817637"/>
            <a:ext cx="6096000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jsp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-file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exam.jsp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jsp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-file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exam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servlet-name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/exam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url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-pattern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servlet-mapping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9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400" dirty="0" smtClean="0"/>
              <a:t>JSP </a:t>
            </a:r>
            <a:r>
              <a:rPr lang="ko-KR" altLang="en-US" sz="4400" dirty="0" err="1" smtClean="0"/>
              <a:t>내장변수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>
                <a:solidFill>
                  <a:prstClr val="black"/>
                </a:solidFill>
              </a:rPr>
              <a:t>내장 변수</a:t>
            </a:r>
            <a:r>
              <a:rPr lang="en-US" altLang="ko-KR" sz="2000" b="1" dirty="0">
                <a:solidFill>
                  <a:prstClr val="black"/>
                </a:solidFill>
              </a:rPr>
              <a:t>(Implicit Variables) / </a:t>
            </a:r>
            <a:r>
              <a:rPr lang="ko-KR" altLang="en-US" sz="2000" b="1" dirty="0">
                <a:solidFill>
                  <a:prstClr val="black"/>
                </a:solidFill>
              </a:rPr>
              <a:t>내장 객체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>
                <a:cs typeface="Times New Roman" pitchFamily="18" charset="0"/>
              </a:rPr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 안에</a:t>
            </a:r>
            <a:r>
              <a:rPr lang="en-US" altLang="ko-KR" sz="1800" dirty="0"/>
              <a:t> </a:t>
            </a:r>
            <a:r>
              <a:rPr lang="ko-KR" altLang="en-US" sz="1800" dirty="0">
                <a:solidFill>
                  <a:srgbClr val="0000FF"/>
                </a:solidFill>
              </a:rPr>
              <a:t>선언을 하지 않고도 사용할 수 있는 </a:t>
            </a:r>
            <a:r>
              <a:rPr lang="ko-KR" altLang="en-US" sz="1800" dirty="0" smtClean="0">
                <a:solidFill>
                  <a:srgbClr val="0000FF"/>
                </a:solidFill>
              </a:rPr>
              <a:t>변수</a:t>
            </a:r>
            <a:endParaRPr lang="en-US" altLang="ko-KR" sz="1800" dirty="0" smtClean="0">
              <a:solidFill>
                <a:srgbClr val="0000FF"/>
              </a:solidFill>
            </a:endParaRPr>
          </a:p>
          <a:p>
            <a:pPr lvl="1"/>
            <a:r>
              <a:rPr lang="ko-KR" altLang="en-US" sz="1800" dirty="0" smtClean="0"/>
              <a:t>미래에 </a:t>
            </a:r>
            <a:r>
              <a:rPr lang="en-US" altLang="ko-KR" sz="1800" dirty="0" smtClean="0"/>
              <a:t>Servlet</a:t>
            </a:r>
            <a:r>
              <a:rPr lang="ko-KR" altLang="en-US" sz="1800" dirty="0" smtClean="0"/>
              <a:t>으로 변환될 때 자동적으로 만들어질 것을 앎으로 사용</a:t>
            </a:r>
            <a:endParaRPr lang="en-US" altLang="ko-KR" sz="1600" dirty="0" smtClean="0"/>
          </a:p>
          <a:p>
            <a:pPr lvl="1"/>
            <a:endParaRPr lang="en-US" altLang="ko-KR" sz="1600" b="1" dirty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18</a:t>
            </a:fld>
            <a:endParaRPr lang="en-US"/>
          </a:p>
        </p:txBody>
      </p:sp>
      <p:graphicFrame>
        <p:nvGraphicFramePr>
          <p:cNvPr id="8" name="Group 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943265"/>
              </p:ext>
            </p:extLst>
          </p:nvPr>
        </p:nvGraphicFramePr>
        <p:xfrm>
          <a:off x="1076325" y="2251274"/>
          <a:ext cx="9036495" cy="42367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7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3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5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변수 이름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제공하는 기능</a:t>
                      </a: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변수의 역할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변수 타입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request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doGet</a:t>
                      </a: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/Post 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메서드의 첫 번째 </a:t>
                      </a:r>
                      <a:r>
                        <a:rPr kumimoji="0" lang="ko-KR" alt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파라미터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javax.servlet.http.</a:t>
                      </a: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HttpServletRequest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response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doGet</a:t>
                      </a: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/Post 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메서드의 두 번째 </a:t>
                      </a:r>
                      <a:r>
                        <a:rPr kumimoji="0" lang="ko-KR" alt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파라미터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javax.servlet.http.</a:t>
                      </a: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HttpServletResponse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out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웹 브라우저로 </a:t>
                      </a: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HTML 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코드를 출력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javax.servlet.jsp.</a:t>
                      </a: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JspWriter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application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페이지가 속하는 웹 애플리케이션에 관련된 기능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javax.servlet.</a:t>
                      </a: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ServletContext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config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페이지의 구성 정보를 가져오는 기능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javax.servlet.</a:t>
                      </a: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</a:rPr>
                        <a:t>ServletConfig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7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pageContext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JSP 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페이지 범위 내에서 사용할 수 있는 데이터 저장 기능 등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javax.servlet.jsp.PageContext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session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세션에 관련된 기능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javax.servlet.http.HttpSession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exception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익셉션</a:t>
                      </a:r>
                      <a:r>
                        <a:rPr kumimoji="0" lang="ko-KR" alt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객체</a:t>
                      </a:r>
                      <a:endParaRPr kumimoji="0" lang="ko-KR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java.lang.Throwable</a:t>
                      </a:r>
                      <a:endParaRPr kumimoji="0" lang="ko-KR" alt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Arial Unicode MS"/>
                        <a:cs typeface="Times New Roman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93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solidFill>
                  <a:prstClr val="black"/>
                </a:solidFill>
              </a:rPr>
              <a:t>request</a:t>
            </a:r>
            <a:r>
              <a:rPr lang="ko-KR" altLang="en-US" sz="2000" b="1" dirty="0" smtClean="0">
                <a:solidFill>
                  <a:prstClr val="black"/>
                </a:solidFill>
              </a:rPr>
              <a:t>객체 사용 예제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19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647699" y="1301665"/>
            <a:ext cx="11315701" cy="4801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&lt;%@ 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page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language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"java" </a:t>
            </a:r>
            <a:r>
              <a:rPr lang="en-US" i="1" dirty="0" err="1">
                <a:solidFill>
                  <a:srgbClr val="7F007F"/>
                </a:solidFill>
                <a:latin typeface="Consolas" panose="020B0609020204030204" pitchFamily="49" charset="0"/>
              </a:rPr>
              <a:t>contentType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"text/html; charset=EUC-KR"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7F007F"/>
                </a:solidFill>
                <a:latin typeface="Consolas" panose="020B0609020204030204" pitchFamily="49" charset="0"/>
              </a:rPr>
              <a:t>pageEncoding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"EUC-KR"</a:t>
            </a:r>
            <a:r>
              <a:rPr lang="en-US" i="1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 id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request.getParameter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"id"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&lt;!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DOCTYPE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html&gt;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meta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charset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"EUC-KR"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Insert title here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안녕하세요</a:t>
            </a:r>
            <a:r>
              <a:rPr lang="en-US" altLang="ko-KR" dirty="0">
                <a:solidFill>
                  <a:srgbClr val="BF5F3F"/>
                </a:solidFill>
                <a:latin typeface="Consolas" panose="020B0609020204030204" pitchFamily="49" charset="0"/>
              </a:rPr>
              <a:t>&lt;%=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en-US" altLang="ko-KR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님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altLang="ko-KR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안녕하세요</a:t>
            </a:r>
            <a:r>
              <a:rPr lang="en-US" altLang="ko-KR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out.print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(id);</a:t>
            </a:r>
            <a:r>
              <a:rPr lang="en-US" altLang="ko-KR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님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724" y="4523183"/>
            <a:ext cx="4410075" cy="13144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106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solidFill>
                  <a:prstClr val="black"/>
                </a:solidFill>
              </a:rPr>
              <a:t>out </a:t>
            </a:r>
            <a:r>
              <a:rPr lang="ko-KR" altLang="en-US" sz="2000" b="1" dirty="0">
                <a:solidFill>
                  <a:prstClr val="black"/>
                </a:solidFill>
              </a:rPr>
              <a:t>내장 변수</a:t>
            </a:r>
          </a:p>
          <a:p>
            <a:pPr lvl="1"/>
            <a:r>
              <a:rPr lang="en-US" altLang="ko-KR" sz="1800" dirty="0">
                <a:cs typeface="Times New Roman" pitchFamily="18" charset="0"/>
              </a:rPr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페이지에서는 </a:t>
            </a:r>
            <a:r>
              <a:rPr lang="en-US" altLang="ko-KR" sz="1800" dirty="0">
                <a:cs typeface="Times New Roman" pitchFamily="18" charset="0"/>
              </a:rPr>
              <a:t>HTML</a:t>
            </a:r>
            <a:r>
              <a:rPr lang="en-US" altLang="ko-KR" sz="1800" dirty="0"/>
              <a:t> </a:t>
            </a:r>
            <a:r>
              <a:rPr lang="ko-KR" altLang="en-US" sz="1800" dirty="0"/>
              <a:t>코드와 표현식만 가지고도 원하는 </a:t>
            </a:r>
            <a:r>
              <a:rPr lang="en-US" altLang="ko-KR" sz="1800" dirty="0">
                <a:cs typeface="Times New Roman" pitchFamily="18" charset="0"/>
              </a:rPr>
              <a:t>HTML</a:t>
            </a:r>
            <a:r>
              <a:rPr lang="en-US" altLang="ko-KR" sz="1800" dirty="0"/>
              <a:t> </a:t>
            </a:r>
            <a:r>
              <a:rPr lang="ko-KR" altLang="en-US" sz="1800" dirty="0"/>
              <a:t>문서를 만들어서 출력 가능</a:t>
            </a:r>
            <a:endParaRPr lang="en-US" altLang="ko-KR" sz="1800" dirty="0"/>
          </a:p>
          <a:p>
            <a:pPr lvl="1"/>
            <a:r>
              <a:rPr lang="ko-KR" altLang="en-US" sz="1800" dirty="0" err="1"/>
              <a:t>서블릿</a:t>
            </a:r>
            <a:r>
              <a:rPr lang="ko-KR" altLang="en-US" sz="1800" dirty="0"/>
              <a:t> 클래스에서 </a:t>
            </a:r>
            <a:r>
              <a:rPr lang="en-US" altLang="ko-KR" sz="1800" dirty="0" err="1"/>
              <a:t>getWriter</a:t>
            </a:r>
            <a:r>
              <a:rPr lang="en-US" altLang="ko-KR" sz="1800" dirty="0"/>
              <a:t> </a:t>
            </a:r>
            <a:r>
              <a:rPr lang="ko-KR" altLang="en-US" sz="1800" dirty="0"/>
              <a:t>메서드를 호출해서 얻은 </a:t>
            </a:r>
            <a:r>
              <a:rPr lang="en-US" altLang="ko-KR" sz="1800" dirty="0" err="1"/>
              <a:t>PrintWriter</a:t>
            </a:r>
            <a:r>
              <a:rPr lang="en-US" altLang="ko-KR" sz="1800" dirty="0"/>
              <a:t> </a:t>
            </a:r>
            <a:r>
              <a:rPr lang="ko-KR" altLang="en-US" sz="1800" dirty="0"/>
              <a:t>객체와 </a:t>
            </a:r>
            <a:r>
              <a:rPr lang="ko-KR" altLang="en-US" sz="1800" dirty="0">
                <a:solidFill>
                  <a:srgbClr val="0000FF"/>
                </a:solidFill>
              </a:rPr>
              <a:t>비슷한</a:t>
            </a:r>
            <a:r>
              <a:rPr lang="ko-KR" altLang="en-US" sz="1800" dirty="0"/>
              <a:t> 역할</a:t>
            </a:r>
            <a:r>
              <a:rPr lang="en-US" altLang="ko-KR" sz="1800" dirty="0"/>
              <a:t>(</a:t>
            </a:r>
            <a:r>
              <a:rPr lang="ko-KR" altLang="en-US" sz="1800" dirty="0"/>
              <a:t>똑같지 않음</a:t>
            </a:r>
            <a:r>
              <a:rPr lang="en-US" altLang="ko-KR" sz="1800" dirty="0"/>
              <a:t>, out</a:t>
            </a:r>
            <a:r>
              <a:rPr lang="ko-KR" altLang="en-US" sz="1800" dirty="0"/>
              <a:t>은 </a:t>
            </a:r>
            <a:r>
              <a:rPr lang="en-US" altLang="ko-KR" sz="1800" dirty="0" err="1"/>
              <a:t>JspWriter</a:t>
            </a:r>
            <a:r>
              <a:rPr lang="en-US" altLang="ko-KR" sz="1800" dirty="0"/>
              <a:t> </a:t>
            </a:r>
            <a:r>
              <a:rPr lang="ko-KR" altLang="en-US" sz="1800" dirty="0"/>
              <a:t>타입</a:t>
            </a:r>
            <a:r>
              <a:rPr lang="en-US" altLang="ko-KR" sz="1800" dirty="0"/>
              <a:t>, ex) </a:t>
            </a:r>
            <a:r>
              <a:rPr lang="en-US" altLang="ko-KR" sz="1800" dirty="0" err="1"/>
              <a:t>printf</a:t>
            </a:r>
            <a:r>
              <a:rPr lang="ko-KR" altLang="en-US" sz="1800" dirty="0"/>
              <a:t>가 없음</a:t>
            </a:r>
            <a:r>
              <a:rPr lang="en-US" altLang="ko-KR" sz="1800" dirty="0"/>
              <a:t>)</a:t>
            </a:r>
          </a:p>
          <a:p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20</a:t>
            </a:fld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1134294" y="4144421"/>
            <a:ext cx="4572000" cy="13388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&lt;%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for (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= 1;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&lt;= 10;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++) { </a:t>
            </a:r>
            <a:r>
              <a:rPr lang="en-US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</a:p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&lt;%=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%&gt; &lt;BR&gt;</a:t>
            </a:r>
          </a:p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 smtClean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 </a:t>
            </a:r>
            <a:r>
              <a:rPr lang="en-US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841783" y="3889031"/>
            <a:ext cx="3600400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&lt;%</a:t>
            </a:r>
          </a:p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for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= 1;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&lt;= 10;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++)</a:t>
            </a:r>
          </a:p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     </a:t>
            </a:r>
            <a:r>
              <a:rPr lang="en-US" altLang="ko-KR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out.println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</a:t>
            </a:r>
            <a:r>
              <a:rPr lang="en-US" altLang="ko-KR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+ “&lt;BR&gt; ”);</a:t>
            </a:r>
          </a:p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666040" y="5558447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복잡한 구조</a:t>
            </a:r>
            <a:endParaRPr lang="en-US" dirty="0"/>
          </a:p>
        </p:txBody>
      </p:sp>
      <p:sp>
        <p:nvSpPr>
          <p:cNvPr id="4" name="직사각형 3"/>
          <p:cNvSpPr/>
          <p:nvPr/>
        </p:nvSpPr>
        <p:spPr>
          <a:xfrm>
            <a:off x="-8121" y="5922286"/>
            <a:ext cx="71093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ko-KR" altLang="en-US" dirty="0" err="1">
                <a:solidFill>
                  <a:srgbClr val="0000FF"/>
                </a:solidFill>
              </a:rPr>
              <a:t>스크립틀릿</a:t>
            </a:r>
            <a:r>
              <a:rPr lang="ko-KR" altLang="en-US" dirty="0">
                <a:solidFill>
                  <a:srgbClr val="0000FF"/>
                </a:solidFill>
              </a:rPr>
              <a:t> 안에 표현식</a:t>
            </a:r>
            <a:r>
              <a:rPr lang="en-US" altLang="ko-KR" dirty="0">
                <a:solidFill>
                  <a:srgbClr val="0000FF"/>
                </a:solidFill>
              </a:rPr>
              <a:t>(html</a:t>
            </a:r>
            <a:r>
              <a:rPr lang="ko-KR" altLang="en-US" dirty="0">
                <a:solidFill>
                  <a:srgbClr val="0000FF"/>
                </a:solidFill>
              </a:rPr>
              <a:t>문서에 보여지는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  <a:r>
              <a:rPr lang="ko-KR" altLang="en-US" dirty="0">
                <a:solidFill>
                  <a:srgbClr val="0000FF"/>
                </a:solidFill>
              </a:rPr>
              <a:t>을 사용할 수 없음</a:t>
            </a:r>
            <a:endParaRPr lang="en-US" altLang="ko-KR" dirty="0">
              <a:solidFill>
                <a:srgbClr val="0000FF"/>
              </a:solidFill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6300600" y="4518383"/>
            <a:ext cx="847898" cy="391392"/>
          </a:xfrm>
          <a:prstGeom prst="right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1134294" y="2772347"/>
            <a:ext cx="4572000" cy="13388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&lt;%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for (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int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= 1;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&lt;= 10; 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++)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{</a:t>
            </a:r>
            <a:endParaRPr lang="en-US" altLang="ko-KR" dirty="0"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	</a:t>
            </a:r>
            <a:r>
              <a:rPr lang="en-US" altLang="ko-KR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cnt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&lt;BR&gt;</a:t>
            </a:r>
            <a:endParaRPr lang="en-US" altLang="ko-KR" dirty="0">
              <a:solidFill>
                <a:srgbClr val="FF0000"/>
              </a:solidFill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lvl="0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} </a:t>
            </a:r>
            <a:r>
              <a:rPr lang="en-US" altLang="ko-KR" dirty="0">
                <a:solidFill>
                  <a:srgbClr val="0000FF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%&gt;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156" y="2841596"/>
            <a:ext cx="57699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</a:t>
            </a:r>
          </a:p>
          <a:p>
            <a:pPr algn="ctr"/>
            <a:r>
              <a:rPr lang="en-US" dirty="0" smtClean="0"/>
              <a:t>2</a:t>
            </a:r>
          </a:p>
          <a:p>
            <a:pPr algn="ctr"/>
            <a:r>
              <a:rPr lang="en-US" dirty="0" smtClean="0"/>
              <a:t>..</a:t>
            </a:r>
          </a:p>
          <a:p>
            <a:pPr algn="ctr"/>
            <a:r>
              <a:rPr lang="en-US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 smtClean="0">
                <a:cs typeface="Times New Roman" pitchFamily="18" charset="0"/>
              </a:rPr>
              <a:t>out</a:t>
            </a:r>
            <a:r>
              <a:rPr lang="ko-KR" altLang="en-US" sz="2000" b="1" dirty="0" smtClean="0">
                <a:cs typeface="Times New Roman" pitchFamily="18" charset="0"/>
              </a:rPr>
              <a:t>변수는</a:t>
            </a:r>
            <a:r>
              <a:rPr lang="ko-KR" altLang="en-US" sz="2000" b="1" dirty="0" smtClean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ko-KR" altLang="en-US" sz="2000" b="1" dirty="0">
                <a:solidFill>
                  <a:srgbClr val="0000FF"/>
                </a:solidFill>
                <a:cs typeface="Times New Roman" pitchFamily="18" charset="0"/>
              </a:rPr>
              <a:t>출력 버퍼</a:t>
            </a:r>
            <a:r>
              <a:rPr lang="ko-KR" altLang="en-US" sz="2000" b="1" dirty="0">
                <a:cs typeface="Times New Roman" pitchFamily="18" charset="0"/>
              </a:rPr>
              <a:t>를 </a:t>
            </a:r>
            <a:r>
              <a:rPr lang="ko-KR" altLang="en-US" sz="2000" b="1" dirty="0" smtClean="0">
                <a:cs typeface="Times New Roman" pitchFamily="18" charset="0"/>
              </a:rPr>
              <a:t>사용</a:t>
            </a:r>
            <a:endParaRPr lang="en-US" altLang="ko-KR" sz="2000" b="1" dirty="0"/>
          </a:p>
          <a:p>
            <a:pPr lvl="1"/>
            <a:r>
              <a:rPr lang="en-US" altLang="ko-KR" sz="1800" dirty="0">
                <a:cs typeface="Times New Roman" pitchFamily="18" charset="0"/>
              </a:rPr>
              <a:t>JSP </a:t>
            </a:r>
            <a:r>
              <a:rPr lang="ko-KR" altLang="en-US" sz="1800" dirty="0">
                <a:cs typeface="Times New Roman" pitchFamily="18" charset="0"/>
              </a:rPr>
              <a:t>페이지는 생성된 결과를 곧바로 브라우저에 전송하지 않고 출력버퍼라고 불리는 곳에 임시로 출력 결과를 저장했다 한번에 웹 브라우저로 전송</a:t>
            </a:r>
            <a:endParaRPr lang="en-US" altLang="ko-KR" sz="1800" dirty="0">
              <a:cs typeface="Times New Roman" pitchFamily="18" charset="0"/>
            </a:endParaRPr>
          </a:p>
          <a:p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21</a:t>
            </a:fld>
            <a:endParaRPr 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724" y="2357790"/>
            <a:ext cx="4673351" cy="3998560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6173912" y="2655513"/>
            <a:ext cx="5867400" cy="2122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a typeface="Arial Unicode MS"/>
              </a:rPr>
              <a:t>작은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데이터를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여러</a:t>
            </a:r>
            <a:r>
              <a:rPr lang="en-US" dirty="0">
                <a:ea typeface="Arial Unicode MS"/>
              </a:rPr>
              <a:t> 번 </a:t>
            </a:r>
            <a:r>
              <a:rPr lang="en-US" dirty="0" err="1">
                <a:ea typeface="Arial Unicode MS"/>
              </a:rPr>
              <a:t>전송하는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것은</a:t>
            </a:r>
            <a:r>
              <a:rPr lang="en-US" dirty="0">
                <a:ea typeface="Arial Unicode MS"/>
              </a:rPr>
              <a:t> </a:t>
            </a:r>
            <a:r>
              <a:rPr lang="en-US" dirty="0" err="1" smtClean="0">
                <a:ea typeface="Arial Unicode MS"/>
              </a:rPr>
              <a:t>비효율적</a:t>
            </a:r>
            <a:endParaRPr lang="en-US" dirty="0">
              <a:ea typeface="Arial Unicode MS"/>
            </a:endParaRPr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>
                <a:ea typeface="Arial Unicode MS"/>
              </a:rPr>
              <a:t>JSP</a:t>
            </a:r>
            <a:r>
              <a:rPr lang="en-US" dirty="0" err="1">
                <a:ea typeface="Arial Unicode MS"/>
              </a:rPr>
              <a:t>실행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도중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출력버퍼를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지우고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새로운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내용을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보여줄</a:t>
            </a:r>
            <a:r>
              <a:rPr lang="en-US" dirty="0">
                <a:ea typeface="Arial Unicode MS"/>
              </a:rPr>
              <a:t> 수 </a:t>
            </a:r>
            <a:r>
              <a:rPr lang="en-US" dirty="0" err="1">
                <a:ea typeface="Arial Unicode MS"/>
              </a:rPr>
              <a:t>있음</a:t>
            </a:r>
            <a:r>
              <a:rPr lang="en-US" dirty="0">
                <a:ea typeface="Arial Unicode MS"/>
              </a:rPr>
              <a:t>(</a:t>
            </a:r>
            <a:r>
              <a:rPr lang="en-US" dirty="0" err="1">
                <a:ea typeface="Arial Unicode MS"/>
              </a:rPr>
              <a:t>실행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과정에서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에러가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발생하면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출력버퍼를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지우고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에러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페이지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전송</a:t>
            </a:r>
            <a:r>
              <a:rPr lang="en-US" dirty="0">
                <a:ea typeface="Arial Unicode MS"/>
              </a:rPr>
              <a:t>)</a:t>
            </a:r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ea typeface="Arial Unicode MS"/>
              </a:rPr>
              <a:t>버퍼가</a:t>
            </a:r>
            <a:r>
              <a:rPr lang="en-US" dirty="0">
                <a:ea typeface="Arial Unicode MS"/>
              </a:rPr>
              <a:t> 다 </a:t>
            </a:r>
            <a:r>
              <a:rPr lang="en-US" dirty="0" err="1">
                <a:ea typeface="Arial Unicode MS"/>
              </a:rPr>
              <a:t>차기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전까지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헤더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변경</a:t>
            </a:r>
            <a:r>
              <a:rPr lang="en-US" dirty="0">
                <a:ea typeface="Arial Unicode MS"/>
              </a:rPr>
              <a:t> </a:t>
            </a:r>
            <a:r>
              <a:rPr lang="en-US" dirty="0" err="1">
                <a:ea typeface="Arial Unicode MS"/>
              </a:rPr>
              <a:t>가능</a:t>
            </a:r>
            <a:endParaRPr lang="en-US" dirty="0">
              <a:ea typeface="Arial Unicode MS"/>
            </a:endParaRPr>
          </a:p>
        </p:txBody>
      </p:sp>
    </p:spTree>
    <p:extLst>
      <p:ext uri="{BB962C8B-B14F-4D97-AF65-F5344CB8AC3E}">
        <p14:creationId xmlns:p14="http://schemas.microsoft.com/office/powerpoint/2010/main" val="69538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 err="1">
                <a:cs typeface="Times New Roman" pitchFamily="18" charset="0"/>
              </a:rPr>
              <a:t>response.getWriter</a:t>
            </a:r>
            <a:r>
              <a:rPr lang="en-US" altLang="ko-KR" sz="2000" b="1" dirty="0">
                <a:cs typeface="Times New Roman" pitchFamily="18" charset="0"/>
              </a:rPr>
              <a:t> </a:t>
            </a:r>
            <a:r>
              <a:rPr lang="ko-KR" altLang="en-US" sz="2000" b="1" dirty="0">
                <a:cs typeface="Times New Roman" pitchFamily="18" charset="0"/>
              </a:rPr>
              <a:t>메서드를 호출하면 안 되는 </a:t>
            </a:r>
            <a:r>
              <a:rPr lang="ko-KR" altLang="en-US" sz="2000" b="1" dirty="0" smtClean="0">
                <a:cs typeface="Times New Roman" pitchFamily="18" charset="0"/>
              </a:rPr>
              <a:t>이유</a:t>
            </a:r>
            <a:r>
              <a:rPr lang="en-US" altLang="ko-KR" sz="2000" b="1" dirty="0" smtClean="0">
                <a:cs typeface="Times New Roman" pitchFamily="18" charset="0"/>
              </a:rPr>
              <a:t>( </a:t>
            </a:r>
            <a:r>
              <a:rPr lang="en-US" altLang="ko-KR" sz="2000" b="1" dirty="0" smtClean="0">
                <a:cs typeface="Times New Roman" pitchFamily="18" charset="0"/>
                <a:sym typeface="Wingdings" panose="05000000000000000000" pitchFamily="2" charset="2"/>
              </a:rPr>
              <a:t> </a:t>
            </a:r>
            <a:r>
              <a:rPr lang="ko-KR" altLang="en-US" sz="2000" b="1" dirty="0" err="1" smtClean="0">
                <a:cs typeface="Times New Roman" pitchFamily="18" charset="0"/>
                <a:sym typeface="Wingdings" panose="05000000000000000000" pitchFamily="2" charset="2"/>
              </a:rPr>
              <a:t>내장변수</a:t>
            </a:r>
            <a:r>
              <a:rPr lang="ko-KR" altLang="en-US" sz="2000" b="1" dirty="0" smtClean="0"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altLang="ko-KR" sz="2000" b="1" dirty="0" smtClean="0">
                <a:cs typeface="Times New Roman" pitchFamily="18" charset="0"/>
                <a:sym typeface="Wingdings" panose="05000000000000000000" pitchFamily="2" charset="2"/>
              </a:rPr>
              <a:t>out</a:t>
            </a:r>
            <a:r>
              <a:rPr lang="ko-KR" altLang="en-US" sz="2000" b="1" dirty="0" smtClean="0">
                <a:cs typeface="Times New Roman" pitchFamily="18" charset="0"/>
                <a:sym typeface="Wingdings" panose="05000000000000000000" pitchFamily="2" charset="2"/>
              </a:rPr>
              <a:t>을 사용해라</a:t>
            </a:r>
            <a:r>
              <a:rPr lang="en-US" altLang="ko-KR" sz="2000" b="1" dirty="0" smtClean="0">
                <a:cs typeface="Times New Roman" pitchFamily="18" charset="0"/>
              </a:rPr>
              <a:t>)</a:t>
            </a:r>
            <a:endParaRPr lang="ko-KR" altLang="en-US" sz="2000" b="1" dirty="0">
              <a:cs typeface="Times New Roman" pitchFamily="18" charset="0"/>
            </a:endParaRPr>
          </a:p>
          <a:p>
            <a:pPr lvl="1"/>
            <a:r>
              <a:rPr lang="en-US" altLang="ko-KR" sz="1800" dirty="0" err="1" smtClean="0">
                <a:cs typeface="Times New Roman" pitchFamily="18" charset="0"/>
              </a:rPr>
              <a:t>JspWriter</a:t>
            </a:r>
            <a:r>
              <a:rPr lang="ko-KR" altLang="en-US" sz="1800" dirty="0" smtClean="0">
                <a:cs typeface="Times New Roman" pitchFamily="18" charset="0"/>
              </a:rPr>
              <a:t>나 </a:t>
            </a:r>
            <a:r>
              <a:rPr lang="en-US" altLang="ko-KR" sz="1800" dirty="0" err="1">
                <a:cs typeface="Times New Roman" pitchFamily="18" charset="0"/>
              </a:rPr>
              <a:t>PrintWriter</a:t>
            </a:r>
            <a:r>
              <a:rPr lang="ko-KR" altLang="en-US" sz="1800" dirty="0">
                <a:cs typeface="Times New Roman" pitchFamily="18" charset="0"/>
              </a:rPr>
              <a:t>처럼 스트림 형태로 데이터를 출력하는 클래스는 </a:t>
            </a:r>
            <a:r>
              <a:rPr lang="ko-KR" altLang="en-US" sz="1800" dirty="0" err="1">
                <a:cs typeface="Times New Roman" pitchFamily="18" charset="0"/>
              </a:rPr>
              <a:t>송신측과</a:t>
            </a:r>
            <a:r>
              <a:rPr lang="ko-KR" altLang="en-US" sz="1800" dirty="0">
                <a:cs typeface="Times New Roman" pitchFamily="18" charset="0"/>
              </a:rPr>
              <a:t> 수신측 사이에 가상의 통로를 생성</a:t>
            </a:r>
          </a:p>
          <a:p>
            <a:pPr lvl="1"/>
            <a:r>
              <a:rPr lang="en-US" altLang="ko-KR" sz="1800" dirty="0">
                <a:cs typeface="Times New Roman" pitchFamily="18" charset="0"/>
              </a:rPr>
              <a:t>JSP </a:t>
            </a:r>
            <a:r>
              <a:rPr lang="ko-KR" altLang="en-US" sz="1800" dirty="0">
                <a:cs typeface="Times New Roman" pitchFamily="18" charset="0"/>
              </a:rPr>
              <a:t>페이지에서 </a:t>
            </a:r>
            <a:r>
              <a:rPr lang="en-US" altLang="ko-KR" sz="1800" dirty="0" err="1">
                <a:cs typeface="Times New Roman" pitchFamily="18" charset="0"/>
              </a:rPr>
              <a:t>PrintWriter</a:t>
            </a:r>
            <a:r>
              <a:rPr lang="en-US" altLang="ko-KR" sz="1800" dirty="0">
                <a:cs typeface="Times New Roman" pitchFamily="18" charset="0"/>
              </a:rPr>
              <a:t> </a:t>
            </a:r>
            <a:r>
              <a:rPr lang="ko-KR" altLang="en-US" sz="1800" dirty="0">
                <a:cs typeface="Times New Roman" pitchFamily="18" charset="0"/>
              </a:rPr>
              <a:t>객체를 새로 만들면 기존의 </a:t>
            </a:r>
            <a:r>
              <a:rPr lang="en-US" altLang="ko-KR" sz="1800" dirty="0">
                <a:cs typeface="Times New Roman" pitchFamily="18" charset="0"/>
              </a:rPr>
              <a:t>out </a:t>
            </a:r>
            <a:r>
              <a:rPr lang="ko-KR" altLang="en-US" sz="1800" dirty="0">
                <a:cs typeface="Times New Roman" pitchFamily="18" charset="0"/>
              </a:rPr>
              <a:t>내장 변수가 관리하던 통로와 더불어 </a:t>
            </a:r>
            <a:r>
              <a:rPr lang="ko-KR" altLang="en-US" sz="1800" dirty="0">
                <a:solidFill>
                  <a:srgbClr val="0000FF"/>
                </a:solidFill>
                <a:cs typeface="Times New Roman" pitchFamily="18" charset="0"/>
              </a:rPr>
              <a:t>두 개의 통로가 공존</a:t>
            </a:r>
          </a:p>
          <a:p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22</a:t>
            </a:fld>
            <a:endParaRPr lang="en-US"/>
          </a:p>
        </p:txBody>
      </p:sp>
      <p:pic>
        <p:nvPicPr>
          <p:cNvPr id="7" name="Picture 23"/>
          <p:cNvPicPr>
            <a:picLocks noChangeAspect="1" noChangeArrowheads="1"/>
          </p:cNvPicPr>
          <p:nvPr/>
        </p:nvPicPr>
        <p:blipFill>
          <a:blip r:embed="rId2" cstate="print"/>
          <a:srcRect l="34752" t="13757" r="29852" b="42850"/>
          <a:stretch>
            <a:fillRect/>
          </a:stretch>
        </p:blipFill>
        <p:spPr bwMode="auto">
          <a:xfrm>
            <a:off x="4492799" y="2729822"/>
            <a:ext cx="6679820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67766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 err="1">
                <a:cs typeface="Times New Roman" pitchFamily="18" charset="0"/>
              </a:rPr>
              <a:t>response.getWriter</a:t>
            </a:r>
            <a:r>
              <a:rPr lang="en-US" altLang="ko-KR" sz="2000" b="1" dirty="0">
                <a:cs typeface="Times New Roman" pitchFamily="18" charset="0"/>
              </a:rPr>
              <a:t> </a:t>
            </a:r>
            <a:r>
              <a:rPr lang="ko-KR" altLang="en-US" sz="2000" b="1" dirty="0">
                <a:cs typeface="Times New Roman" pitchFamily="18" charset="0"/>
              </a:rPr>
              <a:t>메서드를 호출하면 안 되는 이유</a:t>
            </a:r>
          </a:p>
          <a:p>
            <a:pPr lvl="1"/>
            <a:r>
              <a:rPr lang="en-US" altLang="ko-KR" sz="1800" dirty="0" err="1">
                <a:solidFill>
                  <a:srgbClr val="0000FF"/>
                </a:solidFill>
                <a:cs typeface="Times New Roman" pitchFamily="18" charset="0"/>
              </a:rPr>
              <a:t>PrintWriter</a:t>
            </a:r>
            <a:r>
              <a:rPr lang="ko-KR" altLang="en-US" sz="1800" dirty="0">
                <a:solidFill>
                  <a:srgbClr val="0000FF"/>
                </a:solidFill>
                <a:cs typeface="Times New Roman" pitchFamily="18" charset="0"/>
              </a:rPr>
              <a:t>는 버퍼를 거치지 않고 바로 출력</a:t>
            </a:r>
            <a:endParaRPr lang="en-US" altLang="ko-KR" sz="20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23</a:t>
            </a:fld>
            <a:endParaRPr lang="en-US"/>
          </a:p>
        </p:txBody>
      </p:sp>
      <p:sp>
        <p:nvSpPr>
          <p:cNvPr id="4" name="직사각형 3"/>
          <p:cNvSpPr/>
          <p:nvPr/>
        </p:nvSpPr>
        <p:spPr>
          <a:xfrm>
            <a:off x="1009650" y="2716590"/>
            <a:ext cx="6210299" cy="31393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out2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response.getWriter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out2.println(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"for</a:t>
            </a:r>
            <a:r>
              <a:rPr lang="ko-KR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문 시작 전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=1;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&lt;=10;cnt++){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(cnt%2==0)</a:t>
            </a:r>
          </a:p>
          <a:p>
            <a:pPr lvl="3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out.println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짝수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="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</a:p>
          <a:p>
            <a:pPr lvl="3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out.println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ko-KR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홀수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="</a:t>
            </a:r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out2.println(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"for</a:t>
            </a:r>
            <a:r>
              <a:rPr lang="ko-KR" altLang="en-US" dirty="0">
                <a:solidFill>
                  <a:srgbClr val="2A00FF"/>
                </a:solidFill>
                <a:latin typeface="Consolas" panose="020B0609020204030204" pitchFamily="49" charset="0"/>
              </a:rPr>
              <a:t>문 종료 후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&gt;"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009650" y="2074982"/>
            <a:ext cx="512351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BF5F3F"/>
                </a:solidFill>
                <a:latin typeface="Consolas" panose="020B0609020204030204" pitchFamily="49" charset="0"/>
              </a:rPr>
              <a:t>&lt;%@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page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java.io.PrintWriter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>
                <a:solidFill>
                  <a:srgbClr val="BF5F3F"/>
                </a:solidFill>
                <a:latin typeface="Consolas" panose="020B0609020204030204" pitchFamily="49" charset="0"/>
              </a:rPr>
              <a:t>%&gt;</a:t>
            </a:r>
            <a:endParaRPr 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606" y="2445961"/>
            <a:ext cx="2419350" cy="3409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658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b="1" dirty="0">
                <a:cs typeface="Times New Roman" pitchFamily="18" charset="0"/>
              </a:rPr>
              <a:t>out </a:t>
            </a:r>
            <a:r>
              <a:rPr lang="ko-KR" altLang="en-US" sz="2000" b="1" dirty="0">
                <a:cs typeface="Times New Roman" pitchFamily="18" charset="0"/>
              </a:rPr>
              <a:t>내장 변수</a:t>
            </a:r>
          </a:p>
          <a:p>
            <a:pPr lvl="1"/>
            <a:r>
              <a:rPr lang="en-US" altLang="ko-KR" sz="1800" dirty="0">
                <a:cs typeface="Times New Roman" pitchFamily="18" charset="0"/>
              </a:rPr>
              <a:t>page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지시자의</a:t>
            </a:r>
            <a:r>
              <a:rPr lang="ko-KR" altLang="en-US" sz="1800" dirty="0"/>
              <a:t> </a:t>
            </a:r>
            <a:r>
              <a:rPr lang="en-US" altLang="ko-KR" sz="1800" dirty="0">
                <a:cs typeface="Times New Roman" pitchFamily="18" charset="0"/>
              </a:rPr>
              <a:t>buffer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애트리뷰트를</a:t>
            </a:r>
            <a:r>
              <a:rPr lang="ko-KR" altLang="en-US" sz="1800" dirty="0"/>
              <a:t> 이용하여 출력 버퍼 크기 수정 </a:t>
            </a:r>
            <a:r>
              <a:rPr lang="ko-KR" altLang="en-US" sz="1800" dirty="0" smtClean="0"/>
              <a:t>가능</a:t>
            </a:r>
            <a:endParaRPr lang="en-US" altLang="ko-KR" sz="1800" dirty="0" smtClean="0"/>
          </a:p>
          <a:p>
            <a:pPr lvl="2"/>
            <a:r>
              <a:rPr lang="en-US" altLang="ko-KR" dirty="0">
                <a:cs typeface="Times New Roman" pitchFamily="18" charset="0"/>
              </a:rPr>
              <a:t>buffer</a:t>
            </a:r>
            <a:r>
              <a:rPr lang="en-US" altLang="ko-KR" dirty="0"/>
              <a:t> </a:t>
            </a:r>
            <a:r>
              <a:rPr lang="ko-KR" altLang="en-US" dirty="0"/>
              <a:t>속성에는 버퍼의 크기</a:t>
            </a:r>
            <a:r>
              <a:rPr lang="en-US" altLang="ko-KR" dirty="0"/>
              <a:t>(</a:t>
            </a:r>
            <a:r>
              <a:rPr lang="ko-KR" altLang="en-US" i="1" dirty="0"/>
              <a:t>디폴트는 </a:t>
            </a:r>
            <a:r>
              <a:rPr lang="en-US" altLang="ko-KR" i="1" dirty="0"/>
              <a:t>8kb</a:t>
            </a:r>
            <a:r>
              <a:rPr lang="en-US" altLang="ko-KR" dirty="0"/>
              <a:t>)</a:t>
            </a:r>
            <a:r>
              <a:rPr lang="ko-KR" altLang="en-US" dirty="0"/>
              <a:t>를 킬로바이트 단위의 정수로 써야 하며</a:t>
            </a:r>
            <a:r>
              <a:rPr lang="en-US" altLang="ko-KR" dirty="0"/>
              <a:t>,</a:t>
            </a:r>
            <a:r>
              <a:rPr lang="ko-KR" altLang="en-US" dirty="0"/>
              <a:t> 뒤에 </a:t>
            </a:r>
            <a:r>
              <a:rPr lang="en-US" altLang="ko-KR" dirty="0">
                <a:cs typeface="Times New Roman" pitchFamily="18" charset="0"/>
              </a:rPr>
              <a:t>kb</a:t>
            </a:r>
            <a:r>
              <a:rPr lang="ko-KR" altLang="en-US" dirty="0"/>
              <a:t>라는 단위 표시를 붙여야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2"/>
            <a:endParaRPr lang="en-US" altLang="ko-KR" sz="1600" dirty="0"/>
          </a:p>
          <a:p>
            <a:pPr lvl="2"/>
            <a:endParaRPr lang="en-US" altLang="ko-KR" sz="1600" dirty="0" smtClean="0"/>
          </a:p>
          <a:p>
            <a:pPr lvl="2"/>
            <a:r>
              <a:rPr lang="en-US" altLang="ko-KR" dirty="0">
                <a:cs typeface="Times New Roman" pitchFamily="18" charset="0"/>
              </a:rPr>
              <a:t>page</a:t>
            </a:r>
            <a:r>
              <a:rPr lang="en-US" altLang="ko-KR" dirty="0"/>
              <a:t> </a:t>
            </a:r>
            <a:r>
              <a:rPr lang="ko-KR" altLang="en-US" dirty="0" err="1"/>
              <a:t>지시자의</a:t>
            </a:r>
            <a:r>
              <a:rPr lang="ko-KR" altLang="en-US" dirty="0"/>
              <a:t> </a:t>
            </a:r>
            <a:r>
              <a:rPr lang="en-US" altLang="ko-KR" dirty="0">
                <a:cs typeface="Times New Roman" pitchFamily="18" charset="0"/>
              </a:rPr>
              <a:t>buffer</a:t>
            </a:r>
            <a:r>
              <a:rPr lang="en-US" altLang="ko-KR" dirty="0"/>
              <a:t> </a:t>
            </a:r>
            <a:r>
              <a:rPr lang="ko-KR" altLang="en-US" dirty="0"/>
              <a:t>속성에 </a:t>
            </a:r>
            <a:r>
              <a:rPr lang="en-US" altLang="ko-KR" dirty="0">
                <a:cs typeface="Times New Roman" pitchFamily="18" charset="0"/>
              </a:rPr>
              <a:t>none</a:t>
            </a:r>
            <a:r>
              <a:rPr lang="ko-KR" altLang="en-US" dirty="0"/>
              <a:t>이라는 값을 지정하면 </a:t>
            </a:r>
            <a:r>
              <a:rPr lang="en-US" altLang="ko-KR" dirty="0">
                <a:cs typeface="Times New Roman" pitchFamily="18" charset="0"/>
              </a:rPr>
              <a:t>out</a:t>
            </a:r>
            <a:r>
              <a:rPr lang="en-US" altLang="ko-KR" dirty="0"/>
              <a:t> </a:t>
            </a:r>
            <a:r>
              <a:rPr lang="ko-KR" altLang="en-US" dirty="0"/>
              <a:t>내장 변수를 통해 출력되는 내용이 출력 버퍼를 거치지 않고 웹 브라우저로 바로 전송</a:t>
            </a:r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24</a:t>
            </a:fld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4368892" y="2729483"/>
            <a:ext cx="3063852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2000" dirty="0" smtClean="0">
                <a:cs typeface="Times New Roman" pitchFamily="18" charset="0"/>
              </a:rPr>
              <a:t>&lt;%@page buffer= "2kb" %&gt;</a:t>
            </a:r>
            <a:endParaRPr lang="en-US" sz="2000" dirty="0"/>
          </a:p>
        </p:txBody>
      </p:sp>
      <p:sp>
        <p:nvSpPr>
          <p:cNvPr id="11" name="직사각형 10"/>
          <p:cNvSpPr/>
          <p:nvPr/>
        </p:nvSpPr>
        <p:spPr>
          <a:xfrm>
            <a:off x="4135661" y="4606316"/>
            <a:ext cx="3722430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+mj-ea"/>
                <a:ea typeface="+mj-ea"/>
                <a:cs typeface="Times New Roman" pitchFamily="18" charset="0"/>
              </a:rPr>
              <a:t>&lt;%@page buffer= </a:t>
            </a:r>
            <a:r>
              <a:rPr lang="en-US" altLang="ko-KR" sz="2000" dirty="0" smtClean="0">
                <a:latin typeface="+mj-ea"/>
                <a:ea typeface="+mj-ea"/>
                <a:cs typeface="Times New Roman" pitchFamily="18" charset="0"/>
              </a:rPr>
              <a:t>"none" </a:t>
            </a:r>
            <a:r>
              <a:rPr lang="en-US" altLang="ko-KR" sz="2000" dirty="0">
                <a:latin typeface="+mj-ea"/>
                <a:ea typeface="+mj-ea"/>
                <a:cs typeface="Times New Roman" pitchFamily="18" charset="0"/>
              </a:rPr>
              <a:t>%&gt;</a:t>
            </a:r>
          </a:p>
        </p:txBody>
      </p:sp>
    </p:spTree>
    <p:extLst>
      <p:ext uri="{BB962C8B-B14F-4D97-AF65-F5344CB8AC3E}">
        <p14:creationId xmlns:p14="http://schemas.microsoft.com/office/powerpoint/2010/main" val="52841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JSP </a:t>
            </a:r>
            <a:r>
              <a:rPr lang="ko-KR" altLang="en-US" sz="2800" dirty="0"/>
              <a:t>페이지의 내장 변수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b="1" dirty="0" smtClean="0">
                <a:cs typeface="Times New Roman" pitchFamily="18" charset="0"/>
              </a:rPr>
              <a:t>속성</a:t>
            </a:r>
            <a:r>
              <a:rPr lang="en-US" altLang="ko-KR" sz="2000" b="1" dirty="0" smtClean="0">
                <a:cs typeface="Times New Roman" pitchFamily="18" charset="0"/>
              </a:rPr>
              <a:t>(Attribute)</a:t>
            </a:r>
            <a:r>
              <a:rPr lang="ko-KR" altLang="en-US" sz="2000" b="1" dirty="0" smtClean="0">
                <a:cs typeface="Times New Roman" pitchFamily="18" charset="0"/>
              </a:rPr>
              <a:t> 변수</a:t>
            </a:r>
            <a:endParaRPr lang="ko-KR" altLang="en-US" sz="2000" b="1" dirty="0">
              <a:cs typeface="Times New Roman" pitchFamily="18" charset="0"/>
            </a:endParaRPr>
          </a:p>
          <a:p>
            <a:pPr lvl="1"/>
            <a:r>
              <a:rPr lang="en-US" altLang="ko-KR" sz="1800" dirty="0" err="1">
                <a:cs typeface="Times New Roman" pitchFamily="18" charset="0"/>
              </a:rPr>
              <a:t>pageContext</a:t>
            </a:r>
            <a:r>
              <a:rPr lang="en-US" altLang="ko-KR" sz="1800" dirty="0">
                <a:cs typeface="Times New Roman" pitchFamily="18" charset="0"/>
              </a:rPr>
              <a:t>, request, session, </a:t>
            </a:r>
            <a:r>
              <a:rPr lang="en-US" altLang="ko-KR" sz="1800" dirty="0" smtClean="0">
                <a:cs typeface="Times New Roman" pitchFamily="18" charset="0"/>
              </a:rPr>
              <a:t>application</a:t>
            </a:r>
            <a:endParaRPr lang="ko-KR" altLang="en-US" sz="1800" dirty="0">
              <a:cs typeface="Times New Roman" pitchFamily="18" charset="0"/>
            </a:endParaRPr>
          </a:p>
          <a:p>
            <a:pPr lvl="1"/>
            <a:r>
              <a:rPr lang="ko-KR" altLang="en-US" sz="1800" dirty="0">
                <a:cs typeface="Times New Roman" pitchFamily="18" charset="0"/>
              </a:rPr>
              <a:t>각각의 활성 범위</a:t>
            </a:r>
            <a:r>
              <a:rPr lang="en-US" altLang="ko-KR" sz="1800" dirty="0">
                <a:cs typeface="Times New Roman" pitchFamily="18" charset="0"/>
              </a:rPr>
              <a:t>(scope)</a:t>
            </a:r>
            <a:r>
              <a:rPr lang="ko-KR" altLang="en-US" sz="1800" dirty="0">
                <a:cs typeface="Times New Roman" pitchFamily="18" charset="0"/>
              </a:rPr>
              <a:t>가 생성되어 소멸되기 전까지 연관된 기본 객체에 특정 정보를 저장하여 활용</a:t>
            </a:r>
          </a:p>
          <a:p>
            <a:pPr lvl="1"/>
            <a:r>
              <a:rPr lang="en-US" altLang="ko-KR" sz="1800" dirty="0">
                <a:cs typeface="Times New Roman" pitchFamily="18" charset="0"/>
              </a:rPr>
              <a:t>JSP </a:t>
            </a:r>
            <a:r>
              <a:rPr lang="ko-KR" altLang="en-US" sz="1800" dirty="0">
                <a:cs typeface="Times New Roman" pitchFamily="18" charset="0"/>
              </a:rPr>
              <a:t>페이지 사이에 특정 정보를 주고받거나 공유할 때 활용</a:t>
            </a:r>
          </a:p>
          <a:p>
            <a:pPr lvl="1"/>
            <a:r>
              <a:rPr lang="ko-KR" altLang="en-US" sz="1800" dirty="0">
                <a:cs typeface="Times New Roman" pitchFamily="18" charset="0"/>
              </a:rPr>
              <a:t>속성 이름</a:t>
            </a:r>
            <a:r>
              <a:rPr lang="en-US" altLang="ko-KR" sz="1800" dirty="0">
                <a:cs typeface="Times New Roman" pitchFamily="18" charset="0"/>
              </a:rPr>
              <a:t>: String</a:t>
            </a:r>
          </a:p>
          <a:p>
            <a:pPr lvl="1"/>
            <a:r>
              <a:rPr lang="ko-KR" altLang="en-US" sz="1800" dirty="0">
                <a:cs typeface="Times New Roman" pitchFamily="18" charset="0"/>
              </a:rPr>
              <a:t>값</a:t>
            </a:r>
            <a:r>
              <a:rPr lang="en-US" altLang="ko-KR" sz="1800" dirty="0">
                <a:cs typeface="Times New Roman" pitchFamily="18" charset="0"/>
              </a:rPr>
              <a:t>: Object </a:t>
            </a:r>
          </a:p>
          <a:p>
            <a:pPr lvl="2"/>
            <a:endParaRPr lang="en-US" altLang="ko-KR" sz="1600" dirty="0"/>
          </a:p>
          <a:p>
            <a:pPr lvl="2"/>
            <a:endParaRPr lang="en-US" altLang="ko-KR" sz="16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>
              <a:solidFill>
                <a:prstClr val="black"/>
              </a:solidFill>
            </a:endParaRPr>
          </a:p>
          <a:p>
            <a:pPr lvl="1"/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endParaRPr lang="en-US" altLang="ko-KR" sz="2200" dirty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25</a:t>
            </a:fld>
            <a:endParaRPr lang="en-US"/>
          </a:p>
        </p:txBody>
      </p:sp>
      <p:sp>
        <p:nvSpPr>
          <p:cNvPr id="6" name="직사각형 5"/>
          <p:cNvSpPr/>
          <p:nvPr/>
        </p:nvSpPr>
        <p:spPr>
          <a:xfrm>
            <a:off x="1057275" y="3962301"/>
            <a:ext cx="10463076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_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jspService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javax.servlet.http.HttpServletRequest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request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javax.servlet.http.HttpServletResponse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response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</a:p>
          <a:p>
            <a:pPr lvl="1"/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javax.servlet.jsp.PageContext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pageContext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javax.servlet.http.HttpSession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session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javax.servlet.ServletContext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application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  <a:p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98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16008</TotalTime>
  <Words>2223</Words>
  <Application>Microsoft Office PowerPoint</Application>
  <PresentationFormat>와이드스크린</PresentationFormat>
  <Paragraphs>569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8" baseType="lpstr">
      <vt:lpstr>1076019_9</vt:lpstr>
      <vt:lpstr>Arial Unicode MS</vt:lpstr>
      <vt:lpstr>HY견고딕</vt:lpstr>
      <vt:lpstr>굴림</vt:lpstr>
      <vt:lpstr>맑은 고딕</vt:lpstr>
      <vt:lpstr>휴먼매직체</vt:lpstr>
      <vt:lpstr>Arial</vt:lpstr>
      <vt:lpstr>Calibri</vt:lpstr>
      <vt:lpstr>Calibri Light</vt:lpstr>
      <vt:lpstr>Consolas</vt:lpstr>
      <vt:lpstr>Times New Roman</vt:lpstr>
      <vt:lpstr>Wingdings</vt:lpstr>
      <vt:lpstr>Office 테마</vt:lpstr>
      <vt:lpstr>JSP 이해하기</vt:lpstr>
      <vt:lpstr>JSP 이해하기</vt:lpstr>
      <vt:lpstr>JSP 이해하기</vt:lpstr>
      <vt:lpstr>JSP 이해하기</vt:lpstr>
      <vt:lpstr>JSP 문법 요소</vt:lpstr>
      <vt:lpstr>JSP 문법 요소</vt:lpstr>
      <vt:lpstr>JSP 문법 요소</vt:lpstr>
      <vt:lpstr>JSP 문법 요소</vt:lpstr>
      <vt:lpstr>JSP 문법 요소</vt:lpstr>
      <vt:lpstr>JSP 문법 요소</vt:lpstr>
      <vt:lpstr>JSP 문법 요소</vt:lpstr>
      <vt:lpstr>PowerPoint 프레젠테이션</vt:lpstr>
      <vt:lpstr>JSP 문법 요소</vt:lpstr>
      <vt:lpstr>JSP 문법 요소</vt:lpstr>
      <vt:lpstr>JSP 문법 요소</vt:lpstr>
      <vt:lpstr>JSP 문법 요소</vt:lpstr>
      <vt:lpstr>JSP 내장변수</vt:lpstr>
      <vt:lpstr>JSP 페이지의 내장 변수</vt:lpstr>
      <vt:lpstr>JSP 페이지의 내장 변수</vt:lpstr>
      <vt:lpstr>JSP 페이지의 내장 변수</vt:lpstr>
      <vt:lpstr>JSP 페이지의 내장 변수</vt:lpstr>
      <vt:lpstr>JSP 페이지의 내장 변수</vt:lpstr>
      <vt:lpstr>JSP 페이지의 내장 변수</vt:lpstr>
      <vt:lpstr>JSP 페이지의 내장 변수</vt:lpstr>
      <vt:lpstr>JSP 페이지의 내장 변수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3762</cp:revision>
  <dcterms:created xsi:type="dcterms:W3CDTF">2020-03-06T01:35:43Z</dcterms:created>
  <dcterms:modified xsi:type="dcterms:W3CDTF">2020-05-20T23:57:20Z</dcterms:modified>
  <cp:version>1000.0000.01</cp:version>
</cp:coreProperties>
</file>