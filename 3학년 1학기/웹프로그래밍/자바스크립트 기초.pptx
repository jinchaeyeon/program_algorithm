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17"/>
  </p:notesMasterIdLst>
  <p:sldIdLst>
    <p:sldId id="256" r:id="rId2"/>
    <p:sldId id="258" r:id="rId3"/>
    <p:sldId id="316" r:id="rId4"/>
    <p:sldId id="315" r:id="rId5"/>
    <p:sldId id="317" r:id="rId6"/>
    <p:sldId id="318" r:id="rId7"/>
    <p:sldId id="319" r:id="rId8"/>
    <p:sldId id="327" r:id="rId9"/>
    <p:sldId id="328" r:id="rId10"/>
    <p:sldId id="320" r:id="rId11"/>
    <p:sldId id="329" r:id="rId12"/>
    <p:sldId id="325" r:id="rId13"/>
    <p:sldId id="323" r:id="rId14"/>
    <p:sldId id="324" r:id="rId15"/>
    <p:sldId id="3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03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33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3/31/2021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3/31/2021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3/31/2021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3/31/2021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3/31/2021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3/31/2021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3/31/2021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3/31/2021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3/31/2021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3/31/2021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3/31/2021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3/31/2021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3/31/2021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06997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자바스크립트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21064" y="3812496"/>
            <a:ext cx="7383416" cy="2060766"/>
          </a:xfrm>
        </p:spPr>
        <p:txBody>
          <a:bodyPr>
            <a:normAutofit/>
          </a:bodyPr>
          <a:lstStyle/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dirty="0" smtClean="0"/>
              <a:t>자바스크립트</a:t>
            </a:r>
            <a:endParaRPr lang="en-US" altLang="ko-KR" dirty="0" smtClean="0"/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dirty="0" err="1" smtClean="0"/>
              <a:t>데이터타입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>
                <a:solidFill>
                  <a:prstClr val="black"/>
                </a:solidFill>
              </a:rPr>
              <a:t>자바스크립트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982447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스크립트 언어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c</a:t>
            </a:r>
            <a:r>
              <a:rPr lang="ko-KR" altLang="en-US" sz="1800" dirty="0" smtClean="0">
                <a:solidFill>
                  <a:prstClr val="black"/>
                </a:solidFill>
              </a:rPr>
              <a:t>나 자바와 같이 컴파일 요구하지 않는 언어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r>
              <a:rPr lang="ko-KR" altLang="en-US" sz="2200" b="1" dirty="0" smtClean="0">
                <a:solidFill>
                  <a:prstClr val="black"/>
                </a:solidFill>
              </a:rPr>
              <a:t>자바스크립트</a:t>
            </a:r>
            <a:endParaRPr lang="ko-KR" altLang="en-US" sz="2200" b="1" dirty="0" smtClean="0"/>
          </a:p>
          <a:p>
            <a:pPr lvl="1"/>
            <a:r>
              <a:rPr lang="ko-KR" altLang="en-US" sz="1900" dirty="0"/>
              <a:t>웹 브라우저를 </a:t>
            </a:r>
            <a:r>
              <a:rPr lang="ko-KR" altLang="en-US" sz="1900" dirty="0">
                <a:solidFill>
                  <a:srgbClr val="FF0000"/>
                </a:solidFill>
              </a:rPr>
              <a:t>프로그래밍적으로</a:t>
            </a:r>
            <a:r>
              <a:rPr lang="ko-KR" altLang="en-US" sz="1900" dirty="0"/>
              <a:t> 제어하기 위해 사용되는 언어</a:t>
            </a:r>
            <a:endParaRPr lang="en-US" altLang="ko-KR" sz="1900" dirty="0"/>
          </a:p>
          <a:p>
            <a:pPr lvl="2"/>
            <a:r>
              <a:rPr lang="ko-KR" altLang="en-US" sz="1900" dirty="0"/>
              <a:t>즉</a:t>
            </a:r>
            <a:r>
              <a:rPr lang="en-US" altLang="ko-KR" sz="1900" dirty="0"/>
              <a:t>, CSS3</a:t>
            </a:r>
            <a:r>
              <a:rPr lang="ko-KR" altLang="en-US" sz="1900" dirty="0"/>
              <a:t>를 이용하는 방법을 대체할 수 있음</a:t>
            </a:r>
            <a:endParaRPr lang="en-US" altLang="ko-KR" sz="1900" dirty="0"/>
          </a:p>
          <a:p>
            <a:pPr lvl="1"/>
            <a:r>
              <a:rPr lang="ko-KR" altLang="en-US" sz="1900" dirty="0"/>
              <a:t>웹 페이지를 </a:t>
            </a:r>
            <a:r>
              <a:rPr lang="ko-KR" altLang="en-US" sz="1900" dirty="0">
                <a:solidFill>
                  <a:srgbClr val="FF0000"/>
                </a:solidFill>
              </a:rPr>
              <a:t>동적으로 동작</a:t>
            </a:r>
            <a:r>
              <a:rPr lang="en-US" altLang="ko-KR" sz="1900" dirty="0">
                <a:solidFill>
                  <a:srgbClr val="FF0000"/>
                </a:solidFill>
              </a:rPr>
              <a:t>(or</a:t>
            </a:r>
            <a:r>
              <a:rPr lang="ko-KR" altLang="en-US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>
                <a:solidFill>
                  <a:srgbClr val="FF0000"/>
                </a:solidFill>
              </a:rPr>
              <a:t>interaction)</a:t>
            </a:r>
            <a:r>
              <a:rPr lang="ko-KR" altLang="en-US" sz="1900" dirty="0"/>
              <a:t> 시키기 위해 사용하는 </a:t>
            </a:r>
            <a:r>
              <a:rPr lang="ko-KR" altLang="en-US" sz="1900" dirty="0" smtClean="0"/>
              <a:t>언어</a:t>
            </a:r>
            <a:endParaRPr lang="en-US" altLang="ko-KR" sz="1900" dirty="0" smtClean="0"/>
          </a:p>
          <a:p>
            <a:pPr lvl="1"/>
            <a:r>
              <a:rPr lang="ko-KR" altLang="en-US" sz="1900" dirty="0" smtClean="0"/>
              <a:t>자바스크립트 </a:t>
            </a:r>
            <a:r>
              <a:rPr lang="ko-KR" altLang="en-US" sz="1900" dirty="0"/>
              <a:t>엔진에 따라 컴파일만 하거나 </a:t>
            </a:r>
            <a:r>
              <a:rPr lang="ko-KR" altLang="en-US" sz="1900" dirty="0" err="1"/>
              <a:t>인터프리팅</a:t>
            </a:r>
            <a:r>
              <a:rPr lang="en-US" altLang="ko-KR" sz="1900" dirty="0"/>
              <a:t>+</a:t>
            </a:r>
            <a:r>
              <a:rPr lang="ko-KR" altLang="en-US" sz="1900" dirty="0"/>
              <a:t>컴파일을 </a:t>
            </a:r>
            <a:r>
              <a:rPr lang="ko-KR" altLang="en-US" sz="1900" dirty="0" smtClean="0"/>
              <a:t>수행</a:t>
            </a:r>
            <a:r>
              <a:rPr lang="en-US" altLang="ko-KR" sz="1900" dirty="0" smtClean="0"/>
              <a:t>(</a:t>
            </a:r>
            <a:r>
              <a:rPr lang="ko-KR" altLang="en-US" sz="1900" dirty="0" smtClean="0"/>
              <a:t>내가 직접 컴파일을 하지 않음</a:t>
            </a:r>
            <a:r>
              <a:rPr lang="en-US" altLang="ko-KR" sz="1900" dirty="0" smtClean="0"/>
              <a:t>)</a:t>
            </a:r>
          </a:p>
          <a:p>
            <a:r>
              <a:rPr lang="en-US" sz="2000" b="1" dirty="0" smtClean="0"/>
              <a:t>ECMAScript</a:t>
            </a:r>
            <a:endParaRPr lang="en-US" sz="2000" b="1" dirty="0"/>
          </a:p>
          <a:p>
            <a:pPr lvl="1"/>
            <a:r>
              <a:rPr lang="ko-KR" altLang="en-US" sz="1900" dirty="0"/>
              <a:t>자바스크립트는 </a:t>
            </a:r>
            <a:r>
              <a:rPr lang="en-US" altLang="ko-KR" sz="1900" dirty="0"/>
              <a:t>1995</a:t>
            </a:r>
            <a:r>
              <a:rPr lang="ko-KR" altLang="en-US" sz="1900" dirty="0"/>
              <a:t>년 </a:t>
            </a:r>
            <a:r>
              <a:rPr lang="ko-KR" altLang="en-US" sz="1900" dirty="0" err="1"/>
              <a:t>넷스케이프</a:t>
            </a:r>
            <a:r>
              <a:rPr lang="en-US" altLang="ko-KR" sz="1900" dirty="0"/>
              <a:t>(Netscape) </a:t>
            </a:r>
            <a:r>
              <a:rPr lang="ko-KR" altLang="en-US" sz="1900" dirty="0"/>
              <a:t>웹 브라우져에서 </a:t>
            </a:r>
            <a:r>
              <a:rPr lang="ko-KR" altLang="en-US" sz="1900" dirty="0" err="1"/>
              <a:t>웹페이지에</a:t>
            </a:r>
            <a:r>
              <a:rPr lang="ko-KR" altLang="en-US" sz="1900" dirty="0"/>
              <a:t> 동적인 요소를 구현하기 위해서 발명</a:t>
            </a:r>
            <a:endParaRPr lang="en-US" altLang="ko-KR" sz="1900" dirty="0"/>
          </a:p>
          <a:p>
            <a:pPr lvl="1"/>
            <a:r>
              <a:rPr lang="ko-KR" altLang="en-US" sz="1900" dirty="0">
                <a:solidFill>
                  <a:srgbClr val="FF0000"/>
                </a:solidFill>
              </a:rPr>
              <a:t>다양한 </a:t>
            </a:r>
            <a:r>
              <a:rPr lang="ko-KR" altLang="en-US" sz="1900" dirty="0" smtClean="0">
                <a:solidFill>
                  <a:srgbClr val="FF0000"/>
                </a:solidFill>
              </a:rPr>
              <a:t>브라우저가 </a:t>
            </a:r>
            <a:r>
              <a:rPr lang="ko-KR" altLang="en-US" sz="1900" dirty="0">
                <a:solidFill>
                  <a:srgbClr val="FF0000"/>
                </a:solidFill>
              </a:rPr>
              <a:t>자바스크립트를 사용</a:t>
            </a:r>
            <a:r>
              <a:rPr lang="en-US" altLang="ko-KR" sz="1900" dirty="0">
                <a:solidFill>
                  <a:srgbClr val="FF0000"/>
                </a:solidFill>
              </a:rPr>
              <a:t>-&gt;</a:t>
            </a:r>
            <a:r>
              <a:rPr lang="ko-KR" altLang="en-US" sz="1900" dirty="0">
                <a:solidFill>
                  <a:srgbClr val="FF0000"/>
                </a:solidFill>
              </a:rPr>
              <a:t>표준화 작업이 필요</a:t>
            </a:r>
            <a:endParaRPr lang="en-US" altLang="ko-KR" sz="1900" dirty="0">
              <a:solidFill>
                <a:srgbClr val="FF0000"/>
              </a:solidFill>
            </a:endParaRPr>
          </a:p>
          <a:p>
            <a:pPr lvl="1"/>
            <a:r>
              <a:rPr lang="en-US" altLang="ko-KR" sz="1900" dirty="0"/>
              <a:t>ECMA </a:t>
            </a:r>
            <a:r>
              <a:rPr lang="ko-KR" altLang="en-US" sz="1900" dirty="0"/>
              <a:t>국제 기구에서 “</a:t>
            </a:r>
            <a:r>
              <a:rPr lang="en-US" altLang="ko-KR" sz="1900" dirty="0"/>
              <a:t>ECMAScript Standard”</a:t>
            </a:r>
            <a:r>
              <a:rPr lang="ko-KR" altLang="en-US" sz="1900" dirty="0"/>
              <a:t>라 불리는 스크립트 표준이 만들어 짐</a:t>
            </a:r>
            <a:endParaRPr lang="en-US" altLang="ko-KR" sz="1900" dirty="0"/>
          </a:p>
          <a:p>
            <a:pPr lvl="1"/>
            <a:r>
              <a:rPr lang="en-US" altLang="ko-KR" sz="1900" dirty="0"/>
              <a:t>ES6</a:t>
            </a:r>
            <a:r>
              <a:rPr lang="ko-KR" altLang="en-US" sz="1900" dirty="0"/>
              <a:t>은 </a:t>
            </a:r>
            <a:r>
              <a:rPr lang="en-US" altLang="ko-KR" sz="1900" dirty="0"/>
              <a:t>2015</a:t>
            </a:r>
            <a:r>
              <a:rPr lang="ko-KR" altLang="en-US" sz="1900" dirty="0"/>
              <a:t>년에 만들어져 널리 사용 </a:t>
            </a:r>
            <a:r>
              <a:rPr lang="ko-KR" altLang="en-US" sz="1900" dirty="0" smtClean="0"/>
              <a:t>중</a:t>
            </a:r>
            <a:endParaRPr lang="en-US" altLang="ko-KR" sz="1900" dirty="0" smtClean="0"/>
          </a:p>
          <a:p>
            <a:pPr lvl="1"/>
            <a:r>
              <a:rPr lang="en-US" sz="1900" dirty="0" smtClean="0"/>
              <a:t>JavaScript</a:t>
            </a:r>
            <a:r>
              <a:rPr lang="ko-KR" altLang="en-US" sz="1900" dirty="0" smtClean="0"/>
              <a:t>는 </a:t>
            </a:r>
            <a:r>
              <a:rPr lang="en-US" altLang="ko-KR" sz="1900" dirty="0" smtClean="0"/>
              <a:t>ECMAScript</a:t>
            </a:r>
            <a:r>
              <a:rPr lang="ko-KR" altLang="en-US" sz="1900" dirty="0" smtClean="0"/>
              <a:t>의 규격에 맞춰 개발된 </a:t>
            </a:r>
            <a:r>
              <a:rPr lang="ko-KR" altLang="en-US" sz="1900" dirty="0" smtClean="0"/>
              <a:t>언어</a:t>
            </a:r>
            <a:r>
              <a:rPr lang="en-US" altLang="ko-KR" sz="1900" dirty="0" smtClean="0"/>
              <a:t>(</a:t>
            </a:r>
            <a:r>
              <a:rPr lang="ko-KR" altLang="en-US" sz="1900" dirty="0" smtClean="0">
                <a:solidFill>
                  <a:srgbClr val="0000FF"/>
                </a:solidFill>
              </a:rPr>
              <a:t>자바와는 관련이 없음</a:t>
            </a:r>
            <a:r>
              <a:rPr lang="en-US" altLang="ko-KR" sz="1900" dirty="0" smtClean="0"/>
              <a:t>)</a:t>
            </a:r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8468387" y="242894"/>
            <a:ext cx="2238103" cy="52226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ECMAScript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104409" y="1152984"/>
            <a:ext cx="1500052" cy="3797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JavaScript</a:t>
            </a:r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8839591" y="1152984"/>
            <a:ext cx="1500052" cy="3797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JScript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0541260" y="1152984"/>
            <a:ext cx="1500052" cy="3797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ActionScript</a:t>
            </a:r>
            <a:endParaRPr lang="en-US" dirty="0"/>
          </a:p>
        </p:txBody>
      </p:sp>
      <p:cxnSp>
        <p:nvCxnSpPr>
          <p:cNvPr id="7" name="직선 화살표 연결선 6"/>
          <p:cNvCxnSpPr>
            <a:stCxn id="4" idx="2"/>
            <a:endCxn id="8" idx="0"/>
          </p:cNvCxnSpPr>
          <p:nvPr/>
        </p:nvCxnSpPr>
        <p:spPr>
          <a:xfrm flipH="1">
            <a:off x="7854435" y="765163"/>
            <a:ext cx="1733004" cy="387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4" idx="2"/>
            <a:endCxn id="9" idx="0"/>
          </p:cNvCxnSpPr>
          <p:nvPr/>
        </p:nvCxnSpPr>
        <p:spPr>
          <a:xfrm>
            <a:off x="9587439" y="765163"/>
            <a:ext cx="2178" cy="387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4" idx="2"/>
            <a:endCxn id="10" idx="0"/>
          </p:cNvCxnSpPr>
          <p:nvPr/>
        </p:nvCxnSpPr>
        <p:spPr>
          <a:xfrm>
            <a:off x="9587439" y="765163"/>
            <a:ext cx="1703847" cy="387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83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>
                <a:solidFill>
                  <a:prstClr val="black"/>
                </a:solidFill>
              </a:rPr>
              <a:t>자바스크립트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자바 스크립트 구성요소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pic>
        <p:nvPicPr>
          <p:cNvPr id="2050" name="Picture 2" descr="https://miro.medium.com/max/900/1*GDGCFOr1d65UKnIo8IjArQ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4" r="20510"/>
          <a:stretch/>
        </p:blipFill>
        <p:spPr bwMode="auto">
          <a:xfrm>
            <a:off x="530551" y="1672046"/>
            <a:ext cx="3403459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4583341" y="1572180"/>
            <a:ext cx="706265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ECMAScript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자바스크립트의 기본 문법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 타입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제어문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반목문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함수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기본 라이브러리와 같은 프로그래밍적 요소</a:t>
            </a:r>
            <a:endParaRPr lang="en-US" altLang="ko-KR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node </a:t>
            </a:r>
            <a:r>
              <a:rPr lang="en-US" altLang="ko-KR" dirty="0" err="1" smtClean="0"/>
              <a:t>js</a:t>
            </a:r>
            <a:r>
              <a:rPr lang="ko-KR" altLang="en-US" dirty="0" smtClean="0"/>
              <a:t>를 이용한 서버 개발의 기본 지식</a:t>
            </a:r>
            <a:endParaRPr lang="en-US" altLang="ko-KR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DOM(Document Object </a:t>
            </a:r>
            <a:r>
              <a:rPr lang="en-US" altLang="ko-KR" sz="2000" b="1" dirty="0" smtClean="0"/>
              <a:t>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HTML, XML</a:t>
            </a:r>
            <a:r>
              <a:rPr lang="ko-KR" altLang="en-US" dirty="0" smtClean="0"/>
              <a:t>과 같은 구조화된 문서의 프로그래밍 </a:t>
            </a:r>
            <a:r>
              <a:rPr lang="en-US" altLang="ko-KR" dirty="0" smtClean="0"/>
              <a:t>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웹 페이지를 수정하거나 생성하는데 사용되는 모든 </a:t>
            </a:r>
            <a:r>
              <a:rPr lang="en-US" altLang="ko-KR" dirty="0" smtClean="0"/>
              <a:t>property, method, event </a:t>
            </a:r>
            <a:r>
              <a:rPr lang="ko-KR" altLang="en-US" dirty="0" smtClean="0"/>
              <a:t>들이 </a:t>
            </a:r>
            <a:r>
              <a:rPr lang="en-US" altLang="ko-KR" dirty="0" smtClean="0"/>
              <a:t>objects </a:t>
            </a:r>
            <a:r>
              <a:rPr lang="ko-KR" altLang="en-US" dirty="0" smtClean="0"/>
              <a:t>로 구성</a:t>
            </a:r>
            <a:endParaRPr lang="ko-KR" alt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sz="2000" b="1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BOM(Browser </a:t>
            </a:r>
            <a:r>
              <a:rPr lang="en-US" altLang="ko-KR" sz="2000" b="1" dirty="0"/>
              <a:t>Object </a:t>
            </a:r>
            <a:r>
              <a:rPr lang="en-US" altLang="ko-KR" sz="2000" b="1" dirty="0" smtClean="0"/>
              <a:t>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BOM(Browser </a:t>
            </a:r>
            <a:r>
              <a:rPr lang="en-US" altLang="ko-KR" dirty="0"/>
              <a:t>Object Model)</a:t>
            </a:r>
            <a:r>
              <a:rPr lang="ko-KR" altLang="en-US" dirty="0"/>
              <a:t>은 브라우저 창에 접근하고 조작할 수 있게 하는 인터페이스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1589" y="6312853"/>
            <a:ext cx="723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https://</a:t>
            </a:r>
            <a:r>
              <a:rPr lang="en-US" altLang="ko-KR" dirty="0" smtClean="0"/>
              <a:t>www.w3schools.com/howto/tryit.asp?filename=tryhow_js_sidenav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689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>
                <a:solidFill>
                  <a:prstClr val="black"/>
                </a:solidFill>
              </a:rPr>
              <a:t>자바스크립트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0552" y="801189"/>
            <a:ext cx="380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/>
              <a:t>크로스 </a:t>
            </a:r>
            <a:r>
              <a:rPr lang="ko-KR" altLang="en-US" sz="2000" b="1" dirty="0" err="1" smtClean="0"/>
              <a:t>브라우징</a:t>
            </a:r>
            <a:r>
              <a:rPr lang="en-US" altLang="ko-KR" sz="2000" b="1" dirty="0" smtClean="0"/>
              <a:t>(Cross Browsing)</a:t>
            </a:r>
            <a:endParaRPr lang="en-US" sz="2000" b="1" dirty="0"/>
          </a:p>
        </p:txBody>
      </p:sp>
      <p:pic>
        <p:nvPicPr>
          <p:cNvPr id="1026" name="Picture 2" descr="크로스 브라우징 이슈에 대응하는 프론트엔드 개발자들의 전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857" y="1452659"/>
            <a:ext cx="57150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370155" y="3219052"/>
            <a:ext cx="2063931" cy="8819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HTML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074387" y="3240616"/>
            <a:ext cx="2063931" cy="8538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CSS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108858" y="3240615"/>
            <a:ext cx="2406870" cy="8538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 err="1" smtClean="0">
                <a:solidFill>
                  <a:schemeClr val="tx1"/>
                </a:solidFill>
              </a:rPr>
              <a:t>Javascript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6340" y="3670695"/>
            <a:ext cx="198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폰트 크기</a:t>
            </a:r>
            <a:r>
              <a:rPr lang="en-US" altLang="ko-KR" dirty="0" smtClean="0"/>
              <a:t>, </a:t>
            </a:r>
            <a:r>
              <a:rPr lang="en-US" dirty="0" smtClean="0"/>
              <a:t>spacing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5797" y="3638023"/>
            <a:ext cx="1085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transition</a:t>
            </a:r>
            <a:endParaRPr 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2924855" y="4404762"/>
            <a:ext cx="43629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#amazing-element {</a:t>
            </a:r>
          </a:p>
          <a:p>
            <a:r>
              <a:rPr lang="en-US" dirty="0"/>
              <a:t>    -</a:t>
            </a:r>
            <a:r>
              <a:rPr lang="en-US" dirty="0" err="1"/>
              <a:t>webkit</a:t>
            </a:r>
            <a:r>
              <a:rPr lang="en-US" dirty="0"/>
              <a:t>-transition: all .3s ease-in-out;</a:t>
            </a:r>
          </a:p>
          <a:p>
            <a:r>
              <a:rPr lang="en-US" dirty="0"/>
              <a:t>    -</a:t>
            </a:r>
            <a:r>
              <a:rPr lang="en-US" dirty="0" err="1"/>
              <a:t>moz</a:t>
            </a:r>
            <a:r>
              <a:rPr lang="en-US" dirty="0"/>
              <a:t>-transition:    all .3s ease-in-out;</a:t>
            </a:r>
          </a:p>
          <a:p>
            <a:r>
              <a:rPr lang="en-US" dirty="0"/>
              <a:t>    -o-transition:      all .3s ease-in-out;</a:t>
            </a:r>
          </a:p>
          <a:p>
            <a:r>
              <a:rPr lang="en-US" dirty="0"/>
              <a:t>    -</a:t>
            </a:r>
            <a:r>
              <a:rPr lang="en-US" dirty="0" err="1"/>
              <a:t>ms</a:t>
            </a:r>
            <a:r>
              <a:rPr lang="en-US" dirty="0"/>
              <a:t>-transition:     all .3s ease-in-out;</a:t>
            </a:r>
          </a:p>
          <a:p>
            <a:r>
              <a:rPr lang="en-US" dirty="0"/>
              <a:t>    transition:         all .3s ease-in-out;</a:t>
            </a:r>
          </a:p>
          <a:p>
            <a:r>
              <a:rPr lang="en-US" dirty="0"/>
              <a:t>}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7169797" y="4466578"/>
            <a:ext cx="502220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 (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navigator.appName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== "</a:t>
            </a:r>
            <a:r>
              <a:rPr kumimoji="0" lang="en-US" altLang="en-US" sz="1400" b="1" i="0" u="none" strike="noStrike" cap="none" normalizeH="0" baseline="0" dirty="0" smtClean="0" bmk="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Microsoft Internet Explorer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") {</a:t>
            </a:r>
            <a:b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document.all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(id).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style.visibility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"visible";</a:t>
            </a:r>
            <a:b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} else if (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navigator.appName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== "</a:t>
            </a:r>
            <a:r>
              <a:rPr kumimoji="0" lang="en-US" altLang="en-US" sz="1400" b="1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Netscape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") {</a:t>
            </a:r>
            <a:b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if (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parseInt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navigator.appVersion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&lt; 5) {</a:t>
            </a:r>
            <a:b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en-US" sz="1400" dirty="0" bmk="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document.layers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[id].visibility = "show";</a:t>
            </a:r>
            <a:b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} else {</a:t>
            </a:r>
            <a:b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en-US" sz="1400" dirty="0" bmk="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document.getElementById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(id).</a:t>
            </a:r>
            <a:r>
              <a:rPr kumimoji="0" lang="en-US" altLang="en-US" sz="1400" b="0" i="0" u="none" strike="noStrike" cap="none" normalizeH="0" baseline="0" dirty="0" err="1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style.visibility</a:t>
            </a: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"visible";</a:t>
            </a:r>
            <a:b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en-US" sz="1400" b="0" i="0" u="none" strike="noStrike" cap="none" normalizeH="0" baseline="0" dirty="0" smtClean="0" bmk="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7901" y="4466578"/>
            <a:ext cx="198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reset file</a:t>
            </a:r>
            <a:endParaRPr lang="en-US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8112289" y="3655441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브라우저 별 처리 </a:t>
            </a:r>
            <a:r>
              <a:rPr lang="ko-KR" altLang="en-US" dirty="0" err="1" smtClean="0"/>
              <a:t>로직</a:t>
            </a:r>
            <a:endParaRPr 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1367244" y="4100988"/>
            <a:ext cx="0" cy="375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5090161" y="4100988"/>
            <a:ext cx="0" cy="375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9331424" y="4100988"/>
            <a:ext cx="0" cy="375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83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06997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데이터의 종류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2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데이터의 종류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변수와 상수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변수</a:t>
            </a:r>
            <a:r>
              <a:rPr lang="en-US" altLang="ko-KR" dirty="0" smtClean="0">
                <a:solidFill>
                  <a:prstClr val="black"/>
                </a:solidFill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</a:rPr>
              <a:t>저장된 값이 변할 수 있음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상수</a:t>
            </a:r>
            <a:r>
              <a:rPr lang="en-US" altLang="ko-KR" dirty="0" smtClean="0">
                <a:solidFill>
                  <a:prstClr val="black"/>
                </a:solidFill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</a:rPr>
              <a:t>저장된 값이 변할 수 없음 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변수 선언 </a:t>
            </a:r>
            <a:r>
              <a:rPr lang="ko-KR" altLang="en-US" dirty="0" smtClean="0">
                <a:solidFill>
                  <a:prstClr val="black"/>
                </a:solidFill>
              </a:rPr>
              <a:t>방법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r>
              <a:rPr lang="en-US" altLang="ko-KR" sz="2000" dirty="0" err="1" smtClean="0">
                <a:solidFill>
                  <a:prstClr val="black"/>
                </a:solidFill>
              </a:rPr>
              <a:t>var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pPr lvl="2"/>
            <a:r>
              <a:rPr lang="en-US" altLang="ko-KR" sz="2000" dirty="0" smtClean="0">
                <a:solidFill>
                  <a:prstClr val="black"/>
                </a:solidFill>
              </a:rPr>
              <a:t>let</a:t>
            </a:r>
          </a:p>
          <a:p>
            <a:pPr lvl="2"/>
            <a:r>
              <a:rPr lang="en-US" altLang="ko-KR" sz="2000" dirty="0" err="1" smtClean="0">
                <a:solidFill>
                  <a:prstClr val="black"/>
                </a:solidFill>
              </a:rPr>
              <a:t>const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73701" y="4437037"/>
            <a:ext cx="3108959" cy="1631216"/>
          </a:xfrm>
          <a:prstGeom prst="rect">
            <a:avLst/>
          </a:prstGeom>
          <a:ln>
            <a:solidFill>
              <a:schemeClr val="accent2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var</a:t>
            </a:r>
            <a:r>
              <a:rPr lang="en-US" sz="2000" dirty="0" smtClean="0"/>
              <a:t> hobby = 'game'</a:t>
            </a:r>
            <a:endParaRPr lang="en-US" sz="2000" dirty="0"/>
          </a:p>
          <a:p>
            <a:r>
              <a:rPr lang="en-US" sz="2000" dirty="0" smtClean="0"/>
              <a:t>console.log(</a:t>
            </a:r>
            <a:r>
              <a:rPr lang="en-US" sz="2000" dirty="0"/>
              <a:t>hobby</a:t>
            </a:r>
            <a:r>
              <a:rPr lang="en-US" sz="2000" dirty="0" smtClean="0"/>
              <a:t>)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 smtClean="0"/>
              <a:t>var</a:t>
            </a:r>
            <a:r>
              <a:rPr lang="en-US" sz="2000" dirty="0" smtClean="0"/>
              <a:t> hobby </a:t>
            </a:r>
            <a:r>
              <a:rPr lang="en-US" sz="2000" dirty="0"/>
              <a:t>= </a:t>
            </a:r>
            <a:r>
              <a:rPr lang="en-US" sz="2000" dirty="0" smtClean="0"/>
              <a:t>'programming'</a:t>
            </a:r>
            <a:endParaRPr lang="en-US" sz="2000" dirty="0"/>
          </a:p>
          <a:p>
            <a:r>
              <a:rPr lang="en-US" sz="2000" dirty="0" smtClean="0"/>
              <a:t>console.log(</a:t>
            </a:r>
            <a:r>
              <a:rPr lang="en-US" sz="2000" dirty="0"/>
              <a:t>hobby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689843" y="4785954"/>
            <a:ext cx="5402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변수를</a:t>
            </a:r>
            <a:r>
              <a:rPr lang="en-US" dirty="0" smtClean="0"/>
              <a:t> </a:t>
            </a:r>
            <a:r>
              <a:rPr lang="ko-KR" altLang="en-US" dirty="0" smtClean="0"/>
              <a:t>사용할 경우 유연하게 값을 변경할 수 있으나</a:t>
            </a:r>
            <a:endParaRPr lang="en-US" altLang="ko-KR" dirty="0" smtClean="0"/>
          </a:p>
          <a:p>
            <a:r>
              <a:rPr lang="ko-KR" altLang="en-US" dirty="0"/>
              <a:t>규모가 큰 </a:t>
            </a:r>
            <a:r>
              <a:rPr lang="ko-KR" altLang="en-US" dirty="0" smtClean="0"/>
              <a:t>프로젝트에 값을 자주 변경하면 </a:t>
            </a:r>
            <a:endParaRPr lang="en-US" altLang="ko-KR" dirty="0" smtClean="0"/>
          </a:p>
          <a:p>
            <a:r>
              <a:rPr lang="ko-KR" altLang="en-US" dirty="0" smtClean="0"/>
              <a:t>오히려 개발 속도가 저하되고 유지보수가 어려워 짐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327549" y="4794884"/>
            <a:ext cx="2489611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tx1"/>
                </a:solidFill>
              </a:rPr>
              <a:t>let</a:t>
            </a:r>
          </a:p>
          <a:p>
            <a:pPr algn="ctr"/>
            <a:r>
              <a:rPr lang="en-US" altLang="ko-KR" sz="2000" dirty="0" err="1" smtClean="0">
                <a:solidFill>
                  <a:schemeClr val="tx1"/>
                </a:solidFill>
              </a:rPr>
              <a:t>const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79054" y="5828711"/>
            <a:ext cx="2149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변하지 않는 값</a:t>
            </a:r>
            <a:r>
              <a:rPr lang="en-US" altLang="ko-KR" dirty="0" smtClean="0"/>
              <a:t>(ES6)</a:t>
            </a:r>
            <a:endParaRPr lang="en-US" dirty="0"/>
          </a:p>
        </p:txBody>
      </p:sp>
      <p:cxnSp>
        <p:nvCxnSpPr>
          <p:cNvPr id="12" name="직선 화살표 연결선 11"/>
          <p:cNvCxnSpPr>
            <a:stCxn id="6" idx="3"/>
            <a:endCxn id="7" idx="1"/>
          </p:cNvCxnSpPr>
          <p:nvPr/>
        </p:nvCxnSpPr>
        <p:spPr>
          <a:xfrm flipV="1">
            <a:off x="3382660" y="5247619"/>
            <a:ext cx="307183" cy="50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9022131" y="5247619"/>
            <a:ext cx="307183" cy="50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01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변수와 상수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let</a:t>
            </a:r>
            <a:r>
              <a:rPr lang="ko-KR" altLang="en-US" sz="1800" dirty="0" smtClean="0">
                <a:solidFill>
                  <a:prstClr val="black"/>
                </a:solidFill>
              </a:rPr>
              <a:t>과 </a:t>
            </a:r>
            <a:r>
              <a:rPr lang="en-US" altLang="ko-KR" sz="1800" dirty="0" err="1" smtClean="0">
                <a:solidFill>
                  <a:prstClr val="black"/>
                </a:solidFill>
              </a:rPr>
              <a:t>const</a:t>
            </a:r>
            <a:r>
              <a:rPr lang="ko-KR" altLang="en-US" sz="1800" dirty="0" smtClean="0">
                <a:solidFill>
                  <a:prstClr val="black"/>
                </a:solidFill>
              </a:rPr>
              <a:t>의 차이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1064808" y="1813838"/>
            <a:ext cx="4586530" cy="2246769"/>
          </a:xfrm>
          <a:prstGeom prst="rect">
            <a:avLst/>
          </a:prstGeom>
          <a:ln>
            <a:solidFill>
              <a:schemeClr val="accent2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let</a:t>
            </a:r>
            <a:r>
              <a:rPr lang="en-US" sz="2000" dirty="0" smtClean="0"/>
              <a:t> hobby = 'game'</a:t>
            </a:r>
            <a:endParaRPr lang="en-US" sz="2000" dirty="0"/>
          </a:p>
          <a:p>
            <a:r>
              <a:rPr lang="en-US" sz="2000" dirty="0" smtClean="0"/>
              <a:t>console.log(</a:t>
            </a:r>
            <a:r>
              <a:rPr lang="en-US" sz="2000" dirty="0"/>
              <a:t>hobby</a:t>
            </a:r>
            <a:r>
              <a:rPr lang="en-US" sz="2000" dirty="0" smtClean="0"/>
              <a:t>)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00FF"/>
                </a:solidFill>
              </a:rPr>
              <a:t>let</a:t>
            </a:r>
            <a:r>
              <a:rPr lang="en-US" sz="2000" dirty="0" smtClean="0"/>
              <a:t> hobby </a:t>
            </a:r>
            <a:r>
              <a:rPr lang="en-US" sz="2000" dirty="0"/>
              <a:t>= </a:t>
            </a:r>
            <a:r>
              <a:rPr lang="en-US" sz="2000" dirty="0" smtClean="0"/>
              <a:t>'programming'  (</a:t>
            </a:r>
            <a:r>
              <a:rPr lang="en-US" sz="2000" dirty="0"/>
              <a:t>X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console.log(</a:t>
            </a:r>
            <a:r>
              <a:rPr lang="en-US" sz="2000" dirty="0"/>
              <a:t>hobby</a:t>
            </a:r>
            <a:r>
              <a:rPr lang="en-US" sz="2000" dirty="0" smtClean="0"/>
              <a:t>)</a:t>
            </a:r>
          </a:p>
          <a:p>
            <a:endParaRPr lang="en-US" sz="2000" dirty="0"/>
          </a:p>
          <a:p>
            <a:r>
              <a:rPr lang="en-US" sz="2000" dirty="0" smtClean="0"/>
              <a:t>hobby = 'programming‘       (O)</a:t>
            </a:r>
            <a:endParaRPr lang="en-US" sz="2000" dirty="0"/>
          </a:p>
        </p:txBody>
      </p:sp>
      <p:sp>
        <p:nvSpPr>
          <p:cNvPr id="11" name="직사각형 10"/>
          <p:cNvSpPr/>
          <p:nvPr/>
        </p:nvSpPr>
        <p:spPr>
          <a:xfrm>
            <a:off x="6082601" y="1813838"/>
            <a:ext cx="4586530" cy="2246769"/>
          </a:xfrm>
          <a:prstGeom prst="rect">
            <a:avLst/>
          </a:prstGeom>
          <a:ln>
            <a:solidFill>
              <a:schemeClr val="accent2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FF00FF"/>
                </a:solidFill>
              </a:rPr>
              <a:t>const</a:t>
            </a:r>
            <a:r>
              <a:rPr lang="en-US" sz="2000" dirty="0" smtClean="0"/>
              <a:t> hobby = 'game'</a:t>
            </a:r>
            <a:endParaRPr lang="en-US" sz="2000" dirty="0"/>
          </a:p>
          <a:p>
            <a:r>
              <a:rPr lang="en-US" sz="2000" dirty="0" smtClean="0"/>
              <a:t>console.log(</a:t>
            </a:r>
            <a:r>
              <a:rPr lang="en-US" sz="2000" dirty="0"/>
              <a:t>hobby</a:t>
            </a:r>
            <a:r>
              <a:rPr lang="en-US" sz="2000" dirty="0" smtClean="0"/>
              <a:t>)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FF00FF"/>
                </a:solidFill>
              </a:rPr>
              <a:t>const</a:t>
            </a:r>
            <a:r>
              <a:rPr lang="en-US" sz="2000" dirty="0" smtClean="0"/>
              <a:t> hobby </a:t>
            </a:r>
            <a:r>
              <a:rPr lang="en-US" sz="2000" dirty="0"/>
              <a:t>= </a:t>
            </a:r>
            <a:r>
              <a:rPr lang="en-US" sz="2000" dirty="0" smtClean="0"/>
              <a:t>'programming‘   (X)</a:t>
            </a:r>
            <a:endParaRPr lang="en-US" sz="2000" dirty="0"/>
          </a:p>
          <a:p>
            <a:r>
              <a:rPr lang="en-US" sz="2000" dirty="0" smtClean="0"/>
              <a:t>console.log(</a:t>
            </a:r>
            <a:r>
              <a:rPr lang="en-US" sz="2000" dirty="0"/>
              <a:t>hobby</a:t>
            </a:r>
            <a:r>
              <a:rPr lang="en-US" sz="2000" dirty="0" smtClean="0"/>
              <a:t>)</a:t>
            </a:r>
          </a:p>
          <a:p>
            <a:endParaRPr lang="en-US" sz="2000" dirty="0"/>
          </a:p>
          <a:p>
            <a:r>
              <a:rPr lang="en-US" sz="2000" dirty="0"/>
              <a:t>hobby = </a:t>
            </a:r>
            <a:r>
              <a:rPr lang="en-US" sz="2000" dirty="0" smtClean="0"/>
              <a:t>'programming‘              (X)  </a:t>
            </a:r>
            <a:endParaRPr lang="en-US" sz="20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082972"/>
              </p:ext>
            </p:extLst>
          </p:nvPr>
        </p:nvGraphicFramePr>
        <p:xfrm>
          <a:off x="1064808" y="4616131"/>
          <a:ext cx="474009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030">
                  <a:extLst>
                    <a:ext uri="{9D8B030D-6E8A-4147-A177-3AD203B41FA5}">
                      <a16:colId xmlns:a16="http://schemas.microsoft.com/office/drawing/2014/main" val="3457592323"/>
                    </a:ext>
                  </a:extLst>
                </a:gridCol>
                <a:gridCol w="1580030">
                  <a:extLst>
                    <a:ext uri="{9D8B030D-6E8A-4147-A177-3AD203B41FA5}">
                      <a16:colId xmlns:a16="http://schemas.microsoft.com/office/drawing/2014/main" val="862643272"/>
                    </a:ext>
                  </a:extLst>
                </a:gridCol>
                <a:gridCol w="1580030">
                  <a:extLst>
                    <a:ext uri="{9D8B030D-6E8A-4147-A177-3AD203B41FA5}">
                      <a16:colId xmlns:a16="http://schemas.microsoft.com/office/drawing/2014/main" val="1189265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종류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 smtClean="0"/>
                        <a:t>재선언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재할당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05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 err="1" smtClean="0"/>
                        <a:t>var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3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71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const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09504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5873393" y="5043125"/>
            <a:ext cx="63836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ko-KR" altLang="en-US" dirty="0">
                <a:solidFill>
                  <a:srgbClr val="0000FF"/>
                </a:solidFill>
                <a:latin typeface="+mn-ea"/>
              </a:rPr>
              <a:t>될 수 있으면 변수보다 상수를 사용</a:t>
            </a:r>
            <a:endParaRPr lang="en-US" altLang="ko-KR" dirty="0">
              <a:solidFill>
                <a:srgbClr val="0000FF"/>
              </a:solidFill>
              <a:latin typeface="+mn-ea"/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  <a:latin typeface="+mn-ea"/>
              </a:rPr>
              <a:t>프로그램 실수를 미연에 방지할 수 있음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  <a:latin typeface="+mn-ea"/>
              </a:rPr>
              <a:t>우선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상수로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생각한 후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값이 변하는 것이 자연스럽다고 생각된다면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변수로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변경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0252" y="4616131"/>
            <a:ext cx="69923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결론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10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Scope(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변수가 유효한 범위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en-US" b="1" dirty="0" err="1" smtClean="0"/>
              <a:t>var</a:t>
            </a:r>
            <a:r>
              <a:rPr lang="en-US" dirty="0" smtClean="0"/>
              <a:t> </a:t>
            </a:r>
            <a:r>
              <a:rPr lang="ko-KR" altLang="en-US" dirty="0" smtClean="0"/>
              <a:t>는 </a:t>
            </a:r>
            <a:r>
              <a:rPr lang="en-US" i="1" dirty="0" smtClean="0">
                <a:solidFill>
                  <a:srgbClr val="0000FF"/>
                </a:solidFill>
              </a:rPr>
              <a:t>function scope, </a:t>
            </a:r>
            <a:r>
              <a:rPr lang="en-US" b="1" dirty="0" smtClean="0"/>
              <a:t>let</a:t>
            </a:r>
            <a:r>
              <a:rPr lang="ko-KR" altLang="en-US" dirty="0" smtClean="0"/>
              <a:t>과</a:t>
            </a:r>
            <a:r>
              <a:rPr lang="en-US" dirty="0" smtClean="0"/>
              <a:t> </a:t>
            </a:r>
            <a:r>
              <a:rPr lang="en-US" b="1" dirty="0" err="1"/>
              <a:t>const</a:t>
            </a:r>
            <a:r>
              <a:rPr lang="en-US" dirty="0"/>
              <a:t> </a:t>
            </a:r>
            <a:r>
              <a:rPr lang="ko-KR" altLang="en-US" dirty="0"/>
              <a:t>는 </a:t>
            </a:r>
            <a:r>
              <a:rPr lang="en-US" i="1" dirty="0">
                <a:solidFill>
                  <a:srgbClr val="0000FF"/>
                </a:solidFill>
              </a:rPr>
              <a:t>block </a:t>
            </a:r>
            <a:r>
              <a:rPr lang="en-US" i="1" dirty="0" smtClean="0">
                <a:solidFill>
                  <a:srgbClr val="0000FF"/>
                </a:solidFill>
              </a:rPr>
              <a:t>scope</a:t>
            </a:r>
          </a:p>
          <a:p>
            <a:pPr lvl="1"/>
            <a:r>
              <a:rPr lang="en-US" altLang="ko-KR" dirty="0"/>
              <a:t>function </a:t>
            </a:r>
            <a:r>
              <a:rPr lang="en-US" altLang="ko-KR" dirty="0" smtClean="0"/>
              <a:t>scope</a:t>
            </a:r>
          </a:p>
          <a:p>
            <a:pPr lvl="2"/>
            <a:r>
              <a:rPr lang="ko-KR" altLang="en-US" dirty="0" smtClean="0"/>
              <a:t>함수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내에서 선언된 변수는 함수 내에서만 유효하면 함수 외부에서 참조 불가</a:t>
            </a:r>
            <a:endParaRPr lang="en-US" altLang="ko-KR" dirty="0" smtClean="0"/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1095910" y="2895818"/>
            <a:ext cx="5126805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function</a:t>
            </a:r>
            <a:r>
              <a:rPr lang="en-US" sz="2000" dirty="0"/>
              <a:t> </a:t>
            </a:r>
            <a:r>
              <a:rPr lang="en-US" sz="2000" dirty="0" err="1"/>
              <a:t>setWidth</a:t>
            </a:r>
            <a:r>
              <a:rPr lang="en-US" sz="2000" dirty="0"/>
              <a:t>(){</a:t>
            </a:r>
          </a:p>
          <a:p>
            <a:r>
              <a:rPr lang="en-US" sz="2000" dirty="0"/>
              <a:t>    </a:t>
            </a:r>
            <a:r>
              <a:rPr lang="en-US" sz="2000" dirty="0" err="1">
                <a:solidFill>
                  <a:srgbClr val="FF0000"/>
                </a:solidFill>
              </a:rPr>
              <a:t>var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width</a:t>
            </a:r>
            <a:r>
              <a:rPr lang="en-US" sz="2000" dirty="0"/>
              <a:t> = 100;</a:t>
            </a:r>
          </a:p>
          <a:p>
            <a:r>
              <a:rPr lang="en-US" sz="2000" dirty="0"/>
              <a:t>    console.log(width);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>
                <a:solidFill>
                  <a:srgbClr val="0000FF"/>
                </a:solidFill>
              </a:rPr>
              <a:t>width</a:t>
            </a:r>
            <a:r>
              <a:rPr lang="en-US" sz="2000" dirty="0" smtClean="0"/>
              <a:t>;</a:t>
            </a:r>
          </a:p>
          <a:p>
            <a:endParaRPr lang="en-US" sz="20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Returns</a:t>
            </a:r>
            <a:r>
              <a:rPr lang="en-US" sz="2000" dirty="0">
                <a:solidFill>
                  <a:srgbClr val="00B050"/>
                </a:solidFill>
              </a:rPr>
              <a:t>:</a:t>
            </a:r>
            <a:br>
              <a:rPr lang="en-US" sz="2000" dirty="0">
                <a:solidFill>
                  <a:srgbClr val="00B050"/>
                </a:solidFill>
              </a:rPr>
            </a:br>
            <a:r>
              <a:rPr lang="en-US" sz="2000" dirty="0">
                <a:solidFill>
                  <a:srgbClr val="00B050"/>
                </a:solidFill>
              </a:rPr>
              <a:t>Uncaught </a:t>
            </a:r>
            <a:r>
              <a:rPr lang="en-US" sz="2000" dirty="0" err="1">
                <a:solidFill>
                  <a:srgbClr val="00B050"/>
                </a:solidFill>
              </a:rPr>
              <a:t>ReferenceError</a:t>
            </a:r>
            <a:r>
              <a:rPr lang="en-US" sz="2000" dirty="0">
                <a:solidFill>
                  <a:srgbClr val="00B050"/>
                </a:solidFill>
              </a:rPr>
              <a:t>: width is not defined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434653" y="3034317"/>
            <a:ext cx="5518495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FF0000"/>
                </a:solidFill>
              </a:rPr>
              <a:t>var</a:t>
            </a:r>
            <a:r>
              <a:rPr lang="en-US" sz="2000" dirty="0" smtClean="0"/>
              <a:t> age = 100;</a:t>
            </a:r>
          </a:p>
          <a:p>
            <a:r>
              <a:rPr lang="en-US" sz="2000" dirty="0" smtClean="0"/>
              <a:t>if (age &gt; 12)</a:t>
            </a:r>
            <a:r>
              <a:rPr lang="en-US" sz="2000" dirty="0" smtClean="0">
                <a:solidFill>
                  <a:srgbClr val="FF0000"/>
                </a:solidFill>
              </a:rPr>
              <a:t>{</a:t>
            </a:r>
          </a:p>
          <a:p>
            <a:r>
              <a:rPr lang="en-US" sz="2000" dirty="0" smtClean="0"/>
              <a:t>    </a:t>
            </a:r>
            <a:r>
              <a:rPr lang="en-US" sz="2000" dirty="0" err="1" smtClean="0">
                <a:solidFill>
                  <a:srgbClr val="FF0000"/>
                </a:solidFill>
              </a:rPr>
              <a:t>var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00FF"/>
                </a:solidFill>
              </a:rPr>
              <a:t>dogYears</a:t>
            </a:r>
            <a:r>
              <a:rPr lang="en-US" sz="2000" dirty="0" smtClean="0"/>
              <a:t> = age * 7;</a:t>
            </a:r>
          </a:p>
          <a:p>
            <a:r>
              <a:rPr lang="en-US" sz="2000" dirty="0" smtClean="0"/>
              <a:t>    console.log(`You are ${</a:t>
            </a:r>
            <a:r>
              <a:rPr lang="en-US" sz="2000" dirty="0" err="1" smtClean="0"/>
              <a:t>dogYears</a:t>
            </a:r>
            <a:r>
              <a:rPr lang="en-US" sz="2000" dirty="0" smtClean="0"/>
              <a:t>} dog years old!`);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}</a:t>
            </a:r>
          </a:p>
          <a:p>
            <a:r>
              <a:rPr lang="en-US" sz="2000" dirty="0" smtClean="0"/>
              <a:t>console.log(`in outside ${</a:t>
            </a:r>
            <a:r>
              <a:rPr lang="en-US" sz="2000" dirty="0" err="1" smtClean="0">
                <a:solidFill>
                  <a:srgbClr val="0000FF"/>
                </a:solidFill>
              </a:rPr>
              <a:t>dogYears</a:t>
            </a:r>
            <a:r>
              <a:rPr lang="en-US" sz="2000" dirty="0" smtClean="0"/>
              <a:t>} `)</a:t>
            </a:r>
            <a:endParaRPr lang="en-US" sz="2000" dirty="0"/>
          </a:p>
        </p:txBody>
      </p:sp>
      <p:sp>
        <p:nvSpPr>
          <p:cNvPr id="15" name="직사각형 14"/>
          <p:cNvSpPr/>
          <p:nvPr/>
        </p:nvSpPr>
        <p:spPr>
          <a:xfrm>
            <a:off x="5788352" y="8642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https://medium.com/@josephcardillo/the-difference-between-function-and-block-scope-in-javascript-4296b2322abe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222715" y="559675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dogYears</a:t>
            </a:r>
            <a:r>
              <a:rPr lang="en-US" dirty="0"/>
              <a:t> is not defined within a function in the above example — </a:t>
            </a:r>
            <a:r>
              <a:rPr lang="en-US" dirty="0" err="1"/>
              <a:t>var</a:t>
            </a:r>
            <a:r>
              <a:rPr lang="en-US" dirty="0"/>
              <a:t> is instead defined at the ‘window,’ or global scope.</a:t>
            </a:r>
          </a:p>
        </p:txBody>
      </p:sp>
    </p:spTree>
    <p:extLst>
      <p:ext uri="{BB962C8B-B14F-4D97-AF65-F5344CB8AC3E}">
        <p14:creationId xmlns:p14="http://schemas.microsoft.com/office/powerpoint/2010/main" val="92067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Scope</a:t>
            </a:r>
          </a:p>
          <a:p>
            <a:pPr lvl="1"/>
            <a:r>
              <a:rPr lang="en-US" altLang="ko-KR" dirty="0" smtClean="0"/>
              <a:t>block scope</a:t>
            </a:r>
          </a:p>
          <a:p>
            <a:pPr lvl="2"/>
            <a:r>
              <a:rPr lang="ko-KR" altLang="en-US" dirty="0" smtClean="0"/>
              <a:t>함수</a:t>
            </a:r>
            <a:r>
              <a:rPr lang="en-US" altLang="ko-KR" dirty="0" smtClean="0"/>
              <a:t>, if, for, while, try/catch..</a:t>
            </a:r>
          </a:p>
          <a:p>
            <a:pPr lvl="2"/>
            <a:r>
              <a:rPr lang="ko-KR" altLang="en-US" dirty="0" smtClean="0"/>
              <a:t>블록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내에서 선언된 변수는 블록 내에서만 유효하고 외부에서는 참조할 수 없음</a:t>
            </a:r>
            <a:endParaRPr lang="en-US" altLang="ko-KR" dirty="0" smtClean="0"/>
          </a:p>
          <a:p>
            <a:pPr lvl="1"/>
            <a:endParaRPr lang="en-US" altLang="ko-KR" sz="1800" dirty="0" smtClean="0"/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pic>
        <p:nvPicPr>
          <p:cNvPr id="14338" name="Picture 2" descr="The curly Bracket icon Quote symbol Flat Vector Imag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5" b="16607"/>
          <a:stretch/>
        </p:blipFill>
        <p:spPr bwMode="auto">
          <a:xfrm>
            <a:off x="2871496" y="1168430"/>
            <a:ext cx="2286129" cy="74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1578796" y="3095039"/>
            <a:ext cx="6096000" cy="25237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000" dirty="0" err="1"/>
              <a:t>var</a:t>
            </a:r>
            <a:r>
              <a:rPr lang="en-US" sz="2000" dirty="0"/>
              <a:t> age = 100;</a:t>
            </a:r>
          </a:p>
          <a:p>
            <a:r>
              <a:rPr lang="en-US" sz="2000" dirty="0" smtClean="0"/>
              <a:t>if </a:t>
            </a:r>
            <a:r>
              <a:rPr lang="en-US" sz="2000" dirty="0"/>
              <a:t>(age &gt; 12){</a:t>
            </a:r>
          </a:p>
          <a:p>
            <a:r>
              <a:rPr lang="en-US" sz="2000" dirty="0"/>
              <a:t>    </a:t>
            </a:r>
            <a:r>
              <a:rPr lang="en-US" sz="2000" dirty="0">
                <a:solidFill>
                  <a:srgbClr val="FF0000"/>
                </a:solidFill>
              </a:rPr>
              <a:t>let</a:t>
            </a:r>
            <a:r>
              <a:rPr lang="en-US" sz="2000" dirty="0"/>
              <a:t> </a:t>
            </a:r>
            <a:r>
              <a:rPr lang="en-US" sz="2000" dirty="0" err="1"/>
              <a:t>dogYears</a:t>
            </a:r>
            <a:r>
              <a:rPr lang="en-US" sz="2000" dirty="0"/>
              <a:t> = age * 7;</a:t>
            </a:r>
          </a:p>
          <a:p>
            <a:r>
              <a:rPr lang="en-US" sz="2000" dirty="0"/>
              <a:t>    console.log(`You are ${</a:t>
            </a:r>
            <a:r>
              <a:rPr lang="en-US" sz="2000" dirty="0" err="1"/>
              <a:t>dogYears</a:t>
            </a:r>
            <a:r>
              <a:rPr lang="en-US" sz="2000" dirty="0"/>
              <a:t>} dog years old!`);</a:t>
            </a:r>
          </a:p>
          <a:p>
            <a:r>
              <a:rPr lang="en-US" sz="2000" dirty="0" smtClean="0"/>
              <a:t>}</a:t>
            </a:r>
          </a:p>
          <a:p>
            <a:r>
              <a:rPr lang="en-US" sz="2000" dirty="0"/>
              <a:t>console.log(`in outside ${</a:t>
            </a:r>
            <a:r>
              <a:rPr lang="en-US" sz="2000" dirty="0" err="1"/>
              <a:t>dogYears</a:t>
            </a:r>
            <a:r>
              <a:rPr lang="en-US" sz="2000" dirty="0"/>
              <a:t>} </a:t>
            </a:r>
            <a:r>
              <a:rPr lang="en-US" sz="2000" dirty="0" smtClean="0"/>
              <a:t>`)</a:t>
            </a:r>
          </a:p>
          <a:p>
            <a:endParaRPr lang="en-US" sz="2000" dirty="0"/>
          </a:p>
          <a:p>
            <a:r>
              <a:rPr lang="en-US" dirty="0"/>
              <a:t>Uncaught </a:t>
            </a:r>
            <a:r>
              <a:rPr lang="en-US" dirty="0" err="1"/>
              <a:t>ReferenceError</a:t>
            </a:r>
            <a:r>
              <a:rPr lang="en-US" dirty="0"/>
              <a:t>: </a:t>
            </a:r>
            <a:r>
              <a:rPr lang="en-US" dirty="0" err="1"/>
              <a:t>dogYears</a:t>
            </a:r>
            <a:r>
              <a:rPr lang="en-US" dirty="0"/>
              <a:t> is not defined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3714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데이터 타입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자바스크립트에서는 원시 타입</a:t>
            </a:r>
            <a:r>
              <a:rPr lang="en-US" altLang="ko-KR" dirty="0"/>
              <a:t>(primitive type</a:t>
            </a:r>
            <a:r>
              <a:rPr lang="en-US" altLang="ko-KR" dirty="0" smtClean="0"/>
              <a:t>)</a:t>
            </a:r>
            <a:r>
              <a:rPr lang="ko-KR" altLang="en-US" dirty="0" smtClean="0"/>
              <a:t>과</a:t>
            </a:r>
            <a:r>
              <a:rPr lang="en-US" altLang="ko-KR" dirty="0" smtClean="0"/>
              <a:t> </a:t>
            </a:r>
            <a:r>
              <a:rPr lang="ko-KR" altLang="en-US" dirty="0"/>
              <a:t>참조 타입</a:t>
            </a:r>
            <a:r>
              <a:rPr lang="en-US" altLang="ko-KR" dirty="0"/>
              <a:t>(reference type)</a:t>
            </a:r>
            <a:r>
              <a:rPr lang="ko-KR" altLang="en-US" dirty="0"/>
              <a:t>이라는 두 가지 </a:t>
            </a:r>
            <a:r>
              <a:rPr lang="ko-KR" altLang="en-US" dirty="0" err="1"/>
              <a:t>자료형을</a:t>
            </a:r>
            <a:r>
              <a:rPr lang="ko-KR" altLang="en-US" dirty="0"/>
              <a:t> </a:t>
            </a:r>
            <a:r>
              <a:rPr lang="ko-KR" altLang="en-US" dirty="0" smtClean="0"/>
              <a:t>제공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pic>
        <p:nvPicPr>
          <p:cNvPr id="4098" name="Picture 2" descr="JavaScript Variables &amp; Data Types - Simple Snippe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59" y="2422065"/>
            <a:ext cx="11010478" cy="3906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1633591" y="5741256"/>
            <a:ext cx="1397285" cy="4726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(ES6)symbol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7847743" y="3561422"/>
            <a:ext cx="3928593" cy="47261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reference type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7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982447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리터럴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(literal)</a:t>
            </a:r>
          </a:p>
          <a:p>
            <a:pPr lvl="1"/>
            <a:r>
              <a:rPr lang="ko-KR" altLang="en-US" dirty="0"/>
              <a:t>값을 프로그램 안에서 직접 지정한다는 의미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변수에 할당되는 값 그 자체 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smtClean="0"/>
              <a:t>문자 </a:t>
            </a:r>
            <a:r>
              <a:rPr lang="ko-KR" altLang="en-US" dirty="0"/>
              <a:t>그대로</a:t>
            </a:r>
            <a:r>
              <a:rPr lang="en-US" altLang="ko-KR" dirty="0"/>
              <a:t>(</a:t>
            </a:r>
            <a:r>
              <a:rPr lang="en-US" dirty="0"/>
              <a:t>literally</a:t>
            </a:r>
            <a:r>
              <a:rPr lang="en-US" dirty="0" smtClean="0"/>
              <a:t>) </a:t>
            </a:r>
            <a:r>
              <a:rPr lang="ko-KR" altLang="en-US" dirty="0" smtClean="0"/>
              <a:t>스크립트에 값을 제공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err="1" smtClean="0"/>
              <a:t>리터럴은</a:t>
            </a:r>
            <a:r>
              <a:rPr lang="ko-KR" altLang="en-US" dirty="0" smtClean="0"/>
              <a:t> 값 그 자체</a:t>
            </a:r>
            <a:r>
              <a:rPr lang="en-US" altLang="ko-KR" dirty="0" smtClean="0"/>
              <a:t>, primitive type</a:t>
            </a:r>
            <a:r>
              <a:rPr lang="ko-KR" altLang="en-US" dirty="0" smtClean="0"/>
              <a:t>은 그 값의 종류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2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345911" y="2476072"/>
            <a:ext cx="4212406" cy="3276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 smtClean="0"/>
              <a:t>const</a:t>
            </a:r>
            <a:r>
              <a:rPr lang="en-US" sz="2000" dirty="0" smtClean="0"/>
              <a:t> number = 20;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/>
              <a:t>const</a:t>
            </a:r>
            <a:r>
              <a:rPr lang="en-US" sz="2000" dirty="0" smtClean="0"/>
              <a:t> bool = t</a:t>
            </a:r>
            <a:r>
              <a:rPr lang="en-US" sz="2000" dirty="0"/>
              <a:t>r</a:t>
            </a:r>
            <a:r>
              <a:rPr lang="en-US" sz="2000" dirty="0" smtClean="0"/>
              <a:t>ue;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/>
              <a:t>const</a:t>
            </a:r>
            <a:r>
              <a:rPr lang="en-US" sz="2000" dirty="0" smtClean="0"/>
              <a:t> </a:t>
            </a:r>
            <a:r>
              <a:rPr lang="en-US" sz="2000" dirty="0" err="1" smtClean="0"/>
              <a:t>str</a:t>
            </a:r>
            <a:r>
              <a:rPr lang="en-US" sz="2000" dirty="0" smtClean="0"/>
              <a:t> = ‘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>’;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const</a:t>
            </a:r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/>
              <a:t>def</a:t>
            </a:r>
            <a:r>
              <a:rPr lang="en-US" sz="2000" dirty="0"/>
              <a:t> </a:t>
            </a:r>
            <a:r>
              <a:rPr lang="en-US" sz="2000" dirty="0" smtClean="0"/>
              <a:t>= undefined;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/>
              <a:t>const</a:t>
            </a:r>
            <a:r>
              <a:rPr lang="en-US" sz="2000" dirty="0" smtClean="0"/>
              <a:t> </a:t>
            </a:r>
            <a:r>
              <a:rPr lang="en-US" sz="2000" dirty="0" err="1" smtClean="0"/>
              <a:t>arr</a:t>
            </a:r>
            <a:r>
              <a:rPr lang="en-US" sz="2000" dirty="0" smtClean="0"/>
              <a:t> = [1,2,3];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/>
              <a:t>const</a:t>
            </a:r>
            <a:r>
              <a:rPr lang="en-US" sz="2000" dirty="0" smtClean="0"/>
              <a:t> </a:t>
            </a:r>
            <a:r>
              <a:rPr lang="en-US" sz="2000" dirty="0" err="1" smtClean="0"/>
              <a:t>obj</a:t>
            </a:r>
            <a:r>
              <a:rPr lang="en-US" sz="2000" dirty="0" smtClean="0"/>
              <a:t> = {age:20, name:’</a:t>
            </a:r>
            <a:r>
              <a:rPr lang="en-US" sz="2000" dirty="0" err="1" smtClean="0"/>
              <a:t>kim</a:t>
            </a:r>
            <a:r>
              <a:rPr lang="en-US" sz="2000" dirty="0" smtClean="0"/>
              <a:t>’};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/>
              <a:t>const</a:t>
            </a:r>
            <a:r>
              <a:rPr lang="en-US" sz="2000" dirty="0" smtClean="0"/>
              <a:t> </a:t>
            </a:r>
            <a:r>
              <a:rPr lang="en-US" sz="2000" dirty="0" err="1" smtClean="0"/>
              <a:t>func</a:t>
            </a:r>
            <a:r>
              <a:rPr lang="en-US" sz="2000" dirty="0"/>
              <a:t> </a:t>
            </a:r>
            <a:r>
              <a:rPr lang="en-US" sz="2000" dirty="0" smtClean="0"/>
              <a:t>= function(){ return 5;}</a:t>
            </a:r>
          </a:p>
        </p:txBody>
      </p:sp>
    </p:spTree>
    <p:extLst>
      <p:ext uri="{BB962C8B-B14F-4D97-AF65-F5344CB8AC3E}">
        <p14:creationId xmlns:p14="http://schemas.microsoft.com/office/powerpoint/2010/main" val="280749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원시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타입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(primitive type)</a:t>
            </a:r>
            <a:endParaRPr lang="en-US" altLang="ko-KR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모든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원시 값은 불변</a:t>
            </a:r>
            <a:r>
              <a:rPr lang="en-US" altLang="ko-KR" dirty="0" smtClean="0">
                <a:solidFill>
                  <a:prstClr val="black"/>
                </a:solidFill>
              </a:rPr>
              <a:t>(immutable)</a:t>
            </a:r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Boolean </a:t>
            </a:r>
            <a:r>
              <a:rPr lang="ko-KR" altLang="en-US" dirty="0">
                <a:solidFill>
                  <a:prstClr val="black"/>
                </a:solidFill>
              </a:rPr>
              <a:t>타입</a:t>
            </a:r>
          </a:p>
          <a:p>
            <a:pPr lvl="2"/>
            <a:r>
              <a:rPr lang="en-US" altLang="ko-KR" dirty="0">
                <a:solidFill>
                  <a:prstClr val="black"/>
                </a:solidFill>
              </a:rPr>
              <a:t>Boolean </a:t>
            </a:r>
            <a:r>
              <a:rPr lang="ko-KR" altLang="en-US" dirty="0">
                <a:solidFill>
                  <a:prstClr val="black"/>
                </a:solidFill>
              </a:rPr>
              <a:t>은 논리적인 요소를 나타내고</a:t>
            </a:r>
            <a:r>
              <a:rPr lang="en-US" altLang="ko-KR" dirty="0">
                <a:solidFill>
                  <a:prstClr val="black"/>
                </a:solidFill>
              </a:rPr>
              <a:t>, true </a:t>
            </a:r>
            <a:r>
              <a:rPr lang="ko-KR" altLang="en-US" dirty="0">
                <a:solidFill>
                  <a:prstClr val="black"/>
                </a:solidFill>
              </a:rPr>
              <a:t>와 </a:t>
            </a:r>
            <a:r>
              <a:rPr lang="en-US" altLang="ko-KR" dirty="0">
                <a:solidFill>
                  <a:prstClr val="black"/>
                </a:solidFill>
              </a:rPr>
              <a:t>false </a:t>
            </a:r>
            <a:r>
              <a:rPr lang="ko-KR" altLang="en-US" dirty="0">
                <a:solidFill>
                  <a:prstClr val="black"/>
                </a:solidFill>
              </a:rPr>
              <a:t>의 두 가지 값을 가질 수 </a:t>
            </a:r>
            <a:r>
              <a:rPr lang="ko-KR" altLang="en-US" dirty="0" smtClean="0">
                <a:solidFill>
                  <a:prstClr val="black"/>
                </a:solidFill>
              </a:rPr>
              <a:t>있음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r>
              <a:rPr lang="en-US" altLang="ko-KR" u="sng" dirty="0" smtClean="0">
                <a:solidFill>
                  <a:prstClr val="black"/>
                </a:solidFill>
              </a:rPr>
              <a:t>true</a:t>
            </a:r>
            <a:r>
              <a:rPr lang="ko-KR" altLang="en-US" u="sng" dirty="0" smtClean="0">
                <a:solidFill>
                  <a:prstClr val="black"/>
                </a:solidFill>
              </a:rPr>
              <a:t>와 </a:t>
            </a:r>
            <a:r>
              <a:rPr lang="en-US" altLang="ko-KR" u="sng" dirty="0" smtClean="0">
                <a:solidFill>
                  <a:prstClr val="black"/>
                </a:solidFill>
              </a:rPr>
              <a:t>false</a:t>
            </a:r>
            <a:r>
              <a:rPr lang="ko-KR" altLang="en-US" u="sng" dirty="0" smtClean="0">
                <a:solidFill>
                  <a:prstClr val="black"/>
                </a:solidFill>
              </a:rPr>
              <a:t>에 문자열처럼 따옴표 쓰지 않도록 조심</a:t>
            </a:r>
            <a:endParaRPr lang="en-US" altLang="ko-KR" u="sng" dirty="0">
              <a:solidFill>
                <a:prstClr val="black"/>
              </a:solidFill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Null </a:t>
            </a:r>
            <a:r>
              <a:rPr lang="ko-KR" altLang="en-US" dirty="0">
                <a:solidFill>
                  <a:prstClr val="black"/>
                </a:solidFill>
              </a:rPr>
              <a:t>타입</a:t>
            </a:r>
          </a:p>
          <a:p>
            <a:pPr lvl="2"/>
            <a:r>
              <a:rPr lang="en-US" altLang="ko-KR" dirty="0">
                <a:solidFill>
                  <a:prstClr val="black"/>
                </a:solidFill>
              </a:rPr>
              <a:t>Null </a:t>
            </a:r>
            <a:r>
              <a:rPr lang="ko-KR" altLang="en-US" dirty="0">
                <a:solidFill>
                  <a:prstClr val="black"/>
                </a:solidFill>
              </a:rPr>
              <a:t>타입은 딱 한 가지 값</a:t>
            </a:r>
            <a:r>
              <a:rPr lang="en-US" altLang="ko-KR" dirty="0">
                <a:solidFill>
                  <a:prstClr val="black"/>
                </a:solidFill>
              </a:rPr>
              <a:t>, null </a:t>
            </a:r>
            <a:r>
              <a:rPr lang="ko-KR" altLang="en-US" dirty="0">
                <a:solidFill>
                  <a:prstClr val="black"/>
                </a:solidFill>
              </a:rPr>
              <a:t>을 가질 수 </a:t>
            </a:r>
            <a:r>
              <a:rPr lang="ko-KR" altLang="en-US" dirty="0" smtClean="0">
                <a:solidFill>
                  <a:prstClr val="black"/>
                </a:solidFill>
              </a:rPr>
              <a:t>있음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변수에 무언가 할당을 했지만 그 값은 비어 있는 것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Undefined </a:t>
            </a:r>
            <a:r>
              <a:rPr lang="ko-KR" altLang="en-US" dirty="0">
                <a:solidFill>
                  <a:prstClr val="black"/>
                </a:solidFill>
              </a:rPr>
              <a:t>타입</a:t>
            </a:r>
          </a:p>
          <a:p>
            <a:pPr lvl="2"/>
            <a:r>
              <a:rPr lang="ko-KR" altLang="en-US" dirty="0">
                <a:solidFill>
                  <a:prstClr val="black"/>
                </a:solidFill>
              </a:rPr>
              <a:t>값을 할당하지 않은 변수는 </a:t>
            </a:r>
            <a:r>
              <a:rPr lang="en-US" altLang="ko-KR" dirty="0">
                <a:solidFill>
                  <a:prstClr val="black"/>
                </a:solidFill>
              </a:rPr>
              <a:t>undefined </a:t>
            </a:r>
            <a:r>
              <a:rPr lang="ko-KR" altLang="en-US" dirty="0">
                <a:solidFill>
                  <a:prstClr val="black"/>
                </a:solidFill>
              </a:rPr>
              <a:t>값을 </a:t>
            </a:r>
            <a:r>
              <a:rPr lang="ko-KR" altLang="en-US" dirty="0" smtClean="0">
                <a:solidFill>
                  <a:prstClr val="black"/>
                </a:solidFill>
              </a:rPr>
              <a:t>가짐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선언된 변수지만 값 할당이 없는 것</a:t>
            </a:r>
            <a:endParaRPr lang="en-US" altLang="ko-KR" sz="1600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null</a:t>
            </a:r>
            <a:r>
              <a:rPr lang="ko-KR" altLang="en-US" dirty="0" smtClean="0">
                <a:solidFill>
                  <a:prstClr val="black"/>
                </a:solidFill>
              </a:rPr>
              <a:t>과 </a:t>
            </a:r>
            <a:r>
              <a:rPr lang="en-US" altLang="ko-KR" dirty="0" smtClean="0">
                <a:solidFill>
                  <a:prstClr val="black"/>
                </a:solidFill>
              </a:rPr>
              <a:t>undefine</a:t>
            </a:r>
            <a:r>
              <a:rPr lang="en-US" altLang="ko-KR" dirty="0">
                <a:solidFill>
                  <a:prstClr val="black"/>
                </a:solidFill>
              </a:rPr>
              <a:t>d</a:t>
            </a:r>
            <a:r>
              <a:rPr lang="ko-KR" altLang="en-US" dirty="0" smtClean="0">
                <a:solidFill>
                  <a:prstClr val="black"/>
                </a:solidFill>
              </a:rPr>
              <a:t>는 다르지만 동등 연산자</a:t>
            </a:r>
            <a:r>
              <a:rPr lang="en-US" altLang="ko-KR" dirty="0" smtClean="0">
                <a:solidFill>
                  <a:prstClr val="black"/>
                </a:solidFill>
              </a:rPr>
              <a:t>(==)</a:t>
            </a:r>
            <a:r>
              <a:rPr lang="ko-KR" altLang="en-US" dirty="0" smtClean="0">
                <a:solidFill>
                  <a:prstClr val="black"/>
                </a:solidFill>
              </a:rPr>
              <a:t>는 둘을 같은 것으로 간주</a:t>
            </a:r>
            <a:r>
              <a:rPr lang="en-US" altLang="ko-KR" dirty="0" smtClean="0">
                <a:solidFill>
                  <a:prstClr val="black"/>
                </a:solidFill>
              </a:rPr>
              <a:t>(c.f., </a:t>
            </a:r>
            <a:r>
              <a:rPr lang="ko-KR" altLang="en-US" dirty="0" smtClean="0">
                <a:solidFill>
                  <a:prstClr val="black"/>
                </a:solidFill>
              </a:rPr>
              <a:t>일치 </a:t>
            </a:r>
            <a:r>
              <a:rPr lang="ko-KR" altLang="en-US" smtClean="0">
                <a:solidFill>
                  <a:prstClr val="black"/>
                </a:solidFill>
              </a:rPr>
              <a:t>연산자 </a:t>
            </a:r>
            <a:r>
              <a:rPr lang="en-US" altLang="ko-KR" smtClean="0">
                <a:solidFill>
                  <a:prstClr val="black"/>
                </a:solidFill>
              </a:rPr>
              <a:t>===)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변수의 값을 아직 모르거나 적용할 수 없는 경우에는 대부분 </a:t>
            </a:r>
            <a:r>
              <a:rPr lang="en-US" altLang="ko-KR" dirty="0" smtClean="0">
                <a:solidFill>
                  <a:prstClr val="black"/>
                </a:solidFill>
              </a:rPr>
              <a:t>null</a:t>
            </a:r>
            <a:r>
              <a:rPr lang="ko-KR" altLang="en-US" dirty="0" smtClean="0">
                <a:solidFill>
                  <a:prstClr val="black"/>
                </a:solidFill>
              </a:rPr>
              <a:t>을 사용</a:t>
            </a:r>
            <a:endParaRPr lang="en-US" altLang="ko-KR" dirty="0">
              <a:solidFill>
                <a:prstClr val="black"/>
              </a:solidFill>
            </a:endParaRPr>
          </a:p>
          <a:p>
            <a:pPr lvl="2"/>
            <a:endParaRPr lang="en-US" altLang="ko-KR" sz="1600" dirty="0">
              <a:solidFill>
                <a:prstClr val="black"/>
              </a:solidFill>
            </a:endParaRPr>
          </a:p>
          <a:p>
            <a:pPr lvl="2"/>
            <a:endParaRPr lang="en-US" altLang="ko-KR" sz="1600" dirty="0">
              <a:solidFill>
                <a:prstClr val="black"/>
              </a:solidFill>
            </a:endParaRPr>
          </a:p>
          <a:p>
            <a:pPr lvl="2"/>
            <a:endParaRPr lang="en-US" altLang="ko-KR" sz="1600" dirty="0" smtClean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8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982447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원시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타입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</a:t>
            </a:r>
            <a:r>
              <a:rPr lang="en-US" altLang="ko-KR" sz="2200" b="1" dirty="0">
                <a:solidFill>
                  <a:prstClr val="black"/>
                </a:solidFill>
              </a:rPr>
              <a:t>primitive type)</a:t>
            </a:r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Number</a:t>
            </a:r>
          </a:p>
          <a:p>
            <a:pPr lvl="2"/>
            <a:r>
              <a:rPr lang="ko-KR" altLang="en-US" dirty="0">
                <a:solidFill>
                  <a:srgbClr val="0000FF"/>
                </a:solidFill>
              </a:rPr>
              <a:t>부동 소수점 형식</a:t>
            </a:r>
            <a:r>
              <a:rPr lang="ko-KR" altLang="en-US" dirty="0"/>
              <a:t>을 사용</a:t>
            </a:r>
            <a:r>
              <a:rPr lang="en-US" altLang="ko-KR" dirty="0"/>
              <a:t>, </a:t>
            </a:r>
            <a:r>
              <a:rPr lang="ko-KR" altLang="en-US" dirty="0"/>
              <a:t>이 형식을 통상적으로 더블이라 </a:t>
            </a:r>
            <a:r>
              <a:rPr lang="ko-KR" altLang="en-US" dirty="0" smtClean="0"/>
              <a:t>부름</a:t>
            </a:r>
            <a:endParaRPr lang="en-US" altLang="ko-KR" dirty="0" smtClean="0"/>
          </a:p>
          <a:p>
            <a:pPr lvl="3"/>
            <a:r>
              <a:rPr lang="ko-KR" altLang="en-US" dirty="0"/>
              <a:t>실수를 컴퓨터상에서 </a:t>
            </a:r>
            <a:r>
              <a:rPr lang="ko-KR" altLang="en-US" dirty="0" err="1"/>
              <a:t>근사하여</a:t>
            </a:r>
            <a:r>
              <a:rPr lang="ko-KR" altLang="en-US" dirty="0"/>
              <a:t> </a:t>
            </a:r>
            <a:r>
              <a:rPr lang="ko-KR" altLang="en-US" dirty="0" smtClean="0"/>
              <a:t>표현</a:t>
            </a:r>
            <a:endParaRPr lang="en-US" altLang="ko-KR" dirty="0" smtClean="0"/>
          </a:p>
          <a:p>
            <a:pPr lvl="2"/>
            <a:r>
              <a:rPr lang="en-US" altLang="ko-KR" dirty="0"/>
              <a:t>0.1+0.2 = 0.3000000000000004</a:t>
            </a:r>
            <a:r>
              <a:rPr lang="ko-KR" altLang="en-US" dirty="0"/>
              <a:t>를 반환 </a:t>
            </a:r>
            <a:r>
              <a:rPr lang="en-US" altLang="ko-KR" dirty="0"/>
              <a:t>-&gt; </a:t>
            </a:r>
            <a:r>
              <a:rPr lang="ko-KR" altLang="en-US" dirty="0"/>
              <a:t>고성능 정수 연산이나 정밀한 소수점 연산이 필요한 애플리케이션에는 부적합</a:t>
            </a:r>
            <a:endParaRPr lang="en-US" altLang="ko-KR" dirty="0"/>
          </a:p>
          <a:p>
            <a:pPr lvl="2"/>
            <a:r>
              <a:rPr lang="en-US" altLang="ko-KR" dirty="0" err="1" smtClean="0">
                <a:solidFill>
                  <a:prstClr val="black"/>
                </a:solidFill>
              </a:rPr>
              <a:t>NaN</a:t>
            </a:r>
            <a:r>
              <a:rPr lang="en-US" altLang="ko-KR" dirty="0" smtClean="0">
                <a:solidFill>
                  <a:prstClr val="black"/>
                </a:solidFill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</a:rPr>
              <a:t>숫자가 아님을 나타내는 값</a:t>
            </a:r>
            <a:endParaRPr lang="en-US" altLang="ko-KR" dirty="0">
              <a:solidFill>
                <a:prstClr val="black"/>
              </a:solidFill>
            </a:endParaRPr>
          </a:p>
          <a:p>
            <a:pPr lvl="2"/>
            <a:endParaRPr lang="en-US" altLang="ko-KR" sz="16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7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982447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원시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타입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</a:t>
            </a:r>
            <a:r>
              <a:rPr lang="en-US" altLang="ko-KR" sz="2200" b="1" dirty="0">
                <a:solidFill>
                  <a:prstClr val="black"/>
                </a:solidFill>
              </a:rPr>
              <a:t>primitive type)</a:t>
            </a:r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String</a:t>
            </a:r>
            <a:endParaRPr lang="en-US" altLang="ko-KR" dirty="0">
              <a:solidFill>
                <a:prstClr val="black"/>
              </a:solidFill>
            </a:endParaRP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이스케이프</a:t>
            </a:r>
            <a:endParaRPr lang="en-US" altLang="ko-KR" dirty="0">
              <a:solidFill>
                <a:prstClr val="black"/>
              </a:solidFill>
            </a:endParaRPr>
          </a:p>
          <a:p>
            <a:pPr lvl="3"/>
            <a:r>
              <a:rPr lang="en-US" altLang="ko-KR" sz="2000" dirty="0" smtClean="0">
                <a:solidFill>
                  <a:srgbClr val="0000FF"/>
                </a:solidFill>
              </a:rPr>
              <a:t>“</a:t>
            </a:r>
            <a:r>
              <a:rPr lang="en-US" altLang="ko-KR" sz="2000" dirty="0" smtClean="0">
                <a:solidFill>
                  <a:prstClr val="black"/>
                </a:solidFill>
              </a:rPr>
              <a:t>Sam looked up and said </a:t>
            </a:r>
            <a:r>
              <a:rPr lang="en-US" altLang="ko-KR" sz="2000" dirty="0" smtClean="0">
                <a:solidFill>
                  <a:srgbClr val="FF00FF"/>
                </a:solidFill>
              </a:rPr>
              <a:t>“</a:t>
            </a:r>
            <a:r>
              <a:rPr lang="en-US" altLang="ko-KR" sz="2000" dirty="0" smtClean="0">
                <a:solidFill>
                  <a:prstClr val="black"/>
                </a:solidFill>
              </a:rPr>
              <a:t>don’t do that!</a:t>
            </a:r>
            <a:r>
              <a:rPr lang="en-US" altLang="ko-KR" sz="2000" dirty="0" smtClean="0">
                <a:solidFill>
                  <a:srgbClr val="FF00FF"/>
                </a:solidFill>
              </a:rPr>
              <a:t>”</a:t>
            </a:r>
            <a:r>
              <a:rPr lang="en-US" altLang="ko-KR" sz="2000" dirty="0" smtClean="0">
                <a:solidFill>
                  <a:prstClr val="black"/>
                </a:solidFill>
              </a:rPr>
              <a:t> to Max.</a:t>
            </a:r>
            <a:r>
              <a:rPr lang="en-US" altLang="ko-KR" sz="2000" dirty="0" smtClean="0">
                <a:solidFill>
                  <a:srgbClr val="0000FF"/>
                </a:solidFill>
              </a:rPr>
              <a:t>”</a:t>
            </a:r>
            <a:r>
              <a:rPr lang="en-US" altLang="ko-KR" sz="2000" dirty="0" smtClean="0">
                <a:solidFill>
                  <a:prstClr val="black"/>
                </a:solidFill>
              </a:rPr>
              <a:t> </a:t>
            </a:r>
          </a:p>
          <a:p>
            <a:pPr lvl="3"/>
            <a:r>
              <a:rPr lang="en-US" altLang="ko-KR" sz="20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dirty="0" smtClean="0">
                <a:solidFill>
                  <a:srgbClr val="0000FF"/>
                </a:solidFill>
              </a:rPr>
              <a:t>“</a:t>
            </a:r>
            <a:r>
              <a:rPr lang="en-US" altLang="ko-KR" sz="2000" dirty="0">
                <a:solidFill>
                  <a:prstClr val="black"/>
                </a:solidFill>
              </a:rPr>
              <a:t>Sam looked up and said </a:t>
            </a:r>
            <a:r>
              <a:rPr lang="en-US" altLang="ko-KR" sz="2000" dirty="0" smtClean="0">
                <a:solidFill>
                  <a:srgbClr val="FF00FF"/>
                </a:solidFill>
              </a:rPr>
              <a:t>\“</a:t>
            </a:r>
            <a:r>
              <a:rPr lang="en-US" altLang="ko-KR" sz="2000" dirty="0">
                <a:solidFill>
                  <a:prstClr val="black"/>
                </a:solidFill>
              </a:rPr>
              <a:t>don’t do that</a:t>
            </a:r>
            <a:r>
              <a:rPr lang="en-US" altLang="ko-KR" sz="2000" dirty="0" smtClean="0">
                <a:solidFill>
                  <a:prstClr val="black"/>
                </a:solidFill>
              </a:rPr>
              <a:t>!</a:t>
            </a:r>
            <a:r>
              <a:rPr lang="en-US" altLang="ko-KR" sz="2000" dirty="0" smtClean="0">
                <a:solidFill>
                  <a:srgbClr val="FF00FF"/>
                </a:solidFill>
              </a:rPr>
              <a:t>\”</a:t>
            </a:r>
            <a:r>
              <a:rPr lang="en-US" altLang="ko-KR" sz="2000" dirty="0" smtClean="0">
                <a:solidFill>
                  <a:prstClr val="black"/>
                </a:solidFill>
              </a:rPr>
              <a:t> </a:t>
            </a:r>
            <a:r>
              <a:rPr lang="en-US" altLang="ko-KR" sz="2000" dirty="0">
                <a:solidFill>
                  <a:prstClr val="black"/>
                </a:solidFill>
              </a:rPr>
              <a:t>to Max.</a:t>
            </a:r>
            <a:r>
              <a:rPr lang="en-US" altLang="ko-KR" sz="2000" dirty="0">
                <a:solidFill>
                  <a:srgbClr val="0000FF"/>
                </a:solidFill>
              </a:rPr>
              <a:t>”</a:t>
            </a: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문자열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템플릿</a:t>
            </a:r>
            <a:r>
              <a:rPr lang="en-US" altLang="ko-KR" dirty="0" smtClean="0">
                <a:solidFill>
                  <a:prstClr val="black"/>
                </a:solidFill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</a:rPr>
              <a:t>변수를 포함하는 문자열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endParaRPr lang="en-US" altLang="ko-KR" dirty="0">
              <a:solidFill>
                <a:prstClr val="black"/>
              </a:solidFill>
            </a:endParaRPr>
          </a:p>
          <a:p>
            <a:pPr lvl="2"/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문자와 숫자의 혼합</a:t>
            </a:r>
            <a:r>
              <a:rPr lang="en-US" altLang="ko-KR" dirty="0" smtClean="0">
                <a:solidFill>
                  <a:prstClr val="black"/>
                </a:solidFill>
              </a:rPr>
              <a:t>: </a:t>
            </a:r>
            <a:r>
              <a:rPr lang="ko-KR" altLang="en-US" u="sng" dirty="0" smtClean="0">
                <a:solidFill>
                  <a:prstClr val="black"/>
                </a:solidFill>
              </a:rPr>
              <a:t>사용자 입력은 항상 문자열로 들어오기 때문에</a:t>
            </a:r>
            <a:r>
              <a:rPr lang="ko-KR" altLang="en-US" dirty="0" smtClean="0">
                <a:solidFill>
                  <a:prstClr val="black"/>
                </a:solidFill>
              </a:rPr>
              <a:t> 필요한 경우 형 변환 필요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endParaRPr lang="en-US" altLang="ko-KR" dirty="0">
              <a:solidFill>
                <a:prstClr val="black"/>
              </a:solidFill>
            </a:endParaRPr>
          </a:p>
          <a:p>
            <a:pPr lvl="2"/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endParaRPr lang="en-US" altLang="ko-KR" dirty="0">
              <a:solidFill>
                <a:prstClr val="black"/>
              </a:solidFill>
            </a:endParaRPr>
          </a:p>
          <a:p>
            <a:pPr lvl="3"/>
            <a:endParaRPr lang="en-US" altLang="ko-KR" sz="2000" dirty="0">
              <a:solidFill>
                <a:srgbClr val="0000FF"/>
              </a:solidFill>
            </a:endParaRPr>
          </a:p>
          <a:p>
            <a:pPr lvl="2"/>
            <a:endParaRPr lang="en-US" altLang="ko-KR" sz="16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67155" y="3394680"/>
            <a:ext cx="41610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err="1" smtClean="0"/>
              <a:t>var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price = 2000;</a:t>
            </a:r>
          </a:p>
          <a:p>
            <a:r>
              <a:rPr lang="en-US" sz="2000" dirty="0" err="1" smtClean="0"/>
              <a:t>const</a:t>
            </a:r>
            <a:r>
              <a:rPr lang="en-US" sz="2000" dirty="0" smtClean="0"/>
              <a:t> ad = `It’s ${price} won`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767155" y="4790253"/>
            <a:ext cx="41610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err="1" smtClean="0"/>
              <a:t>var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temp= 3+ ‘20’; </a:t>
            </a:r>
            <a:r>
              <a:rPr lang="en-US" altLang="ko-KR" sz="2000" dirty="0" smtClean="0">
                <a:sym typeface="Wingdings" panose="05000000000000000000" pitchFamily="2" charset="2"/>
              </a:rPr>
              <a:t></a:t>
            </a:r>
            <a:r>
              <a:rPr lang="ko-KR" altLang="en-US" sz="2000" dirty="0" smtClean="0">
                <a:sym typeface="Wingdings" panose="05000000000000000000" pitchFamily="2" charset="2"/>
              </a:rPr>
              <a:t>문자열 </a:t>
            </a:r>
            <a:r>
              <a:rPr lang="en-US" altLang="ko-KR" sz="2000" dirty="0" smtClean="0">
                <a:sym typeface="Wingdings" panose="05000000000000000000" pitchFamily="2" charset="2"/>
              </a:rPr>
              <a:t>‘</a:t>
            </a:r>
            <a:r>
              <a:rPr lang="en-US" altLang="ko-KR" sz="2000" dirty="0">
                <a:sym typeface="Wingdings" panose="05000000000000000000" pitchFamily="2" charset="2"/>
              </a:rPr>
              <a:t>330</a:t>
            </a:r>
            <a:r>
              <a:rPr lang="en-US" altLang="ko-KR" sz="2000" dirty="0" smtClean="0">
                <a:sym typeface="Wingdings" panose="05000000000000000000" pitchFamily="2" charset="2"/>
              </a:rPr>
              <a:t>’</a:t>
            </a:r>
            <a:endParaRPr lang="en-US" altLang="ko-KR" sz="2000" dirty="0" smtClean="0"/>
          </a:p>
          <a:p>
            <a:r>
              <a:rPr lang="en-US" altLang="ko-KR" sz="2000" dirty="0" err="1" smtClean="0"/>
              <a:t>var</a:t>
            </a:r>
            <a:r>
              <a:rPr lang="en-US" altLang="ko-KR" sz="2000" dirty="0" smtClean="0"/>
              <a:t> temp= 2* ‘20’; </a:t>
            </a:r>
            <a:r>
              <a:rPr lang="en-US" altLang="ko-KR" sz="2000" dirty="0" smtClean="0">
                <a:sym typeface="Wingdings" panose="05000000000000000000" pitchFamily="2" charset="2"/>
              </a:rPr>
              <a:t></a:t>
            </a:r>
            <a:r>
              <a:rPr lang="ko-KR" altLang="en-US" sz="2000" dirty="0" smtClean="0">
                <a:sym typeface="Wingdings" panose="05000000000000000000" pitchFamily="2" charset="2"/>
              </a:rPr>
              <a:t>숫자 </a:t>
            </a:r>
            <a:r>
              <a:rPr lang="en-US" altLang="ko-KR" sz="2000" dirty="0" smtClean="0">
                <a:sym typeface="Wingdings" panose="05000000000000000000" pitchFamily="2" charset="2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8189" y="4759431"/>
            <a:ext cx="489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덧셈 연산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일반적으로 문자열을 붙인다고 생각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28189" y="5152599"/>
            <a:ext cx="5359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곱셈 연산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일반적으로 </a:t>
            </a:r>
            <a:r>
              <a:rPr lang="ko-KR" altLang="en-US" dirty="0" err="1" smtClean="0"/>
              <a:t>숫자형의</a:t>
            </a:r>
            <a:r>
              <a:rPr lang="ko-KR" altLang="en-US" dirty="0" smtClean="0"/>
              <a:t> 산술연산으로 생각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67155" y="5689914"/>
            <a:ext cx="416103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err="1" smtClean="0"/>
              <a:t>var</a:t>
            </a:r>
            <a:r>
              <a:rPr lang="en-US" altLang="ko-KR" sz="2000" dirty="0" smtClean="0"/>
              <a:t> a = “</a:t>
            </a:r>
            <a:r>
              <a:rPr lang="en-US" altLang="ko-KR" sz="2000" dirty="0"/>
              <a:t>40</a:t>
            </a:r>
            <a:r>
              <a:rPr lang="en-US" altLang="ko-KR" sz="2000" dirty="0" smtClean="0"/>
              <a:t>”</a:t>
            </a:r>
          </a:p>
          <a:p>
            <a:r>
              <a:rPr lang="en-US" altLang="ko-KR" sz="2000" dirty="0" err="1" smtClean="0">
                <a:sym typeface="Wingdings" panose="05000000000000000000" pitchFamily="2" charset="2"/>
              </a:rPr>
              <a:t>typeof</a:t>
            </a:r>
            <a:r>
              <a:rPr lang="en-US" altLang="ko-KR" sz="2000" dirty="0" smtClean="0">
                <a:sym typeface="Wingdings" panose="05000000000000000000" pitchFamily="2" charset="2"/>
              </a:rPr>
              <a:t>(a*1)</a:t>
            </a:r>
          </a:p>
          <a:p>
            <a:r>
              <a:rPr lang="en-US" altLang="ko-KR" sz="2000" dirty="0" smtClean="0">
                <a:sym typeface="Wingdings" panose="05000000000000000000" pitchFamily="2" charset="2"/>
              </a:rPr>
              <a:t>“</a:t>
            </a:r>
            <a:r>
              <a:rPr lang="en-US" altLang="ko-KR" sz="2000" dirty="0" smtClean="0">
                <a:solidFill>
                  <a:srgbClr val="C00000"/>
                </a:solidFill>
                <a:sym typeface="Wingdings" panose="05000000000000000000" pitchFamily="2" charset="2"/>
              </a:rPr>
              <a:t>number</a:t>
            </a:r>
            <a:r>
              <a:rPr lang="en-US" altLang="ko-KR" sz="2000" dirty="0" smtClean="0">
                <a:sym typeface="Wingdings" panose="05000000000000000000" pitchFamily="2" charset="2"/>
              </a:rPr>
              <a:t>”</a:t>
            </a:r>
          </a:p>
        </p:txBody>
      </p:sp>
      <p:sp>
        <p:nvSpPr>
          <p:cNvPr id="10" name="타원 9"/>
          <p:cNvSpPr/>
          <p:nvPr/>
        </p:nvSpPr>
        <p:spPr>
          <a:xfrm>
            <a:off x="4674733" y="3692629"/>
            <a:ext cx="205483" cy="201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직선 화살표 연결선 11"/>
          <p:cNvCxnSpPr>
            <a:stCxn id="10" idx="6"/>
            <a:endCxn id="14" idx="1"/>
          </p:cNvCxnSpPr>
          <p:nvPr/>
        </p:nvCxnSpPr>
        <p:spPr>
          <a:xfrm flipV="1">
            <a:off x="4880216" y="3259461"/>
            <a:ext cx="1551406" cy="533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31622" y="3074795"/>
            <a:ext cx="314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백틱기호</a:t>
            </a:r>
            <a:r>
              <a:rPr lang="en-US" altLang="ko-KR" dirty="0" smtClean="0"/>
              <a:t>(</a:t>
            </a:r>
            <a:r>
              <a:rPr lang="ko-KR" altLang="en-US" dirty="0" smtClean="0"/>
              <a:t>키보드 숫자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옆에</a:t>
            </a:r>
            <a:r>
              <a:rPr lang="en-US" altLang="ko-KR" dirty="0" smtClean="0"/>
              <a:t>)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282732" y="3734628"/>
            <a:ext cx="412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“it’s ” + price + “won”  (</a:t>
            </a:r>
            <a:r>
              <a:rPr lang="ko-KR" altLang="en-US" dirty="0" smtClean="0"/>
              <a:t>표현이 번거로움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4777474" y="3943573"/>
            <a:ext cx="2517178" cy="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3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데이터의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982447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원시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타입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</a:t>
            </a:r>
            <a:r>
              <a:rPr lang="en-US" altLang="ko-KR" sz="2200" b="1" dirty="0">
                <a:solidFill>
                  <a:prstClr val="black"/>
                </a:solidFill>
              </a:rPr>
              <a:t>primitive type)</a:t>
            </a:r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String(</a:t>
            </a:r>
            <a:r>
              <a:rPr lang="ko-KR" altLang="en-US" dirty="0">
                <a:solidFill>
                  <a:prstClr val="black"/>
                </a:solidFill>
              </a:rPr>
              <a:t>문자열 병합</a:t>
            </a:r>
            <a:r>
              <a:rPr lang="en-US" altLang="ko-KR" dirty="0" smtClean="0">
                <a:solidFill>
                  <a:prstClr val="black"/>
                </a:solidFill>
              </a:rPr>
              <a:t>)</a:t>
            </a: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덧셈과 </a:t>
            </a:r>
            <a:r>
              <a:rPr lang="ko-KR" altLang="en-US" dirty="0">
                <a:solidFill>
                  <a:prstClr val="black"/>
                </a:solidFill>
              </a:rPr>
              <a:t>병합은 모두 왼쪽에서 오른쪽으로 </a:t>
            </a:r>
            <a:r>
              <a:rPr lang="ko-KR" altLang="en-US" dirty="0" smtClean="0">
                <a:solidFill>
                  <a:prstClr val="black"/>
                </a:solidFill>
              </a:rPr>
              <a:t>평가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endParaRPr lang="en-US" altLang="ko-KR" dirty="0">
              <a:solidFill>
                <a:prstClr val="black"/>
              </a:solidFill>
            </a:endParaRPr>
          </a:p>
          <a:p>
            <a:pPr lvl="2"/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endParaRPr lang="en-US" altLang="ko-KR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en-US" altLang="ko-KR" dirty="0" err="1" smtClean="0">
                <a:solidFill>
                  <a:prstClr val="black"/>
                </a:solidFill>
              </a:rPr>
              <a:t>mutiline</a:t>
            </a:r>
            <a:endParaRPr lang="en-US" altLang="ko-KR" dirty="0">
              <a:solidFill>
                <a:prstClr val="black"/>
              </a:solidFill>
            </a:endParaRPr>
          </a:p>
          <a:p>
            <a:pPr lvl="2"/>
            <a:endParaRPr lang="ko-KR" altLang="en-US" dirty="0">
              <a:solidFill>
                <a:prstClr val="black"/>
              </a:solidFill>
            </a:endParaRPr>
          </a:p>
          <a:p>
            <a:pPr lvl="2"/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endParaRPr lang="en-US" altLang="ko-KR" dirty="0">
              <a:solidFill>
                <a:prstClr val="black"/>
              </a:solidFill>
            </a:endParaRPr>
          </a:p>
          <a:p>
            <a:pPr lvl="3"/>
            <a:endParaRPr lang="en-US" altLang="ko-KR" sz="2000" dirty="0">
              <a:solidFill>
                <a:srgbClr val="0000FF"/>
              </a:solidFill>
            </a:endParaRPr>
          </a:p>
          <a:p>
            <a:pPr lvl="2"/>
            <a:endParaRPr lang="en-US" altLang="ko-KR" sz="16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627318" y="2342542"/>
            <a:ext cx="416103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3+6+"9</a:t>
            </a:r>
            <a:r>
              <a:rPr lang="en-US" altLang="ko-KR" sz="2000" dirty="0" smtClean="0">
                <a:sym typeface="Wingdings" panose="05000000000000000000" pitchFamily="2" charset="2"/>
              </a:rPr>
              <a:t>"        </a:t>
            </a:r>
            <a:r>
              <a:rPr lang="ko-KR" altLang="en-US" sz="2000" dirty="0" smtClean="0">
                <a:sym typeface="Wingdings" panose="05000000000000000000" pitchFamily="2" charset="2"/>
              </a:rPr>
              <a:t>문자열 </a:t>
            </a:r>
            <a:r>
              <a:rPr lang="en-US" altLang="ko-KR" sz="2000" dirty="0" smtClean="0">
                <a:sym typeface="Wingdings" panose="05000000000000000000" pitchFamily="2" charset="2"/>
              </a:rPr>
              <a:t>99</a:t>
            </a:r>
            <a:endParaRPr lang="en-US" altLang="ko-KR" sz="2000" dirty="0" smtClean="0"/>
          </a:p>
          <a:p>
            <a:r>
              <a:rPr lang="en-US" altLang="ko-KR" sz="2000" dirty="0" smtClean="0">
                <a:sym typeface="Wingdings" panose="05000000000000000000" pitchFamily="2" charset="2"/>
              </a:rPr>
              <a:t>3+"6"+9        </a:t>
            </a:r>
            <a:r>
              <a:rPr lang="ko-KR" altLang="en-US" sz="2000" dirty="0" smtClean="0">
                <a:sym typeface="Wingdings" panose="05000000000000000000" pitchFamily="2" charset="2"/>
              </a:rPr>
              <a:t>문자열 </a:t>
            </a:r>
            <a:r>
              <a:rPr lang="en-US" altLang="ko-KR" sz="2000" dirty="0" smtClean="0">
                <a:sym typeface="Wingdings" panose="05000000000000000000" pitchFamily="2" charset="2"/>
              </a:rPr>
              <a:t>369</a:t>
            </a:r>
          </a:p>
          <a:p>
            <a:r>
              <a:rPr lang="en-US" altLang="ko-KR" sz="2000" dirty="0" smtClean="0">
                <a:sym typeface="Wingdings" panose="05000000000000000000" pitchFamily="2" charset="2"/>
              </a:rPr>
              <a:t>3*</a:t>
            </a:r>
            <a:r>
              <a:rPr lang="en-US" altLang="ko-KR" sz="2000" dirty="0">
                <a:sym typeface="Wingdings" panose="05000000000000000000" pitchFamily="2" charset="2"/>
              </a:rPr>
              <a:t>"6"+</a:t>
            </a:r>
            <a:r>
              <a:rPr lang="en-US" altLang="ko-KR" sz="2000" dirty="0" smtClean="0">
                <a:sym typeface="Wingdings" panose="05000000000000000000" pitchFamily="2" charset="2"/>
              </a:rPr>
              <a:t>9        </a:t>
            </a:r>
            <a:r>
              <a:rPr lang="ko-KR" altLang="en-US" sz="2000" dirty="0" smtClean="0">
                <a:sym typeface="Wingdings" panose="05000000000000000000" pitchFamily="2" charset="2"/>
              </a:rPr>
              <a:t>숫자 </a:t>
            </a:r>
            <a:r>
              <a:rPr lang="en-US" altLang="ko-KR" sz="2000" dirty="0" smtClean="0">
                <a:sym typeface="Wingdings" panose="05000000000000000000" pitchFamily="2" charset="2"/>
              </a:rPr>
              <a:t>27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65189" y="4646232"/>
            <a:ext cx="673299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let </a:t>
            </a:r>
            <a:r>
              <a:rPr lang="en-US" altLang="ko-KR" dirty="0" err="1"/>
              <a:t>longString</a:t>
            </a:r>
            <a:r>
              <a:rPr lang="en-US" altLang="ko-KR" dirty="0"/>
              <a:t> = </a:t>
            </a:r>
            <a:r>
              <a:rPr lang="en-US" altLang="ko-KR" dirty="0" smtClean="0"/>
              <a:t>"</a:t>
            </a:r>
            <a:r>
              <a:rPr lang="ko-KR" altLang="en-US" dirty="0" smtClean="0"/>
              <a:t>만약 한 줄에 적어야 하는 문자열이 길어진다면 </a:t>
            </a:r>
            <a:r>
              <a:rPr lang="en-US" altLang="ko-KR" dirty="0"/>
              <a:t>\</a:t>
            </a:r>
          </a:p>
          <a:p>
            <a:r>
              <a:rPr lang="ko-KR" altLang="en-US" dirty="0" err="1" smtClean="0"/>
              <a:t>역슬래쉬</a:t>
            </a:r>
            <a:r>
              <a:rPr lang="ko-KR" altLang="en-US" dirty="0" smtClean="0"/>
              <a:t> 문자를 이용하여 여러 줄로</a:t>
            </a:r>
            <a:r>
              <a:rPr lang="en-US" altLang="ko-KR" dirty="0" smtClean="0"/>
              <a:t>\</a:t>
            </a:r>
            <a:endParaRPr lang="en-US" altLang="ko-KR" dirty="0"/>
          </a:p>
          <a:p>
            <a:r>
              <a:rPr lang="ko-KR" altLang="en-US" dirty="0" smtClean="0"/>
              <a:t>표현이 가능합니다</a:t>
            </a:r>
            <a:r>
              <a:rPr lang="en-US" altLang="ko-KR" dirty="0" smtClean="0"/>
              <a:t>.";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373978" y="2342542"/>
            <a:ext cx="4161034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+x </a:t>
            </a:r>
            <a:r>
              <a:rPr lang="en-US" sz="2000" dirty="0" smtClean="0"/>
              <a:t>      </a:t>
            </a:r>
            <a:r>
              <a:rPr lang="en-US" sz="2000" dirty="0" smtClean="0">
                <a:sym typeface="Wingdings" panose="05000000000000000000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cast to Number</a:t>
            </a:r>
          </a:p>
          <a:p>
            <a:r>
              <a:rPr lang="en-US" sz="2000" dirty="0"/>
              <a:t>'' + x </a:t>
            </a:r>
            <a:r>
              <a:rPr lang="en-US" sz="2000" dirty="0" smtClean="0"/>
              <a:t>  </a:t>
            </a:r>
            <a:r>
              <a:rPr lang="en-US" sz="2000" dirty="0" smtClean="0">
                <a:sym typeface="Wingdings" panose="05000000000000000000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cast to String</a:t>
            </a:r>
          </a:p>
          <a:p>
            <a:r>
              <a:rPr lang="en-US" sz="2000" dirty="0"/>
              <a:t>!!x </a:t>
            </a:r>
            <a:r>
              <a:rPr lang="en-US" sz="2000" dirty="0" smtClean="0"/>
              <a:t>     </a:t>
            </a:r>
            <a:r>
              <a:rPr lang="en-US" sz="2000" dirty="0" smtClean="0">
                <a:sym typeface="Wingdings" panose="05000000000000000000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cast to Boolean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3978" y="3355887"/>
            <a:ext cx="4089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타입</a:t>
            </a:r>
            <a:r>
              <a:rPr lang="en-US" dirty="0" smtClean="0"/>
              <a:t> </a:t>
            </a:r>
            <a:r>
              <a:rPr lang="ko-KR" altLang="en-US" dirty="0" smtClean="0"/>
              <a:t>캐스팅을 위한 함수가 존재하지만</a:t>
            </a:r>
            <a:endParaRPr lang="en-US" altLang="ko-KR" dirty="0" smtClean="0"/>
          </a:p>
          <a:p>
            <a:r>
              <a:rPr lang="ko-KR" altLang="en-US" dirty="0" smtClean="0"/>
              <a:t>간단하게 타입 캐스팅 가능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97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8388</TotalTime>
  <Words>1216</Words>
  <Application>Microsoft Office PowerPoint</Application>
  <PresentationFormat>와이드스크린</PresentationFormat>
  <Paragraphs>257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Arial</vt:lpstr>
      <vt:lpstr>Calibri</vt:lpstr>
      <vt:lpstr>Calibri Light</vt:lpstr>
      <vt:lpstr>Wingdings</vt:lpstr>
      <vt:lpstr>Office 테마</vt:lpstr>
      <vt:lpstr>자바스크립트</vt:lpstr>
      <vt:lpstr>자바스크립트</vt:lpstr>
      <vt:lpstr>자바스크립트</vt:lpstr>
      <vt:lpstr>자바스크립트</vt:lpstr>
      <vt:lpstr>데이터의 종류</vt:lpstr>
      <vt:lpstr>데이터의 종류</vt:lpstr>
      <vt:lpstr>데이터의 종류</vt:lpstr>
      <vt:lpstr>데이터의 종류</vt:lpstr>
      <vt:lpstr>데이터의 종류</vt:lpstr>
      <vt:lpstr>데이터의 종류</vt:lpstr>
      <vt:lpstr>데이터의 종류</vt:lpstr>
      <vt:lpstr>데이터의 종류</vt:lpstr>
      <vt:lpstr>데이터의 종류</vt:lpstr>
      <vt:lpstr>데이터의 종류</vt:lpstr>
      <vt:lpstr>데이터의 종류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2201</cp:revision>
  <dcterms:created xsi:type="dcterms:W3CDTF">2020-03-06T01:35:43Z</dcterms:created>
  <dcterms:modified xsi:type="dcterms:W3CDTF">2021-03-31T00:16:29Z</dcterms:modified>
  <cp:version>1000.0000.01</cp:version>
</cp:coreProperties>
</file>