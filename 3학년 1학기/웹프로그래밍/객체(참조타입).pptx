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68" r:id="rId1"/>
  </p:sldMasterIdLst>
  <p:notesMasterIdLst>
    <p:notesMasterId r:id="rId22"/>
  </p:notesMasterIdLst>
  <p:sldIdLst>
    <p:sldId id="256" r:id="rId2"/>
    <p:sldId id="319" r:id="rId3"/>
    <p:sldId id="337" r:id="rId4"/>
    <p:sldId id="320" r:id="rId5"/>
    <p:sldId id="321" r:id="rId6"/>
    <p:sldId id="322" r:id="rId7"/>
    <p:sldId id="323" r:id="rId8"/>
    <p:sldId id="324" r:id="rId9"/>
    <p:sldId id="339" r:id="rId10"/>
    <p:sldId id="325" r:id="rId11"/>
    <p:sldId id="334" r:id="rId12"/>
    <p:sldId id="327" r:id="rId13"/>
    <p:sldId id="328" r:id="rId14"/>
    <p:sldId id="333" r:id="rId15"/>
    <p:sldId id="329" r:id="rId16"/>
    <p:sldId id="338" r:id="rId17"/>
    <p:sldId id="335" r:id="rId18"/>
    <p:sldId id="330" r:id="rId19"/>
    <p:sldId id="332" r:id="rId20"/>
    <p:sldId id="33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2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BC5610"/>
    <a:srgbClr val="FF00FF"/>
    <a:srgbClr val="ADFF2F"/>
    <a:srgbClr val="7FFFD4"/>
    <a:srgbClr val="FFA500"/>
    <a:srgbClr val="FF6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34" y="102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9B25A7D-0240-4D0E-A5B3-3234B957F6EF}" type="datetime1">
              <a:rPr lang="en-US"/>
              <a:pPr lvl="0">
                <a:defRPr/>
              </a:pPr>
              <a:t>4/13/2020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E163349B-D4CA-41F9-BE36-059942AD9331}" type="slidenum">
              <a:rPr lang="en-US"/>
              <a:pPr lvl="0"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DAD7-809B-4C4A-8A23-1E146EAD9E8F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777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0552" y="160027"/>
            <a:ext cx="10515600" cy="344002"/>
          </a:xfrm>
        </p:spPr>
        <p:txBody>
          <a:bodyPr>
            <a:noAutofit/>
          </a:bodyPr>
          <a:lstStyle>
            <a:lvl1pPr>
              <a:defRPr sz="2500" b="1">
                <a:latin typeface="+mj-ea"/>
                <a:ea typeface="+mj-ea"/>
              </a:defRPr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530551" y="757400"/>
            <a:ext cx="11331011" cy="5429755"/>
          </a:xfrm>
        </p:spPr>
        <p:txBody>
          <a:bodyPr/>
          <a:lstStyle>
            <a:lvl1pPr>
              <a:lnSpc>
                <a:spcPct val="140000"/>
              </a:lnSpc>
              <a:defRPr sz="2400">
                <a:latin typeface="+mn-ea"/>
                <a:ea typeface="+mn-ea"/>
              </a:defRPr>
            </a:lvl1pPr>
            <a:lvl2pPr marL="685800" indent="-228600">
              <a:lnSpc>
                <a:spcPct val="140000"/>
              </a:lnSpc>
              <a:buFont typeface="Wingdings"/>
              <a:buChar char="§"/>
              <a:defRPr sz="2000">
                <a:latin typeface="+mn-ea"/>
                <a:ea typeface="+mn-ea"/>
              </a:defRPr>
            </a:lvl2pPr>
            <a:lvl3pPr>
              <a:lnSpc>
                <a:spcPct val="140000"/>
              </a:lnSpc>
              <a:defRPr sz="1800">
                <a:latin typeface="+mn-ea"/>
                <a:ea typeface="+mn-ea"/>
              </a:defRPr>
            </a:lvl3pPr>
          </a:lstStyle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06EDA91-2055-40FE-B45A-5804B08C2696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9227048" y="6356350"/>
            <a:ext cx="2743200" cy="365125"/>
          </a:xfrm>
        </p:spPr>
        <p:txBody>
          <a:bodyPr/>
          <a:lstStyle>
            <a:lvl1pPr>
              <a:defRPr sz="15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DA67E06-563C-4DAC-B352-5CBE54DE7B5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5C795-451E-46E0-AE92-5A497CF41061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13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8975-3397-4FC8-A820-2112C504E006}" type="datetime1">
              <a:rPr lang="en-US" smtClean="0"/>
              <a:t>4/13/2020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9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B25CA-AD45-4C95-8C23-1C6A039469A5}" type="datetime1">
              <a:rPr lang="en-US" smtClean="0"/>
              <a:t>4/13/2020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9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12E71-0A1A-4073-B60F-FA59C2CA001A}" type="datetime1">
              <a:rPr lang="en-US" smtClean="0"/>
              <a:t>4/13/2020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6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7758C-1694-4565-82D4-EBBF833CB257}" type="datetime1">
              <a:rPr lang="en-US" smtClean="0"/>
              <a:t>4/13/2020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756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25484-FD6D-41C0-A29C-477D0CF69679}" type="datetime1">
              <a:rPr lang="en-US" smtClean="0"/>
              <a:t>4/13/2020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91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FA1DD6-19D4-44B1-8E93-C64691C69E13}" type="datetime1">
              <a:rPr lang="en-US" smtClean="0"/>
              <a:t>4/13/2020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051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333E4-9C34-4B01-AEFF-3C6F1AF12FD7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03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72B1E-F176-43F3-BFB4-FA11701E5307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755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ED2D49-5DE7-4756-AE86-CEB698DB686D}" type="datetime1">
              <a:rPr lang="en-US" smtClean="0"/>
              <a:t>4/13/2020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A67E06-563C-4DAC-B352-5CBE54DE7B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054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22130" y="838518"/>
            <a:ext cx="9700846" cy="1069974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 smtClean="0"/>
              <a:t>객체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참조타입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521064" y="3812496"/>
            <a:ext cx="7383416" cy="2060766"/>
          </a:xfrm>
        </p:spPr>
        <p:txBody>
          <a:bodyPr>
            <a:normAutofit/>
          </a:bodyPr>
          <a:lstStyle/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dirty="0" smtClean="0"/>
              <a:t>객체</a:t>
            </a:r>
            <a:endParaRPr lang="en-US" altLang="ko-KR" dirty="0" smtClean="0"/>
          </a:p>
          <a:p>
            <a:pPr marL="342900" lvl="0" indent="-34290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dirty="0" smtClean="0"/>
              <a:t>시간 관련 객체</a:t>
            </a:r>
            <a:endParaRPr lang="en-US" altLang="ko-KR" dirty="0" smtClean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A67E06-563C-4DAC-B352-5CBE54DE7B5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/>
        </p:nvSpPr>
        <p:spPr>
          <a:xfrm>
            <a:off x="1300761" y="5872655"/>
            <a:ext cx="1904776" cy="28738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직사각형 8"/>
          <p:cNvSpPr/>
          <p:nvPr/>
        </p:nvSpPr>
        <p:spPr>
          <a:xfrm>
            <a:off x="1292197" y="5442855"/>
            <a:ext cx="1663338" cy="287383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객체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/>
              <a:t>자바스크립트에서는 거의 모든 것이 객체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null</a:t>
            </a:r>
            <a:r>
              <a:rPr lang="ko-KR" altLang="en-US" dirty="0" smtClean="0"/>
              <a:t>과 </a:t>
            </a:r>
            <a:r>
              <a:rPr lang="en-US" altLang="ko-KR" dirty="0" smtClean="0"/>
              <a:t>undefined </a:t>
            </a:r>
            <a:r>
              <a:rPr lang="ko-KR" altLang="en-US" dirty="0" smtClean="0"/>
              <a:t>를</a:t>
            </a:r>
            <a:r>
              <a:rPr lang="en-US" altLang="ko-KR" dirty="0" smtClean="0"/>
              <a:t> </a:t>
            </a:r>
            <a:r>
              <a:rPr lang="ko-KR" altLang="en-US" dirty="0" smtClean="0"/>
              <a:t>제외한 모든 원시 타입도 객체로 취급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원시 타입은 단 하나의 값만 나타낼 수 있지만</a:t>
            </a:r>
            <a:r>
              <a:rPr lang="en-US" altLang="ko-KR" dirty="0" smtClean="0"/>
              <a:t>, </a:t>
            </a:r>
            <a:r>
              <a:rPr lang="ko-KR" altLang="en-US" dirty="0" smtClean="0"/>
              <a:t>객체는 여러 가지 값이나 복잡한 값을 나타낼 수 있음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객체의 </a:t>
            </a:r>
            <a:r>
              <a:rPr lang="ko-KR" altLang="en-US" dirty="0"/>
              <a:t>내용은 </a:t>
            </a:r>
            <a:r>
              <a:rPr lang="ko-KR" altLang="en-US" dirty="0" err="1"/>
              <a:t>프로퍼티</a:t>
            </a:r>
            <a:r>
              <a:rPr lang="en-US" altLang="ko-KR" dirty="0"/>
              <a:t>(property) </a:t>
            </a:r>
            <a:r>
              <a:rPr lang="ko-KR" altLang="en-US" dirty="0"/>
              <a:t>혹은 멤버</a:t>
            </a:r>
            <a:r>
              <a:rPr lang="en-US" altLang="ko-KR" dirty="0"/>
              <a:t>(member)</a:t>
            </a:r>
            <a:r>
              <a:rPr lang="ko-KR" altLang="en-US" dirty="0"/>
              <a:t>라고 부름</a:t>
            </a:r>
            <a:endParaRPr lang="en-US" altLang="ko-KR" dirty="0"/>
          </a:p>
          <a:p>
            <a:pPr lvl="1"/>
            <a:r>
              <a:rPr lang="ko-KR" altLang="en-US" dirty="0" err="1"/>
              <a:t>프로퍼티는</a:t>
            </a:r>
            <a:r>
              <a:rPr lang="ko-KR" altLang="en-US" dirty="0"/>
              <a:t> 이름</a:t>
            </a:r>
            <a:r>
              <a:rPr lang="en-US" altLang="ko-KR" dirty="0"/>
              <a:t>(key)</a:t>
            </a:r>
            <a:r>
              <a:rPr lang="ko-KR" altLang="en-US" dirty="0"/>
              <a:t>와 값</a:t>
            </a:r>
            <a:r>
              <a:rPr lang="en-US" altLang="ko-KR" dirty="0"/>
              <a:t>(value)</a:t>
            </a:r>
            <a:r>
              <a:rPr lang="ko-KR" altLang="en-US" dirty="0"/>
              <a:t>로 구성이 </a:t>
            </a:r>
            <a:r>
              <a:rPr lang="ko-KR" altLang="en-US" dirty="0" smtClean="0"/>
              <a:t>됨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값에는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함수도 할당 가능</a:t>
            </a:r>
            <a:endParaRPr lang="en-US" altLang="ko-KR" dirty="0"/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</a:t>
            </a:fld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1114695" y="4818190"/>
            <a:ext cx="5329645" cy="19389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const</a:t>
            </a:r>
            <a:r>
              <a:rPr lang="en-US" sz="2000" dirty="0"/>
              <a:t> car = </a:t>
            </a:r>
            <a:r>
              <a:rPr lang="en-US" sz="2000" dirty="0">
                <a:solidFill>
                  <a:srgbClr val="0000FF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000" dirty="0" smtClean="0"/>
              <a:t> color</a:t>
            </a:r>
            <a:r>
              <a:rPr lang="en-US" sz="2000" dirty="0"/>
              <a:t>: 'blue',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000" dirty="0" smtClean="0"/>
              <a:t> 'the </a:t>
            </a:r>
            <a:r>
              <a:rPr lang="en-US" sz="2000" dirty="0"/>
              <a:t>color': 'blue'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rgbClr val="0000FF"/>
                </a:solidFill>
              </a:rPr>
              <a:t>}  //color</a:t>
            </a:r>
            <a:r>
              <a:rPr lang="ko-KR" altLang="en-US" sz="2000" dirty="0" smtClean="0">
                <a:solidFill>
                  <a:srgbClr val="0000FF"/>
                </a:solidFill>
              </a:rPr>
              <a:t>의</a:t>
            </a:r>
            <a:r>
              <a:rPr lang="en-US" altLang="ko-KR" sz="2000" dirty="0" smtClean="0">
                <a:solidFill>
                  <a:srgbClr val="0000FF"/>
                </a:solidFill>
              </a:rPr>
              <a:t> </a:t>
            </a:r>
            <a:r>
              <a:rPr lang="ko-KR" altLang="en-US" sz="2000" dirty="0" smtClean="0">
                <a:solidFill>
                  <a:srgbClr val="0000FF"/>
                </a:solidFill>
              </a:rPr>
              <a:t>타입은 </a:t>
            </a:r>
            <a:r>
              <a:rPr lang="en-US" altLang="ko-KR" sz="2000" dirty="0" smtClean="0">
                <a:solidFill>
                  <a:srgbClr val="0000FF"/>
                </a:solidFill>
              </a:rPr>
              <a:t>string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14308" y="5214001"/>
            <a:ext cx="4207120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 smtClean="0">
                <a:solidFill>
                  <a:schemeClr val="tx1"/>
                </a:solidFill>
              </a:rPr>
              <a:t>var</a:t>
            </a:r>
            <a:r>
              <a:rPr lang="en-US" sz="2000" dirty="0" smtClean="0">
                <a:solidFill>
                  <a:schemeClr val="tx1"/>
                </a:solidFill>
              </a:rPr>
              <a:t> car = new Object();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>
                <a:solidFill>
                  <a:schemeClr val="tx1"/>
                </a:solidFill>
              </a:rPr>
              <a:t>var</a:t>
            </a:r>
            <a:r>
              <a:rPr lang="en-US" sz="2000" dirty="0" smtClean="0">
                <a:solidFill>
                  <a:schemeClr val="tx1"/>
                </a:solidFill>
              </a:rPr>
              <a:t> car = {};  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6621842" y="4775964"/>
            <a:ext cx="11608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b="1" dirty="0" smtClean="0">
                <a:solidFill>
                  <a:prstClr val="black"/>
                </a:solidFill>
              </a:rPr>
              <a:t>객체 생성</a:t>
            </a:r>
            <a:endParaRPr lang="en-US" altLang="ko-KR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23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 lnSpcReduction="10000"/>
          </a:bodyPr>
          <a:lstStyle/>
          <a:p>
            <a:r>
              <a:rPr lang="ko-KR" altLang="en-US" dirty="0" err="1"/>
              <a:t>내장객체</a:t>
            </a:r>
            <a:r>
              <a:rPr lang="en-US" altLang="ko-KR" dirty="0"/>
              <a:t>(Built-in Object)</a:t>
            </a:r>
          </a:p>
          <a:p>
            <a:pPr lvl="1"/>
            <a:r>
              <a:rPr lang="ko-KR" altLang="en-US" sz="1900" dirty="0"/>
              <a:t>자바스크립트 엔진에 내장되어 있어</a:t>
            </a:r>
            <a:r>
              <a:rPr lang="en-US" altLang="ko-KR" sz="1900" dirty="0"/>
              <a:t>, </a:t>
            </a:r>
            <a:r>
              <a:rPr lang="ko-KR" altLang="en-US" sz="1900" dirty="0"/>
              <a:t>필요한 경우 생성해 사용</a:t>
            </a:r>
            <a:endParaRPr lang="en-US" altLang="ko-KR" sz="1900" dirty="0"/>
          </a:p>
          <a:p>
            <a:pPr lvl="1"/>
            <a:r>
              <a:rPr lang="ko-KR" altLang="en-US" sz="1900" dirty="0"/>
              <a:t>문자</a:t>
            </a:r>
            <a:r>
              <a:rPr lang="en-US" altLang="ko-KR" sz="1900" dirty="0"/>
              <a:t>(string), </a:t>
            </a:r>
            <a:r>
              <a:rPr lang="ko-KR" altLang="en-US" sz="1900" dirty="0"/>
              <a:t>정규식</a:t>
            </a:r>
            <a:r>
              <a:rPr lang="en-US" altLang="ko-KR" sz="1900" dirty="0"/>
              <a:t>(</a:t>
            </a:r>
            <a:r>
              <a:rPr lang="en-US" altLang="ko-KR" sz="1900" dirty="0" err="1"/>
              <a:t>RegExp</a:t>
            </a:r>
            <a:r>
              <a:rPr lang="en-US" altLang="ko-KR" sz="1900" dirty="0"/>
              <a:t>), </a:t>
            </a:r>
            <a:r>
              <a:rPr lang="ko-KR" altLang="en-US" sz="1900" dirty="0"/>
              <a:t>날짜</a:t>
            </a:r>
            <a:r>
              <a:rPr lang="en-US" altLang="ko-KR" sz="1900" dirty="0"/>
              <a:t>(Date), </a:t>
            </a:r>
            <a:r>
              <a:rPr lang="ko-KR" altLang="en-US" sz="1900" dirty="0"/>
              <a:t>배열</a:t>
            </a:r>
            <a:r>
              <a:rPr lang="en-US" altLang="ko-KR" sz="1900" dirty="0"/>
              <a:t>(Array), </a:t>
            </a:r>
            <a:r>
              <a:rPr lang="ko-KR" altLang="en-US" sz="1900" dirty="0"/>
              <a:t>수학</a:t>
            </a:r>
            <a:r>
              <a:rPr lang="en-US" altLang="ko-KR" sz="1900" dirty="0"/>
              <a:t>(Math)</a:t>
            </a:r>
            <a:r>
              <a:rPr lang="ko-KR" altLang="en-US" sz="1900" dirty="0"/>
              <a:t>등</a:t>
            </a:r>
            <a:endParaRPr lang="en-US" altLang="ko-KR" sz="1900" dirty="0"/>
          </a:p>
          <a:p>
            <a:endParaRPr lang="en-US" altLang="ko-KR" dirty="0" smtClean="0"/>
          </a:p>
          <a:p>
            <a:r>
              <a:rPr lang="ko-KR" altLang="en-US" dirty="0" smtClean="0"/>
              <a:t>브라우저 </a:t>
            </a:r>
            <a:r>
              <a:rPr lang="ko-KR" altLang="en-US" dirty="0"/>
              <a:t>객체 모델</a:t>
            </a:r>
            <a:r>
              <a:rPr lang="en-US" altLang="ko-KR" dirty="0"/>
              <a:t>(Browser Object Model)</a:t>
            </a:r>
          </a:p>
          <a:p>
            <a:pPr lvl="1"/>
            <a:r>
              <a:rPr lang="ko-KR" altLang="en-US" sz="1900" dirty="0"/>
              <a:t>브라우저에 계층적으로 내장되어 브라우저를 제어하는 데 사용하는 객체</a:t>
            </a:r>
            <a:endParaRPr lang="en-US" altLang="ko-KR" sz="1900" dirty="0"/>
          </a:p>
          <a:p>
            <a:pPr lvl="1"/>
            <a:r>
              <a:rPr lang="en-US" altLang="ko-KR" sz="1900" dirty="0"/>
              <a:t>window, screen, location, history, navigation</a:t>
            </a:r>
          </a:p>
          <a:p>
            <a:endParaRPr lang="en-US" altLang="ko-KR" dirty="0" smtClean="0"/>
          </a:p>
          <a:p>
            <a:r>
              <a:rPr lang="ko-KR" altLang="en-US" dirty="0" smtClean="0"/>
              <a:t>문서 </a:t>
            </a:r>
            <a:r>
              <a:rPr lang="ko-KR" altLang="en-US" dirty="0"/>
              <a:t>객체 모델</a:t>
            </a:r>
            <a:r>
              <a:rPr lang="en-US" altLang="ko-KR" dirty="0"/>
              <a:t>(Document Object Model)</a:t>
            </a:r>
          </a:p>
          <a:p>
            <a:pPr lvl="1"/>
            <a:r>
              <a:rPr lang="en-US" altLang="ko-KR" sz="1800" dirty="0"/>
              <a:t>HTML</a:t>
            </a:r>
            <a:r>
              <a:rPr lang="ko-KR" altLang="en-US" sz="1800" dirty="0" smtClean="0"/>
              <a:t>문서 구조</a:t>
            </a:r>
            <a:endParaRPr lang="en-US" altLang="ko-KR" sz="1800" dirty="0"/>
          </a:p>
          <a:p>
            <a:pPr lvl="1"/>
            <a:r>
              <a:rPr lang="en-US" sz="1800" dirty="0"/>
              <a:t>HTML</a:t>
            </a:r>
            <a:r>
              <a:rPr lang="ko-KR" altLang="en-US" sz="1800" dirty="0"/>
              <a:t>의 모든 요소들을 문서 객체로 선택하여 자유롭게 속성을 바꾸거나 </a:t>
            </a:r>
            <a:r>
              <a:rPr lang="en-US" altLang="ko-KR" sz="1800" dirty="0"/>
              <a:t>CSS</a:t>
            </a:r>
            <a:r>
              <a:rPr lang="ko-KR" altLang="en-US" sz="1800" dirty="0"/>
              <a:t>를 </a:t>
            </a:r>
            <a:r>
              <a:rPr lang="ko-KR" altLang="en-US" sz="1800" dirty="0" smtClean="0"/>
              <a:t>적용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b="1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396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값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접근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b="1" dirty="0" smtClean="0">
                <a:solidFill>
                  <a:prstClr val="black"/>
                </a:solidFill>
              </a:rPr>
              <a:t>점</a:t>
            </a:r>
            <a:r>
              <a:rPr lang="en-US" altLang="ko-KR" sz="1800" b="1" dirty="0" smtClean="0">
                <a:solidFill>
                  <a:prstClr val="black"/>
                </a:solidFill>
              </a:rPr>
              <a:t>(.)</a:t>
            </a:r>
          </a:p>
          <a:p>
            <a:pPr marL="457200" lvl="1" indent="0">
              <a:buNone/>
            </a:pPr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b="1" dirty="0" smtClean="0">
                <a:solidFill>
                  <a:prstClr val="black"/>
                </a:solidFill>
              </a:rPr>
              <a:t>대괄호</a:t>
            </a:r>
            <a:endParaRPr lang="en-US" altLang="ko-KR" sz="1800" b="1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b="1" dirty="0" smtClean="0">
              <a:solidFill>
                <a:prstClr val="black"/>
              </a:solidFill>
            </a:endParaRPr>
          </a:p>
          <a:p>
            <a:r>
              <a:rPr lang="ko-KR" altLang="en-US" sz="2200" b="1" dirty="0" smtClean="0">
                <a:solidFill>
                  <a:prstClr val="black"/>
                </a:solidFill>
              </a:rPr>
              <a:t>중첩 객체의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값 접근</a:t>
            </a:r>
            <a:endParaRPr lang="en-US" altLang="ko-KR" sz="2200" b="1" dirty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4</a:t>
            </a:fld>
            <a:endParaRPr lang="en-US"/>
          </a:p>
        </p:txBody>
      </p:sp>
      <p:sp>
        <p:nvSpPr>
          <p:cNvPr id="11" name="직사각형 10"/>
          <p:cNvSpPr/>
          <p:nvPr/>
        </p:nvSpPr>
        <p:spPr>
          <a:xfrm>
            <a:off x="6610358" y="1080282"/>
            <a:ext cx="4435794" cy="19389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const</a:t>
            </a:r>
            <a:r>
              <a:rPr lang="en-US" sz="2000" dirty="0"/>
              <a:t> car = </a:t>
            </a:r>
            <a:r>
              <a:rPr lang="en-US" sz="2000" dirty="0">
                <a:solidFill>
                  <a:srgbClr val="0000FF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000" dirty="0" smtClean="0"/>
              <a:t> color</a:t>
            </a:r>
            <a:r>
              <a:rPr lang="en-US" sz="2000" dirty="0"/>
              <a:t>: 'blue',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000" dirty="0" smtClean="0"/>
              <a:t> 'the </a:t>
            </a:r>
            <a:r>
              <a:rPr lang="en-US" sz="2000" dirty="0"/>
              <a:t>color': 'blue'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1090291" y="1748885"/>
            <a:ext cx="5329645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/>
              <a:t>car.color</a:t>
            </a:r>
            <a:r>
              <a:rPr lang="en-US" sz="2000" dirty="0"/>
              <a:t> </a:t>
            </a:r>
            <a:r>
              <a:rPr lang="en-US" sz="2000" dirty="0" smtClean="0"/>
              <a:t>     </a:t>
            </a:r>
            <a:r>
              <a:rPr lang="en-US" sz="2000" dirty="0" smtClean="0">
                <a:sym typeface="Wingdings" panose="05000000000000000000" pitchFamily="2" charset="2"/>
              </a:rPr>
              <a:t> </a:t>
            </a:r>
            <a:r>
              <a:rPr lang="en-US" sz="2000" dirty="0" smtClean="0"/>
              <a:t>'blue'</a:t>
            </a:r>
            <a:r>
              <a:rPr lang="en-US" sz="2000" dirty="0" smtClean="0">
                <a:sym typeface="Wingdings" panose="05000000000000000000" pitchFamily="2" charset="2"/>
              </a:rPr>
              <a:t>  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090289" y="2624003"/>
            <a:ext cx="5329645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car[</a:t>
            </a:r>
            <a:r>
              <a:rPr lang="en-US" sz="2000" dirty="0" smtClean="0">
                <a:solidFill>
                  <a:srgbClr val="0000FF"/>
                </a:solidFill>
              </a:rPr>
              <a:t>'</a:t>
            </a:r>
            <a:r>
              <a:rPr lang="en-US" sz="2000" dirty="0" smtClean="0"/>
              <a:t>color</a:t>
            </a:r>
            <a:r>
              <a:rPr lang="en-US" sz="2000" dirty="0" smtClean="0">
                <a:solidFill>
                  <a:srgbClr val="0000FF"/>
                </a:solidFill>
              </a:rPr>
              <a:t>'</a:t>
            </a:r>
            <a:r>
              <a:rPr lang="en-US" sz="2000" dirty="0" smtClean="0"/>
              <a:t>]      </a:t>
            </a:r>
            <a:r>
              <a:rPr lang="en-US" sz="2000" dirty="0" smtClean="0">
                <a:sym typeface="Wingdings" panose="05000000000000000000" pitchFamily="2" charset="2"/>
              </a:rPr>
              <a:t> </a:t>
            </a:r>
            <a:r>
              <a:rPr lang="en-US" sz="2000" dirty="0" smtClean="0"/>
              <a:t>'blue'</a:t>
            </a:r>
            <a:r>
              <a:rPr lang="en-US" sz="2000" dirty="0" smtClean="0">
                <a:sym typeface="Wingdings" panose="05000000000000000000" pitchFamily="2" charset="2"/>
              </a:rPr>
              <a:t>  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1090288" y="3815543"/>
            <a:ext cx="5329645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car.brand.name </a:t>
            </a:r>
            <a:r>
              <a:rPr lang="en-US" sz="2000" dirty="0" smtClean="0">
                <a:sym typeface="Wingdings" panose="05000000000000000000" pitchFamily="2" charset="2"/>
              </a:rPr>
              <a:t> 'Ford' 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90287" y="4360706"/>
            <a:ext cx="5329645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car[</a:t>
            </a:r>
            <a:r>
              <a:rPr lang="en-US" sz="2000" dirty="0" smtClean="0">
                <a:solidFill>
                  <a:srgbClr val="0000FF"/>
                </a:solidFill>
              </a:rPr>
              <a:t>'</a:t>
            </a:r>
            <a:r>
              <a:rPr lang="en-US" sz="2000" dirty="0" smtClean="0"/>
              <a:t>brand</a:t>
            </a:r>
            <a:r>
              <a:rPr lang="en-US" sz="2000" dirty="0" smtClean="0">
                <a:solidFill>
                  <a:srgbClr val="0000FF"/>
                </a:solidFill>
              </a:rPr>
              <a:t>'</a:t>
            </a:r>
            <a:r>
              <a:rPr lang="en-US" sz="2000" dirty="0" smtClean="0"/>
              <a:t>][</a:t>
            </a:r>
            <a:r>
              <a:rPr lang="en-US" sz="2000" dirty="0" smtClean="0">
                <a:solidFill>
                  <a:srgbClr val="0000FF"/>
                </a:solidFill>
              </a:rPr>
              <a:t>'</a:t>
            </a:r>
            <a:r>
              <a:rPr lang="en-US" sz="2000" dirty="0" smtClean="0"/>
              <a:t>name</a:t>
            </a:r>
            <a:r>
              <a:rPr lang="en-US" sz="2000" dirty="0" smtClean="0">
                <a:solidFill>
                  <a:srgbClr val="0000FF"/>
                </a:solidFill>
              </a:rPr>
              <a:t>'</a:t>
            </a:r>
            <a:r>
              <a:rPr lang="en-US" sz="2000" dirty="0" smtClean="0"/>
              <a:t>] </a:t>
            </a:r>
            <a:r>
              <a:rPr lang="en-US" sz="2000" dirty="0" smtClean="0">
                <a:sym typeface="Wingdings" panose="05000000000000000000" pitchFamily="2" charset="2"/>
              </a:rPr>
              <a:t> 'Ford' 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90287" y="4905869"/>
            <a:ext cx="5329645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err="1" smtClean="0"/>
              <a:t>car.brand</a:t>
            </a:r>
            <a:r>
              <a:rPr lang="en-US" sz="2000" dirty="0" smtClean="0"/>
              <a:t> ['name'] </a:t>
            </a:r>
            <a:r>
              <a:rPr lang="en-US" sz="2000" dirty="0" smtClean="0">
                <a:sym typeface="Wingdings" panose="05000000000000000000" pitchFamily="2" charset="2"/>
              </a:rPr>
              <a:t> 'Ford' 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098851" y="5479509"/>
            <a:ext cx="5329645" cy="40011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car['brand'].name </a:t>
            </a:r>
            <a:r>
              <a:rPr lang="en-US" sz="2000" dirty="0" smtClean="0">
                <a:sym typeface="Wingdings" panose="05000000000000000000" pitchFamily="2" charset="2"/>
              </a:rPr>
              <a:t> 'Ford' </a:t>
            </a:r>
            <a:endParaRPr lang="en-US" sz="2000" dirty="0">
              <a:solidFill>
                <a:srgbClr val="0000FF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05824" y="4414838"/>
            <a:ext cx="1904776" cy="122909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직사각형 19"/>
          <p:cNvSpPr/>
          <p:nvPr/>
        </p:nvSpPr>
        <p:spPr>
          <a:xfrm>
            <a:off x="6610358" y="3806621"/>
            <a:ext cx="4435794" cy="286232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const</a:t>
            </a:r>
            <a:r>
              <a:rPr lang="en-US" sz="2000" dirty="0"/>
              <a:t> car = {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brand: {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  name: 'Ford'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},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color: 'blue'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}</a:t>
            </a:r>
            <a:endParaRPr lang="en-US" sz="20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65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값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설정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b="1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b="1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b="1" dirty="0" smtClean="0">
              <a:solidFill>
                <a:prstClr val="black"/>
              </a:solidFill>
            </a:endParaRPr>
          </a:p>
          <a:p>
            <a:pPr marL="457200" lvl="1" indent="0">
              <a:buNone/>
            </a:pPr>
            <a:endParaRPr lang="en-US" altLang="ko-KR" sz="1800" b="1" dirty="0" smtClean="0">
              <a:solidFill>
                <a:prstClr val="black"/>
              </a:solidFill>
            </a:endParaRPr>
          </a:p>
          <a:p>
            <a:endParaRPr lang="en-US" altLang="ko-KR" sz="2200" b="1" dirty="0" smtClean="0">
              <a:solidFill>
                <a:prstClr val="black"/>
              </a:solidFill>
            </a:endParaRPr>
          </a:p>
          <a:p>
            <a:r>
              <a:rPr lang="ko-KR" altLang="en-US" sz="2200" b="1" dirty="0" err="1" smtClean="0">
                <a:solidFill>
                  <a:prstClr val="black"/>
                </a:solidFill>
              </a:rPr>
              <a:t>프로퍼티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제거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(delete </a:t>
            </a:r>
            <a:r>
              <a:rPr lang="ko-KR" altLang="en-US" sz="2200" b="1" dirty="0" smtClean="0">
                <a:solidFill>
                  <a:prstClr val="black"/>
                </a:solidFill>
              </a:rPr>
              <a:t>키워드</a:t>
            </a:r>
            <a:r>
              <a:rPr lang="en-US" altLang="ko-KR" sz="2200" b="1" dirty="0" smtClean="0">
                <a:solidFill>
                  <a:prstClr val="black"/>
                </a:solidFill>
              </a:rPr>
              <a:t>)</a:t>
            </a:r>
            <a:endParaRPr lang="en-US" altLang="ko-KR" sz="2200" b="1" dirty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altLang="ko-KR" sz="1800" b="1" dirty="0" smtClean="0">
              <a:solidFill>
                <a:prstClr val="black"/>
              </a:solidFill>
            </a:endParaRPr>
          </a:p>
          <a:p>
            <a:pPr lvl="1"/>
            <a:endParaRPr lang="en-US" sz="19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5</a:t>
            </a:fld>
            <a:endParaRPr lang="en-US"/>
          </a:p>
        </p:txBody>
      </p:sp>
      <p:sp>
        <p:nvSpPr>
          <p:cNvPr id="12" name="직사각형 11"/>
          <p:cNvSpPr/>
          <p:nvPr/>
        </p:nvSpPr>
        <p:spPr>
          <a:xfrm>
            <a:off x="874052" y="1379015"/>
            <a:ext cx="5329645" cy="19389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car.color</a:t>
            </a:r>
            <a:r>
              <a:rPr lang="en-US" sz="2000" dirty="0">
                <a:solidFill>
                  <a:schemeClr val="tx1"/>
                </a:solidFill>
              </a:rPr>
              <a:t> = 'yellow'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car['color'] = 'red</a:t>
            </a:r>
            <a:r>
              <a:rPr lang="en-US" sz="2000" dirty="0" smtClean="0">
                <a:solidFill>
                  <a:schemeClr val="tx1"/>
                </a:solidFill>
              </a:rPr>
              <a:t>'</a:t>
            </a:r>
          </a:p>
          <a:p>
            <a:pPr>
              <a:lnSpc>
                <a:spcPct val="150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car.model</a:t>
            </a:r>
            <a:r>
              <a:rPr lang="en-US" sz="2000" dirty="0">
                <a:solidFill>
                  <a:schemeClr val="tx1"/>
                </a:solidFill>
              </a:rPr>
              <a:t> = 'Fiesta</a:t>
            </a:r>
            <a:r>
              <a:rPr lang="en-US" sz="2000" dirty="0" smtClean="0">
                <a:solidFill>
                  <a:schemeClr val="tx1"/>
                </a:solidFill>
              </a:rPr>
              <a:t>'  //</a:t>
            </a:r>
            <a:r>
              <a:rPr lang="ko-KR" altLang="en-US" sz="2000" dirty="0" smtClean="0">
                <a:solidFill>
                  <a:schemeClr val="tx1"/>
                </a:solidFill>
              </a:rPr>
              <a:t>새로운 </a:t>
            </a:r>
            <a:r>
              <a:rPr lang="ko-KR" altLang="en-US" sz="2000" dirty="0" err="1" smtClean="0">
                <a:solidFill>
                  <a:schemeClr val="tx1"/>
                </a:solidFill>
              </a:rPr>
              <a:t>프로퍼티</a:t>
            </a:r>
            <a:r>
              <a:rPr lang="en-US" altLang="ko-KR" sz="2000" dirty="0" smtClean="0">
                <a:solidFill>
                  <a:schemeClr val="tx1"/>
                </a:solidFill>
              </a:rPr>
              <a:t> </a:t>
            </a:r>
            <a:r>
              <a:rPr lang="ko-KR" altLang="en-US" sz="2000" dirty="0" smtClean="0">
                <a:solidFill>
                  <a:schemeClr val="tx1"/>
                </a:solidFill>
              </a:rPr>
              <a:t>설정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01277" y="1379015"/>
            <a:ext cx="4435794" cy="19389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/>
              <a:t>const</a:t>
            </a:r>
            <a:r>
              <a:rPr lang="en-US" sz="2000" dirty="0"/>
              <a:t> car = </a:t>
            </a:r>
            <a:r>
              <a:rPr lang="en-US" sz="2000" dirty="0">
                <a:solidFill>
                  <a:srgbClr val="0000FF"/>
                </a:solidFill>
              </a:rPr>
              <a:t>{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000" dirty="0" smtClean="0"/>
              <a:t> color</a:t>
            </a:r>
            <a:r>
              <a:rPr lang="en-US" sz="2000" dirty="0"/>
              <a:t>: 'blue',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  </a:t>
            </a:r>
            <a:r>
              <a:rPr lang="en-US" sz="2000" dirty="0" smtClean="0"/>
              <a:t> 'the </a:t>
            </a:r>
            <a:r>
              <a:rPr lang="en-US" sz="2000" dirty="0"/>
              <a:t>color': 'blue'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0000FF"/>
                </a:solidFill>
              </a:rPr>
              <a:t>}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874052" y="4295163"/>
            <a:ext cx="5329645" cy="5062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delete </a:t>
            </a:r>
            <a:r>
              <a:rPr lang="en-US" sz="2000" dirty="0" err="1">
                <a:solidFill>
                  <a:schemeClr val="tx1"/>
                </a:solidFill>
              </a:rPr>
              <a:t>car.brand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874051" y="4971545"/>
            <a:ext cx="5329645" cy="50629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delete car['brand']</a:t>
            </a:r>
          </a:p>
        </p:txBody>
      </p:sp>
    </p:spTree>
    <p:extLst>
      <p:ext uri="{BB962C8B-B14F-4D97-AF65-F5344CB8AC3E}">
        <p14:creationId xmlns:p14="http://schemas.microsoft.com/office/powerpoint/2010/main" val="4116236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04100" cy="5740119"/>
          </a:xfrm>
        </p:spPr>
        <p:txBody>
          <a:bodyPr>
            <a:normAutofit/>
          </a:bodyPr>
          <a:lstStyle/>
          <a:p>
            <a:r>
              <a:rPr lang="ko-KR" altLang="en-US" sz="2200" b="1" dirty="0" smtClean="0">
                <a:solidFill>
                  <a:prstClr val="black"/>
                </a:solidFill>
              </a:rPr>
              <a:t>유용한 </a:t>
            </a:r>
            <a:r>
              <a:rPr lang="ko-KR" altLang="en-US" sz="2200" b="1" dirty="0" err="1" smtClean="0">
                <a:solidFill>
                  <a:prstClr val="black"/>
                </a:solidFill>
              </a:rPr>
              <a:t>유틸</a:t>
            </a:r>
            <a:endParaRPr lang="en-US" altLang="ko-KR" sz="2200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객체에 포함된 </a:t>
            </a:r>
            <a:r>
              <a:rPr lang="ko-KR" altLang="en-US" dirty="0" err="1" smtClean="0">
                <a:solidFill>
                  <a:prstClr val="black"/>
                </a:solidFill>
              </a:rPr>
              <a:t>프로퍼티</a:t>
            </a:r>
            <a:r>
              <a:rPr lang="ko-KR" altLang="en-US" dirty="0" smtClean="0">
                <a:solidFill>
                  <a:prstClr val="black"/>
                </a:solidFill>
              </a:rPr>
              <a:t> 개수 세기</a:t>
            </a:r>
            <a:r>
              <a:rPr lang="en-US" altLang="ko-KR" dirty="0" smtClean="0">
                <a:solidFill>
                  <a:prstClr val="black"/>
                </a:solidFill>
              </a:rPr>
              <a:t>(length)</a:t>
            </a: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변수의 타입 확인</a:t>
            </a:r>
            <a:r>
              <a:rPr lang="en-US" altLang="ko-KR" dirty="0" smtClean="0">
                <a:solidFill>
                  <a:prstClr val="black"/>
                </a:solidFill>
              </a:rPr>
              <a:t>(</a:t>
            </a:r>
            <a:r>
              <a:rPr lang="en-US" altLang="ko-KR" dirty="0" err="1" smtClean="0">
                <a:solidFill>
                  <a:prstClr val="black"/>
                </a:solidFill>
              </a:rPr>
              <a:t>typeof</a:t>
            </a:r>
            <a:r>
              <a:rPr lang="en-US" altLang="ko-KR" dirty="0" smtClean="0">
                <a:solidFill>
                  <a:prstClr val="black"/>
                </a:solidFill>
              </a:rPr>
              <a:t>)</a:t>
            </a:r>
          </a:p>
          <a:p>
            <a:pPr lvl="1"/>
            <a:endParaRPr lang="en-US" altLang="ko-KR" b="1" dirty="0">
              <a:solidFill>
                <a:prstClr val="black"/>
              </a:solidFill>
            </a:endParaRPr>
          </a:p>
          <a:p>
            <a:pPr lvl="1"/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endParaRPr lang="en-US" altLang="ko-KR" b="1" dirty="0">
              <a:solidFill>
                <a:prstClr val="black"/>
              </a:solidFill>
            </a:endParaRPr>
          </a:p>
          <a:p>
            <a:pPr lvl="1"/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endParaRPr lang="en-US" altLang="ko-KR" b="1" dirty="0">
              <a:solidFill>
                <a:prstClr val="black"/>
              </a:solidFill>
            </a:endParaRPr>
          </a:p>
          <a:p>
            <a:pPr lvl="1"/>
            <a:endParaRPr lang="ko-KR" altLang="en-US" b="1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6</a:t>
            </a:fld>
            <a:endParaRPr lang="en-US"/>
          </a:p>
        </p:txBody>
      </p:sp>
      <p:sp>
        <p:nvSpPr>
          <p:cNvPr id="14" name="Rectangle 2"/>
          <p:cNvSpPr>
            <a:spLocks noChangeArrowheads="1"/>
          </p:cNvSpPr>
          <p:nvPr/>
        </p:nvSpPr>
        <p:spPr bwMode="auto">
          <a:xfrm>
            <a:off x="1077731" y="4714338"/>
            <a:ext cx="3708983" cy="2025509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80000" tIns="180000" rIns="180000" bIns="180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list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count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list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//"object"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count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//"number"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"test"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//"string"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color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//"undefined"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1098281" y="1745425"/>
            <a:ext cx="3329071" cy="2302508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80000" tIns="180000" rIns="180000" bIns="18000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car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color: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'Blue'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brand: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'Ford'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model: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'Fiesta'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Object.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F08D49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(car).length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6"/>
          <p:cNvSpPr>
            <a:spLocks noChangeArrowheads="1"/>
          </p:cNvSpPr>
          <p:nvPr/>
        </p:nvSpPr>
        <p:spPr bwMode="auto">
          <a:xfrm>
            <a:off x="5174351" y="4714338"/>
            <a:ext cx="5429005" cy="1748510"/>
          </a:xfrm>
          <a:prstGeom prst="rect">
            <a:avLst/>
          </a:prstGeom>
          <a:solidFill>
            <a:srgbClr val="2728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80000" tIns="180000" rIns="180000" bIns="18000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CC99CD"/>
                </a:solidFill>
                <a:latin typeface="Consolas" panose="020B0609020204030204" pitchFamily="49" charset="0"/>
              </a:rPr>
              <a:t>const</a:t>
            </a:r>
            <a:r>
              <a:rPr lang="en-US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car </a:t>
            </a:r>
            <a:r>
              <a:rPr lang="en-US" altLang="en-US" dirty="0">
                <a:solidFill>
                  <a:srgbClr val="67CDCC"/>
                </a:solidFill>
                <a:latin typeface="Consolas" panose="020B0609020204030204" pitchFamily="49" charset="0"/>
              </a:rPr>
              <a:t>=</a:t>
            </a:r>
            <a:r>
              <a:rPr lang="en-US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{ model: </a:t>
            </a:r>
            <a:r>
              <a:rPr lang="en-US" altLang="en-US" dirty="0">
                <a:solidFill>
                  <a:srgbClr val="7EC699"/>
                </a:solidFill>
                <a:latin typeface="Consolas" panose="020B0609020204030204" pitchFamily="49" charset="0"/>
              </a:rPr>
              <a:t>'Fiesta'</a:t>
            </a:r>
            <a:r>
              <a:rPr lang="en-US" altLang="en-US" dirty="0">
                <a:solidFill>
                  <a:srgbClr val="CCCCCC"/>
                </a:solidFill>
                <a:latin typeface="Consolas" panose="020B0609020204030204" pitchFamily="49" charset="0"/>
              </a:rPr>
              <a:t> }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rgbClr val="CC99CD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99CD"/>
                </a:solidFill>
                <a:effectLst/>
                <a:latin typeface="Consolas" panose="020B0609020204030204" pitchFamily="49" charset="0"/>
              </a:rPr>
              <a:t>typeof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car.color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67CDCC"/>
                </a:solidFill>
                <a:effectLst/>
                <a:latin typeface="Consolas" panose="020B0609020204030204" pitchFamily="49" charset="0"/>
              </a:rPr>
              <a:t>===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7EC699"/>
                </a:solidFill>
                <a:effectLst/>
                <a:latin typeface="Consolas" panose="020B0609020204030204" pitchFamily="49" charset="0"/>
              </a:rPr>
              <a:t>'undefined'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// color is undefined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65069" y="2296806"/>
            <a:ext cx="38509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 smtClean="0"/>
              <a:t>Object.keys</a:t>
            </a:r>
            <a:r>
              <a:rPr lang="en-US" dirty="0" smtClean="0"/>
              <a:t>: </a:t>
            </a:r>
            <a:r>
              <a:rPr lang="ko-KR" altLang="en-US" dirty="0" smtClean="0"/>
              <a:t>검사대상 객체를 전달</a:t>
            </a:r>
            <a:endParaRPr lang="en-US" altLang="ko-KR" dirty="0" smtClean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smtClean="0"/>
              <a:t>length: </a:t>
            </a:r>
            <a:r>
              <a:rPr lang="ko-KR" altLang="en-US" dirty="0" smtClean="0"/>
              <a:t>검사할 객체의 속성 개수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124007" y="6470805"/>
            <a:ext cx="1540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/>
              <a:t>typeof</a:t>
            </a:r>
            <a:r>
              <a:rPr lang="ko-KR" altLang="en-US" dirty="0" smtClean="0"/>
              <a:t>의</a:t>
            </a:r>
            <a:r>
              <a:rPr lang="en-US" dirty="0" smtClean="0"/>
              <a:t> </a:t>
            </a:r>
            <a:r>
              <a:rPr lang="ko-KR" altLang="en-US" dirty="0" smtClean="0"/>
              <a:t>활용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56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2" y="757400"/>
            <a:ext cx="5274344" cy="5740119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Object </a:t>
            </a:r>
            <a:r>
              <a:rPr lang="ko-KR" altLang="en-US" b="1" dirty="0" smtClean="0">
                <a:solidFill>
                  <a:prstClr val="black"/>
                </a:solidFill>
              </a:rPr>
              <a:t>객체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자바스크립트의 최상위 객체</a:t>
            </a:r>
            <a:endParaRPr lang="en-US" altLang="ko-KR" dirty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자바스크립트의 객체들은 </a:t>
            </a:r>
            <a:r>
              <a:rPr lang="en-US" altLang="ko-KR" dirty="0" smtClean="0">
                <a:solidFill>
                  <a:prstClr val="black"/>
                </a:solidFill>
              </a:rPr>
              <a:t>Object</a:t>
            </a:r>
            <a:r>
              <a:rPr lang="ko-KR" altLang="en-US" dirty="0" smtClean="0">
                <a:solidFill>
                  <a:prstClr val="black"/>
                </a:solidFill>
              </a:rPr>
              <a:t>객체에서 파생된 것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래퍼 객체</a:t>
            </a:r>
            <a:r>
              <a:rPr lang="en-US" altLang="ko-KR" dirty="0" smtClean="0">
                <a:solidFill>
                  <a:prstClr val="black"/>
                </a:solidFill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</a:rPr>
              <a:t>포장 오브젝트</a:t>
            </a:r>
            <a:r>
              <a:rPr lang="en-US" altLang="ko-KR" dirty="0" smtClean="0">
                <a:solidFill>
                  <a:prstClr val="black"/>
                </a:solidFill>
              </a:rPr>
              <a:t>)</a:t>
            </a:r>
          </a:p>
          <a:p>
            <a:pPr lvl="2"/>
            <a:r>
              <a:rPr lang="en-US" altLang="ko-KR" dirty="0" smtClean="0">
                <a:solidFill>
                  <a:prstClr val="black"/>
                </a:solidFill>
              </a:rPr>
              <a:t>String, Number, Boolean</a:t>
            </a:r>
            <a:r>
              <a:rPr lang="ko-KR" altLang="en-US" dirty="0" smtClean="0">
                <a:solidFill>
                  <a:prstClr val="black"/>
                </a:solidFill>
              </a:rPr>
              <a:t>은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원시 타입이면서 오브젝트 </a:t>
            </a:r>
            <a:r>
              <a:rPr lang="en-US" altLang="ko-KR" dirty="0" smtClean="0">
                <a:solidFill>
                  <a:prstClr val="black"/>
                </a:solidFill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</a:rPr>
              <a:t>래퍼 오브젝트를 가짐</a:t>
            </a:r>
            <a:r>
              <a:rPr lang="en-US" altLang="ko-KR" dirty="0" smtClean="0">
                <a:solidFill>
                  <a:prstClr val="black"/>
                </a:solidFill>
              </a:rPr>
              <a:t>) 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</a:t>
            </a:r>
            <a:r>
              <a:rPr lang="ko-KR" alt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객체처럼 동작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7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039090" y="4861765"/>
            <a:ext cx="43088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constructor: </a:t>
            </a:r>
            <a:r>
              <a:rPr lang="ko-KR" altLang="en-US" dirty="0" err="1" smtClean="0"/>
              <a:t>생성자</a:t>
            </a:r>
            <a:r>
              <a:rPr lang="ko-KR" altLang="en-US" dirty="0" smtClean="0"/>
              <a:t> 프로토타입을 알려줌 </a:t>
            </a:r>
            <a:endParaRPr lang="en-US" dirty="0"/>
          </a:p>
        </p:txBody>
      </p:sp>
      <p:grpSp>
        <p:nvGrpSpPr>
          <p:cNvPr id="13" name="그룹 12"/>
          <p:cNvGrpSpPr/>
          <p:nvPr/>
        </p:nvGrpSpPr>
        <p:grpSpPr>
          <a:xfrm>
            <a:off x="6647754" y="409576"/>
            <a:ext cx="5393558" cy="5002010"/>
            <a:chOff x="6647754" y="696876"/>
            <a:chExt cx="5201049" cy="4714709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47754" y="696876"/>
              <a:ext cx="5201049" cy="4714709"/>
            </a:xfrm>
            <a:prstGeom prst="rect">
              <a:avLst/>
            </a:prstGeom>
          </p:spPr>
        </p:pic>
        <p:sp>
          <p:nvSpPr>
            <p:cNvPr id="11" name="직사각형 10"/>
            <p:cNvSpPr/>
            <p:nvPr/>
          </p:nvSpPr>
          <p:spPr>
            <a:xfrm>
              <a:off x="7290263" y="2285999"/>
              <a:ext cx="2502130" cy="22444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5" name="구부러진 연결선 14"/>
          <p:cNvCxnSpPr>
            <a:endCxn id="4" idx="3"/>
          </p:cNvCxnSpPr>
          <p:nvPr/>
        </p:nvCxnSpPr>
        <p:spPr>
          <a:xfrm rot="5400000">
            <a:off x="4915088" y="2647471"/>
            <a:ext cx="2831835" cy="196608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직사각형 17"/>
          <p:cNvSpPr/>
          <p:nvPr/>
        </p:nvSpPr>
        <p:spPr>
          <a:xfrm>
            <a:off x="530552" y="6312853"/>
            <a:ext cx="45057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https://www.w3schools.com/jsref/default.asp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552" y="5948187"/>
            <a:ext cx="7249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자바스크립트에는 기본적으로 사용할 수 있는 유용한 내장 객체가 존재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472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740119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Object </a:t>
            </a:r>
            <a:r>
              <a:rPr lang="ko-KR" altLang="en-US" b="1" dirty="0" smtClean="0">
                <a:solidFill>
                  <a:prstClr val="black"/>
                </a:solidFill>
              </a:rPr>
              <a:t>객체의 메서드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즉 </a:t>
            </a:r>
            <a:r>
              <a:rPr lang="en-US" altLang="ko-KR" dirty="0" smtClean="0">
                <a:solidFill>
                  <a:prstClr val="black"/>
                </a:solidFill>
              </a:rPr>
              <a:t>JS</a:t>
            </a:r>
            <a:r>
              <a:rPr lang="ko-KR" altLang="en-US" dirty="0" smtClean="0">
                <a:solidFill>
                  <a:prstClr val="black"/>
                </a:solidFill>
              </a:rPr>
              <a:t>의 모든 객체는 </a:t>
            </a:r>
            <a:r>
              <a:rPr lang="en-US" altLang="ko-KR" dirty="0" smtClean="0">
                <a:solidFill>
                  <a:prstClr val="black"/>
                </a:solidFill>
              </a:rPr>
              <a:t>Object </a:t>
            </a:r>
            <a:r>
              <a:rPr lang="ko-KR" altLang="en-US" dirty="0" smtClean="0">
                <a:solidFill>
                  <a:prstClr val="black"/>
                </a:solidFill>
              </a:rPr>
              <a:t>객체가 제공하는 메서드를 모두 사용할 수 있음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8</a:t>
            </a:fld>
            <a:endParaRPr lang="en-US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6553344"/>
              </p:ext>
            </p:extLst>
          </p:nvPr>
        </p:nvGraphicFramePr>
        <p:xfrm>
          <a:off x="1070295" y="2018383"/>
          <a:ext cx="9855202" cy="402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573023">
                  <a:extLst>
                    <a:ext uri="{9D8B030D-6E8A-4147-A177-3AD203B41FA5}">
                      <a16:colId xmlns:a16="http://schemas.microsoft.com/office/drawing/2014/main" val="2246225606"/>
                    </a:ext>
                  </a:extLst>
                </a:gridCol>
                <a:gridCol w="6282179">
                  <a:extLst>
                    <a:ext uri="{9D8B030D-6E8A-4147-A177-3AD203B41FA5}">
                      <a16:colId xmlns:a16="http://schemas.microsoft.com/office/drawing/2014/main" val="17599463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메서드 이름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설명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261601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smtClean="0"/>
                        <a:t>constructor()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객체의 </a:t>
                      </a:r>
                      <a:r>
                        <a:rPr lang="ko-KR" altLang="en-US" dirty="0" err="1" smtClean="0"/>
                        <a:t>생성자</a:t>
                      </a:r>
                      <a:r>
                        <a:rPr lang="ko-KR" altLang="en-US" dirty="0" smtClean="0"/>
                        <a:t> 함수 정보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5725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/>
                        <a:t>hasOwnProperty</a:t>
                      </a:r>
                      <a:r>
                        <a:rPr lang="en-US" dirty="0" smtClean="0"/>
                        <a:t>(name)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객체가 </a:t>
                      </a:r>
                      <a:r>
                        <a:rPr lang="en-US" altLang="ko-KR" dirty="0" smtClean="0"/>
                        <a:t>name </a:t>
                      </a:r>
                      <a:r>
                        <a:rPr lang="ko-KR" altLang="en-US" dirty="0" smtClean="0"/>
                        <a:t>속성이 있는지 확인</a:t>
                      </a:r>
                      <a:r>
                        <a:rPr lang="en-US" altLang="ko-KR" dirty="0" smtClean="0"/>
                        <a:t>(</a:t>
                      </a:r>
                      <a:r>
                        <a:rPr lang="ko-KR" altLang="en-US" dirty="0" smtClean="0"/>
                        <a:t>유효성 검사</a:t>
                      </a:r>
                      <a:r>
                        <a:rPr lang="en-US" altLang="ko-KR" dirty="0" smtClean="0"/>
                        <a:t>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1469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/>
                        <a:t>isPrototypeof</a:t>
                      </a:r>
                      <a:r>
                        <a:rPr lang="en-US" dirty="0" smtClean="0"/>
                        <a:t>(object)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객체가 </a:t>
                      </a:r>
                      <a:r>
                        <a:rPr lang="en-US" altLang="ko-KR" dirty="0" smtClean="0"/>
                        <a:t>object</a:t>
                      </a:r>
                      <a:r>
                        <a:rPr lang="ko-KR" altLang="en-US" dirty="0" smtClean="0"/>
                        <a:t>의 프로토타입인지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검사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8581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/>
                        <a:t>propertyIsEnumerable</a:t>
                      </a:r>
                      <a:r>
                        <a:rPr lang="en-US" dirty="0" smtClean="0"/>
                        <a:t>(name)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err="1" smtClean="0"/>
                        <a:t>반복문으로</a:t>
                      </a:r>
                      <a:r>
                        <a:rPr lang="ko-KR" altLang="en-US" dirty="0" smtClean="0"/>
                        <a:t> 열거할 수 있는지 확인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408954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/>
                        <a:t>toLocaleString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객체가 호스트 환경에 맞는 언어의 문자열로 바꿈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87871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/>
                        <a:t>toString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객체를 문자열로 바꿈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96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dirty="0" err="1" smtClean="0"/>
                        <a:t>valueOf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ko-KR" altLang="en-US" dirty="0" smtClean="0"/>
                        <a:t>객체의 값을 반환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89105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415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740119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Object </a:t>
            </a:r>
            <a:r>
              <a:rPr lang="ko-KR" altLang="en-US" b="1" dirty="0" smtClean="0">
                <a:solidFill>
                  <a:prstClr val="black"/>
                </a:solidFill>
              </a:rPr>
              <a:t>객체의 메서드 예시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9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36878" y="1379998"/>
            <a:ext cx="7831668" cy="2769989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o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A6E3A"/>
                </a:solidFill>
                <a:effectLst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</a:rPr>
              <a:t>new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</a:rPr>
              <a:t>Object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prop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A6E3A"/>
                </a:solidFill>
                <a:effectLst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'exists'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</a:rPr>
              <a:t> function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effectLst/>
              </a:rPr>
              <a:t>changeO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()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{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newprop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A6E3A"/>
                </a:solidFill>
                <a:effectLst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prop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</a:rPr>
              <a:t>delete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prop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}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effectLst/>
              </a:rPr>
              <a:t>o.hasOwnProperty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'prop'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</a:rPr>
              <a:t>// returns true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DD4A68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effectLst/>
              </a:rPr>
              <a:t>changeO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effectLst/>
              </a:rPr>
              <a:t>o.hasOwnProperty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'prop'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</a:rPr>
              <a:t>// returns false 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819674" y="4304420"/>
            <a:ext cx="7848872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lumMod val="65000"/>
                <a:lumOff val="35000"/>
              </a:schemeClr>
            </a:solidFill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o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A6E3A"/>
                </a:solidFill>
                <a:effectLst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0077AA"/>
                </a:solidFill>
                <a:effectLst/>
              </a:rPr>
              <a:t>new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DD4A68"/>
                </a:solidFill>
                <a:effectLst/>
              </a:rPr>
              <a:t>Object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prop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A6E3A"/>
                </a:solidFill>
                <a:effectLst/>
              </a:rPr>
              <a:t>=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'exists'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</a:rPr>
              <a:t>hasOwnProperty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'prop'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</a:rPr>
              <a:t>// returns true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</a:rPr>
              <a:t>hasOwnProperty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669900"/>
                </a:solidFill>
                <a:effectLst/>
              </a:rPr>
              <a:t>toString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</a:rPr>
              <a:t>// returns false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333333"/>
                </a:solidFill>
                <a:effectLst/>
              </a:rPr>
              <a:t>o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999999"/>
                </a:solidFill>
                <a:effectLst/>
              </a:rPr>
              <a:t>.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DD4A68"/>
                </a:solidFill>
                <a:effectLst/>
              </a:rPr>
              <a:t>hasOwnProperty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(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</a:t>
            </a:r>
            <a:r>
              <a:rPr kumimoji="0" lang="en-US" altLang="en-US" sz="2000" b="0" i="0" u="none" strike="noStrike" cap="none" normalizeH="0" baseline="0" dirty="0" err="1" smtClean="0">
                <a:ln>
                  <a:noFill/>
                </a:ln>
                <a:solidFill>
                  <a:srgbClr val="669900"/>
                </a:solidFill>
                <a:effectLst/>
              </a:rPr>
              <a:t>hasOwnProperty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669900"/>
                </a:solidFill>
                <a:effectLst/>
              </a:rPr>
              <a:t>'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999999"/>
                </a:solidFill>
                <a:effectLst/>
              </a:rPr>
              <a:t>);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effectLst/>
              </a:rPr>
              <a:t>// returns false 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4301934" y="4401116"/>
            <a:ext cx="43204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직접 </a:t>
            </a:r>
            <a:r>
              <a:rPr lang="ko-KR" altLang="en-US" dirty="0" err="1"/>
              <a:t>프로퍼티와</a:t>
            </a:r>
            <a:r>
              <a:rPr lang="ko-KR" altLang="en-US" dirty="0"/>
              <a:t> 상속된 </a:t>
            </a:r>
            <a:r>
              <a:rPr lang="ko-KR" altLang="en-US" dirty="0" err="1"/>
              <a:t>프로퍼티의</a:t>
            </a:r>
            <a:r>
              <a:rPr lang="ko-KR" altLang="en-US" dirty="0"/>
              <a:t> 비교</a:t>
            </a:r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5324361" y="1610179"/>
            <a:ext cx="33441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err="1"/>
              <a:t>프로퍼티의</a:t>
            </a:r>
            <a:r>
              <a:rPr lang="ko-KR" altLang="en-US" dirty="0"/>
              <a:t> 존재 여부를 테스트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41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직사각형 27"/>
          <p:cNvSpPr/>
          <p:nvPr/>
        </p:nvSpPr>
        <p:spPr>
          <a:xfrm>
            <a:off x="1148855" y="3651639"/>
            <a:ext cx="8804770" cy="10932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직사각형 22"/>
          <p:cNvSpPr/>
          <p:nvPr/>
        </p:nvSpPr>
        <p:spPr>
          <a:xfrm>
            <a:off x="1148855" y="2471819"/>
            <a:ext cx="8804770" cy="773076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740119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Number </a:t>
            </a:r>
            <a:r>
              <a:rPr lang="ko-KR" altLang="en-US" b="1" dirty="0" smtClean="0">
                <a:solidFill>
                  <a:prstClr val="black"/>
                </a:solidFill>
              </a:rPr>
              <a:t>객체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원시 타입 </a:t>
            </a:r>
            <a:r>
              <a:rPr lang="en-US" altLang="ko-KR" dirty="0" smtClean="0">
                <a:solidFill>
                  <a:prstClr val="black"/>
                </a:solidFill>
              </a:rPr>
              <a:t>number</a:t>
            </a:r>
            <a:r>
              <a:rPr lang="ko-KR" altLang="en-US" dirty="0" smtClean="0">
                <a:solidFill>
                  <a:prstClr val="black"/>
                </a:solidFill>
              </a:rPr>
              <a:t>를 다룰 때 유용한 </a:t>
            </a:r>
            <a:r>
              <a:rPr lang="ko-KR" altLang="en-US" dirty="0" err="1" smtClean="0">
                <a:solidFill>
                  <a:prstClr val="black"/>
                </a:solidFill>
              </a:rPr>
              <a:t>프로퍼티와</a:t>
            </a:r>
            <a:r>
              <a:rPr lang="ko-KR" altLang="en-US" dirty="0" smtClean="0">
                <a:solidFill>
                  <a:prstClr val="black"/>
                </a:solidFill>
              </a:rPr>
              <a:t> 메서드를 제공하는 래퍼</a:t>
            </a:r>
            <a:r>
              <a:rPr lang="en-US" altLang="ko-KR" dirty="0" smtClean="0">
                <a:solidFill>
                  <a:prstClr val="black"/>
                </a:solidFill>
              </a:rPr>
              <a:t>(wrapper)</a:t>
            </a:r>
            <a:r>
              <a:rPr lang="ko-KR" altLang="en-US" dirty="0" smtClean="0">
                <a:solidFill>
                  <a:prstClr val="black"/>
                </a:solidFill>
              </a:rPr>
              <a:t> 객체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생성 방법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10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100083" y="2324238"/>
            <a:ext cx="9348842" cy="424731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 err="1">
                <a:solidFill>
                  <a:schemeClr val="tx1"/>
                </a:solidFill>
              </a:rPr>
              <a:t>var</a:t>
            </a:r>
            <a:r>
              <a:rPr lang="en-US" sz="2000" dirty="0">
                <a:solidFill>
                  <a:schemeClr val="tx1"/>
                </a:solidFill>
              </a:rPr>
              <a:t> a = </a:t>
            </a:r>
            <a:r>
              <a:rPr lang="en-US" sz="2000" dirty="0">
                <a:solidFill>
                  <a:srgbClr val="FF0000"/>
                </a:solidFill>
              </a:rPr>
              <a:t>new</a:t>
            </a:r>
            <a:r>
              <a:rPr lang="en-US" sz="2000" dirty="0">
                <a:solidFill>
                  <a:schemeClr val="tx1"/>
                </a:solidFill>
              </a:rPr>
              <a:t> </a:t>
            </a:r>
            <a:r>
              <a:rPr lang="en-US" sz="2000" dirty="0" smtClean="0">
                <a:solidFill>
                  <a:schemeClr val="tx1"/>
                </a:solidFill>
              </a:rPr>
              <a:t>Number(123);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>
                <a:solidFill>
                  <a:schemeClr val="tx1"/>
                </a:solidFill>
              </a:rPr>
              <a:t>var</a:t>
            </a:r>
            <a:r>
              <a:rPr lang="en-US" sz="2000" dirty="0" smtClean="0">
                <a:solidFill>
                  <a:schemeClr val="tx1"/>
                </a:solidFill>
              </a:rPr>
              <a:t> </a:t>
            </a:r>
            <a:r>
              <a:rPr lang="en-US" sz="2000" dirty="0">
                <a:solidFill>
                  <a:schemeClr val="tx1"/>
                </a:solidFill>
              </a:rPr>
              <a:t>a = </a:t>
            </a:r>
            <a:r>
              <a:rPr lang="en-US" sz="2000" dirty="0">
                <a:solidFill>
                  <a:srgbClr val="FF0000"/>
                </a:solidFill>
              </a:rPr>
              <a:t>new</a:t>
            </a:r>
            <a:r>
              <a:rPr lang="en-US" sz="2000" dirty="0">
                <a:solidFill>
                  <a:schemeClr val="tx1"/>
                </a:solidFill>
              </a:rPr>
              <a:t> Number(</a:t>
            </a:r>
            <a:r>
              <a:rPr lang="en-US" sz="2000" dirty="0" smtClean="0">
                <a:solidFill>
                  <a:schemeClr val="tx1"/>
                </a:solidFill>
              </a:rPr>
              <a:t>'123');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err="1" smtClean="0">
                <a:solidFill>
                  <a:schemeClr val="tx1"/>
                </a:solidFill>
              </a:rPr>
              <a:t>var</a:t>
            </a:r>
            <a:r>
              <a:rPr lang="en-US" sz="2000" dirty="0" smtClean="0">
                <a:solidFill>
                  <a:schemeClr val="tx1"/>
                </a:solidFill>
              </a:rPr>
              <a:t> b= Number</a:t>
            </a:r>
            <a:r>
              <a:rPr lang="en-US" sz="2000" dirty="0">
                <a:solidFill>
                  <a:schemeClr val="tx1"/>
                </a:solidFill>
              </a:rPr>
              <a:t>(</a:t>
            </a:r>
            <a:r>
              <a:rPr lang="en-US" sz="2000" dirty="0" smtClean="0">
                <a:solidFill>
                  <a:schemeClr val="tx1"/>
                </a:solidFill>
              </a:rPr>
              <a:t>'123');                              </a:t>
            </a:r>
          </a:p>
          <a:p>
            <a:pPr>
              <a:lnSpc>
                <a:spcPct val="150000"/>
              </a:lnSpc>
            </a:pPr>
            <a:r>
              <a:rPr lang="en-US" sz="2000" dirty="0" err="1" smtClean="0">
                <a:solidFill>
                  <a:schemeClr val="tx1"/>
                </a:solidFill>
              </a:rPr>
              <a:t>var</a:t>
            </a:r>
            <a:r>
              <a:rPr lang="en-US" sz="2000" dirty="0" smtClean="0">
                <a:solidFill>
                  <a:schemeClr val="tx1"/>
                </a:solidFill>
              </a:rPr>
              <a:t> b = 123;</a:t>
            </a: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a </a:t>
            </a:r>
            <a:r>
              <a:rPr lang="en-US" sz="2000" dirty="0" err="1">
                <a:solidFill>
                  <a:schemeClr val="tx1"/>
                </a:solidFill>
              </a:rPr>
              <a:t>instanceof</a:t>
            </a:r>
            <a:r>
              <a:rPr lang="en-US" sz="2000" dirty="0">
                <a:solidFill>
                  <a:schemeClr val="tx1"/>
                </a:solidFill>
              </a:rPr>
              <a:t> Number; // </a:t>
            </a:r>
            <a:r>
              <a:rPr lang="en-US" sz="2000" dirty="0">
                <a:solidFill>
                  <a:srgbClr val="0000FF"/>
                </a:solidFill>
              </a:rPr>
              <a:t>true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</a:rPr>
              <a:t>b </a:t>
            </a:r>
            <a:r>
              <a:rPr lang="en-US" sz="2000" dirty="0" err="1">
                <a:solidFill>
                  <a:schemeClr val="tx1"/>
                </a:solidFill>
              </a:rPr>
              <a:t>instanceof</a:t>
            </a:r>
            <a:r>
              <a:rPr lang="en-US" sz="2000" dirty="0">
                <a:solidFill>
                  <a:schemeClr val="tx1"/>
                </a:solidFill>
              </a:rPr>
              <a:t> Number; // </a:t>
            </a:r>
            <a:r>
              <a:rPr lang="en-US" sz="2000" dirty="0">
                <a:solidFill>
                  <a:srgbClr val="0000FF"/>
                </a:solidFill>
              </a:rPr>
              <a:t>false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err="1" smtClean="0">
                <a:solidFill>
                  <a:schemeClr val="tx1"/>
                </a:solidFill>
              </a:rPr>
              <a:t>var</a:t>
            </a:r>
            <a:r>
              <a:rPr lang="en-US" sz="2000" dirty="0" smtClean="0">
                <a:solidFill>
                  <a:schemeClr val="tx1"/>
                </a:solidFill>
              </a:rPr>
              <a:t> b </a:t>
            </a:r>
            <a:r>
              <a:rPr lang="en-US" sz="2000" dirty="0">
                <a:solidFill>
                  <a:schemeClr val="tx1"/>
                </a:solidFill>
              </a:rPr>
              <a:t>= Number(</a:t>
            </a:r>
            <a:r>
              <a:rPr lang="en-US" sz="2000" dirty="0" smtClean="0">
                <a:solidFill>
                  <a:schemeClr val="tx1"/>
                </a:solidFill>
              </a:rPr>
              <a:t>'123a');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4305" y="3755287"/>
            <a:ext cx="574196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123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458475" y="6097409"/>
            <a:ext cx="638316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 smtClean="0">
                <a:solidFill>
                  <a:srgbClr val="0000FF"/>
                </a:solidFill>
              </a:rPr>
              <a:t>NaN</a:t>
            </a:r>
            <a:endParaRPr lang="en-US" sz="2000" dirty="0"/>
          </a:p>
        </p:txBody>
      </p:sp>
      <p:cxnSp>
        <p:nvCxnSpPr>
          <p:cNvPr id="16" name="직선 화살표 연결선 15"/>
          <p:cNvCxnSpPr/>
          <p:nvPr/>
        </p:nvCxnSpPr>
        <p:spPr>
          <a:xfrm>
            <a:off x="4054871" y="3997282"/>
            <a:ext cx="38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/>
          <p:cNvCxnSpPr/>
          <p:nvPr/>
        </p:nvCxnSpPr>
        <p:spPr>
          <a:xfrm>
            <a:off x="3978554" y="6305503"/>
            <a:ext cx="38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22595" y="4246731"/>
            <a:ext cx="574196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rgbClr val="0000FF"/>
                </a:solidFill>
              </a:rPr>
              <a:t>123</a:t>
            </a:r>
            <a:endParaRPr lang="en-US" sz="2000" dirty="0"/>
          </a:p>
        </p:txBody>
      </p:sp>
      <p:cxnSp>
        <p:nvCxnSpPr>
          <p:cNvPr id="19" name="직선 화살표 연결선 18"/>
          <p:cNvCxnSpPr/>
          <p:nvPr/>
        </p:nvCxnSpPr>
        <p:spPr>
          <a:xfrm>
            <a:off x="4053161" y="4437356"/>
            <a:ext cx="38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/>
          <p:cNvSpPr/>
          <p:nvPr/>
        </p:nvSpPr>
        <p:spPr>
          <a:xfrm>
            <a:off x="5169304" y="3780868"/>
            <a:ext cx="361114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err="1"/>
              <a:t>원시타입을</a:t>
            </a:r>
            <a:r>
              <a:rPr lang="ko-KR" altLang="en-US" dirty="0"/>
              <a:t> </a:t>
            </a:r>
            <a:r>
              <a:rPr lang="ko-KR" altLang="en-US" dirty="0" smtClean="0"/>
              <a:t>반환</a:t>
            </a:r>
            <a:endParaRPr lang="en-US" altLang="ko-KR" dirty="0"/>
          </a:p>
          <a:p>
            <a:r>
              <a:rPr lang="ko-KR" altLang="en-US" dirty="0" smtClean="0"/>
              <a:t>주로 문자열을 </a:t>
            </a:r>
            <a:r>
              <a:rPr lang="ko-KR" altLang="en-US" dirty="0" err="1" smtClean="0"/>
              <a:t>숫자열로</a:t>
            </a:r>
            <a:r>
              <a:rPr lang="ko-KR" altLang="en-US" dirty="0" smtClean="0"/>
              <a:t> 바꿀 때 사용</a:t>
            </a:r>
            <a:r>
              <a:rPr lang="en-US" altLang="ko-KR" dirty="0" smtClean="0"/>
              <a:t>(</a:t>
            </a:r>
            <a:r>
              <a:rPr lang="ko-KR" altLang="en-US" dirty="0" smtClean="0"/>
              <a:t>생성자가 아닌 함수의 용도로</a:t>
            </a:r>
            <a:r>
              <a:rPr lang="en-US" altLang="ko-KR" dirty="0" smtClean="0"/>
              <a:t>)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524305" y="2702298"/>
            <a:ext cx="1592103" cy="400110"/>
          </a:xfrm>
          <a:prstGeom prst="rect">
            <a:avLst/>
          </a:prstGeom>
          <a:noFill/>
          <a:ln>
            <a:solidFill>
              <a:schemeClr val="dk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smtClean="0"/>
              <a:t>Number{</a:t>
            </a:r>
            <a:r>
              <a:rPr lang="en-US" sz="2000" dirty="0" smtClean="0">
                <a:solidFill>
                  <a:srgbClr val="0000FF"/>
                </a:solidFill>
              </a:rPr>
              <a:t>123</a:t>
            </a:r>
            <a:r>
              <a:rPr lang="en-US" sz="2000" dirty="0" smtClean="0"/>
              <a:t>}</a:t>
            </a:r>
            <a:endParaRPr lang="en-US" sz="2000" dirty="0"/>
          </a:p>
        </p:txBody>
      </p:sp>
      <p:cxnSp>
        <p:nvCxnSpPr>
          <p:cNvPr id="25" name="직선 화살표 연결선 24"/>
          <p:cNvCxnSpPr/>
          <p:nvPr/>
        </p:nvCxnSpPr>
        <p:spPr>
          <a:xfrm>
            <a:off x="4048018" y="2649802"/>
            <a:ext cx="38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/>
          <p:nvPr/>
        </p:nvCxnSpPr>
        <p:spPr>
          <a:xfrm>
            <a:off x="4046308" y="3092722"/>
            <a:ext cx="3801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6214261" y="2715658"/>
            <a:ext cx="13917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객체를 반환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458475" y="4848523"/>
            <a:ext cx="57294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객체의 인스턴스가 아님에도 불구하고</a:t>
            </a:r>
            <a:endParaRPr lang="en-US" altLang="ko-KR" dirty="0" smtClean="0"/>
          </a:p>
          <a:p>
            <a:r>
              <a:rPr lang="ko-KR" altLang="en-US" dirty="0" smtClean="0"/>
              <a:t>변수 </a:t>
            </a:r>
            <a:r>
              <a:rPr lang="en-US" altLang="ko-KR" dirty="0" smtClean="0"/>
              <a:t>b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Number</a:t>
            </a:r>
            <a:r>
              <a:rPr lang="ko-KR" altLang="en-US" dirty="0" smtClean="0"/>
              <a:t>객체가 제공하는 </a:t>
            </a:r>
            <a:r>
              <a:rPr lang="ko-KR" altLang="en-US" dirty="0" err="1" smtClean="0"/>
              <a:t>프로퍼티와</a:t>
            </a:r>
            <a:r>
              <a:rPr lang="ko-KR" altLang="en-US" dirty="0" smtClean="0"/>
              <a:t> 메서드를</a:t>
            </a:r>
            <a:endParaRPr lang="en-US" altLang="ko-KR" dirty="0" smtClean="0"/>
          </a:p>
          <a:p>
            <a:r>
              <a:rPr lang="ko-KR" altLang="en-US" dirty="0" smtClean="0"/>
              <a:t>사용할 수 있음</a:t>
            </a:r>
            <a:r>
              <a:rPr lang="en-US" altLang="ko-KR" dirty="0" smtClean="0"/>
              <a:t>(</a:t>
            </a:r>
            <a:r>
              <a:rPr lang="ko-KR" altLang="en-US" dirty="0" smtClean="0"/>
              <a:t>뒤에 참조</a:t>
            </a:r>
            <a:r>
              <a:rPr lang="en-US" altLang="ko-KR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63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Auto Boxing</a:t>
            </a:r>
          </a:p>
          <a:p>
            <a:pPr lvl="1"/>
            <a:r>
              <a:rPr lang="en-US" altLang="ko-KR" dirty="0">
                <a:solidFill>
                  <a:srgbClr val="0000FF"/>
                </a:solidFill>
              </a:rPr>
              <a:t>String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en-US" altLang="ko-KR" dirty="0">
                <a:solidFill>
                  <a:srgbClr val="0000FF"/>
                </a:solidFill>
              </a:rPr>
              <a:t>Number</a:t>
            </a:r>
            <a:r>
              <a:rPr lang="en-US" altLang="ko-KR" dirty="0">
                <a:solidFill>
                  <a:prstClr val="black"/>
                </a:solidFill>
              </a:rPr>
              <a:t>, </a:t>
            </a:r>
            <a:r>
              <a:rPr lang="en-US" altLang="ko-KR" dirty="0">
                <a:solidFill>
                  <a:srgbClr val="0000FF"/>
                </a:solidFill>
              </a:rPr>
              <a:t>Boolean</a:t>
            </a:r>
            <a:r>
              <a:rPr lang="ko-KR" altLang="en-US" dirty="0">
                <a:solidFill>
                  <a:prstClr val="black"/>
                </a:solidFill>
              </a:rPr>
              <a:t>은</a:t>
            </a:r>
            <a:r>
              <a:rPr lang="en-US" altLang="ko-KR" dirty="0">
                <a:solidFill>
                  <a:prstClr val="black"/>
                </a:solidFill>
              </a:rPr>
              <a:t> </a:t>
            </a:r>
            <a:r>
              <a:rPr lang="en-US" altLang="ko-KR" dirty="0" smtClean="0">
                <a:solidFill>
                  <a:prstClr val="black"/>
                </a:solidFill>
              </a:rPr>
              <a:t>new</a:t>
            </a:r>
            <a:r>
              <a:rPr lang="ko-KR" altLang="en-US" dirty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키워드를 사용하지 않아도 원시 </a:t>
            </a:r>
            <a:r>
              <a:rPr lang="ko-KR" altLang="en-US" dirty="0">
                <a:solidFill>
                  <a:prstClr val="black"/>
                </a:solidFill>
              </a:rPr>
              <a:t>타입이면서 </a:t>
            </a:r>
            <a:r>
              <a:rPr lang="ko-KR" altLang="en-US" dirty="0" smtClean="0">
                <a:solidFill>
                  <a:prstClr val="black"/>
                </a:solidFill>
              </a:rPr>
              <a:t>객체</a:t>
            </a:r>
            <a:r>
              <a:rPr lang="ko-KR" altLang="en-US" dirty="0" smtClean="0">
                <a:solidFill>
                  <a:srgbClr val="FF0000"/>
                </a:solidFill>
              </a:rPr>
              <a:t>처럼</a:t>
            </a:r>
            <a:r>
              <a:rPr lang="ko-KR" altLang="en-US" dirty="0" smtClean="0">
                <a:solidFill>
                  <a:prstClr val="black"/>
                </a:solidFill>
              </a:rPr>
              <a:t> 동작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endParaRPr lang="en-US" altLang="ko-KR" dirty="0">
              <a:solidFill>
                <a:prstClr val="black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 smtClean="0">
                <a:solidFill>
                  <a:prstClr val="black"/>
                </a:solidFill>
              </a:rPr>
              <a:t>Auto Boxing: </a:t>
            </a:r>
            <a:r>
              <a:rPr lang="ko-KR" altLang="en-US" dirty="0" smtClean="0">
                <a:solidFill>
                  <a:prstClr val="black"/>
                </a:solidFill>
              </a:rPr>
              <a:t>원시 타입의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속성이나 메서드에 접근할 경우 </a:t>
            </a:r>
            <a:r>
              <a:rPr lang="ko-KR" altLang="en-US" dirty="0" smtClean="0">
                <a:solidFill>
                  <a:srgbClr val="0000FF"/>
                </a:solidFill>
              </a:rPr>
              <a:t>원시 값</a:t>
            </a:r>
            <a:r>
              <a:rPr lang="en-US" altLang="ko-KR" dirty="0" smtClean="0">
                <a:solidFill>
                  <a:srgbClr val="0000FF"/>
                </a:solidFill>
              </a:rPr>
              <a:t>(String, Number, Boolean)</a:t>
            </a:r>
            <a:r>
              <a:rPr lang="ko-KR" altLang="en-US" dirty="0" smtClean="0">
                <a:solidFill>
                  <a:srgbClr val="0000FF"/>
                </a:solidFill>
              </a:rPr>
              <a:t>이 객체에 자동으로 </a:t>
            </a:r>
            <a:r>
              <a:rPr lang="ko-KR" altLang="en-US" dirty="0" err="1" smtClean="0">
                <a:solidFill>
                  <a:srgbClr val="0000FF"/>
                </a:solidFill>
              </a:rPr>
              <a:t>감싸짐</a:t>
            </a:r>
            <a:endParaRPr lang="en-US" altLang="ko-KR" dirty="0" smtClean="0">
              <a:solidFill>
                <a:srgbClr val="0000FF"/>
              </a:solidFill>
            </a:endParaRPr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11</a:t>
            </a:fld>
            <a:endParaRPr 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1250023" y="2310192"/>
            <a:ext cx="6096000" cy="16312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000" dirty="0" err="1"/>
              <a:t>const</a:t>
            </a:r>
            <a:r>
              <a:rPr lang="en-US" sz="2000" dirty="0"/>
              <a:t> name = "Doggo"</a:t>
            </a:r>
          </a:p>
          <a:p>
            <a:r>
              <a:rPr lang="en-US" sz="2000" dirty="0" err="1"/>
              <a:t>const</a:t>
            </a:r>
            <a:r>
              <a:rPr lang="en-US" sz="2000" dirty="0"/>
              <a:t> age = 7</a:t>
            </a:r>
          </a:p>
          <a:p>
            <a:endParaRPr lang="en-US" sz="2000" dirty="0"/>
          </a:p>
          <a:p>
            <a:r>
              <a:rPr lang="en-US" sz="2000" dirty="0"/>
              <a:t>console.log(</a:t>
            </a:r>
            <a:r>
              <a:rPr lang="en-US" sz="2000" dirty="0" err="1"/>
              <a:t>typeof</a:t>
            </a:r>
            <a:r>
              <a:rPr lang="en-US" sz="2000" dirty="0"/>
              <a:t> name) // </a:t>
            </a:r>
            <a:r>
              <a:rPr lang="en-US" sz="2000" dirty="0" smtClean="0"/>
              <a:t>string, </a:t>
            </a:r>
            <a:r>
              <a:rPr lang="en-US" altLang="ko-KR" sz="2000" dirty="0" smtClean="0"/>
              <a:t>not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object</a:t>
            </a:r>
            <a:endParaRPr lang="en-US" sz="2000" dirty="0"/>
          </a:p>
          <a:p>
            <a:r>
              <a:rPr lang="en-US" sz="2000" dirty="0"/>
              <a:t>console.log(</a:t>
            </a:r>
            <a:r>
              <a:rPr lang="en-US" sz="2000" dirty="0" err="1"/>
              <a:t>typeof</a:t>
            </a:r>
            <a:r>
              <a:rPr lang="en-US" sz="2000" dirty="0"/>
              <a:t> age) // </a:t>
            </a:r>
            <a:r>
              <a:rPr lang="en-US" sz="2000" dirty="0" smtClean="0"/>
              <a:t>number, not object</a:t>
            </a:r>
            <a:endParaRPr lang="en-US" sz="2000" dirty="0"/>
          </a:p>
        </p:txBody>
      </p:sp>
      <p:sp>
        <p:nvSpPr>
          <p:cNvPr id="22" name="직사각형 21"/>
          <p:cNvSpPr/>
          <p:nvPr/>
        </p:nvSpPr>
        <p:spPr>
          <a:xfrm>
            <a:off x="1250023" y="4316390"/>
            <a:ext cx="6096000" cy="70788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r>
              <a:rPr lang="en-US" sz="2000" dirty="0"/>
              <a:t>console.log(</a:t>
            </a:r>
            <a:r>
              <a:rPr lang="en-US" sz="2000" dirty="0" err="1"/>
              <a:t>name.length</a:t>
            </a:r>
            <a:r>
              <a:rPr lang="en-US" sz="2000" dirty="0"/>
              <a:t>) </a:t>
            </a:r>
            <a:r>
              <a:rPr lang="en-US" sz="2000" dirty="0" smtClean="0">
                <a:sym typeface="Wingdings" panose="05000000000000000000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5</a:t>
            </a:r>
          </a:p>
          <a:p>
            <a:r>
              <a:rPr lang="en-US" sz="2000" dirty="0"/>
              <a:t>console.log(</a:t>
            </a:r>
            <a:r>
              <a:rPr lang="en-US" sz="2000" dirty="0" err="1"/>
              <a:t>age.toString</a:t>
            </a:r>
            <a:r>
              <a:rPr lang="en-US" sz="2000" dirty="0"/>
              <a:t>()) </a:t>
            </a:r>
            <a:r>
              <a:rPr lang="en-US" sz="2000" dirty="0" smtClean="0">
                <a:sym typeface="Wingdings" panose="05000000000000000000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dirty="0"/>
              <a:t>"7"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46023" y="4485667"/>
            <a:ext cx="45191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??</a:t>
            </a:r>
            <a:r>
              <a:rPr lang="ko-KR" altLang="en-US" dirty="0" smtClean="0"/>
              <a:t>원시 타입은 속성이라는 개념이 없는데</a:t>
            </a:r>
            <a:r>
              <a:rPr lang="en-US" altLang="ko-KR" dirty="0" smtClean="0"/>
              <a:t>??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253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 smtClean="0"/>
              <a:t>객체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String </a:t>
            </a:r>
            <a:r>
              <a:rPr lang="ko-KR" altLang="en-US" b="1" dirty="0" smtClean="0">
                <a:solidFill>
                  <a:prstClr val="black"/>
                </a:solidFill>
              </a:rPr>
              <a:t>객체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>
                <a:solidFill>
                  <a:prstClr val="black"/>
                </a:solidFill>
              </a:rPr>
              <a:t>원시 타입 </a:t>
            </a:r>
            <a:r>
              <a:rPr lang="en-US" altLang="ko-KR" dirty="0" smtClean="0">
                <a:solidFill>
                  <a:prstClr val="black"/>
                </a:solidFill>
              </a:rPr>
              <a:t>String</a:t>
            </a:r>
            <a:r>
              <a:rPr lang="ko-KR" altLang="en-US" dirty="0" smtClean="0">
                <a:solidFill>
                  <a:prstClr val="black"/>
                </a:solidFill>
              </a:rPr>
              <a:t>을 </a:t>
            </a:r>
            <a:r>
              <a:rPr lang="ko-KR" altLang="en-US" dirty="0">
                <a:solidFill>
                  <a:prstClr val="black"/>
                </a:solidFill>
              </a:rPr>
              <a:t>다룰 때 유용한 </a:t>
            </a:r>
            <a:r>
              <a:rPr lang="ko-KR" altLang="en-US" dirty="0" err="1">
                <a:solidFill>
                  <a:prstClr val="black"/>
                </a:solidFill>
              </a:rPr>
              <a:t>프로퍼티와</a:t>
            </a:r>
            <a:r>
              <a:rPr lang="ko-KR" altLang="en-US" dirty="0">
                <a:solidFill>
                  <a:prstClr val="black"/>
                </a:solidFill>
              </a:rPr>
              <a:t> 메서드를 제공하는 래퍼</a:t>
            </a:r>
            <a:r>
              <a:rPr lang="en-US" altLang="ko-KR" dirty="0">
                <a:solidFill>
                  <a:prstClr val="black"/>
                </a:solidFill>
              </a:rPr>
              <a:t>(wrapper)</a:t>
            </a:r>
            <a:r>
              <a:rPr lang="ko-KR" altLang="en-US" dirty="0">
                <a:solidFill>
                  <a:prstClr val="black"/>
                </a:solidFill>
              </a:rPr>
              <a:t> 객체</a:t>
            </a:r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12</a:t>
            </a:fld>
            <a:endParaRPr lang="en-US" dirty="0"/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525486"/>
              </p:ext>
            </p:extLst>
          </p:nvPr>
        </p:nvGraphicFramePr>
        <p:xfrm>
          <a:off x="4657725" y="1934878"/>
          <a:ext cx="3124200" cy="4856449"/>
        </p:xfrm>
        <a:graphic>
          <a:graphicData uri="http://schemas.openxmlformats.org/drawingml/2006/table">
            <a:tbl>
              <a:tblPr/>
              <a:tblGrid>
                <a:gridCol w="3124200">
                  <a:extLst>
                    <a:ext uri="{9D8B030D-6E8A-4147-A177-3AD203B41FA5}">
                      <a16:colId xmlns:a16="http://schemas.microsoft.com/office/drawing/2014/main" val="2189913443"/>
                    </a:ext>
                  </a:extLst>
                </a:gridCol>
              </a:tblGrid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search()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198996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slice()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9522590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split()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060637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startsWith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066868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substr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9065411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substring()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632079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toLocaleLowerCase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274388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toLocaleUpperCase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4537958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toLowerCase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6441366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toString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2588685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toUpperCase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7103266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trim()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0682741"/>
                  </a:ext>
                </a:extLst>
              </a:tr>
              <a:tr h="37357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valueOf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80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881432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549053"/>
              </p:ext>
            </p:extLst>
          </p:nvPr>
        </p:nvGraphicFramePr>
        <p:xfrm>
          <a:off x="1085850" y="1934878"/>
          <a:ext cx="3034198" cy="4490445"/>
        </p:xfrm>
        <a:graphic>
          <a:graphicData uri="http://schemas.openxmlformats.org/drawingml/2006/table">
            <a:tbl>
              <a:tblPr/>
              <a:tblGrid>
                <a:gridCol w="3034198">
                  <a:extLst>
                    <a:ext uri="{9D8B030D-6E8A-4147-A177-3AD203B41FA5}">
                      <a16:colId xmlns:a16="http://schemas.microsoft.com/office/drawing/2014/main" val="1191811734"/>
                    </a:ext>
                  </a:extLst>
                </a:gridCol>
              </a:tblGrid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charAt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376714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charCodeAt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523327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concat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726071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endsWith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949148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fromCharCode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6948936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includes()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4085033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indexOf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406043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lastIndexOf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593521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localeCompare</a:t>
                      </a:r>
                      <a:r>
                        <a:rPr lang="en-US" sz="2000" dirty="0">
                          <a:effectLst/>
                        </a:rPr>
                        <a:t>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736713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match()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053840"/>
                  </a:ext>
                </a:extLst>
              </a:tr>
              <a:tr h="366002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repeat()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025741"/>
                  </a:ext>
                </a:extLst>
              </a:tr>
              <a:tr h="464423">
                <a:tc>
                  <a:txBody>
                    <a:bodyPr/>
                    <a:lstStyle/>
                    <a:p>
                      <a:pPr marL="0" marR="0" fontAlgn="base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replace()</a:t>
                      </a:r>
                    </a:p>
                  </a:txBody>
                  <a:tcPr marL="144000" marR="759" marT="542" marB="542">
                    <a:lnL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358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3593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 smtClean="0"/>
              <a:t>시간 관련</a:t>
            </a:r>
            <a:r>
              <a:rPr lang="en-US" altLang="ko-KR" sz="2800" dirty="0" smtClean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Date </a:t>
            </a:r>
            <a:r>
              <a:rPr lang="ko-KR" altLang="en-US" b="1" dirty="0" smtClean="0">
                <a:solidFill>
                  <a:prstClr val="black"/>
                </a:solidFill>
              </a:rPr>
              <a:t>객체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날짜와</a:t>
            </a:r>
            <a:r>
              <a:rPr lang="en-US" altLang="ko-KR" dirty="0" smtClean="0">
                <a:solidFill>
                  <a:prstClr val="black"/>
                </a:solidFill>
              </a:rPr>
              <a:t> </a:t>
            </a:r>
            <a:r>
              <a:rPr lang="ko-KR" altLang="en-US" dirty="0" smtClean="0">
                <a:solidFill>
                  <a:prstClr val="black"/>
                </a:solidFill>
              </a:rPr>
              <a:t>시간을 표시하는 객체</a:t>
            </a:r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13</a:t>
            </a:fld>
            <a:endParaRPr lang="en-US" dirty="0"/>
          </a:p>
        </p:txBody>
      </p:sp>
      <p:sp>
        <p:nvSpPr>
          <p:cNvPr id="9" name="직사각형 8"/>
          <p:cNvSpPr/>
          <p:nvPr/>
        </p:nvSpPr>
        <p:spPr>
          <a:xfrm>
            <a:off x="1076374" y="1901316"/>
            <a:ext cx="8200975" cy="258532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 smtClean="0">
                <a:latin typeface="+mn-ea"/>
              </a:rPr>
              <a:t>var</a:t>
            </a:r>
            <a:r>
              <a:rPr lang="en-US" dirty="0" smtClean="0">
                <a:latin typeface="+mn-ea"/>
              </a:rPr>
              <a:t> </a:t>
            </a:r>
            <a:r>
              <a:rPr lang="en-US" dirty="0">
                <a:latin typeface="+mn-ea"/>
              </a:rPr>
              <a:t>date = new Date</a:t>
            </a:r>
            <a:r>
              <a:rPr lang="en-US" dirty="0" smtClean="0">
                <a:latin typeface="+mn-ea"/>
              </a:rPr>
              <a:t>() </a:t>
            </a:r>
            <a:r>
              <a:rPr lang="en-US" altLang="ko-KR" dirty="0">
                <a:latin typeface="+mn-ea"/>
              </a:rPr>
              <a:t>// </a:t>
            </a:r>
            <a:r>
              <a:rPr lang="ko-KR" altLang="en-US" dirty="0" smtClean="0">
                <a:latin typeface="+mn-ea"/>
              </a:rPr>
              <a:t>현재 시간</a:t>
            </a:r>
            <a:endParaRPr lang="en-US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+mn-ea"/>
              </a:rPr>
              <a:t>var</a:t>
            </a:r>
            <a:r>
              <a:rPr lang="en-US" dirty="0">
                <a:latin typeface="+mn-ea"/>
              </a:rPr>
              <a:t> date = new Date('December 9, 1991</a:t>
            </a:r>
            <a:r>
              <a:rPr lang="en-US" dirty="0" smtClean="0">
                <a:latin typeface="+mn-ea"/>
              </a:rPr>
              <a:t>')</a:t>
            </a:r>
            <a:endParaRPr 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+mn-ea"/>
              </a:rPr>
              <a:t>var</a:t>
            </a:r>
            <a:r>
              <a:rPr lang="en-US" dirty="0">
                <a:latin typeface="+mn-ea"/>
              </a:rPr>
              <a:t> date = new Date('December 9, 1991 02:24:23</a:t>
            </a:r>
            <a:r>
              <a:rPr lang="en-US" dirty="0" smtClean="0">
                <a:latin typeface="+mn-ea"/>
              </a:rPr>
              <a:t>')</a:t>
            </a:r>
            <a:endParaRPr 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+mn-ea"/>
              </a:rPr>
              <a:t>var</a:t>
            </a:r>
            <a:r>
              <a:rPr lang="en-US" dirty="0">
                <a:latin typeface="+mn-ea"/>
              </a:rPr>
              <a:t> date = new Date(1991, 11, 9</a:t>
            </a:r>
            <a:r>
              <a:rPr lang="en-US" dirty="0" smtClean="0">
                <a:latin typeface="+mn-ea"/>
              </a:rPr>
              <a:t>) </a:t>
            </a:r>
            <a:r>
              <a:rPr lang="en-US" dirty="0" smtClean="0">
                <a:latin typeface="+mn-ea"/>
                <a:sym typeface="Wingdings" panose="05000000000000000000" pitchFamily="2" charset="2"/>
              </a:rPr>
              <a:t> 11, 9</a:t>
            </a:r>
            <a:r>
              <a:rPr lang="ko-KR" altLang="en-US" dirty="0" smtClean="0">
                <a:latin typeface="+mn-ea"/>
                <a:sym typeface="Wingdings" panose="05000000000000000000" pitchFamily="2" charset="2"/>
              </a:rPr>
              <a:t>는</a:t>
            </a:r>
            <a:r>
              <a:rPr lang="en-US" dirty="0" smtClean="0">
                <a:latin typeface="+mn-ea"/>
                <a:sym typeface="Wingdings" panose="05000000000000000000" pitchFamily="2" charset="2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+mn-ea"/>
                <a:sym typeface="Wingdings" panose="05000000000000000000" pitchFamily="2" charset="2"/>
              </a:rPr>
              <a:t>12</a:t>
            </a:r>
            <a:r>
              <a:rPr lang="ko-KR" altLang="en-US" dirty="0" smtClean="0">
                <a:latin typeface="+mn-ea"/>
                <a:sym typeface="Wingdings" panose="05000000000000000000" pitchFamily="2" charset="2"/>
              </a:rPr>
              <a:t>월 </a:t>
            </a:r>
            <a:r>
              <a:rPr lang="en-US" altLang="ko-KR" dirty="0" smtClean="0">
                <a:latin typeface="+mn-ea"/>
                <a:sym typeface="Wingdings" panose="05000000000000000000" pitchFamily="2" charset="2"/>
              </a:rPr>
              <a:t>9</a:t>
            </a:r>
            <a:r>
              <a:rPr lang="ko-KR" altLang="en-US" dirty="0" smtClean="0">
                <a:latin typeface="+mn-ea"/>
                <a:sym typeface="Wingdings" panose="05000000000000000000" pitchFamily="2" charset="2"/>
              </a:rPr>
              <a:t>일을 의미</a:t>
            </a:r>
            <a:endParaRPr 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+mn-ea"/>
              </a:rPr>
              <a:t>var</a:t>
            </a:r>
            <a:r>
              <a:rPr lang="en-US" dirty="0">
                <a:latin typeface="+mn-ea"/>
              </a:rPr>
              <a:t> date = new Date(1991, 11, 9, 2, 24, 23</a:t>
            </a:r>
            <a:r>
              <a:rPr lang="en-US" dirty="0" smtClean="0">
                <a:latin typeface="+mn-ea"/>
              </a:rPr>
              <a:t>)</a:t>
            </a:r>
            <a:endParaRPr lang="en-US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dirty="0" err="1">
                <a:latin typeface="+mn-ea"/>
              </a:rPr>
              <a:t>var</a:t>
            </a:r>
            <a:r>
              <a:rPr lang="en-US" dirty="0">
                <a:latin typeface="+mn-ea"/>
              </a:rPr>
              <a:t> date = new Date(1991, 11, 9, 2, 24, 23, 1</a:t>
            </a:r>
            <a:r>
              <a:rPr lang="en-US" dirty="0" smtClean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99954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/>
              <a:t>시간 관련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Date </a:t>
            </a:r>
            <a:r>
              <a:rPr lang="ko-KR" altLang="en-US" b="1" dirty="0" smtClean="0">
                <a:solidFill>
                  <a:prstClr val="black"/>
                </a:solidFill>
              </a:rPr>
              <a:t>객체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 smtClean="0">
                <a:solidFill>
                  <a:prstClr val="black"/>
                </a:solidFill>
              </a:rPr>
              <a:t>메서드</a:t>
            </a:r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14</a:t>
            </a:fld>
            <a:endParaRPr 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979741"/>
              </p:ext>
            </p:extLst>
          </p:nvPr>
        </p:nvGraphicFramePr>
        <p:xfrm>
          <a:off x="1046736" y="1952412"/>
          <a:ext cx="9483232" cy="4003580"/>
        </p:xfrm>
        <a:graphic>
          <a:graphicData uri="http://schemas.openxmlformats.org/drawingml/2006/table">
            <a:tbl>
              <a:tblPr/>
              <a:tblGrid>
                <a:gridCol w="3229989">
                  <a:extLst>
                    <a:ext uri="{9D8B030D-6E8A-4147-A177-3AD203B41FA5}">
                      <a16:colId xmlns:a16="http://schemas.microsoft.com/office/drawing/2014/main" val="3513357133"/>
                    </a:ext>
                  </a:extLst>
                </a:gridCol>
                <a:gridCol w="6253243">
                  <a:extLst>
                    <a:ext uri="{9D8B030D-6E8A-4147-A177-3AD203B41FA5}">
                      <a16:colId xmlns:a16="http://schemas.microsoft.com/office/drawing/2014/main" val="2666872569"/>
                    </a:ext>
                  </a:extLst>
                </a:gridCol>
              </a:tblGrid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Method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Description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68543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getFullYear()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 </a:t>
                      </a:r>
                      <a:r>
                        <a:rPr lang="en-US" sz="1700" b="1">
                          <a:effectLst/>
                        </a:rPr>
                        <a:t>year</a:t>
                      </a:r>
                      <a:r>
                        <a:rPr lang="en-US" sz="1700">
                          <a:effectLst/>
                        </a:rPr>
                        <a:t> as a four digit number (yyyy)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2450277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getMonth()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Get the </a:t>
                      </a:r>
                      <a:r>
                        <a:rPr lang="en-US" sz="1700" b="1" dirty="0">
                          <a:effectLst/>
                        </a:rPr>
                        <a:t>month</a:t>
                      </a:r>
                      <a:r>
                        <a:rPr lang="en-US" sz="1700" dirty="0">
                          <a:effectLst/>
                        </a:rPr>
                        <a:t> as a number (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effectLst/>
                        </a:rPr>
                        <a:t>0</a:t>
                      </a:r>
                      <a:r>
                        <a:rPr lang="en-US" sz="1700" dirty="0">
                          <a:effectLst/>
                        </a:rPr>
                        <a:t>-11</a:t>
                      </a:r>
                      <a:r>
                        <a:rPr lang="en-US" sz="1700" dirty="0" smtClean="0">
                          <a:effectLst/>
                        </a:rPr>
                        <a:t>) </a:t>
                      </a:r>
                      <a:r>
                        <a:rPr lang="en-US" sz="1700" dirty="0" smtClean="0">
                          <a:effectLst/>
                          <a:sym typeface="Wingdings" panose="05000000000000000000" pitchFamily="2" charset="2"/>
                        </a:rPr>
                        <a:t> 0</a:t>
                      </a:r>
                      <a:r>
                        <a:rPr lang="ko-KR" altLang="en-US" sz="1700" dirty="0" smtClean="0">
                          <a:effectLst/>
                          <a:sym typeface="Wingdings" panose="05000000000000000000" pitchFamily="2" charset="2"/>
                        </a:rPr>
                        <a:t>부터 시작</a:t>
                      </a:r>
                      <a:endParaRPr lang="en-US" sz="1700" dirty="0">
                        <a:effectLst/>
                      </a:endParaRP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1626833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getDate()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Get the </a:t>
                      </a:r>
                      <a:r>
                        <a:rPr lang="en-US" sz="1700" b="1" dirty="0">
                          <a:effectLst/>
                        </a:rPr>
                        <a:t>day</a:t>
                      </a:r>
                      <a:r>
                        <a:rPr lang="en-US" sz="1700" dirty="0">
                          <a:effectLst/>
                        </a:rPr>
                        <a:t> as a number (</a:t>
                      </a:r>
                      <a:r>
                        <a:rPr lang="en-US" sz="1700" dirty="0">
                          <a:solidFill>
                            <a:srgbClr val="0000FF"/>
                          </a:solidFill>
                          <a:effectLst/>
                        </a:rPr>
                        <a:t>1</a:t>
                      </a:r>
                      <a:r>
                        <a:rPr lang="en-US" sz="1700" dirty="0">
                          <a:effectLst/>
                        </a:rPr>
                        <a:t>-31</a:t>
                      </a:r>
                      <a:r>
                        <a:rPr lang="en-US" sz="1700" dirty="0" smtClean="0">
                          <a:effectLst/>
                        </a:rPr>
                        <a:t>) </a:t>
                      </a:r>
                      <a:r>
                        <a:rPr lang="en-US" sz="1700" dirty="0" smtClean="0">
                          <a:effectLst/>
                          <a:sym typeface="Wingdings" panose="05000000000000000000" pitchFamily="2" charset="2"/>
                        </a:rPr>
                        <a:t> 1</a:t>
                      </a:r>
                      <a:r>
                        <a:rPr lang="ko-KR" altLang="en-US" sz="1700" dirty="0" smtClean="0">
                          <a:effectLst/>
                          <a:sym typeface="Wingdings" panose="05000000000000000000" pitchFamily="2" charset="2"/>
                        </a:rPr>
                        <a:t>부터 시작</a:t>
                      </a:r>
                      <a:endParaRPr lang="en-US" sz="1700" dirty="0">
                        <a:effectLst/>
                      </a:endParaRP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560740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 err="1">
                          <a:effectLst/>
                        </a:rPr>
                        <a:t>getHours</a:t>
                      </a:r>
                      <a:r>
                        <a:rPr lang="en-US" sz="1700" dirty="0">
                          <a:effectLst/>
                        </a:rPr>
                        <a:t>()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>
                          <a:effectLst/>
                        </a:rPr>
                        <a:t>Get the </a:t>
                      </a:r>
                      <a:r>
                        <a:rPr lang="en-US" sz="1700" b="1" dirty="0">
                          <a:effectLst/>
                        </a:rPr>
                        <a:t>hour</a:t>
                      </a:r>
                      <a:r>
                        <a:rPr lang="en-US" sz="1700" dirty="0">
                          <a:effectLst/>
                        </a:rPr>
                        <a:t> (0-23</a:t>
                      </a:r>
                      <a:r>
                        <a:rPr lang="en-US" sz="1700" dirty="0" smtClean="0">
                          <a:effectLst/>
                        </a:rPr>
                        <a:t>) </a:t>
                      </a:r>
                      <a:endParaRPr lang="en-US" sz="1700" dirty="0">
                        <a:effectLst/>
                      </a:endParaRP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2435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 err="1">
                          <a:effectLst/>
                        </a:rPr>
                        <a:t>getMinutes</a:t>
                      </a:r>
                      <a:r>
                        <a:rPr lang="en-US" sz="1700" dirty="0">
                          <a:effectLst/>
                        </a:rPr>
                        <a:t>()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 </a:t>
                      </a:r>
                      <a:r>
                        <a:rPr lang="en-US" sz="1700" b="1">
                          <a:effectLst/>
                        </a:rPr>
                        <a:t>minute</a:t>
                      </a:r>
                      <a:r>
                        <a:rPr lang="en-US" sz="1700">
                          <a:effectLst/>
                        </a:rPr>
                        <a:t> (0-59)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6776556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 err="1">
                          <a:effectLst/>
                        </a:rPr>
                        <a:t>getSeconds</a:t>
                      </a:r>
                      <a:r>
                        <a:rPr lang="en-US" sz="1700" dirty="0">
                          <a:effectLst/>
                        </a:rPr>
                        <a:t>()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 </a:t>
                      </a:r>
                      <a:r>
                        <a:rPr lang="en-US" sz="1700" b="1">
                          <a:effectLst/>
                        </a:rPr>
                        <a:t>second</a:t>
                      </a:r>
                      <a:r>
                        <a:rPr lang="en-US" sz="1700">
                          <a:effectLst/>
                        </a:rPr>
                        <a:t> (0-59)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658755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 err="1">
                          <a:effectLst/>
                        </a:rPr>
                        <a:t>getMilliseconds</a:t>
                      </a:r>
                      <a:r>
                        <a:rPr lang="en-US" sz="1700" dirty="0">
                          <a:effectLst/>
                        </a:rPr>
                        <a:t>()</a:t>
                      </a: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>
                          <a:effectLst/>
                        </a:rPr>
                        <a:t>Get the </a:t>
                      </a:r>
                      <a:r>
                        <a:rPr lang="en-US" sz="1700" b="1">
                          <a:effectLst/>
                        </a:rPr>
                        <a:t>millisecond</a:t>
                      </a:r>
                      <a:r>
                        <a:rPr lang="en-US" sz="1700">
                          <a:effectLst/>
                        </a:rPr>
                        <a:t> (0-999)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84913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 err="1" smtClean="0">
                          <a:effectLst/>
                        </a:rPr>
                        <a:t>getDay</a:t>
                      </a:r>
                      <a:r>
                        <a:rPr lang="en-US" sz="1700" dirty="0" smtClean="0">
                          <a:effectLst/>
                        </a:rPr>
                        <a:t>()</a:t>
                      </a:r>
                      <a:endParaRPr lang="en-US" sz="1700" dirty="0">
                        <a:effectLst/>
                      </a:endParaRP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 smtClean="0">
                          <a:effectLst/>
                        </a:rPr>
                        <a:t>Get the weekday as a number (0-6)</a:t>
                      </a:r>
                      <a:endParaRPr lang="en-US" sz="1700" dirty="0">
                        <a:effectLst/>
                      </a:endParaRP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190882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pPr algn="l" fontAlgn="t"/>
                      <a:r>
                        <a:rPr lang="en-US" sz="1700" dirty="0" err="1" smtClean="0">
                          <a:effectLst/>
                        </a:rPr>
                        <a:t>getTime</a:t>
                      </a:r>
                      <a:r>
                        <a:rPr lang="en-US" sz="1700" dirty="0" smtClean="0">
                          <a:effectLst/>
                        </a:rPr>
                        <a:t>()</a:t>
                      </a:r>
                      <a:endParaRPr lang="en-US" sz="1700" dirty="0">
                        <a:effectLst/>
                      </a:endParaRPr>
                    </a:p>
                  </a:txBody>
                  <a:tcPr marL="141277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700" dirty="0" smtClean="0">
                          <a:effectLst/>
                        </a:rPr>
                        <a:t>Get the time (milliseconds since January 1, 1970)</a:t>
                      </a:r>
                    </a:p>
                  </a:txBody>
                  <a:tcPr marL="70639" marR="70639" marT="70639" marB="70639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9840387"/>
                  </a:ext>
                </a:extLst>
              </a:tr>
            </a:tbl>
          </a:graphicData>
        </a:graphic>
      </p:graphicFrame>
      <p:sp>
        <p:nvSpPr>
          <p:cNvPr id="6" name="직사각형 5"/>
          <p:cNvSpPr/>
          <p:nvPr/>
        </p:nvSpPr>
        <p:spPr>
          <a:xfrm>
            <a:off x="4229956" y="602475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>
                <a:latin typeface="Arial" panose="020B0604020202020204" pitchFamily="34" charset="0"/>
              </a:rPr>
              <a:t>1970 </a:t>
            </a:r>
            <a:r>
              <a:rPr lang="ko-KR" altLang="en-US" dirty="0">
                <a:latin typeface="Arial" panose="020B0604020202020204" pitchFamily="34" charset="0"/>
              </a:rPr>
              <a:t>년 </a:t>
            </a:r>
            <a:r>
              <a:rPr lang="en-US" altLang="ko-KR" dirty="0">
                <a:latin typeface="Arial" panose="020B0604020202020204" pitchFamily="34" charset="0"/>
              </a:rPr>
              <a:t>1 </a:t>
            </a:r>
            <a:r>
              <a:rPr lang="ko-KR" altLang="en-US" dirty="0">
                <a:latin typeface="Arial" panose="020B0604020202020204" pitchFamily="34" charset="0"/>
              </a:rPr>
              <a:t>월 </a:t>
            </a:r>
            <a:r>
              <a:rPr lang="en-US" altLang="ko-KR" dirty="0">
                <a:latin typeface="Arial" panose="020B0604020202020204" pitchFamily="34" charset="0"/>
              </a:rPr>
              <a:t>1 </a:t>
            </a:r>
            <a:r>
              <a:rPr lang="ko-KR" altLang="en-US" dirty="0">
                <a:latin typeface="Arial" panose="020B0604020202020204" pitchFamily="34" charset="0"/>
              </a:rPr>
              <a:t>일 </a:t>
            </a:r>
            <a:r>
              <a:rPr lang="en-US" altLang="ko-KR" dirty="0">
                <a:latin typeface="Arial" panose="020B0604020202020204" pitchFamily="34" charset="0"/>
              </a:rPr>
              <a:t>00:00:00 UTC</a:t>
            </a:r>
            <a:r>
              <a:rPr lang="ko-KR" altLang="en-US" dirty="0">
                <a:latin typeface="Arial" panose="020B0604020202020204" pitchFamily="34" charset="0"/>
              </a:rPr>
              <a:t>와 주어진 날짜 사이의 경과 시간 </a:t>
            </a:r>
            <a:r>
              <a:rPr lang="en-US" altLang="ko-KR" dirty="0">
                <a:latin typeface="Arial" panose="020B0604020202020204" pitchFamily="34" charset="0"/>
              </a:rPr>
              <a:t>(</a:t>
            </a:r>
            <a:r>
              <a:rPr lang="ko-KR" altLang="en-US" dirty="0">
                <a:solidFill>
                  <a:srgbClr val="0000FF"/>
                </a:solidFill>
                <a:latin typeface="Arial" panose="020B0604020202020204" pitchFamily="34" charset="0"/>
              </a:rPr>
              <a:t>밀리 초</a:t>
            </a:r>
            <a:r>
              <a:rPr lang="en-US" altLang="ko-KR" dirty="0">
                <a:latin typeface="Arial" panose="020B0604020202020204" pitchFamily="34" charset="0"/>
              </a:rPr>
              <a:t>)</a:t>
            </a:r>
            <a:r>
              <a:rPr lang="ko-KR" altLang="en-US" dirty="0">
                <a:latin typeface="Arial" panose="020B0604020202020204" pitchFamily="34" charset="0"/>
              </a:rPr>
              <a:t>을 나타내는 </a:t>
            </a:r>
            <a:r>
              <a:rPr lang="ko-KR" altLang="en-US" dirty="0" smtClean="0">
                <a:latin typeface="Arial" panose="020B0604020202020204" pitchFamily="34" charset="0"/>
              </a:rPr>
              <a:t>숫자</a:t>
            </a:r>
            <a:endParaRPr lang="en-US" dirty="0"/>
          </a:p>
        </p:txBody>
      </p:sp>
      <p:cxnSp>
        <p:nvCxnSpPr>
          <p:cNvPr id="8" name="구부러진 연결선 7"/>
          <p:cNvCxnSpPr>
            <a:endCxn id="6" idx="1"/>
          </p:cNvCxnSpPr>
          <p:nvPr/>
        </p:nvCxnSpPr>
        <p:spPr>
          <a:xfrm>
            <a:off x="1600200" y="5955992"/>
            <a:ext cx="2629756" cy="391928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1888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/>
              <a:t>시간 관련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Date </a:t>
            </a:r>
            <a:r>
              <a:rPr lang="ko-KR" altLang="en-US" b="1" dirty="0" smtClean="0">
                <a:solidFill>
                  <a:prstClr val="black"/>
                </a:solidFill>
              </a:rPr>
              <a:t>객체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dirty="0" err="1"/>
              <a:t>getTime</a:t>
            </a:r>
            <a:r>
              <a:rPr lang="en-US" altLang="ko-KR" dirty="0"/>
              <a:t>()</a:t>
            </a:r>
            <a:r>
              <a:rPr lang="ko-KR" altLang="en-US" dirty="0"/>
              <a:t>함수</a:t>
            </a:r>
            <a:endParaRPr lang="en-US" dirty="0"/>
          </a:p>
          <a:p>
            <a:pPr lvl="1"/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15</a:t>
            </a:fld>
            <a:endParaRPr 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099617" y="1946548"/>
            <a:ext cx="5976664" cy="300082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 err="1">
                <a:latin typeface="+mn-ea"/>
              </a:rPr>
              <a:t>var</a:t>
            </a:r>
            <a:r>
              <a:rPr lang="en-US" dirty="0">
                <a:latin typeface="+mn-ea"/>
              </a:rPr>
              <a:t> now = new Date();</a:t>
            </a:r>
          </a:p>
          <a:p>
            <a:pPr>
              <a:lnSpc>
                <a:spcPct val="150000"/>
              </a:lnSpc>
            </a:pPr>
            <a:r>
              <a:rPr lang="en-US" dirty="0" err="1">
                <a:latin typeface="+mn-ea"/>
              </a:rPr>
              <a:t>var</a:t>
            </a:r>
            <a:r>
              <a:rPr lang="en-US" dirty="0">
                <a:latin typeface="+mn-ea"/>
              </a:rPr>
              <a:t> before = new Date('April 2, 2020');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dirty="0" err="1" smtClean="0">
                <a:latin typeface="+mn-ea"/>
              </a:rPr>
              <a:t>var</a:t>
            </a:r>
            <a:r>
              <a:rPr lang="en-US" dirty="0" smtClean="0">
                <a:latin typeface="+mn-ea"/>
              </a:rPr>
              <a:t> </a:t>
            </a:r>
            <a:r>
              <a:rPr lang="en-US" dirty="0">
                <a:latin typeface="+mn-ea"/>
              </a:rPr>
              <a:t>interval = </a:t>
            </a:r>
            <a:r>
              <a:rPr lang="en-US" dirty="0" err="1">
                <a:latin typeface="+mn-ea"/>
              </a:rPr>
              <a:t>now.getTime</a:t>
            </a:r>
            <a:r>
              <a:rPr lang="en-US" dirty="0">
                <a:latin typeface="+mn-ea"/>
              </a:rPr>
              <a:t>() - </a:t>
            </a:r>
            <a:r>
              <a:rPr lang="en-US" dirty="0" err="1">
                <a:latin typeface="+mn-ea"/>
              </a:rPr>
              <a:t>before.getTime</a:t>
            </a:r>
            <a:r>
              <a:rPr lang="en-US" dirty="0">
                <a:latin typeface="+mn-ea"/>
              </a:rPr>
              <a:t>();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+mn-ea"/>
              </a:rPr>
              <a:t>interval = </a:t>
            </a:r>
            <a:r>
              <a:rPr lang="en-US" dirty="0" err="1">
                <a:latin typeface="+mn-ea"/>
              </a:rPr>
              <a:t>Math.floor</a:t>
            </a:r>
            <a:r>
              <a:rPr lang="en-US" dirty="0">
                <a:latin typeface="+mn-ea"/>
              </a:rPr>
              <a:t>(interval / (1000 * 60 * 60 * 24));</a:t>
            </a:r>
          </a:p>
          <a:p>
            <a:pPr>
              <a:lnSpc>
                <a:spcPct val="150000"/>
              </a:lnSpc>
            </a:pPr>
            <a:endParaRPr lang="en-US" dirty="0" smtClean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dirty="0" smtClean="0">
                <a:latin typeface="+mn-ea"/>
              </a:rPr>
              <a:t>alert</a:t>
            </a:r>
            <a:r>
              <a:rPr lang="en-US" dirty="0">
                <a:latin typeface="+mn-ea"/>
              </a:rPr>
              <a:t>('Interval: ' + interval + '</a:t>
            </a:r>
            <a:r>
              <a:rPr lang="ko-KR" altLang="en-US" dirty="0">
                <a:latin typeface="+mn-ea"/>
              </a:rPr>
              <a:t>일</a:t>
            </a:r>
            <a:r>
              <a:rPr lang="en-US" altLang="ko-KR" dirty="0">
                <a:latin typeface="+mn-ea"/>
              </a:rPr>
              <a:t>');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2167985" y="3990975"/>
            <a:ext cx="540831" cy="476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직사각형 7"/>
          <p:cNvSpPr/>
          <p:nvPr/>
        </p:nvSpPr>
        <p:spPr>
          <a:xfrm>
            <a:off x="7211281" y="4038600"/>
            <a:ext cx="47614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 smtClean="0">
                <a:latin typeface="Arial" panose="020B0604020202020204" pitchFamily="34" charset="0"/>
              </a:rPr>
              <a:t>수학 관련 객체</a:t>
            </a:r>
            <a:r>
              <a:rPr lang="en-US" altLang="ko-KR" dirty="0" smtClean="0">
                <a:latin typeface="Arial" panose="020B0604020202020204" pitchFamily="34" charset="0"/>
              </a:rPr>
              <a:t>(</a:t>
            </a:r>
            <a:r>
              <a:rPr lang="ko-KR" altLang="en-US" dirty="0" smtClean="0">
                <a:latin typeface="Arial" panose="020B0604020202020204" pitchFamily="34" charset="0"/>
              </a:rPr>
              <a:t>필요할 때 참조</a:t>
            </a:r>
            <a:r>
              <a:rPr lang="en-US" altLang="ko-KR" dirty="0" smtClean="0">
                <a:latin typeface="Arial" panose="020B0604020202020204" pitchFamily="34" charset="0"/>
              </a:rPr>
              <a:t>, </a:t>
            </a:r>
            <a:r>
              <a:rPr lang="ko-KR" altLang="en-US" dirty="0" smtClean="0">
                <a:latin typeface="Arial" panose="020B0604020202020204" pitchFamily="34" charset="0"/>
              </a:rPr>
              <a:t>설명은 생략</a:t>
            </a:r>
            <a:r>
              <a:rPr lang="en-US" altLang="ko-KR" dirty="0" smtClean="0">
                <a:latin typeface="Arial" panose="020B0604020202020204" pitchFamily="34" charset="0"/>
              </a:rPr>
              <a:t>)</a:t>
            </a:r>
            <a:endParaRPr lang="en-US" dirty="0"/>
          </a:p>
        </p:txBody>
      </p:sp>
      <p:cxnSp>
        <p:nvCxnSpPr>
          <p:cNvPr id="10" name="구부러진 연결선 9"/>
          <p:cNvCxnSpPr>
            <a:stCxn id="7" idx="2"/>
            <a:endCxn id="8" idx="1"/>
          </p:cNvCxnSpPr>
          <p:nvPr/>
        </p:nvCxnSpPr>
        <p:spPr>
          <a:xfrm rot="16200000" flipH="1">
            <a:off x="4732508" y="1744493"/>
            <a:ext cx="184666" cy="4772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196435" y="4856121"/>
            <a:ext cx="540831" cy="476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직사각형 14"/>
          <p:cNvSpPr/>
          <p:nvPr/>
        </p:nvSpPr>
        <p:spPr>
          <a:xfrm>
            <a:off x="6239731" y="5262025"/>
            <a:ext cx="22470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smtClean="0">
                <a:latin typeface="Arial" panose="020B0604020202020204" pitchFamily="34" charset="0"/>
              </a:rPr>
              <a:t>alert</a:t>
            </a:r>
            <a:r>
              <a:rPr lang="ko-KR" altLang="en-US" dirty="0" smtClean="0">
                <a:latin typeface="Arial" panose="020B0604020202020204" pitchFamily="34" charset="0"/>
              </a:rPr>
              <a:t>창 띄우기</a:t>
            </a:r>
            <a:endParaRPr lang="en-US" dirty="0"/>
          </a:p>
        </p:txBody>
      </p:sp>
      <p:cxnSp>
        <p:nvCxnSpPr>
          <p:cNvPr id="16" name="구부러진 연결선 15"/>
          <p:cNvCxnSpPr>
            <a:stCxn id="14" idx="2"/>
            <a:endCxn id="15" idx="1"/>
          </p:cNvCxnSpPr>
          <p:nvPr/>
        </p:nvCxnSpPr>
        <p:spPr>
          <a:xfrm rot="16200000" flipH="1">
            <a:off x="3581819" y="2788778"/>
            <a:ext cx="542945" cy="4772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623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/>
              <a:t>시간 관련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Date </a:t>
            </a:r>
            <a:r>
              <a:rPr lang="ko-KR" altLang="en-US" b="1" dirty="0" smtClean="0">
                <a:solidFill>
                  <a:prstClr val="black"/>
                </a:solidFill>
              </a:rPr>
              <a:t>객체 연습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dirty="0"/>
              <a:t>날짜를 입력하면 요일을 알려주는 프로그램을 </a:t>
            </a:r>
            <a:r>
              <a:rPr lang="ko-KR" altLang="en-US" dirty="0" smtClean="0"/>
              <a:t>작성해보자</a:t>
            </a:r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endParaRPr lang="en-US" altLang="ko-KR" dirty="0" smtClean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생년월일을 입력하면 만 나이를 출력하는 프로그램을 작성해 보자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16</a:t>
            </a:fld>
            <a:endParaRPr 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120889" y="1940158"/>
            <a:ext cx="7776864" cy="864096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 err="1">
                <a:solidFill>
                  <a:schemeClr val="tx1"/>
                </a:solidFill>
              </a:rPr>
              <a:t>var</a:t>
            </a:r>
            <a:r>
              <a:rPr lang="en-US" altLang="ko-KR" dirty="0">
                <a:solidFill>
                  <a:schemeClr val="tx1"/>
                </a:solidFill>
              </a:rPr>
              <a:t> day= ['</a:t>
            </a:r>
            <a:r>
              <a:rPr lang="ko-KR" altLang="en-US" dirty="0">
                <a:solidFill>
                  <a:schemeClr val="tx1"/>
                </a:solidFill>
              </a:rPr>
              <a:t>일요일</a:t>
            </a:r>
            <a:r>
              <a:rPr lang="en-US" altLang="ko-KR" dirty="0">
                <a:solidFill>
                  <a:schemeClr val="tx1"/>
                </a:solidFill>
              </a:rPr>
              <a:t>', '</a:t>
            </a:r>
            <a:r>
              <a:rPr lang="ko-KR" altLang="en-US" dirty="0">
                <a:solidFill>
                  <a:schemeClr val="tx1"/>
                </a:solidFill>
              </a:rPr>
              <a:t>월요일</a:t>
            </a:r>
            <a:r>
              <a:rPr lang="en-US" altLang="ko-KR" dirty="0">
                <a:solidFill>
                  <a:schemeClr val="tx1"/>
                </a:solidFill>
              </a:rPr>
              <a:t>', '</a:t>
            </a:r>
            <a:r>
              <a:rPr lang="ko-KR" altLang="en-US" dirty="0">
                <a:solidFill>
                  <a:schemeClr val="tx1"/>
                </a:solidFill>
              </a:rPr>
              <a:t>화요일</a:t>
            </a:r>
            <a:r>
              <a:rPr lang="en-US" altLang="ko-KR" dirty="0">
                <a:solidFill>
                  <a:schemeClr val="tx1"/>
                </a:solidFill>
              </a:rPr>
              <a:t>', '</a:t>
            </a:r>
            <a:r>
              <a:rPr lang="ko-KR" altLang="en-US" dirty="0">
                <a:solidFill>
                  <a:schemeClr val="tx1"/>
                </a:solidFill>
              </a:rPr>
              <a:t>수요일</a:t>
            </a:r>
            <a:r>
              <a:rPr lang="en-US" altLang="ko-KR" dirty="0">
                <a:solidFill>
                  <a:schemeClr val="tx1"/>
                </a:solidFill>
              </a:rPr>
              <a:t>','</a:t>
            </a:r>
            <a:r>
              <a:rPr lang="ko-KR" altLang="en-US" dirty="0">
                <a:solidFill>
                  <a:schemeClr val="tx1"/>
                </a:solidFill>
              </a:rPr>
              <a:t>목요일</a:t>
            </a:r>
            <a:r>
              <a:rPr lang="en-US" altLang="ko-KR" dirty="0">
                <a:solidFill>
                  <a:schemeClr val="tx1"/>
                </a:solidFill>
              </a:rPr>
              <a:t>','</a:t>
            </a:r>
            <a:r>
              <a:rPr lang="ko-KR" altLang="en-US" dirty="0">
                <a:solidFill>
                  <a:schemeClr val="tx1"/>
                </a:solidFill>
              </a:rPr>
              <a:t>금요일</a:t>
            </a:r>
            <a:r>
              <a:rPr lang="en-US" altLang="ko-KR" dirty="0">
                <a:solidFill>
                  <a:schemeClr val="tx1"/>
                </a:solidFill>
              </a:rPr>
              <a:t>','</a:t>
            </a:r>
            <a:r>
              <a:rPr lang="ko-KR" altLang="en-US" dirty="0">
                <a:solidFill>
                  <a:schemeClr val="tx1"/>
                </a:solidFill>
              </a:rPr>
              <a:t>토요일</a:t>
            </a:r>
            <a:r>
              <a:rPr lang="en-US" altLang="ko-KR" dirty="0" smtClean="0">
                <a:solidFill>
                  <a:schemeClr val="tx1"/>
                </a:solidFill>
              </a:rPr>
              <a:t>']</a:t>
            </a:r>
            <a:endParaRPr lang="en-US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new </a:t>
            </a:r>
            <a:r>
              <a:rPr lang="en-US" dirty="0">
                <a:solidFill>
                  <a:schemeClr val="tx1"/>
                </a:solidFill>
              </a:rPr>
              <a:t>Date</a:t>
            </a:r>
            <a:r>
              <a:rPr lang="en-US" dirty="0" smtClean="0">
                <a:solidFill>
                  <a:schemeClr val="tx1"/>
                </a:solidFill>
              </a:rPr>
              <a:t>(“2019-04-09”);</a:t>
            </a:r>
          </a:p>
          <a:p>
            <a:r>
              <a:rPr lang="ko-KR" altLang="en-US" dirty="0" smtClean="0">
                <a:solidFill>
                  <a:schemeClr val="tx1"/>
                </a:solidFill>
              </a:rPr>
              <a:t>화요일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120889" y="3932230"/>
            <a:ext cx="5610520" cy="64807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 smtClean="0">
                <a:solidFill>
                  <a:schemeClr val="tx1"/>
                </a:solidFill>
              </a:rPr>
              <a:t>new </a:t>
            </a:r>
            <a:r>
              <a:rPr lang="en-US" sz="2000" dirty="0">
                <a:solidFill>
                  <a:schemeClr val="tx1"/>
                </a:solidFill>
              </a:rPr>
              <a:t>Date</a:t>
            </a:r>
            <a:r>
              <a:rPr lang="en-US" sz="2000" dirty="0" smtClean="0">
                <a:solidFill>
                  <a:schemeClr val="tx1"/>
                </a:solidFill>
              </a:rPr>
              <a:t>(“1995-11-04”);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23 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746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/>
              <a:t>시간 관련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prstClr val="black"/>
                </a:solidFill>
              </a:rPr>
              <a:t>Date </a:t>
            </a:r>
            <a:r>
              <a:rPr lang="ko-KR" altLang="en-US" b="1" dirty="0" smtClean="0">
                <a:solidFill>
                  <a:prstClr val="black"/>
                </a:solidFill>
              </a:rPr>
              <a:t>객체 연습</a:t>
            </a:r>
            <a:endParaRPr lang="en-US" altLang="ko-KR" b="1" dirty="0" smtClean="0">
              <a:solidFill>
                <a:prstClr val="black"/>
              </a:solidFill>
            </a:endParaRPr>
          </a:p>
          <a:p>
            <a:pPr lvl="1"/>
            <a:r>
              <a:rPr lang="en-US" dirty="0" smtClean="0"/>
              <a:t>D-day</a:t>
            </a:r>
            <a:r>
              <a:rPr lang="ko-KR" altLang="en-US" dirty="0" smtClean="0"/>
              <a:t>카운터 만들기</a:t>
            </a:r>
            <a:r>
              <a:rPr lang="en-US" altLang="ko-KR" dirty="0" smtClean="0"/>
              <a:t>(4</a:t>
            </a:r>
            <a:r>
              <a:rPr lang="ko-KR" altLang="en-US" dirty="0" smtClean="0"/>
              <a:t>월이 얼마나 남았을까</a:t>
            </a:r>
            <a:r>
              <a:rPr lang="en-US" altLang="ko-KR" dirty="0" smtClean="0"/>
              <a:t>?)</a:t>
            </a:r>
            <a:endParaRPr lang="en-US" dirty="0"/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다음과 같이 </a:t>
            </a:r>
            <a:r>
              <a:rPr lang="en-US" altLang="ko-KR" dirty="0" smtClean="0">
                <a:solidFill>
                  <a:prstClr val="black"/>
                </a:solidFill>
              </a:rPr>
              <a:t>2020</a:t>
            </a:r>
            <a:r>
              <a:rPr lang="ko-KR" altLang="en-US" dirty="0" smtClean="0">
                <a:solidFill>
                  <a:prstClr val="black"/>
                </a:solidFill>
              </a:rPr>
              <a:t>년 </a:t>
            </a:r>
            <a:r>
              <a:rPr lang="en-US" altLang="ko-KR" dirty="0" smtClean="0">
                <a:solidFill>
                  <a:prstClr val="black"/>
                </a:solidFill>
              </a:rPr>
              <a:t>5</a:t>
            </a:r>
            <a:r>
              <a:rPr lang="ko-KR" altLang="en-US" dirty="0" smtClean="0">
                <a:solidFill>
                  <a:prstClr val="black"/>
                </a:solidFill>
              </a:rPr>
              <a:t>월 </a:t>
            </a:r>
            <a:r>
              <a:rPr lang="en-US" altLang="ko-KR" dirty="0" smtClean="0">
                <a:solidFill>
                  <a:prstClr val="black"/>
                </a:solidFill>
              </a:rPr>
              <a:t>1</a:t>
            </a:r>
            <a:r>
              <a:rPr lang="ko-KR" altLang="en-US" dirty="0" smtClean="0">
                <a:solidFill>
                  <a:prstClr val="black"/>
                </a:solidFill>
              </a:rPr>
              <a:t>일 </a:t>
            </a:r>
            <a:r>
              <a:rPr lang="en-US" altLang="ko-KR" dirty="0" smtClean="0">
                <a:solidFill>
                  <a:prstClr val="black"/>
                </a:solidFill>
              </a:rPr>
              <a:t>0</a:t>
            </a:r>
            <a:r>
              <a:rPr lang="ko-KR" altLang="en-US" dirty="0" smtClean="0">
                <a:solidFill>
                  <a:prstClr val="black"/>
                </a:solidFill>
              </a:rPr>
              <a:t>시 </a:t>
            </a:r>
            <a:r>
              <a:rPr lang="en-US" altLang="ko-KR" dirty="0" smtClean="0">
                <a:solidFill>
                  <a:prstClr val="black"/>
                </a:solidFill>
              </a:rPr>
              <a:t>0</a:t>
            </a:r>
            <a:r>
              <a:rPr lang="ko-KR" altLang="en-US" dirty="0" smtClean="0">
                <a:solidFill>
                  <a:prstClr val="black"/>
                </a:solidFill>
              </a:rPr>
              <a:t>분 </a:t>
            </a:r>
            <a:r>
              <a:rPr lang="en-US" altLang="ko-KR" dirty="0" smtClean="0">
                <a:solidFill>
                  <a:prstClr val="black"/>
                </a:solidFill>
              </a:rPr>
              <a:t>0</a:t>
            </a:r>
            <a:r>
              <a:rPr lang="ko-KR" altLang="en-US" dirty="0" smtClean="0">
                <a:solidFill>
                  <a:prstClr val="black"/>
                </a:solidFill>
              </a:rPr>
              <a:t>초를 나타내는 객체를 </a:t>
            </a:r>
            <a:r>
              <a:rPr lang="en-US" altLang="ko-KR" dirty="0" smtClean="0">
                <a:solidFill>
                  <a:prstClr val="black"/>
                </a:solidFill>
              </a:rPr>
              <a:t>date</a:t>
            </a:r>
            <a:r>
              <a:rPr lang="ko-KR" altLang="en-US" dirty="0" smtClean="0">
                <a:solidFill>
                  <a:prstClr val="black"/>
                </a:solidFill>
              </a:rPr>
              <a:t>객체를 생성하고 </a:t>
            </a:r>
            <a:endParaRPr lang="en-US" altLang="ko-KR" dirty="0" smtClean="0">
              <a:solidFill>
                <a:prstClr val="black"/>
              </a:solidFill>
            </a:endParaRPr>
          </a:p>
          <a:p>
            <a:pPr lvl="2"/>
            <a:r>
              <a:rPr lang="ko-KR" altLang="en-US" dirty="0" smtClean="0">
                <a:solidFill>
                  <a:prstClr val="black"/>
                </a:solidFill>
              </a:rPr>
              <a:t>아래와 같이 </a:t>
            </a:r>
            <a:r>
              <a:rPr lang="en-US" altLang="ko-KR" dirty="0" smtClean="0">
                <a:solidFill>
                  <a:prstClr val="black"/>
                </a:solidFill>
              </a:rPr>
              <a:t>D-day</a:t>
            </a:r>
            <a:r>
              <a:rPr lang="ko-KR" altLang="en-US" dirty="0" smtClean="0">
                <a:solidFill>
                  <a:prstClr val="black"/>
                </a:solidFill>
              </a:rPr>
              <a:t>를 나타내는 </a:t>
            </a:r>
            <a:r>
              <a:rPr lang="en-US" altLang="ko-KR" dirty="0" smtClean="0">
                <a:solidFill>
                  <a:prstClr val="black"/>
                </a:solidFill>
              </a:rPr>
              <a:t>alert</a:t>
            </a:r>
            <a:r>
              <a:rPr lang="ko-KR" altLang="en-US" dirty="0" smtClean="0">
                <a:solidFill>
                  <a:prstClr val="black"/>
                </a:solidFill>
              </a:rPr>
              <a:t>창을 띄워보세요</a:t>
            </a:r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17</a:t>
            </a:fld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543050" y="2838450"/>
            <a:ext cx="6090578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 err="1" smtClean="0"/>
              <a:t>var</a:t>
            </a:r>
            <a:r>
              <a:rPr lang="en-US" sz="2000" dirty="0"/>
              <a:t> </a:t>
            </a:r>
            <a:r>
              <a:rPr lang="en-US" sz="2000" dirty="0" err="1" smtClean="0"/>
              <a:t>dDay</a:t>
            </a:r>
            <a:r>
              <a:rPr lang="en-US" sz="2000" dirty="0" smtClean="0"/>
              <a:t> </a:t>
            </a:r>
            <a:r>
              <a:rPr lang="en-US" sz="2000" dirty="0"/>
              <a:t>= new Date</a:t>
            </a:r>
            <a:r>
              <a:rPr lang="en-US" sz="2000" dirty="0" smtClean="0"/>
              <a:t>("May 1, 2020 00:00:00</a:t>
            </a:r>
            <a:r>
              <a:rPr lang="en-US" sz="2000" dirty="0"/>
              <a:t>").</a:t>
            </a:r>
            <a:r>
              <a:rPr lang="en-US" sz="2000" dirty="0" err="1"/>
              <a:t>getTime</a:t>
            </a:r>
            <a:r>
              <a:rPr lang="en-US" sz="2000" dirty="0" smtClean="0"/>
              <a:t>();</a:t>
            </a:r>
            <a:endParaRPr lang="en-US" sz="2000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49" y="3861435"/>
            <a:ext cx="7715251" cy="14702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25087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/>
              <a:t>시간 관련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ko-KR" altLang="en-US" b="1" dirty="0" err="1" smtClean="0">
                <a:solidFill>
                  <a:prstClr val="black"/>
                </a:solidFill>
              </a:rPr>
              <a:t>타임존</a:t>
            </a:r>
            <a:r>
              <a:rPr lang="en-US" altLang="ko-KR" b="1" dirty="0" smtClean="0">
                <a:solidFill>
                  <a:prstClr val="black"/>
                </a:solidFill>
              </a:rPr>
              <a:t>(</a:t>
            </a:r>
            <a:r>
              <a:rPr lang="en-US" altLang="ko-KR" b="1" dirty="0">
                <a:solidFill>
                  <a:prstClr val="black"/>
                </a:solidFill>
              </a:rPr>
              <a:t>Time Zoon</a:t>
            </a:r>
            <a:r>
              <a:rPr lang="en-US" altLang="ko-KR" b="1" dirty="0" smtClean="0">
                <a:solidFill>
                  <a:prstClr val="black"/>
                </a:solidFill>
              </a:rPr>
              <a:t>)</a:t>
            </a:r>
          </a:p>
          <a:p>
            <a:pPr lvl="1"/>
            <a:r>
              <a:rPr lang="ko-KR" altLang="en-US" dirty="0" smtClean="0"/>
              <a:t>동일한 </a:t>
            </a:r>
            <a:r>
              <a:rPr lang="ko-KR" altLang="en-US" dirty="0"/>
              <a:t>로컬 </a:t>
            </a:r>
            <a:r>
              <a:rPr lang="ko-KR" altLang="en-US" dirty="0" smtClean="0"/>
              <a:t>시간을 </a:t>
            </a:r>
            <a:r>
              <a:rPr lang="ko-KR" altLang="en-US" dirty="0"/>
              <a:t>따르는 </a:t>
            </a:r>
            <a:r>
              <a:rPr lang="ko-KR" altLang="en-US" dirty="0" smtClean="0"/>
              <a:t>지역</a:t>
            </a:r>
            <a:endParaRPr lang="en-US" altLang="ko-KR" dirty="0" smtClean="0"/>
          </a:p>
          <a:p>
            <a:pPr lvl="1"/>
            <a:r>
              <a:rPr lang="ko-KR" altLang="en-US" dirty="0"/>
              <a:t>미국이나 캐나다처럼 면적이 넓은 </a:t>
            </a:r>
            <a:r>
              <a:rPr lang="ko-KR" altLang="en-US" dirty="0" smtClean="0"/>
              <a:t>나라는 </a:t>
            </a:r>
            <a:r>
              <a:rPr lang="ko-KR" altLang="en-US" dirty="0"/>
              <a:t>지역별로 </a:t>
            </a:r>
            <a:r>
              <a:rPr lang="ko-KR" altLang="en-US" dirty="0" err="1" smtClean="0"/>
              <a:t>타임존이</a:t>
            </a:r>
            <a:r>
              <a:rPr lang="ko-KR" altLang="en-US" dirty="0" smtClean="0"/>
              <a:t> 다름</a:t>
            </a:r>
            <a:endParaRPr lang="en-US" altLang="ko-KR" dirty="0" smtClean="0">
              <a:solidFill>
                <a:prstClr val="black"/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18</a:t>
            </a:fld>
            <a:endParaRPr lang="en-US" dirty="0"/>
          </a:p>
        </p:txBody>
      </p:sp>
      <p:pic>
        <p:nvPicPr>
          <p:cNvPr id="4098" name="Picture 2" descr="Pros and cons of Daylight Saving Time: do we still want that ..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075" y="2471102"/>
            <a:ext cx="6378947" cy="3648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56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/>
              <a:t>시간 관련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r>
              <a:rPr lang="ko-KR" altLang="en-US" b="1" dirty="0" smtClean="0">
                <a:solidFill>
                  <a:prstClr val="black"/>
                </a:solidFill>
              </a:rPr>
              <a:t>표준시</a:t>
            </a:r>
            <a:endParaRPr lang="en-US" altLang="ko-KR" dirty="0" smtClean="0"/>
          </a:p>
          <a:p>
            <a:pPr lvl="1"/>
            <a:r>
              <a:rPr lang="en-US" altLang="ko-KR" sz="1800" dirty="0" smtClean="0"/>
              <a:t>GMT: Greenwich Mean Time</a:t>
            </a: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UTC: GMT</a:t>
            </a:r>
            <a:r>
              <a:rPr lang="ko-KR" altLang="en-US" sz="1800" dirty="0" smtClean="0">
                <a:solidFill>
                  <a:prstClr val="black"/>
                </a:solidFill>
              </a:rPr>
              <a:t>의 미세한 오차를 대체하기 위해 나온 표준시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오프셋</a:t>
            </a:r>
            <a:r>
              <a:rPr lang="en-US" altLang="ko-KR" sz="1800" dirty="0" smtClean="0">
                <a:solidFill>
                  <a:prstClr val="black"/>
                </a:solidFill>
              </a:rPr>
              <a:t>: UTC</a:t>
            </a:r>
            <a:r>
              <a:rPr lang="ko-KR" altLang="en-US" sz="1800" dirty="0" smtClean="0">
                <a:solidFill>
                  <a:prstClr val="black"/>
                </a:solidFill>
              </a:rPr>
              <a:t>와 특정 지역의 시간 차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2"/>
            <a:r>
              <a:rPr lang="en-US" altLang="ko-KR" dirty="0" smtClean="0">
                <a:solidFill>
                  <a:prstClr val="black"/>
                </a:solidFill>
              </a:rPr>
              <a:t>UTC+09:00 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 UTC</a:t>
            </a:r>
            <a:r>
              <a:rPr lang="ko-KR" alt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의 기준시간보다 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9</a:t>
            </a:r>
            <a:r>
              <a:rPr lang="ko-KR" alt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시간 빠름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(</a:t>
            </a:r>
            <a:r>
              <a:rPr lang="ko-KR" altLang="en-US" dirty="0" smtClean="0">
                <a:solidFill>
                  <a:prstClr val="black"/>
                </a:solidFill>
                <a:sym typeface="Wingdings" panose="05000000000000000000" pitchFamily="2" charset="2"/>
              </a:rPr>
              <a:t>대한민국</a:t>
            </a:r>
            <a:r>
              <a:rPr lang="en-US" altLang="ko-KR" dirty="0" smtClean="0">
                <a:solidFill>
                  <a:prstClr val="black"/>
                </a:solidFill>
                <a:sym typeface="Wingdings" panose="05000000000000000000" pitchFamily="2" charset="2"/>
              </a:rPr>
              <a:t>)</a:t>
            </a:r>
          </a:p>
          <a:p>
            <a:pPr lvl="1"/>
            <a:r>
              <a:rPr lang="ko-KR" altLang="en-US" sz="1800" dirty="0"/>
              <a:t>전 세계의 </a:t>
            </a:r>
            <a:r>
              <a:rPr lang="en-US" altLang="ko-KR" sz="1800" dirty="0"/>
              <a:t>60% </a:t>
            </a:r>
            <a:r>
              <a:rPr lang="ko-KR" altLang="en-US" sz="1800" dirty="0" smtClean="0"/>
              <a:t>국가는 </a:t>
            </a:r>
            <a:r>
              <a:rPr lang="en-US" altLang="ko-KR" sz="1800" dirty="0" smtClean="0"/>
              <a:t>DST(Daylight </a:t>
            </a:r>
            <a:r>
              <a:rPr lang="en-US" altLang="ko-KR" sz="1800" dirty="0"/>
              <a:t>Saving Time) </a:t>
            </a:r>
            <a:r>
              <a:rPr lang="ko-KR" altLang="en-US" sz="1800" dirty="0"/>
              <a:t>없이 </a:t>
            </a:r>
            <a:r>
              <a:rPr lang="en-US" altLang="ko-KR" sz="1800" dirty="0"/>
              <a:t>1</a:t>
            </a:r>
            <a:r>
              <a:rPr lang="ko-KR" altLang="en-US" sz="1800" dirty="0"/>
              <a:t>년 내내 표준시 만을 </a:t>
            </a:r>
            <a:r>
              <a:rPr lang="ko-KR" altLang="en-US" sz="1800" dirty="0" smtClean="0"/>
              <a:t>사용</a:t>
            </a:r>
            <a:r>
              <a:rPr lang="en-US" altLang="ko-KR" sz="1800" dirty="0" smtClean="0"/>
              <a:t>, </a:t>
            </a:r>
            <a:r>
              <a:rPr lang="ko-KR" altLang="en-US" sz="1800" dirty="0"/>
              <a:t>나머지 지역은 </a:t>
            </a:r>
            <a:r>
              <a:rPr lang="ko-KR" altLang="en-US" sz="1800" dirty="0" smtClean="0"/>
              <a:t>여름 동안 </a:t>
            </a:r>
            <a:r>
              <a:rPr lang="en-US" altLang="ko-KR" sz="1800" dirty="0"/>
              <a:t>1</a:t>
            </a:r>
            <a:r>
              <a:rPr lang="ko-KR" altLang="en-US" sz="1800" dirty="0"/>
              <a:t>시간 빠른 </a:t>
            </a:r>
            <a:r>
              <a:rPr lang="en-US" altLang="ko-KR" sz="1800" dirty="0"/>
              <a:t>DST</a:t>
            </a:r>
            <a:r>
              <a:rPr lang="ko-KR" altLang="en-US" sz="1800" dirty="0"/>
              <a:t>를 </a:t>
            </a:r>
            <a:r>
              <a:rPr lang="ko-KR" altLang="en-US" sz="1800" dirty="0" smtClean="0"/>
              <a:t>채택</a:t>
            </a:r>
            <a:endParaRPr lang="en-US" altLang="ko-KR" sz="1800" dirty="0" smtClean="0"/>
          </a:p>
          <a:p>
            <a:pPr lvl="2"/>
            <a:endParaRPr lang="en-US" altLang="ko-KR" dirty="0" smtClean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19</a:t>
            </a:fld>
            <a:endParaRPr lang="en-US" dirty="0"/>
          </a:p>
        </p:txBody>
      </p:sp>
      <p:grpSp>
        <p:nvGrpSpPr>
          <p:cNvPr id="6" name="그룹 5"/>
          <p:cNvGrpSpPr/>
          <p:nvPr/>
        </p:nvGrpSpPr>
        <p:grpSpPr>
          <a:xfrm>
            <a:off x="4272464" y="4367386"/>
            <a:ext cx="3687887" cy="2266437"/>
            <a:chOff x="2100464" y="2560231"/>
            <a:chExt cx="3687887" cy="2266437"/>
          </a:xfrm>
        </p:grpSpPr>
        <p:pic>
          <p:nvPicPr>
            <p:cNvPr id="7170" name="Picture 2" descr="런던 : 그리니치 천문대 입장권 :: 해외여행의 모든 것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0464" y="2560231"/>
              <a:ext cx="3687887" cy="19278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2100464" y="4488114"/>
              <a:ext cx="367761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600" dirty="0" smtClean="0"/>
                <a:t>런던 </a:t>
              </a:r>
              <a:r>
                <a:rPr lang="ko-KR" altLang="en-US" sz="1600" dirty="0" err="1" smtClean="0"/>
                <a:t>그리치니</a:t>
              </a:r>
              <a:r>
                <a:rPr lang="ko-KR" altLang="en-US" sz="1600" dirty="0" smtClean="0"/>
                <a:t> 천문대</a:t>
              </a:r>
              <a:r>
                <a:rPr lang="en-US" altLang="ko-KR" sz="1600" dirty="0" smtClean="0"/>
                <a:t>(</a:t>
              </a:r>
              <a:r>
                <a:rPr lang="ko-KR" altLang="en-US" sz="1600" dirty="0" smtClean="0"/>
                <a:t>경도 </a:t>
              </a:r>
              <a:r>
                <a:rPr lang="en-US" altLang="ko-KR" sz="1600" dirty="0" smtClean="0"/>
                <a:t>0</a:t>
              </a:r>
              <a:r>
                <a:rPr lang="ko-KR" altLang="en-US" sz="1600" dirty="0" smtClean="0"/>
                <a:t>도에 위치</a:t>
              </a:r>
              <a:r>
                <a:rPr lang="en-US" altLang="ko-KR" sz="1600" dirty="0" smtClean="0"/>
                <a:t>)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91502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z="2800" dirty="0"/>
              <a:t>객체</a:t>
            </a:r>
            <a:r>
              <a:rPr lang="en-US" altLang="ko-KR" sz="2800" dirty="0"/>
              <a:t>(</a:t>
            </a:r>
            <a:r>
              <a:rPr lang="ko-KR" altLang="en-US" sz="2800" dirty="0"/>
              <a:t>시간 관련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30551" y="757400"/>
            <a:ext cx="11171714" cy="5982447"/>
          </a:xfrm>
        </p:spPr>
        <p:txBody>
          <a:bodyPr>
            <a:normAutofit/>
          </a:bodyPr>
          <a:lstStyle/>
          <a:p>
            <a:pPr lvl="0"/>
            <a:r>
              <a:rPr lang="ko-KR" altLang="en-US" b="1" dirty="0" smtClean="0">
                <a:solidFill>
                  <a:prstClr val="black"/>
                </a:solidFill>
              </a:rPr>
              <a:t>자바스크립트의 </a:t>
            </a:r>
            <a:r>
              <a:rPr lang="ko-KR" altLang="en-US" b="1" dirty="0" err="1" smtClean="0">
                <a:solidFill>
                  <a:prstClr val="black"/>
                </a:solidFill>
              </a:rPr>
              <a:t>타임존</a:t>
            </a:r>
            <a:r>
              <a:rPr lang="ko-KR" altLang="en-US" b="1" dirty="0" smtClean="0">
                <a:solidFill>
                  <a:prstClr val="black"/>
                </a:solidFill>
              </a:rPr>
              <a:t> 지원</a:t>
            </a:r>
            <a:endParaRPr lang="en-US" altLang="ko-KR" sz="1800" dirty="0" smtClean="0"/>
          </a:p>
          <a:p>
            <a:pPr lvl="1"/>
            <a:r>
              <a:rPr lang="ko-KR" altLang="en-US" sz="1800" dirty="0" smtClean="0">
                <a:solidFill>
                  <a:prstClr val="black"/>
                </a:solidFill>
              </a:rPr>
              <a:t>자바스크립트는 </a:t>
            </a:r>
            <a:r>
              <a:rPr lang="en-US" altLang="ko-KR" sz="1800" dirty="0" smtClean="0">
                <a:solidFill>
                  <a:prstClr val="black"/>
                </a:solidFill>
              </a:rPr>
              <a:t>OS</a:t>
            </a:r>
            <a:r>
              <a:rPr lang="ko-KR" altLang="en-US" sz="1800" dirty="0" smtClean="0">
                <a:solidFill>
                  <a:prstClr val="black"/>
                </a:solidFill>
              </a:rPr>
              <a:t>에 설정된 </a:t>
            </a:r>
            <a:r>
              <a:rPr lang="ko-KR" altLang="en-US" sz="1800" dirty="0" err="1" smtClean="0">
                <a:solidFill>
                  <a:prstClr val="black"/>
                </a:solidFill>
              </a:rPr>
              <a:t>타임존을</a:t>
            </a:r>
            <a:r>
              <a:rPr lang="ko-KR" altLang="en-US" sz="1800" dirty="0" smtClean="0">
                <a:solidFill>
                  <a:prstClr val="black"/>
                </a:solidFill>
              </a:rPr>
              <a:t> 사용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1"/>
            <a:r>
              <a:rPr lang="en-US" altLang="ko-KR" sz="1800" dirty="0" smtClean="0">
                <a:solidFill>
                  <a:prstClr val="black"/>
                </a:solidFill>
              </a:rPr>
              <a:t>IANA Time Zone Database</a:t>
            </a:r>
            <a:r>
              <a:rPr lang="ko-KR" altLang="en-US" sz="1800" dirty="0" smtClean="0">
                <a:solidFill>
                  <a:prstClr val="black"/>
                </a:solidFill>
              </a:rPr>
              <a:t>라는 타임</a:t>
            </a:r>
            <a:r>
              <a:rPr lang="en-US" altLang="ko-KR" sz="1800" dirty="0" smtClean="0">
                <a:solidFill>
                  <a:prstClr val="black"/>
                </a:solidFill>
              </a:rPr>
              <a:t> </a:t>
            </a:r>
            <a:r>
              <a:rPr lang="ko-KR" altLang="en-US" sz="1800" dirty="0" smtClean="0">
                <a:solidFill>
                  <a:prstClr val="black"/>
                </a:solidFill>
              </a:rPr>
              <a:t>정보를 가진 범용 데이터베이스 사용</a:t>
            </a:r>
            <a:endParaRPr lang="en-US" altLang="ko-KR" sz="1800" dirty="0" smtClean="0">
              <a:solidFill>
                <a:prstClr val="black"/>
              </a:solidFill>
            </a:endParaRPr>
          </a:p>
          <a:p>
            <a:pPr lvl="2"/>
            <a:endParaRPr lang="en-US" altLang="ko-KR" dirty="0" smtClean="0">
              <a:solidFill>
                <a:prstClr val="black"/>
              </a:solidFill>
              <a:sym typeface="Wingdings" panose="05000000000000000000" pitchFamily="2" charset="2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3430712" cy="383497"/>
          </a:xfrm>
        </p:spPr>
        <p:txBody>
          <a:bodyPr/>
          <a:lstStyle/>
          <a:p>
            <a:pPr lvl="0">
              <a:defRPr/>
            </a:pPr>
            <a:fld id="{2DA67E06-563C-4DAC-B352-5CBE54DE7B56}" type="slidenum">
              <a:rPr lang="en-US" smtClean="0"/>
              <a:pPr lvl="0">
                <a:defRPr/>
              </a:pPr>
              <a:t>20</a:t>
            </a:fld>
            <a:endParaRPr lang="en-US" dirty="0"/>
          </a:p>
        </p:txBody>
      </p:sp>
      <p:grpSp>
        <p:nvGrpSpPr>
          <p:cNvPr id="10" name="그룹 9"/>
          <p:cNvGrpSpPr/>
          <p:nvPr/>
        </p:nvGrpSpPr>
        <p:grpSpPr>
          <a:xfrm>
            <a:off x="6237270" y="3510231"/>
            <a:ext cx="361950" cy="914400"/>
            <a:chOff x="1262062" y="3386673"/>
            <a:chExt cx="361950" cy="914400"/>
          </a:xfrm>
        </p:grpSpPr>
        <p:sp>
          <p:nvSpPr>
            <p:cNvPr id="7" name="타원 6"/>
            <p:cNvSpPr/>
            <p:nvPr/>
          </p:nvSpPr>
          <p:spPr>
            <a:xfrm>
              <a:off x="1262062" y="3386673"/>
              <a:ext cx="361950" cy="36195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이등변 삼각형 7"/>
            <p:cNvSpPr/>
            <p:nvPr/>
          </p:nvSpPr>
          <p:spPr>
            <a:xfrm>
              <a:off x="1262062" y="3748623"/>
              <a:ext cx="333375" cy="552450"/>
            </a:xfrm>
            <a:prstGeom prst="triangl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직사각형 10"/>
          <p:cNvSpPr/>
          <p:nvPr/>
        </p:nvSpPr>
        <p:spPr>
          <a:xfrm>
            <a:off x="7033410" y="2781836"/>
            <a:ext cx="1885950" cy="2371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직사각형 12"/>
          <p:cNvSpPr/>
          <p:nvPr/>
        </p:nvSpPr>
        <p:spPr>
          <a:xfrm>
            <a:off x="10058400" y="2781836"/>
            <a:ext cx="1885950" cy="23711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 smtClean="0"/>
              <a:t>Server</a:t>
            </a:r>
            <a:endParaRPr lang="en-US" dirty="0"/>
          </a:p>
        </p:txBody>
      </p:sp>
      <p:grpSp>
        <p:nvGrpSpPr>
          <p:cNvPr id="17" name="그룹 16"/>
          <p:cNvGrpSpPr/>
          <p:nvPr/>
        </p:nvGrpSpPr>
        <p:grpSpPr>
          <a:xfrm>
            <a:off x="3103545" y="3414981"/>
            <a:ext cx="361950" cy="914400"/>
            <a:chOff x="1262062" y="3386673"/>
            <a:chExt cx="361950" cy="914400"/>
          </a:xfrm>
        </p:grpSpPr>
        <p:sp>
          <p:nvSpPr>
            <p:cNvPr id="18" name="타원 17"/>
            <p:cNvSpPr/>
            <p:nvPr/>
          </p:nvSpPr>
          <p:spPr>
            <a:xfrm>
              <a:off x="1262062" y="3386673"/>
              <a:ext cx="361950" cy="361950"/>
            </a:xfrm>
            <a:prstGeom prst="ellips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이등변 삼각형 18"/>
            <p:cNvSpPr/>
            <p:nvPr/>
          </p:nvSpPr>
          <p:spPr>
            <a:xfrm>
              <a:off x="1262062" y="3748623"/>
              <a:ext cx="333375" cy="552450"/>
            </a:xfrm>
            <a:prstGeom prst="triangle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988995" y="3414981"/>
            <a:ext cx="361950" cy="914400"/>
            <a:chOff x="1262062" y="3386673"/>
            <a:chExt cx="361950" cy="914400"/>
          </a:xfrm>
        </p:grpSpPr>
        <p:sp>
          <p:nvSpPr>
            <p:cNvPr id="22" name="타원 21"/>
            <p:cNvSpPr/>
            <p:nvPr/>
          </p:nvSpPr>
          <p:spPr>
            <a:xfrm>
              <a:off x="1262062" y="3386673"/>
              <a:ext cx="361950" cy="361950"/>
            </a:xfrm>
            <a:prstGeom prst="ellips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이등변 삼각형 22"/>
            <p:cNvSpPr/>
            <p:nvPr/>
          </p:nvSpPr>
          <p:spPr>
            <a:xfrm>
              <a:off x="1262062" y="3748623"/>
              <a:ext cx="333375" cy="552450"/>
            </a:xfrm>
            <a:prstGeom prst="triangl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500270" y="2934846"/>
            <a:ext cx="3820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solidFill>
                  <a:srgbClr val="0000FF"/>
                </a:solidFill>
              </a:rPr>
              <a:t>내일 오전 </a:t>
            </a:r>
            <a:r>
              <a:rPr lang="en-US" altLang="ko-KR" dirty="0" smtClean="0">
                <a:solidFill>
                  <a:srgbClr val="0000FF"/>
                </a:solidFill>
              </a:rPr>
              <a:t>8</a:t>
            </a:r>
            <a:r>
              <a:rPr lang="ko-KR" altLang="en-US" dirty="0" smtClean="0">
                <a:solidFill>
                  <a:srgbClr val="0000FF"/>
                </a:solidFill>
              </a:rPr>
              <a:t>시에 스카이프에서 만나</a:t>
            </a:r>
            <a:r>
              <a:rPr lang="en-US" altLang="ko-KR" dirty="0" smtClean="0">
                <a:solidFill>
                  <a:srgbClr val="0000FF"/>
                </a:solidFill>
              </a:rPr>
              <a:t>!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22995" y="443222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한국</a:t>
            </a:r>
            <a:endParaRPr 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2961354" y="440328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미국</a:t>
            </a:r>
            <a:endParaRPr 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2713829" y="5016460"/>
            <a:ext cx="11128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오전 </a:t>
            </a:r>
            <a:r>
              <a:rPr lang="en-US" altLang="ko-KR" dirty="0"/>
              <a:t>8:00</a:t>
            </a:r>
            <a:endParaRPr lang="en-US" dirty="0"/>
          </a:p>
        </p:txBody>
      </p:sp>
      <p:sp>
        <p:nvSpPr>
          <p:cNvPr id="30" name="직사각형 29"/>
          <p:cNvSpPr/>
          <p:nvPr/>
        </p:nvSpPr>
        <p:spPr>
          <a:xfrm>
            <a:off x="256382" y="5023159"/>
            <a:ext cx="185820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오전 </a:t>
            </a:r>
            <a:r>
              <a:rPr lang="en-US" altLang="ko-KR" dirty="0" smtClean="0"/>
              <a:t>8:00</a:t>
            </a:r>
            <a:r>
              <a:rPr lang="ko-KR" altLang="en-US" dirty="0" smtClean="0"/>
              <a:t>에 없음</a:t>
            </a:r>
            <a:endParaRPr lang="en-US" altLang="ko-KR" dirty="0" smtClean="0"/>
          </a:p>
          <a:p>
            <a:r>
              <a:rPr lang="ko-KR" altLang="en-US" dirty="0" smtClean="0"/>
              <a:t>오후 </a:t>
            </a:r>
            <a:r>
              <a:rPr lang="en-US" altLang="ko-KR" dirty="0" smtClean="0"/>
              <a:t>9:00</a:t>
            </a:r>
            <a:r>
              <a:rPr lang="ko-KR" altLang="en-US" dirty="0" smtClean="0"/>
              <a:t>에 연락</a:t>
            </a:r>
            <a:endParaRPr lang="en-US" dirty="0"/>
          </a:p>
        </p:txBody>
      </p:sp>
      <p:sp>
        <p:nvSpPr>
          <p:cNvPr id="33" name="직사각형 32"/>
          <p:cNvSpPr/>
          <p:nvPr/>
        </p:nvSpPr>
        <p:spPr>
          <a:xfrm>
            <a:off x="7298473" y="2934846"/>
            <a:ext cx="597752" cy="3265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7922744" y="2913459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월</a:t>
            </a:r>
            <a:endParaRPr lang="en-US" dirty="0"/>
          </a:p>
        </p:txBody>
      </p:sp>
      <p:sp>
        <p:nvSpPr>
          <p:cNvPr id="36" name="직사각형 35"/>
          <p:cNvSpPr/>
          <p:nvPr/>
        </p:nvSpPr>
        <p:spPr>
          <a:xfrm>
            <a:off x="7303677" y="3432677"/>
            <a:ext cx="597752" cy="3265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7932269" y="339302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일</a:t>
            </a:r>
            <a:endParaRPr lang="en-US" dirty="0"/>
          </a:p>
        </p:txBody>
      </p:sp>
      <p:sp>
        <p:nvSpPr>
          <p:cNvPr id="38" name="직사각형 37"/>
          <p:cNvSpPr/>
          <p:nvPr/>
        </p:nvSpPr>
        <p:spPr>
          <a:xfrm>
            <a:off x="7294361" y="3880657"/>
            <a:ext cx="597752" cy="3265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16</a:t>
            </a: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7939738" y="3848576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시</a:t>
            </a:r>
            <a:endParaRPr 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7298020" y="4340307"/>
            <a:ext cx="597752" cy="32655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30</a:t>
            </a:r>
            <a:endParaRPr lang="en-US" dirty="0"/>
          </a:p>
        </p:txBody>
      </p:sp>
      <p:sp>
        <p:nvSpPr>
          <p:cNvPr id="41" name="TextBox 40"/>
          <p:cNvSpPr txBox="1"/>
          <p:nvPr/>
        </p:nvSpPr>
        <p:spPr>
          <a:xfrm>
            <a:off x="7949263" y="431892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분</a:t>
            </a:r>
            <a:endParaRPr lang="en-US" dirty="0"/>
          </a:p>
        </p:txBody>
      </p:sp>
      <p:sp>
        <p:nvSpPr>
          <p:cNvPr id="42" name="직사각형 41"/>
          <p:cNvSpPr/>
          <p:nvPr/>
        </p:nvSpPr>
        <p:spPr>
          <a:xfrm>
            <a:off x="7299984" y="4767506"/>
            <a:ext cx="1492880" cy="326558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항공권 예약</a:t>
            </a:r>
            <a:endParaRPr 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10706784" y="5202681"/>
            <a:ext cx="6463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미국</a:t>
            </a:r>
            <a:endParaRPr lang="en-US" dirty="0"/>
          </a:p>
        </p:txBody>
      </p:sp>
      <p:sp>
        <p:nvSpPr>
          <p:cNvPr id="44" name="직사각형 43"/>
          <p:cNvSpPr/>
          <p:nvPr/>
        </p:nvSpPr>
        <p:spPr>
          <a:xfrm>
            <a:off x="6991488" y="5204230"/>
            <a:ext cx="20217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 smtClean="0"/>
              <a:t>한국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인도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케나다</a:t>
            </a:r>
            <a:endParaRPr lang="en-US" dirty="0"/>
          </a:p>
        </p:txBody>
      </p:sp>
      <p:sp>
        <p:nvSpPr>
          <p:cNvPr id="45" name="TextBox 44"/>
          <p:cNvSpPr txBox="1"/>
          <p:nvPr/>
        </p:nvSpPr>
        <p:spPr>
          <a:xfrm>
            <a:off x="10351926" y="3368040"/>
            <a:ext cx="13821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5</a:t>
            </a:r>
            <a:r>
              <a:rPr lang="ko-KR" altLang="en-US" dirty="0" smtClean="0"/>
              <a:t>월 </a:t>
            </a:r>
            <a:r>
              <a:rPr lang="en-US" altLang="ko-KR" dirty="0" smtClean="0"/>
              <a:t>5</a:t>
            </a:r>
            <a:r>
              <a:rPr lang="ko-KR" altLang="en-US" dirty="0" smtClean="0"/>
              <a:t>일 </a:t>
            </a:r>
            <a:endParaRPr lang="en-US" altLang="ko-KR" dirty="0" smtClean="0"/>
          </a:p>
          <a:p>
            <a:r>
              <a:rPr lang="en-US" altLang="ko-KR" dirty="0" smtClean="0"/>
              <a:t>16</a:t>
            </a:r>
            <a:r>
              <a:rPr lang="ko-KR" altLang="en-US" dirty="0" smtClean="0"/>
              <a:t>시 </a:t>
            </a:r>
            <a:r>
              <a:rPr lang="en-US" altLang="ko-KR" dirty="0" smtClean="0"/>
              <a:t>30</a:t>
            </a:r>
            <a:r>
              <a:rPr lang="ko-KR" altLang="en-US" dirty="0" smtClean="0"/>
              <a:t>분</a:t>
            </a:r>
            <a:r>
              <a:rPr lang="en-US" altLang="ko-KR" dirty="0" smtClean="0"/>
              <a:t>??</a:t>
            </a:r>
            <a:endParaRPr lang="en-US" dirty="0"/>
          </a:p>
        </p:txBody>
      </p:sp>
      <p:cxnSp>
        <p:nvCxnSpPr>
          <p:cNvPr id="46" name="직선 화살표 연결선 45"/>
          <p:cNvCxnSpPr>
            <a:endCxn id="13" idx="1"/>
          </p:cNvCxnSpPr>
          <p:nvPr/>
        </p:nvCxnSpPr>
        <p:spPr>
          <a:xfrm>
            <a:off x="8919360" y="3967431"/>
            <a:ext cx="11390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4096960" y="5600850"/>
            <a:ext cx="7466389" cy="1077218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가장 간단한 방법은 시간 데이터를 전달할 때 </a:t>
            </a:r>
            <a:r>
              <a:rPr lang="ko-KR" altLang="en-US" sz="1600" dirty="0" err="1" smtClean="0"/>
              <a:t>타임존을</a:t>
            </a:r>
            <a:r>
              <a:rPr lang="ko-KR" altLang="en-US" sz="1600" dirty="0" smtClean="0"/>
              <a:t> 명시하거나</a:t>
            </a:r>
            <a:endParaRPr lang="en-US" altLang="ko-KR" sz="1600" dirty="0" smtClean="0"/>
          </a:p>
          <a:p>
            <a:r>
              <a:rPr lang="ko-KR" altLang="en-US" sz="1600" dirty="0" err="1" smtClean="0"/>
              <a:t>타임존에</a:t>
            </a:r>
            <a:r>
              <a:rPr lang="ko-KR" altLang="en-US" sz="1600" dirty="0" smtClean="0"/>
              <a:t> 영향을 받지 않는 </a:t>
            </a:r>
            <a:r>
              <a:rPr lang="ko-KR" altLang="en-US" sz="1600" dirty="0" err="1" smtClean="0"/>
              <a:t>절대시간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유닉스타임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으로 변환하여 전달</a:t>
            </a:r>
            <a:endParaRPr lang="en-US" altLang="ko-KR" sz="1600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이러한 날짜 연산을 할 때 가장 많이 사용하는 라이브러리인 </a:t>
            </a:r>
            <a:endParaRPr lang="en-US" altLang="ko-KR" sz="1600" dirty="0" smtClean="0"/>
          </a:p>
          <a:p>
            <a:r>
              <a:rPr lang="en-US" sz="1600" dirty="0" smtClean="0">
                <a:solidFill>
                  <a:srgbClr val="0000FF"/>
                </a:solidFill>
              </a:rPr>
              <a:t>Moment.js</a:t>
            </a:r>
            <a:r>
              <a:rPr lang="en-US" sz="1600" dirty="0" smtClean="0"/>
              <a:t> </a:t>
            </a:r>
            <a:r>
              <a:rPr lang="ko-KR" altLang="en-US" sz="1600" dirty="0" smtClean="0"/>
              <a:t>사용 </a:t>
            </a:r>
            <a:r>
              <a:rPr lang="en-US" altLang="ko-KR" sz="1600" dirty="0" smtClean="0">
                <a:sym typeface="Wingdings" panose="05000000000000000000" pitchFamily="2" charset="2"/>
              </a:rPr>
              <a:t> </a:t>
            </a:r>
            <a:r>
              <a:rPr lang="en-US" altLang="ko-KR" sz="1600" dirty="0" smtClean="0"/>
              <a:t>DST</a:t>
            </a:r>
            <a:r>
              <a:rPr lang="ko-KR" altLang="en-US" sz="1600" dirty="0" smtClean="0"/>
              <a:t>등 시간과 관련된 복잡한 연산을 신경 쓰지 않아도 됨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2357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147483647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147483647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2000000000000000000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2000000000000000000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8054</TotalTime>
  <Words>1561</Words>
  <Application>Microsoft Office PowerPoint</Application>
  <PresentationFormat>와이드스크린</PresentationFormat>
  <Paragraphs>346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맑은 고딕</vt:lpstr>
      <vt:lpstr>Arial</vt:lpstr>
      <vt:lpstr>Calibri</vt:lpstr>
      <vt:lpstr>Calibri Light</vt:lpstr>
      <vt:lpstr>Consolas</vt:lpstr>
      <vt:lpstr>Wingdings</vt:lpstr>
      <vt:lpstr>Office 테마</vt:lpstr>
      <vt:lpstr>객체(참조타입)</vt:lpstr>
      <vt:lpstr>객체</vt:lpstr>
      <vt:lpstr>객체</vt:lpstr>
      <vt:lpstr>객체</vt:lpstr>
      <vt:lpstr>객체</vt:lpstr>
      <vt:lpstr>객체</vt:lpstr>
      <vt:lpstr>객체</vt:lpstr>
      <vt:lpstr>객체</vt:lpstr>
      <vt:lpstr>객체</vt:lpstr>
      <vt:lpstr>객체</vt:lpstr>
      <vt:lpstr>객체</vt:lpstr>
      <vt:lpstr>객체</vt:lpstr>
      <vt:lpstr>객체(시간 관련)</vt:lpstr>
      <vt:lpstr>객체(시간 관련)</vt:lpstr>
      <vt:lpstr>객체(시간 관련)</vt:lpstr>
      <vt:lpstr>객체(시간 관련)</vt:lpstr>
      <vt:lpstr>객체(시간 관련)</vt:lpstr>
      <vt:lpstr>객체(시간 관련)</vt:lpstr>
      <vt:lpstr>객체(시간 관련)</vt:lpstr>
      <vt:lpstr>객체(시간 관련)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2674</cp:revision>
  <dcterms:created xsi:type="dcterms:W3CDTF">2020-03-06T01:35:43Z</dcterms:created>
  <dcterms:modified xsi:type="dcterms:W3CDTF">2020-04-13T01:16:48Z</dcterms:modified>
  <cp:version>1000.0000.01</cp:version>
</cp:coreProperties>
</file>