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1"/>
  </p:notesMasterIdLst>
  <p:handoutMasterIdLst>
    <p:handoutMasterId r:id="rId22"/>
  </p:handoutMasterIdLst>
  <p:sldIdLst>
    <p:sldId id="358" r:id="rId2"/>
    <p:sldId id="338" r:id="rId3"/>
    <p:sldId id="350" r:id="rId4"/>
    <p:sldId id="339" r:id="rId5"/>
    <p:sldId id="340" r:id="rId6"/>
    <p:sldId id="341" r:id="rId7"/>
    <p:sldId id="342" r:id="rId8"/>
    <p:sldId id="344" r:id="rId9"/>
    <p:sldId id="343" r:id="rId10"/>
    <p:sldId id="345" r:id="rId11"/>
    <p:sldId id="346" r:id="rId12"/>
    <p:sldId id="347" r:id="rId13"/>
    <p:sldId id="351" r:id="rId14"/>
    <p:sldId id="352" r:id="rId15"/>
    <p:sldId id="353" r:id="rId16"/>
    <p:sldId id="354" r:id="rId17"/>
    <p:sldId id="355" r:id="rId18"/>
    <p:sldId id="356" r:id="rId19"/>
    <p:sldId id="357" r:id="rId20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70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2EBE0-2F31-479F-A788-41367E7E221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6F8C6-BC5A-42D5-8A22-6ED042C58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73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4/27/2021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4/27/2021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4/27/2021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4/27/2021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4/27/2021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4/27/2021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4/27/2021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owto/tryit.asp?filename=tryhow_js_tod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sungryul@kumoh.ac.kr&#47196;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244417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채점결과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7078" y="4173191"/>
            <a:ext cx="46169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점수 확인을 원하는 학생은 </a:t>
            </a:r>
            <a:endParaRPr lang="en-US" altLang="ko-KR" dirty="0" smtClean="0"/>
          </a:p>
          <a:p>
            <a:r>
              <a:rPr lang="en-US" altLang="ko-KR" dirty="0" smtClean="0"/>
              <a:t>29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30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09:30~11:00 </a:t>
            </a:r>
            <a:r>
              <a:rPr lang="ko-KR" altLang="en-US" dirty="0" smtClean="0"/>
              <a:t>사이에 </a:t>
            </a:r>
            <a:r>
              <a:rPr lang="en-US" altLang="ko-KR" dirty="0" smtClean="0"/>
              <a:t>DB108</a:t>
            </a:r>
            <a:r>
              <a:rPr lang="ko-KR" altLang="en-US" dirty="0" smtClean="0"/>
              <a:t>로 방문</a:t>
            </a:r>
            <a:endParaRPr lang="en-US" altLang="ko-KR" dirty="0" smtClean="0"/>
          </a:p>
          <a:p>
            <a:r>
              <a:rPr lang="ko-KR" altLang="en-US" dirty="0" smtClean="0"/>
              <a:t>이후에는 문의 받지 않습니다</a:t>
            </a:r>
            <a:r>
              <a:rPr lang="en-US" altLang="ko-KR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06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244417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smtClean="0"/>
              <a:t>JS</a:t>
            </a:r>
            <a:r>
              <a:rPr lang="ko-KR" altLang="en-US" dirty="0" smtClean="0"/>
              <a:t>과제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600" dirty="0" smtClean="0"/>
              <a:t>(</a:t>
            </a:r>
            <a:r>
              <a:rPr lang="ko-KR" altLang="en-US" sz="3600" dirty="0"/>
              <a:t>구매 페이지 </a:t>
            </a:r>
            <a:r>
              <a:rPr lang="ko-KR" altLang="en-US" sz="3600" dirty="0" smtClean="0"/>
              <a:t>만들기</a:t>
            </a:r>
            <a:r>
              <a:rPr lang="en-US" altLang="ko-KR" sz="3600" dirty="0" smtClean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6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</a:t>
            </a:r>
            <a:r>
              <a:rPr lang="ko-KR" altLang="en-US" sz="2800" dirty="0" smtClean="0"/>
              <a:t>조작하기</a:t>
            </a:r>
            <a:r>
              <a:rPr lang="en-US" altLang="ko-KR" sz="2800" dirty="0" smtClean="0"/>
              <a:t>(</a:t>
            </a:r>
            <a:r>
              <a:rPr lang="en-US" altLang="ko-KR" sz="2800" dirty="0" smtClean="0">
                <a:solidFill>
                  <a:srgbClr val="FF0000"/>
                </a:solidFill>
              </a:rPr>
              <a:t>DOM</a:t>
            </a:r>
            <a:r>
              <a:rPr lang="ko-KR" altLang="en-US" sz="2800" dirty="0" err="1" smtClean="0">
                <a:solidFill>
                  <a:srgbClr val="FF0000"/>
                </a:solidFill>
              </a:rPr>
              <a:t>강의자료</a:t>
            </a:r>
            <a:r>
              <a:rPr lang="ko-KR" altLang="en-US" sz="2800" dirty="0" err="1" smtClean="0"/>
              <a:t>에</a:t>
            </a:r>
            <a:r>
              <a:rPr lang="ko-KR" altLang="en-US" sz="2800" dirty="0" smtClean="0"/>
              <a:t> 과제 수행을 위한 정보가 있음</a:t>
            </a:r>
            <a:r>
              <a:rPr lang="en-US" altLang="ko-KR" sz="2800" dirty="0" smtClean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en-US" dirty="0"/>
              <a:t>W3Schools How </a:t>
            </a:r>
            <a:r>
              <a:rPr lang="en-US" dirty="0" smtClean="0"/>
              <a:t>To(</a:t>
            </a:r>
            <a:r>
              <a:rPr lang="en-US" altLang="ko-KR" dirty="0">
                <a:solidFill>
                  <a:prstClr val="black"/>
                </a:solidFill>
              </a:rPr>
              <a:t>https://www.w3schools.com/howto/default.asp</a:t>
            </a:r>
            <a:r>
              <a:rPr lang="en-US" dirty="0" smtClean="0"/>
              <a:t>)</a:t>
            </a:r>
            <a:endParaRPr lang="en-US" dirty="0"/>
          </a:p>
          <a:p>
            <a:r>
              <a:rPr lang="ko-KR" altLang="en-US" sz="1800" dirty="0" smtClean="0">
                <a:solidFill>
                  <a:prstClr val="black"/>
                </a:solidFill>
              </a:rPr>
              <a:t>체크박스</a:t>
            </a:r>
            <a:r>
              <a:rPr lang="en-US" altLang="ko-KR" sz="1800" dirty="0">
                <a:solidFill>
                  <a:prstClr val="black"/>
                </a:solidFill>
              </a:rPr>
              <a:t>: https://www.w3schools.com/howto/tryit.asp?filename=tryhow_js_display_checkbox_text</a:t>
            </a:r>
          </a:p>
          <a:p>
            <a:r>
              <a:rPr lang="ko-KR" altLang="en-US" sz="1800" dirty="0" smtClean="0">
                <a:solidFill>
                  <a:prstClr val="black"/>
                </a:solidFill>
              </a:rPr>
              <a:t>탭</a:t>
            </a:r>
            <a:r>
              <a:rPr lang="en-US" altLang="ko-KR" sz="1800" dirty="0" smtClean="0">
                <a:solidFill>
                  <a:prstClr val="black"/>
                </a:solidFill>
              </a:rPr>
              <a:t>: https</a:t>
            </a:r>
            <a:r>
              <a:rPr lang="en-US" altLang="ko-KR" sz="1800" dirty="0">
                <a:solidFill>
                  <a:prstClr val="black"/>
                </a:solidFill>
              </a:rPr>
              <a:t>://www.w3schools.com/howto/tryit.asp?filename=tryhow_js_tabs</a:t>
            </a:r>
          </a:p>
          <a:p>
            <a:r>
              <a:rPr lang="ko-KR" altLang="en-US" sz="1800" dirty="0" err="1" smtClean="0">
                <a:solidFill>
                  <a:srgbClr val="FF0000"/>
                </a:solidFill>
              </a:rPr>
              <a:t>사이드바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 smtClean="0">
                <a:solidFill>
                  <a:prstClr val="black"/>
                </a:solidFill>
              </a:rPr>
              <a:t> https</a:t>
            </a:r>
            <a:r>
              <a:rPr lang="en-US" altLang="ko-KR" sz="1800" dirty="0">
                <a:solidFill>
                  <a:prstClr val="black"/>
                </a:solidFill>
              </a:rPr>
              <a:t>://</a:t>
            </a:r>
            <a:r>
              <a:rPr lang="en-US" altLang="ko-KR" sz="1800" dirty="0" smtClean="0">
                <a:solidFill>
                  <a:prstClr val="black"/>
                </a:solidFill>
              </a:rPr>
              <a:t>www.w3schools.com/howto/tryit.asp?filename=tryhow_js_sidenav</a:t>
            </a:r>
          </a:p>
          <a:p>
            <a:r>
              <a:rPr lang="ko-KR" altLang="en-US" sz="1800" dirty="0" err="1" smtClean="0"/>
              <a:t>푸쉬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사이드바</a:t>
            </a:r>
            <a:r>
              <a:rPr lang="en-US" altLang="ko-KR" sz="1800" dirty="0" smtClean="0"/>
              <a:t> </a:t>
            </a:r>
            <a:r>
              <a:rPr lang="en-US" altLang="ko-KR" sz="1800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 smtClean="0"/>
              <a:t> https</a:t>
            </a:r>
            <a:r>
              <a:rPr lang="en-US" altLang="ko-KR" sz="1800" dirty="0"/>
              <a:t>://</a:t>
            </a:r>
            <a:r>
              <a:rPr lang="en-US" altLang="ko-KR" sz="1800" dirty="0" smtClean="0"/>
              <a:t>www.w3schools.com/howto/tryit.asp?filename=tryhow_js_sidenav_push</a:t>
            </a:r>
          </a:p>
          <a:p>
            <a:r>
              <a:rPr lang="ko-KR" altLang="en-US" sz="1800" dirty="0" err="1"/>
              <a:t>푸쉬</a:t>
            </a:r>
            <a:r>
              <a:rPr lang="ko-KR" altLang="en-US" sz="1800" dirty="0"/>
              <a:t> </a:t>
            </a:r>
            <a:r>
              <a:rPr lang="ko-KR" altLang="en-US" sz="1800" dirty="0" err="1" smtClean="0"/>
              <a:t>사이드바</a:t>
            </a:r>
            <a:r>
              <a:rPr lang="en-US" altLang="ko-KR" sz="1800" dirty="0" smtClean="0"/>
              <a:t>(+</a:t>
            </a:r>
            <a:r>
              <a:rPr lang="ko-KR" altLang="en-US" sz="1800" dirty="0" smtClean="0"/>
              <a:t>투명</a:t>
            </a:r>
            <a:r>
              <a:rPr lang="en-US" altLang="ko-KR" sz="1800" dirty="0" smtClean="0"/>
              <a:t>) </a:t>
            </a:r>
            <a:r>
              <a:rPr lang="en-US" altLang="ko-KR" sz="1800" dirty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600" dirty="0" smtClean="0"/>
              <a:t>https</a:t>
            </a:r>
            <a:r>
              <a:rPr lang="en-US" altLang="ko-KR" sz="1600" dirty="0"/>
              <a:t>://www.w3schools.com/howto/tryit.asp?filename=tryhow_js_sidenav_push_opacity</a:t>
            </a:r>
            <a:endParaRPr lang="en-US" altLang="ko-KR" sz="1800" dirty="0" smtClean="0"/>
          </a:p>
          <a:p>
            <a:r>
              <a:rPr lang="en-US" altLang="ko-KR" sz="1800" dirty="0"/>
              <a:t>Clickable </a:t>
            </a:r>
            <a:r>
              <a:rPr lang="en-US" altLang="ko-KR" sz="1800" dirty="0" smtClean="0"/>
              <a:t>Dropdown </a:t>
            </a:r>
            <a:r>
              <a:rPr lang="en-US" altLang="ko-KR" sz="1800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 smtClean="0"/>
              <a:t> https</a:t>
            </a:r>
            <a:r>
              <a:rPr lang="en-US" altLang="ko-KR" sz="1800" dirty="0"/>
              <a:t>://</a:t>
            </a:r>
            <a:r>
              <a:rPr lang="en-US" altLang="ko-KR" sz="1800" dirty="0" smtClean="0"/>
              <a:t>www.w3schools.com/howto/tryit.asp?filename=tryhow_css_js_dropdown</a:t>
            </a:r>
          </a:p>
          <a:p>
            <a:r>
              <a:rPr lang="en-US" altLang="ko-KR" sz="1800" dirty="0" smtClean="0">
                <a:solidFill>
                  <a:srgbClr val="FF0000"/>
                </a:solidFill>
              </a:rPr>
              <a:t>Carousel</a:t>
            </a:r>
            <a:r>
              <a:rPr lang="en-US" altLang="ko-KR" sz="1800" dirty="0" smtClean="0"/>
              <a:t>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 smtClean="0"/>
              <a:t>https</a:t>
            </a:r>
            <a:r>
              <a:rPr lang="en-US" altLang="ko-KR" sz="1800" dirty="0"/>
              <a:t>://</a:t>
            </a:r>
            <a:r>
              <a:rPr lang="en-US" altLang="ko-KR" sz="1800" dirty="0" smtClean="0"/>
              <a:t>www.w3schools.com/howto/tryit.asp?filename=tryhow_js_slideshow</a:t>
            </a:r>
          </a:p>
          <a:p>
            <a:r>
              <a:rPr lang="en-US" altLang="ko-KR" sz="1800" dirty="0" smtClean="0"/>
              <a:t>TODO</a:t>
            </a:r>
            <a:r>
              <a:rPr lang="ko-KR" altLang="en-US" sz="1800" dirty="0" smtClean="0"/>
              <a:t>리스트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 smtClean="0">
                <a:hlinkClick r:id="rId2"/>
              </a:rPr>
              <a:t>https</a:t>
            </a:r>
            <a:r>
              <a:rPr lang="en-US" altLang="ko-KR" sz="1800" dirty="0">
                <a:hlinkClick r:id="rId2"/>
              </a:rPr>
              <a:t>://</a:t>
            </a:r>
            <a:r>
              <a:rPr lang="en-US" altLang="ko-KR" sz="1800" dirty="0" smtClean="0">
                <a:hlinkClick r:id="rId2"/>
              </a:rPr>
              <a:t>www.w3schools.com/howto/tryit.asp?filename=tryhow_js_todo</a:t>
            </a:r>
            <a:endParaRPr lang="en-US" altLang="ko-KR" sz="1800" dirty="0" smtClean="0"/>
          </a:p>
          <a:p>
            <a:r>
              <a:rPr lang="en-US" altLang="ko-KR" sz="1800" dirty="0" smtClean="0">
                <a:solidFill>
                  <a:srgbClr val="FF0000"/>
                </a:solidFill>
              </a:rPr>
              <a:t>Accordion</a:t>
            </a:r>
            <a:r>
              <a:rPr lang="en-US" altLang="ko-KR" sz="1800" dirty="0" smtClean="0"/>
              <a:t>: https</a:t>
            </a:r>
            <a:r>
              <a:rPr lang="en-US" altLang="ko-KR" sz="1800" dirty="0"/>
              <a:t>://www.w3schools.com/howto/tryit.asp?filename=tryhow_js_accordion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8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0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JS</a:t>
            </a:r>
            <a:r>
              <a:rPr lang="ko-KR" altLang="en-US" sz="2800" dirty="0" smtClean="0"/>
              <a:t>과제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https://smartstore.naver.com/asoliving/products/134699599?n_media=27758&amp;n_query=%EC%BA%A0%ED%95%91%ED%85%90%ED%8A%B8&amp;n_rank=1&amp;n_ad_group=grp-a001-02-000000012646985&amp;n_ad=nad-a001-02-000000075148319&amp;n_campaign_type=2&amp;n_mall_pid=134699599&amp;NaPm=ct%3Dk9l36mtk%7Cci%3D0yW0003jd%2DzsupZXX0XF%7Ctr%3Dpla%7Chk%3Dd1be79694abd22e02941cb8c07a530c2b3bb4b09</a:t>
            </a:r>
            <a:endParaRPr lang="en-US" altLang="ko-KR" sz="12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1" y="2035226"/>
            <a:ext cx="6986661" cy="46398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79269" y="2615184"/>
            <a:ext cx="4523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사이트 들어가서</a:t>
            </a:r>
            <a:endParaRPr lang="en-US" altLang="ko-KR" dirty="0" smtClean="0"/>
          </a:p>
          <a:p>
            <a:r>
              <a:rPr lang="en-US" dirty="0" smtClean="0"/>
              <a:t>F12(</a:t>
            </a:r>
            <a:r>
              <a:rPr lang="ko-KR" altLang="en-US" dirty="0" err="1" smtClean="0"/>
              <a:t>크롬기준</a:t>
            </a:r>
            <a:r>
              <a:rPr lang="en-US" dirty="0" smtClean="0"/>
              <a:t>) </a:t>
            </a:r>
            <a:r>
              <a:rPr lang="ko-KR" altLang="en-US" dirty="0" smtClean="0"/>
              <a:t>개발자 도구 키고</a:t>
            </a:r>
            <a:endParaRPr lang="en-US" altLang="ko-KR" dirty="0" smtClean="0"/>
          </a:p>
          <a:p>
            <a:r>
              <a:rPr lang="en-US" dirty="0" smtClean="0"/>
              <a:t>html</a:t>
            </a:r>
            <a:r>
              <a:rPr lang="ko-KR" altLang="en-US" dirty="0" smtClean="0"/>
              <a:t>구성 살펴보며 유사 페이지 </a:t>
            </a:r>
            <a:r>
              <a:rPr lang="ko-KR" altLang="en-US" dirty="0" err="1" smtClean="0"/>
              <a:t>작성해보기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2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JS</a:t>
            </a:r>
            <a:r>
              <a:rPr lang="ko-KR" altLang="en-US" sz="2800" dirty="0" smtClean="0"/>
              <a:t>과제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59701" y="5755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sidebar</a:t>
            </a:r>
            <a:r>
              <a:rPr lang="ko-KR" altLang="en-US" dirty="0" smtClean="0"/>
              <a:t>참조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0552" y="5901767"/>
            <a:ext cx="10996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대부분의 </a:t>
            </a:r>
            <a:r>
              <a:rPr lang="ko-KR" altLang="en-US" dirty="0" err="1" smtClean="0"/>
              <a:t>구현코드는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DOM</a:t>
            </a:r>
            <a:r>
              <a:rPr lang="ko-KR" altLang="en-US" dirty="0" smtClean="0"/>
              <a:t>강의자료 마지막에 있는 </a:t>
            </a:r>
            <a:r>
              <a:rPr lang="en-US" altLang="ko-KR" dirty="0" smtClean="0"/>
              <a:t>W3SCHOOL </a:t>
            </a:r>
            <a:r>
              <a:rPr lang="ko-KR" altLang="en-US" dirty="0" smtClean="0"/>
              <a:t>예제 참조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CSS</a:t>
            </a:r>
            <a:r>
              <a:rPr lang="ko-KR" altLang="en-US" dirty="0" smtClean="0"/>
              <a:t>요소는 중요하지 않고 </a:t>
            </a:r>
            <a:r>
              <a:rPr lang="en-US" altLang="ko-KR" dirty="0" smtClean="0"/>
              <a:t>JS</a:t>
            </a:r>
            <a:r>
              <a:rPr lang="ko-KR" altLang="en-US" dirty="0" smtClean="0"/>
              <a:t>기능이 올바른지 평가</a:t>
            </a:r>
            <a:r>
              <a:rPr lang="en-US" altLang="ko-KR" dirty="0" smtClean="0"/>
              <a:t>(</a:t>
            </a:r>
            <a:r>
              <a:rPr lang="ko-KR" altLang="en-US" dirty="0" smtClean="0"/>
              <a:t>단</a:t>
            </a:r>
            <a:r>
              <a:rPr lang="en-US" altLang="ko-KR" dirty="0" smtClean="0"/>
              <a:t> </a:t>
            </a:r>
            <a:r>
              <a:rPr lang="ko-KR" altLang="en-US" dirty="0" smtClean="0"/>
              <a:t>위와 같이 이미지는 좌측 상세정보는 우측으로 배치</a:t>
            </a:r>
            <a:r>
              <a:rPr lang="en-US" altLang="ko-KR" dirty="0" smtClean="0"/>
              <a:t>)</a:t>
            </a:r>
            <a:endParaRPr lang="en-US" dirty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01" y="1027747"/>
            <a:ext cx="10525125" cy="416242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659901" y="1040315"/>
            <a:ext cx="1148619" cy="387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직사각형 24"/>
          <p:cNvSpPr/>
          <p:nvPr/>
        </p:nvSpPr>
        <p:spPr>
          <a:xfrm>
            <a:off x="1632871" y="1344862"/>
            <a:ext cx="3825149" cy="3854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355424" y="5221790"/>
            <a:ext cx="1430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carousel</a:t>
            </a:r>
            <a:r>
              <a:rPr lang="ko-KR" altLang="en-US" dirty="0" smtClean="0"/>
              <a:t>참조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064764" y="3939937"/>
            <a:ext cx="2801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accordion</a:t>
            </a:r>
            <a:r>
              <a:rPr lang="ko-KR" altLang="en-US" dirty="0" smtClean="0"/>
              <a:t>참조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element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 참조</a:t>
            </a:r>
            <a:endParaRPr 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5458020" y="1344862"/>
            <a:ext cx="5726806" cy="2541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1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1. open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52" y="931101"/>
            <a:ext cx="8988171" cy="5280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9095" y="4164505"/>
            <a:ext cx="3679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00FF"/>
                </a:solidFill>
              </a:rPr>
              <a:t>클릭할 경우 </a:t>
            </a:r>
            <a:r>
              <a:rPr lang="en-US" altLang="ko-KR" dirty="0" smtClean="0">
                <a:solidFill>
                  <a:srgbClr val="0000FF"/>
                </a:solidFill>
              </a:rPr>
              <a:t>sidebar</a:t>
            </a:r>
            <a:r>
              <a:rPr lang="ko-KR" altLang="en-US" dirty="0" smtClean="0">
                <a:solidFill>
                  <a:srgbClr val="0000FF"/>
                </a:solidFill>
              </a:rPr>
              <a:t>가 표시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FF"/>
                </a:solidFill>
              </a:rPr>
              <a:t>x</a:t>
            </a:r>
            <a:r>
              <a:rPr lang="ko-KR" altLang="en-US" dirty="0" smtClean="0">
                <a:solidFill>
                  <a:srgbClr val="0000FF"/>
                </a:solidFill>
              </a:rPr>
              <a:t>버튼을 클릭하면 </a:t>
            </a:r>
            <a:r>
              <a:rPr lang="en-US" altLang="ko-KR" dirty="0" smtClean="0">
                <a:solidFill>
                  <a:srgbClr val="0000FF"/>
                </a:solidFill>
              </a:rPr>
              <a:t>sidebar</a:t>
            </a:r>
            <a:r>
              <a:rPr lang="ko-KR" altLang="en-US" dirty="0" smtClean="0">
                <a:solidFill>
                  <a:srgbClr val="0000FF"/>
                </a:solidFill>
              </a:rPr>
              <a:t>숨기기</a:t>
            </a:r>
            <a:endParaRPr lang="en-US" altLang="ko-KR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88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2. </a:t>
            </a:r>
            <a:r>
              <a:rPr lang="en-US" sz="2800" dirty="0" smtClean="0"/>
              <a:t>carousel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8227" t="8609" r="55944"/>
          <a:stretch/>
        </p:blipFill>
        <p:spPr>
          <a:xfrm>
            <a:off x="530552" y="1225296"/>
            <a:ext cx="3822193" cy="38562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42751" y="1225296"/>
            <a:ext cx="4264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solidFill>
                  <a:srgbClr val="0000FF"/>
                </a:solidFill>
              </a:rPr>
              <a:t>&gt;</a:t>
            </a:r>
            <a:r>
              <a:rPr lang="ko-KR" altLang="en-US" dirty="0" smtClean="0">
                <a:solidFill>
                  <a:srgbClr val="0000FF"/>
                </a:solidFill>
              </a:rPr>
              <a:t>버튼 클릭하면 다음 이미지 표시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FF"/>
                </a:solidFill>
              </a:rPr>
              <a:t>&lt;</a:t>
            </a:r>
            <a:r>
              <a:rPr lang="ko-KR" altLang="en-US" dirty="0" smtClean="0">
                <a:solidFill>
                  <a:srgbClr val="0000FF"/>
                </a:solidFill>
              </a:rPr>
              <a:t>버튼 클릭하면 이전 이미지 표시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00FF"/>
                </a:solidFill>
              </a:rPr>
              <a:t>예제의 </a:t>
            </a:r>
            <a:r>
              <a:rPr lang="en-US" altLang="ko-KR" dirty="0" smtClean="0">
                <a:solidFill>
                  <a:srgbClr val="0000FF"/>
                </a:solidFill>
              </a:rPr>
              <a:t>CSS</a:t>
            </a:r>
            <a:r>
              <a:rPr lang="ko-KR" altLang="en-US" dirty="0" smtClean="0">
                <a:solidFill>
                  <a:srgbClr val="0000FF"/>
                </a:solidFill>
              </a:rPr>
              <a:t>를 그대로 사용해도 됨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00FF"/>
                </a:solidFill>
              </a:rPr>
              <a:t>첨부파일에 있는 </a:t>
            </a:r>
            <a:r>
              <a:rPr lang="en-US" altLang="ko-KR" dirty="0" smtClean="0">
                <a:solidFill>
                  <a:srgbClr val="0000FF"/>
                </a:solidFill>
              </a:rPr>
              <a:t>3</a:t>
            </a:r>
            <a:r>
              <a:rPr lang="ko-KR" altLang="en-US" dirty="0" smtClean="0">
                <a:solidFill>
                  <a:srgbClr val="0000FF"/>
                </a:solidFill>
              </a:rPr>
              <a:t>개의 이미지만 사용</a:t>
            </a:r>
            <a:endParaRPr lang="en-US" altLang="ko-KR" dirty="0" smtClean="0">
              <a:solidFill>
                <a:srgbClr val="0000FF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83540" y="2997646"/>
            <a:ext cx="365986" cy="38722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3908908" y="2976310"/>
            <a:ext cx="365986" cy="38722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8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3. </a:t>
            </a:r>
            <a:r>
              <a:rPr lang="ko-KR" altLang="en-US" sz="2800" dirty="0" smtClean="0"/>
              <a:t>상품 상세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4632" y="3680797"/>
            <a:ext cx="5407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색상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글자크기와 같은 스타일 요소는 적절히 알아서</a:t>
            </a:r>
            <a:endParaRPr lang="en-US" altLang="ko-KR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44987" t="6810" r="1" b="33217"/>
          <a:stretch/>
        </p:blipFill>
        <p:spPr>
          <a:xfrm>
            <a:off x="484632" y="996695"/>
            <a:ext cx="5790066" cy="2496313"/>
          </a:xfrm>
          <a:prstGeom prst="rect">
            <a:avLst/>
          </a:prstGeom>
          <a:ln w="22225">
            <a:noFill/>
          </a:ln>
        </p:spPr>
      </p:pic>
      <p:sp>
        <p:nvSpPr>
          <p:cNvPr id="11" name="직사각형 10"/>
          <p:cNvSpPr/>
          <p:nvPr/>
        </p:nvSpPr>
        <p:spPr>
          <a:xfrm>
            <a:off x="225924" y="1005840"/>
            <a:ext cx="6299487" cy="24963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530552" y="1423416"/>
            <a:ext cx="5669080" cy="1603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225772" y="1962912"/>
            <a:ext cx="1106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accordion</a:t>
            </a:r>
            <a:endParaRPr lang="en-US" dirty="0"/>
          </a:p>
        </p:txBody>
      </p:sp>
      <p:pic>
        <p:nvPicPr>
          <p:cNvPr id="1028" name="Picture 4" descr="Amazon.com: Hohner 1305-RED Hohnica 72 Bass 34-Key Entry Level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616" y="906086"/>
            <a:ext cx="2668010" cy="212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1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3. </a:t>
            </a:r>
            <a:r>
              <a:rPr lang="ko-KR" altLang="en-US" sz="2800" dirty="0" smtClean="0"/>
              <a:t>상품 상세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74698" y="996695"/>
            <a:ext cx="55964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FF"/>
                </a:solidFill>
              </a:rPr>
              <a:t>accordion</a:t>
            </a:r>
            <a:r>
              <a:rPr lang="ko-KR" altLang="en-US" dirty="0" smtClean="0">
                <a:solidFill>
                  <a:srgbClr val="0000FF"/>
                </a:solidFill>
              </a:rPr>
              <a:t>으로 구현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u="sng" dirty="0" smtClean="0">
                <a:solidFill>
                  <a:srgbClr val="0000FF"/>
                </a:solidFill>
              </a:rPr>
              <a:t>단</a:t>
            </a:r>
            <a:r>
              <a:rPr lang="en-US" altLang="ko-KR" u="sng" dirty="0" smtClean="0">
                <a:solidFill>
                  <a:srgbClr val="0000FF"/>
                </a:solidFill>
              </a:rPr>
              <a:t>, </a:t>
            </a:r>
            <a:r>
              <a:rPr lang="ko-KR" altLang="en-US" u="sng" dirty="0" smtClean="0">
                <a:solidFill>
                  <a:srgbClr val="0000FF"/>
                </a:solidFill>
              </a:rPr>
              <a:t>하나의 </a:t>
            </a:r>
            <a:r>
              <a:rPr lang="en-US" altLang="ko-KR" u="sng" dirty="0" smtClean="0">
                <a:solidFill>
                  <a:srgbClr val="0000FF"/>
                </a:solidFill>
              </a:rPr>
              <a:t>panel</a:t>
            </a:r>
            <a:r>
              <a:rPr lang="ko-KR" altLang="en-US" u="sng" dirty="0" smtClean="0">
                <a:solidFill>
                  <a:srgbClr val="0000FF"/>
                </a:solidFill>
              </a:rPr>
              <a:t>이 열리면 다른 패널은 닫히도록 구현</a:t>
            </a:r>
            <a:r>
              <a:rPr lang="en-US" altLang="ko-KR" u="sng" dirty="0" smtClean="0">
                <a:solidFill>
                  <a:srgbClr val="0000FF"/>
                </a:solidFill>
              </a:rPr>
              <a:t>!</a:t>
            </a:r>
          </a:p>
          <a:p>
            <a:r>
              <a:rPr lang="en-US" altLang="ko-KR" dirty="0" smtClean="0"/>
              <a:t>accordion</a:t>
            </a:r>
            <a:r>
              <a:rPr lang="ko-KR" altLang="en-US" dirty="0" smtClean="0"/>
              <a:t>으로 </a:t>
            </a:r>
            <a:r>
              <a:rPr lang="ko-KR" altLang="en-US" dirty="0" smtClean="0"/>
              <a:t>구현할 항목은</a:t>
            </a:r>
            <a:endParaRPr lang="en-US" altLang="ko-KR" dirty="0" smtClean="0"/>
          </a:p>
          <a:p>
            <a:pPr marL="342900" indent="-342900">
              <a:buAutoNum type="arabicParenR"/>
            </a:pPr>
            <a:r>
              <a:rPr lang="ko-KR" altLang="en-US" dirty="0" smtClean="0"/>
              <a:t>판매자 정보</a:t>
            </a:r>
            <a:endParaRPr lang="en-US" altLang="ko-KR" dirty="0" smtClean="0"/>
          </a:p>
          <a:p>
            <a:pPr marL="342900" indent="-342900">
              <a:buAutoNum type="arabicParenR"/>
            </a:pPr>
            <a:r>
              <a:rPr lang="ko-KR" altLang="en-US" dirty="0" smtClean="0"/>
              <a:t>상품 정보</a:t>
            </a:r>
            <a:endParaRPr lang="en-US" altLang="ko-KR" dirty="0" smtClean="0"/>
          </a:p>
          <a:p>
            <a:pPr marL="342900" indent="-342900">
              <a:buAutoNum type="arabicParenR"/>
            </a:pPr>
            <a:r>
              <a:rPr lang="ko-KR" altLang="en-US" dirty="0" smtClean="0"/>
              <a:t>주문 정보</a:t>
            </a:r>
            <a:endParaRPr lang="en-US" altLang="ko-KR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45424" t="6810" b="33217"/>
          <a:stretch/>
        </p:blipFill>
        <p:spPr>
          <a:xfrm>
            <a:off x="530552" y="996695"/>
            <a:ext cx="5744146" cy="2496313"/>
          </a:xfrm>
          <a:prstGeom prst="rect">
            <a:avLst/>
          </a:prstGeom>
          <a:ln w="22225">
            <a:noFill/>
          </a:ln>
        </p:spPr>
      </p:pic>
      <p:sp>
        <p:nvSpPr>
          <p:cNvPr id="11" name="직사각형 10"/>
          <p:cNvSpPr/>
          <p:nvPr/>
        </p:nvSpPr>
        <p:spPr>
          <a:xfrm>
            <a:off x="503120" y="1444335"/>
            <a:ext cx="5726806" cy="1600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0" y="3940648"/>
            <a:ext cx="4021907" cy="18697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484" y="3940648"/>
            <a:ext cx="3509772" cy="186602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473" y="3940647"/>
            <a:ext cx="4082359" cy="186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5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3. </a:t>
            </a:r>
            <a:r>
              <a:rPr lang="ko-KR" altLang="en-US" sz="2800" dirty="0" smtClean="0"/>
              <a:t>상품 상세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25" y="758535"/>
            <a:ext cx="4477783" cy="20467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5" y="3448050"/>
            <a:ext cx="5772150" cy="3409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54316" y="2942014"/>
            <a:ext cx="6884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선택한 항목 표시</a:t>
            </a:r>
            <a:r>
              <a:rPr lang="en-US" altLang="ko-KR" dirty="0" smtClean="0"/>
              <a:t>(select</a:t>
            </a:r>
            <a:r>
              <a:rPr lang="ko-KR" altLang="en-US" dirty="0" smtClean="0"/>
              <a:t>박스 이벤트 참고</a:t>
            </a:r>
            <a:r>
              <a:rPr lang="en-US" altLang="ko-KR" dirty="0"/>
              <a:t>: http://blog.devez.net/394)</a:t>
            </a:r>
            <a:endParaRPr 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2854316" y="2832743"/>
            <a:ext cx="1" cy="57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3918438" y="5687742"/>
            <a:ext cx="480509" cy="235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810620" y="5620986"/>
            <a:ext cx="4946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추가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감소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제거는 </a:t>
            </a:r>
            <a:r>
              <a:rPr lang="en-US" altLang="ko-KR" dirty="0" smtClean="0">
                <a:solidFill>
                  <a:srgbClr val="FF0000"/>
                </a:solidFill>
              </a:rPr>
              <a:t>button </a:t>
            </a:r>
            <a:r>
              <a:rPr lang="ko-KR" altLang="en-US" dirty="0" smtClean="0">
                <a:solidFill>
                  <a:srgbClr val="FF0000"/>
                </a:solidFill>
              </a:rPr>
              <a:t>태그를 이용하여 구현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stopPropagation</a:t>
            </a:r>
            <a:r>
              <a:rPr lang="ko-KR" altLang="en-US" dirty="0" smtClean="0"/>
              <a:t>과 </a:t>
            </a:r>
            <a:r>
              <a:rPr lang="en-US" dirty="0" err="1" smtClean="0"/>
              <a:t>preventDefault</a:t>
            </a:r>
            <a:r>
              <a:rPr lang="ko-KR" altLang="en-US" dirty="0" smtClean="0"/>
              <a:t>를 </a:t>
            </a:r>
            <a:endParaRPr lang="en-US" altLang="ko-KR" dirty="0" smtClean="0"/>
          </a:p>
          <a:p>
            <a:r>
              <a:rPr lang="ko-KR" altLang="en-US" dirty="0" smtClean="0"/>
              <a:t>적절히 사용해야 함</a:t>
            </a:r>
            <a:endParaRPr lang="en-US" dirty="0" smtClean="0"/>
          </a:p>
        </p:txBody>
      </p:sp>
      <p:cxnSp>
        <p:nvCxnSpPr>
          <p:cNvPr id="17" name="구부러진 연결선 16"/>
          <p:cNvCxnSpPr>
            <a:stCxn id="14" idx="0"/>
            <a:endCxn id="15" idx="0"/>
          </p:cNvCxnSpPr>
          <p:nvPr/>
        </p:nvCxnSpPr>
        <p:spPr>
          <a:xfrm rot="5400000" flipH="1" flipV="1">
            <a:off x="6687899" y="3091780"/>
            <a:ext cx="66756" cy="5125168"/>
          </a:xfrm>
          <a:prstGeom prst="curvedConnector3">
            <a:avLst>
              <a:gd name="adj1" fmla="val 4424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15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3. </a:t>
            </a:r>
            <a:r>
              <a:rPr lang="ko-KR" altLang="en-US" sz="2800" dirty="0" smtClean="0"/>
              <a:t>상품 상세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37" y="796290"/>
            <a:ext cx="5772150" cy="340995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4203105" y="3035982"/>
            <a:ext cx="203783" cy="235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792332" y="2969226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제거 버튼을 누를 경우</a:t>
            </a:r>
            <a:endParaRPr lang="en-US" dirty="0" smtClean="0"/>
          </a:p>
        </p:txBody>
      </p:sp>
      <p:cxnSp>
        <p:nvCxnSpPr>
          <p:cNvPr id="17" name="구부러진 연결선 16"/>
          <p:cNvCxnSpPr>
            <a:endCxn id="15" idx="0"/>
          </p:cNvCxnSpPr>
          <p:nvPr/>
        </p:nvCxnSpPr>
        <p:spPr>
          <a:xfrm flipV="1">
            <a:off x="4304996" y="2969226"/>
            <a:ext cx="3697764" cy="66756"/>
          </a:xfrm>
          <a:prstGeom prst="curvedConnector4">
            <a:avLst>
              <a:gd name="adj1" fmla="val 33633"/>
              <a:gd name="adj2" fmla="val 4424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t="48837"/>
          <a:stretch/>
        </p:blipFill>
        <p:spPr>
          <a:xfrm>
            <a:off x="597137" y="4939897"/>
            <a:ext cx="5695950" cy="16082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92332" y="3554355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select</a:t>
            </a:r>
            <a:r>
              <a:rPr lang="ko-KR" altLang="en-US" dirty="0" smtClean="0">
                <a:solidFill>
                  <a:srgbClr val="FF0000"/>
                </a:solidFill>
              </a:rPr>
              <a:t>의 항목을 선택으로 변경</a:t>
            </a:r>
            <a:endParaRPr lang="en-US" dirty="0" smtClean="0"/>
          </a:p>
        </p:txBody>
      </p:sp>
      <p:cxnSp>
        <p:nvCxnSpPr>
          <p:cNvPr id="18" name="구부러진 연결선 17"/>
          <p:cNvCxnSpPr>
            <a:stCxn id="16" idx="2"/>
            <a:endCxn id="20" idx="3"/>
          </p:cNvCxnSpPr>
          <p:nvPr/>
        </p:nvCxnSpPr>
        <p:spPr>
          <a:xfrm rot="5400000">
            <a:off x="5005879" y="2138980"/>
            <a:ext cx="1601704" cy="517111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792438" y="5407480"/>
            <a:ext cx="2428733" cy="235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직사각형 21"/>
          <p:cNvSpPr/>
          <p:nvPr/>
        </p:nvSpPr>
        <p:spPr>
          <a:xfrm>
            <a:off x="4539874" y="6093015"/>
            <a:ext cx="1824743" cy="235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478388" y="6034093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총 상품 금액도 적절히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6700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힌트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Array</a:t>
            </a:r>
            <a:r>
              <a:rPr lang="ko-KR" altLang="en-US" dirty="0" smtClean="0"/>
              <a:t>의 사용법</a:t>
            </a:r>
            <a:r>
              <a:rPr lang="en-US" altLang="ko-KR" dirty="0" smtClean="0"/>
              <a:t>(</a:t>
            </a:r>
            <a:r>
              <a:rPr lang="ko-KR" altLang="en-US" dirty="0" smtClean="0"/>
              <a:t>속성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메서드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알고 있어야 함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특히 </a:t>
            </a:r>
            <a:r>
              <a:rPr lang="en-US" altLang="ko-KR" dirty="0" smtClean="0">
                <a:sym typeface="Wingdings" panose="05000000000000000000" pitchFamily="2" charset="2"/>
              </a:rPr>
              <a:t>Array</a:t>
            </a:r>
            <a:r>
              <a:rPr lang="ko-KR" altLang="en-US" dirty="0" smtClean="0">
                <a:sym typeface="Wingdings" panose="05000000000000000000" pitchFamily="2" charset="2"/>
              </a:rPr>
              <a:t>를 사용할 경우 스스로 공부</a:t>
            </a:r>
            <a:endParaRPr lang="en-US" altLang="ko-KR" dirty="0" smtClean="0"/>
          </a:p>
          <a:p>
            <a:r>
              <a:rPr lang="en-US" dirty="0" err="1" smtClean="0"/>
              <a:t>ul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li</a:t>
            </a:r>
            <a:r>
              <a:rPr lang="ko-KR" altLang="en-US" dirty="0" smtClean="0"/>
              <a:t>를 </a:t>
            </a:r>
            <a:r>
              <a:rPr lang="ko-KR" altLang="en-US" dirty="0"/>
              <a:t>동적으로 </a:t>
            </a:r>
            <a:r>
              <a:rPr lang="ko-KR" altLang="en-US" dirty="0" smtClean="0"/>
              <a:t>만들 때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속성에 값을 줄 수 있음</a:t>
            </a:r>
            <a:endParaRPr lang="en-US" altLang="ko-KR" dirty="0" smtClean="0"/>
          </a:p>
          <a:p>
            <a:pPr lvl="1"/>
            <a:r>
              <a:rPr lang="ko-KR" altLang="en-US" sz="1800" dirty="0" smtClean="0"/>
              <a:t>반드시 </a:t>
            </a:r>
            <a:r>
              <a:rPr lang="en-US" altLang="ko-KR" sz="1800" dirty="0" smtClean="0"/>
              <a:t>value</a:t>
            </a:r>
            <a:r>
              <a:rPr lang="ko-KR" altLang="en-US" sz="1800" dirty="0" smtClean="0"/>
              <a:t>속성을 사용하라는 의미는 아니지만 구현을 하다 보면 동적으로 만들어진 요소를 구분하기 위한 방법이 필요할 것임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원래는 요소에 데이터를 부여하는 것은 </a:t>
            </a:r>
            <a:r>
              <a:rPr lang="en-US" altLang="ko-KR" sz="1800" dirty="0"/>
              <a:t>aria-*, data-* </a:t>
            </a:r>
            <a:r>
              <a:rPr lang="ko-KR" altLang="en-US" sz="1800" dirty="0" smtClean="0"/>
              <a:t>속성을 사용</a:t>
            </a:r>
            <a:r>
              <a:rPr lang="en-US" altLang="ko-KR" sz="1800" dirty="0"/>
              <a:t>(https://mygumi.tistory.com/341)</a:t>
            </a:r>
            <a:endParaRPr 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359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 smtClean="0">
                <a:solidFill>
                  <a:srgbClr val="FF0000"/>
                </a:solidFill>
              </a:rPr>
              <a:t>강의운영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중간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35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기말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35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과제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제출 여부만 검사</a:t>
            </a:r>
            <a:r>
              <a:rPr lang="en-US" altLang="ko-KR" dirty="0" smtClean="0"/>
              <a:t>(10</a:t>
            </a:r>
            <a:r>
              <a:rPr lang="en-US" altLang="ko-KR" dirty="0" smtClean="0"/>
              <a:t>)</a:t>
            </a:r>
          </a:p>
          <a:p>
            <a:pPr lvl="1">
              <a:defRPr/>
            </a:pPr>
            <a:r>
              <a:rPr lang="ko-KR" altLang="en-US" dirty="0" smtClean="0"/>
              <a:t>첫 번째 과제</a:t>
            </a:r>
            <a:r>
              <a:rPr lang="en-US" altLang="ko-KR" dirty="0" smtClean="0"/>
              <a:t>: 2</a:t>
            </a:r>
          </a:p>
          <a:p>
            <a:pPr lvl="1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두 번째 과제</a:t>
            </a:r>
            <a:r>
              <a:rPr lang="en-US" altLang="ko-KR" dirty="0" smtClean="0">
                <a:solidFill>
                  <a:srgbClr val="FF0000"/>
                </a:solidFill>
              </a:rPr>
              <a:t>: 4-</a:t>
            </a:r>
            <a:r>
              <a:rPr lang="ko-KR" altLang="en-US" dirty="0" smtClean="0">
                <a:solidFill>
                  <a:srgbClr val="FF0000"/>
                </a:solidFill>
              </a:rPr>
              <a:t>검사 예정</a:t>
            </a:r>
            <a:r>
              <a:rPr lang="en-US" altLang="ko-KR" dirty="0" smtClean="0">
                <a:solidFill>
                  <a:srgbClr val="FF0000"/>
                </a:solidFill>
              </a:rPr>
              <a:t>(sidebar</a:t>
            </a:r>
            <a:r>
              <a:rPr lang="en-US" altLang="ko-KR" dirty="0">
                <a:solidFill>
                  <a:srgbClr val="FF0000"/>
                </a:solidFill>
              </a:rPr>
              <a:t>, Carousel, </a:t>
            </a:r>
            <a:r>
              <a:rPr lang="en-US" altLang="ko-KR" dirty="0" smtClean="0">
                <a:solidFill>
                  <a:srgbClr val="FF0000"/>
                </a:solidFill>
              </a:rPr>
              <a:t>accordion, </a:t>
            </a:r>
            <a:r>
              <a:rPr lang="ko-KR" altLang="en-US" dirty="0" smtClean="0">
                <a:solidFill>
                  <a:srgbClr val="FF0000"/>
                </a:solidFill>
              </a:rPr>
              <a:t>주문 기능 각 </a:t>
            </a:r>
            <a:r>
              <a:rPr lang="en-US" altLang="ko-KR" dirty="0" smtClean="0">
                <a:solidFill>
                  <a:srgbClr val="FF0000"/>
                </a:solidFill>
              </a:rPr>
              <a:t>1</a:t>
            </a:r>
            <a:r>
              <a:rPr lang="ko-KR" altLang="en-US" dirty="0" smtClean="0">
                <a:solidFill>
                  <a:srgbClr val="FF0000"/>
                </a:solidFill>
              </a:rPr>
              <a:t>점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dirty="0" smtClean="0"/>
              <a:t>세 번째 과제</a:t>
            </a:r>
            <a:r>
              <a:rPr lang="en-US" altLang="ko-KR" dirty="0" smtClean="0"/>
              <a:t>: 2</a:t>
            </a:r>
          </a:p>
          <a:p>
            <a:pPr lvl="1">
              <a:defRPr/>
            </a:pPr>
            <a:r>
              <a:rPr lang="ko-KR" altLang="en-US" dirty="0" smtClean="0"/>
              <a:t>네 번째 과제</a:t>
            </a:r>
            <a:r>
              <a:rPr lang="en-US" altLang="ko-KR" dirty="0" smtClean="0"/>
              <a:t>: 2</a:t>
            </a:r>
            <a:endParaRPr lang="en-US" altLang="ko-KR" dirty="0"/>
          </a:p>
          <a:p>
            <a:pPr lvl="0">
              <a:defRPr/>
            </a:pPr>
            <a:r>
              <a:rPr lang="ko-KR" altLang="en-US" dirty="0" err="1"/>
              <a:t>텀</a:t>
            </a:r>
            <a:r>
              <a:rPr lang="ko-KR" altLang="en-US" dirty="0"/>
              <a:t> 프로젝트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20</a:t>
            </a:r>
            <a:endParaRPr lang="en-US" altLang="ko-KR" dirty="0" smtClean="0"/>
          </a:p>
          <a:p>
            <a:pPr lvl="0">
              <a:defRPr/>
            </a:pPr>
            <a:r>
              <a:rPr lang="ko-KR" altLang="en-US" dirty="0" smtClean="0"/>
              <a:t>출석</a:t>
            </a:r>
            <a:r>
              <a:rPr lang="en-US" altLang="ko-KR" dirty="0" smtClean="0"/>
              <a:t>: </a:t>
            </a:r>
            <a:r>
              <a:rPr lang="ko-KR" altLang="en-US" dirty="0" smtClean="0"/>
              <a:t>출석 일수 </a:t>
            </a:r>
            <a:r>
              <a:rPr lang="en-US" altLang="ko-KR" dirty="0" smtClean="0"/>
              <a:t>1/3 </a:t>
            </a:r>
            <a:r>
              <a:rPr lang="ko-KR" altLang="en-US" dirty="0" smtClean="0"/>
              <a:t>이상 결석 시</a:t>
            </a:r>
            <a:r>
              <a:rPr lang="en-US" altLang="ko-KR" dirty="0" smtClean="0"/>
              <a:t> F(</a:t>
            </a:r>
            <a:r>
              <a:rPr lang="ko-KR" altLang="en-US" dirty="0" smtClean="0"/>
              <a:t>동점자가 나올 경우 등수 결정에 사용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553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244417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err="1" smtClean="0"/>
              <a:t>텀프로젝트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1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 smtClean="0"/>
              <a:t>텀프로젝트</a:t>
            </a:r>
            <a:r>
              <a:rPr lang="ko-KR" altLang="en-US" dirty="0" smtClean="0"/>
              <a:t> 개요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목적</a:t>
            </a: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완성도 높은 웹 페이지를 만들면 좋겠으나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비대면인</a:t>
            </a:r>
            <a:r>
              <a:rPr lang="ko-KR" altLang="en-US" dirty="0" smtClean="0"/>
              <a:t> 상황에서 쉽지 않으므로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요구사항을 충실히 만족하는지 볼 예정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개인의 욕심에 따라 완성도 높은 </a:t>
            </a:r>
            <a:r>
              <a:rPr lang="ko-KR" altLang="en-US" dirty="0" err="1" smtClean="0"/>
              <a:t>웹페이지를</a:t>
            </a:r>
            <a:r>
              <a:rPr lang="ko-KR" altLang="en-US" dirty="0" smtClean="0"/>
              <a:t> 만들어 볼 것을 추천</a:t>
            </a:r>
            <a:endParaRPr lang="en-US" altLang="ko-KR" dirty="0" smtClean="0"/>
          </a:p>
          <a:p>
            <a:pPr lvl="0">
              <a:defRPr/>
            </a:pPr>
            <a:r>
              <a:rPr lang="ko-KR" altLang="en-US" dirty="0" smtClean="0"/>
              <a:t>주제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자유 주제</a:t>
            </a:r>
            <a:endParaRPr lang="en-US" altLang="ko-KR" dirty="0" smtClean="0"/>
          </a:p>
          <a:p>
            <a:pPr lvl="0">
              <a:defRPr/>
            </a:pPr>
            <a:r>
              <a:rPr lang="ko-KR" altLang="en-US" dirty="0" smtClean="0"/>
              <a:t>팀 구성</a:t>
            </a:r>
            <a:r>
              <a:rPr lang="en-US" altLang="ko-KR" dirty="0" smtClean="0"/>
              <a:t>: 3~4</a:t>
            </a:r>
            <a:r>
              <a:rPr lang="ko-KR" altLang="en-US" dirty="0" smtClean="0"/>
              <a:t>인</a:t>
            </a:r>
            <a:r>
              <a:rPr lang="en-US" altLang="ko-KR" dirty="0" smtClean="0"/>
              <a:t>(</a:t>
            </a:r>
            <a:r>
              <a:rPr lang="ko-KR" altLang="en-US" dirty="0" smtClean="0"/>
              <a:t>점수는 동일</a:t>
            </a:r>
            <a:r>
              <a:rPr lang="en-US" altLang="ko-KR" dirty="0" smtClean="0"/>
              <a:t>) </a:t>
            </a:r>
          </a:p>
          <a:p>
            <a:pPr lvl="1">
              <a:defRPr/>
            </a:pPr>
            <a:r>
              <a:rPr lang="ko-KR" altLang="en-US" dirty="0" smtClean="0"/>
              <a:t>반드시 같은 분반에서 팀을 구성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팀이 구성된 경우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</a:t>
            </a:r>
            <a:r>
              <a:rPr lang="ko-KR" altLang="en-US" dirty="0" smtClean="0"/>
              <a:t>질의응답 게시판의 댓글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1</a:t>
            </a:r>
            <a:r>
              <a:rPr lang="ko-KR" altLang="en-US" dirty="0" smtClean="0"/>
              <a:t>인</a:t>
            </a:r>
            <a:r>
              <a:rPr lang="en-US" altLang="ko-KR" dirty="0" smtClean="0"/>
              <a:t>, 2</a:t>
            </a:r>
            <a:r>
              <a:rPr lang="ko-KR" altLang="en-US" dirty="0" smtClean="0"/>
              <a:t>인일 경우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en-US" altLang="ko-KR" dirty="0" smtClean="0">
                <a:hlinkClick r:id="rId2"/>
              </a:rPr>
              <a:t>sungryul@kumoh.ac.kr</a:t>
            </a:r>
            <a:r>
              <a:rPr lang="ko-KR" altLang="en-US" dirty="0" smtClean="0">
                <a:hlinkClick r:id="rId2"/>
              </a:rPr>
              <a:t>로</a:t>
            </a:r>
            <a:r>
              <a:rPr lang="ko-KR" altLang="en-US" dirty="0" smtClean="0"/>
              <a:t> 메일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메일 받은 순서대로 조 배정</a:t>
            </a:r>
            <a:r>
              <a:rPr lang="en-US" altLang="ko-KR" dirty="0" smtClean="0"/>
              <a:t>)</a:t>
            </a:r>
          </a:p>
          <a:p>
            <a:pPr lvl="1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댓글 혹은 메일은 </a:t>
            </a:r>
            <a:r>
              <a:rPr lang="en-US" altLang="ko-KR" dirty="0" smtClean="0">
                <a:solidFill>
                  <a:srgbClr val="FF0000"/>
                </a:solidFill>
              </a:rPr>
              <a:t>5</a:t>
            </a:r>
            <a:r>
              <a:rPr lang="ko-KR" altLang="en-US" dirty="0" smtClean="0">
                <a:solidFill>
                  <a:srgbClr val="FF0000"/>
                </a:solidFill>
              </a:rPr>
              <a:t>월 </a:t>
            </a:r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ko-KR" altLang="en-US" dirty="0" smtClean="0">
                <a:solidFill>
                  <a:srgbClr val="FF0000"/>
                </a:solidFill>
              </a:rPr>
              <a:t>일 자정까지 반드시 작성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0">
              <a:defRPr/>
            </a:pP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  <a:p>
            <a:pPr marL="0" lvl="0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9144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/>
              <a:t>요구사항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b="1" dirty="0" smtClean="0"/>
              <a:t>Front-End</a:t>
            </a:r>
          </a:p>
          <a:p>
            <a:pPr lvl="1">
              <a:defRPr/>
            </a:pPr>
            <a:r>
              <a:rPr lang="ko-KR" altLang="en-US" dirty="0" err="1" smtClean="0"/>
              <a:t>반응형웹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모바일 </a:t>
            </a:r>
            <a:r>
              <a:rPr lang="en-US" altLang="ko-KR" dirty="0" smtClean="0"/>
              <a:t>first</a:t>
            </a:r>
            <a:r>
              <a:rPr lang="ko-KR" altLang="en-US" dirty="0" smtClean="0"/>
              <a:t>로 디자인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 smtClean="0"/>
              <a:t>flexbox</a:t>
            </a:r>
            <a:r>
              <a:rPr lang="ko-KR" altLang="en-US" dirty="0" smtClean="0"/>
              <a:t>만을 이용하며 </a:t>
            </a:r>
            <a:r>
              <a:rPr lang="en-US" altLang="ko-KR" dirty="0" smtClean="0"/>
              <a:t>bootstrap</a:t>
            </a:r>
            <a:r>
              <a:rPr lang="ko-KR" altLang="en-US" dirty="0" smtClean="0"/>
              <a:t>및 다른 라이브러리 사용 금지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가로 </a:t>
            </a:r>
            <a:r>
              <a:rPr lang="en-US" altLang="ko-KR" dirty="0" smtClean="0"/>
              <a:t>768, </a:t>
            </a:r>
            <a:r>
              <a:rPr lang="ko-KR" altLang="en-US" dirty="0" smtClean="0"/>
              <a:t>세로 </a:t>
            </a:r>
            <a:r>
              <a:rPr lang="en-US" altLang="ko-KR" dirty="0" smtClean="0"/>
              <a:t>1024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변형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페이지는 최소 </a:t>
            </a:r>
            <a:r>
              <a:rPr lang="en-US" altLang="ko-KR" dirty="0" smtClean="0"/>
              <a:t>4</a:t>
            </a:r>
            <a:r>
              <a:rPr lang="ko-KR" altLang="en-US" dirty="0" smtClean="0"/>
              <a:t>페이지</a:t>
            </a:r>
            <a:r>
              <a:rPr lang="en-US" altLang="ko-KR" dirty="0" smtClean="0"/>
              <a:t>(1</a:t>
            </a:r>
            <a:r>
              <a:rPr lang="ko-KR" altLang="en-US" dirty="0" smtClean="0"/>
              <a:t>인당 </a:t>
            </a:r>
            <a:r>
              <a:rPr lang="en-US" altLang="ko-KR" dirty="0" smtClean="0"/>
              <a:t>1</a:t>
            </a:r>
            <a:r>
              <a:rPr lang="ko-KR" altLang="en-US" dirty="0" smtClean="0"/>
              <a:t>페이지 정도는 만들어야 함</a:t>
            </a:r>
            <a:r>
              <a:rPr lang="en-US" altLang="ko-KR" dirty="0" smtClean="0"/>
              <a:t>,3</a:t>
            </a:r>
            <a:r>
              <a:rPr lang="ko-KR" altLang="en-US" dirty="0" smtClean="0"/>
              <a:t>인 팀도 </a:t>
            </a:r>
            <a:r>
              <a:rPr lang="en-US" altLang="ko-KR" dirty="0" smtClean="0"/>
              <a:t>4</a:t>
            </a:r>
            <a:r>
              <a:rPr lang="ko-KR" altLang="en-US" dirty="0" smtClean="0"/>
              <a:t>페이지 이상</a:t>
            </a:r>
            <a:r>
              <a:rPr lang="en-US" altLang="ko-KR" dirty="0" smtClean="0"/>
              <a:t>)</a:t>
            </a:r>
          </a:p>
          <a:p>
            <a:pPr lvl="2">
              <a:defRPr/>
            </a:pPr>
            <a:r>
              <a:rPr lang="ko-KR" altLang="en-US" dirty="0" smtClean="0"/>
              <a:t>변형이 일어날 때 요구사항</a:t>
            </a:r>
            <a:endParaRPr lang="en-US" altLang="ko-KR" dirty="0" smtClean="0"/>
          </a:p>
          <a:p>
            <a:pPr marL="1371600" lvl="3" indent="0">
              <a:buNone/>
              <a:defRPr/>
            </a:pPr>
            <a:r>
              <a:rPr lang="en-US" altLang="ko-KR" dirty="0" smtClean="0"/>
              <a:t>1. </a:t>
            </a:r>
            <a:r>
              <a:rPr lang="en-US" altLang="ko-KR" dirty="0" err="1" smtClean="0"/>
              <a:t>display:none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display:block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</a:t>
            </a:r>
            <a:r>
              <a:rPr lang="ko-KR" altLang="en-US" dirty="0" smtClean="0"/>
              <a:t>보여지고 </a:t>
            </a:r>
            <a:r>
              <a:rPr lang="ko-KR" altLang="en-US" dirty="0" err="1" smtClean="0"/>
              <a:t>안보여지고</a:t>
            </a:r>
            <a:r>
              <a:rPr lang="en-US" altLang="ko-KR" dirty="0" smtClean="0"/>
              <a:t>)</a:t>
            </a:r>
          </a:p>
          <a:p>
            <a:pPr marL="1371600" lvl="3" indent="0">
              <a:buNone/>
              <a:defRPr/>
            </a:pPr>
            <a:r>
              <a:rPr lang="en-US" altLang="ko-KR" dirty="0" smtClean="0"/>
              <a:t>2. </a:t>
            </a:r>
            <a:r>
              <a:rPr lang="ko-KR" altLang="en-US" dirty="0" smtClean="0"/>
              <a:t>세로 배치에서 가로 배치로 변경되어야 함</a:t>
            </a:r>
            <a:endParaRPr lang="en-US" altLang="ko-KR" dirty="0" smtClean="0"/>
          </a:p>
          <a:p>
            <a:pPr marL="1371600" lvl="3" indent="0">
              <a:buNone/>
              <a:defRPr/>
            </a:pPr>
            <a:r>
              <a:rPr lang="en-US" altLang="ko-KR" dirty="0" smtClean="0"/>
              <a:t>3. </a:t>
            </a:r>
            <a:r>
              <a:rPr lang="ko-KR" altLang="en-US" dirty="0" smtClean="0"/>
              <a:t>페이지는 메뉴를 포함하고 있어야 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작은 화면에서 </a:t>
            </a:r>
            <a:r>
              <a:rPr lang="en-US" altLang="ko-KR" dirty="0" smtClean="0"/>
              <a:t>accordion </a:t>
            </a:r>
            <a:r>
              <a:rPr lang="ko-KR" altLang="en-US" dirty="0" smtClean="0"/>
              <a:t>혹은 </a:t>
            </a:r>
            <a:r>
              <a:rPr lang="en-US" altLang="ko-KR" dirty="0" smtClean="0"/>
              <a:t>sidebar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pPr lvl="3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marL="0" lvl="0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451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/>
              <a:t>요구사항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b="1" dirty="0" smtClean="0"/>
              <a:t>Front-End</a:t>
            </a:r>
          </a:p>
          <a:p>
            <a:pPr lvl="1">
              <a:defRPr/>
            </a:pPr>
            <a:r>
              <a:rPr lang="ko-KR" altLang="en-US" dirty="0" smtClean="0"/>
              <a:t>자바스크립트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 err="1" smtClean="0"/>
              <a:t>jquery</a:t>
            </a:r>
            <a:r>
              <a:rPr lang="ko-KR" altLang="en-US" dirty="0" smtClean="0"/>
              <a:t>와 같은 라이브러리 사용금지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순수 자바스크립트</a:t>
            </a:r>
            <a:r>
              <a:rPr lang="en-US" altLang="ko-KR" dirty="0" smtClean="0"/>
              <a:t>(</a:t>
            </a:r>
            <a:r>
              <a:rPr lang="ko-KR" altLang="en-US" dirty="0" smtClean="0"/>
              <a:t>바닐라 자바스크립트</a:t>
            </a:r>
            <a:r>
              <a:rPr lang="en-US" altLang="ko-KR" dirty="0" smtClean="0"/>
              <a:t>)</a:t>
            </a:r>
            <a:r>
              <a:rPr lang="ko-KR" altLang="en-US" dirty="0" smtClean="0"/>
              <a:t>만을 이용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요구사항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두 번째 과제와 같이 요소의 추가 삭제 기능 포함</a:t>
            </a:r>
            <a:r>
              <a:rPr lang="en-US" altLang="ko-KR" dirty="0" smtClean="0"/>
              <a:t>(</a:t>
            </a:r>
            <a:r>
              <a:rPr lang="ko-KR" altLang="en-US" dirty="0" smtClean="0"/>
              <a:t>개수는 상관 없음</a:t>
            </a:r>
            <a:r>
              <a:rPr lang="en-US" altLang="ko-KR" dirty="0" smtClean="0"/>
              <a:t>)</a:t>
            </a:r>
          </a:p>
          <a:p>
            <a:pPr lvl="3">
              <a:defRPr/>
            </a:pPr>
            <a:r>
              <a:rPr lang="ko-KR" altLang="en-US" dirty="0" smtClean="0"/>
              <a:t>서로 다른 종류의 이벤트 등록 최소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</a:t>
            </a:r>
            <a:r>
              <a:rPr lang="en-US" altLang="ko-KR" dirty="0" smtClean="0"/>
              <a:t>(ex) </a:t>
            </a:r>
            <a:r>
              <a:rPr lang="en-US" dirty="0" err="1" smtClean="0"/>
              <a:t>onmouseover</a:t>
            </a:r>
            <a:r>
              <a:rPr lang="en-US" altLang="ko-KR" dirty="0" smtClean="0"/>
              <a:t>, </a:t>
            </a:r>
            <a:r>
              <a:rPr lang="en-US" dirty="0" err="1" smtClean="0"/>
              <a:t>ondbclick</a:t>
            </a:r>
            <a:r>
              <a:rPr lang="en-US" altLang="ko-KR" dirty="0" smtClean="0"/>
              <a:t>, </a:t>
            </a:r>
            <a:r>
              <a:rPr lang="en-US" dirty="0" err="1" smtClean="0"/>
              <a:t>onfucus</a:t>
            </a:r>
            <a:r>
              <a:rPr lang="en-US" altLang="ko-KR" dirty="0" smtClean="0"/>
              <a:t>). </a:t>
            </a:r>
            <a:r>
              <a:rPr lang="ko-KR" altLang="en-US" dirty="0" smtClean="0"/>
              <a:t>단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onload</a:t>
            </a:r>
            <a:r>
              <a:rPr lang="ko-KR" altLang="en-US" dirty="0" smtClean="0"/>
              <a:t>는 제외</a:t>
            </a: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marL="0" lvl="0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006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/>
              <a:t>요구사항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b="1" dirty="0" smtClean="0"/>
              <a:t>Back-End</a:t>
            </a:r>
          </a:p>
          <a:p>
            <a:pPr lvl="1">
              <a:defRPr/>
            </a:pPr>
            <a:r>
              <a:rPr lang="en-US" altLang="ko-KR" dirty="0" smtClean="0"/>
              <a:t>MVC</a:t>
            </a:r>
            <a:r>
              <a:rPr lang="ko-KR" altLang="en-US" dirty="0" smtClean="0"/>
              <a:t>패턴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 smtClean="0"/>
              <a:t>MVC</a:t>
            </a:r>
            <a:r>
              <a:rPr lang="ko-KR" altLang="en-US" dirty="0" smtClean="0"/>
              <a:t>패턴으로 구현되었는가</a:t>
            </a:r>
            <a:r>
              <a:rPr lang="en-US" altLang="ko-KR" dirty="0" smtClean="0"/>
              <a:t>?</a:t>
            </a: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테이블 수 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의미 있는 테이블이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 이상인가</a:t>
            </a:r>
            <a:r>
              <a:rPr lang="en-US" altLang="ko-KR" dirty="0" smtClean="0"/>
              <a:t>?</a:t>
            </a: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게시판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 smtClean="0"/>
              <a:t>Pagenation</a:t>
            </a:r>
            <a:r>
              <a:rPr lang="ko-KR" altLang="en-US" dirty="0" smtClean="0"/>
              <a:t>이 구현된 테이블을 가지고 있는가</a:t>
            </a: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로그인 처리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로그인한 회원의 화면이 </a:t>
            </a:r>
            <a:r>
              <a:rPr lang="ko-KR" altLang="en-US" dirty="0" err="1" smtClean="0"/>
              <a:t>일반회원가</a:t>
            </a:r>
            <a:r>
              <a:rPr lang="ko-KR" altLang="en-US" dirty="0" smtClean="0"/>
              <a:t> 다른가</a:t>
            </a:r>
            <a:r>
              <a:rPr lang="en-US" altLang="ko-KR" dirty="0" smtClean="0"/>
              <a:t>?(</a:t>
            </a:r>
            <a:r>
              <a:rPr lang="ko-KR" altLang="en-US" dirty="0" err="1" smtClean="0"/>
              <a:t>세션관리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marL="0" lvl="0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860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smtClean="0"/>
              <a:t>평가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marL="0" lvl="0" indent="0">
              <a:buNone/>
              <a:defRPr/>
            </a:pP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489390"/>
              </p:ext>
            </p:extLst>
          </p:nvPr>
        </p:nvGraphicFramePr>
        <p:xfrm>
          <a:off x="692952" y="882786"/>
          <a:ext cx="9206421" cy="368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259">
                  <a:extLst>
                    <a:ext uri="{9D8B030D-6E8A-4147-A177-3AD203B41FA5}">
                      <a16:colId xmlns:a16="http://schemas.microsoft.com/office/drawing/2014/main" val="3912328189"/>
                    </a:ext>
                  </a:extLst>
                </a:gridCol>
                <a:gridCol w="6486754">
                  <a:extLst>
                    <a:ext uri="{9D8B030D-6E8A-4147-A177-3AD203B41FA5}">
                      <a16:colId xmlns:a16="http://schemas.microsoft.com/office/drawing/2014/main" val="17826046"/>
                    </a:ext>
                  </a:extLst>
                </a:gridCol>
                <a:gridCol w="1525408">
                  <a:extLst>
                    <a:ext uri="{9D8B030D-6E8A-4147-A177-3AD203B41FA5}">
                      <a16:colId xmlns:a16="http://schemas.microsoft.com/office/drawing/2014/main" val="385995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순번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배점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47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display:none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display:block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사용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세로 배치에서 가로 배치로 변경되어야 함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73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accordion </a:t>
                      </a:r>
                      <a:r>
                        <a:rPr lang="ko-KR" altLang="en-US" dirty="0" smtClean="0"/>
                        <a:t>혹은 </a:t>
                      </a:r>
                      <a:r>
                        <a:rPr lang="en-US" altLang="ko-KR" dirty="0" smtClean="0"/>
                        <a:t>sidebar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8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요소의 추가 삭제 기능 포함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276415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서로 다른 종류의 이벤트 등록 최소 </a:t>
                      </a:r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개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72544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MVC</a:t>
                      </a:r>
                      <a:r>
                        <a:rPr lang="ko-KR" altLang="en-US" dirty="0" smtClean="0"/>
                        <a:t>패턴으로 구현되었는가</a:t>
                      </a:r>
                      <a:r>
                        <a:rPr lang="en-US" altLang="ko-KR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97552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의미 있는 테이블이 </a:t>
                      </a:r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개 이상인가</a:t>
                      </a:r>
                      <a:r>
                        <a:rPr lang="en-US" altLang="ko-KR" dirty="0" smtClean="0"/>
                        <a:t>?(</a:t>
                      </a:r>
                      <a:r>
                        <a:rPr lang="ko-KR" altLang="en-US" dirty="0" smtClean="0"/>
                        <a:t>테이블이 사용되고 있는가</a:t>
                      </a:r>
                      <a:r>
                        <a:rPr lang="en-US" altLang="ko-KR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4,2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5819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Pagenation</a:t>
                      </a:r>
                      <a:r>
                        <a:rPr lang="ko-KR" altLang="en-US" dirty="0" smtClean="0"/>
                        <a:t>이 구현된 테이블을 가지고 있는가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83236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로그인한 회원의 화면이 </a:t>
                      </a:r>
                      <a:r>
                        <a:rPr lang="ko-KR" altLang="en-US" dirty="0" err="1" smtClean="0"/>
                        <a:t>일반회원가</a:t>
                      </a:r>
                      <a:r>
                        <a:rPr lang="ko-KR" altLang="en-US" dirty="0" smtClean="0"/>
                        <a:t> 다른가</a:t>
                      </a:r>
                      <a:r>
                        <a:rPr lang="en-US" altLang="ko-KR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8539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2952" y="4898004"/>
            <a:ext cx="5989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요구사항만 만족할 경우 점수를 부여할 예정이니</a:t>
            </a:r>
            <a:endParaRPr lang="en-US" altLang="ko-KR" dirty="0" smtClean="0"/>
          </a:p>
          <a:p>
            <a:r>
              <a:rPr lang="ko-KR" altLang="en-US" dirty="0" smtClean="0"/>
              <a:t>프로그래밍이 어려운 팀도 최소한의 기능만 구현해봅시다</a:t>
            </a:r>
            <a:r>
              <a:rPr lang="en-US" altLang="ko-KR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39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11080</TotalTime>
  <Words>785</Words>
  <Application>Microsoft Office PowerPoint</Application>
  <PresentationFormat>와이드스크린</PresentationFormat>
  <Paragraphs>175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Arial</vt:lpstr>
      <vt:lpstr>Calibri</vt:lpstr>
      <vt:lpstr>Calibri Light</vt:lpstr>
      <vt:lpstr>Wingdings</vt:lpstr>
      <vt:lpstr>Office 테마</vt:lpstr>
      <vt:lpstr>채점결과</vt:lpstr>
      <vt:lpstr>JS과제 (구매 페이지 만들기)</vt:lpstr>
      <vt:lpstr>요소 조작하기(DOM강의자료에 과제 수행을 위한 정보가 있음)</vt:lpstr>
      <vt:lpstr>JS과제</vt:lpstr>
      <vt:lpstr>JS과제</vt:lpstr>
      <vt:lpstr>1. open</vt:lpstr>
      <vt:lpstr>2. carousel</vt:lpstr>
      <vt:lpstr>3. 상품 상세</vt:lpstr>
      <vt:lpstr>3. 상품 상세</vt:lpstr>
      <vt:lpstr>3. 상품 상세</vt:lpstr>
      <vt:lpstr>3. 상품 상세</vt:lpstr>
      <vt:lpstr>힌트</vt:lpstr>
      <vt:lpstr>강의운영</vt:lpstr>
      <vt:lpstr>텀프로젝트</vt:lpstr>
      <vt:lpstr>텀프로젝트 개요</vt:lpstr>
      <vt:lpstr>요구사항</vt:lpstr>
      <vt:lpstr>요구사항</vt:lpstr>
      <vt:lpstr>요구사항</vt:lpstr>
      <vt:lpstr>평가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3669</cp:revision>
  <cp:lastPrinted>2020-07-17T07:14:23Z</cp:lastPrinted>
  <dcterms:created xsi:type="dcterms:W3CDTF">2020-03-06T01:35:43Z</dcterms:created>
  <dcterms:modified xsi:type="dcterms:W3CDTF">2021-04-27T23:30:48Z</dcterms:modified>
  <cp:version>1000.0000.01</cp:version>
</cp:coreProperties>
</file>