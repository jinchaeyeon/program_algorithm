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302" r:id="rId11"/>
    <p:sldId id="290" r:id="rId12"/>
    <p:sldId id="291" r:id="rId13"/>
    <p:sldId id="292" r:id="rId14"/>
    <p:sldId id="293" r:id="rId15"/>
    <p:sldId id="295" r:id="rId16"/>
    <p:sldId id="296" r:id="rId17"/>
    <p:sldId id="297" r:id="rId18"/>
    <p:sldId id="294" r:id="rId19"/>
    <p:sldId id="298" r:id="rId20"/>
    <p:sldId id="299" r:id="rId21"/>
    <p:sldId id="300" r:id="rId22"/>
    <p:sldId id="301" r:id="rId23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1.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err="1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마이크로컨트롤러</a:t>
            </a:r>
            <a:r>
              <a:rPr lang="en-US" altLang="ko-KR" sz="4400" dirty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?!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smtClean="0"/>
              <a:t>마이크로컨트롤러</a:t>
            </a:r>
            <a:endParaRPr lang="ko-KR" altLang="en-US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17033"/>
            <a:ext cx="3024336" cy="190546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125" y="1700808"/>
            <a:ext cx="1888087" cy="131652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467" y="3017328"/>
            <a:ext cx="1872208" cy="1115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909" y="430704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마이크로컨트롤러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35268" y="5661248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마이크로컨트롤러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보드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940152" y="2420888"/>
            <a:ext cx="1008336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724128" y="4167597"/>
            <a:ext cx="576064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꺾인 연결선 8"/>
          <p:cNvCxnSpPr>
            <a:stCxn id="4" idx="3"/>
            <a:endCxn id="6" idx="1"/>
          </p:cNvCxnSpPr>
          <p:nvPr/>
        </p:nvCxnSpPr>
        <p:spPr>
          <a:xfrm flipV="1">
            <a:off x="3113675" y="2636912"/>
            <a:ext cx="2826477" cy="93796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4" idx="3"/>
            <a:endCxn id="10" idx="1"/>
          </p:cNvCxnSpPr>
          <p:nvPr/>
        </p:nvCxnSpPr>
        <p:spPr>
          <a:xfrm>
            <a:off x="3113675" y="3574877"/>
            <a:ext cx="2610453" cy="808744"/>
          </a:xfrm>
          <a:prstGeom prst="bentConnector3">
            <a:avLst>
              <a:gd name="adj1" fmla="val 5426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칩 위의 컴퓨터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대부분의 컴퓨터 본체의 기능을 </a:t>
            </a:r>
            <a:r>
              <a:rPr lang="ko-KR" altLang="en-US" dirty="0"/>
              <a:t>하나의 칩 위에 </a:t>
            </a:r>
            <a:r>
              <a:rPr lang="ko-KR" altLang="en-US" dirty="0" smtClean="0"/>
              <a:t>구현한 것</a:t>
            </a:r>
            <a:endParaRPr lang="en-US" altLang="ko-KR" dirty="0" smtClean="0"/>
          </a:p>
          <a:p>
            <a:r>
              <a:rPr lang="ko-KR" altLang="en-US" dirty="0" smtClean="0"/>
              <a:t>컴퓨터 본체에 해당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메인보드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일부</a:t>
            </a:r>
            <a:r>
              <a:rPr lang="en-US" altLang="ko-KR" dirty="0" smtClean="0"/>
              <a:t> HDD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r>
              <a:rPr lang="ko-KR" altLang="en-US" dirty="0" smtClean="0"/>
              <a:t>전원만 주어지면 컴퓨터로 동작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ATmega328(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경우 </a:t>
            </a:r>
            <a:r>
              <a:rPr lang="en-US" altLang="ko-KR" dirty="0" smtClean="0"/>
              <a:t>5V </a:t>
            </a:r>
            <a:r>
              <a:rPr lang="ko-KR" altLang="en-US" dirty="0" smtClean="0"/>
              <a:t>전원 사용</a:t>
            </a:r>
            <a:endParaRPr lang="en-US" altLang="ko-KR" dirty="0" smtClean="0"/>
          </a:p>
          <a:p>
            <a:r>
              <a:rPr lang="ko-KR" altLang="en-US" dirty="0" smtClean="0"/>
              <a:t>입출력 장치를 연결함으로써 완전한 컴퓨터로 동작할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다만 데스크톱 컴퓨터와는 사용 목적이 다르므로 직접적인 비교는 무의미함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마이크로컨트롤러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492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ATmega328 : </a:t>
            </a:r>
            <a:r>
              <a:rPr lang="ko-KR" altLang="en-US" dirty="0" err="1" smtClean="0"/>
              <a:t>마이크로컨트롤러</a:t>
            </a:r>
            <a:endParaRPr lang="en-US" altLang="ko-KR" dirty="0"/>
          </a:p>
          <a:p>
            <a:r>
              <a:rPr lang="en-US" altLang="ko-KR" dirty="0" smtClean="0"/>
              <a:t>AVR(</a:t>
            </a:r>
            <a:r>
              <a:rPr lang="en-US" altLang="ko-KR" b="1" dirty="0" smtClean="0"/>
              <a:t>A</a:t>
            </a:r>
            <a:r>
              <a:rPr lang="en-US" altLang="ko-KR" dirty="0" smtClean="0"/>
              <a:t>lf-</a:t>
            </a:r>
            <a:r>
              <a:rPr lang="en-US" altLang="ko-KR" dirty="0" err="1" smtClean="0"/>
              <a:t>Egil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Bogen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V</a:t>
            </a:r>
            <a:r>
              <a:rPr lang="en-US" altLang="ko-KR" dirty="0" smtClean="0"/>
              <a:t>egard </a:t>
            </a:r>
            <a:r>
              <a:rPr lang="en-US" altLang="ko-KR" dirty="0" err="1" smtClean="0"/>
              <a:t>Wollan</a:t>
            </a:r>
            <a:r>
              <a:rPr lang="en-US" altLang="ko-KR" dirty="0" smtClean="0"/>
              <a:t> </a:t>
            </a:r>
            <a:r>
              <a:rPr lang="en-US" altLang="ko-KR" b="1" dirty="0" smtClean="0"/>
              <a:t>R</a:t>
            </a:r>
            <a:r>
              <a:rPr lang="en-US" altLang="ko-KR" dirty="0" smtClean="0"/>
              <a:t>ISC) : ATmega328</a:t>
            </a:r>
            <a:r>
              <a:rPr lang="ko-KR" altLang="en-US" dirty="0" smtClean="0"/>
              <a:t>을 포함하는 </a:t>
            </a:r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시리즈</a:t>
            </a:r>
            <a:endParaRPr lang="en-US" altLang="ko-KR" dirty="0" smtClean="0"/>
          </a:p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r>
              <a:rPr lang="en-US" altLang="ko-KR" dirty="0" smtClean="0"/>
              <a:t> : ATmega328 </a:t>
            </a:r>
            <a:r>
              <a:rPr lang="ko-KR" altLang="en-US" dirty="0" err="1" smtClean="0"/>
              <a:t>마이크로컨트롤러를</a:t>
            </a:r>
            <a:r>
              <a:rPr lang="ko-KR" altLang="en-US" dirty="0" smtClean="0"/>
              <a:t> 사용하여 만들어진 </a:t>
            </a:r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보드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ATmega328? AVR</a:t>
            </a:r>
            <a:r>
              <a:rPr lang="en-US" altLang="ko-KR" dirty="0" smtClean="0"/>
              <a:t>?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r>
              <a:rPr lang="en-US" altLang="ko-KR" dirty="0" smtClean="0"/>
              <a:t>?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E0EEF5"/>
              </a:clrFrom>
              <a:clrTo>
                <a:srgbClr val="E0EE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3764" y="3573016"/>
            <a:ext cx="6038095" cy="2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5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마이크로프로세서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중앙처리장치</a:t>
            </a:r>
            <a:r>
              <a:rPr lang="en-US" altLang="ko-KR" dirty="0" smtClean="0"/>
              <a:t>(CPU)</a:t>
            </a:r>
            <a:r>
              <a:rPr lang="ko-KR" altLang="en-US" dirty="0" smtClean="0"/>
              <a:t>를 하나의 칩으로 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1969</a:t>
            </a:r>
            <a:r>
              <a:rPr lang="ko-KR" altLang="en-US" dirty="0" smtClean="0"/>
              <a:t>년 인텔의 </a:t>
            </a:r>
            <a:r>
              <a:rPr lang="en-US" altLang="ko-KR" dirty="0" smtClean="0"/>
              <a:t>4</a:t>
            </a:r>
            <a:r>
              <a:rPr lang="ko-KR" altLang="en-US" dirty="0" smtClean="0"/>
              <a:t>비트 마이크로프로세서인 </a:t>
            </a:r>
            <a:r>
              <a:rPr lang="en-US" altLang="ko-KR" dirty="0" smtClean="0"/>
              <a:t>4004</a:t>
            </a:r>
            <a:r>
              <a:rPr lang="ko-KR" altLang="en-US" dirty="0" smtClean="0"/>
              <a:t>에서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무어의 법칙에 의해 기하급수적으로 성능 향상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최신의 인텔 마이크로프로세서는 </a:t>
            </a:r>
            <a:r>
              <a:rPr lang="en-US" altLang="ko-KR" dirty="0" smtClean="0"/>
              <a:t>4004</a:t>
            </a:r>
            <a:r>
              <a:rPr lang="ko-KR" altLang="en-US" dirty="0" smtClean="0"/>
              <a:t>에 비해 약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만 배의 트랜지스터가 사용</a:t>
            </a:r>
            <a:endParaRPr lang="en-US" altLang="ko-KR" dirty="0" smtClean="0"/>
          </a:p>
          <a:p>
            <a:r>
              <a:rPr lang="ko-KR" altLang="en-US" dirty="0" err="1" smtClean="0"/>
              <a:t>마이크로컨트롤러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CPU +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 + HDD </a:t>
            </a:r>
            <a:r>
              <a:rPr lang="en-US" altLang="ko-KR" dirty="0"/>
              <a:t>(</a:t>
            </a:r>
            <a:r>
              <a:rPr lang="ko-KR" altLang="en-US" dirty="0" smtClean="0"/>
              <a:t>일부 기능</a:t>
            </a:r>
            <a:r>
              <a:rPr lang="en-US" altLang="ko-KR" dirty="0" smtClean="0"/>
              <a:t>) + </a:t>
            </a:r>
            <a:r>
              <a:rPr lang="ko-KR" altLang="en-US" dirty="0" smtClean="0"/>
              <a:t>입출력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인터페이스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칩 위의 컴퓨터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특수 목적용으로 사용되는 마이크로프로세서의 한 종류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제어장치</a:t>
            </a:r>
            <a:r>
              <a:rPr lang="en-US" altLang="ko-KR" dirty="0" smtClean="0"/>
              <a:t>(</a:t>
            </a:r>
            <a:r>
              <a:rPr lang="ko-KR" altLang="en-US" dirty="0" smtClean="0"/>
              <a:t>컨트롤러</a:t>
            </a:r>
            <a:r>
              <a:rPr lang="en-US" altLang="ko-KR" dirty="0" smtClean="0"/>
              <a:t>) </a:t>
            </a:r>
            <a:r>
              <a:rPr lang="ko-KR" altLang="en-US" dirty="0" smtClean="0"/>
              <a:t>제작을 위해 사용되는 작은</a:t>
            </a:r>
            <a:r>
              <a:rPr lang="en-US" altLang="ko-KR" dirty="0" smtClean="0"/>
              <a:t>(</a:t>
            </a:r>
            <a:r>
              <a:rPr lang="ko-KR" altLang="en-US" dirty="0" smtClean="0"/>
              <a:t>마이크로</a:t>
            </a:r>
            <a:r>
              <a:rPr lang="en-US" altLang="ko-KR" dirty="0" smtClean="0"/>
              <a:t>) </a:t>
            </a:r>
            <a:r>
              <a:rPr lang="ko-KR" altLang="en-US" dirty="0" smtClean="0"/>
              <a:t>컴퓨터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9512" y="290042"/>
            <a:ext cx="8856984" cy="618678"/>
          </a:xfrm>
        </p:spPr>
        <p:txBody>
          <a:bodyPr/>
          <a:lstStyle/>
          <a:p>
            <a:r>
              <a:rPr lang="ko-KR" altLang="en-US" dirty="0" smtClean="0"/>
              <a:t>마이크로프로세서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uP</a:t>
            </a:r>
            <a:r>
              <a:rPr lang="en-US" altLang="ko-KR" dirty="0" smtClean="0"/>
              <a:t>) vs </a:t>
            </a:r>
            <a:r>
              <a:rPr lang="ko-KR" altLang="en-US" dirty="0" err="1" smtClean="0"/>
              <a:t>마이크로컨트롤러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uC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145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80" y="1772816"/>
            <a:ext cx="5673830" cy="381545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컴퓨터의 구조</a:t>
            </a:r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2427194" y="1559859"/>
            <a:ext cx="3798794" cy="4242547"/>
          </a:xfrm>
          <a:custGeom>
            <a:avLst/>
            <a:gdLst>
              <a:gd name="connsiteX0" fmla="*/ 793377 w 3798794"/>
              <a:gd name="connsiteY0" fmla="*/ 26894 h 4242547"/>
              <a:gd name="connsiteX1" fmla="*/ 793377 w 3798794"/>
              <a:gd name="connsiteY1" fmla="*/ 2918012 h 4242547"/>
              <a:gd name="connsiteX2" fmla="*/ 0 w 3798794"/>
              <a:gd name="connsiteY2" fmla="*/ 2918012 h 4242547"/>
              <a:gd name="connsiteX3" fmla="*/ 0 w 3798794"/>
              <a:gd name="connsiteY3" fmla="*/ 4242547 h 4242547"/>
              <a:gd name="connsiteX4" fmla="*/ 3798794 w 3798794"/>
              <a:gd name="connsiteY4" fmla="*/ 4242547 h 4242547"/>
              <a:gd name="connsiteX5" fmla="*/ 3798794 w 3798794"/>
              <a:gd name="connsiteY5" fmla="*/ 0 h 4242547"/>
              <a:gd name="connsiteX6" fmla="*/ 793377 w 3798794"/>
              <a:gd name="connsiteY6" fmla="*/ 26894 h 4242547"/>
              <a:gd name="connsiteX0" fmla="*/ 783852 w 3798794"/>
              <a:gd name="connsiteY0" fmla="*/ 11019 h 4242547"/>
              <a:gd name="connsiteX1" fmla="*/ 793377 w 3798794"/>
              <a:gd name="connsiteY1" fmla="*/ 2918012 h 4242547"/>
              <a:gd name="connsiteX2" fmla="*/ 0 w 3798794"/>
              <a:gd name="connsiteY2" fmla="*/ 2918012 h 4242547"/>
              <a:gd name="connsiteX3" fmla="*/ 0 w 3798794"/>
              <a:gd name="connsiteY3" fmla="*/ 4242547 h 4242547"/>
              <a:gd name="connsiteX4" fmla="*/ 3798794 w 3798794"/>
              <a:gd name="connsiteY4" fmla="*/ 4242547 h 4242547"/>
              <a:gd name="connsiteX5" fmla="*/ 3798794 w 3798794"/>
              <a:gd name="connsiteY5" fmla="*/ 0 h 4242547"/>
              <a:gd name="connsiteX6" fmla="*/ 783852 w 3798794"/>
              <a:gd name="connsiteY6" fmla="*/ 11019 h 424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98794" h="4242547">
                <a:moveTo>
                  <a:pt x="783852" y="11019"/>
                </a:moveTo>
                <a:lnTo>
                  <a:pt x="793377" y="2918012"/>
                </a:lnTo>
                <a:lnTo>
                  <a:pt x="0" y="2918012"/>
                </a:lnTo>
                <a:lnTo>
                  <a:pt x="0" y="4242547"/>
                </a:lnTo>
                <a:lnTo>
                  <a:pt x="3798794" y="4242547"/>
                </a:lnTo>
                <a:lnTo>
                  <a:pt x="3798794" y="0"/>
                </a:lnTo>
                <a:lnTo>
                  <a:pt x="783852" y="11019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228184" y="13609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마이크로컨트롤러</a:t>
            </a:r>
            <a:endParaRPr lang="ko-KR" altLang="en-US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017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 smtClean="0"/>
              <a:t>마이크로컨트롤러는</a:t>
            </a:r>
            <a:r>
              <a:rPr lang="ko-KR" altLang="en-US" sz="2000" dirty="0" smtClean="0"/>
              <a:t> 특수 목적용으로 만들어진 컴퓨터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데스크톱 컴퓨터와 비교할 때 낮은 성능과 작은 메모리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초기 데스크톱 컴퓨터를 위한 </a:t>
            </a:r>
            <a:r>
              <a:rPr lang="en-US" altLang="ko-KR" sz="2000" dirty="0" err="1" smtClean="0"/>
              <a:t>uP</a:t>
            </a:r>
            <a:r>
              <a:rPr lang="ko-KR" altLang="en-US" sz="2000" dirty="0" smtClean="0"/>
              <a:t>에 비해서는 우수한 성능</a:t>
            </a:r>
            <a:endParaRPr lang="en-US" altLang="ko-KR" sz="2000" dirty="0" smtClean="0"/>
          </a:p>
          <a:p>
            <a:r>
              <a:rPr lang="ko-KR" altLang="en-US" sz="2000" dirty="0" err="1" smtClean="0"/>
              <a:t>마이크로컨트롤러의</a:t>
            </a:r>
            <a:r>
              <a:rPr lang="ko-KR" altLang="en-US" sz="2000" dirty="0" smtClean="0"/>
              <a:t> 용도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작고 간단한 제어 장치 제작을 위해 사용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다른 시스템의 일부로 포함</a:t>
            </a:r>
            <a:r>
              <a:rPr lang="en-US" altLang="ko-KR" sz="2000" dirty="0" smtClean="0"/>
              <a:t>(embedded)</a:t>
            </a:r>
            <a:r>
              <a:rPr lang="ko-KR" altLang="en-US" sz="2000" dirty="0" smtClean="0"/>
              <a:t>되어 사용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목적에 맞는 다양한 종류의 제품이 존재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우노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데스크톱 컴퓨터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02" y="4365104"/>
            <a:ext cx="4007619" cy="17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2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마이크로컨트롤러</a:t>
            </a:r>
            <a:r>
              <a:rPr lang="ko-KR" altLang="en-US" dirty="0" err="1" smtClean="0"/>
              <a:t>의</a:t>
            </a:r>
            <a:r>
              <a:rPr lang="ko-KR" altLang="en-US" dirty="0" smtClean="0"/>
              <a:t> 장점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제품의 소형화 경량화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저렴한 가격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신뢰성 향상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유지 보수의 용이성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융통성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프로그램에 의해 손쉬운 기능 추가 및 변경</a:t>
            </a:r>
            <a:endParaRPr lang="en-US" altLang="ko-KR" dirty="0" smtClean="0"/>
          </a:p>
          <a:p>
            <a:r>
              <a:rPr lang="ko-KR" altLang="en-US" dirty="0" err="1" smtClean="0"/>
              <a:t>마이크로컨트롤러의</a:t>
            </a:r>
            <a:r>
              <a:rPr lang="ko-KR" altLang="en-US" dirty="0" smtClean="0"/>
              <a:t> 단점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한정된 처리 능력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한정된 </a:t>
            </a:r>
            <a:r>
              <a:rPr lang="ko-KR" altLang="en-US" dirty="0" err="1" smtClean="0"/>
              <a:t>범용성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단일 목적으로만 사용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마이크로프로세서</a:t>
            </a:r>
            <a:r>
              <a:rPr lang="en-US" altLang="ko-KR" dirty="0" smtClean="0"/>
              <a:t> vs </a:t>
            </a:r>
            <a:r>
              <a:rPr lang="ko-KR" altLang="en-US" dirty="0" err="1" smtClean="0"/>
              <a:t>마이크로컨트롤러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909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mtClean="0"/>
              <a:t>마이크로컨트롤러의</a:t>
            </a:r>
            <a:r>
              <a:rPr lang="ko-KR" altLang="en-US" dirty="0" smtClean="0"/>
              <a:t> 사용 예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02307" y="-105962"/>
            <a:ext cx="4955413" cy="8136906"/>
          </a:xfrm>
        </p:spPr>
      </p:pic>
    </p:spTree>
    <p:extLst>
      <p:ext uri="{BB962C8B-B14F-4D97-AF65-F5344CB8AC3E}">
        <p14:creationId xmlns:p14="http://schemas.microsoft.com/office/powerpoint/2010/main" val="263045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720" y="1984375"/>
            <a:ext cx="5040560" cy="397033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mtClean="0"/>
              <a:t>마이크로컨트롤러의</a:t>
            </a:r>
            <a:r>
              <a:rPr lang="ko-KR" altLang="en-US" dirty="0" smtClean="0"/>
              <a:t> 사용 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43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 smtClean="0"/>
              <a:t>마이크로컨트롤러는</a:t>
            </a:r>
            <a:r>
              <a:rPr lang="ko-KR" altLang="en-US" sz="2000" dirty="0" smtClean="0"/>
              <a:t> 하나의 칩일 뿐이다</a:t>
            </a:r>
            <a:r>
              <a:rPr lang="en-US" altLang="ko-KR" sz="2000" dirty="0" smtClean="0"/>
              <a:t>!</a:t>
            </a:r>
          </a:p>
          <a:p>
            <a:pPr lvl="1"/>
            <a:r>
              <a:rPr lang="ko-KR" altLang="en-US" sz="2000" dirty="0" smtClean="0"/>
              <a:t>최소한의 회로에서 시작하고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필요한 기능을 추가해 나가는 방법</a:t>
            </a:r>
            <a:endParaRPr lang="en-US" altLang="ko-KR" sz="2000" dirty="0" smtClean="0"/>
          </a:p>
          <a:p>
            <a:r>
              <a:rPr lang="ko-KR" altLang="en-US" sz="2000" dirty="0" smtClean="0"/>
              <a:t>전원만 주어지면 동작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16MHz </a:t>
            </a:r>
            <a:r>
              <a:rPr lang="ko-KR" altLang="en-US" sz="2000" dirty="0" err="1" smtClean="0"/>
              <a:t>클록을</a:t>
            </a:r>
            <a:r>
              <a:rPr lang="ko-KR" altLang="en-US" sz="2000" dirty="0" smtClean="0"/>
              <a:t> 사용하기 위해서는 </a:t>
            </a:r>
            <a:r>
              <a:rPr lang="ko-KR" altLang="en-US" sz="2000" dirty="0" err="1" smtClean="0"/>
              <a:t>크리스탈을</a:t>
            </a:r>
            <a:r>
              <a:rPr lang="ko-KR" altLang="en-US" sz="2000" dirty="0" smtClean="0"/>
              <a:t> 포함하는 외부 회로 필요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프로그램 업로드를 위한 장치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커넥터 필요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ISP(in system programming) </a:t>
            </a:r>
            <a:r>
              <a:rPr lang="ko-KR" altLang="en-US" sz="1800" dirty="0" smtClean="0"/>
              <a:t>장치 </a:t>
            </a:r>
            <a:r>
              <a:rPr lang="en-US" altLang="ko-KR" sz="1800" dirty="0" smtClean="0"/>
              <a:t>: AVR </a:t>
            </a:r>
            <a:r>
              <a:rPr lang="ko-KR" altLang="en-US" sz="1800" dirty="0" smtClean="0"/>
              <a:t>시리즈에서 주로 사용하는 업로드 방식 지원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USB-</a:t>
            </a:r>
            <a:r>
              <a:rPr lang="ko-KR" altLang="en-US" sz="1800" dirty="0" smtClean="0"/>
              <a:t>시리얼 변환 장치 </a:t>
            </a:r>
            <a:r>
              <a:rPr lang="en-US" altLang="ko-KR" sz="1800" dirty="0" smtClean="0"/>
              <a:t>: </a:t>
            </a:r>
            <a:r>
              <a:rPr lang="ko-KR" altLang="en-US" sz="1800" dirty="0" err="1" smtClean="0"/>
              <a:t>아두이노에서</a:t>
            </a:r>
            <a:r>
              <a:rPr lang="ko-KR" altLang="en-US" sz="1800" dirty="0" smtClean="0"/>
              <a:t> 주로 사용하는 업로드 방식 지원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보드에 포함되어 있음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마이크로컨트롤러는</a:t>
            </a:r>
            <a:r>
              <a:rPr lang="ko-KR" altLang="en-US" dirty="0" smtClean="0"/>
              <a:t> 어떻게 공부해야 할까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4888861"/>
            <a:ext cx="1591895" cy="12077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273" y="4911828"/>
            <a:ext cx="1505847" cy="1161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5180" y="5727324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ISP 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장치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2080" y="5727324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USB-</a:t>
            </a:r>
            <a:r>
              <a:rPr lang="ko-KR" altLang="en-US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시리얼 변환 장치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994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내부에서는 바이트</a:t>
            </a:r>
            <a:r>
              <a:rPr lang="en-US" altLang="ko-KR" dirty="0" smtClean="0"/>
              <a:t>(</a:t>
            </a:r>
            <a:r>
              <a:rPr lang="ko-KR" altLang="en-US" dirty="0" smtClean="0"/>
              <a:t>정확하게는 워드</a:t>
            </a:r>
            <a:r>
              <a:rPr lang="en-US" altLang="ko-KR" dirty="0" smtClean="0"/>
              <a:t>) </a:t>
            </a:r>
            <a:r>
              <a:rPr lang="ko-KR" altLang="en-US" dirty="0" smtClean="0"/>
              <a:t>단위로 데이터 처리</a:t>
            </a:r>
            <a:endParaRPr lang="en-US" altLang="ko-KR" dirty="0" smtClean="0"/>
          </a:p>
          <a:p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외부와는 비트 단위로 데이터 송수신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마이크로컨트롤러의</a:t>
            </a:r>
            <a:r>
              <a:rPr lang="ko-KR" altLang="en-US" dirty="0" smtClean="0"/>
              <a:t> 데이터 핀은 </a:t>
            </a:r>
            <a:r>
              <a:rPr lang="en-US" altLang="ko-KR" dirty="0" smtClean="0"/>
              <a:t>1</a:t>
            </a:r>
            <a:r>
              <a:rPr lang="ko-KR" altLang="en-US" dirty="0" smtClean="0"/>
              <a:t>비트 데이터 송수신 통로</a:t>
            </a:r>
            <a:endParaRPr lang="en-US" altLang="ko-KR" dirty="0" smtClean="0"/>
          </a:p>
          <a:p>
            <a:r>
              <a:rPr lang="en-US" altLang="ko-KR" dirty="0" smtClean="0"/>
              <a:t>1 </a:t>
            </a:r>
            <a:r>
              <a:rPr lang="ko-KR" altLang="en-US" dirty="0" smtClean="0"/>
              <a:t>바이트 데이터를 </a:t>
            </a:r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외부와 교환하는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병렬 방식 </a:t>
            </a:r>
            <a:r>
              <a:rPr lang="en-US" altLang="ko-KR" dirty="0" smtClean="0"/>
              <a:t>: 8</a:t>
            </a:r>
            <a:r>
              <a:rPr lang="ko-KR" altLang="en-US" dirty="0" smtClean="0"/>
              <a:t>개의 데이터 핀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직렬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시리얼</a:t>
            </a:r>
            <a:r>
              <a:rPr lang="en-US" altLang="ko-KR" dirty="0" smtClean="0"/>
              <a:t>) </a:t>
            </a:r>
            <a:r>
              <a:rPr lang="ko-KR" altLang="en-US" dirty="0" smtClean="0"/>
              <a:t>방식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개의 데이터 핀 사용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8</a:t>
            </a:r>
            <a:r>
              <a:rPr lang="ko-KR" altLang="en-US" dirty="0" smtClean="0"/>
              <a:t>번으로 나누어 데이터를 전송하므로 </a:t>
            </a:r>
            <a:r>
              <a:rPr lang="ko-KR" altLang="en-US" dirty="0" err="1" smtClean="0"/>
              <a:t>송신측과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수신측의</a:t>
            </a:r>
            <a:r>
              <a:rPr lang="ko-KR" altLang="en-US" dirty="0" smtClean="0"/>
              <a:t> 데이터 동기화가 중요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주변장치와의 데이터 교환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145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동기 방식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별도의 </a:t>
            </a:r>
            <a:r>
              <a:rPr lang="ko-KR" altLang="en-US" sz="2000" dirty="0" err="1" smtClean="0"/>
              <a:t>클록을</a:t>
            </a:r>
            <a:r>
              <a:rPr lang="ko-KR" altLang="en-US" sz="2000" dirty="0" smtClean="0"/>
              <a:t> 사용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클록을</a:t>
            </a:r>
            <a:r>
              <a:rPr lang="ko-KR" altLang="en-US" sz="2000" dirty="0" smtClean="0"/>
              <a:t> 기준으로 데이터 확인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SPI(serial </a:t>
            </a:r>
            <a:r>
              <a:rPr lang="en-US" altLang="ko-KR" sz="2000" dirty="0"/>
              <a:t>programming </a:t>
            </a:r>
            <a:r>
              <a:rPr lang="en-US" altLang="ko-KR" sz="2000" dirty="0" smtClean="0"/>
              <a:t>interface), I2C(</a:t>
            </a:r>
            <a:r>
              <a:rPr lang="en-US" altLang="ko-KR" sz="2000" dirty="0"/>
              <a:t>inter integrate </a:t>
            </a:r>
            <a:r>
              <a:rPr lang="en-US" altLang="ko-KR" sz="2000" dirty="0" smtClean="0"/>
              <a:t>circuit) </a:t>
            </a:r>
            <a:r>
              <a:rPr lang="ko-KR" altLang="en-US" sz="2000" dirty="0" smtClean="0"/>
              <a:t>등</a:t>
            </a:r>
            <a:endParaRPr lang="en-US" altLang="ko-KR" sz="2000" dirty="0" smtClean="0"/>
          </a:p>
          <a:p>
            <a:r>
              <a:rPr lang="ko-KR" altLang="en-US" sz="2000" dirty="0" err="1" smtClean="0"/>
              <a:t>비동기</a:t>
            </a:r>
            <a:r>
              <a:rPr lang="ko-KR" altLang="en-US" sz="2000" dirty="0" smtClean="0"/>
              <a:t> 방식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별도의 </a:t>
            </a:r>
            <a:r>
              <a:rPr lang="ko-KR" altLang="en-US" sz="2000" dirty="0" err="1" smtClean="0"/>
              <a:t>클록을</a:t>
            </a:r>
            <a:r>
              <a:rPr lang="ko-KR" altLang="en-US" sz="2000" dirty="0" smtClean="0"/>
              <a:t> 사용하지 않음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약속된 속도로 데이터 확인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UART(</a:t>
            </a:r>
            <a:r>
              <a:rPr lang="en-US" altLang="ko-KR" sz="2000" dirty="0"/>
              <a:t>universal 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2000" dirty="0" smtClean="0"/>
              <a:t>asynchronous </a:t>
            </a:r>
            <a:r>
              <a:rPr lang="en-US" altLang="ko-KR" sz="2000" dirty="0"/>
              <a:t>receive </a:t>
            </a:r>
            <a:endParaRPr lang="en-US" altLang="ko-KR" sz="2000" dirty="0" smtClean="0"/>
          </a:p>
          <a:p>
            <a:pPr marL="457200" lvl="1" indent="0">
              <a:buNone/>
            </a:pPr>
            <a:r>
              <a:rPr lang="en-US" altLang="ko-KR" sz="2000" dirty="0" smtClean="0"/>
              <a:t>transmitter) </a:t>
            </a:r>
            <a:r>
              <a:rPr lang="ko-KR" altLang="en-US" sz="2000" dirty="0" smtClean="0"/>
              <a:t>등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시리얼 </a:t>
            </a:r>
            <a:r>
              <a:rPr lang="ko-KR" altLang="en-US" smtClean="0"/>
              <a:t>데이터 동기화 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3076" y="3573016"/>
            <a:ext cx="4365232" cy="265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선의 수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전이중</a:t>
            </a:r>
            <a:r>
              <a:rPr lang="ko-KR" altLang="en-US" dirty="0" smtClean="0"/>
              <a:t> 방식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송신과 수신을 위한 별도의 연결선 사용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반이중</a:t>
            </a:r>
            <a:r>
              <a:rPr lang="ko-KR" altLang="en-US" dirty="0" smtClean="0"/>
              <a:t> 방식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송신과 수신을 위한 공통의 연결선 사용</a:t>
            </a:r>
            <a:endParaRPr lang="en-US" altLang="ko-KR" dirty="0" smtClean="0"/>
          </a:p>
          <a:p>
            <a:r>
              <a:rPr lang="ko-KR" altLang="en-US" dirty="0" smtClean="0"/>
              <a:t>동기 신호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동기 방식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전용의 동기화 </a:t>
            </a:r>
            <a:r>
              <a:rPr lang="ko-KR" altLang="en-US" dirty="0" err="1" smtClean="0"/>
              <a:t>클록</a:t>
            </a:r>
            <a:r>
              <a:rPr lang="ko-KR" altLang="en-US" dirty="0" smtClean="0"/>
              <a:t> 사용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비동기</a:t>
            </a:r>
            <a:r>
              <a:rPr lang="ko-KR" altLang="en-US" dirty="0" smtClean="0"/>
              <a:t> 방식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동기화 </a:t>
            </a:r>
            <a:r>
              <a:rPr lang="ko-KR" altLang="en-US" dirty="0" err="1" smtClean="0"/>
              <a:t>클록</a:t>
            </a:r>
            <a:r>
              <a:rPr lang="ko-KR" altLang="en-US" dirty="0" smtClean="0"/>
              <a:t> 사용하지 않음</a:t>
            </a:r>
            <a:endParaRPr lang="en-US" altLang="ko-KR" dirty="0" smtClean="0"/>
          </a:p>
          <a:p>
            <a:r>
              <a:rPr lang="ko-KR" altLang="en-US" dirty="0" smtClean="0"/>
              <a:t>연결 방법</a:t>
            </a:r>
            <a:r>
              <a:rPr lang="en-US" altLang="ko-KR" dirty="0" smtClean="0"/>
              <a:t>/</a:t>
            </a:r>
            <a:r>
              <a:rPr lang="ko-KR" altLang="en-US" dirty="0" smtClean="0"/>
              <a:t>구조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1:n : </a:t>
            </a:r>
            <a:r>
              <a:rPr lang="ko-KR" altLang="en-US" dirty="0" smtClean="0"/>
              <a:t>하나의 마스터와 여러 개의 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연결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1:1 : 2</a:t>
            </a:r>
            <a:r>
              <a:rPr lang="ko-KR" altLang="en-US" dirty="0" smtClean="0"/>
              <a:t>개의 장치가 동등한 기능으로 연결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마스터</a:t>
            </a:r>
            <a:r>
              <a:rPr lang="en-US" altLang="ko-KR" dirty="0" smtClean="0"/>
              <a:t>-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구조 아님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시리얼 통신 방식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3440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962" y="2204864"/>
            <a:ext cx="5219700" cy="3033713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834702"/>
          </a:xfrm>
        </p:spPr>
        <p:txBody>
          <a:bodyPr/>
          <a:lstStyle/>
          <a:p>
            <a:pPr lvl="1" algn="l"/>
            <a:r>
              <a:rPr lang="ko-KR" altLang="en-US" sz="3200" b="1" dirty="0" smtClean="0">
                <a:solidFill>
                  <a:srgbClr val="663300"/>
                </a:solidFill>
              </a:rPr>
              <a:t>시리얼 </a:t>
            </a:r>
            <a:r>
              <a:rPr lang="ko-KR" altLang="en-US" sz="3200" b="1" dirty="0" smtClean="0">
                <a:solidFill>
                  <a:srgbClr val="663300"/>
                </a:solidFill>
              </a:rPr>
              <a:t>통신 </a:t>
            </a:r>
            <a:r>
              <a:rPr lang="en-US" altLang="ko-KR" sz="3200" b="1" dirty="0" smtClean="0">
                <a:solidFill>
                  <a:srgbClr val="663300"/>
                </a:solidFill>
              </a:rPr>
              <a:t>-UART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000" dirty="0" smtClean="0">
                <a:solidFill>
                  <a:srgbClr val="663300"/>
                </a:solidFill>
              </a:rPr>
              <a:t>(universal asynchronous receive transmitter)</a:t>
            </a:r>
            <a:endParaRPr lang="ko-KR" altLang="en-US" dirty="0">
              <a:solidFill>
                <a:srgbClr val="66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324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526" y="2060848"/>
            <a:ext cx="5228572" cy="3476191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762694"/>
          </a:xfrm>
        </p:spPr>
        <p:txBody>
          <a:bodyPr/>
          <a:lstStyle/>
          <a:p>
            <a:r>
              <a:rPr lang="ko-KR" altLang="en-US" dirty="0" smtClean="0"/>
              <a:t>시리얼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 </a:t>
            </a:r>
            <a:r>
              <a:rPr lang="en-US" altLang="ko-KR" dirty="0" smtClean="0"/>
              <a:t>: </a:t>
            </a:r>
            <a:r>
              <a:rPr lang="en-US" altLang="ko-KR" dirty="0" smtClean="0"/>
              <a:t>SPI</a:t>
            </a:r>
            <a:r>
              <a:rPr lang="en-US" altLang="ko-KR" sz="2000" dirty="0" smtClean="0"/>
              <a:t>(serial </a:t>
            </a:r>
            <a:r>
              <a:rPr lang="en-US" altLang="ko-KR" sz="2000" dirty="0"/>
              <a:t>programming </a:t>
            </a:r>
            <a:r>
              <a:rPr lang="en-US" altLang="ko-KR" sz="2000" dirty="0" smtClean="0"/>
              <a:t>interface)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9349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3437" y="2132856"/>
            <a:ext cx="5238750" cy="3033713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시리얼 통신 </a:t>
            </a:r>
            <a:r>
              <a:rPr lang="en-US" altLang="ko-KR" dirty="0" smtClean="0"/>
              <a:t>: </a:t>
            </a:r>
            <a:r>
              <a:rPr lang="en-US" altLang="ko-KR" dirty="0" smtClean="0"/>
              <a:t>I2C</a:t>
            </a:r>
            <a:r>
              <a:rPr lang="en-US" altLang="ko-KR" sz="2000" dirty="0" smtClean="0"/>
              <a:t>(inter </a:t>
            </a:r>
            <a:r>
              <a:rPr lang="en-US" altLang="ko-KR" sz="2000" dirty="0"/>
              <a:t>integrate circuit)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0227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844824"/>
            <a:ext cx="7419048" cy="354761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시리얼 통신 방식 비교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11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/>
          <a:p>
            <a:r>
              <a:rPr lang="ko-KR" altLang="en-US" sz="2000" dirty="0" smtClean="0"/>
              <a:t>개발 시스템 </a:t>
            </a:r>
            <a:r>
              <a:rPr lang="en-US" altLang="ko-KR" sz="2000" dirty="0" smtClean="0"/>
              <a:t>: </a:t>
            </a:r>
            <a:r>
              <a:rPr lang="ko-KR" altLang="en-US" sz="2000" dirty="0" err="1" smtClean="0"/>
              <a:t>마이크로컨트롤러에서</a:t>
            </a:r>
            <a:r>
              <a:rPr lang="ko-KR" altLang="en-US" sz="2000" dirty="0" smtClean="0"/>
              <a:t> 실행될 프로그램을 개발하는 컴퓨터</a:t>
            </a:r>
            <a:endParaRPr lang="en-US" altLang="ko-KR" sz="2000" dirty="0" smtClean="0"/>
          </a:p>
          <a:p>
            <a:r>
              <a:rPr lang="ko-KR" altLang="en-US" sz="2000" dirty="0" smtClean="0"/>
              <a:t>교차 컴파일러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개발 시스템에서 실행되면서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마이크로컨트롤러에서</a:t>
            </a:r>
            <a:r>
              <a:rPr lang="ko-KR" altLang="en-US" sz="2000" dirty="0" smtClean="0"/>
              <a:t> 실행되는 기계어 파일을 생성하는 프로그램</a:t>
            </a:r>
            <a:endParaRPr lang="en-US" altLang="ko-KR" sz="2000" dirty="0" smtClean="0"/>
          </a:p>
          <a:p>
            <a:r>
              <a:rPr lang="ko-KR" altLang="en-US" sz="2000" dirty="0" smtClean="0"/>
              <a:t>목적 시스템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개발된 프로그램이 실행되는 환경</a:t>
            </a:r>
            <a:endParaRPr lang="en-US" altLang="ko-KR" sz="2000" dirty="0" smtClean="0"/>
          </a:p>
          <a:p>
            <a:r>
              <a:rPr lang="ko-KR" altLang="en-US" sz="2000" dirty="0" smtClean="0"/>
              <a:t>프로그램 업로드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개발 시스템에서 목적 시스템으로 프로그램 이동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설치</a:t>
            </a:r>
            <a:endParaRPr lang="en-US" altLang="ko-KR" sz="20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mtClean="0"/>
              <a:t>마이크로컨트롤러를</a:t>
            </a:r>
            <a:r>
              <a:rPr lang="ko-KR" altLang="en-US" dirty="0" smtClean="0"/>
              <a:t> 위한 프로그램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97" y="4221088"/>
            <a:ext cx="4891429" cy="1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01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프로그램 업로드 방식</a:t>
            </a:r>
            <a:endParaRPr lang="ko-KR" altLang="en-US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4114800" cy="4824412"/>
          </a:xfrm>
        </p:spPr>
        <p:txBody>
          <a:bodyPr/>
          <a:lstStyle/>
          <a:p>
            <a:r>
              <a:rPr lang="en-US" altLang="ko-KR" sz="2000" dirty="0" smtClean="0"/>
              <a:t>ISP (In System Programming) </a:t>
            </a:r>
            <a:r>
              <a:rPr lang="ko-KR" altLang="en-US" sz="2000" dirty="0" smtClean="0"/>
              <a:t>방식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SPI</a:t>
            </a:r>
            <a:r>
              <a:rPr lang="ko-KR" altLang="en-US" sz="2000" dirty="0" smtClean="0"/>
              <a:t> 시리얼 통신 사용</a:t>
            </a:r>
            <a:endParaRPr lang="en-US" altLang="ko-KR" sz="2000" dirty="0" smtClean="0"/>
          </a:p>
          <a:p>
            <a:pPr lvl="1"/>
            <a:r>
              <a:rPr lang="en-US" altLang="ko-KR" sz="2000" dirty="0" err="1" smtClean="0"/>
              <a:t>uC</a:t>
            </a:r>
            <a:r>
              <a:rPr lang="ko-KR" altLang="en-US" sz="2000" dirty="0" smtClean="0"/>
              <a:t>의 메모리에 직접 프로그램 기록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AVR </a:t>
            </a:r>
            <a:r>
              <a:rPr lang="ko-KR" altLang="en-US" sz="2000" dirty="0" err="1" smtClean="0"/>
              <a:t>마이크로컨트롤러에서</a:t>
            </a:r>
            <a:r>
              <a:rPr lang="ko-KR" altLang="en-US" sz="2000" dirty="0" smtClean="0"/>
              <a:t> 주로 사용하는 방식</a:t>
            </a:r>
            <a:endParaRPr lang="en-US" altLang="ko-KR" sz="2000" dirty="0" smtClean="0"/>
          </a:p>
          <a:p>
            <a:r>
              <a:rPr lang="en-US" altLang="ko-KR" sz="2000" dirty="0" smtClean="0"/>
              <a:t>UART </a:t>
            </a:r>
            <a:r>
              <a:rPr lang="ko-KR" altLang="en-US" sz="2000" dirty="0" smtClean="0"/>
              <a:t>방식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UART</a:t>
            </a:r>
            <a:r>
              <a:rPr lang="ko-KR" altLang="en-US" sz="2000" dirty="0" smtClean="0"/>
              <a:t> 시리얼 통신 사용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부트로더를</a:t>
            </a:r>
            <a:r>
              <a:rPr lang="ko-KR" altLang="en-US" sz="2000" dirty="0" smtClean="0"/>
              <a:t> 통해 </a:t>
            </a:r>
            <a:r>
              <a:rPr lang="en-US" altLang="ko-KR" sz="2000" dirty="0" err="1" smtClean="0"/>
              <a:t>uC</a:t>
            </a:r>
            <a:r>
              <a:rPr lang="ko-KR" altLang="en-US" sz="2000" dirty="0" smtClean="0"/>
              <a:t>의 메모리에 프로그램 기록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아두이노에서</a:t>
            </a:r>
            <a:r>
              <a:rPr lang="ko-KR" altLang="en-US" sz="2000" dirty="0" smtClean="0"/>
              <a:t> 주로 사용하는 방식</a:t>
            </a:r>
          </a:p>
        </p:txBody>
      </p:sp>
      <p:pic>
        <p:nvPicPr>
          <p:cNvPr id="5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025" y="1773238"/>
            <a:ext cx="2109788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0" y="4232275"/>
            <a:ext cx="1938338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6231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uC</a:t>
            </a:r>
            <a:r>
              <a:rPr lang="ko-KR" altLang="en-US" dirty="0"/>
              <a:t>는 정말 필요한가</a:t>
            </a:r>
            <a:r>
              <a:rPr lang="en-US" altLang="ko-KR" dirty="0"/>
              <a:t>? – </a:t>
            </a:r>
            <a:r>
              <a:rPr lang="ko-KR" altLang="en-US" dirty="0"/>
              <a:t>자동 점등 회로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557338"/>
            <a:ext cx="4043363" cy="4824412"/>
          </a:xfrm>
        </p:spPr>
        <p:txBody>
          <a:bodyPr/>
          <a:lstStyle/>
          <a:p>
            <a:r>
              <a:rPr lang="en-US" altLang="ko-KR" sz="2000" dirty="0" err="1" smtClean="0"/>
              <a:t>uC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없이 </a:t>
            </a:r>
            <a:r>
              <a:rPr lang="en-US" altLang="ko-KR" sz="2000" dirty="0" smtClean="0"/>
              <a:t>‘</a:t>
            </a:r>
            <a:r>
              <a:rPr lang="ko-KR" altLang="en-US" sz="2000" dirty="0" smtClean="0"/>
              <a:t>하드웨어</a:t>
            </a:r>
            <a:r>
              <a:rPr lang="en-US" altLang="ko-KR" sz="2000" dirty="0" smtClean="0"/>
              <a:t>’</a:t>
            </a:r>
            <a:r>
              <a:rPr lang="ko-KR" altLang="en-US" sz="2000" dirty="0" smtClean="0"/>
              <a:t>로 구현</a:t>
            </a:r>
          </a:p>
        </p:txBody>
      </p:sp>
      <p:sp>
        <p:nvSpPr>
          <p:cNvPr id="5" name="내용 개체 틀 3"/>
          <p:cNvSpPr txBox="1">
            <a:spLocks/>
          </p:cNvSpPr>
          <p:nvPr/>
        </p:nvSpPr>
        <p:spPr bwMode="auto">
          <a:xfrm>
            <a:off x="4572000" y="1557338"/>
            <a:ext cx="4043363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2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ko-KR" sz="2000" kern="0" dirty="0" err="1" smtClean="0"/>
              <a:t>uC</a:t>
            </a:r>
            <a:r>
              <a:rPr lang="en-US" altLang="ko-KR" sz="2000" kern="0" dirty="0" smtClean="0"/>
              <a:t> </a:t>
            </a:r>
            <a:r>
              <a:rPr lang="ko-KR" altLang="en-US" sz="2000" kern="0" dirty="0" smtClean="0"/>
              <a:t>사용 </a:t>
            </a:r>
            <a:r>
              <a:rPr lang="en-US" altLang="ko-KR" sz="2000" kern="0" dirty="0" smtClean="0"/>
              <a:t>‘</a:t>
            </a:r>
            <a:r>
              <a:rPr lang="ko-KR" altLang="en-US" sz="2000" kern="0" dirty="0" smtClean="0"/>
              <a:t>하드웨어 </a:t>
            </a:r>
            <a:r>
              <a:rPr lang="en-US" altLang="ko-KR" sz="2000" kern="0" dirty="0" smtClean="0"/>
              <a:t>+ </a:t>
            </a:r>
            <a:r>
              <a:rPr lang="ko-KR" altLang="en-US" sz="2000" kern="0" dirty="0" smtClean="0"/>
              <a:t>소프트웨어</a:t>
            </a:r>
            <a:r>
              <a:rPr lang="en-US" altLang="ko-KR" sz="2000" kern="0" dirty="0" smtClean="0"/>
              <a:t>’</a:t>
            </a:r>
            <a:r>
              <a:rPr lang="ko-KR" altLang="en-US" sz="2000" kern="0" dirty="0" smtClean="0"/>
              <a:t>로 구현</a:t>
            </a:r>
            <a:endParaRPr lang="ko-KR" altLang="en-US" sz="2000" kern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93" y="2963046"/>
            <a:ext cx="3570576" cy="219414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24" y="2708920"/>
            <a:ext cx="3805714" cy="31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6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단점</a:t>
            </a:r>
            <a:endParaRPr lang="en-US" altLang="ko-KR" dirty="0"/>
          </a:p>
          <a:p>
            <a:pPr lvl="1"/>
            <a:r>
              <a:rPr lang="ko-KR" altLang="en-US" dirty="0"/>
              <a:t>점등 회로의 경우 하드웨어로만 구현하는 방식에 비해 장점 없음</a:t>
            </a:r>
            <a:endParaRPr lang="en-US" altLang="ko-KR" dirty="0"/>
          </a:p>
          <a:p>
            <a:pPr lvl="1"/>
            <a:r>
              <a:rPr lang="ko-KR" altLang="en-US" dirty="0" err="1"/>
              <a:t>마이크로컨트롤러의</a:t>
            </a:r>
            <a:r>
              <a:rPr lang="ko-KR" altLang="en-US" dirty="0"/>
              <a:t> 기능을 </a:t>
            </a:r>
            <a:r>
              <a:rPr lang="en-US" altLang="ko-KR" dirty="0"/>
              <a:t>100% </a:t>
            </a:r>
            <a:r>
              <a:rPr lang="ko-KR" altLang="en-US" dirty="0"/>
              <a:t>사용하지 않음</a:t>
            </a:r>
            <a:endParaRPr lang="en-US" altLang="ko-KR" dirty="0"/>
          </a:p>
          <a:p>
            <a:pPr lvl="1"/>
            <a:r>
              <a:rPr lang="ko-KR" altLang="en-US" dirty="0"/>
              <a:t>별도의 소프트웨어</a:t>
            </a:r>
            <a:r>
              <a:rPr lang="en-US" altLang="ko-KR" dirty="0"/>
              <a:t>(</a:t>
            </a:r>
            <a:r>
              <a:rPr lang="ko-KR" altLang="en-US" dirty="0" err="1"/>
              <a:t>펌웨어</a:t>
            </a:r>
            <a:r>
              <a:rPr lang="en-US" altLang="ko-KR" dirty="0"/>
              <a:t>)</a:t>
            </a:r>
            <a:r>
              <a:rPr lang="ko-KR" altLang="en-US" dirty="0"/>
              <a:t>를 구현하여야 함</a:t>
            </a:r>
            <a:endParaRPr lang="en-US" altLang="ko-KR" dirty="0"/>
          </a:p>
          <a:p>
            <a:r>
              <a:rPr lang="ko-KR" altLang="en-US" dirty="0"/>
              <a:t>장점</a:t>
            </a:r>
            <a:endParaRPr lang="en-US" altLang="ko-KR" dirty="0"/>
          </a:p>
          <a:p>
            <a:pPr lvl="1"/>
            <a:r>
              <a:rPr lang="ko-KR" altLang="en-US" dirty="0"/>
              <a:t>기능을 변경 또는 추가하는 경우</a:t>
            </a:r>
            <a:r>
              <a:rPr lang="en-US" altLang="ko-KR" dirty="0"/>
              <a:t>,</a:t>
            </a:r>
            <a:r>
              <a:rPr lang="ko-KR" altLang="en-US" dirty="0"/>
              <a:t> 동일한 입출력을 사용한다면 소프트웨어 변경 만으로 가능</a:t>
            </a:r>
            <a:endParaRPr lang="en-US" altLang="ko-KR" dirty="0"/>
          </a:p>
          <a:p>
            <a:pPr lvl="1"/>
            <a:r>
              <a:rPr lang="ko-KR" altLang="en-US" dirty="0" err="1"/>
              <a:t>마이크로컨트롤러의</a:t>
            </a:r>
            <a:r>
              <a:rPr lang="ko-KR" altLang="en-US" dirty="0"/>
              <a:t> 가격이 지속적으로 하락하고 있으므로 기능을 </a:t>
            </a:r>
            <a:r>
              <a:rPr lang="en-US" altLang="ko-KR" dirty="0"/>
              <a:t>100% </a:t>
            </a:r>
            <a:r>
              <a:rPr lang="ko-KR" altLang="en-US" dirty="0"/>
              <a:t>사용하지 않는 경우에도 소형화</a:t>
            </a:r>
            <a:r>
              <a:rPr lang="en-US" altLang="ko-KR" dirty="0"/>
              <a:t>, </a:t>
            </a:r>
            <a:r>
              <a:rPr lang="ko-KR" altLang="en-US" dirty="0"/>
              <a:t>경량화</a:t>
            </a:r>
            <a:r>
              <a:rPr lang="en-US" altLang="ko-KR" dirty="0"/>
              <a:t>, </a:t>
            </a:r>
            <a:r>
              <a:rPr lang="ko-KR" altLang="en-US" dirty="0"/>
              <a:t>초기 개발 시간 단축</a:t>
            </a:r>
            <a:r>
              <a:rPr lang="en-US" altLang="ko-KR" dirty="0"/>
              <a:t>, </a:t>
            </a:r>
            <a:r>
              <a:rPr lang="ko-KR" altLang="en-US" dirty="0"/>
              <a:t>유지보수 비용 절감 등의 장점으로 경쟁력 확보 </a:t>
            </a:r>
            <a:r>
              <a:rPr lang="ko-KR" altLang="en-US" dirty="0" smtClean="0"/>
              <a:t>가능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마이크로컨트롤러</a:t>
            </a:r>
            <a:r>
              <a:rPr lang="ko-KR" altLang="en-US" dirty="0" smtClean="0"/>
              <a:t> 사용의 장단점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260932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708</Words>
  <Application>Microsoft Office PowerPoint</Application>
  <PresentationFormat>화면 슬라이드 쇼(4:3)</PresentationFormat>
  <Paragraphs>120</Paragraphs>
  <Slides>22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기본 디자인</vt:lpstr>
      <vt:lpstr>PowerPoint 프레젠테이션</vt:lpstr>
      <vt:lpstr>마이크로컨트롤러</vt:lpstr>
      <vt:lpstr>마이크로컨트롤러</vt:lpstr>
      <vt:lpstr>ATmega328? AVR? 아두이노 우노? </vt:lpstr>
      <vt:lpstr>마이크로프로세서(uP) vs 마이크로컨트롤러(uC)</vt:lpstr>
      <vt:lpstr>컴퓨터의 구조</vt:lpstr>
      <vt:lpstr>아두이노 우노 vs 데스크톱 컴퓨터</vt:lpstr>
      <vt:lpstr>마이크로프로세서 vs 마이크로컨트롤러</vt:lpstr>
      <vt:lpstr>마이크로컨트롤러의 사용 예</vt:lpstr>
      <vt:lpstr>마이크로컨트롤러의 사용 예</vt:lpstr>
      <vt:lpstr>마이크로컨트롤러는 어떻게 공부해야 할까?</vt:lpstr>
      <vt:lpstr>주변장치와의 데이터 교환</vt:lpstr>
      <vt:lpstr>시리얼 데이터 동기화 방법</vt:lpstr>
      <vt:lpstr>시리얼 통신 방식</vt:lpstr>
      <vt:lpstr>시리얼 통신 -UART (universal asynchronous receive transmitter)</vt:lpstr>
      <vt:lpstr>시리얼 통신 : SPI(serial programming interface)</vt:lpstr>
      <vt:lpstr>시리얼 통신 : I2C(inter integrate circuit)</vt:lpstr>
      <vt:lpstr>시리얼 통신 방식 비교</vt:lpstr>
      <vt:lpstr>마이크로컨트롤러를 위한 프로그램</vt:lpstr>
      <vt:lpstr>프로그램 업로드 방식</vt:lpstr>
      <vt:lpstr>uC는 정말 필요한가? – 자동 점등 회로</vt:lpstr>
      <vt:lpstr>마이크로컨트롤러 사용의 장단점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96</cp:revision>
  <dcterms:created xsi:type="dcterms:W3CDTF">2005-10-10T05:21:17Z</dcterms:created>
  <dcterms:modified xsi:type="dcterms:W3CDTF">2021-03-04T09:39:05Z</dcterms:modified>
</cp:coreProperties>
</file>