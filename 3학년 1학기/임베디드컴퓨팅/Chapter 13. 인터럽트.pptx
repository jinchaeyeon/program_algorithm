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82" r:id="rId3"/>
    <p:sldId id="283" r:id="rId4"/>
    <p:sldId id="284" r:id="rId5"/>
    <p:sldId id="304" r:id="rId6"/>
    <p:sldId id="285" r:id="rId7"/>
    <p:sldId id="286" r:id="rId8"/>
    <p:sldId id="287" r:id="rId9"/>
    <p:sldId id="288" r:id="rId10"/>
    <p:sldId id="290" r:id="rId11"/>
    <p:sldId id="291" r:id="rId12"/>
    <p:sldId id="289" r:id="rId13"/>
    <p:sldId id="292" r:id="rId14"/>
    <p:sldId id="293" r:id="rId15"/>
    <p:sldId id="305" r:id="rId16"/>
    <p:sldId id="294" r:id="rId17"/>
    <p:sldId id="295" r:id="rId18"/>
    <p:sldId id="299" r:id="rId19"/>
    <p:sldId id="301" r:id="rId20"/>
    <p:sldId id="302" r:id="rId21"/>
    <p:sldId id="300" r:id="rId22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001F56"/>
    <a:srgbClr val="38B549"/>
    <a:srgbClr val="FF6600"/>
    <a:srgbClr val="FFECC0"/>
    <a:srgbClr val="0066CC"/>
    <a:srgbClr val="990033"/>
    <a:srgbClr val="BC7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7" cy="496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048" y="0"/>
            <a:ext cx="2949577" cy="496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0915"/>
            <a:ext cx="2949577" cy="496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048" y="9440915"/>
            <a:ext cx="2949577" cy="496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114954D-3975-486F-A634-AD74970EFD8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59097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7" cy="496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048" y="0"/>
            <a:ext cx="2949577" cy="496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7288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6" y="4720458"/>
            <a:ext cx="5445129" cy="4472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915"/>
            <a:ext cx="2949577" cy="496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048" y="9440915"/>
            <a:ext cx="2949577" cy="496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952833-5BF8-462B-8955-824AFCD66DF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31049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6F2748E-33A7-43C4-98F3-E08F4F834479}" type="slidenum">
              <a:rPr lang="en-US" altLang="ko-KR" smtClean="0"/>
              <a:pPr>
                <a:spcBef>
                  <a:spcPct val="0"/>
                </a:spcBef>
              </a:pPr>
              <a:t>1</a:t>
            </a:fld>
            <a:endParaRPr lang="en-US" altLang="ko-KR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41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128B9E-F9C0-416A-832C-0884C76D2E1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201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:\김정배_백업\알바누리\커버리스트\프리젠테이션\카테고리별\학교_교육\s_00002\sub_s_00002_1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824536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457200" y="290042"/>
            <a:ext cx="7931224" cy="618678"/>
          </a:xfrm>
        </p:spPr>
        <p:txBody>
          <a:bodyPr/>
          <a:lstStyle>
            <a:lvl1pPr algn="l">
              <a:defRPr sz="3200" b="1">
                <a:solidFill>
                  <a:srgbClr val="663300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4273729" y="6525344"/>
            <a:ext cx="4839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아트멜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스튜디오와 </a:t>
            </a:r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아두이노로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배우는</a:t>
            </a:r>
            <a:r>
              <a:rPr lang="ko-KR" altLang="en-US" sz="14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ATmega328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프로그래밍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839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ABEE44-8CAE-4526-920C-A8E8A9C4854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194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686CB5-6D7D-45E3-972D-BDDADE8BEF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5668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68D665-08DE-41D6-B962-2085A179A1C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3919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DE0A57-CA7C-4B68-8045-C32C5FCE0C9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0362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00BBB-273B-4A8D-BB08-23A4FAE3D0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0382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471EE-F89C-4EDA-A21F-9F26D9E227C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432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1FB8C-4271-44F5-A7B2-ACDAE1930B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5130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9FCF1-FE78-45CE-8E11-F5957D42AE1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501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C56B4-3AAF-44E0-A295-42DDC124C35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60689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00213"/>
            <a:ext cx="8229600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fld id="{51F73B43-0D21-451E-BE02-CBCCAECBEF5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2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5" descr="main_s_000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6"/>
          <p:cNvSpPr txBox="1">
            <a:spLocks noChangeArrowheads="1"/>
          </p:cNvSpPr>
          <p:nvPr/>
        </p:nvSpPr>
        <p:spPr bwMode="auto">
          <a:xfrm>
            <a:off x="304800" y="1152525"/>
            <a:ext cx="8587680" cy="179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9pPr>
          </a:lstStyle>
          <a:p>
            <a:pPr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/>
            </a:pPr>
            <a:r>
              <a:rPr lang="en-US" altLang="ko-KR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HY견고딕" panose="02030600000101010101" pitchFamily="18" charset="-127"/>
              </a:rPr>
              <a:t>Chapter 13. </a:t>
            </a:r>
          </a:p>
          <a:p>
            <a:pPr lvl="1"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/>
            </a:pPr>
            <a:r>
              <a:rPr lang="ko-KR" altLang="en-US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인터럽트</a:t>
            </a:r>
            <a:endParaRPr lang="en-US" altLang="ko-KR" sz="4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제목 2"/>
          <p:cNvSpPr>
            <a:spLocks noGrp="1"/>
          </p:cNvSpPr>
          <p:nvPr>
            <p:ph type="title"/>
          </p:nvPr>
        </p:nvSpPr>
        <p:spPr>
          <a:xfrm>
            <a:off x="457200" y="290513"/>
            <a:ext cx="6491288" cy="617537"/>
          </a:xfrm>
        </p:spPr>
        <p:txBody>
          <a:bodyPr/>
          <a:lstStyle/>
          <a:p>
            <a:r>
              <a:rPr lang="ko-KR" altLang="en-US" dirty="0" err="1" smtClean="0"/>
              <a:t>폴링과</a:t>
            </a:r>
            <a:r>
              <a:rPr lang="ko-KR" altLang="en-US" dirty="0" smtClean="0"/>
              <a:t> 인터럽트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229721"/>
              </p:ext>
            </p:extLst>
          </p:nvPr>
        </p:nvGraphicFramePr>
        <p:xfrm>
          <a:off x="251520" y="1700807"/>
          <a:ext cx="8712968" cy="4536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304"/>
                <a:gridCol w="5976664"/>
              </a:tblGrid>
              <a:tr h="742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dirty="0" err="1" smtClean="0">
                          <a:solidFill>
                            <a:srgbClr val="0070C0"/>
                          </a:solidFill>
                        </a:rPr>
                        <a:t>폴링</a:t>
                      </a:r>
                      <a:r>
                        <a:rPr lang="en-US" altLang="ko-KR" sz="2400" dirty="0" smtClean="0">
                          <a:solidFill>
                            <a:srgbClr val="0070C0"/>
                          </a:solidFill>
                        </a:rPr>
                        <a:t>(polling)</a:t>
                      </a:r>
                      <a:endParaRPr lang="en-US" altLang="ko-KR" sz="2400" dirty="0" smtClean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kern="0" dirty="0" smtClean="0">
                          <a:solidFill>
                            <a:srgbClr val="0070C0"/>
                          </a:solidFill>
                        </a:rPr>
                        <a:t>인터럽트</a:t>
                      </a:r>
                      <a:r>
                        <a:rPr lang="en-US" altLang="ko-KR" sz="2400" kern="0" dirty="0" smtClean="0">
                          <a:solidFill>
                            <a:srgbClr val="0070C0"/>
                          </a:solidFill>
                        </a:rPr>
                        <a:t>(interrupt)</a:t>
                      </a:r>
                      <a:endParaRPr lang="en-US" altLang="ko-KR" sz="2400" kern="0" dirty="0" smtClean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</a:tr>
              <a:tr h="74207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순차적 처리</a:t>
                      </a:r>
                      <a:endParaRPr lang="en-US" altLang="ko-K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kern="0" dirty="0" smtClean="0"/>
                        <a:t>이벤트 기반 처리</a:t>
                      </a:r>
                      <a:endParaRPr lang="en-US" altLang="ko-KR" kern="0" dirty="0" smtClean="0"/>
                    </a:p>
                  </a:txBody>
                  <a:tcPr anchor="ctr"/>
                </a:tc>
              </a:tr>
              <a:tr h="84425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정해진 순서 변경 불가능</a:t>
                      </a:r>
                      <a:endParaRPr lang="en-US" altLang="ko-K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kern="0" dirty="0" smtClean="0"/>
                        <a:t>이벤트 발생에 의해 정해진 순서 변경 가능</a:t>
                      </a:r>
                      <a:endParaRPr lang="en-US" altLang="ko-KR" kern="0" dirty="0" smtClean="0"/>
                    </a:p>
                  </a:txBody>
                  <a:tcPr anchor="ctr"/>
                </a:tc>
              </a:tr>
              <a:tr h="77613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처리 우선 순위 없음</a:t>
                      </a:r>
                      <a:endParaRPr lang="en-US" altLang="ko-K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kern="0" dirty="0" smtClean="0"/>
                        <a:t>처리 우선 순위 지정가능 </a:t>
                      </a:r>
                      <a:r>
                        <a:rPr lang="en-US" altLang="ko-KR" kern="0" dirty="0" smtClean="0"/>
                        <a:t>: </a:t>
                      </a:r>
                      <a:r>
                        <a:rPr lang="ko-KR" altLang="en-US" kern="0" dirty="0" smtClean="0"/>
                        <a:t>높은</a:t>
                      </a:r>
                      <a:r>
                        <a:rPr lang="en-US" altLang="ko-KR" kern="0" dirty="0" smtClean="0"/>
                        <a:t> </a:t>
                      </a:r>
                      <a:r>
                        <a:rPr lang="ko-KR" altLang="en-US" kern="0" dirty="0" smtClean="0"/>
                        <a:t>우선 순위가 먼저 처리됨</a:t>
                      </a:r>
                      <a:endParaRPr lang="en-US" altLang="ko-KR" kern="0" dirty="0" smtClean="0"/>
                    </a:p>
                  </a:txBody>
                  <a:tcPr anchor="ctr"/>
                </a:tc>
              </a:tr>
              <a:tr h="68988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소프트웨어에 의한 처리</a:t>
                      </a:r>
                      <a:endParaRPr lang="en-US" altLang="ko-K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kern="0" dirty="0" smtClean="0"/>
                        <a:t>하드웨어에 의한 처리</a:t>
                      </a:r>
                      <a:endParaRPr lang="en-US" altLang="ko-KR" kern="0" dirty="0" smtClean="0"/>
                    </a:p>
                  </a:txBody>
                  <a:tcPr anchor="ctr"/>
                </a:tc>
              </a:tr>
              <a:tr h="74207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함수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kern="0" dirty="0" smtClean="0"/>
                        <a:t>인터럽트 서비스 </a:t>
                      </a:r>
                      <a:r>
                        <a:rPr lang="ko-KR" altLang="en-US" kern="0" dirty="0" smtClean="0"/>
                        <a:t>루틴</a:t>
                      </a:r>
                      <a:r>
                        <a:rPr lang="en-US" altLang="ko-KR" kern="0" dirty="0" smtClean="0"/>
                        <a:t>(ISR)</a:t>
                      </a:r>
                      <a:endParaRPr lang="ko-KR" altLang="en-US" kern="0" dirty="0" smtClean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9392" y="1845792"/>
            <a:ext cx="4465216" cy="4247504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인터럽트 처리 흐름도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5292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인터럽트의 종류는 미리 정의되어 있음 </a:t>
            </a:r>
            <a:r>
              <a:rPr lang="en-US" altLang="ko-KR" dirty="0" smtClean="0"/>
              <a:t>: 26</a:t>
            </a:r>
            <a:r>
              <a:rPr lang="ko-KR" altLang="en-US" dirty="0" smtClean="0"/>
              <a:t>개</a:t>
            </a:r>
            <a:endParaRPr lang="en-US" altLang="ko-KR" dirty="0" smtClean="0"/>
          </a:p>
          <a:p>
            <a:r>
              <a:rPr lang="ko-KR" altLang="en-US" dirty="0" smtClean="0"/>
              <a:t>인터럽트의 우선 순위도 미리 정의되어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낮은 번호의 인터럽트가 우선 순위가 높음</a:t>
            </a:r>
            <a:endParaRPr lang="en-US" altLang="ko-KR" dirty="0" smtClean="0"/>
          </a:p>
          <a:p>
            <a:r>
              <a:rPr lang="ko-KR" altLang="en-US" dirty="0" smtClean="0"/>
              <a:t>인터럽트 벡터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해당 인터럽트 발생 시 이동할</a:t>
            </a:r>
            <a:r>
              <a:rPr lang="en-US" altLang="ko-KR" dirty="0" smtClean="0"/>
              <a:t> </a:t>
            </a:r>
            <a:r>
              <a:rPr lang="ko-KR" altLang="en-US" dirty="0" smtClean="0"/>
              <a:t>인터럽트 서비스 루틴</a:t>
            </a:r>
            <a:r>
              <a:rPr lang="en-US" altLang="ko-KR" dirty="0" smtClean="0"/>
              <a:t>(ISR)</a:t>
            </a:r>
            <a:r>
              <a:rPr lang="ko-KR" altLang="en-US" dirty="0" smtClean="0"/>
              <a:t>의 주소</a:t>
            </a:r>
            <a:endParaRPr lang="en-US" altLang="ko-KR" dirty="0" smtClean="0"/>
          </a:p>
          <a:p>
            <a:r>
              <a:rPr lang="ko-KR" altLang="en-US" dirty="0"/>
              <a:t>인터럽트 벡터 </a:t>
            </a:r>
            <a:r>
              <a:rPr lang="ko-KR" altLang="en-US" dirty="0" smtClean="0"/>
              <a:t>테이블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인터럽트 벡터를 모아놓은 테이블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프로그램의 시작 부분에 존재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인터럽트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9133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731937" y="205732"/>
            <a:ext cx="7800503" cy="6524910"/>
            <a:chOff x="755576" y="205732"/>
            <a:chExt cx="7800503" cy="6524910"/>
          </a:xfrm>
        </p:grpSpPr>
        <p:grpSp>
          <p:nvGrpSpPr>
            <p:cNvPr id="10" name="그룹 9"/>
            <p:cNvGrpSpPr/>
            <p:nvPr/>
          </p:nvGrpSpPr>
          <p:grpSpPr>
            <a:xfrm>
              <a:off x="755576" y="205732"/>
              <a:ext cx="6593710" cy="6524910"/>
              <a:chOff x="904980" y="205732"/>
              <a:chExt cx="6593710" cy="6524910"/>
            </a:xfrm>
          </p:grpSpPr>
          <p:pic>
            <p:nvPicPr>
              <p:cNvPr id="5" name="그림 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4980" y="206017"/>
                <a:ext cx="5372100" cy="6524625"/>
              </a:xfrm>
              <a:prstGeom prst="rect">
                <a:avLst/>
              </a:prstGeom>
            </p:spPr>
          </p:pic>
          <p:pic>
            <p:nvPicPr>
              <p:cNvPr id="9" name="그림 8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79490" y="205732"/>
                <a:ext cx="1219200" cy="6524625"/>
              </a:xfrm>
              <a:prstGeom prst="rect">
                <a:avLst/>
              </a:prstGeom>
            </p:spPr>
          </p:pic>
        </p:grpSp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08304" y="206016"/>
              <a:ext cx="1247775" cy="558687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08304" y="764702"/>
              <a:ext cx="1247775" cy="59656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437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인터럽트 발생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벡터번호 </a:t>
            </a:r>
            <a:r>
              <a:rPr lang="en-US" altLang="ko-KR" dirty="0" smtClean="0"/>
              <a:t>4</a:t>
            </a:r>
            <a:r>
              <a:rPr lang="ko-KR" altLang="en-US" dirty="0" smtClean="0"/>
              <a:t>번</a:t>
            </a:r>
            <a:r>
              <a:rPr lang="en-US" altLang="ko-KR" dirty="0" smtClean="0"/>
              <a:t>,</a:t>
            </a:r>
            <a:r>
              <a:rPr lang="ko-KR" altLang="en-US" dirty="0" smtClean="0"/>
              <a:t> 핀 변화 인터럽트 </a:t>
            </a:r>
            <a:r>
              <a:rPr lang="en-US" altLang="ko-KR" dirty="0" smtClean="0"/>
              <a:t>0</a:t>
            </a:r>
            <a:r>
              <a:rPr lang="ko-KR" altLang="en-US" dirty="0" smtClean="0"/>
              <a:t>번 </a:t>
            </a:r>
            <a:r>
              <a:rPr lang="en-US" altLang="ko-KR" dirty="0" smtClean="0"/>
              <a:t>(PCINT0)</a:t>
            </a:r>
            <a:r>
              <a:rPr lang="ko-KR" altLang="en-US" dirty="0" smtClean="0"/>
              <a:t> 발생</a:t>
            </a:r>
            <a:endParaRPr lang="en-US" altLang="ko-KR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인터럽트 벡터 테이블의 해당 프로그램 주소로 이동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핀 변화 인터럽트 </a:t>
            </a:r>
            <a:r>
              <a:rPr lang="en-US" altLang="ko-KR" dirty="0" smtClean="0"/>
              <a:t>0</a:t>
            </a:r>
            <a:r>
              <a:rPr lang="ko-KR" altLang="en-US" dirty="0" smtClean="0"/>
              <a:t>번에 해당하는 프로그램 주소는 </a:t>
            </a:r>
            <a:r>
              <a:rPr lang="en-US" altLang="ko-KR" dirty="0" smtClean="0"/>
              <a:t>0x0006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프로그램</a:t>
            </a:r>
            <a:r>
              <a:rPr lang="en-US" altLang="ko-KR" dirty="0" smtClean="0"/>
              <a:t> </a:t>
            </a:r>
            <a:r>
              <a:rPr lang="ko-KR" altLang="en-US" dirty="0" smtClean="0"/>
              <a:t>주소에 기록된 </a:t>
            </a:r>
            <a:r>
              <a:rPr lang="en-US" altLang="ko-KR" dirty="0" smtClean="0"/>
              <a:t>ISR</a:t>
            </a:r>
            <a:r>
              <a:rPr lang="ko-KR" altLang="en-US" dirty="0" smtClean="0"/>
              <a:t> 주소 찾기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0x0006 </a:t>
            </a:r>
            <a:r>
              <a:rPr lang="ko-KR" altLang="en-US" dirty="0" smtClean="0"/>
              <a:t>번지에 사용자가 작성한 </a:t>
            </a:r>
            <a:r>
              <a:rPr lang="en-US" altLang="ko-KR" dirty="0" smtClean="0"/>
              <a:t>ISR</a:t>
            </a:r>
            <a:r>
              <a:rPr lang="ko-KR" altLang="en-US" dirty="0" smtClean="0"/>
              <a:t>의 주소가 기록되어 있음</a:t>
            </a:r>
            <a:endParaRPr lang="en-US" altLang="ko-KR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해당 </a:t>
            </a:r>
            <a:r>
              <a:rPr lang="en-US" altLang="ko-KR" dirty="0" smtClean="0"/>
              <a:t>ISR</a:t>
            </a:r>
            <a:r>
              <a:rPr lang="ko-KR" altLang="en-US" dirty="0" smtClean="0"/>
              <a:t>로 이동 및 처리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ISR</a:t>
            </a:r>
            <a:r>
              <a:rPr lang="ko-KR" altLang="en-US" dirty="0" smtClean="0"/>
              <a:t>로 이동하여 인터럽트 처리</a:t>
            </a:r>
            <a:endParaRPr lang="en-US" altLang="ko-KR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인터럽트 처리 후 인터럽트 발생 이전으로 되돌아가 실행 계속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인터럽트 처리의 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0481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smtClean="0"/>
              <a:t>다음 </a:t>
            </a:r>
            <a:r>
              <a:rPr lang="en-US" altLang="ko-KR" sz="2000" dirty="0" smtClean="0"/>
              <a:t>3</a:t>
            </a:r>
            <a:r>
              <a:rPr lang="ko-KR" altLang="en-US" sz="2000" dirty="0" smtClean="0"/>
              <a:t>가지 조건을 충족하면 </a:t>
            </a:r>
            <a:r>
              <a:rPr lang="en-US" altLang="ko-KR" sz="2000" dirty="0" smtClean="0"/>
              <a:t>ISR</a:t>
            </a:r>
            <a:r>
              <a:rPr lang="ko-KR" altLang="en-US" sz="2000" dirty="0" smtClean="0"/>
              <a:t>이 호출되고 인터럽트가 처리됨</a:t>
            </a:r>
            <a:endParaRPr lang="en-US" altLang="ko-KR" sz="2000" dirty="0" smtClean="0"/>
          </a:p>
          <a:p>
            <a:pPr lvl="1"/>
            <a:r>
              <a:rPr lang="ko-KR" altLang="en-US" sz="2000" b="1" dirty="0" smtClean="0"/>
              <a:t>전역적 인터럽트 활성화 비트가 세트</a:t>
            </a:r>
            <a:endParaRPr lang="en-US" altLang="ko-KR" sz="2000" b="1" dirty="0" smtClean="0"/>
          </a:p>
          <a:p>
            <a:pPr lvl="1"/>
            <a:r>
              <a:rPr lang="ko-KR" altLang="en-US" sz="2000" b="1" dirty="0" err="1" smtClean="0"/>
              <a:t>인터럽트별로</a:t>
            </a:r>
            <a:r>
              <a:rPr lang="ko-KR" altLang="en-US" sz="2000" b="1" dirty="0" smtClean="0"/>
              <a:t> 개별 인터럽트 활성화 비트 세트</a:t>
            </a:r>
            <a:endParaRPr lang="en-US" altLang="ko-KR" sz="2000" b="1" dirty="0" smtClean="0"/>
          </a:p>
          <a:p>
            <a:pPr lvl="1"/>
            <a:r>
              <a:rPr lang="ko-KR" altLang="en-US" sz="2000" b="1" dirty="0" smtClean="0"/>
              <a:t>인터럽트에 해당하는 이벤트 발생</a:t>
            </a:r>
            <a:endParaRPr lang="en-US" altLang="ko-KR" sz="2000" b="1" dirty="0" smtClean="0"/>
          </a:p>
          <a:p>
            <a:pPr lvl="1"/>
            <a:endParaRPr lang="en-US" altLang="ko-KR" sz="2000" dirty="0" smtClean="0"/>
          </a:p>
          <a:p>
            <a:r>
              <a:rPr lang="ko-KR" altLang="en-US" sz="2000" dirty="0" smtClean="0"/>
              <a:t>전역 인터럽트 활성화 비트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SREG </a:t>
            </a:r>
            <a:r>
              <a:rPr lang="ko-KR" altLang="en-US" sz="2000" dirty="0" smtClean="0"/>
              <a:t>레지스터</a:t>
            </a:r>
            <a:r>
              <a:rPr lang="en-US" altLang="ko-KR" sz="2000" dirty="0" smtClean="0"/>
              <a:t>(status register, </a:t>
            </a:r>
            <a:r>
              <a:rPr lang="ko-KR" altLang="en-US" sz="2000" dirty="0"/>
              <a:t>상태 레지스터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의 </a:t>
            </a:r>
            <a:r>
              <a:rPr lang="en-US" altLang="ko-KR" sz="2000" dirty="0" smtClean="0"/>
              <a:t>7</a:t>
            </a:r>
            <a:r>
              <a:rPr lang="ko-KR" altLang="en-US" sz="2000" dirty="0" smtClean="0"/>
              <a:t>번 </a:t>
            </a:r>
            <a:r>
              <a:rPr lang="en-US" altLang="ko-KR" sz="2000" dirty="0" smtClean="0"/>
              <a:t>‘I’ </a:t>
            </a:r>
            <a:r>
              <a:rPr lang="ko-KR" altLang="en-US" sz="2000" dirty="0" smtClean="0"/>
              <a:t>비트에 해당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전역 인터럽트 활성화 함수 </a:t>
            </a:r>
            <a:r>
              <a:rPr lang="en-US" altLang="ko-KR" sz="2000" dirty="0" smtClean="0"/>
              <a:t>: </a:t>
            </a:r>
            <a:r>
              <a:rPr lang="en-US" altLang="ko-KR" sz="2000" dirty="0" err="1" smtClean="0"/>
              <a:t>sei</a:t>
            </a:r>
            <a:r>
              <a:rPr lang="en-US" altLang="ko-KR" sz="2000" dirty="0" smtClean="0"/>
              <a:t> (Set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Interrupt)</a:t>
            </a:r>
          </a:p>
          <a:p>
            <a:pPr lvl="1"/>
            <a:r>
              <a:rPr lang="ko-KR" altLang="en-US" sz="2000" dirty="0" smtClean="0"/>
              <a:t>전역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인터럽트 비활성화 함수 </a:t>
            </a:r>
            <a:r>
              <a:rPr lang="en-US" altLang="ko-KR" sz="2000" dirty="0" smtClean="0"/>
              <a:t>: cli (Clear Interrupt)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ISR </a:t>
            </a:r>
            <a:r>
              <a:rPr lang="ko-KR" altLang="en-US" dirty="0" smtClean="0"/>
              <a:t>호출 조건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7329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656" y="1628800"/>
            <a:ext cx="6333652" cy="1025100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SREG </a:t>
            </a:r>
            <a:r>
              <a:rPr lang="ko-KR" altLang="en-US" dirty="0" smtClean="0"/>
              <a:t>레지스터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062" y="2852936"/>
            <a:ext cx="6336704" cy="344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610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인터럽트 별 활성화 비트</a:t>
            </a:r>
            <a:endParaRPr lang="en-US" altLang="ko-KR" sz="2000" dirty="0"/>
          </a:p>
          <a:p>
            <a:pPr lvl="1"/>
            <a:r>
              <a:rPr lang="ko-KR" altLang="en-US" sz="2000" dirty="0"/>
              <a:t>인터럽트 종류에 따라 서로 다른 레지스터에 활성화 비트가 </a:t>
            </a:r>
            <a:r>
              <a:rPr lang="ko-KR" altLang="en-US" sz="2000" dirty="0" smtClean="0"/>
              <a:t>존재</a:t>
            </a:r>
            <a:endParaRPr lang="en-US" altLang="ko-KR" sz="2000" dirty="0" smtClean="0"/>
          </a:p>
          <a:p>
            <a:pPr lvl="1"/>
            <a:endParaRPr lang="ko-KR" altLang="en-US" sz="2000" dirty="0"/>
          </a:p>
          <a:p>
            <a:pPr lvl="1"/>
            <a:r>
              <a:rPr lang="en-US" altLang="ko-KR" sz="1800" dirty="0" smtClean="0"/>
              <a:t>AD </a:t>
            </a:r>
            <a:r>
              <a:rPr lang="ko-KR" altLang="en-US" sz="1800" dirty="0" smtClean="0"/>
              <a:t>변환 완료 인터럽트 활성화 비트</a:t>
            </a:r>
            <a:endParaRPr lang="en-US" altLang="ko-KR" sz="1800" dirty="0" smtClean="0"/>
          </a:p>
          <a:p>
            <a:pPr lvl="2"/>
            <a:r>
              <a:rPr lang="en-US" altLang="ko-KR" sz="1800" dirty="0" smtClean="0"/>
              <a:t>ADCSRA (ADC Control and Status Register A) </a:t>
            </a:r>
            <a:r>
              <a:rPr lang="ko-KR" altLang="en-US" sz="1800" dirty="0" smtClean="0"/>
              <a:t>레지스터의 </a:t>
            </a:r>
            <a:r>
              <a:rPr lang="en-US" altLang="ko-KR" sz="1800" dirty="0" smtClean="0"/>
              <a:t>ADIE (ADC</a:t>
            </a:r>
            <a:r>
              <a:rPr lang="ko-KR" altLang="en-US" sz="1800" dirty="0" smtClean="0"/>
              <a:t> </a:t>
            </a:r>
            <a:r>
              <a:rPr lang="en-US" altLang="ko-KR" sz="1800" dirty="0" smtClean="0"/>
              <a:t>Interrupt Enable) </a:t>
            </a:r>
            <a:r>
              <a:rPr lang="ko-KR" altLang="en-US" sz="1800" dirty="0" smtClean="0"/>
              <a:t>비트</a:t>
            </a:r>
            <a:endParaRPr lang="en-US" altLang="ko-KR" sz="1800" dirty="0" smtClean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 smtClean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 smtClean="0"/>
          </a:p>
          <a:p>
            <a:endParaRPr lang="en-US" altLang="ko-KR" sz="2000" dirty="0" smtClean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AD </a:t>
            </a:r>
            <a:r>
              <a:rPr lang="ko-KR" altLang="en-US" dirty="0" smtClean="0"/>
              <a:t>변환 완료 인터럽트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812" y="4036089"/>
            <a:ext cx="4864000" cy="148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34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중첩된 인터럽트</a:t>
            </a:r>
            <a:r>
              <a:rPr lang="en-US" altLang="ko-KR" dirty="0" smtClean="0"/>
              <a:t> </a:t>
            </a:r>
            <a:r>
              <a:rPr lang="ko-KR" altLang="en-US" dirty="0" smtClean="0"/>
              <a:t>금지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인터럽트 처리를 위해서는 현재 상태를 메모리에 저장</a:t>
            </a:r>
            <a:r>
              <a:rPr lang="en-US" altLang="ko-KR" dirty="0" smtClean="0"/>
              <a:t>(push)</a:t>
            </a:r>
            <a:r>
              <a:rPr lang="ko-KR" altLang="en-US" dirty="0" smtClean="0"/>
              <a:t>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인터럽트 처리 후 다시 복원</a:t>
            </a:r>
            <a:r>
              <a:rPr lang="en-US" altLang="ko-KR" dirty="0" smtClean="0"/>
              <a:t>(pop)</a:t>
            </a:r>
          </a:p>
          <a:p>
            <a:pPr lvl="1"/>
            <a:r>
              <a:rPr lang="ko-KR" altLang="en-US" dirty="0" smtClean="0"/>
              <a:t>중첩된 인터럽트는 메모리에 저장할 상태의 수를 증가시켜 메모리 소비를 증가시킴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ISR </a:t>
            </a:r>
            <a:r>
              <a:rPr lang="ko-KR" altLang="en-US" dirty="0" smtClean="0"/>
              <a:t>내에서는 인터럽트 발생을 허용하지 않는 것이 일반적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인터럽트 처리 중 중요한 인터럽트를 놓치지 않아야 함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ISR</a:t>
            </a:r>
            <a:r>
              <a:rPr lang="ko-KR" altLang="en-US" dirty="0" smtClean="0"/>
              <a:t>은 가능한 짧게 작성해야 함</a:t>
            </a:r>
            <a:endParaRPr lang="en-US" altLang="ko-KR" dirty="0" smtClean="0"/>
          </a:p>
          <a:p>
            <a:r>
              <a:rPr lang="ko-KR" altLang="en-US" dirty="0" smtClean="0"/>
              <a:t>인터럽트 우선순위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낮은 번호의 인터럽트가 우선순위가 높음</a:t>
            </a:r>
            <a:endParaRPr lang="en-US" altLang="ko-KR" dirty="0" smtClean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주의 사항 </a:t>
            </a:r>
            <a:r>
              <a:rPr lang="en-US" altLang="ko-KR" dirty="0" smtClean="0"/>
              <a:t>1 &amp; 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4742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smtClean="0"/>
              <a:t>최적화 방지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인터럽트는 하드웨어에서 처리됨</a:t>
            </a:r>
            <a:endParaRPr lang="en-US" altLang="ko-KR" sz="2000" dirty="0" smtClean="0"/>
          </a:p>
          <a:p>
            <a:pPr lvl="1"/>
            <a:r>
              <a:rPr lang="en-US" altLang="ko-KR" sz="2000" dirty="0"/>
              <a:t>main</a:t>
            </a:r>
            <a:r>
              <a:rPr lang="ko-KR" altLang="en-US" sz="2000" dirty="0" smtClean="0"/>
              <a:t> 함수에서 </a:t>
            </a:r>
            <a:r>
              <a:rPr lang="en-US" altLang="ko-KR" sz="2000" dirty="0" smtClean="0"/>
              <a:t>ISR</a:t>
            </a:r>
            <a:r>
              <a:rPr lang="ko-KR" altLang="en-US" sz="2000" dirty="0" smtClean="0"/>
              <a:t>을 호출하지 않음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따라서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컴파일러는 </a:t>
            </a:r>
            <a:r>
              <a:rPr lang="en-US" altLang="ko-KR" sz="2000" dirty="0" smtClean="0"/>
              <a:t>main</a:t>
            </a:r>
            <a:r>
              <a:rPr lang="ko-KR" altLang="en-US" sz="2000" dirty="0" smtClean="0"/>
              <a:t> 함수와 연관성이 없는 </a:t>
            </a:r>
            <a:r>
              <a:rPr lang="en-US" altLang="ko-KR" sz="2000" dirty="0" smtClean="0"/>
              <a:t>ISR </a:t>
            </a:r>
            <a:r>
              <a:rPr lang="ko-KR" altLang="en-US" sz="2000" dirty="0" smtClean="0"/>
              <a:t>내에서의 값 변경을 최적화 과정에서 무시할 수 있음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main </a:t>
            </a:r>
            <a:r>
              <a:rPr lang="ko-KR" altLang="en-US" sz="2000" dirty="0" smtClean="0"/>
              <a:t>함수와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소프트웨어적으로 연관성은 없지만 다른 이유로 값이 변경될 수 있으므로 최적화 과정을 생략하도록 </a:t>
            </a:r>
            <a:r>
              <a:rPr lang="en-US" altLang="ko-KR" sz="2000" dirty="0" smtClean="0"/>
              <a:t>volatile </a:t>
            </a:r>
            <a:r>
              <a:rPr lang="ko-KR" altLang="en-US" sz="2000" dirty="0" smtClean="0"/>
              <a:t>키워드를 사용하여야 함</a:t>
            </a:r>
            <a:endParaRPr lang="en-US" altLang="ko-KR" sz="2000" dirty="0" smtClean="0"/>
          </a:p>
          <a:p>
            <a:r>
              <a:rPr lang="ko-KR" altLang="en-US" sz="2000" dirty="0" smtClean="0"/>
              <a:t>단일 동작 보장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ATmega328</a:t>
            </a:r>
            <a:r>
              <a:rPr lang="ko-KR" altLang="en-US" sz="2000" dirty="0" smtClean="0"/>
              <a:t>은 </a:t>
            </a:r>
            <a:r>
              <a:rPr lang="en-US" altLang="ko-KR" sz="2000" dirty="0" smtClean="0"/>
              <a:t>8</a:t>
            </a:r>
            <a:r>
              <a:rPr lang="ko-KR" altLang="en-US" sz="2000" dirty="0" smtClean="0"/>
              <a:t>비트 </a:t>
            </a:r>
            <a:r>
              <a:rPr lang="en-US" altLang="ko-KR" sz="2000" dirty="0" smtClean="0"/>
              <a:t>CPU</a:t>
            </a:r>
            <a:r>
              <a:rPr lang="ko-KR" altLang="en-US" sz="2000" dirty="0" smtClean="0"/>
              <a:t>를 포함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16</a:t>
            </a:r>
            <a:r>
              <a:rPr lang="ko-KR" altLang="en-US" sz="2000" dirty="0" smtClean="0"/>
              <a:t>비트 값 변경 도중 인터럽트가 발생하면 예상치 못한 값이 저장될 수 있음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실행 중 인터럽트 발생을 일시 금지하기 위해 </a:t>
            </a:r>
            <a:r>
              <a:rPr lang="en-US" altLang="ko-KR" sz="2000" dirty="0" smtClean="0"/>
              <a:t>ATOMIC_BLOCK </a:t>
            </a:r>
            <a:r>
              <a:rPr lang="ko-KR" altLang="en-US" sz="2000" dirty="0" smtClean="0"/>
              <a:t>사용</a:t>
            </a:r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주의 사항 </a:t>
            </a:r>
            <a:r>
              <a:rPr lang="en-US" altLang="ko-KR" dirty="0" smtClean="0"/>
              <a:t>3 &amp; 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7439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코드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5536" y="1844824"/>
            <a:ext cx="338437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int</a:t>
            </a:r>
            <a:r>
              <a:rPr lang="en-US" altLang="ko-KR" sz="1400" dirty="0"/>
              <a:t> value = 0 ;</a:t>
            </a:r>
          </a:p>
          <a:p>
            <a:endParaRPr lang="ko-KR" altLang="en-US" sz="1400" dirty="0"/>
          </a:p>
          <a:p>
            <a:r>
              <a:rPr lang="en-US" altLang="ko-KR" sz="1400" dirty="0"/>
              <a:t>ISR(INT0_vect)</a:t>
            </a:r>
          </a:p>
          <a:p>
            <a:r>
              <a:rPr lang="en-US" altLang="ko-KR" sz="1400" dirty="0"/>
              <a:t>{</a:t>
            </a:r>
          </a:p>
          <a:p>
            <a:r>
              <a:rPr lang="en-US" altLang="ko-KR" sz="1400" dirty="0" smtClean="0"/>
              <a:t>      value  </a:t>
            </a:r>
            <a:r>
              <a:rPr lang="en-US" altLang="ko-KR" sz="1400" dirty="0"/>
              <a:t>= (value + 1) % 2 ;</a:t>
            </a:r>
          </a:p>
          <a:p>
            <a:r>
              <a:rPr lang="en-US" altLang="ko-KR" sz="1400" dirty="0"/>
              <a:t>}</a:t>
            </a:r>
          </a:p>
          <a:p>
            <a:endParaRPr lang="ko-KR" altLang="en-US" sz="1400" dirty="0"/>
          </a:p>
          <a:p>
            <a:r>
              <a:rPr lang="en-US" altLang="ko-KR" sz="1400" dirty="0" err="1"/>
              <a:t>int</a:t>
            </a:r>
            <a:r>
              <a:rPr lang="en-US" altLang="ko-KR" sz="1400" dirty="0"/>
              <a:t> main(void)</a:t>
            </a:r>
          </a:p>
          <a:p>
            <a:r>
              <a:rPr lang="en-US" altLang="ko-KR" sz="1400" dirty="0" smtClean="0"/>
              <a:t>{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</a:t>
            </a:r>
            <a:r>
              <a:rPr lang="en-US" altLang="ko-KR" sz="1400" dirty="0" err="1" smtClean="0"/>
              <a:t>SetupInterrupt</a:t>
            </a:r>
            <a:r>
              <a:rPr lang="en-US" altLang="ko-KR" sz="1400" dirty="0" smtClean="0"/>
              <a:t>();</a:t>
            </a:r>
            <a:endParaRPr lang="en-US" altLang="ko-KR" sz="1400" dirty="0"/>
          </a:p>
          <a:p>
            <a:r>
              <a:rPr lang="en-US" altLang="ko-KR" sz="1400" dirty="0" smtClean="0"/>
              <a:t>     …</a:t>
            </a:r>
            <a:endParaRPr lang="ko-KR" altLang="en-US" sz="1400" dirty="0"/>
          </a:p>
          <a:p>
            <a:r>
              <a:rPr lang="en-US" altLang="ko-KR" sz="1400" dirty="0" smtClean="0"/>
              <a:t>     while(1){</a:t>
            </a:r>
          </a:p>
          <a:p>
            <a:r>
              <a:rPr lang="en-US" altLang="ko-KR" sz="1400" dirty="0" smtClean="0"/>
              <a:t>          If(value </a:t>
            </a:r>
            <a:r>
              <a:rPr lang="en-US" altLang="ko-KR" sz="1400" dirty="0"/>
              <a:t>== 1) </a:t>
            </a:r>
            <a:r>
              <a:rPr lang="en-US" altLang="ko-KR" sz="1400" dirty="0" smtClean="0"/>
              <a:t>{…}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}</a:t>
            </a:r>
          </a:p>
          <a:p>
            <a:r>
              <a:rPr lang="en-US" altLang="ko-KR" sz="1400" dirty="0" smtClean="0"/>
              <a:t>}</a:t>
            </a:r>
            <a:endParaRPr lang="en-US" altLang="ko-KR" sz="1400" dirty="0"/>
          </a:p>
          <a:p>
            <a:endParaRPr lang="ko-KR" alt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3995936" y="1844824"/>
            <a:ext cx="511256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volatile</a:t>
            </a:r>
            <a:r>
              <a:rPr lang="en-US" altLang="ko-KR" sz="1400" dirty="0"/>
              <a:t>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value = 0 ;</a:t>
            </a:r>
          </a:p>
          <a:p>
            <a:endParaRPr lang="ko-KR" altLang="en-US" sz="1400" dirty="0"/>
          </a:p>
          <a:p>
            <a:r>
              <a:rPr lang="en-US" altLang="ko-KR" sz="1400" dirty="0"/>
              <a:t>ISR(INT0_vect)</a:t>
            </a:r>
          </a:p>
          <a:p>
            <a:r>
              <a:rPr lang="en-US" altLang="ko-KR" sz="1400" dirty="0"/>
              <a:t>{</a:t>
            </a:r>
            <a:endParaRPr lang="ko-KR" altLang="en-US" sz="1400" dirty="0"/>
          </a:p>
          <a:p>
            <a:r>
              <a:rPr lang="en-US" altLang="ko-KR" sz="1400" dirty="0" smtClean="0"/>
              <a:t>     value  </a:t>
            </a:r>
            <a:r>
              <a:rPr lang="en-US" altLang="ko-KR" sz="1400" dirty="0"/>
              <a:t>= (value +1) % 2 ;</a:t>
            </a:r>
          </a:p>
          <a:p>
            <a:r>
              <a:rPr lang="en-US" altLang="ko-KR" sz="1400" dirty="0"/>
              <a:t>}</a:t>
            </a:r>
            <a:endParaRPr lang="ko-KR" altLang="en-US" sz="1400" dirty="0"/>
          </a:p>
          <a:p>
            <a:endParaRPr lang="ko-KR" altLang="en-US" sz="1400" dirty="0"/>
          </a:p>
          <a:p>
            <a:r>
              <a:rPr lang="en-US" altLang="ko-KR" sz="1400" dirty="0" err="1"/>
              <a:t>int</a:t>
            </a:r>
            <a:r>
              <a:rPr lang="en-US" altLang="ko-KR" sz="1400" dirty="0"/>
              <a:t> main(void)</a:t>
            </a:r>
          </a:p>
          <a:p>
            <a:r>
              <a:rPr lang="en-US" altLang="ko-KR" sz="1400" dirty="0"/>
              <a:t>{</a:t>
            </a:r>
            <a:endParaRPr lang="ko-KR" altLang="en-US" sz="1400" dirty="0"/>
          </a:p>
          <a:p>
            <a:r>
              <a:rPr lang="en-US" altLang="ko-KR" sz="1400" dirty="0" smtClean="0"/>
              <a:t>   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/>
              <a:t>local_value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;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</a:t>
            </a:r>
            <a:r>
              <a:rPr lang="en-US" altLang="ko-KR" sz="1400" dirty="0" err="1" smtClean="0"/>
              <a:t>SetupInterrupt</a:t>
            </a:r>
            <a:r>
              <a:rPr lang="en-US" altLang="ko-KR" sz="1400" dirty="0"/>
              <a:t>();</a:t>
            </a:r>
            <a:endParaRPr lang="en-US" altLang="ko-KR" sz="1400" dirty="0"/>
          </a:p>
          <a:p>
            <a:r>
              <a:rPr lang="en-US" altLang="ko-KR" sz="1400" dirty="0" smtClean="0"/>
              <a:t>    …</a:t>
            </a:r>
            <a:endParaRPr lang="ko-KR" altLang="en-US" sz="1400" dirty="0"/>
          </a:p>
          <a:p>
            <a:r>
              <a:rPr lang="en-US" altLang="ko-KR" sz="1400" dirty="0" smtClean="0"/>
              <a:t>    while(1</a:t>
            </a:r>
            <a:r>
              <a:rPr lang="en-US" altLang="ko-KR" sz="1400" dirty="0"/>
              <a:t>){</a:t>
            </a:r>
          </a:p>
          <a:p>
            <a:r>
              <a:rPr lang="en-US" altLang="ko-KR" sz="1400" dirty="0" smtClean="0"/>
              <a:t>          </a:t>
            </a:r>
            <a:r>
              <a:rPr lang="en-US" altLang="ko-KR" sz="1400" b="1" dirty="0" smtClean="0"/>
              <a:t>ATOMIC_BLOCK(ATOMIC_RESTORESTATE</a:t>
            </a:r>
            <a:r>
              <a:rPr lang="en-US" altLang="ko-KR" sz="1400" b="1" dirty="0"/>
              <a:t>)</a:t>
            </a:r>
            <a:r>
              <a:rPr lang="en-US" altLang="ko-KR" sz="1400" dirty="0"/>
              <a:t>{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  </a:t>
            </a:r>
            <a:r>
              <a:rPr lang="en-US" altLang="ko-KR" sz="1400" dirty="0" err="1" smtClean="0"/>
              <a:t>local_value</a:t>
            </a:r>
            <a:r>
              <a:rPr lang="en-US" altLang="ko-KR" sz="1400" dirty="0" smtClean="0"/>
              <a:t> </a:t>
            </a:r>
            <a:r>
              <a:rPr lang="en-US" altLang="ko-KR" sz="1400" dirty="0"/>
              <a:t>= value;</a:t>
            </a:r>
          </a:p>
          <a:p>
            <a:r>
              <a:rPr lang="en-US" altLang="ko-KR" sz="1400" dirty="0" smtClean="0"/>
              <a:t>          }</a:t>
            </a:r>
            <a:endParaRPr lang="ko-KR" altLang="en-US" sz="1400" dirty="0"/>
          </a:p>
          <a:p>
            <a:r>
              <a:rPr lang="en-US" altLang="ko-KR" sz="1400" dirty="0" smtClean="0"/>
              <a:t>          If(</a:t>
            </a:r>
            <a:r>
              <a:rPr lang="en-US" altLang="ko-KR" sz="1400" dirty="0" err="1" smtClean="0"/>
              <a:t>local_value</a:t>
            </a:r>
            <a:r>
              <a:rPr lang="en-US" altLang="ko-KR" sz="1400" dirty="0" smtClean="0"/>
              <a:t> </a:t>
            </a:r>
            <a:r>
              <a:rPr lang="en-US" altLang="ko-KR" sz="1400" dirty="0"/>
              <a:t>== 1) </a:t>
            </a:r>
            <a:r>
              <a:rPr lang="en-US" altLang="ko-KR" sz="1400" dirty="0" smtClean="0"/>
              <a:t>{…}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}</a:t>
            </a:r>
          </a:p>
          <a:p>
            <a:r>
              <a:rPr lang="en-US" altLang="ko-KR" sz="1400" dirty="0" smtClean="0"/>
              <a:t>}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13410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 smtClean="0"/>
              <a:t>RESET</a:t>
            </a:r>
            <a:r>
              <a:rPr lang="ko-KR" altLang="en-US" sz="2000" dirty="0" smtClean="0"/>
              <a:t>을 제외하고 우선순위가 가장 높은 인터럽트</a:t>
            </a:r>
            <a:endParaRPr lang="en-US" altLang="ko-KR" sz="2000" dirty="0" smtClean="0"/>
          </a:p>
          <a:p>
            <a:r>
              <a:rPr lang="ko-KR" altLang="en-US" sz="2000" dirty="0" smtClean="0"/>
              <a:t>전용 핀에 가해지는 전압의 변화와 상태에 의해 발생</a:t>
            </a:r>
            <a:endParaRPr lang="en-US" altLang="ko-KR" sz="2000" dirty="0" smtClean="0"/>
          </a:p>
          <a:p>
            <a:pPr lvl="1"/>
            <a:r>
              <a:rPr lang="en-US" altLang="ko-KR" sz="1800" dirty="0" smtClean="0"/>
              <a:t>INT0 : PD2 </a:t>
            </a:r>
            <a:r>
              <a:rPr lang="ko-KR" altLang="en-US" sz="1800" dirty="0" smtClean="0"/>
              <a:t>또는 디지털 </a:t>
            </a:r>
            <a:r>
              <a:rPr lang="en-US" altLang="ko-KR" sz="1800" dirty="0" smtClean="0"/>
              <a:t>2</a:t>
            </a:r>
            <a:r>
              <a:rPr lang="ko-KR" altLang="en-US" sz="1800" dirty="0" smtClean="0"/>
              <a:t>번 핀</a:t>
            </a:r>
            <a:endParaRPr lang="en-US" altLang="ko-KR" sz="1800" dirty="0" smtClean="0"/>
          </a:p>
          <a:p>
            <a:pPr lvl="1"/>
            <a:r>
              <a:rPr lang="en-US" altLang="ko-KR" sz="1800" dirty="0" smtClean="0"/>
              <a:t>INT1 : PD3 </a:t>
            </a:r>
            <a:r>
              <a:rPr lang="ko-KR" altLang="en-US" sz="1800" dirty="0" smtClean="0"/>
              <a:t>또는 디지털 </a:t>
            </a:r>
            <a:r>
              <a:rPr lang="en-US" altLang="ko-KR" sz="1800" dirty="0" smtClean="0"/>
              <a:t>3</a:t>
            </a:r>
            <a:r>
              <a:rPr lang="ko-KR" altLang="en-US" sz="1800" dirty="0" smtClean="0"/>
              <a:t>번 핀</a:t>
            </a:r>
            <a:endParaRPr lang="en-US" altLang="ko-KR" sz="1800" dirty="0"/>
          </a:p>
          <a:p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외부 인터럽트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05" y="2996952"/>
            <a:ext cx="4159919" cy="328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793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INT0 </a:t>
            </a:r>
            <a:r>
              <a:rPr lang="ko-KR" altLang="en-US" dirty="0" smtClean="0"/>
              <a:t>인터럽트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52" y="1904864"/>
            <a:ext cx="4260440" cy="426044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864" y="1904864"/>
            <a:ext cx="4260440" cy="42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579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코드</a:t>
            </a:r>
            <a:r>
              <a:rPr lang="en-US" altLang="ko-KR" dirty="0" smtClean="0"/>
              <a:t> 13-6: INT0 </a:t>
            </a:r>
            <a:r>
              <a:rPr lang="ko-KR" altLang="en-US" dirty="0" smtClean="0"/>
              <a:t>인터럽트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340767"/>
            <a:ext cx="5544616" cy="534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832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External Interrupt Mask Register</a:t>
            </a:r>
          </a:p>
          <a:p>
            <a:pPr lvl="1"/>
            <a:r>
              <a:rPr lang="ko-KR" altLang="en-US" dirty="0" smtClean="0"/>
              <a:t>외부 인터럽트 활성화 비트 포함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SREG </a:t>
            </a:r>
            <a:r>
              <a:rPr lang="ko-KR" altLang="en-US" dirty="0" smtClean="0"/>
              <a:t>레지스터의 </a:t>
            </a:r>
            <a:r>
              <a:rPr lang="en-US" altLang="ko-KR" dirty="0" smtClean="0"/>
              <a:t>I </a:t>
            </a:r>
            <a:r>
              <a:rPr lang="ko-KR" altLang="en-US" dirty="0" smtClean="0"/>
              <a:t>비트도 </a:t>
            </a:r>
            <a:r>
              <a:rPr lang="en-US" altLang="ko-KR" dirty="0" smtClean="0"/>
              <a:t>1</a:t>
            </a:r>
            <a:r>
              <a:rPr lang="ko-KR" altLang="en-US" dirty="0" smtClean="0"/>
              <a:t>로 </a:t>
            </a:r>
            <a:r>
              <a:rPr lang="ko-KR" altLang="en-US" dirty="0" err="1" smtClean="0"/>
              <a:t>세트되어</a:t>
            </a:r>
            <a:r>
              <a:rPr lang="ko-KR" altLang="en-US" dirty="0" smtClean="0"/>
              <a:t> 있어야 함</a:t>
            </a:r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EIMSK </a:t>
            </a:r>
            <a:r>
              <a:rPr lang="ko-KR" altLang="en-US" dirty="0"/>
              <a:t>레지스터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212976"/>
            <a:ext cx="7859048" cy="126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269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External Interrupt Control Register A</a:t>
            </a:r>
          </a:p>
          <a:p>
            <a:pPr lvl="1"/>
            <a:r>
              <a:rPr lang="ko-KR" altLang="en-US" dirty="0" smtClean="0"/>
              <a:t>외부</a:t>
            </a:r>
            <a:r>
              <a:rPr lang="en-US" altLang="ko-KR" dirty="0" smtClean="0"/>
              <a:t> </a:t>
            </a:r>
            <a:r>
              <a:rPr lang="ko-KR" altLang="en-US" dirty="0" smtClean="0"/>
              <a:t>인터럽트의 발생 시점 결정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인터럽트 별로 </a:t>
            </a:r>
            <a:r>
              <a:rPr lang="en-US" altLang="ko-KR" dirty="0" smtClean="0"/>
              <a:t>2</a:t>
            </a:r>
            <a:r>
              <a:rPr lang="ko-KR" altLang="en-US" dirty="0" smtClean="0"/>
              <a:t>비트가 사용</a:t>
            </a:r>
            <a:r>
              <a:rPr lang="en-US" altLang="ko-KR" dirty="0" smtClean="0"/>
              <a:t>, 4</a:t>
            </a:r>
            <a:r>
              <a:rPr lang="ko-KR" altLang="en-US" dirty="0" smtClean="0"/>
              <a:t>가지 조건 중 하나 지정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EICRA </a:t>
            </a:r>
            <a:r>
              <a:rPr lang="ko-KR" altLang="en-US" dirty="0"/>
              <a:t>레지스터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17" y="3197659"/>
            <a:ext cx="6783333" cy="106666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17" y="4542827"/>
            <a:ext cx="6930000" cy="15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194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smtClean="0"/>
              <a:t>외부 인터럽트는 지정된 핀을 통해서만 사용 가능하지만</a:t>
            </a:r>
            <a:r>
              <a:rPr lang="en-US" altLang="ko-KR" sz="2000" dirty="0" smtClean="0"/>
              <a:t>,</a:t>
            </a:r>
            <a:r>
              <a:rPr lang="ko-KR" altLang="en-US" sz="2000" dirty="0" smtClean="0"/>
              <a:t> 핀 변화 인터럽트는 모든 핀에서 사용 가능</a:t>
            </a:r>
            <a:endParaRPr lang="en-US" altLang="ko-KR" sz="2000" dirty="0" smtClean="0"/>
          </a:p>
          <a:p>
            <a:r>
              <a:rPr lang="ko-KR" altLang="en-US" sz="2000" dirty="0" smtClean="0"/>
              <a:t>외부 인터럽트는 핀의 입력 변화를 포함하는 </a:t>
            </a:r>
            <a:r>
              <a:rPr lang="en-US" altLang="ko-KR" sz="2000" dirty="0" smtClean="0"/>
              <a:t>4</a:t>
            </a:r>
            <a:r>
              <a:rPr lang="ko-KR" altLang="en-US" sz="2000" dirty="0" smtClean="0"/>
              <a:t>가지 조건에서 발생 가능하지만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핀 변화 인터럽트는 입력이 변하는</a:t>
            </a:r>
            <a:r>
              <a:rPr lang="en-US" altLang="ko-KR" sz="2000" dirty="0" smtClean="0"/>
              <a:t>(falling &amp; rising edge) </a:t>
            </a:r>
            <a:r>
              <a:rPr lang="ko-KR" altLang="en-US" sz="2000" dirty="0" smtClean="0"/>
              <a:t>조건에서만 발생 가능</a:t>
            </a:r>
            <a:endParaRPr lang="en-US" altLang="ko-KR" sz="2000" dirty="0" smtClean="0"/>
          </a:p>
          <a:p>
            <a:r>
              <a:rPr lang="ko-KR" altLang="en-US" sz="2000" dirty="0" smtClean="0"/>
              <a:t>외부 인터럽트는 핀 별로 제어가 가능하지만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핀 변화 인터럽트는 </a:t>
            </a:r>
            <a:r>
              <a:rPr lang="ko-KR" altLang="en-US" sz="2000" dirty="0" err="1" smtClean="0"/>
              <a:t>포트별로</a:t>
            </a:r>
            <a:r>
              <a:rPr lang="ko-KR" altLang="en-US" sz="2000" dirty="0" smtClean="0"/>
              <a:t> 제어가 가능</a:t>
            </a:r>
            <a:endParaRPr lang="en-US" altLang="ko-KR" sz="2000" dirty="0"/>
          </a:p>
          <a:p>
            <a:pPr lvl="1"/>
            <a:r>
              <a:rPr lang="ko-KR" altLang="en-US" sz="2000" dirty="0" err="1" smtClean="0"/>
              <a:t>포트별로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PCINT0, PCINT1, PCINT2</a:t>
            </a:r>
            <a:r>
              <a:rPr lang="ko-KR" altLang="en-US" sz="2000" dirty="0" smtClean="0"/>
              <a:t>의 </a:t>
            </a:r>
            <a:r>
              <a:rPr lang="en-US" altLang="ko-KR" sz="2000" dirty="0" smtClean="0"/>
              <a:t>3</a:t>
            </a:r>
            <a:r>
              <a:rPr lang="ko-KR" altLang="en-US" sz="2000" dirty="0" smtClean="0"/>
              <a:t>개 인터럽트만 존재</a:t>
            </a:r>
            <a:endParaRPr lang="en-US" altLang="ko-KR" sz="2000" dirty="0" smtClean="0"/>
          </a:p>
          <a:p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핀 변화 인터럽트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000" y="4437112"/>
            <a:ext cx="6930000" cy="154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629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Pin Change Interrupt Control Register</a:t>
            </a:r>
          </a:p>
          <a:p>
            <a:pPr lvl="1"/>
            <a:r>
              <a:rPr lang="ko-KR" altLang="en-US" dirty="0" smtClean="0"/>
              <a:t>포트</a:t>
            </a:r>
            <a:r>
              <a:rPr lang="en-US" altLang="ko-KR" dirty="0" smtClean="0"/>
              <a:t> </a:t>
            </a:r>
            <a:r>
              <a:rPr lang="ko-KR" altLang="en-US" dirty="0" smtClean="0"/>
              <a:t>단위의 핀 변화 인터럽트 허용 비트 포함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포트에 포함되는 최대 </a:t>
            </a:r>
            <a:r>
              <a:rPr lang="en-US" altLang="ko-KR" dirty="0" smtClean="0"/>
              <a:t>8</a:t>
            </a:r>
            <a:r>
              <a:rPr lang="ko-KR" altLang="en-US" dirty="0" smtClean="0"/>
              <a:t>개 핀에 의한 인터럽트가 동시에 허용 또는 금지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핀 별로 인터럽트 허용 또는 금지를 위해서는 별도의 </a:t>
            </a:r>
            <a:r>
              <a:rPr lang="en-US" altLang="ko-KR" dirty="0" err="1" smtClean="0"/>
              <a:t>PCMSKn</a:t>
            </a:r>
            <a:r>
              <a:rPr lang="en-US" altLang="ko-KR" dirty="0" smtClean="0"/>
              <a:t> </a:t>
            </a:r>
            <a:r>
              <a:rPr lang="ko-KR" altLang="en-US" dirty="0" smtClean="0"/>
              <a:t>레지스터 사용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PCICR </a:t>
            </a:r>
            <a:r>
              <a:rPr lang="ko-KR" altLang="en-US" dirty="0" smtClean="0"/>
              <a:t>레지스터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636912"/>
            <a:ext cx="6880000" cy="107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71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 smtClean="0"/>
              <a:t>Pin Change Mask Register</a:t>
            </a:r>
          </a:p>
          <a:p>
            <a:pPr lvl="1"/>
            <a:r>
              <a:rPr lang="ko-KR" altLang="en-US" sz="1800" dirty="0"/>
              <a:t>핀</a:t>
            </a:r>
            <a:r>
              <a:rPr lang="en-US" altLang="ko-KR" sz="1800" dirty="0"/>
              <a:t> </a:t>
            </a:r>
            <a:r>
              <a:rPr lang="ko-KR" altLang="en-US" sz="1800" dirty="0"/>
              <a:t>변화 </a:t>
            </a:r>
            <a:r>
              <a:rPr lang="ko-KR" altLang="en-US" sz="1800" dirty="0" smtClean="0"/>
              <a:t>인터럽트가 발생하기 위해서는 다른 인터럽트와 다르게 한가지의 설정이 더 필요하다</a:t>
            </a:r>
            <a:r>
              <a:rPr lang="en-US" altLang="ko-KR" sz="1800" smtClean="0"/>
              <a:t>.</a:t>
            </a:r>
            <a:endParaRPr lang="ko-KR" altLang="en-US" sz="1800" dirty="0"/>
          </a:p>
          <a:p>
            <a:pPr lvl="1"/>
            <a:endParaRPr lang="en-US" altLang="ko-KR" sz="18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PCMSKn</a:t>
            </a:r>
            <a:r>
              <a:rPr lang="en-US" altLang="ko-KR" dirty="0" smtClean="0"/>
              <a:t> </a:t>
            </a:r>
            <a:r>
              <a:rPr lang="ko-KR" altLang="en-US" dirty="0" smtClean="0"/>
              <a:t>레지스터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722118"/>
            <a:ext cx="5922857" cy="363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685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656" y="1052736"/>
            <a:ext cx="6329905" cy="2980572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코드 </a:t>
            </a:r>
            <a:r>
              <a:rPr lang="en-US" altLang="ko-KR" dirty="0" smtClean="0"/>
              <a:t>13-8: </a:t>
            </a:r>
            <a:r>
              <a:rPr lang="ko-KR" altLang="en-US" dirty="0" smtClean="0"/>
              <a:t>핀 변화 인터럽트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417" y="3997868"/>
            <a:ext cx="6296381" cy="2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27888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1343</TotalTime>
  <Words>749</Words>
  <Application>Microsoft Office PowerPoint</Application>
  <PresentationFormat>화면 슬라이드 쇼(4:3)</PresentationFormat>
  <Paragraphs>143</Paragraphs>
  <Slides>21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기본 디자인</vt:lpstr>
      <vt:lpstr>PowerPoint 프레젠테이션</vt:lpstr>
      <vt:lpstr>폴링과 인터럽트</vt:lpstr>
      <vt:lpstr>인터럽트 처리 흐름도</vt:lpstr>
      <vt:lpstr>인터럽트</vt:lpstr>
      <vt:lpstr>PowerPoint 프레젠테이션</vt:lpstr>
      <vt:lpstr>인터럽트 처리의 예</vt:lpstr>
      <vt:lpstr>ISR 호출 조건</vt:lpstr>
      <vt:lpstr>SREG 레지스터</vt:lpstr>
      <vt:lpstr>AD 변환 완료 인터럽트</vt:lpstr>
      <vt:lpstr>주의 사항 1 &amp; 2</vt:lpstr>
      <vt:lpstr>주의 사항 3 &amp; 4</vt:lpstr>
      <vt:lpstr>코드 </vt:lpstr>
      <vt:lpstr>외부 인터럽트</vt:lpstr>
      <vt:lpstr>INT0 인터럽트</vt:lpstr>
      <vt:lpstr>코드 13-6: INT0 인터럽트</vt:lpstr>
      <vt:lpstr>EIMSK 레지스터</vt:lpstr>
      <vt:lpstr>EICRA 레지스터</vt:lpstr>
      <vt:lpstr>핀 변화 인터럽트</vt:lpstr>
      <vt:lpstr>PCICR 레지스터</vt:lpstr>
      <vt:lpstr>PCMSKn 레지스터</vt:lpstr>
      <vt:lpstr>코드 13-8: 핀 변화 인터럽트</vt:lpstr>
    </vt:vector>
  </TitlesOfParts>
  <Company>mik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김정배</dc:creator>
  <cp:lastModifiedBy>이규원</cp:lastModifiedBy>
  <cp:revision>110</cp:revision>
  <cp:lastPrinted>2020-05-12T08:11:24Z</cp:lastPrinted>
  <dcterms:created xsi:type="dcterms:W3CDTF">2005-10-10T05:21:17Z</dcterms:created>
  <dcterms:modified xsi:type="dcterms:W3CDTF">2021-05-06T03:26:07Z</dcterms:modified>
</cp:coreProperties>
</file>