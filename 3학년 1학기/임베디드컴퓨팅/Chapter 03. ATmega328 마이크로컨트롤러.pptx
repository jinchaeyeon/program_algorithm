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handoutMasterIdLst>
    <p:handoutMasterId r:id="rId21"/>
  </p:handoutMasterIdLst>
  <p:sldIdLst>
    <p:sldId id="256" r:id="rId2"/>
    <p:sldId id="282" r:id="rId3"/>
    <p:sldId id="283" r:id="rId4"/>
    <p:sldId id="284" r:id="rId5"/>
    <p:sldId id="298" r:id="rId6"/>
    <p:sldId id="285" r:id="rId7"/>
    <p:sldId id="286" r:id="rId8"/>
    <p:sldId id="287" r:id="rId9"/>
    <p:sldId id="288" r:id="rId10"/>
    <p:sldId id="289" r:id="rId11"/>
    <p:sldId id="290" r:id="rId12"/>
    <p:sldId id="291" r:id="rId13"/>
    <p:sldId id="292" r:id="rId14"/>
    <p:sldId id="293" r:id="rId15"/>
    <p:sldId id="294" r:id="rId16"/>
    <p:sldId id="295" r:id="rId17"/>
    <p:sldId id="296" r:id="rId18"/>
    <p:sldId id="297" r:id="rId19"/>
  </p:sldIdLst>
  <p:sldSz cx="9144000" cy="6858000" type="screen4x3"/>
  <p:notesSz cx="6854825" cy="9750425"/>
  <p:defaultTextStyle>
    <a:defPPr>
      <a:defRPr lang="ko-KR"/>
    </a:defPPr>
    <a:lvl1pPr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663300"/>
    <a:srgbClr val="001F56"/>
    <a:srgbClr val="38B549"/>
    <a:srgbClr val="FF6600"/>
    <a:srgbClr val="FFECC0"/>
    <a:srgbClr val="0066CC"/>
    <a:srgbClr val="990033"/>
    <a:srgbClr val="BC712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7" d="100"/>
          <a:sy n="107" d="100"/>
        </p:scale>
        <p:origin x="-1650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3" d="100"/>
          <a:sy n="53" d="100"/>
        </p:scale>
        <p:origin x="-2952" y="-84"/>
      </p:cViewPr>
      <p:guideLst>
        <p:guide orient="horz" pos="3071"/>
        <p:guide pos="2159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0213" cy="487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latinLnBrk="1" hangingPunct="1">
              <a:defRPr sz="1200">
                <a:latin typeface="굴림" charset="-127"/>
                <a:ea typeface="굴림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3025" y="0"/>
            <a:ext cx="2970213" cy="487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>
                <a:latin typeface="굴림" charset="-127"/>
                <a:ea typeface="굴림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261475"/>
            <a:ext cx="2970213" cy="487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latinLnBrk="1" hangingPunct="1">
              <a:defRPr sz="1200">
                <a:latin typeface="굴림" charset="-127"/>
                <a:ea typeface="굴림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10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3025" y="9261475"/>
            <a:ext cx="2970213" cy="487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/>
            </a:lvl1pPr>
          </a:lstStyle>
          <a:p>
            <a:pPr>
              <a:defRPr/>
            </a:pPr>
            <a:fld id="{8114954D-3975-486F-A634-AD74970EFD8A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40590970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0213" cy="487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latinLnBrk="1" hangingPunct="1">
              <a:defRPr sz="1200">
                <a:latin typeface="굴림" charset="-127"/>
                <a:ea typeface="굴림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3025" y="0"/>
            <a:ext cx="2970213" cy="487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>
                <a:latin typeface="굴림" charset="-127"/>
                <a:ea typeface="굴림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0600" y="731838"/>
            <a:ext cx="4875213" cy="3656012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630738"/>
            <a:ext cx="5483225" cy="4387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 smtClean="0"/>
              <a:t>마스터 텍스트 스타일을 편집합니다</a:t>
            </a:r>
          </a:p>
          <a:p>
            <a:pPr lvl="1"/>
            <a:r>
              <a:rPr lang="ko-KR" altLang="en-US" noProof="0" smtClean="0"/>
              <a:t>둘째 수준</a:t>
            </a:r>
          </a:p>
          <a:p>
            <a:pPr lvl="2"/>
            <a:r>
              <a:rPr lang="ko-KR" altLang="en-US" noProof="0" smtClean="0"/>
              <a:t>셋째 수준</a:t>
            </a:r>
          </a:p>
          <a:p>
            <a:pPr lvl="3"/>
            <a:r>
              <a:rPr lang="ko-KR" altLang="en-US" noProof="0" smtClean="0"/>
              <a:t>넷째 수준</a:t>
            </a:r>
          </a:p>
          <a:p>
            <a:pPr lvl="4"/>
            <a:r>
              <a:rPr lang="ko-KR" altLang="en-US" noProof="0" smtClean="0"/>
              <a:t>다섯째 수준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261475"/>
            <a:ext cx="2970213" cy="487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latinLnBrk="1" hangingPunct="1">
              <a:defRPr sz="1200">
                <a:latin typeface="굴림" charset="-127"/>
                <a:ea typeface="굴림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3025" y="9261475"/>
            <a:ext cx="2970213" cy="487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/>
            </a:lvl1pPr>
          </a:lstStyle>
          <a:p>
            <a:pPr>
              <a:defRPr/>
            </a:pPr>
            <a:fld id="{F0952833-5BF8-462B-8955-824AFCD66DFD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34310496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charset="-127"/>
        <a:ea typeface="굴림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charset="-127"/>
        <a:ea typeface="굴림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charset="-127"/>
        <a:ea typeface="굴림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charset="-127"/>
        <a:ea typeface="굴림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charset="-127"/>
        <a:ea typeface="굴림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fld id="{B6F2748E-33A7-43C4-98F3-E08F4F834479}" type="slidenum">
              <a:rPr lang="en-US" altLang="ko-KR" smtClean="0"/>
              <a:pPr>
                <a:spcBef>
                  <a:spcPct val="0"/>
                </a:spcBef>
              </a:pPr>
              <a:t>1</a:t>
            </a:fld>
            <a:endParaRPr lang="en-US" altLang="ko-KR" smtClean="0"/>
          </a:p>
        </p:txBody>
      </p:sp>
      <p:sp>
        <p:nvSpPr>
          <p:cNvPr id="61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ko-KR" altLang="ko-KR" smtClean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3413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0128B9E-F9C0-416A-832C-0884C76D2E11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25201648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D:\김정배_백업\알바누리\커버리스트\프리젠테이션\카테고리별\학교_교육\s_00002\sub_s_00002_1.jp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내용 개체 틀 2"/>
          <p:cNvSpPr>
            <a:spLocks noGrp="1"/>
          </p:cNvSpPr>
          <p:nvPr>
            <p:ph idx="1"/>
          </p:nvPr>
        </p:nvSpPr>
        <p:spPr>
          <a:xfrm>
            <a:off x="457200" y="1556792"/>
            <a:ext cx="8229600" cy="4824536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</a:lstStyle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</p:txBody>
      </p:sp>
      <p:sp>
        <p:nvSpPr>
          <p:cNvPr id="11" name="제목 1"/>
          <p:cNvSpPr>
            <a:spLocks noGrp="1"/>
          </p:cNvSpPr>
          <p:nvPr>
            <p:ph type="title"/>
          </p:nvPr>
        </p:nvSpPr>
        <p:spPr>
          <a:xfrm>
            <a:off x="457200" y="290042"/>
            <a:ext cx="7931224" cy="618678"/>
          </a:xfrm>
        </p:spPr>
        <p:txBody>
          <a:bodyPr/>
          <a:lstStyle>
            <a:lvl1pPr algn="l">
              <a:defRPr sz="3200" b="1">
                <a:solidFill>
                  <a:srgbClr val="663300"/>
                </a:solidFill>
              </a:defRPr>
            </a:lvl1pPr>
          </a:lstStyle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2" name="TextBox 1"/>
          <p:cNvSpPr txBox="1"/>
          <p:nvPr userDrawn="1"/>
        </p:nvSpPr>
        <p:spPr>
          <a:xfrm>
            <a:off x="4273729" y="6525344"/>
            <a:ext cx="483978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o-KR" altLang="en-US" sz="1200" dirty="0" err="1" smtClean="0">
                <a:solidFill>
                  <a:schemeClr val="bg1">
                    <a:lumMod val="65000"/>
                  </a:schemeClr>
                </a:solidFill>
                <a:latin typeface="HY중고딕" panose="02030600000101010101" pitchFamily="18" charset="-127"/>
                <a:ea typeface="HY중고딕" panose="02030600000101010101" pitchFamily="18" charset="-127"/>
              </a:rPr>
              <a:t>아트멜</a:t>
            </a:r>
            <a:r>
              <a:rPr lang="ko-KR" altLang="en-US" sz="1200" dirty="0" smtClean="0">
                <a:solidFill>
                  <a:schemeClr val="bg1">
                    <a:lumMod val="65000"/>
                  </a:schemeClr>
                </a:solidFill>
                <a:latin typeface="HY중고딕" panose="02030600000101010101" pitchFamily="18" charset="-127"/>
                <a:ea typeface="HY중고딕" panose="02030600000101010101" pitchFamily="18" charset="-127"/>
              </a:rPr>
              <a:t> 스튜디오와 </a:t>
            </a:r>
            <a:r>
              <a:rPr lang="ko-KR" altLang="en-US" sz="1200" dirty="0" err="1" smtClean="0">
                <a:solidFill>
                  <a:schemeClr val="bg1">
                    <a:lumMod val="65000"/>
                  </a:schemeClr>
                </a:solidFill>
                <a:latin typeface="HY중고딕" panose="02030600000101010101" pitchFamily="18" charset="-127"/>
                <a:ea typeface="HY중고딕" panose="02030600000101010101" pitchFamily="18" charset="-127"/>
              </a:rPr>
              <a:t>아두이노로</a:t>
            </a:r>
            <a:r>
              <a:rPr lang="ko-KR" altLang="en-US" sz="1200" dirty="0" smtClean="0">
                <a:solidFill>
                  <a:schemeClr val="bg1">
                    <a:lumMod val="65000"/>
                  </a:schemeClr>
                </a:solidFill>
                <a:latin typeface="HY중고딕" panose="02030600000101010101" pitchFamily="18" charset="-127"/>
                <a:ea typeface="HY중고딕" panose="02030600000101010101" pitchFamily="18" charset="-127"/>
              </a:rPr>
              <a:t> 배우는</a:t>
            </a:r>
            <a:r>
              <a:rPr lang="ko-KR" altLang="en-US" sz="1400" dirty="0" smtClean="0">
                <a:latin typeface="HY중고딕" panose="02030600000101010101" pitchFamily="18" charset="-127"/>
                <a:ea typeface="HY중고딕" panose="02030600000101010101" pitchFamily="18" charset="-127"/>
              </a:rPr>
              <a:t> </a:t>
            </a:r>
            <a:r>
              <a:rPr lang="en-US" altLang="ko-KR" sz="1400" dirty="0" smtClean="0">
                <a:solidFill>
                  <a:schemeClr val="bg1">
                    <a:lumMod val="50000"/>
                  </a:schemeClr>
                </a:solidFill>
                <a:latin typeface="HY중고딕" panose="02030600000101010101" pitchFamily="18" charset="-127"/>
                <a:ea typeface="HY중고딕" panose="02030600000101010101" pitchFamily="18" charset="-127"/>
              </a:rPr>
              <a:t>ATmega328 </a:t>
            </a:r>
            <a:r>
              <a:rPr lang="ko-KR" altLang="en-US" sz="1400" dirty="0" smtClean="0">
                <a:solidFill>
                  <a:schemeClr val="bg1">
                    <a:lumMod val="50000"/>
                  </a:schemeClr>
                </a:solidFill>
                <a:latin typeface="HY중고딕" panose="02030600000101010101" pitchFamily="18" charset="-127"/>
                <a:ea typeface="HY중고딕" panose="02030600000101010101" pitchFamily="18" charset="-127"/>
              </a:rPr>
              <a:t>프로그래밍</a:t>
            </a:r>
            <a:endParaRPr lang="ko-KR" altLang="en-US" sz="1400" dirty="0">
              <a:solidFill>
                <a:schemeClr val="bg1">
                  <a:lumMod val="50000"/>
                </a:schemeClr>
              </a:solidFill>
              <a:latin typeface="HY중고딕" panose="02030600000101010101" pitchFamily="18" charset="-127"/>
              <a:ea typeface="HY중고딕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883956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9ABEE44-8CAE-4526-920C-A8E8A9C48543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8919479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8686CB5-6D7D-45E3-972D-BDDADE8BEF23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3566817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868D665-08DE-41D6-B962-2085A179A1C1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8939197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2DE0A57-CA7C-4B68-8045-C32C5FCE0C94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7703628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3000BBB-273B-4A8D-BB08-23A4FAE3D001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8303829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D0471EE-F89C-4EDA-A21F-9F26D9E227C4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8143296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 smtClean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71FB8C-4271-44F5-A7B2-ACDAE1930BA6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2451302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089FCF1-FE78-45CE-8E11-F5957D42AE17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9450187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80C56B4-3AAF-44E0-A295-42DDC124C359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606896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smtClean="0"/>
              <a:t>마스터 제목 스타일 편집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700213"/>
            <a:ext cx="8229600" cy="4425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latinLnBrk="1" hangingPunct="1">
              <a:defRPr sz="140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latinLnBrk="1" hangingPunct="1">
              <a:defRPr sz="140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40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defRPr>
            </a:lvl1pPr>
          </a:lstStyle>
          <a:p>
            <a:pPr>
              <a:defRPr/>
            </a:pPr>
            <a:fld id="{51F73B43-0D21-451E-BE02-CBCCAECBEF5F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17" r:id="rId1"/>
    <p:sldLayoutId id="2147483827" r:id="rId2"/>
    <p:sldLayoutId id="2147483818" r:id="rId3"/>
    <p:sldLayoutId id="2147483819" r:id="rId4"/>
    <p:sldLayoutId id="2147483820" r:id="rId5"/>
    <p:sldLayoutId id="2147483821" r:id="rId6"/>
    <p:sldLayoutId id="2147483822" r:id="rId7"/>
    <p:sldLayoutId id="2147483823" r:id="rId8"/>
    <p:sldLayoutId id="2147483824" r:id="rId9"/>
    <p:sldLayoutId id="2147483825" r:id="rId10"/>
    <p:sldLayoutId id="2147483826" r:id="rId11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함초롬바탕" panose="02030604000101010101" pitchFamily="18" charset="-127"/>
          <a:ea typeface="함초롬바탕" panose="02030604000101010101" pitchFamily="18" charset="-127"/>
          <a:cs typeface="함초롬바탕" panose="02030604000101010101" pitchFamily="18" charset="-127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함초롬바탕" pitchFamily="18" charset="-127"/>
          <a:ea typeface="함초롬바탕" pitchFamily="18" charset="-127"/>
          <a:cs typeface="함초롬바탕" pitchFamily="18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함초롬바탕" pitchFamily="18" charset="-127"/>
          <a:ea typeface="함초롬바탕" pitchFamily="18" charset="-127"/>
          <a:cs typeface="함초롬바탕" pitchFamily="18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함초롬바탕" pitchFamily="18" charset="-127"/>
          <a:ea typeface="함초롬바탕" pitchFamily="18" charset="-127"/>
          <a:cs typeface="함초롬바탕" pitchFamily="18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함초롬바탕" pitchFamily="18" charset="-127"/>
          <a:ea typeface="함초롬바탕" pitchFamily="18" charset="-127"/>
          <a:cs typeface="함초롬바탕" pitchFamily="18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charset="-127"/>
          <a:ea typeface="굴림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charset="-127"/>
          <a:ea typeface="굴림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charset="-127"/>
          <a:ea typeface="굴림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charset="-127"/>
          <a:ea typeface="굴림" charset="-127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함초롬바탕" panose="02030604000101010101" pitchFamily="18" charset="-127"/>
          <a:ea typeface="함초롬바탕" panose="02030604000101010101" pitchFamily="18" charset="-127"/>
          <a:cs typeface="함초롬바탕" panose="02030604000101010101" pitchFamily="18" charset="-127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함초롬바탕" panose="02030604000101010101" pitchFamily="18" charset="-127"/>
          <a:ea typeface="함초롬바탕" panose="02030604000101010101" pitchFamily="18" charset="-127"/>
          <a:cs typeface="함초롬바탕" panose="02030604000101010101" pitchFamily="18" charset="-127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함초롬바탕" panose="02030604000101010101" pitchFamily="18" charset="-127"/>
          <a:ea typeface="함초롬바탕" panose="02030604000101010101" pitchFamily="18" charset="-127"/>
          <a:cs typeface="함초롬바탕" panose="02030604000101010101" pitchFamily="18" charset="-127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함초롬바탕" panose="02030604000101010101" pitchFamily="18" charset="-127"/>
          <a:ea typeface="함초롬바탕" panose="02030604000101010101" pitchFamily="18" charset="-127"/>
          <a:cs typeface="함초롬바탕" panose="02030604000101010101" pitchFamily="18" charset="-127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함초롬바탕" panose="02030604000101010101" pitchFamily="18" charset="-127"/>
          <a:ea typeface="함초롬바탕" panose="02030604000101010101" pitchFamily="18" charset="-127"/>
          <a:cs typeface="함초롬바탕" panose="02030604000101010101" pitchFamily="18" charset="-127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g"/><Relationship Id="rId4" Type="http://schemas.openxmlformats.org/officeDocument/2006/relationships/image" Target="../media/image5.jp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15" descr="main_s_0000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51" name="Text Box 6"/>
          <p:cNvSpPr txBox="1">
            <a:spLocks noChangeArrowheads="1"/>
          </p:cNvSpPr>
          <p:nvPr/>
        </p:nvSpPr>
        <p:spPr bwMode="auto">
          <a:xfrm>
            <a:off x="304800" y="1152525"/>
            <a:ext cx="8803704" cy="17943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함초롬바탕" pitchFamily="18" charset="-127"/>
                <a:ea typeface="함초롬바탕" pitchFamily="18" charset="-127"/>
                <a:cs typeface="함초롬바탕" pitchFamily="18" charset="-127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함초롬바탕" pitchFamily="18" charset="-127"/>
                <a:ea typeface="함초롬바탕" pitchFamily="18" charset="-127"/>
                <a:cs typeface="함초롬바탕" pitchFamily="18" charset="-127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함초롬바탕" pitchFamily="18" charset="-127"/>
                <a:ea typeface="함초롬바탕" pitchFamily="18" charset="-127"/>
                <a:cs typeface="함초롬바탕" pitchFamily="18" charset="-127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함초롬바탕" pitchFamily="18" charset="-127"/>
                <a:ea typeface="함초롬바탕" pitchFamily="18" charset="-127"/>
                <a:cs typeface="함초롬바탕" pitchFamily="18" charset="-127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함초롬바탕" pitchFamily="18" charset="-127"/>
                <a:ea typeface="함초롬바탕" pitchFamily="18" charset="-127"/>
                <a:cs typeface="함초롬바탕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함초롬바탕" pitchFamily="18" charset="-127"/>
                <a:ea typeface="함초롬바탕" pitchFamily="18" charset="-127"/>
                <a:cs typeface="함초롬바탕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함초롬바탕" pitchFamily="18" charset="-127"/>
                <a:ea typeface="함초롬바탕" pitchFamily="18" charset="-127"/>
                <a:cs typeface="함초롬바탕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함초롬바탕" pitchFamily="18" charset="-127"/>
                <a:ea typeface="함초롬바탕" pitchFamily="18" charset="-127"/>
                <a:cs typeface="함초롬바탕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함초롬바탕" pitchFamily="18" charset="-127"/>
                <a:ea typeface="함초롬바탕" pitchFamily="18" charset="-127"/>
                <a:cs typeface="함초롬바탕" pitchFamily="18" charset="-127"/>
              </a:defRPr>
            </a:lvl9pPr>
          </a:lstStyle>
          <a:p>
            <a:pPr eaLnBrk="1" latinLnBrk="1" hangingPunct="1">
              <a:lnSpc>
                <a:spcPct val="120000"/>
              </a:lnSpc>
              <a:spcBef>
                <a:spcPts val="600"/>
              </a:spcBef>
              <a:buFontTx/>
              <a:buNone/>
              <a:defRPr/>
            </a:pPr>
            <a:r>
              <a:rPr lang="en-US" altLang="ko-KR" sz="4400" dirty="0" smtClean="0">
                <a:solidFill>
                  <a:srgbClr val="BC712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  <a:ea typeface="HY견고딕" panose="02030600000101010101" pitchFamily="18" charset="-127"/>
              </a:rPr>
              <a:t>Chapter 3. </a:t>
            </a:r>
          </a:p>
          <a:p>
            <a:pPr lvl="1" eaLnBrk="1" latinLnBrk="1" hangingPunct="1">
              <a:lnSpc>
                <a:spcPct val="120000"/>
              </a:lnSpc>
              <a:spcBef>
                <a:spcPts val="600"/>
              </a:spcBef>
              <a:buFontTx/>
              <a:buNone/>
              <a:defRPr/>
            </a:pPr>
            <a:r>
              <a:rPr lang="en-US" altLang="ko-KR" sz="4400" dirty="0" smtClean="0">
                <a:solidFill>
                  <a:srgbClr val="BC712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Y견고딕" panose="02030600000101010101" pitchFamily="18" charset="-127"/>
                <a:ea typeface="HY견고딕" panose="02030600000101010101" pitchFamily="18" charset="-127"/>
              </a:rPr>
              <a:t>ATmega328 </a:t>
            </a:r>
            <a:r>
              <a:rPr lang="ko-KR" altLang="en-US" sz="4400" dirty="0" err="1" smtClean="0">
                <a:solidFill>
                  <a:srgbClr val="BC712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Y견고딕" panose="02030600000101010101" pitchFamily="18" charset="-127"/>
                <a:ea typeface="HY견고딕" panose="02030600000101010101" pitchFamily="18" charset="-127"/>
              </a:rPr>
              <a:t>마이크로컨트롤러</a:t>
            </a:r>
            <a:endParaRPr lang="en-US" altLang="ko-KR" sz="4400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내용 개체 틀 1"/>
          <p:cNvSpPr>
            <a:spLocks noGrp="1"/>
          </p:cNvSpPr>
          <p:nvPr>
            <p:ph idx="1"/>
          </p:nvPr>
        </p:nvSpPr>
        <p:spPr>
          <a:xfrm>
            <a:off x="457200" y="1557338"/>
            <a:ext cx="8229600" cy="4824412"/>
          </a:xfrm>
        </p:spPr>
        <p:txBody>
          <a:bodyPr/>
          <a:lstStyle/>
          <a:p>
            <a:r>
              <a:rPr lang="ko-KR" altLang="en-US" dirty="0" err="1" smtClean="0"/>
              <a:t>아트멜</a:t>
            </a:r>
            <a:r>
              <a:rPr lang="en-US" altLang="ko-KR" dirty="0" smtClean="0"/>
              <a:t>(Atmel)</a:t>
            </a:r>
            <a:r>
              <a:rPr lang="ko-KR" altLang="en-US" dirty="0" smtClean="0"/>
              <a:t>의 </a:t>
            </a:r>
            <a:r>
              <a:rPr lang="ko-KR" altLang="en-US" dirty="0" err="1" smtClean="0"/>
              <a:t>마이크로컨트롤러</a:t>
            </a:r>
            <a:r>
              <a:rPr lang="ko-KR" altLang="en-US" dirty="0" smtClean="0"/>
              <a:t> 라인업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8051 </a:t>
            </a:r>
            <a:r>
              <a:rPr lang="ko-KR" altLang="en-US" dirty="0" smtClean="0"/>
              <a:t>계열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AVR </a:t>
            </a:r>
            <a:r>
              <a:rPr lang="ko-KR" altLang="en-US" dirty="0" smtClean="0"/>
              <a:t>계열 </a:t>
            </a:r>
            <a:r>
              <a:rPr lang="en-US" altLang="ko-KR" dirty="0" smtClean="0"/>
              <a:t>: </a:t>
            </a:r>
            <a:r>
              <a:rPr lang="ko-KR" altLang="en-US" dirty="0" err="1" smtClean="0"/>
              <a:t>아트멜의</a:t>
            </a:r>
            <a:r>
              <a:rPr lang="ko-KR" altLang="en-US" dirty="0" smtClean="0"/>
              <a:t> 독자적인 아키텍처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ARM(</a:t>
            </a:r>
            <a:r>
              <a:rPr lang="en-US" altLang="ko-KR" b="1" dirty="0" smtClean="0"/>
              <a:t>A</a:t>
            </a:r>
            <a:r>
              <a:rPr lang="en-US" altLang="ko-KR" dirty="0" smtClean="0"/>
              <a:t>corn</a:t>
            </a:r>
            <a:r>
              <a:rPr lang="en-US" altLang="ko-KR" dirty="0"/>
              <a:t> </a:t>
            </a:r>
            <a:r>
              <a:rPr lang="en-US" altLang="ko-KR" b="1" dirty="0"/>
              <a:t>R</a:t>
            </a:r>
            <a:r>
              <a:rPr lang="en-US" altLang="ko-KR" dirty="0"/>
              <a:t>ISC </a:t>
            </a:r>
            <a:r>
              <a:rPr lang="en-US" altLang="ko-KR" b="1" dirty="0" smtClean="0"/>
              <a:t>M</a:t>
            </a:r>
            <a:r>
              <a:rPr lang="en-US" altLang="ko-KR" dirty="0" smtClean="0"/>
              <a:t>achine) </a:t>
            </a:r>
            <a:r>
              <a:rPr lang="ko-KR" altLang="en-US" dirty="0"/>
              <a:t>계열</a:t>
            </a:r>
            <a:endParaRPr lang="en-US" altLang="ko-KR" dirty="0"/>
          </a:p>
          <a:p>
            <a:pPr lvl="1"/>
            <a:endParaRPr lang="en-US" altLang="ko-KR" dirty="0" smtClean="0"/>
          </a:p>
          <a:p>
            <a:r>
              <a:rPr lang="en-US" altLang="ko-KR" dirty="0" smtClean="0"/>
              <a:t>AVR</a:t>
            </a:r>
          </a:p>
          <a:p>
            <a:pPr lvl="1"/>
            <a:r>
              <a:rPr lang="en-US" altLang="ko-KR" dirty="0" smtClean="0"/>
              <a:t>8</a:t>
            </a:r>
            <a:r>
              <a:rPr lang="ko-KR" altLang="en-US" dirty="0" smtClean="0"/>
              <a:t>비트</a:t>
            </a:r>
            <a:r>
              <a:rPr lang="en-US" altLang="ko-KR" dirty="0" smtClean="0"/>
              <a:t>,</a:t>
            </a:r>
            <a:r>
              <a:rPr lang="ko-KR" altLang="en-US" dirty="0" smtClean="0"/>
              <a:t> </a:t>
            </a:r>
            <a:r>
              <a:rPr lang="en-US" altLang="ko-KR" dirty="0" smtClean="0"/>
              <a:t>RISC, </a:t>
            </a:r>
            <a:r>
              <a:rPr lang="ko-KR" altLang="en-US" dirty="0" smtClean="0"/>
              <a:t>하버드 구조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2006</a:t>
            </a:r>
            <a:r>
              <a:rPr lang="ko-KR" altLang="en-US" dirty="0" smtClean="0"/>
              <a:t>년 이후 </a:t>
            </a:r>
            <a:r>
              <a:rPr lang="en-US" altLang="ko-KR" dirty="0" smtClean="0"/>
              <a:t>32</a:t>
            </a:r>
            <a:r>
              <a:rPr lang="ko-KR" altLang="en-US" dirty="0" smtClean="0"/>
              <a:t>비트 </a:t>
            </a:r>
            <a:r>
              <a:rPr lang="en-US" altLang="ko-KR" dirty="0" smtClean="0"/>
              <a:t>AVR</a:t>
            </a:r>
            <a:r>
              <a:rPr lang="ko-KR" altLang="en-US" dirty="0" smtClean="0"/>
              <a:t>도 생산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종류</a:t>
            </a:r>
            <a:endParaRPr lang="en-US" altLang="ko-KR" dirty="0" smtClean="0"/>
          </a:p>
          <a:p>
            <a:pPr lvl="2"/>
            <a:r>
              <a:rPr lang="ko-KR" altLang="en-US" dirty="0" smtClean="0"/>
              <a:t>타이니 </a:t>
            </a:r>
            <a:r>
              <a:rPr lang="en-US" altLang="ko-KR" dirty="0" smtClean="0"/>
              <a:t>: 0.5~16KB </a:t>
            </a:r>
            <a:r>
              <a:rPr lang="ko-KR" altLang="en-US" dirty="0" smtClean="0"/>
              <a:t>메모리</a:t>
            </a:r>
            <a:r>
              <a:rPr lang="en-US" altLang="ko-KR" dirty="0" smtClean="0"/>
              <a:t>, 6~32</a:t>
            </a:r>
            <a:r>
              <a:rPr lang="ko-KR" altLang="en-US" dirty="0" smtClean="0"/>
              <a:t>핀</a:t>
            </a:r>
            <a:endParaRPr lang="en-US" altLang="ko-KR" dirty="0" smtClean="0"/>
          </a:p>
          <a:p>
            <a:pPr lvl="2"/>
            <a:r>
              <a:rPr lang="ko-KR" altLang="en-US" dirty="0" smtClean="0"/>
              <a:t>메가 </a:t>
            </a:r>
            <a:r>
              <a:rPr lang="en-US" altLang="ko-KR" dirty="0" smtClean="0"/>
              <a:t>: 4~512KB </a:t>
            </a:r>
            <a:r>
              <a:rPr lang="ko-KR" altLang="en-US" dirty="0" smtClean="0"/>
              <a:t>메모리</a:t>
            </a:r>
            <a:r>
              <a:rPr lang="en-US" altLang="ko-KR" dirty="0" smtClean="0"/>
              <a:t>, 28~100</a:t>
            </a:r>
            <a:r>
              <a:rPr lang="ko-KR" altLang="en-US" dirty="0" smtClean="0"/>
              <a:t>핀</a:t>
            </a:r>
            <a:endParaRPr lang="en-US" altLang="ko-KR" dirty="0" smtClean="0"/>
          </a:p>
          <a:p>
            <a:pPr lvl="2"/>
            <a:r>
              <a:rPr lang="en-US" altLang="ko-KR" dirty="0" smtClean="0"/>
              <a:t>X-</a:t>
            </a:r>
            <a:r>
              <a:rPr lang="ko-KR" altLang="en-US" dirty="0" smtClean="0"/>
              <a:t>메가 </a:t>
            </a:r>
            <a:r>
              <a:rPr lang="en-US" altLang="ko-KR" dirty="0" smtClean="0"/>
              <a:t>: 16~384KB </a:t>
            </a:r>
            <a:r>
              <a:rPr lang="ko-KR" altLang="en-US" dirty="0" smtClean="0"/>
              <a:t>메모리</a:t>
            </a:r>
            <a:r>
              <a:rPr lang="en-US" altLang="ko-KR" dirty="0" smtClean="0"/>
              <a:t>, 44~100</a:t>
            </a:r>
            <a:r>
              <a:rPr lang="ko-KR" altLang="en-US" dirty="0" smtClean="0"/>
              <a:t>핀</a:t>
            </a:r>
            <a:endParaRPr lang="en-US" altLang="ko-KR" dirty="0" smtClean="0"/>
          </a:p>
          <a:p>
            <a:pPr lvl="1"/>
            <a:endParaRPr lang="ko-KR" altLang="en-US" dirty="0" smtClean="0"/>
          </a:p>
        </p:txBody>
      </p:sp>
      <p:sp>
        <p:nvSpPr>
          <p:cNvPr id="7171" name="제목 2"/>
          <p:cNvSpPr>
            <a:spLocks noGrp="1"/>
          </p:cNvSpPr>
          <p:nvPr>
            <p:ph type="title"/>
          </p:nvPr>
        </p:nvSpPr>
        <p:spPr>
          <a:xfrm>
            <a:off x="457200" y="290513"/>
            <a:ext cx="6491288" cy="617537"/>
          </a:xfrm>
        </p:spPr>
        <p:txBody>
          <a:bodyPr/>
          <a:lstStyle/>
          <a:p>
            <a:r>
              <a:rPr lang="en-US" altLang="ko-KR" dirty="0" smtClean="0"/>
              <a:t>AVR</a:t>
            </a:r>
            <a:endParaRPr lang="ko-KR" alt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ATmega328</a:t>
            </a:r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2030576" y="2636912"/>
            <a:ext cx="35012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200" b="1" dirty="0" smtClean="0">
                <a:solidFill>
                  <a:srgbClr val="0000FF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ATmega328P-PU</a:t>
            </a:r>
            <a:endParaRPr lang="ko-KR" altLang="en-US" sz="3200" b="1" dirty="0">
              <a:solidFill>
                <a:srgbClr val="0000FF"/>
              </a:solidFill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331640" y="2132856"/>
            <a:ext cx="28584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Pico power : </a:t>
            </a:r>
            <a:r>
              <a:rPr lang="ko-KR" altLang="en-US" dirty="0" smtClean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저전력</a:t>
            </a:r>
            <a:r>
              <a:rPr lang="en-US" altLang="ko-KR" dirty="0" smtClean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</a:t>
            </a:r>
            <a:r>
              <a:rPr lang="ko-KR" altLang="en-US" dirty="0" smtClean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버전</a:t>
            </a:r>
            <a:endParaRPr lang="ko-KR" altLang="en-US" dirty="0"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402606" y="1960908"/>
            <a:ext cx="3373039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PDIP </a:t>
            </a:r>
            <a:r>
              <a:rPr lang="ko-KR" altLang="en-US" dirty="0" smtClean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형태 패키지 </a:t>
            </a:r>
            <a:r>
              <a:rPr lang="en-US" altLang="ko-KR" dirty="0" smtClean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(P,A,M)</a:t>
            </a:r>
          </a:p>
          <a:p>
            <a:r>
              <a:rPr lang="en-US" altLang="ko-KR" dirty="0" smtClean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P : PDIP</a:t>
            </a:r>
          </a:p>
          <a:p>
            <a:r>
              <a:rPr lang="en-US" altLang="ko-KR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(p</a:t>
            </a:r>
            <a:r>
              <a:rPr lang="en-US" altLang="ko-KR" dirty="0"/>
              <a:t>lastic </a:t>
            </a:r>
            <a:r>
              <a:rPr lang="en-US" altLang="ko-KR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d</a:t>
            </a:r>
            <a:r>
              <a:rPr lang="en-US" altLang="ko-KR" dirty="0"/>
              <a:t>ual in-line </a:t>
            </a:r>
            <a:r>
              <a:rPr lang="en-US" altLang="ko-KR" dirty="0" smtClean="0"/>
              <a:t>package)</a:t>
            </a:r>
            <a:endParaRPr lang="en-US" altLang="ko-KR" dirty="0" smtClean="0"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r>
              <a:rPr lang="en-US" altLang="ko-KR" dirty="0" smtClean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A : TQFP</a:t>
            </a:r>
          </a:p>
          <a:p>
            <a:r>
              <a:rPr lang="en-US" altLang="ko-KR" dirty="0" smtClean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(</a:t>
            </a:r>
            <a:r>
              <a:rPr lang="en-US" altLang="ko-KR" dirty="0"/>
              <a:t>thin quad flat </a:t>
            </a:r>
            <a:r>
              <a:rPr lang="en-US" altLang="ko-KR" dirty="0" smtClean="0"/>
              <a:t>package)</a:t>
            </a:r>
            <a:endParaRPr lang="en-US" altLang="ko-KR" dirty="0" smtClean="0"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r>
              <a:rPr lang="en-US" altLang="ko-KR" dirty="0" smtClean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M :</a:t>
            </a:r>
            <a:r>
              <a:rPr lang="en-US" altLang="ko-KR" dirty="0"/>
              <a:t> </a:t>
            </a:r>
            <a:r>
              <a:rPr lang="en-US" altLang="ko-KR" dirty="0" smtClean="0"/>
              <a:t>VQFN</a:t>
            </a:r>
          </a:p>
          <a:p>
            <a:r>
              <a:rPr lang="en-US" altLang="ko-KR" dirty="0" smtClean="0"/>
              <a:t>(quad flat no-leads package)</a:t>
            </a:r>
            <a:endParaRPr lang="ko-KR" altLang="en-US" dirty="0"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667589" y="3212976"/>
            <a:ext cx="313900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Unleaded : </a:t>
            </a:r>
            <a:r>
              <a:rPr lang="ko-KR" altLang="en-US" dirty="0" smtClean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친환경 소재 사용</a:t>
            </a:r>
            <a:endParaRPr lang="en-US" altLang="ko-KR" dirty="0" smtClean="0"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r>
              <a:rPr lang="en-US" altLang="ko-KR" dirty="0" smtClean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N : </a:t>
            </a:r>
            <a:r>
              <a:rPr lang="en-US" altLang="ko-KR" dirty="0"/>
              <a:t>-</a:t>
            </a:r>
            <a:r>
              <a:rPr lang="en-US" altLang="ko-KR" dirty="0" smtClean="0"/>
              <a:t>40℃ </a:t>
            </a:r>
            <a:r>
              <a:rPr lang="en-US" altLang="ko-KR" dirty="0"/>
              <a:t>~</a:t>
            </a:r>
            <a:r>
              <a:rPr lang="en-US" altLang="ko-KR" dirty="0" smtClean="0"/>
              <a:t>105℃ </a:t>
            </a:r>
            <a:endParaRPr lang="en-US" altLang="ko-KR" dirty="0" smtClean="0"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r>
              <a:rPr lang="en-US" altLang="ko-KR" dirty="0" smtClean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U : </a:t>
            </a:r>
            <a:r>
              <a:rPr lang="en-US" altLang="ko-KR" dirty="0"/>
              <a:t>-</a:t>
            </a:r>
            <a:r>
              <a:rPr lang="en-US" altLang="ko-KR" dirty="0" smtClean="0"/>
              <a:t>40℃ ~85℃ </a:t>
            </a:r>
            <a:endParaRPr lang="ko-KR" altLang="en-US" dirty="0"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</p:txBody>
      </p:sp>
      <p:sp>
        <p:nvSpPr>
          <p:cNvPr id="9" name="자유형 8"/>
          <p:cNvSpPr/>
          <p:nvPr/>
        </p:nvSpPr>
        <p:spPr>
          <a:xfrm>
            <a:off x="4067299" y="2336415"/>
            <a:ext cx="397823" cy="374072"/>
          </a:xfrm>
          <a:custGeom>
            <a:avLst/>
            <a:gdLst>
              <a:gd name="connsiteX0" fmla="*/ 0 w 397823"/>
              <a:gd name="connsiteY0" fmla="*/ 0 h 374072"/>
              <a:gd name="connsiteX1" fmla="*/ 397823 w 397823"/>
              <a:gd name="connsiteY1" fmla="*/ 0 h 374072"/>
              <a:gd name="connsiteX2" fmla="*/ 397823 w 397823"/>
              <a:gd name="connsiteY2" fmla="*/ 374072 h 374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97823" h="374072">
                <a:moveTo>
                  <a:pt x="0" y="0"/>
                </a:moveTo>
                <a:lnTo>
                  <a:pt x="397823" y="0"/>
                </a:lnTo>
                <a:lnTo>
                  <a:pt x="397823" y="374072"/>
                </a:lnTo>
              </a:path>
            </a:pathLst>
          </a:custGeom>
          <a:noFill/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자유형 9"/>
          <p:cNvSpPr/>
          <p:nvPr/>
        </p:nvSpPr>
        <p:spPr>
          <a:xfrm>
            <a:off x="4928260" y="2312664"/>
            <a:ext cx="480950" cy="397823"/>
          </a:xfrm>
          <a:custGeom>
            <a:avLst/>
            <a:gdLst>
              <a:gd name="connsiteX0" fmla="*/ 480950 w 480950"/>
              <a:gd name="connsiteY0" fmla="*/ 0 h 397823"/>
              <a:gd name="connsiteX1" fmla="*/ 0 w 480950"/>
              <a:gd name="connsiteY1" fmla="*/ 0 h 397823"/>
              <a:gd name="connsiteX2" fmla="*/ 0 w 480950"/>
              <a:gd name="connsiteY2" fmla="*/ 397823 h 3978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80950" h="397823">
                <a:moveTo>
                  <a:pt x="480950" y="0"/>
                </a:moveTo>
                <a:lnTo>
                  <a:pt x="0" y="0"/>
                </a:lnTo>
                <a:lnTo>
                  <a:pt x="0" y="397823"/>
                </a:lnTo>
              </a:path>
            </a:pathLst>
          </a:custGeom>
          <a:noFill/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자유형 10"/>
          <p:cNvSpPr/>
          <p:nvPr/>
        </p:nvSpPr>
        <p:spPr>
          <a:xfrm>
            <a:off x="4732314" y="3137999"/>
            <a:ext cx="480950" cy="486888"/>
          </a:xfrm>
          <a:custGeom>
            <a:avLst/>
            <a:gdLst>
              <a:gd name="connsiteX0" fmla="*/ 0 w 480950"/>
              <a:gd name="connsiteY0" fmla="*/ 486888 h 486888"/>
              <a:gd name="connsiteX1" fmla="*/ 480950 w 480950"/>
              <a:gd name="connsiteY1" fmla="*/ 486888 h 486888"/>
              <a:gd name="connsiteX2" fmla="*/ 480950 w 480950"/>
              <a:gd name="connsiteY2" fmla="*/ 0 h 4868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80950" h="486888">
                <a:moveTo>
                  <a:pt x="0" y="486888"/>
                </a:moveTo>
                <a:lnTo>
                  <a:pt x="480950" y="486888"/>
                </a:lnTo>
                <a:lnTo>
                  <a:pt x="480950" y="0"/>
                </a:lnTo>
              </a:path>
            </a:pathLst>
          </a:custGeom>
          <a:noFill/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2" name="그림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0087" y="4365104"/>
            <a:ext cx="2088129" cy="1234009"/>
          </a:xfrm>
          <a:prstGeom prst="rect">
            <a:avLst/>
          </a:prstGeom>
        </p:spPr>
      </p:pic>
      <p:pic>
        <p:nvPicPr>
          <p:cNvPr id="13" name="그림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8144" y="4437112"/>
            <a:ext cx="1207470" cy="115212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259632" y="5634556"/>
            <a:ext cx="352051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dirty="0" smtClean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ATmega328P-PU : PDIP </a:t>
            </a:r>
            <a:r>
              <a:rPr lang="ko-KR" altLang="en-US" dirty="0" smtClean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패키지</a:t>
            </a:r>
            <a:endParaRPr lang="en-US" altLang="ko-KR" dirty="0" smtClean="0"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 algn="ctr"/>
            <a:r>
              <a:rPr lang="ko-KR" altLang="en-US" dirty="0" err="1" smtClean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아두이노</a:t>
            </a:r>
            <a:r>
              <a:rPr lang="ko-KR" altLang="en-US" dirty="0" smtClean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</a:t>
            </a:r>
            <a:r>
              <a:rPr lang="ko-KR" altLang="en-US" dirty="0" err="1" smtClean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우노</a:t>
            </a:r>
            <a:endParaRPr lang="en-US" altLang="ko-KR" dirty="0" smtClean="0"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840443" y="5634555"/>
            <a:ext cx="362791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dirty="0" smtClean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ATmega328P-AU : TQFP </a:t>
            </a:r>
            <a:r>
              <a:rPr lang="ko-KR" altLang="en-US" dirty="0" smtClean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패키지</a:t>
            </a:r>
            <a:endParaRPr lang="en-US" altLang="ko-KR" dirty="0" smtClean="0"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 algn="ctr"/>
            <a:r>
              <a:rPr lang="ko-KR" altLang="en-US" dirty="0" err="1" smtClean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아두이노</a:t>
            </a:r>
            <a:r>
              <a:rPr lang="ko-KR" altLang="en-US" dirty="0" smtClean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</a:t>
            </a:r>
            <a:r>
              <a:rPr lang="ko-KR" altLang="en-US" dirty="0" err="1" smtClean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나노</a:t>
            </a:r>
            <a:endParaRPr lang="en-US" altLang="ko-KR" dirty="0" smtClean="0"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68122" y="3906324"/>
            <a:ext cx="1182160" cy="1182160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88500" y="4600678"/>
            <a:ext cx="975613" cy="975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07015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내용 개체 틀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56815" y="1557338"/>
            <a:ext cx="7030369" cy="4824412"/>
          </a:xfrm>
          <a:prstGeom prst="rect">
            <a:avLst/>
          </a:prstGeom>
        </p:spPr>
      </p:pic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ATmega328</a:t>
            </a:r>
            <a:r>
              <a:rPr lang="ko-KR" altLang="en-US" dirty="0" smtClean="0"/>
              <a:t>의 특징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076767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내용 개체 틀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02811" y="1557338"/>
            <a:ext cx="3938378" cy="4824412"/>
          </a:xfrm>
          <a:prstGeom prst="rect">
            <a:avLst/>
          </a:prstGeom>
        </p:spPr>
      </p:pic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ATmega328 </a:t>
            </a:r>
            <a:r>
              <a:rPr lang="ko-KR" altLang="en-US" dirty="0"/>
              <a:t>기본 회로</a:t>
            </a:r>
          </a:p>
        </p:txBody>
      </p:sp>
    </p:spTree>
    <p:extLst>
      <p:ext uri="{BB962C8B-B14F-4D97-AF65-F5344CB8AC3E}">
        <p14:creationId xmlns:p14="http://schemas.microsoft.com/office/powerpoint/2010/main" val="15168639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내용 개체 틀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31640" y="1916832"/>
            <a:ext cx="3591704" cy="2519312"/>
          </a:xfrm>
          <a:prstGeom prst="rect">
            <a:avLst/>
          </a:prstGeom>
        </p:spPr>
      </p:pic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아두이노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우노</a:t>
            </a:r>
            <a:endParaRPr lang="ko-KR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4067944" y="4869160"/>
            <a:ext cx="443102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err="1" smtClean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아두이노</a:t>
            </a:r>
            <a:r>
              <a:rPr lang="ko-KR" altLang="en-US" dirty="0" smtClean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</a:t>
            </a:r>
            <a:r>
              <a:rPr lang="ko-KR" altLang="en-US" dirty="0" err="1" smtClean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우노에</a:t>
            </a:r>
            <a:r>
              <a:rPr lang="ko-KR" altLang="en-US" dirty="0" smtClean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사용된 </a:t>
            </a:r>
            <a:r>
              <a:rPr lang="ko-KR" altLang="en-US" dirty="0" err="1" smtClean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마이크로컨트롤러</a:t>
            </a:r>
            <a:endParaRPr lang="en-US" altLang="ko-KR" dirty="0" smtClean="0"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r>
              <a:rPr lang="en-US" altLang="ko-KR" dirty="0" smtClean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ATmega328P-PU</a:t>
            </a:r>
          </a:p>
          <a:p>
            <a:r>
              <a:rPr lang="en-US" altLang="ko-KR" dirty="0" smtClean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(</a:t>
            </a:r>
            <a:r>
              <a:rPr lang="ko-KR" altLang="en-US" dirty="0" smtClean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이하</a:t>
            </a:r>
            <a:r>
              <a:rPr lang="en-US" altLang="ko-KR" dirty="0" smtClean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ATmega328</a:t>
            </a:r>
            <a:r>
              <a:rPr lang="ko-KR" altLang="en-US" dirty="0" smtClean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이라 지칭함</a:t>
            </a:r>
            <a:r>
              <a:rPr lang="en-US" altLang="ko-KR" dirty="0" smtClean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)</a:t>
            </a:r>
            <a:endParaRPr lang="ko-KR" altLang="en-US" dirty="0"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</p:txBody>
      </p:sp>
      <p:cxnSp>
        <p:nvCxnSpPr>
          <p:cNvPr id="8" name="꺾인 연결선 7"/>
          <p:cNvCxnSpPr>
            <a:stCxn id="6" idx="1"/>
          </p:cNvCxnSpPr>
          <p:nvPr/>
        </p:nvCxnSpPr>
        <p:spPr>
          <a:xfrm rot="10800000">
            <a:off x="3347864" y="4005065"/>
            <a:ext cx="720080" cy="1325761"/>
          </a:xfrm>
          <a:prstGeom prst="bentConnector2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005828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000" dirty="0" smtClean="0"/>
              <a:t>C </a:t>
            </a:r>
            <a:r>
              <a:rPr lang="ko-KR" altLang="en-US" sz="2000" dirty="0" smtClean="0"/>
              <a:t>스타일</a:t>
            </a:r>
            <a:endParaRPr lang="en-US" altLang="ko-KR" sz="2000" dirty="0" smtClean="0"/>
          </a:p>
          <a:p>
            <a:pPr lvl="1"/>
            <a:r>
              <a:rPr lang="ko-KR" altLang="en-US" sz="2000" dirty="0" smtClean="0"/>
              <a:t>전통적인 </a:t>
            </a:r>
            <a:r>
              <a:rPr lang="en-US" altLang="ko-KR" sz="2000" dirty="0" smtClean="0"/>
              <a:t>AVR </a:t>
            </a:r>
            <a:r>
              <a:rPr lang="ko-KR" altLang="en-US" sz="2000" dirty="0" err="1" smtClean="0"/>
              <a:t>마이크로컨트롤러</a:t>
            </a:r>
            <a:r>
              <a:rPr lang="ko-KR" altLang="en-US" sz="2000" dirty="0" smtClean="0"/>
              <a:t> 프로그래밍 방식</a:t>
            </a:r>
            <a:endParaRPr lang="en-US" altLang="ko-KR" sz="2000" dirty="0" smtClean="0"/>
          </a:p>
          <a:p>
            <a:pPr lvl="1"/>
            <a:r>
              <a:rPr lang="ko-KR" altLang="en-US" sz="2000" dirty="0" smtClean="0"/>
              <a:t>레지스터 직접 조작</a:t>
            </a:r>
            <a:endParaRPr lang="en-US" altLang="ko-KR" sz="2000" dirty="0" smtClean="0"/>
          </a:p>
          <a:p>
            <a:pPr lvl="1"/>
            <a:r>
              <a:rPr lang="ko-KR" altLang="en-US" sz="2000" dirty="0" smtClean="0"/>
              <a:t>낮은 호환성 </a:t>
            </a:r>
            <a:r>
              <a:rPr lang="en-US" altLang="ko-KR" sz="2000" dirty="0" smtClean="0"/>
              <a:t>: </a:t>
            </a:r>
            <a:r>
              <a:rPr lang="ko-KR" altLang="en-US" sz="2000" dirty="0" err="1" smtClean="0"/>
              <a:t>마이크로컨트롤러에</a:t>
            </a:r>
            <a:r>
              <a:rPr lang="ko-KR" altLang="en-US" sz="2000" dirty="0" smtClean="0"/>
              <a:t> 따라 차이가 있음</a:t>
            </a:r>
            <a:endParaRPr lang="en-US" altLang="ko-KR" sz="2000" dirty="0" smtClean="0"/>
          </a:p>
          <a:p>
            <a:pPr lvl="1"/>
            <a:r>
              <a:rPr lang="ko-KR" altLang="en-US" sz="2000" dirty="0" err="1" smtClean="0"/>
              <a:t>마이크로컨트롤러의</a:t>
            </a:r>
            <a:r>
              <a:rPr lang="ko-KR" altLang="en-US" sz="2000" dirty="0" smtClean="0"/>
              <a:t> 모든 기능 사용 가능</a:t>
            </a:r>
            <a:endParaRPr lang="en-US" altLang="ko-KR" sz="2000" dirty="0" smtClean="0"/>
          </a:p>
          <a:p>
            <a:pPr lvl="1"/>
            <a:r>
              <a:rPr lang="ko-KR" altLang="en-US" sz="2000" dirty="0" smtClean="0"/>
              <a:t>저급 언어를 사용한 프로그래밍에 대응</a:t>
            </a:r>
            <a:endParaRPr lang="en-US" altLang="ko-KR" sz="2000" dirty="0"/>
          </a:p>
          <a:p>
            <a:r>
              <a:rPr lang="ko-KR" altLang="en-US" sz="2000" dirty="0" err="1" smtClean="0"/>
              <a:t>아두이노</a:t>
            </a:r>
            <a:r>
              <a:rPr lang="ko-KR" altLang="en-US" sz="2000" dirty="0" smtClean="0"/>
              <a:t> 스타일</a:t>
            </a:r>
            <a:endParaRPr lang="en-US" altLang="ko-KR" sz="2000" dirty="0" smtClean="0"/>
          </a:p>
          <a:p>
            <a:pPr lvl="1"/>
            <a:r>
              <a:rPr lang="ko-KR" altLang="en-US" sz="2000" dirty="0" err="1" smtClean="0"/>
              <a:t>아두이노에서</a:t>
            </a:r>
            <a:r>
              <a:rPr lang="ko-KR" altLang="en-US" sz="2000" dirty="0" smtClean="0"/>
              <a:t> 사용하는 프로그래밍 방식</a:t>
            </a:r>
            <a:endParaRPr lang="en-US" altLang="ko-KR" sz="2000" dirty="0" smtClean="0"/>
          </a:p>
          <a:p>
            <a:pPr lvl="1"/>
            <a:r>
              <a:rPr lang="ko-KR" altLang="en-US" sz="2000" dirty="0" smtClean="0"/>
              <a:t>레지스터 조작을 위한 추상화된 라이브러리 함수 사용</a:t>
            </a:r>
            <a:endParaRPr lang="en-US" altLang="ko-KR" sz="2000" dirty="0" smtClean="0"/>
          </a:p>
          <a:p>
            <a:pPr lvl="1"/>
            <a:r>
              <a:rPr lang="ko-KR" altLang="en-US" sz="2000" dirty="0" smtClean="0"/>
              <a:t>높은 호환성 </a:t>
            </a:r>
            <a:r>
              <a:rPr lang="en-US" altLang="ko-KR" sz="2000" dirty="0" smtClean="0"/>
              <a:t>: </a:t>
            </a:r>
            <a:r>
              <a:rPr lang="ko-KR" altLang="en-US" sz="2000" dirty="0" err="1" smtClean="0"/>
              <a:t>아두이노</a:t>
            </a:r>
            <a:r>
              <a:rPr lang="ko-KR" altLang="en-US" sz="2000" dirty="0" smtClean="0"/>
              <a:t> 보드에 사용된 </a:t>
            </a:r>
            <a:r>
              <a:rPr lang="ko-KR" altLang="en-US" sz="2000" dirty="0" err="1" smtClean="0"/>
              <a:t>마이크로컨트롤러에</a:t>
            </a:r>
            <a:r>
              <a:rPr lang="ko-KR" altLang="en-US" sz="2000" dirty="0" smtClean="0"/>
              <a:t> 따라 차이가 없음</a:t>
            </a:r>
            <a:endParaRPr lang="en-US" altLang="ko-KR" sz="2000" dirty="0" smtClean="0"/>
          </a:p>
          <a:p>
            <a:pPr lvl="1"/>
            <a:r>
              <a:rPr lang="ko-KR" altLang="en-US" sz="2000" dirty="0" err="1" smtClean="0"/>
              <a:t>마이크로컨트롤러의</a:t>
            </a:r>
            <a:r>
              <a:rPr lang="ko-KR" altLang="en-US" sz="2000" dirty="0" smtClean="0"/>
              <a:t> 일부 기능 사용 가능</a:t>
            </a:r>
            <a:endParaRPr lang="en-US" altLang="ko-KR" sz="2000" dirty="0" smtClean="0"/>
          </a:p>
          <a:p>
            <a:pPr lvl="1"/>
            <a:r>
              <a:rPr lang="ko-KR" altLang="en-US" sz="2000" dirty="0" smtClean="0"/>
              <a:t>고급 언어를 사용한 프로그래밍에 대응</a:t>
            </a:r>
            <a:endParaRPr lang="ko-KR" altLang="en-US" sz="2000" dirty="0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 smtClean="0"/>
              <a:t>아두이노</a:t>
            </a:r>
            <a:r>
              <a:rPr lang="ko-KR" altLang="en-US" dirty="0" smtClean="0"/>
              <a:t> 스타일</a:t>
            </a:r>
            <a:r>
              <a:rPr lang="en-US" altLang="ko-KR" dirty="0" smtClean="0"/>
              <a:t>? C </a:t>
            </a:r>
            <a:r>
              <a:rPr lang="ko-KR" altLang="en-US" dirty="0" smtClean="0"/>
              <a:t>스타일</a:t>
            </a:r>
            <a:r>
              <a:rPr lang="en-US" altLang="ko-KR" dirty="0" smtClean="0"/>
              <a:t>?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907486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내용 개체 틀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86513" y="1557338"/>
            <a:ext cx="5770974" cy="4824412"/>
          </a:xfrm>
          <a:prstGeom prst="rect">
            <a:avLst/>
          </a:prstGeom>
        </p:spPr>
      </p:pic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ATmega328 </a:t>
            </a:r>
            <a:r>
              <a:rPr lang="ko-KR" altLang="en-US" dirty="0" smtClean="0"/>
              <a:t>핀 배치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738941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내용 개체 틀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67744" y="980728"/>
            <a:ext cx="4608512" cy="5439134"/>
          </a:xfrm>
          <a:prstGeom prst="rect">
            <a:avLst/>
          </a:prstGeom>
        </p:spPr>
      </p:pic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ATmega328 </a:t>
            </a:r>
            <a:r>
              <a:rPr lang="ko-KR" altLang="en-US" dirty="0" smtClean="0"/>
              <a:t>핀 설명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68351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2000" dirty="0" err="1" smtClean="0"/>
              <a:t>마이크로컨트롤러의</a:t>
            </a:r>
            <a:r>
              <a:rPr lang="ko-KR" altLang="en-US" sz="2000" dirty="0" smtClean="0"/>
              <a:t> 핀은 비트 단위의 입출력을 기본으로 함</a:t>
            </a:r>
            <a:endParaRPr lang="en-US" altLang="ko-KR" sz="2000" dirty="0" smtClean="0"/>
          </a:p>
          <a:p>
            <a:r>
              <a:rPr lang="ko-KR" altLang="en-US" sz="2000" dirty="0" smtClean="0"/>
              <a:t>핀의 이름 중 가장 기본이 되는 이름은 </a:t>
            </a:r>
            <a:r>
              <a:rPr lang="en-US" altLang="ko-KR" sz="2000" dirty="0" err="1" smtClean="0"/>
              <a:t>PXn</a:t>
            </a:r>
            <a:r>
              <a:rPr lang="en-US" altLang="ko-KR" sz="2000" dirty="0" smtClean="0"/>
              <a:t> </a:t>
            </a:r>
            <a:r>
              <a:rPr lang="ko-KR" altLang="en-US" sz="2000" dirty="0" smtClean="0"/>
              <a:t>형식</a:t>
            </a:r>
            <a:endParaRPr lang="en-US" altLang="ko-KR" sz="2000" dirty="0" smtClean="0"/>
          </a:p>
          <a:p>
            <a:pPr lvl="1"/>
            <a:r>
              <a:rPr lang="en-US" altLang="ko-KR" sz="2000" dirty="0" smtClean="0"/>
              <a:t>P : Port</a:t>
            </a:r>
            <a:r>
              <a:rPr lang="ko-KR" altLang="en-US" sz="2000" dirty="0" smtClean="0"/>
              <a:t>의 약자</a:t>
            </a:r>
            <a:r>
              <a:rPr lang="en-US" altLang="ko-KR" sz="2000" dirty="0" smtClean="0"/>
              <a:t>. 8</a:t>
            </a:r>
            <a:r>
              <a:rPr lang="ko-KR" altLang="en-US" sz="2000" dirty="0" smtClean="0"/>
              <a:t>개 핀을 모은 바이트 단위 포트로 관리</a:t>
            </a:r>
            <a:endParaRPr lang="en-US" altLang="ko-KR" sz="2000" dirty="0" smtClean="0"/>
          </a:p>
          <a:p>
            <a:pPr lvl="1"/>
            <a:r>
              <a:rPr lang="en-US" altLang="ko-KR" sz="2000" dirty="0" smtClean="0"/>
              <a:t>X (B, C, D) : </a:t>
            </a:r>
            <a:r>
              <a:rPr lang="ko-KR" altLang="en-US" sz="2000" dirty="0" smtClean="0"/>
              <a:t>포트 이름</a:t>
            </a:r>
            <a:r>
              <a:rPr lang="en-US" altLang="ko-KR" sz="2000" dirty="0" smtClean="0"/>
              <a:t>. 3</a:t>
            </a:r>
            <a:r>
              <a:rPr lang="ko-KR" altLang="en-US" sz="2000" dirty="0" smtClean="0"/>
              <a:t>개의 포트가 존재</a:t>
            </a:r>
            <a:endParaRPr lang="en-US" altLang="ko-KR" sz="2000" dirty="0" smtClean="0"/>
          </a:p>
          <a:p>
            <a:pPr lvl="1"/>
            <a:r>
              <a:rPr lang="en-US" altLang="ko-KR" sz="2000" dirty="0" smtClean="0"/>
              <a:t>n (0~7) : </a:t>
            </a:r>
            <a:r>
              <a:rPr lang="ko-KR" altLang="en-US" sz="2000" dirty="0" smtClean="0"/>
              <a:t>포트 내의 비트 번호</a:t>
            </a:r>
            <a:endParaRPr lang="en-US" altLang="ko-KR" sz="2000" dirty="0" smtClean="0"/>
          </a:p>
          <a:p>
            <a:pPr lvl="2"/>
            <a:r>
              <a:rPr lang="ko-KR" altLang="en-US" sz="1800" dirty="0" smtClean="0"/>
              <a:t>포트에 따라서는 </a:t>
            </a:r>
            <a:r>
              <a:rPr lang="en-US" altLang="ko-KR" sz="1800" dirty="0" smtClean="0"/>
              <a:t>8</a:t>
            </a:r>
            <a:r>
              <a:rPr lang="ko-KR" altLang="en-US" sz="1800" dirty="0" smtClean="0"/>
              <a:t>개 핀이 할당되어 있지 않을 수 있음</a:t>
            </a:r>
            <a:endParaRPr lang="en-US" altLang="ko-KR" sz="1800" dirty="0" smtClean="0"/>
          </a:p>
          <a:p>
            <a:r>
              <a:rPr lang="en-US" altLang="ko-KR" sz="2000" dirty="0" smtClean="0"/>
              <a:t>28</a:t>
            </a:r>
            <a:r>
              <a:rPr lang="ko-KR" altLang="en-US" sz="2000" dirty="0" smtClean="0"/>
              <a:t>핀</a:t>
            </a:r>
            <a:endParaRPr lang="en-US" altLang="ko-KR" sz="2000" dirty="0" smtClean="0"/>
          </a:p>
          <a:p>
            <a:pPr lvl="1"/>
            <a:r>
              <a:rPr lang="en-US" altLang="ko-KR" sz="2000" dirty="0" smtClean="0"/>
              <a:t>5</a:t>
            </a:r>
            <a:r>
              <a:rPr lang="ko-KR" altLang="en-US" sz="2000" dirty="0" smtClean="0"/>
              <a:t>개의 전원 관련 핀 </a:t>
            </a:r>
            <a:r>
              <a:rPr lang="en-US" altLang="ko-KR" sz="2000" dirty="0" smtClean="0"/>
              <a:t>: 23</a:t>
            </a:r>
            <a:r>
              <a:rPr lang="ko-KR" altLang="en-US" sz="2000" dirty="0" smtClean="0"/>
              <a:t>핀을 데이터 핀으로 사용 가능</a:t>
            </a:r>
            <a:endParaRPr lang="en-US" altLang="ko-KR" sz="2000" dirty="0" smtClean="0"/>
          </a:p>
          <a:p>
            <a:pPr lvl="1"/>
            <a:r>
              <a:rPr lang="en-US" altLang="ko-KR" sz="2000" dirty="0" smtClean="0"/>
              <a:t>23</a:t>
            </a:r>
            <a:r>
              <a:rPr lang="ko-KR" altLang="en-US" sz="2000" dirty="0" smtClean="0"/>
              <a:t>개 데이터 핀 중 </a:t>
            </a:r>
            <a:r>
              <a:rPr lang="ko-KR" altLang="en-US" sz="2000" dirty="0" err="1" smtClean="0"/>
              <a:t>크리스탈을</a:t>
            </a:r>
            <a:r>
              <a:rPr lang="ko-KR" altLang="en-US" sz="2000" dirty="0" smtClean="0"/>
              <a:t> 위해 </a:t>
            </a:r>
            <a:r>
              <a:rPr lang="en-US" altLang="ko-KR" sz="2000" dirty="0" smtClean="0"/>
              <a:t>2</a:t>
            </a:r>
            <a:r>
              <a:rPr lang="ko-KR" altLang="en-US" sz="2000" dirty="0" smtClean="0"/>
              <a:t>핀</a:t>
            </a:r>
            <a:r>
              <a:rPr lang="en-US" altLang="ko-KR" sz="2000" dirty="0" smtClean="0"/>
              <a:t>, </a:t>
            </a:r>
            <a:r>
              <a:rPr lang="ko-KR" altLang="en-US" sz="2000" dirty="0" err="1" smtClean="0"/>
              <a:t>리셋을</a:t>
            </a:r>
            <a:r>
              <a:rPr lang="ko-KR" altLang="en-US" sz="2000" dirty="0" smtClean="0"/>
              <a:t> 위해 </a:t>
            </a:r>
            <a:r>
              <a:rPr lang="en-US" altLang="ko-KR" sz="2000" dirty="0" smtClean="0"/>
              <a:t>1</a:t>
            </a:r>
            <a:r>
              <a:rPr lang="ko-KR" altLang="en-US" sz="2000" dirty="0" smtClean="0"/>
              <a:t>핀을 사용</a:t>
            </a:r>
            <a:endParaRPr lang="en-US" altLang="ko-KR" sz="2000" dirty="0" smtClean="0"/>
          </a:p>
          <a:p>
            <a:pPr lvl="2"/>
            <a:r>
              <a:rPr lang="ko-KR" altLang="en-US" sz="1800" dirty="0" err="1" smtClean="0"/>
              <a:t>아두이노</a:t>
            </a:r>
            <a:r>
              <a:rPr lang="ko-KR" altLang="en-US" sz="1800" dirty="0" smtClean="0"/>
              <a:t> </a:t>
            </a:r>
            <a:r>
              <a:rPr lang="ko-KR" altLang="en-US" sz="1800" dirty="0" err="1" smtClean="0"/>
              <a:t>우노에서는</a:t>
            </a:r>
            <a:r>
              <a:rPr lang="ko-KR" altLang="en-US" sz="1800" dirty="0" smtClean="0"/>
              <a:t> </a:t>
            </a:r>
            <a:r>
              <a:rPr lang="en-US" altLang="ko-KR" sz="1800" dirty="0" smtClean="0"/>
              <a:t>20</a:t>
            </a:r>
            <a:r>
              <a:rPr lang="ko-KR" altLang="en-US" sz="1800" dirty="0" smtClean="0"/>
              <a:t>개의 데이터 핀 사용 가능</a:t>
            </a:r>
            <a:endParaRPr lang="en-US" altLang="ko-KR" sz="1800" dirty="0" smtClean="0"/>
          </a:p>
          <a:p>
            <a:r>
              <a:rPr lang="ko-KR" altLang="en-US" sz="2000" dirty="0" smtClean="0"/>
              <a:t>하나의 핀은 여러 가지 기능을 가짐</a:t>
            </a:r>
            <a:endParaRPr lang="en-US" altLang="ko-KR" sz="2000" dirty="0" smtClean="0"/>
          </a:p>
          <a:p>
            <a:pPr lvl="1"/>
            <a:r>
              <a:rPr lang="ko-KR" altLang="en-US" sz="1800" dirty="0" smtClean="0"/>
              <a:t>핀의 기능 설정을 통해 선택적으로 사용 가능</a:t>
            </a:r>
            <a:endParaRPr lang="en-US" altLang="ko-KR" sz="1800" dirty="0" smtClean="0"/>
          </a:p>
          <a:p>
            <a:pPr lvl="1"/>
            <a:r>
              <a:rPr lang="ko-KR" altLang="en-US" sz="1800" dirty="0" smtClean="0"/>
              <a:t>핀의 기능 설정을 위해서는 레지스터가 사용됨</a:t>
            </a:r>
            <a:endParaRPr lang="ko-KR" altLang="en-US" sz="1800" dirty="0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ATmega328</a:t>
            </a:r>
            <a:r>
              <a:rPr lang="ko-KR" altLang="en-US" dirty="0" smtClean="0"/>
              <a:t>의 핀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984920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1800" dirty="0" smtClean="0"/>
              <a:t>데스크톱 컴퓨터의 레지스터</a:t>
            </a:r>
            <a:endParaRPr lang="en-US" altLang="ko-KR" sz="1800" dirty="0" smtClean="0"/>
          </a:p>
          <a:p>
            <a:pPr lvl="1"/>
            <a:r>
              <a:rPr lang="en-US" altLang="ko-KR" sz="1800" dirty="0" smtClean="0"/>
              <a:t>CPU </a:t>
            </a:r>
            <a:r>
              <a:rPr lang="ko-KR" altLang="en-US" sz="1800" dirty="0" smtClean="0"/>
              <a:t>내부의 임시 저장 공간</a:t>
            </a:r>
            <a:endParaRPr lang="en-US" altLang="ko-KR" sz="1800" dirty="0" smtClean="0"/>
          </a:p>
          <a:p>
            <a:pPr lvl="1"/>
            <a:r>
              <a:rPr lang="ko-KR" altLang="en-US" sz="1800" dirty="0" smtClean="0"/>
              <a:t>프로그램 실행 직전 명령어와 데이터가 위치하는 공간</a:t>
            </a:r>
            <a:endParaRPr lang="en-US" altLang="ko-KR" sz="1800" dirty="0" smtClean="0"/>
          </a:p>
          <a:p>
            <a:pPr lvl="1"/>
            <a:r>
              <a:rPr lang="ko-KR" altLang="en-US" sz="1800" dirty="0" smtClean="0"/>
              <a:t>데스크톱 컴퓨터에서 레지스터를 프로그램에서 사용하는 경우는 거의 없음</a:t>
            </a:r>
            <a:endParaRPr lang="en-US" altLang="ko-KR" sz="1800" dirty="0" smtClean="0"/>
          </a:p>
          <a:p>
            <a:pPr lvl="1"/>
            <a:r>
              <a:rPr lang="en-US" altLang="ko-KR" sz="1800" dirty="0" smtClean="0"/>
              <a:t>‘</a:t>
            </a:r>
            <a:r>
              <a:rPr lang="ko-KR" altLang="en-US" sz="1800" dirty="0" smtClean="0"/>
              <a:t>범용 레지스터</a:t>
            </a:r>
            <a:r>
              <a:rPr lang="en-US" altLang="ko-KR" sz="1800" dirty="0" smtClean="0"/>
              <a:t>’</a:t>
            </a:r>
            <a:r>
              <a:rPr lang="ko-KR" altLang="en-US" sz="1800" dirty="0" smtClean="0"/>
              <a:t>라고 불림</a:t>
            </a:r>
            <a:endParaRPr lang="en-US" altLang="ko-KR" sz="1800" dirty="0" smtClean="0"/>
          </a:p>
          <a:p>
            <a:r>
              <a:rPr lang="ko-KR" altLang="en-US" sz="1800" dirty="0" err="1" smtClean="0"/>
              <a:t>마이크로컨트롤러의</a:t>
            </a:r>
            <a:r>
              <a:rPr lang="ko-KR" altLang="en-US" sz="1800" dirty="0" smtClean="0"/>
              <a:t> 레지스터</a:t>
            </a:r>
            <a:endParaRPr lang="en-US" altLang="ko-KR" sz="1800" dirty="0" smtClean="0"/>
          </a:p>
          <a:p>
            <a:pPr lvl="1"/>
            <a:r>
              <a:rPr lang="ko-KR" altLang="en-US" sz="1800" dirty="0" smtClean="0"/>
              <a:t>범용 레지스터 </a:t>
            </a:r>
            <a:r>
              <a:rPr lang="en-US" altLang="ko-KR" sz="1800" dirty="0" smtClean="0"/>
              <a:t>+ </a:t>
            </a:r>
            <a:r>
              <a:rPr lang="ko-KR" altLang="en-US" sz="1800" dirty="0" smtClean="0"/>
              <a:t>전용 레지스터</a:t>
            </a:r>
            <a:endParaRPr lang="en-US" altLang="ko-KR" sz="1800" dirty="0" smtClean="0"/>
          </a:p>
          <a:p>
            <a:pPr lvl="1"/>
            <a:r>
              <a:rPr lang="ko-KR" altLang="en-US" sz="1800" dirty="0" smtClean="0"/>
              <a:t>전용 레지스터 중 주변장치와 데이터를 교환하는 과정에 필요한 입출력 레지스터가 </a:t>
            </a:r>
            <a:r>
              <a:rPr lang="ko-KR" altLang="en-US" sz="1800" dirty="0" err="1" smtClean="0"/>
              <a:t>마이크로컨트롤러</a:t>
            </a:r>
            <a:r>
              <a:rPr lang="ko-KR" altLang="en-US" sz="1800" dirty="0" smtClean="0"/>
              <a:t> 프로그래밍에서 중요</a:t>
            </a:r>
            <a:endParaRPr lang="en-US" altLang="ko-KR" sz="1800" dirty="0" smtClean="0"/>
          </a:p>
          <a:p>
            <a:pPr lvl="1"/>
            <a:r>
              <a:rPr lang="en-US" altLang="ko-KR" sz="1800" dirty="0" smtClean="0"/>
              <a:t>C/C++ </a:t>
            </a:r>
            <a:r>
              <a:rPr lang="ko-KR" altLang="en-US" sz="1800" dirty="0" smtClean="0"/>
              <a:t>프로그래밍에서 이름을 변경할 수 없는 변수와 비슷한 역할</a:t>
            </a:r>
            <a:endParaRPr lang="en-US" altLang="ko-KR" sz="1800" dirty="0" smtClean="0"/>
          </a:p>
          <a:p>
            <a:pPr lvl="1"/>
            <a:r>
              <a:rPr lang="ko-KR" altLang="en-US" sz="1800" dirty="0" smtClean="0"/>
              <a:t>입출력 레지스터는 특정 목적을 위해서만 사용될 수 있음</a:t>
            </a:r>
            <a:endParaRPr lang="en-US" altLang="ko-KR" sz="1800" dirty="0" smtClean="0"/>
          </a:p>
          <a:p>
            <a:pPr lvl="1"/>
            <a:r>
              <a:rPr lang="ko-KR" altLang="en-US" sz="1800" dirty="0" smtClean="0"/>
              <a:t>입출력 레지스터는 </a:t>
            </a:r>
            <a:r>
              <a:rPr lang="en-US" altLang="ko-KR" sz="1800" dirty="0" smtClean="0"/>
              <a:t>8</a:t>
            </a:r>
            <a:r>
              <a:rPr lang="ko-KR" altLang="en-US" sz="1800" dirty="0" err="1" smtClean="0"/>
              <a:t>비트를</a:t>
            </a:r>
            <a:r>
              <a:rPr lang="ko-KR" altLang="en-US" sz="1800" dirty="0" smtClean="0"/>
              <a:t> 기본으로 하며</a:t>
            </a:r>
            <a:r>
              <a:rPr lang="en-US" altLang="ko-KR" sz="1800" dirty="0" smtClean="0"/>
              <a:t>, </a:t>
            </a:r>
            <a:r>
              <a:rPr lang="ko-KR" altLang="en-US" sz="1800" dirty="0" smtClean="0"/>
              <a:t>핀 단위의 데이터 교환을 위해 비트 단위 연산이 사용됨</a:t>
            </a:r>
            <a:endParaRPr lang="en-US" altLang="ko-KR" sz="1800" dirty="0" smtClean="0"/>
          </a:p>
          <a:p>
            <a:pPr lvl="1"/>
            <a:endParaRPr lang="en-US" altLang="ko-KR" sz="1800" dirty="0" smtClean="0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레지스터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36631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smtClean="0"/>
              <a:t>ATmega328</a:t>
            </a:r>
            <a:r>
              <a:rPr lang="ko-KR" altLang="en-US" dirty="0" smtClean="0"/>
              <a:t>의 레지스터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256</a:t>
            </a:r>
            <a:r>
              <a:rPr lang="ko-KR" altLang="en-US" dirty="0" smtClean="0"/>
              <a:t>개 정의 가능한 레지스터 중 </a:t>
            </a:r>
            <a:r>
              <a:rPr lang="en-US" altLang="ko-KR" dirty="0" smtClean="0"/>
              <a:t>119</a:t>
            </a:r>
            <a:r>
              <a:rPr lang="ko-KR" altLang="en-US" dirty="0" smtClean="0"/>
              <a:t>개 레지스터가 정의됨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119</a:t>
            </a:r>
            <a:r>
              <a:rPr lang="ko-KR" altLang="en-US" dirty="0" smtClean="0"/>
              <a:t>개 레지스터 대부분은 비트 단위로 이름이 정해짐</a:t>
            </a:r>
            <a:endParaRPr lang="en-US" altLang="ko-KR" dirty="0" smtClean="0"/>
          </a:p>
          <a:p>
            <a:r>
              <a:rPr lang="ko-KR" altLang="en-US" dirty="0" err="1" smtClean="0"/>
              <a:t>아두이노</a:t>
            </a:r>
            <a:r>
              <a:rPr lang="ko-KR" altLang="en-US" dirty="0" smtClean="0"/>
              <a:t> 스타일의 필요성</a:t>
            </a:r>
            <a:endParaRPr lang="en-US" altLang="ko-KR" dirty="0" smtClean="0"/>
          </a:p>
          <a:p>
            <a:pPr lvl="1"/>
            <a:r>
              <a:rPr lang="ko-KR" altLang="en-US" dirty="0" err="1" smtClean="0"/>
              <a:t>아두이노는</a:t>
            </a:r>
            <a:r>
              <a:rPr lang="ko-KR" altLang="en-US" dirty="0" smtClean="0"/>
              <a:t> 비전공자들을 위한 </a:t>
            </a:r>
            <a:r>
              <a:rPr lang="ko-KR" altLang="en-US" dirty="0" err="1" smtClean="0"/>
              <a:t>마이크로컨트롤러</a:t>
            </a:r>
            <a:r>
              <a:rPr lang="ko-KR" altLang="en-US" dirty="0" smtClean="0"/>
              <a:t> 플랫폼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많은 수의 레지스터를 쉽게 제어할 수 있는 추상화된 함수를 제공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다만</a:t>
            </a:r>
            <a:r>
              <a:rPr lang="en-US" altLang="ko-KR" dirty="0" smtClean="0"/>
              <a:t>, 119</a:t>
            </a:r>
            <a:r>
              <a:rPr lang="ko-KR" altLang="en-US" dirty="0" smtClean="0"/>
              <a:t>개 레지스터를 통한 모든 기능을 추상화된 함수로 제공하지 않으므로 고급 기법을 사용하기 위해서는 레지스터 조작이 필요</a:t>
            </a:r>
            <a:endParaRPr lang="en-US" altLang="ko-KR" dirty="0" smtClean="0"/>
          </a:p>
          <a:p>
            <a:pPr lvl="1"/>
            <a:r>
              <a:rPr lang="ko-KR" altLang="en-US" dirty="0" err="1" smtClean="0"/>
              <a:t>아두이노</a:t>
            </a:r>
            <a:r>
              <a:rPr lang="ko-KR" altLang="en-US" dirty="0" smtClean="0"/>
              <a:t> </a:t>
            </a:r>
            <a:r>
              <a:rPr lang="en-US" altLang="ko-KR" dirty="0" smtClean="0"/>
              <a:t>+ </a:t>
            </a:r>
            <a:r>
              <a:rPr lang="ko-KR" altLang="en-US" dirty="0" smtClean="0"/>
              <a:t>레지스터</a:t>
            </a:r>
            <a:r>
              <a:rPr lang="en-US" altLang="ko-KR" dirty="0" smtClean="0"/>
              <a:t>(C </a:t>
            </a:r>
            <a:r>
              <a:rPr lang="ko-KR" altLang="en-US" dirty="0" smtClean="0"/>
              <a:t>스타일</a:t>
            </a:r>
            <a:r>
              <a:rPr lang="en-US" altLang="ko-KR" dirty="0" smtClean="0"/>
              <a:t>) = </a:t>
            </a:r>
            <a:r>
              <a:rPr lang="ko-KR" altLang="en-US" dirty="0" smtClean="0"/>
              <a:t>융통성과 </a:t>
            </a:r>
            <a:r>
              <a:rPr lang="ko-KR" altLang="en-US" dirty="0" err="1" smtClean="0"/>
              <a:t>확장성</a:t>
            </a:r>
            <a:endParaRPr lang="ko-KR" altLang="en-US" dirty="0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아두이노</a:t>
            </a:r>
            <a:r>
              <a:rPr lang="ko-KR" altLang="en-US" dirty="0"/>
              <a:t> 스타일</a:t>
            </a:r>
            <a:r>
              <a:rPr lang="en-US" altLang="ko-KR" dirty="0"/>
              <a:t>? C </a:t>
            </a:r>
            <a:r>
              <a:rPr lang="ko-KR" altLang="en-US" dirty="0"/>
              <a:t>스타일</a:t>
            </a:r>
            <a:r>
              <a:rPr lang="en-US" altLang="ko-KR" dirty="0"/>
              <a:t>?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327874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2000" dirty="0" smtClean="0"/>
              <a:t>하버드 구조 </a:t>
            </a:r>
            <a:r>
              <a:rPr lang="en-US" altLang="ko-KR" sz="2000" dirty="0" smtClean="0"/>
              <a:t>: </a:t>
            </a:r>
            <a:r>
              <a:rPr lang="ko-KR" altLang="en-US" sz="2000" dirty="0" smtClean="0"/>
              <a:t>프로그램과 데이터를 위한 메모리 분리</a:t>
            </a:r>
            <a:endParaRPr lang="en-US" altLang="ko-KR" sz="2000" dirty="0" smtClean="0"/>
          </a:p>
          <a:p>
            <a:r>
              <a:rPr lang="en-US" altLang="ko-KR" sz="2000" dirty="0" smtClean="0"/>
              <a:t>3</a:t>
            </a:r>
            <a:r>
              <a:rPr lang="ko-KR" altLang="en-US" sz="2000" dirty="0" smtClean="0"/>
              <a:t>종류의 메모리 </a:t>
            </a:r>
            <a:r>
              <a:rPr lang="en-US" altLang="ko-KR" sz="2000" dirty="0" smtClean="0"/>
              <a:t>: </a:t>
            </a:r>
            <a:r>
              <a:rPr lang="ko-KR" altLang="en-US" sz="2000" dirty="0" smtClean="0"/>
              <a:t>플래시 메모리</a:t>
            </a:r>
            <a:r>
              <a:rPr lang="en-US" altLang="ko-KR" sz="2000" dirty="0" smtClean="0"/>
              <a:t>, SRAM, EEPROM</a:t>
            </a:r>
            <a:endParaRPr lang="ko-KR" altLang="en-US" sz="2000" dirty="0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ATmega328</a:t>
            </a:r>
            <a:r>
              <a:rPr lang="ko-KR" altLang="en-US" dirty="0" smtClean="0"/>
              <a:t>의 메모리</a:t>
            </a:r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428" y="2924944"/>
            <a:ext cx="7897143" cy="2487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6498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내용 개체 틀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15616" y="1844824"/>
            <a:ext cx="6932000" cy="3884000"/>
          </a:xfrm>
          <a:prstGeom prst="rect">
            <a:avLst/>
          </a:prstGeom>
        </p:spPr>
      </p:pic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ATmega328</a:t>
            </a:r>
            <a:r>
              <a:rPr lang="ko-KR" altLang="en-US" dirty="0" smtClean="0"/>
              <a:t>의 메모리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782243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내용 개체 틀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76790" y="2205832"/>
            <a:ext cx="6990420" cy="3527424"/>
          </a:xfrm>
          <a:prstGeom prst="rect">
            <a:avLst/>
          </a:prstGeom>
        </p:spPr>
      </p:pic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데스크톱 컴퓨터의 메모리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917310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idx="1"/>
          </p:nvPr>
        </p:nvSpPr>
        <p:spPr>
          <a:xfrm>
            <a:off x="457200" y="1556792"/>
            <a:ext cx="5122912" cy="4824536"/>
          </a:xfrm>
        </p:spPr>
        <p:txBody>
          <a:bodyPr/>
          <a:lstStyle/>
          <a:p>
            <a:r>
              <a:rPr lang="ko-KR" altLang="en-US" sz="1800" dirty="0" smtClean="0"/>
              <a:t>프로그램 저장을 위한 </a:t>
            </a:r>
            <a:r>
              <a:rPr lang="en-US" altLang="ko-KR" sz="1800" dirty="0" smtClean="0"/>
              <a:t>‘</a:t>
            </a:r>
            <a:r>
              <a:rPr lang="ko-KR" altLang="en-US" sz="1800" dirty="0" smtClean="0"/>
              <a:t>프로그램 메모리</a:t>
            </a:r>
            <a:r>
              <a:rPr lang="en-US" altLang="ko-KR" sz="1800" dirty="0" smtClean="0"/>
              <a:t>’</a:t>
            </a:r>
          </a:p>
          <a:p>
            <a:r>
              <a:rPr lang="en-US" altLang="ko-KR" sz="1800" dirty="0" smtClean="0"/>
              <a:t>32KByte </a:t>
            </a:r>
            <a:r>
              <a:rPr lang="ko-KR" altLang="en-US" sz="1800" dirty="0" smtClean="0"/>
              <a:t>크기</a:t>
            </a:r>
            <a:endParaRPr lang="en-US" altLang="ko-KR" sz="1800" dirty="0" smtClean="0"/>
          </a:p>
          <a:p>
            <a:r>
              <a:rPr lang="ko-KR" altLang="en-US" sz="1800" dirty="0" smtClean="0"/>
              <a:t>기계어 명령어는 </a:t>
            </a:r>
            <a:r>
              <a:rPr lang="en-US" altLang="ko-KR" sz="1800" dirty="0" smtClean="0"/>
              <a:t>16</a:t>
            </a:r>
            <a:r>
              <a:rPr lang="ko-KR" altLang="en-US" sz="1800" dirty="0" smtClean="0"/>
              <a:t>비트 또는 </a:t>
            </a:r>
            <a:r>
              <a:rPr lang="en-US" altLang="ko-KR" sz="1800" dirty="0" smtClean="0"/>
              <a:t>32</a:t>
            </a:r>
            <a:r>
              <a:rPr lang="ko-KR" altLang="en-US" sz="1800" dirty="0" smtClean="0"/>
              <a:t>비트 크기</a:t>
            </a:r>
            <a:endParaRPr lang="en-US" altLang="ko-KR" sz="1800" dirty="0" smtClean="0"/>
          </a:p>
          <a:p>
            <a:pPr lvl="1"/>
            <a:r>
              <a:rPr lang="ko-KR" altLang="en-US" sz="1800" dirty="0" smtClean="0"/>
              <a:t>플래시 메모리의 주소는 </a:t>
            </a:r>
            <a:r>
              <a:rPr lang="en-US" altLang="ko-KR" sz="1800" dirty="0" smtClean="0"/>
              <a:t>16</a:t>
            </a:r>
            <a:r>
              <a:rPr lang="ko-KR" altLang="en-US" sz="1800" dirty="0" smtClean="0"/>
              <a:t>비트 단위로 정해짐</a:t>
            </a:r>
            <a:endParaRPr lang="en-US" altLang="ko-KR" sz="1800" dirty="0" smtClean="0"/>
          </a:p>
          <a:p>
            <a:pPr lvl="1"/>
            <a:r>
              <a:rPr lang="en-US" altLang="ko-KR" sz="1800" dirty="0" smtClean="0"/>
              <a:t>32KByte / 16bit = 16K</a:t>
            </a:r>
            <a:r>
              <a:rPr lang="ko-KR" altLang="en-US" sz="1800" dirty="0" smtClean="0"/>
              <a:t>개 주소 필요</a:t>
            </a:r>
            <a:endParaRPr lang="en-US" altLang="ko-KR" sz="1800" dirty="0" smtClean="0"/>
          </a:p>
          <a:p>
            <a:pPr lvl="1"/>
            <a:r>
              <a:rPr lang="en-US" altLang="ko-KR" sz="1800" dirty="0" smtClean="0"/>
              <a:t>14</a:t>
            </a:r>
            <a:r>
              <a:rPr lang="ko-KR" altLang="en-US" sz="1800" dirty="0" smtClean="0"/>
              <a:t>비트 주소 사용</a:t>
            </a:r>
            <a:endParaRPr lang="en-US" altLang="ko-KR" sz="1800" dirty="0" smtClean="0"/>
          </a:p>
          <a:p>
            <a:r>
              <a:rPr lang="en-US" altLang="ko-KR" sz="1800" dirty="0" smtClean="0"/>
              <a:t>2</a:t>
            </a:r>
            <a:r>
              <a:rPr lang="ko-KR" altLang="en-US" sz="1800" dirty="0" smtClean="0"/>
              <a:t>개의 영역으로 나뉨</a:t>
            </a:r>
            <a:endParaRPr lang="en-US" altLang="ko-KR" sz="1800" dirty="0" smtClean="0"/>
          </a:p>
          <a:p>
            <a:pPr lvl="1"/>
            <a:r>
              <a:rPr lang="ko-KR" altLang="en-US" sz="1800" dirty="0" smtClean="0"/>
              <a:t>어플리케이션 프로그램 영역 </a:t>
            </a:r>
            <a:r>
              <a:rPr lang="en-US" altLang="ko-KR" sz="1800" dirty="0" smtClean="0"/>
              <a:t>: </a:t>
            </a:r>
            <a:r>
              <a:rPr lang="ko-KR" altLang="en-US" sz="1800" dirty="0" smtClean="0"/>
              <a:t>프로그램 저장</a:t>
            </a:r>
            <a:endParaRPr lang="en-US" altLang="ko-KR" sz="1800" dirty="0" smtClean="0"/>
          </a:p>
          <a:p>
            <a:pPr lvl="1"/>
            <a:r>
              <a:rPr lang="ko-KR" altLang="en-US" sz="1800" dirty="0" err="1" smtClean="0"/>
              <a:t>부트로더</a:t>
            </a:r>
            <a:r>
              <a:rPr lang="ko-KR" altLang="en-US" sz="1800" dirty="0" smtClean="0"/>
              <a:t> 영역 </a:t>
            </a:r>
            <a:r>
              <a:rPr lang="en-US" altLang="ko-KR" sz="1800" dirty="0" smtClean="0"/>
              <a:t>: </a:t>
            </a:r>
            <a:r>
              <a:rPr lang="ko-KR" altLang="en-US" sz="1800" dirty="0" err="1" smtClean="0"/>
              <a:t>마이크로컨트롤러의</a:t>
            </a:r>
            <a:r>
              <a:rPr lang="ko-KR" altLang="en-US" sz="1800" dirty="0" smtClean="0"/>
              <a:t> 초기 부팅 시점에서 실행되는 특수 목적용 프로그램 설치</a:t>
            </a:r>
            <a:endParaRPr lang="en-US" altLang="ko-KR" sz="1800" dirty="0" smtClean="0"/>
          </a:p>
          <a:p>
            <a:pPr lvl="2"/>
            <a:r>
              <a:rPr lang="ko-KR" altLang="en-US" sz="1600" dirty="0" err="1" smtClean="0"/>
              <a:t>부트로더</a:t>
            </a:r>
            <a:r>
              <a:rPr lang="ko-KR" altLang="en-US" sz="1600" dirty="0" smtClean="0"/>
              <a:t> 사용 여부는 선택 가능</a:t>
            </a:r>
            <a:endParaRPr lang="en-US" altLang="ko-KR" sz="1600" dirty="0" smtClean="0"/>
          </a:p>
          <a:p>
            <a:pPr lvl="2"/>
            <a:r>
              <a:rPr lang="en-US" altLang="ko-KR" sz="1600" dirty="0" smtClean="0"/>
              <a:t>0.5~4KB </a:t>
            </a:r>
            <a:r>
              <a:rPr lang="ko-KR" altLang="en-US" sz="1600" dirty="0" smtClean="0"/>
              <a:t>크기 사용</a:t>
            </a:r>
            <a:endParaRPr lang="ko-KR" altLang="en-US" sz="1600" dirty="0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플래시</a:t>
            </a:r>
            <a:r>
              <a:rPr lang="en-US" altLang="ko-KR" dirty="0" smtClean="0"/>
              <a:t> </a:t>
            </a:r>
            <a:r>
              <a:rPr lang="ko-KR" altLang="en-US" dirty="0" smtClean="0"/>
              <a:t>메모리</a:t>
            </a:r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2773" y="3619742"/>
            <a:ext cx="3346598" cy="2732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90663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idx="1"/>
          </p:nvPr>
        </p:nvSpPr>
        <p:spPr>
          <a:xfrm>
            <a:off x="457200" y="1556792"/>
            <a:ext cx="4402832" cy="4824536"/>
          </a:xfrm>
        </p:spPr>
        <p:txBody>
          <a:bodyPr/>
          <a:lstStyle/>
          <a:p>
            <a:r>
              <a:rPr lang="ko-KR" altLang="en-US" sz="2000" dirty="0" smtClean="0"/>
              <a:t>데이터 저장을 위한 </a:t>
            </a:r>
            <a:r>
              <a:rPr lang="en-US" altLang="ko-KR" sz="2000" dirty="0" smtClean="0"/>
              <a:t>‘</a:t>
            </a:r>
            <a:r>
              <a:rPr lang="ko-KR" altLang="en-US" sz="2000" dirty="0" smtClean="0"/>
              <a:t>데이터 메모리</a:t>
            </a:r>
            <a:r>
              <a:rPr lang="en-US" altLang="ko-KR" sz="2000" dirty="0" smtClean="0"/>
              <a:t>’</a:t>
            </a:r>
          </a:p>
          <a:p>
            <a:r>
              <a:rPr lang="ko-KR" altLang="en-US" sz="2000" dirty="0" smtClean="0"/>
              <a:t>레지스터와 주소를 함께 사용</a:t>
            </a:r>
            <a:endParaRPr lang="en-US" altLang="ko-KR" sz="2000" dirty="0" smtClean="0"/>
          </a:p>
          <a:p>
            <a:pPr lvl="1"/>
            <a:r>
              <a:rPr lang="en-US" altLang="ko-KR" sz="2000" dirty="0" smtClean="0"/>
              <a:t> </a:t>
            </a:r>
            <a:r>
              <a:rPr lang="ko-KR" altLang="en-US" sz="2000" dirty="0" smtClean="0"/>
              <a:t>레지스터 </a:t>
            </a:r>
            <a:r>
              <a:rPr lang="en-US" altLang="ko-KR" sz="2000" dirty="0" smtClean="0"/>
              <a:t>256</a:t>
            </a:r>
            <a:r>
              <a:rPr lang="ko-KR" altLang="en-US" sz="2000" dirty="0" smtClean="0"/>
              <a:t>개는 </a:t>
            </a:r>
            <a:r>
              <a:rPr lang="en-US" altLang="ko-KR" sz="2000" dirty="0" smtClean="0"/>
              <a:t>0x0000~0x00FF </a:t>
            </a:r>
            <a:r>
              <a:rPr lang="ko-KR" altLang="en-US" sz="2000" dirty="0" smtClean="0"/>
              <a:t>번지 사용</a:t>
            </a:r>
            <a:endParaRPr lang="en-US" altLang="ko-KR" sz="2000" dirty="0" smtClean="0"/>
          </a:p>
          <a:p>
            <a:pPr lvl="1"/>
            <a:r>
              <a:rPr lang="en-US" altLang="ko-KR" sz="2000" dirty="0" smtClean="0"/>
              <a:t>SRAM</a:t>
            </a:r>
            <a:r>
              <a:rPr lang="ko-KR" altLang="en-US" sz="2000" dirty="0" smtClean="0"/>
              <a:t>은 </a:t>
            </a:r>
            <a:r>
              <a:rPr lang="en-US" altLang="ko-KR" sz="2000" dirty="0" smtClean="0"/>
              <a:t>0x0100</a:t>
            </a:r>
            <a:r>
              <a:rPr lang="ko-KR" altLang="en-US" sz="2000" dirty="0" smtClean="0"/>
              <a:t>부터 할당</a:t>
            </a:r>
            <a:endParaRPr lang="en-US" altLang="ko-KR" sz="2000" dirty="0" smtClean="0"/>
          </a:p>
          <a:p>
            <a:endParaRPr lang="ko-KR" altLang="en-US" sz="2000" dirty="0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SRAM</a:t>
            </a:r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608" y="4653136"/>
            <a:ext cx="7256682" cy="1642890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8064" y="1680490"/>
            <a:ext cx="2936202" cy="2856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0617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smtClean="0"/>
              <a:t>데이터 영구 저장을 위한 데이터 메모리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일부 </a:t>
            </a:r>
            <a:r>
              <a:rPr lang="ko-KR" altLang="en-US" dirty="0" err="1" smtClean="0"/>
              <a:t>마이크로컨트롤러에는</a:t>
            </a:r>
            <a:r>
              <a:rPr lang="ko-KR" altLang="en-US" dirty="0" smtClean="0"/>
              <a:t> </a:t>
            </a:r>
            <a:r>
              <a:rPr lang="en-US" altLang="ko-KR" dirty="0" smtClean="0"/>
              <a:t>EEPROM</a:t>
            </a:r>
            <a:r>
              <a:rPr lang="ko-KR" altLang="en-US" dirty="0" smtClean="0"/>
              <a:t>이 포함되어 있지 않으므로 일반적으로 데이터 메모리는 </a:t>
            </a:r>
            <a:r>
              <a:rPr lang="en-US" altLang="ko-KR" dirty="0" smtClean="0"/>
              <a:t>SRAM</a:t>
            </a:r>
            <a:r>
              <a:rPr lang="ko-KR" altLang="en-US" dirty="0" smtClean="0"/>
              <a:t>만을 가리킴</a:t>
            </a:r>
            <a:endParaRPr lang="en-US" altLang="ko-KR" dirty="0" smtClean="0"/>
          </a:p>
          <a:p>
            <a:r>
              <a:rPr lang="ko-KR" altLang="en-US" dirty="0" smtClean="0"/>
              <a:t>제 </a:t>
            </a:r>
            <a:r>
              <a:rPr lang="en-US" altLang="ko-KR" dirty="0" smtClean="0"/>
              <a:t>3</a:t>
            </a:r>
            <a:r>
              <a:rPr lang="ko-KR" altLang="en-US" dirty="0" smtClean="0"/>
              <a:t>의 주소 공간 사용</a:t>
            </a:r>
            <a:endParaRPr lang="en-US" altLang="ko-KR" dirty="0" smtClean="0"/>
          </a:p>
          <a:p>
            <a:r>
              <a:rPr lang="ko-KR" altLang="en-US" dirty="0" smtClean="0"/>
              <a:t>유일하게 번지로만 접근이 가능한 메모리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플래시 메모리는 프로그램 저장을 위해 사용되며</a:t>
            </a:r>
            <a:r>
              <a:rPr lang="en-US" altLang="ko-KR" dirty="0" smtClean="0"/>
              <a:t>, </a:t>
            </a:r>
            <a:r>
              <a:rPr lang="ko-KR" altLang="en-US" dirty="0" smtClean="0"/>
              <a:t>프로그래머가 임의로 접근할 수 없음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SRAM </a:t>
            </a:r>
            <a:r>
              <a:rPr lang="ko-KR" altLang="en-US" dirty="0" smtClean="0"/>
              <a:t>역시 실행 과정 중 자동으로 값이 저장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레지스터는 각 주소에 정의된 이름을 통해 접근하는 것이 일반적임</a:t>
            </a:r>
            <a:endParaRPr lang="en-US" altLang="ko-KR" dirty="0" smtClean="0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EEPROM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889545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기본 디자인">
  <a:themeElements>
    <a:clrScheme name="기본 디자인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기본 디자인">
      <a:majorFont>
        <a:latin typeface="굴림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427</TotalTime>
  <Words>648</Words>
  <Application>Microsoft Office PowerPoint</Application>
  <PresentationFormat>화면 슬라이드 쇼(4:3)</PresentationFormat>
  <Paragraphs>119</Paragraphs>
  <Slides>18</Slides>
  <Notes>1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18</vt:i4>
      </vt:variant>
    </vt:vector>
  </HeadingPairs>
  <TitlesOfParts>
    <vt:vector size="19" baseType="lpstr">
      <vt:lpstr>기본 디자인</vt:lpstr>
      <vt:lpstr>PowerPoint 프레젠테이션</vt:lpstr>
      <vt:lpstr>AVR</vt:lpstr>
      <vt:lpstr>ATmega328</vt:lpstr>
      <vt:lpstr>ATmega328의 특징</vt:lpstr>
      <vt:lpstr>ATmega328 기본 회로</vt:lpstr>
      <vt:lpstr>아두이노 우노</vt:lpstr>
      <vt:lpstr>아두이노 스타일? C 스타일?</vt:lpstr>
      <vt:lpstr>ATmega328 핀 배치</vt:lpstr>
      <vt:lpstr>ATmega328 핀 설명</vt:lpstr>
      <vt:lpstr>ATmega328의 핀</vt:lpstr>
      <vt:lpstr>레지스터</vt:lpstr>
      <vt:lpstr>아두이노 스타일? C 스타일?</vt:lpstr>
      <vt:lpstr>ATmega328의 메모리</vt:lpstr>
      <vt:lpstr>ATmega328의 메모리</vt:lpstr>
      <vt:lpstr>데스크톱 컴퓨터의 메모리</vt:lpstr>
      <vt:lpstr>플래시 메모리</vt:lpstr>
      <vt:lpstr>SRAM</vt:lpstr>
      <vt:lpstr>EEPROM</vt:lpstr>
    </vt:vector>
  </TitlesOfParts>
  <Company>mik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김정배</dc:creator>
  <cp:lastModifiedBy>이규원</cp:lastModifiedBy>
  <cp:revision>90</cp:revision>
  <dcterms:created xsi:type="dcterms:W3CDTF">2005-10-10T05:21:17Z</dcterms:created>
  <dcterms:modified xsi:type="dcterms:W3CDTF">2021-03-11T05:25:55Z</dcterms:modified>
</cp:coreProperties>
</file>