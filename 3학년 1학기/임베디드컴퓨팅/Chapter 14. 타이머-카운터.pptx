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82" r:id="rId3"/>
    <p:sldId id="299" r:id="rId4"/>
    <p:sldId id="283" r:id="rId5"/>
    <p:sldId id="284" r:id="rId6"/>
    <p:sldId id="285" r:id="rId7"/>
    <p:sldId id="298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6" r:id="rId18"/>
    <p:sldId id="295" r:id="rId19"/>
    <p:sldId id="297" r:id="rId20"/>
  </p:sldIdLst>
  <p:sldSz cx="9144000" cy="6858000" type="screen4x3"/>
  <p:notesSz cx="6854825" cy="97504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663300"/>
    <a:srgbClr val="001F56"/>
    <a:srgbClr val="38B549"/>
    <a:srgbClr val="FF6600"/>
    <a:srgbClr val="FFECC0"/>
    <a:srgbClr val="990033"/>
    <a:srgbClr val="BC7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40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114954D-3975-486F-A634-AD74970EFD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59097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31838"/>
            <a:ext cx="4875213" cy="3656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630738"/>
            <a:ext cx="5483225" cy="438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952833-5BF8-462B-8955-824AFCD66DF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31049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6F2748E-33A7-43C4-98F3-E08F4F834479}" type="slidenum">
              <a:rPr lang="en-US" altLang="ko-KR" smtClean="0"/>
              <a:pPr>
                <a:spcBef>
                  <a:spcPct val="0"/>
                </a:spcBef>
              </a:pPr>
              <a:t>1</a:t>
            </a:fld>
            <a:endParaRPr lang="en-US" altLang="ko-KR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41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28B9E-F9C0-416A-832C-0884C76D2E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20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김정배_백업\알바누리\커버리스트\프리젠테이션\카테고리별\학교_교육\s_00002\sub_s_00002_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24536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457200" y="290042"/>
            <a:ext cx="7931224" cy="618678"/>
          </a:xfrm>
        </p:spPr>
        <p:txBody>
          <a:bodyPr/>
          <a:lstStyle>
            <a:lvl1pPr algn="l">
              <a:defRPr sz="3200" b="1">
                <a:solidFill>
                  <a:srgbClr val="663300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4273729" y="6525344"/>
            <a:ext cx="4839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아트멜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스튜디오와 </a:t>
            </a:r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아두이노로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배우는</a:t>
            </a:r>
            <a:r>
              <a:rPr lang="ko-KR" altLang="en-US" sz="14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ATmega328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프로그래밍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83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ABEE44-8CAE-4526-920C-A8E8A9C485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194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686CB5-6D7D-45E3-972D-BDDADE8BEF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5668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68D665-08DE-41D6-B962-2085A179A1C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3919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DE0A57-CA7C-4B68-8045-C32C5FCE0C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0362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00BBB-273B-4A8D-BB08-23A4FAE3D0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038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471EE-F89C-4EDA-A21F-9F26D9E227C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432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1FB8C-4271-44F5-A7B2-ACDAE1930B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5130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9FCF1-FE78-45CE-8E11-F5957D42AE1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501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C56B4-3AAF-44E0-A295-42DDC124C35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0689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00213"/>
            <a:ext cx="8229600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fld id="{51F73B43-0D21-451E-BE02-CBCCAECBEF5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2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5" descr="main_s_000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6"/>
          <p:cNvSpPr txBox="1">
            <a:spLocks noChangeArrowheads="1"/>
          </p:cNvSpPr>
          <p:nvPr/>
        </p:nvSpPr>
        <p:spPr bwMode="auto">
          <a:xfrm>
            <a:off x="304800" y="1152525"/>
            <a:ext cx="8587680" cy="179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9pPr>
          </a:lstStyle>
          <a:p>
            <a:pPr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en-US" altLang="ko-KR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HY견고딕" panose="02030600000101010101" pitchFamily="18" charset="-127"/>
              </a:rPr>
              <a:t>Chapter 14. </a:t>
            </a:r>
          </a:p>
          <a:p>
            <a:pPr lvl="1"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ko-KR" altLang="en-US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타이머</a:t>
            </a:r>
            <a:r>
              <a:rPr lang="en-US" altLang="ko-KR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카운터</a:t>
            </a:r>
            <a:endParaRPr lang="en-US" altLang="ko-KR" sz="4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제목 2"/>
          <p:cNvSpPr>
            <a:spLocks noGrp="1"/>
          </p:cNvSpPr>
          <p:nvPr>
            <p:ph type="title"/>
          </p:nvPr>
        </p:nvSpPr>
        <p:spPr>
          <a:xfrm>
            <a:off x="457200" y="290513"/>
            <a:ext cx="6491288" cy="617537"/>
          </a:xfrm>
        </p:spPr>
        <p:txBody>
          <a:bodyPr/>
          <a:lstStyle/>
          <a:p>
            <a:r>
              <a:rPr lang="ko-KR" altLang="en-US" dirty="0" smtClean="0"/>
              <a:t>타이머</a:t>
            </a:r>
            <a:r>
              <a:rPr lang="en-US" altLang="ko-KR" dirty="0" smtClean="0"/>
              <a:t>/</a:t>
            </a:r>
            <a:r>
              <a:rPr lang="ko-KR" altLang="en-US" dirty="0" smtClean="0"/>
              <a:t>카운터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520582"/>
              </p:ext>
            </p:extLst>
          </p:nvPr>
        </p:nvGraphicFramePr>
        <p:xfrm>
          <a:off x="4211960" y="1556792"/>
          <a:ext cx="1391816" cy="4377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354443"/>
                <a:gridCol w="360040"/>
              </a:tblGrid>
              <a:tr h="3038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Time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>
                          <a:latin typeface="+mn-lt"/>
                        </a:rPr>
                        <a:t>1sec</a:t>
                      </a:r>
                      <a:endParaRPr lang="ko-KR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42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2sec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3sec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4sec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5sec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6sec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7sec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8sec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9sec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10sec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11sec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903804"/>
              </p:ext>
            </p:extLst>
          </p:nvPr>
        </p:nvGraphicFramePr>
        <p:xfrm>
          <a:off x="539552" y="1556792"/>
          <a:ext cx="1391816" cy="4377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354443"/>
                <a:gridCol w="360040"/>
              </a:tblGrid>
              <a:tr h="3038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Time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>
                          <a:latin typeface="+mn-lt"/>
                        </a:rPr>
                        <a:t>1sec</a:t>
                      </a:r>
                      <a:endParaRPr lang="ko-KR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542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2sec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3sec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4sec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5sec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6sec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7sec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8sec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9sec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10sec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lt"/>
                        </a:rPr>
                        <a:t>11sec</a:t>
                      </a:r>
                      <a:endParaRPr lang="ko-KR" altLang="en-US" sz="1400" b="1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051720" y="1907212"/>
            <a:ext cx="18722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DDRD = 0x0C;</a:t>
            </a:r>
          </a:p>
          <a:p>
            <a:r>
              <a:rPr lang="en-US" altLang="ko-KR" sz="1200" dirty="0"/>
              <a:t>PORTD = </a:t>
            </a:r>
            <a:r>
              <a:rPr lang="en-US" altLang="ko-KR" sz="1200" dirty="0" smtClean="0"/>
              <a:t>0x00;</a:t>
            </a:r>
            <a:endParaRPr lang="en-US" altLang="ko-KR" sz="1200" dirty="0"/>
          </a:p>
          <a:p>
            <a:endParaRPr lang="ko-KR" altLang="en-US" sz="1200" dirty="0"/>
          </a:p>
          <a:p>
            <a:r>
              <a:rPr lang="en-US" altLang="ko-KR" sz="1200" dirty="0" smtClean="0"/>
              <a:t>while </a:t>
            </a:r>
            <a:r>
              <a:rPr lang="en-US" altLang="ko-KR" sz="1200" dirty="0"/>
              <a:t>(1) {</a:t>
            </a:r>
          </a:p>
          <a:p>
            <a:r>
              <a:rPr lang="en-US" altLang="ko-KR" sz="1200" dirty="0" smtClean="0"/>
              <a:t>   PORTD </a:t>
            </a:r>
            <a:r>
              <a:rPr lang="en-US" altLang="ko-KR" sz="1200" dirty="0"/>
              <a:t>= 0x04;</a:t>
            </a:r>
          </a:p>
          <a:p>
            <a:r>
              <a:rPr lang="en-US" altLang="ko-KR" sz="1200" dirty="0" smtClean="0"/>
              <a:t>   _</a:t>
            </a:r>
            <a:r>
              <a:rPr lang="en-US" altLang="ko-KR" sz="1200" dirty="0" err="1"/>
              <a:t>delay_ms</a:t>
            </a:r>
            <a:r>
              <a:rPr lang="en-US" altLang="ko-KR" sz="1200" dirty="0"/>
              <a:t>(1000);</a:t>
            </a:r>
          </a:p>
          <a:p>
            <a:r>
              <a:rPr lang="en-US" altLang="ko-KR" sz="1200" dirty="0" smtClean="0"/>
              <a:t>   PORTD </a:t>
            </a:r>
            <a:r>
              <a:rPr lang="en-US" altLang="ko-KR" sz="1200" dirty="0"/>
              <a:t>= 0x08;</a:t>
            </a:r>
          </a:p>
          <a:p>
            <a:r>
              <a:rPr lang="en-US" altLang="ko-KR" sz="1200" dirty="0" smtClean="0"/>
              <a:t>   _</a:t>
            </a:r>
            <a:r>
              <a:rPr lang="en-US" altLang="ko-KR" sz="1200" dirty="0" err="1"/>
              <a:t>delay_ms</a:t>
            </a:r>
            <a:r>
              <a:rPr lang="en-US" altLang="ko-KR" sz="1200" dirty="0"/>
              <a:t>(1000);</a:t>
            </a:r>
          </a:p>
          <a:p>
            <a:r>
              <a:rPr lang="en-US" altLang="ko-KR" sz="1200" dirty="0" smtClean="0"/>
              <a:t>}</a:t>
            </a:r>
            <a:endParaRPr lang="ko-KR" altLang="en-US" sz="1200" dirty="0"/>
          </a:p>
          <a:p>
            <a:endParaRPr lang="ko-KR" altLang="en-US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5652120" y="1916832"/>
            <a:ext cx="299633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DDRD = 0x0C;</a:t>
            </a:r>
          </a:p>
          <a:p>
            <a:r>
              <a:rPr lang="en-US" altLang="ko-KR" sz="1200" dirty="0"/>
              <a:t>PORTD = 0x00;</a:t>
            </a:r>
          </a:p>
          <a:p>
            <a:r>
              <a:rPr lang="en-US" altLang="ko-KR" sz="1200" dirty="0" err="1"/>
              <a:t>int</a:t>
            </a:r>
            <a:r>
              <a:rPr lang="en-US" altLang="ko-KR" sz="1200" dirty="0"/>
              <a:t> </a:t>
            </a:r>
            <a:r>
              <a:rPr lang="en-US" altLang="ko-KR" sz="1200" dirty="0" err="1"/>
              <a:t>time_count</a:t>
            </a:r>
            <a:r>
              <a:rPr lang="en-US" altLang="ko-KR" sz="1200" dirty="0"/>
              <a:t> = 0;</a:t>
            </a:r>
          </a:p>
          <a:p>
            <a:r>
              <a:rPr lang="en-US" altLang="ko-KR" sz="1200" dirty="0"/>
              <a:t>while (1) {</a:t>
            </a:r>
          </a:p>
          <a:p>
            <a:r>
              <a:rPr lang="en-US" altLang="ko-KR" sz="1200" i="1" dirty="0" smtClean="0"/>
              <a:t>   _</a:t>
            </a:r>
            <a:r>
              <a:rPr lang="en-US" altLang="ko-KR" sz="1200" i="1" dirty="0" err="1"/>
              <a:t>delay_ms</a:t>
            </a:r>
            <a:r>
              <a:rPr lang="en-US" altLang="ko-KR" sz="1200" dirty="0"/>
              <a:t>(1000);</a:t>
            </a:r>
          </a:p>
          <a:p>
            <a:r>
              <a:rPr lang="en-US" altLang="ko-KR" sz="1200" dirty="0" smtClean="0"/>
              <a:t>   </a:t>
            </a:r>
            <a:r>
              <a:rPr lang="en-US" altLang="ko-KR" sz="1200" dirty="0" err="1" smtClean="0"/>
              <a:t>time_count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++;</a:t>
            </a:r>
          </a:p>
          <a:p>
            <a:r>
              <a:rPr lang="en-US" altLang="ko-KR" sz="1200" dirty="0" smtClean="0"/>
              <a:t>   switch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time_count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 smtClean="0"/>
              <a:t>   {</a:t>
            </a:r>
            <a:endParaRPr lang="en-US" altLang="ko-KR" sz="1200" dirty="0"/>
          </a:p>
          <a:p>
            <a:r>
              <a:rPr lang="en-US" altLang="ko-KR" sz="1200" dirty="0" smtClean="0"/>
              <a:t>      case </a:t>
            </a:r>
            <a:r>
              <a:rPr lang="en-US" altLang="ko-KR" sz="1200" dirty="0"/>
              <a:t>1: { PORTD = 0x00; break; }</a:t>
            </a:r>
          </a:p>
          <a:p>
            <a:r>
              <a:rPr lang="en-US" altLang="ko-KR" sz="1200" dirty="0" smtClean="0"/>
              <a:t>      case </a:t>
            </a:r>
            <a:r>
              <a:rPr lang="en-US" altLang="ko-KR" sz="1200" dirty="0"/>
              <a:t>2: { PORTD = 0x08; break; }</a:t>
            </a:r>
          </a:p>
          <a:p>
            <a:r>
              <a:rPr lang="en-US" altLang="ko-KR" sz="1200" dirty="0" smtClean="0"/>
              <a:t>      case </a:t>
            </a:r>
            <a:r>
              <a:rPr lang="en-US" altLang="ko-KR" sz="1200" dirty="0"/>
              <a:t>3: { PORTD = 0x04; break; }</a:t>
            </a:r>
          </a:p>
          <a:p>
            <a:r>
              <a:rPr lang="en-US" altLang="ko-KR" sz="1200" dirty="0" smtClean="0"/>
              <a:t>      case </a:t>
            </a:r>
            <a:r>
              <a:rPr lang="en-US" altLang="ko-KR" sz="1200" dirty="0"/>
              <a:t>4: { PORTD = 0x0c; break; }</a:t>
            </a:r>
          </a:p>
          <a:p>
            <a:r>
              <a:rPr lang="en-US" altLang="ko-KR" sz="1200" dirty="0" smtClean="0"/>
              <a:t>   }</a:t>
            </a:r>
            <a:endParaRPr lang="en-US" altLang="ko-KR" sz="1200" dirty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if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time_count</a:t>
            </a:r>
            <a:r>
              <a:rPr lang="en-US" altLang="ko-KR" sz="1200" dirty="0"/>
              <a:t> == 4) </a:t>
            </a:r>
            <a:r>
              <a:rPr lang="en-US" altLang="ko-KR" sz="1200" dirty="0" err="1"/>
              <a:t>time_count</a:t>
            </a:r>
            <a:r>
              <a:rPr lang="en-US" altLang="ko-KR" sz="1200" dirty="0"/>
              <a:t> = 0 ;</a:t>
            </a:r>
          </a:p>
          <a:p>
            <a:r>
              <a:rPr lang="en-US" altLang="ko-KR" sz="1200" dirty="0"/>
              <a:t>}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내용 개체 틀 1"/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824412"/>
          </a:xfrm>
        </p:spPr>
        <p:txBody>
          <a:bodyPr/>
          <a:lstStyle/>
          <a:p>
            <a:r>
              <a:rPr lang="ko-KR" altLang="en-US" dirty="0" smtClean="0"/>
              <a:t>타이머</a:t>
            </a:r>
            <a:r>
              <a:rPr lang="en-US" altLang="ko-KR" dirty="0" smtClean="0"/>
              <a:t>/</a:t>
            </a:r>
            <a:r>
              <a:rPr lang="ko-KR" altLang="en-US" dirty="0" smtClean="0"/>
              <a:t>카운터는 입력되는 펄스를 세는 장치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즉</a:t>
            </a:r>
            <a:r>
              <a:rPr lang="en-US" altLang="ko-KR" dirty="0" smtClean="0"/>
              <a:t>, </a:t>
            </a:r>
            <a:r>
              <a:rPr lang="ko-KR" altLang="en-US" dirty="0" smtClean="0"/>
              <a:t>카운터임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입력 펄스는 시스템 </a:t>
            </a:r>
            <a:r>
              <a:rPr lang="ko-KR" altLang="en-US" dirty="0" err="1" smtClean="0"/>
              <a:t>클록이</a:t>
            </a:r>
            <a:r>
              <a:rPr lang="ko-KR" altLang="en-US" dirty="0" smtClean="0"/>
              <a:t> 일반적으로 사용</a:t>
            </a:r>
            <a:endParaRPr lang="en-US" altLang="ko-KR" dirty="0" smtClean="0"/>
          </a:p>
          <a:p>
            <a:r>
              <a:rPr lang="ko-KR" altLang="en-US" dirty="0" smtClean="0"/>
              <a:t>펄스의 주기가 일정하면 펄스의 수로 시간 측정이 가능함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즉</a:t>
            </a:r>
            <a:r>
              <a:rPr lang="en-US" altLang="ko-KR" dirty="0" smtClean="0"/>
              <a:t>, </a:t>
            </a:r>
            <a:r>
              <a:rPr lang="ko-KR" altLang="en-US" dirty="0" smtClean="0"/>
              <a:t>타이머 역할을 할 수 있음</a:t>
            </a:r>
            <a:endParaRPr lang="en-US" altLang="ko-KR" dirty="0" smtClean="0"/>
          </a:p>
          <a:p>
            <a:r>
              <a:rPr lang="en-US" altLang="ko-KR" dirty="0" smtClean="0"/>
              <a:t>ATmega328</a:t>
            </a:r>
            <a:r>
              <a:rPr lang="ko-KR" altLang="en-US" dirty="0" smtClean="0"/>
              <a:t>의 타이머</a:t>
            </a:r>
            <a:r>
              <a:rPr lang="en-US" altLang="ko-KR" dirty="0" smtClean="0"/>
              <a:t>/</a:t>
            </a:r>
            <a:r>
              <a:rPr lang="ko-KR" altLang="en-US" dirty="0" smtClean="0"/>
              <a:t>카운터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8</a:t>
            </a:r>
            <a:r>
              <a:rPr lang="ko-KR" altLang="en-US" dirty="0" smtClean="0"/>
              <a:t>비트 타이머</a:t>
            </a:r>
            <a:r>
              <a:rPr lang="en-US" altLang="ko-KR" dirty="0" smtClean="0"/>
              <a:t>/</a:t>
            </a:r>
            <a:r>
              <a:rPr lang="ko-KR" altLang="en-US" dirty="0" smtClean="0"/>
              <a:t>카운터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 </a:t>
            </a:r>
            <a:r>
              <a:rPr lang="en-US" altLang="ko-KR" dirty="0" smtClean="0"/>
              <a:t>: Timer/Counter 0 &amp; 2</a:t>
            </a:r>
          </a:p>
          <a:p>
            <a:pPr lvl="1"/>
            <a:r>
              <a:rPr lang="en-US" altLang="ko-KR" dirty="0" smtClean="0"/>
              <a:t>16</a:t>
            </a:r>
            <a:r>
              <a:rPr lang="ko-KR" altLang="en-US" dirty="0" smtClean="0"/>
              <a:t>비트 </a:t>
            </a:r>
            <a:r>
              <a:rPr lang="ko-KR" altLang="en-US" dirty="0"/>
              <a:t>타이머</a:t>
            </a:r>
            <a:r>
              <a:rPr lang="en-US" altLang="ko-KR" dirty="0"/>
              <a:t>/</a:t>
            </a:r>
            <a:r>
              <a:rPr lang="ko-KR" altLang="en-US" dirty="0"/>
              <a:t>카운터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 </a:t>
            </a:r>
            <a:r>
              <a:rPr lang="en-US" altLang="ko-KR" dirty="0"/>
              <a:t>: Timer/Counter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7171" name="제목 2"/>
          <p:cNvSpPr>
            <a:spLocks noGrp="1"/>
          </p:cNvSpPr>
          <p:nvPr>
            <p:ph type="title"/>
          </p:nvPr>
        </p:nvSpPr>
        <p:spPr>
          <a:xfrm>
            <a:off x="457200" y="290513"/>
            <a:ext cx="6491288" cy="617537"/>
          </a:xfrm>
        </p:spPr>
        <p:txBody>
          <a:bodyPr/>
          <a:lstStyle/>
          <a:p>
            <a:r>
              <a:rPr lang="ko-KR" altLang="en-US" dirty="0" smtClean="0"/>
              <a:t>타이머</a:t>
            </a:r>
            <a:r>
              <a:rPr lang="en-US" altLang="ko-KR" dirty="0" smtClean="0"/>
              <a:t>/</a:t>
            </a:r>
            <a:r>
              <a:rPr lang="ko-KR" altLang="en-US" dirty="0" smtClean="0"/>
              <a:t>카운터</a:t>
            </a:r>
          </a:p>
        </p:txBody>
      </p:sp>
    </p:spTree>
    <p:extLst>
      <p:ext uri="{BB962C8B-B14F-4D97-AF65-F5344CB8AC3E}">
        <p14:creationId xmlns:p14="http://schemas.microsoft.com/office/powerpoint/2010/main" val="234615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9300" y="1557338"/>
            <a:ext cx="5805400" cy="4824412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타이머</a:t>
            </a:r>
            <a:r>
              <a:rPr lang="en-US" altLang="ko-KR" dirty="0" smtClean="0"/>
              <a:t>/</a:t>
            </a:r>
            <a:r>
              <a:rPr lang="ko-KR" altLang="en-US" dirty="0" smtClean="0"/>
              <a:t>카운터 구조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17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 smtClean="0"/>
              <a:t>8</a:t>
            </a:r>
            <a:r>
              <a:rPr lang="ko-KR" altLang="en-US" sz="2000" dirty="0" smtClean="0"/>
              <a:t>비트 타이머</a:t>
            </a:r>
            <a:r>
              <a:rPr lang="en-US" altLang="ko-KR" sz="2000" dirty="0" smtClean="0"/>
              <a:t>/</a:t>
            </a:r>
            <a:r>
              <a:rPr lang="ko-KR" altLang="en-US" sz="2000" dirty="0" smtClean="0"/>
              <a:t>카운터는 </a:t>
            </a:r>
            <a:r>
              <a:rPr lang="en-US" altLang="ko-KR" sz="2000" dirty="0" smtClean="0"/>
              <a:t>0</a:t>
            </a:r>
            <a:r>
              <a:rPr lang="ko-KR" altLang="en-US" sz="2000" dirty="0" smtClean="0"/>
              <a:t>에서 </a:t>
            </a:r>
            <a:r>
              <a:rPr lang="en-US" altLang="ko-KR" sz="2000" dirty="0" smtClean="0"/>
              <a:t>255</a:t>
            </a:r>
            <a:r>
              <a:rPr lang="ko-KR" altLang="en-US" sz="2000" dirty="0"/>
              <a:t>까지만 셀 수 있음 </a:t>
            </a:r>
            <a:r>
              <a:rPr lang="ko-KR" altLang="en-US" sz="2000" dirty="0" smtClean="0"/>
              <a:t>→ 이후 </a:t>
            </a:r>
            <a:r>
              <a:rPr lang="ko-KR" altLang="en-US" sz="2000" dirty="0" err="1" smtClean="0"/>
              <a:t>오버플로</a:t>
            </a:r>
            <a:r>
              <a:rPr lang="ko-KR" altLang="en-US" sz="2000" dirty="0" smtClean="0"/>
              <a:t> 발생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16MHz </a:t>
            </a:r>
            <a:r>
              <a:rPr lang="ko-KR" altLang="en-US" sz="2000" dirty="0" err="1" smtClean="0"/>
              <a:t>클록을</a:t>
            </a:r>
            <a:r>
              <a:rPr lang="ko-KR" altLang="en-US" sz="2000" dirty="0" smtClean="0"/>
              <a:t> 사용하면 </a:t>
            </a:r>
            <a:r>
              <a:rPr lang="en-US" altLang="ko-KR" sz="2000" dirty="0" smtClean="0"/>
              <a:t>256/16M = 0.016ms</a:t>
            </a:r>
            <a:r>
              <a:rPr lang="ko-KR" altLang="en-US" sz="2000" dirty="0" smtClean="0"/>
              <a:t>의 짧은 시간만 측정 가능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분주</a:t>
            </a:r>
            <a:r>
              <a:rPr lang="en-US" altLang="ko-KR" sz="2000" dirty="0" smtClean="0"/>
              <a:t>(</a:t>
            </a:r>
            <a:r>
              <a:rPr lang="en-US" altLang="ko-KR" sz="2000" dirty="0" err="1" smtClean="0"/>
              <a:t>prescale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를 통해 </a:t>
            </a:r>
            <a:r>
              <a:rPr lang="ko-KR" altLang="en-US" sz="2000" dirty="0" err="1" smtClean="0"/>
              <a:t>클록의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속도를 늦추는 효과를 얻음</a:t>
            </a:r>
            <a:endParaRPr lang="en-US" altLang="ko-KR" sz="2000" dirty="0" smtClean="0"/>
          </a:p>
          <a:p>
            <a:pPr lvl="2"/>
            <a:r>
              <a:rPr lang="ko-KR" altLang="en-US" sz="1800" dirty="0" err="1" smtClean="0"/>
              <a:t>분주비는</a:t>
            </a: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클록을</a:t>
            </a:r>
            <a:r>
              <a:rPr lang="ko-KR" altLang="en-US" sz="1800" dirty="0" smtClean="0"/>
              <a:t> 나누는 값에 해당</a:t>
            </a:r>
            <a:endParaRPr lang="en-US" altLang="ko-KR" sz="1800" dirty="0" smtClean="0"/>
          </a:p>
          <a:p>
            <a:r>
              <a:rPr lang="ko-KR" altLang="en-US" sz="2000" dirty="0" smtClean="0"/>
              <a:t>현재까지 센 펄스의 수는 </a:t>
            </a:r>
            <a:r>
              <a:rPr lang="en-US" altLang="ko-KR" sz="2000" dirty="0" err="1" smtClean="0"/>
              <a:t>TCNTn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레지스터에 기록</a:t>
            </a:r>
            <a:endParaRPr lang="en-US" altLang="ko-KR" sz="2000" dirty="0" smtClean="0"/>
          </a:p>
          <a:p>
            <a:r>
              <a:rPr lang="ko-KR" altLang="en-US" sz="2000" dirty="0" smtClean="0"/>
              <a:t>인터럽트</a:t>
            </a:r>
            <a:endParaRPr lang="en-US" altLang="ko-KR" sz="2000" dirty="0" smtClean="0"/>
          </a:p>
          <a:p>
            <a:pPr lvl="1"/>
            <a:r>
              <a:rPr lang="ko-KR" altLang="en-US" sz="2000" dirty="0" err="1" smtClean="0"/>
              <a:t>오버플로</a:t>
            </a:r>
            <a:r>
              <a:rPr lang="ko-KR" altLang="en-US" sz="2000" dirty="0" smtClean="0"/>
              <a:t> 인터럽트 </a:t>
            </a:r>
            <a:r>
              <a:rPr lang="en-US" altLang="ko-KR" sz="2000" dirty="0" smtClean="0"/>
              <a:t>: </a:t>
            </a:r>
            <a:r>
              <a:rPr lang="en-US" altLang="ko-KR" sz="2000" dirty="0" err="1" smtClean="0"/>
              <a:t>TCNTn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레지스터에 </a:t>
            </a:r>
            <a:r>
              <a:rPr lang="ko-KR" altLang="en-US" sz="2000" dirty="0" err="1" smtClean="0"/>
              <a:t>오버플로가</a:t>
            </a:r>
            <a:r>
              <a:rPr lang="ko-KR" altLang="en-US" sz="2000" dirty="0" smtClean="0"/>
              <a:t> 발생한 경우</a:t>
            </a:r>
            <a:endParaRPr lang="en-US" altLang="ko-KR" sz="2000" dirty="0" smtClean="0"/>
          </a:p>
          <a:p>
            <a:pPr lvl="1"/>
            <a:r>
              <a:rPr lang="ko-KR" altLang="en-US" sz="2000" dirty="0" err="1" smtClean="0"/>
              <a:t>비교일치</a:t>
            </a:r>
            <a:r>
              <a:rPr lang="ko-KR" altLang="en-US" sz="2000" dirty="0" smtClean="0"/>
              <a:t> 인터럽트 </a:t>
            </a:r>
            <a:r>
              <a:rPr lang="en-US" altLang="ko-KR" sz="2000" dirty="0" smtClean="0"/>
              <a:t>: </a:t>
            </a:r>
            <a:r>
              <a:rPr lang="en-US" altLang="ko-KR" sz="2000" dirty="0" err="1" smtClean="0"/>
              <a:t>TCNTn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레지스터의 값이 미리 설정된 값과 동일한 경우</a:t>
            </a:r>
            <a:endParaRPr lang="en-US" altLang="ko-KR" sz="2000" dirty="0" smtClean="0"/>
          </a:p>
          <a:p>
            <a:pPr lvl="2"/>
            <a:r>
              <a:rPr lang="en-US" altLang="ko-KR" sz="1800" dirty="0" err="1" smtClean="0"/>
              <a:t>OCRnA</a:t>
            </a:r>
            <a:r>
              <a:rPr lang="en-US" altLang="ko-KR" sz="1800" dirty="0" smtClean="0"/>
              <a:t>, </a:t>
            </a:r>
            <a:r>
              <a:rPr lang="en-US" altLang="ko-KR" sz="1800" dirty="0" err="1" smtClean="0"/>
              <a:t>OCRnB</a:t>
            </a:r>
            <a:r>
              <a:rPr lang="ko-KR" altLang="en-US" sz="1800" dirty="0" smtClean="0"/>
              <a:t>의 </a:t>
            </a:r>
            <a:r>
              <a:rPr lang="en-US" altLang="ko-KR" sz="1800" dirty="0" smtClean="0"/>
              <a:t>2</a:t>
            </a:r>
            <a:r>
              <a:rPr lang="ko-KR" altLang="en-US" sz="1800" dirty="0" smtClean="0"/>
              <a:t>개 레지스터에 </a:t>
            </a:r>
            <a:r>
              <a:rPr lang="en-US" altLang="ko-KR" sz="1800" dirty="0" smtClean="0"/>
              <a:t>2</a:t>
            </a:r>
            <a:r>
              <a:rPr lang="ko-KR" altLang="en-US" sz="1800" dirty="0" smtClean="0"/>
              <a:t>개의 </a:t>
            </a:r>
            <a:r>
              <a:rPr lang="ko-KR" altLang="en-US" sz="1800" dirty="0" err="1" smtClean="0"/>
              <a:t>비교값</a:t>
            </a:r>
            <a:r>
              <a:rPr lang="ko-KR" altLang="en-US" sz="1800" dirty="0" smtClean="0"/>
              <a:t> </a:t>
            </a:r>
            <a:r>
              <a:rPr lang="ko-KR" altLang="en-US" sz="1800" smtClean="0"/>
              <a:t>설정 가능 </a:t>
            </a:r>
            <a:endParaRPr lang="en-US" altLang="ko-KR" sz="1800" dirty="0" smtClean="0"/>
          </a:p>
          <a:p>
            <a:pPr lvl="2"/>
            <a:endParaRPr lang="ko-KR" altLang="en-US" sz="18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타이머</a:t>
            </a:r>
            <a:r>
              <a:rPr lang="en-US" altLang="ko-KR" dirty="0" smtClean="0"/>
              <a:t>/</a:t>
            </a:r>
            <a:r>
              <a:rPr lang="ko-KR" altLang="en-US" dirty="0" smtClean="0"/>
              <a:t>카운터의 동작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157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128" y="1557338"/>
            <a:ext cx="6857744" cy="4824412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</a:t>
            </a:r>
            <a:r>
              <a:rPr lang="en-US" altLang="ko-KR" dirty="0" smtClean="0"/>
              <a:t>14-1: </a:t>
            </a:r>
            <a:r>
              <a:rPr lang="ko-KR" altLang="en-US" dirty="0" err="1" smtClean="0"/>
              <a:t>오버플로</a:t>
            </a:r>
            <a:r>
              <a:rPr lang="ko-KR" altLang="en-US" dirty="0" smtClean="0"/>
              <a:t> 인터럽트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406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오버플로</a:t>
            </a:r>
            <a:r>
              <a:rPr lang="ko-KR" altLang="en-US" dirty="0" smtClean="0"/>
              <a:t> 횟수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87624" y="2515669"/>
                <a:ext cx="4040337" cy="697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/>
                                </a:rPr>
                                <m:t>8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/>
                            </a:rPr>
                            <m:t>(256)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/>
                                </a:rPr>
                                <m:t>20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/>
                            </a:rPr>
                            <m:t>(16</m:t>
                          </m:r>
                          <m:r>
                            <a:rPr lang="en-US" altLang="ko-KR" b="0" i="1" smtClean="0">
                              <a:latin typeface="Cambria Math"/>
                            </a:rPr>
                            <m:t>𝑀</m:t>
                          </m:r>
                          <m:r>
                            <a:rPr lang="en-US" altLang="ko-KR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altLang="ko-KR" b="0" i="1" smtClean="0">
                          <a:latin typeface="Cambria Math"/>
                        </a:rPr>
                        <m:t>∗</m:t>
                      </m:r>
                      <m:sSup>
                        <m:sSupPr>
                          <m:ctrlPr>
                            <a:rPr lang="en-US" altLang="ko-KR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/>
                            </a:rPr>
                            <m:t>10</m:t>
                          </m:r>
                        </m:sup>
                      </m:sSup>
                      <m:r>
                        <a:rPr lang="en-US" altLang="ko-KR" b="0" i="1" smtClean="0">
                          <a:latin typeface="Cambria Math"/>
                        </a:rPr>
                        <m:t>(1024)=</m:t>
                      </m:r>
                      <m:f>
                        <m:fPr>
                          <m:ctrlPr>
                            <a:rPr lang="en-US" altLang="ko-KR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US" altLang="ko-K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/>
                            </a:rPr>
                            <m:t>64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515669"/>
                <a:ext cx="4040337" cy="69730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187624" y="3818801"/>
                <a:ext cx="2621230" cy="618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/>
                            </a:rPr>
                            <m:t>256∗1024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/>
                            </a:rPr>
                            <m:t>16000000</m:t>
                          </m:r>
                        </m:den>
                      </m:f>
                      <m:r>
                        <a:rPr lang="en-US" altLang="ko-KR" b="0" i="1" smtClean="0">
                          <a:latin typeface="Cambria Math"/>
                        </a:rPr>
                        <m:t>=0.016384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818801"/>
                <a:ext cx="2621230" cy="61831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모서리가 둥근 사각형 설명선 7"/>
          <p:cNvSpPr/>
          <p:nvPr/>
        </p:nvSpPr>
        <p:spPr>
          <a:xfrm>
            <a:off x="5227961" y="1618644"/>
            <a:ext cx="3452808" cy="792088"/>
          </a:xfrm>
          <a:prstGeom prst="wedgeRoundRectCallout">
            <a:avLst>
              <a:gd name="adj1" fmla="val -49964"/>
              <a:gd name="adj2" fmla="val 10675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>
                <a:solidFill>
                  <a:srgbClr val="0070C0"/>
                </a:solidFill>
              </a:rPr>
              <a:t>오버플로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>
                <a:solidFill>
                  <a:srgbClr val="0070C0"/>
                </a:solidFill>
              </a:rPr>
              <a:t>32</a:t>
            </a:r>
            <a:r>
              <a:rPr lang="ko-KR" altLang="en-US" dirty="0">
                <a:solidFill>
                  <a:srgbClr val="0070C0"/>
                </a:solidFill>
              </a:rPr>
              <a:t>회 발생 </a:t>
            </a:r>
            <a:r>
              <a:rPr lang="en-US" altLang="ko-KR" dirty="0">
                <a:solidFill>
                  <a:srgbClr val="0070C0"/>
                </a:solidFill>
              </a:rPr>
              <a:t>=&gt; 0.5</a:t>
            </a:r>
            <a:r>
              <a:rPr lang="ko-KR" altLang="en-US" dirty="0">
                <a:solidFill>
                  <a:srgbClr val="0070C0"/>
                </a:solidFill>
              </a:rPr>
              <a:t>초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ko-KR" altLang="en-US" dirty="0" err="1">
                <a:solidFill>
                  <a:srgbClr val="0070C0"/>
                </a:solidFill>
              </a:rPr>
              <a:t>오버플로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>
                <a:solidFill>
                  <a:srgbClr val="0070C0"/>
                </a:solidFill>
              </a:rPr>
              <a:t>64</a:t>
            </a:r>
            <a:r>
              <a:rPr lang="ko-KR" altLang="en-US" dirty="0">
                <a:solidFill>
                  <a:srgbClr val="0070C0"/>
                </a:solidFill>
              </a:rPr>
              <a:t>회 발생 </a:t>
            </a:r>
            <a:r>
              <a:rPr lang="en-US" altLang="ko-KR" dirty="0">
                <a:solidFill>
                  <a:srgbClr val="0070C0"/>
                </a:solidFill>
              </a:rPr>
              <a:t>=&gt; 1</a:t>
            </a:r>
            <a:r>
              <a:rPr lang="ko-KR" altLang="en-US" dirty="0" smtClean="0">
                <a:solidFill>
                  <a:srgbClr val="0070C0"/>
                </a:solidFill>
              </a:rPr>
              <a:t>초</a:t>
            </a:r>
            <a:endParaRPr lang="ko-KR" altLang="en-US" dirty="0"/>
          </a:p>
        </p:txBody>
      </p:sp>
      <p:sp>
        <p:nvSpPr>
          <p:cNvPr id="9" name="모서리가 둥근 사각형 설명선 8"/>
          <p:cNvSpPr/>
          <p:nvPr/>
        </p:nvSpPr>
        <p:spPr>
          <a:xfrm>
            <a:off x="4139952" y="4437112"/>
            <a:ext cx="4032448" cy="1152128"/>
          </a:xfrm>
          <a:prstGeom prst="wedgeRoundRectCallout">
            <a:avLst>
              <a:gd name="adj1" fmla="val -60998"/>
              <a:gd name="adj2" fmla="val -7302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>
                <a:solidFill>
                  <a:srgbClr val="0070C0"/>
                </a:solidFill>
              </a:rPr>
              <a:t>오버플로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 smtClean="0">
                <a:solidFill>
                  <a:srgbClr val="0070C0"/>
                </a:solidFill>
              </a:rPr>
              <a:t>31</a:t>
            </a:r>
            <a:r>
              <a:rPr lang="ko-KR" altLang="en-US" dirty="0" smtClean="0">
                <a:solidFill>
                  <a:srgbClr val="0070C0"/>
                </a:solidFill>
              </a:rPr>
              <a:t>회 </a:t>
            </a:r>
            <a:r>
              <a:rPr lang="ko-KR" altLang="en-US" dirty="0">
                <a:solidFill>
                  <a:srgbClr val="0070C0"/>
                </a:solidFill>
              </a:rPr>
              <a:t>발생 </a:t>
            </a:r>
            <a:r>
              <a:rPr lang="en-US" altLang="ko-KR" dirty="0">
                <a:solidFill>
                  <a:srgbClr val="0070C0"/>
                </a:solidFill>
              </a:rPr>
              <a:t>=&gt; </a:t>
            </a:r>
            <a:r>
              <a:rPr lang="en-US" altLang="ko-KR" dirty="0" smtClean="0">
                <a:solidFill>
                  <a:srgbClr val="0070C0"/>
                </a:solidFill>
              </a:rPr>
              <a:t>0.507904</a:t>
            </a:r>
            <a:r>
              <a:rPr lang="ko-KR" altLang="en-US" dirty="0" smtClean="0">
                <a:solidFill>
                  <a:srgbClr val="0070C0"/>
                </a:solidFill>
              </a:rPr>
              <a:t>초</a:t>
            </a:r>
            <a:endParaRPr lang="en-US" altLang="ko-KR" dirty="0" smtClean="0">
              <a:solidFill>
                <a:srgbClr val="0070C0"/>
              </a:solidFill>
            </a:endParaRPr>
          </a:p>
          <a:p>
            <a:r>
              <a:rPr lang="ko-KR" altLang="en-US" dirty="0" err="1">
                <a:solidFill>
                  <a:srgbClr val="0070C0"/>
                </a:solidFill>
              </a:rPr>
              <a:t>오버플로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 smtClean="0">
                <a:solidFill>
                  <a:srgbClr val="0070C0"/>
                </a:solidFill>
              </a:rPr>
              <a:t>32</a:t>
            </a:r>
            <a:r>
              <a:rPr lang="ko-KR" altLang="en-US" dirty="0" smtClean="0">
                <a:solidFill>
                  <a:srgbClr val="0070C0"/>
                </a:solidFill>
              </a:rPr>
              <a:t>회 </a:t>
            </a:r>
            <a:r>
              <a:rPr lang="ko-KR" altLang="en-US" dirty="0">
                <a:solidFill>
                  <a:srgbClr val="0070C0"/>
                </a:solidFill>
              </a:rPr>
              <a:t>발생 </a:t>
            </a:r>
            <a:r>
              <a:rPr lang="en-US" altLang="ko-KR" dirty="0">
                <a:solidFill>
                  <a:srgbClr val="0070C0"/>
                </a:solidFill>
              </a:rPr>
              <a:t>=&gt; </a:t>
            </a:r>
            <a:r>
              <a:rPr lang="en-US" altLang="ko-KR" dirty="0" smtClean="0">
                <a:solidFill>
                  <a:srgbClr val="0070C0"/>
                </a:solidFill>
              </a:rPr>
              <a:t>0.524288</a:t>
            </a:r>
            <a:r>
              <a:rPr lang="ko-KR" altLang="en-US" dirty="0" smtClean="0">
                <a:solidFill>
                  <a:srgbClr val="0070C0"/>
                </a:solidFill>
              </a:rPr>
              <a:t>초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ko-KR" altLang="en-US" dirty="0" err="1" smtClean="0">
                <a:solidFill>
                  <a:srgbClr val="0070C0"/>
                </a:solidFill>
              </a:rPr>
              <a:t>오버플로</a:t>
            </a:r>
            <a:r>
              <a:rPr lang="ko-KR" altLang="en-US" dirty="0" smtClean="0">
                <a:solidFill>
                  <a:srgbClr val="0070C0"/>
                </a:solidFill>
              </a:rPr>
              <a:t> </a:t>
            </a:r>
            <a:r>
              <a:rPr lang="en-US" altLang="ko-KR" dirty="0" smtClean="0">
                <a:solidFill>
                  <a:srgbClr val="0070C0"/>
                </a:solidFill>
              </a:rPr>
              <a:t>61</a:t>
            </a:r>
            <a:r>
              <a:rPr lang="ko-KR" altLang="en-US" dirty="0" smtClean="0">
                <a:solidFill>
                  <a:srgbClr val="0070C0"/>
                </a:solidFill>
              </a:rPr>
              <a:t>회 </a:t>
            </a:r>
            <a:r>
              <a:rPr lang="ko-KR" altLang="en-US" dirty="0">
                <a:solidFill>
                  <a:srgbClr val="0070C0"/>
                </a:solidFill>
              </a:rPr>
              <a:t>발생 </a:t>
            </a:r>
            <a:r>
              <a:rPr lang="en-US" altLang="ko-KR" dirty="0">
                <a:solidFill>
                  <a:srgbClr val="0070C0"/>
                </a:solidFill>
              </a:rPr>
              <a:t>=&gt; </a:t>
            </a:r>
            <a:r>
              <a:rPr lang="en-US" altLang="ko-KR" dirty="0" smtClean="0">
                <a:solidFill>
                  <a:srgbClr val="0070C0"/>
                </a:solidFill>
              </a:rPr>
              <a:t>0.999424</a:t>
            </a:r>
            <a:r>
              <a:rPr lang="ko-KR" altLang="en-US" dirty="0" smtClean="0">
                <a:solidFill>
                  <a:srgbClr val="0070C0"/>
                </a:solidFill>
              </a:rPr>
              <a:t>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958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 smtClean="0"/>
              <a:t>TCNT0 : </a:t>
            </a:r>
            <a:r>
              <a:rPr lang="ko-KR" altLang="en-US" sz="2000" dirty="0" smtClean="0"/>
              <a:t>현재까지의 카운트 값 저장</a:t>
            </a:r>
            <a:endParaRPr lang="en-US" altLang="ko-KR" sz="2000" dirty="0" smtClean="0"/>
          </a:p>
          <a:p>
            <a:endParaRPr lang="en-US" altLang="ko-KR" sz="2000" dirty="0"/>
          </a:p>
          <a:p>
            <a:endParaRPr lang="en-US" altLang="ko-KR" sz="2000" dirty="0" smtClean="0"/>
          </a:p>
          <a:p>
            <a:endParaRPr lang="en-US" altLang="ko-KR" sz="2000" dirty="0" smtClean="0"/>
          </a:p>
          <a:p>
            <a:endParaRPr lang="en-US" altLang="ko-KR" sz="2000" dirty="0"/>
          </a:p>
          <a:p>
            <a:endParaRPr lang="en-US" altLang="ko-KR" sz="2000" dirty="0" smtClean="0"/>
          </a:p>
          <a:p>
            <a:r>
              <a:rPr lang="en-US" altLang="ko-KR" sz="2000" dirty="0" smtClean="0"/>
              <a:t>TCCR0B : </a:t>
            </a:r>
            <a:r>
              <a:rPr lang="ko-KR" altLang="en-US" sz="2000" dirty="0" err="1" smtClean="0"/>
              <a:t>분주비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설정을 위해 사용</a:t>
            </a:r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레지스터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204864"/>
            <a:ext cx="7783333" cy="1230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4279762"/>
            <a:ext cx="7766667" cy="125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30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err="1" smtClean="0"/>
              <a:t>분주비</a:t>
            </a:r>
            <a:r>
              <a:rPr lang="ko-KR" altLang="en-US" sz="2000" dirty="0" smtClean="0"/>
              <a:t> 설정 </a:t>
            </a:r>
            <a:r>
              <a:rPr lang="en-US" altLang="ko-KR" sz="2000" dirty="0" smtClean="0"/>
              <a:t>: TCCR0B </a:t>
            </a:r>
            <a:r>
              <a:rPr lang="ko-KR" altLang="en-US" sz="2000" dirty="0" smtClean="0"/>
              <a:t>레지스터의 </a:t>
            </a:r>
            <a:r>
              <a:rPr lang="en-US" altLang="ko-KR" sz="2000" dirty="0" smtClean="0"/>
              <a:t>CS0n </a:t>
            </a:r>
            <a:r>
              <a:rPr lang="ko-KR" altLang="en-US" sz="2000" dirty="0" smtClean="0"/>
              <a:t>비트로 설정</a:t>
            </a:r>
            <a:endParaRPr lang="en-US" altLang="ko-KR" sz="2000" dirty="0" smtClean="0"/>
          </a:p>
          <a:p>
            <a:pPr lvl="1"/>
            <a:r>
              <a:rPr lang="en-US" altLang="ko-KR" sz="1800" dirty="0" smtClean="0"/>
              <a:t>16MHz </a:t>
            </a:r>
            <a:r>
              <a:rPr lang="ko-KR" altLang="en-US" sz="1800" dirty="0" err="1" smtClean="0"/>
              <a:t>클록</a:t>
            </a:r>
            <a:r>
              <a:rPr lang="en-US" altLang="ko-KR" sz="1800" dirty="0" smtClean="0"/>
              <a:t>, 1024 </a:t>
            </a:r>
            <a:r>
              <a:rPr lang="ko-KR" altLang="en-US" sz="1800" dirty="0" err="1" smtClean="0"/>
              <a:t>분주비를</a:t>
            </a:r>
            <a:r>
              <a:rPr lang="ko-KR" altLang="en-US" sz="1800" dirty="0" smtClean="0"/>
              <a:t> 사용하는 경우 </a:t>
            </a:r>
            <a:r>
              <a:rPr lang="en-US" altLang="ko-KR" sz="1800" dirty="0" smtClean="0"/>
              <a:t>16M/1024 = 16KHz </a:t>
            </a:r>
            <a:r>
              <a:rPr lang="ko-KR" altLang="en-US" sz="1800" dirty="0" smtClean="0"/>
              <a:t>펄스가 타이머</a:t>
            </a:r>
            <a:r>
              <a:rPr lang="en-US" altLang="ko-KR" sz="1800" dirty="0" smtClean="0"/>
              <a:t>/</a:t>
            </a:r>
            <a:r>
              <a:rPr lang="ko-KR" altLang="en-US" sz="1800" dirty="0" smtClean="0"/>
              <a:t>카운터에 공급</a:t>
            </a:r>
            <a:endParaRPr lang="en-US" altLang="ko-KR" sz="1800" dirty="0" smtClean="0"/>
          </a:p>
          <a:p>
            <a:pPr lvl="1"/>
            <a:r>
              <a:rPr lang="en-US" altLang="ko-KR" sz="1800" dirty="0" smtClean="0"/>
              <a:t>256</a:t>
            </a:r>
            <a:r>
              <a:rPr lang="ko-KR" altLang="en-US" sz="1800" dirty="0" smtClean="0"/>
              <a:t>개 </a:t>
            </a:r>
            <a:r>
              <a:rPr lang="ko-KR" altLang="en-US" sz="1800" dirty="0" err="1" smtClean="0"/>
              <a:t>클록</a:t>
            </a:r>
            <a:r>
              <a:rPr lang="ko-KR" altLang="en-US" sz="1800" dirty="0" smtClean="0"/>
              <a:t> 생성을 위해서는 </a:t>
            </a:r>
            <a:r>
              <a:rPr lang="en-US" altLang="ko-KR" sz="1800" dirty="0" smtClean="0"/>
              <a:t>256/16K = 1/64</a:t>
            </a:r>
            <a:r>
              <a:rPr lang="ko-KR" altLang="en-US" sz="1800" dirty="0" smtClean="0"/>
              <a:t>초 소요</a:t>
            </a:r>
            <a:endParaRPr lang="en-US" altLang="ko-KR" sz="1800" dirty="0" smtClean="0"/>
          </a:p>
          <a:p>
            <a:pPr lvl="1"/>
            <a:r>
              <a:rPr lang="en-US" altLang="ko-KR" sz="1800" dirty="0" smtClean="0"/>
              <a:t>32</a:t>
            </a:r>
            <a:r>
              <a:rPr lang="ko-KR" altLang="en-US" sz="1800" dirty="0" smtClean="0"/>
              <a:t>회 </a:t>
            </a:r>
            <a:r>
              <a:rPr lang="ko-KR" altLang="en-US" sz="1800" dirty="0" err="1" smtClean="0"/>
              <a:t>오버플로가</a:t>
            </a:r>
            <a:r>
              <a:rPr lang="ko-KR" altLang="en-US" sz="1800" dirty="0" smtClean="0"/>
              <a:t> 발생하면 </a:t>
            </a:r>
            <a:r>
              <a:rPr lang="en-US" altLang="ko-KR" sz="1800" dirty="0" smtClean="0"/>
              <a:t>0.5</a:t>
            </a:r>
            <a:r>
              <a:rPr lang="ko-KR" altLang="en-US" sz="1800" dirty="0" smtClean="0"/>
              <a:t>초 경과</a:t>
            </a:r>
            <a:endParaRPr lang="ko-KR" altLang="en-US" sz="18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분주비</a:t>
            </a:r>
            <a:r>
              <a:rPr lang="ko-KR" altLang="en-US" dirty="0" smtClean="0"/>
              <a:t> 설정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356992"/>
            <a:ext cx="7806667" cy="311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873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 smtClean="0"/>
              <a:t>TIMSK0 (Timer/Counter Interrupt Mask Register)</a:t>
            </a:r>
          </a:p>
          <a:p>
            <a:r>
              <a:rPr lang="ko-KR" altLang="en-US" sz="2000" dirty="0" smtClean="0"/>
              <a:t>타이머</a:t>
            </a:r>
            <a:r>
              <a:rPr lang="en-US" altLang="ko-KR" sz="2000" dirty="0" smtClean="0"/>
              <a:t>/</a:t>
            </a:r>
            <a:r>
              <a:rPr lang="ko-KR" altLang="en-US" sz="2000" dirty="0" smtClean="0"/>
              <a:t>카운터 </a:t>
            </a:r>
            <a:r>
              <a:rPr lang="en-US" altLang="ko-KR" sz="2000" dirty="0" smtClean="0"/>
              <a:t>0</a:t>
            </a:r>
            <a:r>
              <a:rPr lang="ko-KR" altLang="en-US" sz="2000" dirty="0" smtClean="0"/>
              <a:t>번의 경우 </a:t>
            </a:r>
            <a:r>
              <a:rPr lang="en-US" altLang="ko-KR" sz="2000" dirty="0" smtClean="0"/>
              <a:t>1</a:t>
            </a:r>
            <a:r>
              <a:rPr lang="ko-KR" altLang="en-US" sz="2000" dirty="0" smtClean="0"/>
              <a:t>개의 </a:t>
            </a:r>
            <a:r>
              <a:rPr lang="ko-KR" altLang="en-US" sz="2000" dirty="0" err="1" smtClean="0"/>
              <a:t>오버플로</a:t>
            </a:r>
            <a:r>
              <a:rPr lang="ko-KR" altLang="en-US" sz="2000" dirty="0" smtClean="0"/>
              <a:t> 인터럽트</a:t>
            </a:r>
            <a:r>
              <a:rPr lang="en-US" altLang="ko-KR" sz="2000" dirty="0" smtClean="0"/>
              <a:t>, 2</a:t>
            </a:r>
            <a:r>
              <a:rPr lang="ko-KR" altLang="en-US" sz="2000" dirty="0" smtClean="0"/>
              <a:t>개의 </a:t>
            </a:r>
            <a:r>
              <a:rPr lang="ko-KR" altLang="en-US" sz="2000" dirty="0" err="1" smtClean="0"/>
              <a:t>비교일치</a:t>
            </a:r>
            <a:r>
              <a:rPr lang="ko-KR" altLang="en-US" sz="2000" dirty="0" smtClean="0"/>
              <a:t> 인터럽트 사용 가능</a:t>
            </a:r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인터럽트 활성화 레지스터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00" y="3033579"/>
            <a:ext cx="7780000" cy="1230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509120"/>
            <a:ext cx="7826667" cy="162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453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16" b="1"/>
          <a:stretch/>
        </p:blipFill>
        <p:spPr>
          <a:xfrm>
            <a:off x="1187624" y="1011287"/>
            <a:ext cx="6688571" cy="3103322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</a:t>
            </a:r>
            <a:r>
              <a:rPr lang="en-US" altLang="ko-KR" dirty="0" smtClean="0"/>
              <a:t>14-2: </a:t>
            </a:r>
            <a:r>
              <a:rPr lang="ko-KR" altLang="en-US" dirty="0" err="1" smtClean="0"/>
              <a:t>비교일치</a:t>
            </a:r>
            <a:r>
              <a:rPr lang="ko-KR" altLang="en-US" dirty="0" smtClean="0"/>
              <a:t> 인터럽트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10" y="4013231"/>
            <a:ext cx="6680000" cy="256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45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Output</a:t>
            </a:r>
            <a:r>
              <a:rPr lang="ko-KR" altLang="en-US" dirty="0" smtClean="0"/>
              <a:t> </a:t>
            </a:r>
            <a:r>
              <a:rPr lang="en-US" altLang="ko-KR" dirty="0" smtClean="0"/>
              <a:t>Compare Register</a:t>
            </a:r>
          </a:p>
          <a:p>
            <a:r>
              <a:rPr lang="ko-KR" altLang="en-US" dirty="0" err="1" smtClean="0"/>
              <a:t>비교일치</a:t>
            </a:r>
            <a:r>
              <a:rPr lang="en-US" altLang="ko-KR" dirty="0" smtClean="0"/>
              <a:t> </a:t>
            </a:r>
            <a:r>
              <a:rPr lang="ko-KR" altLang="en-US" dirty="0" smtClean="0"/>
              <a:t>발생 후 </a:t>
            </a:r>
            <a:r>
              <a:rPr lang="en-US" altLang="ko-KR" dirty="0" smtClean="0"/>
              <a:t>TCNT0 </a:t>
            </a:r>
            <a:r>
              <a:rPr lang="ko-KR" altLang="en-US" dirty="0" smtClean="0"/>
              <a:t>레지스터는 자동으로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초기화되지 않음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OCR0x </a:t>
            </a:r>
            <a:r>
              <a:rPr lang="ko-KR" altLang="en-US" dirty="0" smtClean="0"/>
              <a:t>레지스터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67" y="3212976"/>
            <a:ext cx="7776666" cy="125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340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2365" y="1036694"/>
            <a:ext cx="6065980" cy="5481562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</a:t>
            </a:r>
            <a:r>
              <a:rPr lang="en-US" altLang="ko-KR" dirty="0" smtClean="0"/>
              <a:t>14-3: </a:t>
            </a:r>
            <a:r>
              <a:rPr lang="ko-KR" altLang="en-US" dirty="0" err="1" smtClean="0"/>
              <a:t>비교일치</a:t>
            </a:r>
            <a:r>
              <a:rPr lang="ko-KR" altLang="en-US" dirty="0" smtClean="0"/>
              <a:t> 인터럽트</a:t>
            </a:r>
            <a:endParaRPr lang="ko-KR" altLang="en-US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1703713" y="1308867"/>
            <a:ext cx="5760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12160" y="5373216"/>
            <a:ext cx="24705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ISR</a:t>
            </a:r>
            <a:r>
              <a:rPr lang="ko-KR" altLang="en-US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 짧게 하기 위해 </a:t>
            </a:r>
            <a:endParaRPr lang="en-US" altLang="ko-KR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LED </a:t>
            </a:r>
            <a:r>
              <a:rPr lang="ko-KR" altLang="en-US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제어 코드를 </a:t>
            </a:r>
            <a:endParaRPr lang="en-US" altLang="ko-KR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main</a:t>
            </a:r>
            <a:r>
              <a:rPr lang="ko-KR" altLang="en-US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으로 이동</a:t>
            </a:r>
            <a:endParaRPr lang="ko-KR" altLang="en-US" dirty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5357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669" y="1557338"/>
            <a:ext cx="6640661" cy="4824412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</a:t>
            </a:r>
            <a:r>
              <a:rPr lang="en-US" altLang="ko-KR" dirty="0" smtClean="0"/>
              <a:t>14-4: </a:t>
            </a:r>
            <a:r>
              <a:rPr lang="ko-KR" altLang="en-US" dirty="0" err="1" smtClean="0"/>
              <a:t>비교일치</a:t>
            </a:r>
            <a:r>
              <a:rPr lang="ko-KR" altLang="en-US" dirty="0" smtClean="0"/>
              <a:t> 인터럽트 </a:t>
            </a:r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1619672" y="5229200"/>
            <a:ext cx="122413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639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 smtClean="0"/>
              <a:t>8</a:t>
            </a:r>
            <a:r>
              <a:rPr lang="ko-KR" altLang="en-US" sz="2000" dirty="0" smtClean="0"/>
              <a:t>비트 타이머</a:t>
            </a:r>
            <a:r>
              <a:rPr lang="en-US" altLang="ko-KR" sz="2000" dirty="0" smtClean="0"/>
              <a:t>/</a:t>
            </a:r>
            <a:r>
              <a:rPr lang="ko-KR" altLang="en-US" sz="2000" dirty="0" smtClean="0"/>
              <a:t>카운터에 비해 긴 시간 측정 가능</a:t>
            </a:r>
            <a:endParaRPr lang="en-US" altLang="ko-KR" sz="2000" dirty="0" smtClean="0"/>
          </a:p>
          <a:p>
            <a:pPr lvl="1"/>
            <a:r>
              <a:rPr lang="en-US" altLang="ko-KR" sz="1800" dirty="0" smtClean="0"/>
              <a:t>TCNT1 </a:t>
            </a:r>
            <a:r>
              <a:rPr lang="ko-KR" altLang="en-US" sz="1800" dirty="0" smtClean="0"/>
              <a:t>레지스터는 </a:t>
            </a:r>
            <a:r>
              <a:rPr lang="en-US" altLang="ko-KR" sz="1800" dirty="0" smtClean="0"/>
              <a:t>2</a:t>
            </a:r>
            <a:r>
              <a:rPr lang="ko-KR" altLang="en-US" sz="1800" dirty="0" smtClean="0"/>
              <a:t>개의 </a:t>
            </a:r>
            <a:r>
              <a:rPr lang="en-US" altLang="ko-KR" sz="1800" dirty="0" smtClean="0"/>
              <a:t>8</a:t>
            </a:r>
            <a:r>
              <a:rPr lang="ko-KR" altLang="en-US" sz="1800" dirty="0" smtClean="0"/>
              <a:t>비트 레지스터를 조합한 </a:t>
            </a:r>
            <a:r>
              <a:rPr lang="en-US" altLang="ko-KR" sz="1800" dirty="0" smtClean="0"/>
              <a:t>16</a:t>
            </a:r>
            <a:r>
              <a:rPr lang="ko-KR" altLang="en-US" sz="1800" dirty="0" smtClean="0"/>
              <a:t>비트 가상 레지스터</a:t>
            </a:r>
            <a:endParaRPr lang="en-US" altLang="ko-KR" sz="1800" dirty="0" smtClean="0"/>
          </a:p>
          <a:p>
            <a:pPr lvl="1"/>
            <a:r>
              <a:rPr lang="en-US" altLang="ko-KR" sz="1800" dirty="0" smtClean="0"/>
              <a:t>OCR1x </a:t>
            </a:r>
            <a:r>
              <a:rPr lang="ko-KR" altLang="en-US" sz="1800" dirty="0" smtClean="0"/>
              <a:t>레지스터 역시 </a:t>
            </a:r>
            <a:r>
              <a:rPr lang="en-US" altLang="ko-KR" sz="1800" dirty="0" smtClean="0"/>
              <a:t>16</a:t>
            </a:r>
            <a:r>
              <a:rPr lang="ko-KR" altLang="en-US" sz="1800" dirty="0" smtClean="0"/>
              <a:t>비트 가상 레지스터</a:t>
            </a:r>
            <a:endParaRPr lang="ko-KR" altLang="en-US" sz="18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16</a:t>
            </a:r>
            <a:r>
              <a:rPr lang="ko-KR" altLang="en-US" dirty="0" smtClean="0"/>
              <a:t>비트 타이머</a:t>
            </a:r>
            <a:r>
              <a:rPr lang="en-US" altLang="ko-KR" dirty="0" smtClean="0"/>
              <a:t>/</a:t>
            </a:r>
            <a:r>
              <a:rPr lang="ko-KR" altLang="en-US" dirty="0" smtClean="0"/>
              <a:t>카운터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673" y="2996952"/>
            <a:ext cx="6645714" cy="163428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387" y="4741823"/>
            <a:ext cx="6674286" cy="16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3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비교일치</a:t>
            </a:r>
            <a:r>
              <a:rPr lang="ko-KR" altLang="en-US" dirty="0" smtClean="0"/>
              <a:t> 인터럽트가 발생하는 경우 지정된 핀을 통해 신호 출력</a:t>
            </a:r>
            <a:endParaRPr lang="en-US" altLang="ko-KR" dirty="0" smtClean="0"/>
          </a:p>
          <a:p>
            <a:pPr lvl="1"/>
            <a:r>
              <a:rPr lang="ko-KR" altLang="en-US" sz="2000" dirty="0" smtClean="0"/>
              <a:t>신호 출력을 활성화 하기 위해서는 </a:t>
            </a:r>
            <a:r>
              <a:rPr lang="en-US" altLang="ko-KR" sz="2000" dirty="0" smtClean="0"/>
              <a:t>TCCR1A </a:t>
            </a:r>
            <a:r>
              <a:rPr lang="ko-KR" altLang="en-US" sz="2000" dirty="0" smtClean="0"/>
              <a:t>레지스터의 </a:t>
            </a:r>
            <a:r>
              <a:rPr lang="en-US" altLang="ko-KR" sz="2000" dirty="0" smtClean="0"/>
              <a:t>WGM1n (Wave Generation Mode) </a:t>
            </a:r>
            <a:r>
              <a:rPr lang="ko-KR" altLang="en-US" sz="2000" dirty="0" smtClean="0"/>
              <a:t>비트 설정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출력되는 신호의 종류는 </a:t>
            </a:r>
            <a:r>
              <a:rPr lang="en-US" altLang="ko-KR" sz="2000" dirty="0" smtClean="0"/>
              <a:t>TCCR1A </a:t>
            </a:r>
            <a:r>
              <a:rPr lang="ko-KR" altLang="en-US" sz="2000" dirty="0" smtClean="0"/>
              <a:t>레지스터의 </a:t>
            </a:r>
            <a:r>
              <a:rPr lang="en-US" altLang="ko-KR" sz="2000" dirty="0" smtClean="0"/>
              <a:t>COM1An </a:t>
            </a:r>
            <a:r>
              <a:rPr lang="ko-KR" altLang="en-US" sz="2000" dirty="0" smtClean="0"/>
              <a:t>비트로 설정</a:t>
            </a:r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파형 출력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861048"/>
            <a:ext cx="3913333" cy="2436667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4351132"/>
            <a:ext cx="4464496" cy="1293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2638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7624" y="1772816"/>
            <a:ext cx="6691429" cy="4308572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</a:t>
            </a:r>
            <a:r>
              <a:rPr lang="en-US" altLang="ko-KR" dirty="0" smtClean="0"/>
              <a:t>14-5: </a:t>
            </a:r>
            <a:r>
              <a:rPr lang="ko-KR" altLang="en-US" dirty="0" smtClean="0"/>
              <a:t>파형 생성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147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 smtClean="0"/>
              <a:t>Timer/Counter Control Register</a:t>
            </a:r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TCCR1A </a:t>
            </a:r>
            <a:r>
              <a:rPr lang="ko-KR" altLang="en-US" dirty="0" smtClean="0"/>
              <a:t>레지스터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571" y="2007631"/>
            <a:ext cx="6662857" cy="107428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000" y="3213255"/>
            <a:ext cx="6711428" cy="149142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027" y="4704684"/>
            <a:ext cx="6708572" cy="1774286"/>
          </a:xfrm>
          <a:prstGeom prst="rect">
            <a:avLst/>
          </a:prstGeom>
        </p:spPr>
      </p:pic>
      <p:sp>
        <p:nvSpPr>
          <p:cNvPr id="10" name="왼쪽 화살표 설명선 9"/>
          <p:cNvSpPr/>
          <p:nvPr/>
        </p:nvSpPr>
        <p:spPr>
          <a:xfrm>
            <a:off x="7183348" y="5445224"/>
            <a:ext cx="1440160" cy="864096"/>
          </a:xfrm>
          <a:prstGeom prst="leftArrowCallout">
            <a:avLst>
              <a:gd name="adj1" fmla="val 15137"/>
              <a:gd name="adj2" fmla="val 25000"/>
              <a:gd name="adj3" fmla="val 12671"/>
              <a:gd name="adj4" fmla="val 692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70C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PWM </a:t>
            </a:r>
            <a:r>
              <a:rPr lang="ko-KR" altLang="en-US" sz="1400" dirty="0">
                <a:solidFill>
                  <a:srgbClr val="0070C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모드 </a:t>
            </a:r>
            <a:r>
              <a:rPr lang="ko-KR" altLang="en-US" sz="1400" dirty="0" smtClean="0">
                <a:solidFill>
                  <a:srgbClr val="0070C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제외</a:t>
            </a:r>
            <a:endParaRPr lang="ko-KR" altLang="en-US" sz="1400" dirty="0">
              <a:solidFill>
                <a:srgbClr val="0070C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285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2001614"/>
            <a:ext cx="6682857" cy="2908571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</a:t>
            </a:r>
            <a:r>
              <a:rPr lang="en-US" altLang="ko-KR" dirty="0" smtClean="0"/>
              <a:t>14-6: </a:t>
            </a:r>
            <a:r>
              <a:rPr lang="ko-KR" altLang="en-US" dirty="0" smtClean="0"/>
              <a:t>파형 생성</a:t>
            </a:r>
            <a:endParaRPr lang="ko-KR" altLang="en-US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4716016" y="3873822"/>
            <a:ext cx="5760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47864" y="4809926"/>
            <a:ext cx="55627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CTC (Clear Timer on Compare Match) </a:t>
            </a:r>
            <a:r>
              <a:rPr lang="ko-KR" altLang="en-US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모드에서는</a:t>
            </a:r>
            <a:endParaRPr lang="en-US" altLang="ko-KR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ko-KR" altLang="en-US" dirty="0" err="1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비교일치</a:t>
            </a:r>
            <a:r>
              <a:rPr lang="ko-KR" altLang="en-US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인터럽트 발생시</a:t>
            </a:r>
            <a:endParaRPr lang="en-US" altLang="ko-KR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TCNT </a:t>
            </a:r>
            <a:r>
              <a:rPr lang="ko-KR" altLang="en-US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레지스터가 </a:t>
            </a:r>
            <a:r>
              <a:rPr lang="en-US" altLang="ko-KR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0</a:t>
            </a:r>
            <a:r>
              <a:rPr lang="ko-KR" altLang="en-US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으로 자동 </a:t>
            </a:r>
            <a:r>
              <a:rPr lang="ko-KR" altLang="en-US" dirty="0" err="1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리셋됨</a:t>
            </a:r>
            <a:endParaRPr lang="ko-KR" altLang="en-US" dirty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378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633</Words>
  <Application>Microsoft Office PowerPoint</Application>
  <PresentationFormat>화면 슬라이드 쇼(4:3)</PresentationFormat>
  <Paragraphs>124</Paragraphs>
  <Slides>19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기본 디자인</vt:lpstr>
      <vt:lpstr>PowerPoint 프레젠테이션</vt:lpstr>
      <vt:lpstr>타이머/카운터</vt:lpstr>
      <vt:lpstr>타이머/카운터</vt:lpstr>
      <vt:lpstr>타이머/카운터 구조</vt:lpstr>
      <vt:lpstr>타이머/카운터의 동작</vt:lpstr>
      <vt:lpstr>코드 14-1: 오버플로 인터럽트</vt:lpstr>
      <vt:lpstr>오버플로 횟수</vt:lpstr>
      <vt:lpstr>레지스터</vt:lpstr>
      <vt:lpstr>분주비 설정</vt:lpstr>
      <vt:lpstr>인터럽트 활성화 레지스터</vt:lpstr>
      <vt:lpstr>코드 14-2: 비교일치 인터럽트</vt:lpstr>
      <vt:lpstr>OCR0x 레지스터</vt:lpstr>
      <vt:lpstr>코드 14-3: 비교일치 인터럽트</vt:lpstr>
      <vt:lpstr>코드 14-4: 비교일치 인터럽트 </vt:lpstr>
      <vt:lpstr>16비트 타이머/카운터</vt:lpstr>
      <vt:lpstr>파형 출력</vt:lpstr>
      <vt:lpstr>코드 14-5: 파형 생성 1</vt:lpstr>
      <vt:lpstr>TCCR1A 레지스터</vt:lpstr>
      <vt:lpstr>코드 14-6: 파형 생성</vt:lpstr>
    </vt:vector>
  </TitlesOfParts>
  <Company>mik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김정배</dc:creator>
  <cp:lastModifiedBy>이규원</cp:lastModifiedBy>
  <cp:revision>97</cp:revision>
  <dcterms:created xsi:type="dcterms:W3CDTF">2005-10-10T05:21:17Z</dcterms:created>
  <dcterms:modified xsi:type="dcterms:W3CDTF">2020-06-01T08:46:41Z</dcterms:modified>
</cp:coreProperties>
</file>