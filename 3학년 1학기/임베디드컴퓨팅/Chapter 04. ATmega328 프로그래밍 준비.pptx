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82" r:id="rId3"/>
    <p:sldId id="283" r:id="rId4"/>
    <p:sldId id="284" r:id="rId5"/>
    <p:sldId id="286" r:id="rId6"/>
    <p:sldId id="285" r:id="rId7"/>
    <p:sldId id="287" r:id="rId8"/>
    <p:sldId id="289" r:id="rId9"/>
    <p:sldId id="288" r:id="rId10"/>
    <p:sldId id="290" r:id="rId11"/>
    <p:sldId id="291" r:id="rId12"/>
    <p:sldId id="293" r:id="rId13"/>
  </p:sldIdLst>
  <p:sldSz cx="9144000" cy="6858000" type="screen4x3"/>
  <p:notesSz cx="6854825" cy="9750425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3300"/>
    <a:srgbClr val="001F56"/>
    <a:srgbClr val="38B549"/>
    <a:srgbClr val="FF6600"/>
    <a:srgbClr val="FFECC0"/>
    <a:srgbClr val="0066CC"/>
    <a:srgbClr val="990033"/>
    <a:srgbClr val="BC71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40" y="-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0213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3025" y="0"/>
            <a:ext cx="2970213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61475"/>
            <a:ext cx="2970213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3025" y="9261475"/>
            <a:ext cx="2970213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8114954D-3975-486F-A634-AD74970EFD8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059097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0213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3025" y="0"/>
            <a:ext cx="2970213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31838"/>
            <a:ext cx="4875213" cy="36560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630738"/>
            <a:ext cx="5483225" cy="438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61475"/>
            <a:ext cx="2970213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3025" y="9261475"/>
            <a:ext cx="2970213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0952833-5BF8-462B-8955-824AFCD66DF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4310496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B6F2748E-33A7-43C4-98F3-E08F4F834479}" type="slidenum">
              <a:rPr lang="en-US" altLang="ko-KR" smtClean="0"/>
              <a:pPr>
                <a:spcBef>
                  <a:spcPct val="0"/>
                </a:spcBef>
              </a:pPr>
              <a:t>1</a:t>
            </a:fld>
            <a:endParaRPr lang="en-US" altLang="ko-KR" smtClean="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ko-KR" altLang="ko-KR" smtClean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413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128B9E-F9C0-416A-832C-0884C76D2E1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52016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:\김정배_백업\알바누리\커버리스트\프리젠테이션\카테고리별\학교_교육\s_00002\sub_s_00002_1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내용 개체 틀 2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824536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</p:txBody>
      </p:sp>
      <p:sp>
        <p:nvSpPr>
          <p:cNvPr id="11" name="제목 1"/>
          <p:cNvSpPr>
            <a:spLocks noGrp="1"/>
          </p:cNvSpPr>
          <p:nvPr>
            <p:ph type="title"/>
          </p:nvPr>
        </p:nvSpPr>
        <p:spPr>
          <a:xfrm>
            <a:off x="457200" y="290042"/>
            <a:ext cx="7931224" cy="618678"/>
          </a:xfrm>
        </p:spPr>
        <p:txBody>
          <a:bodyPr/>
          <a:lstStyle>
            <a:lvl1pPr algn="l">
              <a:defRPr sz="3200" b="1">
                <a:solidFill>
                  <a:srgbClr val="663300"/>
                </a:solidFill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2" name="TextBox 1"/>
          <p:cNvSpPr txBox="1"/>
          <p:nvPr userDrawn="1"/>
        </p:nvSpPr>
        <p:spPr>
          <a:xfrm>
            <a:off x="4273729" y="6525344"/>
            <a:ext cx="48397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200" dirty="0" err="1" smtClean="0">
                <a:solidFill>
                  <a:schemeClr val="bg1">
                    <a:lumMod val="6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아트멜</a:t>
            </a:r>
            <a:r>
              <a:rPr lang="ko-KR" altLang="en-US" sz="1200" dirty="0" smtClean="0">
                <a:solidFill>
                  <a:schemeClr val="bg1">
                    <a:lumMod val="6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 스튜디오와 </a:t>
            </a:r>
            <a:r>
              <a:rPr lang="ko-KR" altLang="en-US" sz="1200" dirty="0" err="1" smtClean="0">
                <a:solidFill>
                  <a:schemeClr val="bg1">
                    <a:lumMod val="6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아두이노로</a:t>
            </a:r>
            <a:r>
              <a:rPr lang="ko-KR" altLang="en-US" sz="1200" dirty="0" smtClean="0">
                <a:solidFill>
                  <a:schemeClr val="bg1">
                    <a:lumMod val="6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 배우는</a:t>
            </a:r>
            <a:r>
              <a:rPr lang="ko-KR" altLang="en-US" sz="1400" dirty="0" smtClean="0">
                <a:latin typeface="HY중고딕" panose="02030600000101010101" pitchFamily="18" charset="-127"/>
                <a:ea typeface="HY중고딕" panose="02030600000101010101" pitchFamily="18" charset="-127"/>
              </a:rPr>
              <a:t> 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ATmega328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프로그래밍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8839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ABEE44-8CAE-4526-920C-A8E8A9C4854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91947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686CB5-6D7D-45E3-972D-BDDADE8BEF2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56681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68D665-08DE-41D6-B962-2085A179A1C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93919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DE0A57-CA7C-4B68-8045-C32C5FCE0C9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70362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000BBB-273B-4A8D-BB08-23A4FAE3D00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30382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0471EE-F89C-4EDA-A21F-9F26D9E227C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14329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71FB8C-4271-44F5-A7B2-ACDAE1930BA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45130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89FCF1-FE78-45CE-8E11-F5957D42AE1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45018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0C56B4-3AAF-44E0-A295-42DDC124C35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60689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00213"/>
            <a:ext cx="8229600" cy="442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1pPr>
          </a:lstStyle>
          <a:p>
            <a:pPr>
              <a:defRPr/>
            </a:pPr>
            <a:fld id="{51F73B43-0D21-451E-BE02-CBCCAECBEF5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27" r:id="rId2"/>
    <p:sldLayoutId id="2147483818" r:id="rId3"/>
    <p:sldLayoutId id="2147483819" r:id="rId4"/>
    <p:sldLayoutId id="2147483820" r:id="rId5"/>
    <p:sldLayoutId id="2147483821" r:id="rId6"/>
    <p:sldLayoutId id="2147483822" r:id="rId7"/>
    <p:sldLayoutId id="2147483823" r:id="rId8"/>
    <p:sldLayoutId id="2147483824" r:id="rId9"/>
    <p:sldLayoutId id="2147483825" r:id="rId10"/>
    <p:sldLayoutId id="2147483826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함초롬바탕" panose="02030604000101010101" pitchFamily="18" charset="-127"/>
          <a:ea typeface="함초롬바탕" panose="02030604000101010101" pitchFamily="18" charset="-127"/>
          <a:cs typeface="함초롬바탕" panose="02030604000101010101" pitchFamily="18" charset="-127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함초롬바탕" pitchFamily="18" charset="-127"/>
          <a:ea typeface="함초롬바탕" pitchFamily="18" charset="-127"/>
          <a:cs typeface="함초롬바탕" pitchFamily="18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함초롬바탕" pitchFamily="18" charset="-127"/>
          <a:ea typeface="함초롬바탕" pitchFamily="18" charset="-127"/>
          <a:cs typeface="함초롬바탕" pitchFamily="18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함초롬바탕" pitchFamily="18" charset="-127"/>
          <a:ea typeface="함초롬바탕" pitchFamily="18" charset="-127"/>
          <a:cs typeface="함초롬바탕" pitchFamily="18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함초롬바탕" pitchFamily="18" charset="-127"/>
          <a:ea typeface="함초롬바탕" pitchFamily="18" charset="-127"/>
          <a:cs typeface="함초롬바탕" pitchFamily="18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함초롬바탕" panose="02030604000101010101" pitchFamily="18" charset="-127"/>
          <a:ea typeface="함초롬바탕" panose="02030604000101010101" pitchFamily="18" charset="-127"/>
          <a:cs typeface="함초롬바탕" panose="02030604000101010101" pitchFamily="18" charset="-127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함초롬바탕" panose="02030604000101010101" pitchFamily="18" charset="-127"/>
          <a:ea typeface="함초롬바탕" panose="02030604000101010101" pitchFamily="18" charset="-127"/>
          <a:cs typeface="함초롬바탕" panose="02030604000101010101" pitchFamily="18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함초롬바탕" panose="02030604000101010101" pitchFamily="18" charset="-127"/>
          <a:ea typeface="함초롬바탕" panose="02030604000101010101" pitchFamily="18" charset="-127"/>
          <a:cs typeface="함초롬바탕" panose="02030604000101010101" pitchFamily="18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함초롬바탕" panose="02030604000101010101" pitchFamily="18" charset="-127"/>
          <a:ea typeface="함초롬바탕" panose="02030604000101010101" pitchFamily="18" charset="-127"/>
          <a:cs typeface="함초롬바탕" panose="02030604000101010101" pitchFamily="18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함초롬바탕" panose="02030604000101010101" pitchFamily="18" charset="-127"/>
          <a:ea typeface="함초롬바탕" panose="02030604000101010101" pitchFamily="18" charset="-127"/>
          <a:cs typeface="함초롬바탕" panose="02030604000101010101" pitchFamily="18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www.arduino.cc/en/Main/Software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://www.microchip.com/avr-support/atmel-studio-7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15" descr="main_s_000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Text Box 6"/>
          <p:cNvSpPr txBox="1">
            <a:spLocks noChangeArrowheads="1"/>
          </p:cNvSpPr>
          <p:nvPr/>
        </p:nvSpPr>
        <p:spPr bwMode="auto">
          <a:xfrm>
            <a:off x="304800" y="1152525"/>
            <a:ext cx="8587680" cy="1794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9pPr>
          </a:lstStyle>
          <a:p>
            <a:pPr eaLnBrk="1" latinLnBrk="1" hangingPunct="1">
              <a:lnSpc>
                <a:spcPct val="120000"/>
              </a:lnSpc>
              <a:spcBef>
                <a:spcPts val="600"/>
              </a:spcBef>
              <a:buFontTx/>
              <a:buNone/>
              <a:defRPr/>
            </a:pPr>
            <a:r>
              <a:rPr lang="en-US" altLang="ko-KR" sz="4400" dirty="0" smtClean="0">
                <a:solidFill>
                  <a:srgbClr val="BC71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HY견고딕" panose="02030600000101010101" pitchFamily="18" charset="-127"/>
              </a:rPr>
              <a:t>Chapter 4. </a:t>
            </a:r>
          </a:p>
          <a:p>
            <a:pPr lvl="1" eaLnBrk="1" latinLnBrk="1" hangingPunct="1">
              <a:lnSpc>
                <a:spcPct val="120000"/>
              </a:lnSpc>
              <a:spcBef>
                <a:spcPts val="600"/>
              </a:spcBef>
              <a:buFontTx/>
              <a:buNone/>
              <a:defRPr/>
            </a:pPr>
            <a:r>
              <a:rPr lang="en-US" altLang="ko-KR" sz="4400" dirty="0" smtClean="0">
                <a:solidFill>
                  <a:srgbClr val="BC71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ATmega328 </a:t>
            </a:r>
            <a:r>
              <a:rPr lang="ko-KR" altLang="en-US" sz="4400" dirty="0" smtClean="0">
                <a:solidFill>
                  <a:srgbClr val="BC71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프로그래밍 준비</a:t>
            </a:r>
            <a:endParaRPr lang="en-US" altLang="ko-KR" sz="44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96" y="1556792"/>
            <a:ext cx="2381250" cy="2381250"/>
          </a:xfrm>
          <a:prstGeom prst="rect">
            <a:avLst/>
          </a:prstGeom>
        </p:spPr>
      </p:pic>
      <p:sp>
        <p:nvSpPr>
          <p:cNvPr id="7170" name="내용 개체 틀 1"/>
          <p:cNvSpPr>
            <a:spLocks noGrp="1"/>
          </p:cNvSpPr>
          <p:nvPr>
            <p:ph idx="1"/>
          </p:nvPr>
        </p:nvSpPr>
        <p:spPr>
          <a:xfrm>
            <a:off x="457200" y="1557338"/>
            <a:ext cx="8229600" cy="4824412"/>
          </a:xfrm>
        </p:spPr>
        <p:txBody>
          <a:bodyPr/>
          <a:lstStyle/>
          <a:p>
            <a:r>
              <a:rPr lang="en-US" altLang="ko-KR" sz="1800" dirty="0" smtClean="0"/>
              <a:t>AVR </a:t>
            </a:r>
            <a:r>
              <a:rPr lang="ko-KR" altLang="en-US" sz="1800" dirty="0" smtClean="0"/>
              <a:t>시리즈 </a:t>
            </a:r>
            <a:r>
              <a:rPr lang="ko-KR" altLang="en-US" sz="1800" dirty="0" err="1" smtClean="0"/>
              <a:t>마이크로컨트롤러</a:t>
            </a:r>
            <a:r>
              <a:rPr lang="ko-KR" altLang="en-US" sz="1800" dirty="0" smtClean="0"/>
              <a:t> 중 가장 많이 사용되는 것은 </a:t>
            </a:r>
            <a:r>
              <a:rPr lang="en-US" altLang="ko-KR" sz="1800" dirty="0" smtClean="0"/>
              <a:t>ATmega128</a:t>
            </a:r>
            <a:r>
              <a:rPr lang="ko-KR" altLang="en-US" sz="1800" dirty="0" smtClean="0"/>
              <a:t>임</a:t>
            </a:r>
            <a:endParaRPr lang="en-US" altLang="ko-KR" sz="1800" dirty="0" smtClean="0"/>
          </a:p>
          <a:p>
            <a:r>
              <a:rPr lang="en-US" altLang="ko-KR" sz="1800" dirty="0" smtClean="0"/>
              <a:t>ATmega128</a:t>
            </a:r>
          </a:p>
          <a:p>
            <a:pPr lvl="1"/>
            <a:r>
              <a:rPr lang="en-US" altLang="ko-KR" sz="1800" dirty="0"/>
              <a:t>8</a:t>
            </a:r>
            <a:r>
              <a:rPr lang="ko-KR" altLang="en-US" sz="1800" dirty="0"/>
              <a:t>비트 </a:t>
            </a:r>
            <a:r>
              <a:rPr lang="en-US" altLang="ko-KR" sz="1800" dirty="0" smtClean="0"/>
              <a:t>64</a:t>
            </a:r>
            <a:r>
              <a:rPr lang="ko-KR" altLang="en-US" sz="1800" dirty="0" smtClean="0"/>
              <a:t>핀</a:t>
            </a:r>
            <a:r>
              <a:rPr lang="en-US" altLang="ko-KR" sz="1800" dirty="0"/>
              <a:t> </a:t>
            </a:r>
            <a:r>
              <a:rPr lang="ko-KR" altLang="en-US" sz="1800" dirty="0" err="1" smtClean="0"/>
              <a:t>마이크로컨트롤러</a:t>
            </a:r>
            <a:endParaRPr lang="en-US" altLang="ko-KR" sz="1800" dirty="0" smtClean="0"/>
          </a:p>
          <a:p>
            <a:pPr lvl="1"/>
            <a:r>
              <a:rPr lang="en-US" altLang="ko-KR" sz="1800" dirty="0" smtClean="0"/>
              <a:t>128KB </a:t>
            </a:r>
            <a:r>
              <a:rPr lang="ko-KR" altLang="en-US" sz="1800" dirty="0" smtClean="0"/>
              <a:t>플래시 메모리</a:t>
            </a:r>
            <a:endParaRPr lang="en-US" altLang="ko-KR" sz="1800" dirty="0" smtClean="0"/>
          </a:p>
          <a:p>
            <a:r>
              <a:rPr lang="ko-KR" altLang="en-US" sz="1800" dirty="0" smtClean="0"/>
              <a:t>왜 </a:t>
            </a:r>
            <a:r>
              <a:rPr lang="en-US" altLang="ko-KR" sz="1800" dirty="0" smtClean="0"/>
              <a:t>ATmega328</a:t>
            </a:r>
            <a:r>
              <a:rPr lang="ko-KR" altLang="en-US" sz="1800" dirty="0" smtClean="0"/>
              <a:t>인가</a:t>
            </a:r>
            <a:r>
              <a:rPr lang="en-US" altLang="ko-KR" sz="1800" dirty="0" smtClean="0"/>
              <a:t>?</a:t>
            </a:r>
          </a:p>
          <a:p>
            <a:pPr lvl="1"/>
            <a:r>
              <a:rPr lang="en-US" altLang="ko-KR" sz="1800" dirty="0" smtClean="0"/>
              <a:t>ATmega128</a:t>
            </a:r>
            <a:r>
              <a:rPr lang="ko-KR" altLang="en-US" sz="1800" dirty="0" smtClean="0"/>
              <a:t>과 동일한 속도와 기능 제공</a:t>
            </a:r>
            <a:endParaRPr lang="en-US" altLang="ko-KR" sz="1800" dirty="0" smtClean="0"/>
          </a:p>
          <a:p>
            <a:pPr lvl="2"/>
            <a:r>
              <a:rPr lang="en-US" altLang="ko-KR" sz="1600" dirty="0" smtClean="0"/>
              <a:t>ATmega128</a:t>
            </a:r>
            <a:r>
              <a:rPr lang="ko-KR" altLang="en-US" sz="1600" dirty="0" smtClean="0"/>
              <a:t>로만 가능한 일은 없음</a:t>
            </a:r>
            <a:endParaRPr lang="en-US" altLang="ko-KR" sz="1600" dirty="0" smtClean="0"/>
          </a:p>
          <a:p>
            <a:pPr lvl="1"/>
            <a:r>
              <a:rPr lang="ko-KR" altLang="en-US" sz="1800" dirty="0" smtClean="0"/>
              <a:t>핀 수가 적어 적은 수의 장치만을 연결 가능하고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메모리가 적어 간단한 프로그램만 작성 가능</a:t>
            </a:r>
            <a:endParaRPr lang="en-US" altLang="ko-KR" sz="1800" dirty="0" smtClean="0"/>
          </a:p>
          <a:p>
            <a:pPr lvl="2"/>
            <a:r>
              <a:rPr lang="ko-KR" altLang="en-US" sz="1600" dirty="0" smtClean="0"/>
              <a:t>간단한 </a:t>
            </a:r>
            <a:r>
              <a:rPr lang="ko-KR" altLang="en-US" sz="1600" dirty="0" err="1" smtClean="0"/>
              <a:t>마이크로컨트롤러</a:t>
            </a:r>
            <a:r>
              <a:rPr lang="ko-KR" altLang="en-US" sz="1600" dirty="0" smtClean="0"/>
              <a:t> 응용 프로젝트를 위해서는 충분함</a:t>
            </a:r>
            <a:endParaRPr lang="en-US" altLang="ko-KR" sz="1600" dirty="0" smtClean="0"/>
          </a:p>
          <a:p>
            <a:pPr lvl="1"/>
            <a:r>
              <a:rPr lang="ko-KR" altLang="en-US" sz="1800" dirty="0" err="1" smtClean="0"/>
              <a:t>아두이노에서</a:t>
            </a:r>
            <a:r>
              <a:rPr lang="ko-KR" altLang="en-US" sz="1800" dirty="0" smtClean="0"/>
              <a:t> </a:t>
            </a:r>
            <a:r>
              <a:rPr lang="en-US" altLang="ko-KR" sz="1800" dirty="0" smtClean="0"/>
              <a:t>ATmega128</a:t>
            </a:r>
            <a:r>
              <a:rPr lang="ko-KR" altLang="en-US" sz="1800" dirty="0" smtClean="0"/>
              <a:t>을 공식적으로 지원하지 않음</a:t>
            </a:r>
            <a:endParaRPr lang="en-US" altLang="ko-KR" sz="1800" dirty="0" smtClean="0"/>
          </a:p>
          <a:p>
            <a:pPr lvl="2"/>
            <a:r>
              <a:rPr lang="ko-KR" altLang="en-US" sz="1600" dirty="0" err="1" smtClean="0"/>
              <a:t>아두이노</a:t>
            </a:r>
            <a:r>
              <a:rPr lang="ko-KR" altLang="en-US" sz="1600" dirty="0" smtClean="0"/>
              <a:t> 환경을 통해 </a:t>
            </a:r>
            <a:r>
              <a:rPr lang="ko-KR" altLang="en-US" sz="1600" dirty="0" err="1" smtClean="0"/>
              <a:t>마이크로컨트롤러를</a:t>
            </a:r>
            <a:r>
              <a:rPr lang="ko-KR" altLang="en-US" sz="1600" dirty="0" smtClean="0"/>
              <a:t> 쉽게 시작할 수 있음</a:t>
            </a:r>
            <a:endParaRPr lang="en-US" altLang="ko-KR" sz="1600" dirty="0" smtClean="0"/>
          </a:p>
          <a:p>
            <a:pPr lvl="1"/>
            <a:r>
              <a:rPr lang="en-US" altLang="ko-KR" sz="1800" dirty="0" smtClean="0"/>
              <a:t>DIP </a:t>
            </a:r>
            <a:r>
              <a:rPr lang="ko-KR" altLang="en-US" sz="1800" dirty="0" smtClean="0"/>
              <a:t>타입 제공 </a:t>
            </a:r>
            <a:r>
              <a:rPr lang="en-US" altLang="ko-KR" sz="1800" dirty="0" smtClean="0"/>
              <a:t>: DIY</a:t>
            </a:r>
            <a:r>
              <a:rPr lang="ko-KR" altLang="en-US" sz="1800" dirty="0" smtClean="0"/>
              <a:t>가 쉬움</a:t>
            </a:r>
            <a:endParaRPr lang="en-US" altLang="ko-KR" sz="1800" dirty="0" smtClean="0"/>
          </a:p>
          <a:p>
            <a:pPr lvl="2"/>
            <a:r>
              <a:rPr lang="en-US" altLang="ko-KR" sz="1600" dirty="0" smtClean="0"/>
              <a:t>ATmega128</a:t>
            </a:r>
            <a:r>
              <a:rPr lang="ko-KR" altLang="en-US" sz="1600" dirty="0" smtClean="0"/>
              <a:t>은 핀 수가 많아 </a:t>
            </a:r>
            <a:r>
              <a:rPr lang="en-US" altLang="ko-KR" sz="1600" dirty="0" smtClean="0"/>
              <a:t>DIP </a:t>
            </a:r>
            <a:r>
              <a:rPr lang="ko-KR" altLang="en-US" sz="1600" dirty="0" smtClean="0"/>
              <a:t>타입을 제공하지 않으므로 </a:t>
            </a:r>
            <a:r>
              <a:rPr lang="en-US" altLang="ko-KR" sz="1600" dirty="0" smtClean="0"/>
              <a:t>DIY</a:t>
            </a:r>
            <a:r>
              <a:rPr lang="ko-KR" altLang="en-US" sz="1600" dirty="0" smtClean="0"/>
              <a:t>가 어려움</a:t>
            </a:r>
            <a:endParaRPr lang="en-US" altLang="ko-KR" sz="1600" dirty="0" smtClean="0"/>
          </a:p>
        </p:txBody>
      </p:sp>
      <p:sp>
        <p:nvSpPr>
          <p:cNvPr id="7171" name="제목 2"/>
          <p:cNvSpPr>
            <a:spLocks noGrp="1"/>
          </p:cNvSpPr>
          <p:nvPr>
            <p:ph type="title"/>
          </p:nvPr>
        </p:nvSpPr>
        <p:spPr>
          <a:xfrm>
            <a:off x="457200" y="290513"/>
            <a:ext cx="6491288" cy="617537"/>
          </a:xfrm>
        </p:spPr>
        <p:txBody>
          <a:bodyPr/>
          <a:lstStyle/>
          <a:p>
            <a:r>
              <a:rPr lang="ko-KR" altLang="en-US" dirty="0" smtClean="0"/>
              <a:t>왜 </a:t>
            </a:r>
            <a:r>
              <a:rPr lang="en-US" altLang="ko-KR" dirty="0" smtClean="0"/>
              <a:t>ATmega328</a:t>
            </a:r>
            <a:r>
              <a:rPr lang="ko-KR" altLang="en-US" dirty="0" smtClean="0"/>
              <a:t>인가</a:t>
            </a:r>
            <a:r>
              <a:rPr lang="en-US" altLang="ko-KR" dirty="0" smtClean="0"/>
              <a:t>?</a:t>
            </a:r>
            <a:endParaRPr lang="ko-KR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9671" y="1902093"/>
            <a:ext cx="5904658" cy="4134902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ATmega328 </a:t>
            </a:r>
            <a:r>
              <a:rPr lang="ko-KR" altLang="en-US" dirty="0" smtClean="0"/>
              <a:t>기본 회로도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749199" y="1412776"/>
            <a:ext cx="1999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dirty="0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16MHz </a:t>
            </a:r>
            <a:r>
              <a:rPr lang="ko-KR" altLang="en-US" dirty="0" err="1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클록</a:t>
            </a:r>
            <a:r>
              <a:rPr lang="ko-KR" altLang="en-US" dirty="0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기준</a:t>
            </a:r>
            <a:endParaRPr lang="ko-KR" altLang="en-US" dirty="0">
              <a:solidFill>
                <a:srgbClr val="FF000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44269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내용 개체 틀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02811" y="1557338"/>
            <a:ext cx="3938378" cy="4824412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ATmega328 </a:t>
            </a:r>
            <a:r>
              <a:rPr lang="ko-KR" altLang="en-US" dirty="0"/>
              <a:t>기본 회로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49199" y="1412776"/>
            <a:ext cx="1999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dirty="0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16MHz </a:t>
            </a:r>
            <a:r>
              <a:rPr lang="ko-KR" altLang="en-US" dirty="0" err="1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클록</a:t>
            </a:r>
            <a:r>
              <a:rPr lang="ko-KR" altLang="en-US" dirty="0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기준</a:t>
            </a:r>
            <a:endParaRPr lang="ko-KR" altLang="en-US" dirty="0">
              <a:solidFill>
                <a:srgbClr val="FF000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60285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5272" y="1700808"/>
            <a:ext cx="6635080" cy="1789200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프로그래밍 스타일과 다운로드 방식</a:t>
            </a:r>
            <a:endParaRPr lang="ko-KR" altLang="en-US"/>
          </a:p>
        </p:txBody>
      </p:sp>
      <p:pic>
        <p:nvPicPr>
          <p:cNvPr id="5" name="그림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3861048"/>
            <a:ext cx="2109788" cy="159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그림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1685" y="4159747"/>
            <a:ext cx="1719128" cy="129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360719" y="5559356"/>
            <a:ext cx="18133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ISP </a:t>
            </a:r>
            <a:r>
              <a:rPr lang="ko-KR" altLang="en-US" sz="1600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방식 </a:t>
            </a:r>
            <a:r>
              <a:rPr lang="ko-KR" altLang="en-US" sz="1600" dirty="0" err="1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다운로더</a:t>
            </a:r>
            <a:endParaRPr lang="ko-KR" altLang="en-US" sz="16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213527" y="5559356"/>
            <a:ext cx="20954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시리얼</a:t>
            </a:r>
            <a:r>
              <a:rPr lang="en-US" altLang="ko-KR" sz="1600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1600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방식 </a:t>
            </a:r>
            <a:r>
              <a:rPr lang="ko-KR" altLang="en-US" sz="1600" dirty="0" err="1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다운로더</a:t>
            </a:r>
            <a:endParaRPr lang="ko-KR" altLang="en-US" sz="16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68336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6302" y="1917800"/>
            <a:ext cx="5031396" cy="4103488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ATmega328 </a:t>
            </a:r>
            <a:r>
              <a:rPr lang="ko-KR" altLang="en-US" dirty="0" smtClean="0"/>
              <a:t>기본 구성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18208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1600" y="2708920"/>
            <a:ext cx="6743333" cy="3023333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아두이노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우노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307222" y="1988840"/>
            <a:ext cx="29514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별도의 시리얼</a:t>
            </a:r>
            <a:r>
              <a:rPr lang="en-US" altLang="ko-KR" sz="1600" dirty="0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1600" dirty="0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방식 </a:t>
            </a:r>
            <a:r>
              <a:rPr lang="ko-KR" altLang="en-US" sz="1600" dirty="0" err="1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다운로더는</a:t>
            </a:r>
            <a:endParaRPr lang="en-US" altLang="ko-KR" sz="1600" dirty="0" smtClean="0">
              <a:solidFill>
                <a:srgbClr val="FF000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algn="ctr"/>
            <a:r>
              <a:rPr lang="ko-KR" altLang="en-US" sz="1600" dirty="0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필요하지 않음</a:t>
            </a:r>
            <a:r>
              <a:rPr lang="en-US" altLang="ko-KR" sz="1600" dirty="0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(ATmega16u2)</a:t>
            </a:r>
            <a:endParaRPr lang="ko-KR" altLang="en-US" sz="1600" dirty="0">
              <a:solidFill>
                <a:srgbClr val="FF000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92087" y="3140968"/>
            <a:ext cx="16754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별도의 </a:t>
            </a:r>
            <a:r>
              <a:rPr lang="en-US" altLang="ko-KR" sz="1600" dirty="0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ISP </a:t>
            </a:r>
            <a:r>
              <a:rPr lang="ko-KR" altLang="en-US" sz="1600" dirty="0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방식 </a:t>
            </a:r>
            <a:endParaRPr lang="en-US" altLang="ko-KR" sz="1600" dirty="0" smtClean="0">
              <a:solidFill>
                <a:srgbClr val="FF000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r>
              <a:rPr lang="ko-KR" altLang="en-US" sz="1600" dirty="0" err="1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다운로더</a:t>
            </a:r>
            <a:r>
              <a:rPr lang="ko-KR" altLang="en-US" sz="1600" dirty="0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필요</a:t>
            </a:r>
            <a:endParaRPr lang="en-US" altLang="ko-KR" sz="1600" dirty="0" smtClean="0">
              <a:solidFill>
                <a:srgbClr val="FF000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20356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 smtClean="0"/>
              <a:t>핀의 구별</a:t>
            </a:r>
            <a:endParaRPr lang="en-US" altLang="ko-KR" sz="2000" dirty="0" smtClean="0"/>
          </a:p>
          <a:p>
            <a:pPr lvl="1"/>
            <a:r>
              <a:rPr lang="en-US" altLang="ko-KR" sz="2000" dirty="0" smtClean="0"/>
              <a:t>AVR</a:t>
            </a:r>
            <a:r>
              <a:rPr lang="ko-KR" altLang="en-US" sz="2000" dirty="0" smtClean="0"/>
              <a:t>에서는 포트와 포트 내 핀 번호로 구별</a:t>
            </a:r>
            <a:endParaRPr lang="en-US" altLang="ko-KR" sz="2000" dirty="0" smtClean="0"/>
          </a:p>
          <a:p>
            <a:pPr lvl="1"/>
            <a:r>
              <a:rPr lang="ko-KR" altLang="en-US" sz="2000" dirty="0" err="1" smtClean="0"/>
              <a:t>아두이노에서는</a:t>
            </a:r>
            <a:r>
              <a:rPr lang="ko-KR" altLang="en-US" sz="2000" dirty="0" smtClean="0"/>
              <a:t> 핀 단위로 별도의 이름 사용</a:t>
            </a:r>
            <a:endParaRPr lang="en-US" altLang="ko-KR" sz="2000" dirty="0" smtClean="0"/>
          </a:p>
          <a:p>
            <a:r>
              <a:rPr lang="ko-KR" altLang="en-US" sz="2000" dirty="0" smtClean="0"/>
              <a:t>핀 번호</a:t>
            </a:r>
            <a:endParaRPr lang="en-US" altLang="ko-KR" sz="2000" dirty="0"/>
          </a:p>
          <a:p>
            <a:pPr lvl="1"/>
            <a:r>
              <a:rPr lang="ko-KR" altLang="en-US" sz="2000" dirty="0" smtClean="0"/>
              <a:t>디지털 데이터 입출력</a:t>
            </a:r>
            <a:endParaRPr lang="en-US" altLang="ko-KR" sz="2000" dirty="0" smtClean="0"/>
          </a:p>
          <a:p>
            <a:pPr lvl="2"/>
            <a:r>
              <a:rPr lang="en-US" altLang="ko-KR" sz="1800" dirty="0" smtClean="0"/>
              <a:t>20</a:t>
            </a:r>
            <a:r>
              <a:rPr lang="ko-KR" altLang="en-US" sz="1800" dirty="0" smtClean="0"/>
              <a:t>개의 핀 사용 가능 </a:t>
            </a:r>
            <a:r>
              <a:rPr lang="en-US" altLang="ko-KR" sz="1800" dirty="0" smtClean="0"/>
              <a:t>: 0~19</a:t>
            </a:r>
            <a:r>
              <a:rPr lang="ko-KR" altLang="en-US" sz="1800" dirty="0" smtClean="0"/>
              <a:t>번</a:t>
            </a:r>
            <a:endParaRPr lang="en-US" altLang="ko-KR" sz="1800" dirty="0" smtClean="0"/>
          </a:p>
          <a:p>
            <a:pPr lvl="1"/>
            <a:r>
              <a:rPr lang="ko-KR" altLang="en-US" sz="2000" dirty="0" smtClean="0"/>
              <a:t>아날로그 </a:t>
            </a:r>
            <a:r>
              <a:rPr lang="ko-KR" altLang="en-US" sz="2000" dirty="0"/>
              <a:t>데</a:t>
            </a:r>
            <a:r>
              <a:rPr lang="ko-KR" altLang="en-US" sz="2000" dirty="0" smtClean="0"/>
              <a:t>이터 입력</a:t>
            </a:r>
            <a:endParaRPr lang="en-US" altLang="ko-KR" sz="2000" dirty="0" smtClean="0"/>
          </a:p>
          <a:p>
            <a:pPr lvl="2"/>
            <a:r>
              <a:rPr lang="ko-KR" altLang="en-US" sz="1800" dirty="0" smtClean="0"/>
              <a:t>디지털 입출력 핀 중 </a:t>
            </a:r>
            <a:r>
              <a:rPr lang="en-US" altLang="ko-KR" sz="1800" dirty="0" smtClean="0"/>
              <a:t>6</a:t>
            </a:r>
            <a:r>
              <a:rPr lang="ko-KR" altLang="en-US" sz="1800" dirty="0" smtClean="0"/>
              <a:t>개 핀 사용 </a:t>
            </a:r>
            <a:r>
              <a:rPr lang="en-US" altLang="ko-KR" sz="1800" dirty="0" smtClean="0"/>
              <a:t>: A0~A5 </a:t>
            </a:r>
            <a:r>
              <a:rPr lang="ko-KR" altLang="en-US" sz="1800" dirty="0" smtClean="0"/>
              <a:t>상수 </a:t>
            </a:r>
            <a:r>
              <a:rPr lang="en-US" altLang="ko-KR" sz="1800" dirty="0" smtClean="0"/>
              <a:t>(14~19</a:t>
            </a:r>
            <a:r>
              <a:rPr lang="ko-KR" altLang="en-US" sz="1800" dirty="0" smtClean="0"/>
              <a:t>번</a:t>
            </a:r>
            <a:r>
              <a:rPr lang="en-US" altLang="ko-KR" sz="1800" dirty="0" smtClean="0"/>
              <a:t>)</a:t>
            </a:r>
          </a:p>
          <a:p>
            <a:pPr lvl="2"/>
            <a:r>
              <a:rPr lang="ko-KR" altLang="en-US" sz="1800" dirty="0" smtClean="0"/>
              <a:t>아날로그 입력 핀에는 디지털 입출력 핀 번호와 아날로그 입력 핀 번호</a:t>
            </a:r>
            <a:r>
              <a:rPr lang="en-US" altLang="ko-KR" sz="1800" dirty="0" smtClean="0"/>
              <a:t>, 2</a:t>
            </a:r>
            <a:r>
              <a:rPr lang="ko-KR" altLang="en-US" sz="1800" dirty="0" smtClean="0"/>
              <a:t>개의 번호가 지정됨</a:t>
            </a:r>
            <a:endParaRPr lang="en-US" altLang="ko-KR" sz="1800" dirty="0" smtClean="0"/>
          </a:p>
          <a:p>
            <a:pPr lvl="1"/>
            <a:r>
              <a:rPr lang="ko-KR" altLang="en-US" sz="2000" dirty="0" smtClean="0"/>
              <a:t>아날로그 데이터 출력</a:t>
            </a:r>
            <a:endParaRPr lang="en-US" altLang="ko-KR" sz="2000" dirty="0" smtClean="0"/>
          </a:p>
          <a:p>
            <a:pPr lvl="2"/>
            <a:r>
              <a:rPr lang="ko-KR" altLang="en-US" sz="1800" dirty="0" smtClean="0"/>
              <a:t>아날로그와 유사한 기능을 하는 디지털</a:t>
            </a:r>
            <a:r>
              <a:rPr lang="en-US" altLang="ko-KR" sz="1800" dirty="0" smtClean="0"/>
              <a:t> </a:t>
            </a:r>
            <a:r>
              <a:rPr lang="ko-KR" altLang="en-US" sz="1800" dirty="0" smtClean="0"/>
              <a:t>신호인 </a:t>
            </a:r>
            <a:r>
              <a:rPr lang="en-US" altLang="ko-KR" sz="1800" dirty="0" smtClean="0"/>
              <a:t>PWM </a:t>
            </a:r>
            <a:r>
              <a:rPr lang="ko-KR" altLang="en-US" sz="1800" dirty="0" smtClean="0"/>
              <a:t>신호 출력</a:t>
            </a:r>
            <a:endParaRPr lang="en-US" altLang="ko-KR" sz="1800" dirty="0" smtClean="0"/>
          </a:p>
          <a:p>
            <a:pPr lvl="2"/>
            <a:r>
              <a:rPr lang="ko-KR" altLang="en-US" sz="1800" dirty="0" smtClean="0"/>
              <a:t>하드웨어로 지원되는 </a:t>
            </a:r>
            <a:r>
              <a:rPr lang="en-US" altLang="ko-KR" sz="1800" dirty="0" smtClean="0"/>
              <a:t>6</a:t>
            </a:r>
            <a:r>
              <a:rPr lang="ko-KR" altLang="en-US" sz="1800" dirty="0" smtClean="0"/>
              <a:t>개 핀에서만 사용 가능</a:t>
            </a:r>
            <a:endParaRPr lang="ko-KR" altLang="en-US" sz="1800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아두이노에서의</a:t>
            </a:r>
            <a:r>
              <a:rPr lang="ko-KR" altLang="en-US" dirty="0"/>
              <a:t> 핀</a:t>
            </a:r>
          </a:p>
        </p:txBody>
      </p:sp>
    </p:spTree>
    <p:extLst>
      <p:ext uri="{BB962C8B-B14F-4D97-AF65-F5344CB8AC3E}">
        <p14:creationId xmlns:p14="http://schemas.microsoft.com/office/powerpoint/2010/main" val="627326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8934" y="1891967"/>
            <a:ext cx="4608512" cy="4155154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아두이노에서의</a:t>
            </a:r>
            <a:r>
              <a:rPr lang="ko-KR" altLang="en-US" dirty="0" smtClean="0"/>
              <a:t> 핀 번호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532642" y="1617850"/>
            <a:ext cx="20954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아날로그 데이터 입력</a:t>
            </a:r>
            <a:endParaRPr lang="en-US" altLang="ko-KR" sz="1600" dirty="0" smtClean="0">
              <a:solidFill>
                <a:srgbClr val="FF000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32642" y="4653136"/>
            <a:ext cx="20954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아날로그 데이터 출력</a:t>
            </a:r>
            <a:endParaRPr lang="en-US" altLang="ko-KR" sz="1600" dirty="0" smtClean="0">
              <a:solidFill>
                <a:srgbClr val="FF000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1560" y="1888210"/>
            <a:ext cx="20954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600" dirty="0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디지털 데이터 입출력</a:t>
            </a:r>
            <a:endParaRPr lang="en-US" altLang="ko-KR" sz="1600" dirty="0" smtClean="0">
              <a:solidFill>
                <a:srgbClr val="FF000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10" name="자유형 9"/>
          <p:cNvSpPr/>
          <p:nvPr/>
        </p:nvSpPr>
        <p:spPr>
          <a:xfrm>
            <a:off x="2649374" y="2064245"/>
            <a:ext cx="410659" cy="262821"/>
          </a:xfrm>
          <a:custGeom>
            <a:avLst/>
            <a:gdLst>
              <a:gd name="connsiteX0" fmla="*/ 0 w 410659"/>
              <a:gd name="connsiteY0" fmla="*/ 0 h 169739"/>
              <a:gd name="connsiteX1" fmla="*/ 410659 w 410659"/>
              <a:gd name="connsiteY1" fmla="*/ 0 h 169739"/>
              <a:gd name="connsiteX2" fmla="*/ 410659 w 410659"/>
              <a:gd name="connsiteY2" fmla="*/ 169739 h 169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0659" h="169739">
                <a:moveTo>
                  <a:pt x="0" y="0"/>
                </a:moveTo>
                <a:lnTo>
                  <a:pt x="410659" y="0"/>
                </a:lnTo>
                <a:lnTo>
                  <a:pt x="410659" y="169739"/>
                </a:ln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자유형 10"/>
          <p:cNvSpPr/>
          <p:nvPr/>
        </p:nvSpPr>
        <p:spPr>
          <a:xfrm>
            <a:off x="6186515" y="1772816"/>
            <a:ext cx="399707" cy="291429"/>
          </a:xfrm>
          <a:custGeom>
            <a:avLst/>
            <a:gdLst>
              <a:gd name="connsiteX0" fmla="*/ 399707 w 399707"/>
              <a:gd name="connsiteY0" fmla="*/ 0 h 191641"/>
              <a:gd name="connsiteX1" fmla="*/ 0 w 399707"/>
              <a:gd name="connsiteY1" fmla="*/ 0 h 191641"/>
              <a:gd name="connsiteX2" fmla="*/ 0 w 399707"/>
              <a:gd name="connsiteY2" fmla="*/ 191641 h 19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9707" h="191641">
                <a:moveTo>
                  <a:pt x="399707" y="0"/>
                </a:moveTo>
                <a:lnTo>
                  <a:pt x="0" y="0"/>
                </a:lnTo>
                <a:lnTo>
                  <a:pt x="0" y="191641"/>
                </a:ln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자유형 11"/>
          <p:cNvSpPr/>
          <p:nvPr/>
        </p:nvSpPr>
        <p:spPr>
          <a:xfrm>
            <a:off x="6268646" y="4834822"/>
            <a:ext cx="323052" cy="246395"/>
          </a:xfrm>
          <a:custGeom>
            <a:avLst/>
            <a:gdLst>
              <a:gd name="connsiteX0" fmla="*/ 323052 w 323052"/>
              <a:gd name="connsiteY0" fmla="*/ 0 h 246395"/>
              <a:gd name="connsiteX1" fmla="*/ 0 w 323052"/>
              <a:gd name="connsiteY1" fmla="*/ 0 h 246395"/>
              <a:gd name="connsiteX2" fmla="*/ 0 w 323052"/>
              <a:gd name="connsiteY2" fmla="*/ 246395 h 246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3052" h="246395">
                <a:moveTo>
                  <a:pt x="323052" y="0"/>
                </a:moveTo>
                <a:lnTo>
                  <a:pt x="0" y="0"/>
                </a:lnTo>
                <a:lnTo>
                  <a:pt x="0" y="246395"/>
                </a:ln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4164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1680" y="2276872"/>
            <a:ext cx="5476667" cy="2836667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err="1" smtClean="0"/>
              <a:t>아두이노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우노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580112" y="5023232"/>
            <a:ext cx="22942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디지털 입출력 핀으로도</a:t>
            </a:r>
            <a:endParaRPr lang="en-US" altLang="ko-KR" sz="1600" dirty="0" smtClean="0">
              <a:solidFill>
                <a:srgbClr val="FF000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r>
              <a:rPr lang="ko-KR" altLang="en-US" sz="1600" dirty="0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사용 가능</a:t>
            </a:r>
            <a:endParaRPr lang="ko-KR" altLang="en-US" sz="1600" dirty="0">
              <a:solidFill>
                <a:srgbClr val="FF000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580112" y="1817570"/>
            <a:ext cx="20409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‘~’ </a:t>
            </a:r>
            <a:r>
              <a:rPr lang="ko-KR" altLang="en-US" sz="1600" dirty="0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기호가 있는 핀만</a:t>
            </a:r>
            <a:endParaRPr lang="en-US" altLang="ko-KR" sz="1600" dirty="0" smtClean="0">
              <a:solidFill>
                <a:srgbClr val="FF000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r>
              <a:rPr lang="en-US" altLang="ko-KR" sz="1600" dirty="0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PWM </a:t>
            </a:r>
            <a:r>
              <a:rPr lang="ko-KR" altLang="en-US" sz="1600" dirty="0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출력 사용 가능</a:t>
            </a:r>
            <a:endParaRPr lang="ko-KR" altLang="en-US" sz="1600" dirty="0">
              <a:solidFill>
                <a:srgbClr val="FF000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1822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457200" y="1556792"/>
            <a:ext cx="4186808" cy="4824536"/>
          </a:xfrm>
        </p:spPr>
        <p:txBody>
          <a:bodyPr/>
          <a:lstStyle/>
          <a:p>
            <a:r>
              <a:rPr lang="en-US" altLang="ko-KR" sz="2000" dirty="0" smtClean="0">
                <a:hlinkClick r:id="rId2"/>
              </a:rPr>
              <a:t>https</a:t>
            </a:r>
            <a:r>
              <a:rPr lang="en-US" altLang="ko-KR" sz="2000" dirty="0">
                <a:hlinkClick r:id="rId2"/>
              </a:rPr>
              <a:t>://</a:t>
            </a:r>
            <a:r>
              <a:rPr lang="en-US" altLang="ko-KR" sz="2000" dirty="0" smtClean="0">
                <a:hlinkClick r:id="rId2"/>
              </a:rPr>
              <a:t>www.arduino.cc/en/Main/Software</a:t>
            </a:r>
            <a:r>
              <a:rPr lang="en-US" altLang="ko-KR" sz="2000" dirty="0"/>
              <a:t> </a:t>
            </a:r>
            <a:r>
              <a:rPr lang="ko-KR" altLang="en-US" sz="2000" dirty="0" smtClean="0"/>
              <a:t>에서 무료 다운</a:t>
            </a:r>
            <a:endParaRPr lang="en-US" altLang="ko-KR" sz="2000" dirty="0" smtClean="0"/>
          </a:p>
          <a:p>
            <a:pPr lvl="1"/>
            <a:r>
              <a:rPr lang="ko-KR" altLang="en-US" sz="2000" dirty="0" smtClean="0"/>
              <a:t>설치 파일을 사용한 설치 권장</a:t>
            </a:r>
            <a:endParaRPr lang="en-US" altLang="ko-KR" sz="2000" dirty="0" smtClean="0"/>
          </a:p>
          <a:p>
            <a:r>
              <a:rPr lang="ko-KR" altLang="en-US" sz="2000" dirty="0" smtClean="0"/>
              <a:t>비전공자를 위한 간단한 인터페이스 제공</a:t>
            </a:r>
            <a:endParaRPr lang="en-US" altLang="ko-KR" sz="2000" dirty="0" smtClean="0"/>
          </a:p>
          <a:p>
            <a:r>
              <a:rPr lang="ko-KR" altLang="en-US" sz="2000" dirty="0" smtClean="0"/>
              <a:t>간편하게 사용할 수는 있지만 </a:t>
            </a:r>
            <a:r>
              <a:rPr lang="en-US" altLang="ko-KR" sz="2000" dirty="0" smtClean="0"/>
              <a:t>ATmega328</a:t>
            </a:r>
            <a:r>
              <a:rPr lang="ko-KR" altLang="en-US" sz="2000" dirty="0" smtClean="0"/>
              <a:t>의 모든 기능을 활용하기는 어려움</a:t>
            </a:r>
            <a:endParaRPr lang="ko-KR" altLang="en-US" sz="2000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소프트웨어 </a:t>
            </a:r>
            <a:r>
              <a:rPr lang="en-US" altLang="ko-KR" dirty="0" smtClean="0"/>
              <a:t>– </a:t>
            </a:r>
            <a:r>
              <a:rPr lang="ko-KR" altLang="en-US" dirty="0" err="1" smtClean="0"/>
              <a:t>아두이노</a:t>
            </a:r>
            <a:r>
              <a:rPr lang="en-US" altLang="ko-KR" dirty="0" smtClean="0"/>
              <a:t> IDE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1772814"/>
            <a:ext cx="3737591" cy="4485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798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457200" y="1556792"/>
            <a:ext cx="4186808" cy="4824536"/>
          </a:xfrm>
        </p:spPr>
        <p:txBody>
          <a:bodyPr/>
          <a:lstStyle/>
          <a:p>
            <a:r>
              <a:rPr lang="en-US" altLang="ko-KR" sz="2000" dirty="0">
                <a:hlinkClick r:id="rId2"/>
              </a:rPr>
              <a:t>http://</a:t>
            </a:r>
            <a:r>
              <a:rPr lang="en-US" altLang="ko-KR" sz="2000" dirty="0" smtClean="0">
                <a:hlinkClick r:id="rId2"/>
              </a:rPr>
              <a:t>www.microchip.com/avr-support/atmel-studio-7 </a:t>
            </a:r>
            <a:r>
              <a:rPr lang="ko-KR" altLang="en-US" sz="2000" dirty="0" smtClean="0"/>
              <a:t>에서 무료 다운</a:t>
            </a:r>
            <a:endParaRPr lang="en-US" altLang="ko-KR" sz="1800" dirty="0" smtClean="0"/>
          </a:p>
          <a:p>
            <a:r>
              <a:rPr lang="en-US" altLang="ko-KR" sz="2000" dirty="0" smtClean="0"/>
              <a:t>ATmega328 </a:t>
            </a:r>
            <a:r>
              <a:rPr lang="ko-KR" altLang="en-US" sz="2000" dirty="0" smtClean="0"/>
              <a:t>제작사인 </a:t>
            </a:r>
            <a:r>
              <a:rPr lang="ko-KR" altLang="en-US" sz="2000" dirty="0" err="1" smtClean="0"/>
              <a:t>아트멜에서</a:t>
            </a:r>
            <a:r>
              <a:rPr lang="ko-KR" altLang="en-US" sz="2000" dirty="0" smtClean="0"/>
              <a:t> 제공하는 </a:t>
            </a:r>
            <a:r>
              <a:rPr lang="en-US" altLang="ko-KR" sz="2000" dirty="0" smtClean="0"/>
              <a:t>IDE</a:t>
            </a:r>
          </a:p>
          <a:p>
            <a:r>
              <a:rPr lang="en-US" altLang="ko-KR" sz="2000" dirty="0"/>
              <a:t>Microsoft</a:t>
            </a:r>
            <a:r>
              <a:rPr lang="ko-KR" altLang="en-US" sz="2000" dirty="0"/>
              <a:t>의 </a:t>
            </a:r>
            <a:r>
              <a:rPr lang="en-US" altLang="ko-KR" sz="2000" dirty="0"/>
              <a:t>Visual Studio </a:t>
            </a:r>
            <a:r>
              <a:rPr lang="ko-KR" altLang="en-US" sz="2000" dirty="0"/>
              <a:t>인터페이스 사용</a:t>
            </a:r>
          </a:p>
          <a:p>
            <a:r>
              <a:rPr lang="ko-KR" altLang="en-US" sz="2000" dirty="0" smtClean="0"/>
              <a:t>사용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방법이 복잡하지만 </a:t>
            </a:r>
            <a:r>
              <a:rPr lang="en-US" altLang="ko-KR" sz="2000" dirty="0" smtClean="0"/>
              <a:t>ATmega328</a:t>
            </a:r>
            <a:r>
              <a:rPr lang="ko-KR" altLang="en-US" sz="2000" dirty="0" smtClean="0"/>
              <a:t>의 모든 기능을 활용할 수 있도록 해줌</a:t>
            </a:r>
            <a:endParaRPr lang="en-US" altLang="ko-KR" sz="2000" dirty="0" smtClean="0"/>
          </a:p>
          <a:p>
            <a:pPr lvl="1"/>
            <a:r>
              <a:rPr lang="ko-KR" altLang="en-US" sz="1800" dirty="0" err="1" smtClean="0"/>
              <a:t>애드온</a:t>
            </a:r>
            <a:r>
              <a:rPr lang="ko-KR" altLang="en-US" sz="1800" dirty="0" smtClean="0"/>
              <a:t> 설치를 통해 </a:t>
            </a:r>
            <a:r>
              <a:rPr lang="ko-KR" altLang="en-US" sz="1800" dirty="0" err="1" smtClean="0"/>
              <a:t>아두이노</a:t>
            </a:r>
            <a:r>
              <a:rPr lang="ko-KR" altLang="en-US" sz="1800" dirty="0" smtClean="0"/>
              <a:t> 프로그래밍 가능</a:t>
            </a:r>
            <a:endParaRPr lang="en-US" altLang="ko-KR" sz="1800" dirty="0" smtClean="0"/>
          </a:p>
          <a:p>
            <a:pPr lvl="1"/>
            <a:r>
              <a:rPr lang="ko-KR" altLang="en-US" sz="1800" dirty="0" err="1" smtClean="0"/>
              <a:t>아두이노</a:t>
            </a:r>
            <a:r>
              <a:rPr lang="ko-KR" altLang="en-US" sz="1800" dirty="0" smtClean="0"/>
              <a:t> </a:t>
            </a:r>
            <a:r>
              <a:rPr lang="en-US" altLang="ko-KR" sz="1800" dirty="0" smtClean="0"/>
              <a:t>IDE </a:t>
            </a:r>
            <a:r>
              <a:rPr lang="ko-KR" altLang="en-US" sz="1800" dirty="0" smtClean="0"/>
              <a:t>역시 필요함</a:t>
            </a:r>
            <a:endParaRPr lang="en-US" altLang="ko-KR" sz="1800" dirty="0" smtClean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소프트웨어 </a:t>
            </a:r>
            <a:r>
              <a:rPr lang="en-US" altLang="ko-KR" dirty="0" smtClean="0"/>
              <a:t>– </a:t>
            </a:r>
            <a:r>
              <a:rPr lang="ko-KR" altLang="en-US" dirty="0" err="1"/>
              <a:t>아트멜</a:t>
            </a:r>
            <a:r>
              <a:rPr lang="ko-KR" altLang="en-US" dirty="0"/>
              <a:t> 스튜디오</a:t>
            </a:r>
          </a:p>
        </p:txBody>
      </p:sp>
      <p:pic>
        <p:nvPicPr>
          <p:cNvPr id="6" name="_x408404256" descr="EMB00000214061b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2276872"/>
            <a:ext cx="4383941" cy="3434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4081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511</TotalTime>
  <Words>323</Words>
  <Application>Microsoft Office PowerPoint</Application>
  <PresentationFormat>화면 슬라이드 쇼(4:3)</PresentationFormat>
  <Paragraphs>64</Paragraphs>
  <Slides>12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3" baseType="lpstr">
      <vt:lpstr>기본 디자인</vt:lpstr>
      <vt:lpstr>PowerPoint 프레젠테이션</vt:lpstr>
      <vt:lpstr>왜 ATmega328인가?</vt:lpstr>
      <vt:lpstr>ATmega328 기본 회로도</vt:lpstr>
      <vt:lpstr>ATmega328 기본 회로</vt:lpstr>
      <vt:lpstr>프로그래밍 스타일과 다운로드 방식</vt:lpstr>
      <vt:lpstr>ATmega328 기본 구성</vt:lpstr>
      <vt:lpstr>아두이노 우노</vt:lpstr>
      <vt:lpstr>아두이노에서의 핀</vt:lpstr>
      <vt:lpstr>아두이노에서의 핀 번호</vt:lpstr>
      <vt:lpstr>아두이노 우노</vt:lpstr>
      <vt:lpstr>소프트웨어 – 아두이노 IDE</vt:lpstr>
      <vt:lpstr>소프트웨어 – 아트멜 스튜디오</vt:lpstr>
    </vt:vector>
  </TitlesOfParts>
  <Company>mik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김정배</dc:creator>
  <cp:lastModifiedBy>이규원</cp:lastModifiedBy>
  <cp:revision>91</cp:revision>
  <dcterms:created xsi:type="dcterms:W3CDTF">2005-10-10T05:21:17Z</dcterms:created>
  <dcterms:modified xsi:type="dcterms:W3CDTF">2021-03-11T08:32:10Z</dcterms:modified>
</cp:coreProperties>
</file>