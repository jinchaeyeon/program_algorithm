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83" r:id="rId3"/>
    <p:sldId id="282" r:id="rId4"/>
    <p:sldId id="284" r:id="rId5"/>
    <p:sldId id="285" r:id="rId6"/>
    <p:sldId id="287" r:id="rId7"/>
    <p:sldId id="286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296" r:id="rId17"/>
    <p:sldId id="297" r:id="rId18"/>
  </p:sldIdLst>
  <p:sldSz cx="9144000" cy="6858000" type="screen4x3"/>
  <p:notesSz cx="6854825" cy="9750425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3300"/>
    <a:srgbClr val="001F56"/>
    <a:srgbClr val="38B549"/>
    <a:srgbClr val="FF6600"/>
    <a:srgbClr val="FFECC0"/>
    <a:srgbClr val="0066CC"/>
    <a:srgbClr val="990033"/>
    <a:srgbClr val="BC71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82" autoAdjust="0"/>
    <p:restoredTop sz="94660"/>
  </p:normalViewPr>
  <p:slideViewPr>
    <p:cSldViewPr>
      <p:cViewPr varScale="1">
        <p:scale>
          <a:sx n="65" d="100"/>
          <a:sy n="65" d="100"/>
        </p:scale>
        <p:origin x="-1434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3025" y="0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61475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3025" y="9261475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8114954D-3975-486F-A634-AD74970EFD8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059097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31838"/>
            <a:ext cx="4875213" cy="36560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630738"/>
            <a:ext cx="5483225" cy="438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61475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9261475"/>
            <a:ext cx="2970213" cy="48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0952833-5BF8-462B-8955-824AFCD66DF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431049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B6F2748E-33A7-43C4-98F3-E08F4F834479}" type="slidenum">
              <a:rPr lang="en-US" altLang="ko-KR" smtClean="0"/>
              <a:pPr>
                <a:spcBef>
                  <a:spcPct val="0"/>
                </a:spcBef>
              </a:pPr>
              <a:t>1</a:t>
            </a:fld>
            <a:endParaRPr lang="en-US" altLang="ko-KR" smtClean="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ko-KR" altLang="ko-KR" smtClean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41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128B9E-F9C0-416A-832C-0884C76D2E1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52016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:\김정배_백업\알바누리\커버리스트\프리젠테이션\카테고리별\학교_교육\s_00002\sub_s_00002_1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내용 개체 틀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824536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11" name="제목 1"/>
          <p:cNvSpPr>
            <a:spLocks noGrp="1"/>
          </p:cNvSpPr>
          <p:nvPr>
            <p:ph type="title"/>
          </p:nvPr>
        </p:nvSpPr>
        <p:spPr>
          <a:xfrm>
            <a:off x="457200" y="290042"/>
            <a:ext cx="7931224" cy="618678"/>
          </a:xfrm>
        </p:spPr>
        <p:txBody>
          <a:bodyPr/>
          <a:lstStyle>
            <a:lvl1pPr algn="l">
              <a:defRPr sz="3200" b="1">
                <a:solidFill>
                  <a:srgbClr val="663300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4273729" y="6525344"/>
            <a:ext cx="48397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200" dirty="0" err="1" smtClean="0">
                <a:solidFill>
                  <a:schemeClr val="bg1">
                    <a:lumMod val="6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아트멜</a:t>
            </a:r>
            <a:r>
              <a:rPr lang="ko-KR" altLang="en-US" sz="1200" dirty="0" smtClean="0">
                <a:solidFill>
                  <a:schemeClr val="bg1">
                    <a:lumMod val="6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 스튜디오와 </a:t>
            </a:r>
            <a:r>
              <a:rPr lang="ko-KR" altLang="en-US" sz="1200" dirty="0" err="1" smtClean="0">
                <a:solidFill>
                  <a:schemeClr val="bg1">
                    <a:lumMod val="6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아두이노로</a:t>
            </a:r>
            <a:r>
              <a:rPr lang="ko-KR" altLang="en-US" sz="1200" dirty="0" smtClean="0">
                <a:solidFill>
                  <a:schemeClr val="bg1">
                    <a:lumMod val="65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 배우는</a:t>
            </a:r>
            <a:r>
              <a:rPr lang="ko-KR" altLang="en-US" sz="1400" dirty="0" smtClean="0">
                <a:latin typeface="HY중고딕" panose="02030600000101010101" pitchFamily="18" charset="-127"/>
                <a:ea typeface="HY중고딕" panose="02030600000101010101" pitchFamily="18" charset="-127"/>
              </a:rPr>
              <a:t> </a:t>
            </a:r>
            <a:r>
              <a:rPr lang="en-US" altLang="ko-KR" sz="1400" dirty="0" smtClean="0">
                <a:solidFill>
                  <a:schemeClr val="bg1">
                    <a:lumMod val="50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ATmega328 </a:t>
            </a:r>
            <a:r>
              <a:rPr lang="ko-KR" altLang="en-US" sz="1400" dirty="0" smtClean="0">
                <a:solidFill>
                  <a:schemeClr val="bg1">
                    <a:lumMod val="50000"/>
                  </a:schemeClr>
                </a:solidFill>
                <a:latin typeface="HY중고딕" panose="02030600000101010101" pitchFamily="18" charset="-127"/>
                <a:ea typeface="HY중고딕" panose="02030600000101010101" pitchFamily="18" charset="-127"/>
              </a:rPr>
              <a:t>프로그래밍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  <a:latin typeface="HY중고딕" panose="02030600000101010101" pitchFamily="18" charset="-127"/>
              <a:ea typeface="HY중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839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ABEE44-8CAE-4526-920C-A8E8A9C4854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91947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686CB5-6D7D-45E3-972D-BDDADE8BEF2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56681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68D665-08DE-41D6-B962-2085A179A1C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93919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DE0A57-CA7C-4B68-8045-C32C5FCE0C9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70362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000BBB-273B-4A8D-BB08-23A4FAE3D00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30382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0471EE-F89C-4EDA-A21F-9F26D9E227C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14329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71FB8C-4271-44F5-A7B2-ACDAE1930BA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45130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89FCF1-FE78-45CE-8E11-F5957D42AE1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45018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0C56B4-3AAF-44E0-A295-42DDC124C35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60689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00213"/>
            <a:ext cx="8229600" cy="442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defRPr>
            </a:lvl1pPr>
          </a:lstStyle>
          <a:p>
            <a:pPr>
              <a:defRPr/>
            </a:pPr>
            <a:fld id="{51F73B43-0D21-451E-BE02-CBCCAECBEF5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27" r:id="rId2"/>
    <p:sldLayoutId id="2147483818" r:id="rId3"/>
    <p:sldLayoutId id="2147483819" r:id="rId4"/>
    <p:sldLayoutId id="2147483820" r:id="rId5"/>
    <p:sldLayoutId id="2147483821" r:id="rId6"/>
    <p:sldLayoutId id="2147483822" r:id="rId7"/>
    <p:sldLayoutId id="2147483823" r:id="rId8"/>
    <p:sldLayoutId id="2147483824" r:id="rId9"/>
    <p:sldLayoutId id="2147483825" r:id="rId10"/>
    <p:sldLayoutId id="2147483826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itchFamily="18" charset="-127"/>
          <a:ea typeface="함초롬바탕" pitchFamily="18" charset="-127"/>
          <a:cs typeface="함초롬바탕" pitchFamily="18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itchFamily="18" charset="-127"/>
          <a:ea typeface="함초롬바탕" pitchFamily="18" charset="-127"/>
          <a:cs typeface="함초롬바탕" pitchFamily="18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itchFamily="18" charset="-127"/>
          <a:ea typeface="함초롬바탕" pitchFamily="18" charset="-127"/>
          <a:cs typeface="함초롬바탕" pitchFamily="18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함초롬바탕" pitchFamily="18" charset="-127"/>
          <a:ea typeface="함초롬바탕" pitchFamily="18" charset="-127"/>
          <a:cs typeface="함초롬바탕" pitchFamily="18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함초롬바탕" panose="02030604000101010101" pitchFamily="18" charset="-127"/>
          <a:ea typeface="함초롬바탕" panose="02030604000101010101" pitchFamily="18" charset="-127"/>
          <a:cs typeface="함초롬바탕" panose="02030604000101010101" pitchFamily="18" charset="-127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15" descr="main_s_000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Text Box 6"/>
          <p:cNvSpPr txBox="1">
            <a:spLocks noChangeArrowheads="1"/>
          </p:cNvSpPr>
          <p:nvPr/>
        </p:nvSpPr>
        <p:spPr bwMode="auto">
          <a:xfrm>
            <a:off x="304800" y="1152525"/>
            <a:ext cx="8587680" cy="1794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함초롬바탕" pitchFamily="18" charset="-127"/>
                <a:ea typeface="함초롬바탕" pitchFamily="18" charset="-127"/>
                <a:cs typeface="함초롬바탕" pitchFamily="18" charset="-127"/>
              </a:defRPr>
            </a:lvl9pPr>
          </a:lstStyle>
          <a:p>
            <a:pPr eaLnBrk="1" latinLnBrk="1" hangingPunct="1">
              <a:lnSpc>
                <a:spcPct val="120000"/>
              </a:lnSpc>
              <a:spcBef>
                <a:spcPts val="600"/>
              </a:spcBef>
              <a:buFontTx/>
              <a:buNone/>
              <a:defRPr/>
            </a:pPr>
            <a:r>
              <a:rPr lang="en-US" altLang="ko-KR" sz="4400" dirty="0" smtClean="0">
                <a:solidFill>
                  <a:srgbClr val="BC71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HY견고딕" panose="02030600000101010101" pitchFamily="18" charset="-127"/>
              </a:rPr>
              <a:t>Chapter 8. </a:t>
            </a:r>
          </a:p>
          <a:p>
            <a:pPr lvl="1" eaLnBrk="1" latinLnBrk="1" hangingPunct="1">
              <a:lnSpc>
                <a:spcPct val="120000"/>
              </a:lnSpc>
              <a:spcBef>
                <a:spcPts val="600"/>
              </a:spcBef>
              <a:buFontTx/>
              <a:buNone/>
              <a:defRPr/>
            </a:pPr>
            <a:r>
              <a:rPr lang="ko-KR" altLang="en-US" sz="4400" dirty="0" smtClean="0">
                <a:solidFill>
                  <a:srgbClr val="BC712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Y견고딕" panose="02030600000101010101" pitchFamily="18" charset="-127"/>
                <a:ea typeface="HY견고딕" panose="02030600000101010101" pitchFamily="18" charset="-127"/>
              </a:rPr>
              <a:t>프로그램의 기본 구조</a:t>
            </a:r>
            <a:endParaRPr lang="en-US" altLang="ko-KR" sz="44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1800" dirty="0" err="1" smtClean="0"/>
              <a:t>아트멜</a:t>
            </a:r>
            <a:r>
              <a:rPr lang="ko-KR" altLang="en-US" sz="1800" dirty="0" smtClean="0"/>
              <a:t> 스튜디오 설치 </a:t>
            </a:r>
            <a:r>
              <a:rPr lang="en-US" altLang="ko-KR" sz="1800" dirty="0" smtClean="0"/>
              <a:t>: </a:t>
            </a:r>
            <a:r>
              <a:rPr lang="ko-KR" altLang="en-US" sz="1800" dirty="0" smtClean="0"/>
              <a:t>고급 기법 활용을 위해 필요</a:t>
            </a:r>
            <a:endParaRPr lang="en-US" altLang="ko-KR" sz="1800" dirty="0" smtClean="0"/>
          </a:p>
          <a:p>
            <a:endParaRPr lang="en-US" altLang="ko-KR" sz="1800" dirty="0" smtClean="0"/>
          </a:p>
          <a:p>
            <a:r>
              <a:rPr lang="ko-KR" altLang="en-US" sz="1800" dirty="0" err="1" smtClean="0"/>
              <a:t>아두이노</a:t>
            </a:r>
            <a:r>
              <a:rPr lang="ko-KR" altLang="en-US" sz="1800" dirty="0" smtClean="0"/>
              <a:t> </a:t>
            </a:r>
            <a:r>
              <a:rPr lang="ko-KR" altLang="en-US" sz="1800" dirty="0" err="1" smtClean="0"/>
              <a:t>우노</a:t>
            </a:r>
            <a:r>
              <a:rPr lang="ko-KR" altLang="en-US" sz="1800" dirty="0" smtClean="0"/>
              <a:t> 보드</a:t>
            </a:r>
            <a:endParaRPr lang="en-US" altLang="ko-KR" sz="1800" dirty="0" smtClean="0"/>
          </a:p>
          <a:p>
            <a:pPr lvl="1"/>
            <a:r>
              <a:rPr lang="ko-KR" altLang="en-US" sz="1800" dirty="0" smtClean="0"/>
              <a:t>최소한 하나의 </a:t>
            </a:r>
            <a:r>
              <a:rPr lang="ko-KR" altLang="en-US" sz="1800" dirty="0" err="1" smtClean="0"/>
              <a:t>아두이노</a:t>
            </a:r>
            <a:r>
              <a:rPr lang="ko-KR" altLang="en-US" sz="1800" dirty="0" smtClean="0"/>
              <a:t> </a:t>
            </a:r>
            <a:r>
              <a:rPr lang="ko-KR" altLang="en-US" sz="1800" dirty="0" err="1" smtClean="0"/>
              <a:t>우노</a:t>
            </a:r>
            <a:r>
              <a:rPr lang="ko-KR" altLang="en-US" sz="1800" dirty="0" smtClean="0"/>
              <a:t> 보드 필요</a:t>
            </a:r>
            <a:endParaRPr lang="en-US" altLang="ko-KR" sz="1800" dirty="0" smtClean="0"/>
          </a:p>
          <a:p>
            <a:pPr lvl="1"/>
            <a:r>
              <a:rPr lang="ko-KR" altLang="en-US" sz="1800" dirty="0" smtClean="0"/>
              <a:t>기본 회로로 구성된 </a:t>
            </a:r>
            <a:r>
              <a:rPr lang="ko-KR" altLang="en-US" sz="1800" dirty="0" err="1" smtClean="0"/>
              <a:t>브레드</a:t>
            </a:r>
            <a:r>
              <a:rPr lang="ko-KR" altLang="en-US" sz="1800" dirty="0" smtClean="0"/>
              <a:t> 보드로 대체 가능하지만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기본 회로 사용 시에는 별도의 시리얼 방식 업로드 필요</a:t>
            </a:r>
            <a:endParaRPr lang="en-US" altLang="ko-KR" sz="1800" dirty="0" smtClean="0"/>
          </a:p>
          <a:p>
            <a:endParaRPr lang="en-US" altLang="ko-KR" sz="1800" dirty="0" smtClean="0"/>
          </a:p>
          <a:p>
            <a:r>
              <a:rPr lang="ko-KR" altLang="en-US" sz="1800" dirty="0" smtClean="0"/>
              <a:t>기본 회로로 구성된 </a:t>
            </a:r>
            <a:r>
              <a:rPr lang="ko-KR" altLang="en-US" sz="1800" dirty="0" err="1" smtClean="0"/>
              <a:t>브레드</a:t>
            </a:r>
            <a:r>
              <a:rPr lang="ko-KR" altLang="en-US" sz="1800" dirty="0" smtClean="0"/>
              <a:t> 보드</a:t>
            </a:r>
            <a:endParaRPr lang="en-US" altLang="ko-KR" sz="1800" dirty="0" smtClean="0"/>
          </a:p>
          <a:p>
            <a:pPr lvl="1"/>
            <a:r>
              <a:rPr lang="ko-KR" altLang="en-US" sz="1800" dirty="0" err="1" smtClean="0"/>
              <a:t>마이크로컨트롤러</a:t>
            </a:r>
            <a:r>
              <a:rPr lang="ko-KR" altLang="en-US" sz="1800" dirty="0" err="1"/>
              <a:t>에</a:t>
            </a:r>
            <a:r>
              <a:rPr lang="ko-KR" altLang="en-US" sz="1800" dirty="0" smtClean="0"/>
              <a:t> </a:t>
            </a:r>
            <a:r>
              <a:rPr lang="ko-KR" altLang="en-US" sz="1800" dirty="0" smtClean="0"/>
              <a:t>대한 이해도를 높이기 위해 추천</a:t>
            </a:r>
            <a:endParaRPr lang="en-US" altLang="ko-KR" sz="1800" dirty="0" smtClean="0"/>
          </a:p>
          <a:p>
            <a:endParaRPr lang="en-US" altLang="ko-KR" sz="1800" dirty="0" smtClean="0"/>
          </a:p>
          <a:p>
            <a:r>
              <a:rPr lang="en-US" altLang="ko-KR" sz="1800" dirty="0" smtClean="0"/>
              <a:t>AVRDUDE </a:t>
            </a:r>
            <a:r>
              <a:rPr lang="ko-KR" altLang="en-US" sz="1800" dirty="0" smtClean="0"/>
              <a:t>설정 </a:t>
            </a:r>
            <a:r>
              <a:rPr lang="en-US" altLang="ko-KR" sz="1800" dirty="0" smtClean="0"/>
              <a:t>: </a:t>
            </a:r>
            <a:r>
              <a:rPr lang="ko-KR" altLang="en-US" sz="1800" dirty="0" smtClean="0"/>
              <a:t>업로드를 위해 필요</a:t>
            </a:r>
            <a:endParaRPr lang="en-US" altLang="ko-KR" sz="1800" dirty="0" smtClean="0"/>
          </a:p>
          <a:p>
            <a:endParaRPr lang="en-US" altLang="ko-KR" sz="1800" dirty="0" smtClean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확인 사항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3152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제목 2"/>
          <p:cNvSpPr>
            <a:spLocks noGrp="1"/>
          </p:cNvSpPr>
          <p:nvPr>
            <p:ph type="title"/>
          </p:nvPr>
        </p:nvSpPr>
        <p:spPr>
          <a:xfrm>
            <a:off x="457200" y="290513"/>
            <a:ext cx="6491288" cy="617537"/>
          </a:xfrm>
        </p:spPr>
        <p:txBody>
          <a:bodyPr/>
          <a:lstStyle/>
          <a:p>
            <a:r>
              <a:rPr lang="en-US" altLang="ko-KR" dirty="0" smtClean="0"/>
              <a:t>C </a:t>
            </a:r>
            <a:r>
              <a:rPr lang="ko-KR" altLang="en-US" dirty="0" smtClean="0"/>
              <a:t>스타일 </a:t>
            </a:r>
            <a:r>
              <a:rPr lang="ko-KR" altLang="en-US" dirty="0" err="1" smtClean="0"/>
              <a:t>블링크</a:t>
            </a:r>
            <a:endParaRPr lang="ko-KR" altLang="en-US" dirty="0" smtClean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3568" y="1844824"/>
            <a:ext cx="7800000" cy="4116667"/>
          </a:xfrm>
          <a:prstGeom prst="rect">
            <a:avLst/>
          </a:prstGeom>
        </p:spPr>
      </p:pic>
      <p:pic>
        <p:nvPicPr>
          <p:cNvPr id="5" name="내용 개체 틀 4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275856" y="1700808"/>
            <a:ext cx="5851594" cy="4104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 smtClean="0"/>
              <a:t>전처리 부분</a:t>
            </a:r>
            <a:endParaRPr lang="en-US" altLang="ko-KR" sz="2000" dirty="0" smtClean="0"/>
          </a:p>
          <a:p>
            <a:pPr lvl="1"/>
            <a:r>
              <a:rPr lang="en-US" altLang="ko-KR" sz="2000" dirty="0" smtClean="0"/>
              <a:t>#define</a:t>
            </a:r>
            <a:r>
              <a:rPr lang="ko-KR" altLang="en-US" sz="2000" dirty="0" smtClean="0"/>
              <a:t> </a:t>
            </a:r>
            <a:r>
              <a:rPr lang="en-US" altLang="ko-KR" sz="2000" dirty="0" smtClean="0"/>
              <a:t>F_CPU 16000000L // </a:t>
            </a:r>
            <a:r>
              <a:rPr lang="ko-KR" altLang="en-US" sz="2000" dirty="0" err="1" smtClean="0"/>
              <a:t>클록</a:t>
            </a:r>
            <a:r>
              <a:rPr lang="ko-KR" altLang="en-US" sz="2000" dirty="0" smtClean="0"/>
              <a:t> 상수 설정</a:t>
            </a:r>
            <a:endParaRPr lang="en-US" altLang="ko-KR" sz="2000" dirty="0" smtClean="0"/>
          </a:p>
          <a:p>
            <a:pPr lvl="1"/>
            <a:r>
              <a:rPr lang="en-US" altLang="ko-KR" sz="2000" dirty="0" smtClean="0"/>
              <a:t>#include &lt;</a:t>
            </a:r>
            <a:r>
              <a:rPr lang="en-US" altLang="ko-KR" sz="2000" dirty="0" err="1" smtClean="0"/>
              <a:t>avr</a:t>
            </a:r>
            <a:r>
              <a:rPr lang="en-US" altLang="ko-KR" sz="2000" dirty="0" smtClean="0"/>
              <a:t>/</a:t>
            </a:r>
            <a:r>
              <a:rPr lang="en-US" altLang="ko-KR" sz="2000" dirty="0" err="1" smtClean="0"/>
              <a:t>io.h</a:t>
            </a:r>
            <a:r>
              <a:rPr lang="en-US" altLang="ko-KR" sz="2000" dirty="0" smtClean="0"/>
              <a:t>&gt; // </a:t>
            </a:r>
            <a:r>
              <a:rPr lang="ko-KR" altLang="en-US" sz="2000" dirty="0" smtClean="0"/>
              <a:t>레지스터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이름 정의 포함</a:t>
            </a:r>
            <a:endParaRPr lang="en-US" altLang="ko-KR" sz="2000" dirty="0" smtClean="0"/>
          </a:p>
          <a:p>
            <a:pPr lvl="1"/>
            <a:r>
              <a:rPr lang="en-US" altLang="ko-KR" sz="2000" dirty="0" smtClean="0"/>
              <a:t>#include &lt;</a:t>
            </a:r>
            <a:r>
              <a:rPr lang="en-US" altLang="ko-KR" sz="2000" dirty="0" err="1" smtClean="0"/>
              <a:t>util</a:t>
            </a:r>
            <a:r>
              <a:rPr lang="en-US" altLang="ko-KR" sz="2000" dirty="0" smtClean="0"/>
              <a:t>/</a:t>
            </a:r>
            <a:r>
              <a:rPr lang="en-US" altLang="ko-KR" sz="2000" dirty="0" err="1" smtClean="0"/>
              <a:t>delay.h</a:t>
            </a:r>
            <a:r>
              <a:rPr lang="en-US" altLang="ko-KR" sz="2000" dirty="0" smtClean="0"/>
              <a:t>&gt; // </a:t>
            </a:r>
            <a:r>
              <a:rPr lang="ko-KR" altLang="en-US" sz="2000" dirty="0" smtClean="0"/>
              <a:t>시간 지연 함수 </a:t>
            </a:r>
            <a:r>
              <a:rPr lang="en-US" altLang="ko-KR" sz="2000" dirty="0" smtClean="0"/>
              <a:t>_</a:t>
            </a:r>
            <a:r>
              <a:rPr lang="en-US" altLang="ko-KR" sz="2000" dirty="0" err="1" smtClean="0"/>
              <a:t>delay_ms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원형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포함</a:t>
            </a:r>
            <a:endParaRPr lang="en-US" altLang="ko-KR" sz="2000" dirty="0" smtClean="0"/>
          </a:p>
          <a:p>
            <a:r>
              <a:rPr lang="en-US" altLang="ko-KR" sz="2000" dirty="0" smtClean="0"/>
              <a:t>main </a:t>
            </a:r>
            <a:r>
              <a:rPr lang="ko-KR" altLang="en-US" sz="2000" dirty="0" smtClean="0"/>
              <a:t>함수 부분</a:t>
            </a:r>
            <a:endParaRPr lang="en-US" altLang="ko-KR" sz="2000" dirty="0" smtClean="0"/>
          </a:p>
          <a:p>
            <a:pPr lvl="1"/>
            <a:r>
              <a:rPr lang="en-US" altLang="ko-KR" sz="2000" dirty="0" smtClean="0"/>
              <a:t>while </a:t>
            </a:r>
            <a:r>
              <a:rPr lang="ko-KR" altLang="en-US" sz="2000" dirty="0" smtClean="0"/>
              <a:t>이전 </a:t>
            </a:r>
            <a:r>
              <a:rPr lang="en-US" altLang="ko-KR" sz="2000" dirty="0" smtClean="0"/>
              <a:t>: </a:t>
            </a:r>
            <a:r>
              <a:rPr lang="ko-KR" altLang="en-US" sz="2000" dirty="0" smtClean="0"/>
              <a:t>초기화 작업</a:t>
            </a:r>
            <a:endParaRPr lang="en-US" altLang="ko-KR" sz="2000" dirty="0" smtClean="0"/>
          </a:p>
          <a:p>
            <a:pPr lvl="2"/>
            <a:r>
              <a:rPr lang="en-US" altLang="ko-KR" sz="1800" dirty="0" smtClean="0"/>
              <a:t>DDRB = 0x20; // 0b00100000 </a:t>
            </a:r>
            <a:r>
              <a:rPr lang="ko-KR" altLang="en-US" sz="1800" dirty="0" smtClean="0"/>
              <a:t>대치</a:t>
            </a:r>
            <a:r>
              <a:rPr lang="en-US" altLang="ko-KR" sz="1800" dirty="0" smtClean="0"/>
              <a:t>,LED</a:t>
            </a:r>
            <a:r>
              <a:rPr lang="ko-KR" altLang="en-US" sz="1800" dirty="0" smtClean="0"/>
              <a:t>가 연결된 핀을 출력으로 설정</a:t>
            </a:r>
            <a:endParaRPr lang="en-US" altLang="ko-KR" sz="1800" dirty="0" smtClean="0"/>
          </a:p>
          <a:p>
            <a:pPr lvl="1"/>
            <a:r>
              <a:rPr lang="en-US" altLang="ko-KR" sz="2000" dirty="0" smtClean="0"/>
              <a:t>while </a:t>
            </a:r>
            <a:r>
              <a:rPr lang="ko-KR" altLang="en-US" sz="2000" dirty="0" smtClean="0"/>
              <a:t>문 </a:t>
            </a:r>
            <a:r>
              <a:rPr lang="en-US" altLang="ko-KR" sz="2000" dirty="0" smtClean="0"/>
              <a:t>: </a:t>
            </a:r>
            <a:r>
              <a:rPr lang="ko-KR" altLang="en-US" sz="2000" dirty="0" smtClean="0"/>
              <a:t>무한 루프</a:t>
            </a:r>
            <a:endParaRPr lang="en-US" altLang="ko-KR" sz="2000" dirty="0" smtClean="0"/>
          </a:p>
          <a:p>
            <a:pPr lvl="2"/>
            <a:r>
              <a:rPr lang="en-US" altLang="ko-KR" sz="1800" dirty="0" smtClean="0"/>
              <a:t>PORTB = 0x00; // LED</a:t>
            </a:r>
            <a:r>
              <a:rPr lang="ko-KR" altLang="en-US" sz="1800" dirty="0" smtClean="0"/>
              <a:t>가 연결된 핀에 데이터 출력</a:t>
            </a:r>
            <a:endParaRPr lang="en-US" altLang="ko-KR" sz="1800" dirty="0" smtClean="0"/>
          </a:p>
          <a:p>
            <a:pPr lvl="2"/>
            <a:r>
              <a:rPr lang="en-US" altLang="ko-KR" sz="1800" dirty="0"/>
              <a:t>PORTB = </a:t>
            </a:r>
            <a:r>
              <a:rPr lang="en-US" altLang="ko-KR" sz="1800" dirty="0" smtClean="0"/>
              <a:t>0x20</a:t>
            </a:r>
            <a:r>
              <a:rPr lang="en-US" altLang="ko-KR" sz="1800" dirty="0"/>
              <a:t>; // LED</a:t>
            </a:r>
            <a:r>
              <a:rPr lang="ko-KR" altLang="en-US" sz="1800" dirty="0"/>
              <a:t>가 연결된 핀에 데이터 출력</a:t>
            </a:r>
            <a:endParaRPr lang="en-US" altLang="ko-KR" sz="1800" dirty="0"/>
          </a:p>
          <a:p>
            <a:pPr lvl="2"/>
            <a:r>
              <a:rPr lang="en-US" altLang="ko-KR" sz="1800" dirty="0" smtClean="0"/>
              <a:t>_</a:t>
            </a:r>
            <a:r>
              <a:rPr lang="en-US" altLang="ko-KR" sz="1800" dirty="0" err="1" smtClean="0"/>
              <a:t>delay_ms</a:t>
            </a:r>
            <a:r>
              <a:rPr lang="en-US" altLang="ko-KR" sz="1800" dirty="0" smtClean="0"/>
              <a:t>(1000); // </a:t>
            </a:r>
            <a:r>
              <a:rPr lang="ko-KR" altLang="en-US" sz="1800" dirty="0" err="1" smtClean="0"/>
              <a:t>밀리초</a:t>
            </a:r>
            <a:r>
              <a:rPr lang="ko-KR" altLang="en-US" sz="1800" dirty="0" smtClean="0"/>
              <a:t> 단위의 시간 지연</a:t>
            </a:r>
            <a:endParaRPr lang="en-US" altLang="ko-KR" sz="1800" dirty="0" smtClean="0"/>
          </a:p>
          <a:p>
            <a:pPr lvl="1"/>
            <a:r>
              <a:rPr lang="en-US" altLang="ko-KR" sz="2000" dirty="0" smtClean="0"/>
              <a:t>return 1; // C </a:t>
            </a:r>
            <a:r>
              <a:rPr lang="ko-KR" altLang="en-US" sz="2000" dirty="0" smtClean="0"/>
              <a:t>언어의 관례에 따라 작성</a:t>
            </a:r>
            <a:r>
              <a:rPr lang="en-US" altLang="ko-KR" sz="2000" dirty="0" smtClean="0"/>
              <a:t>. </a:t>
            </a:r>
            <a:r>
              <a:rPr lang="ko-KR" altLang="en-US" sz="2000" dirty="0" smtClean="0"/>
              <a:t>실제로 실행되지 않음</a:t>
            </a:r>
            <a:endParaRPr lang="en-US" altLang="ko-KR" sz="2000" dirty="0" smtClean="0"/>
          </a:p>
          <a:p>
            <a:pPr lvl="2"/>
            <a:endParaRPr lang="en-US" altLang="ko-KR" sz="1800" dirty="0" smtClean="0"/>
          </a:p>
          <a:p>
            <a:endParaRPr lang="ko-KR" altLang="en-US" sz="20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Blink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6252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4240" y="1844824"/>
            <a:ext cx="3817143" cy="3958095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 </a:t>
            </a:r>
            <a:r>
              <a:rPr lang="ko-KR" altLang="en-US" dirty="0" smtClean="0"/>
              <a:t>스타일 프로그램의 구조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4760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9832" y="1628800"/>
            <a:ext cx="3848907" cy="4355000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13</a:t>
            </a:r>
            <a:r>
              <a:rPr lang="ko-KR" altLang="en-US" dirty="0" smtClean="0"/>
              <a:t>번</a:t>
            </a:r>
            <a:r>
              <a:rPr lang="en-US" altLang="ko-KR" dirty="0" smtClean="0"/>
              <a:t>(PB5)</a:t>
            </a:r>
            <a:r>
              <a:rPr lang="ko-KR" altLang="en-US" dirty="0" smtClean="0"/>
              <a:t> 핀에 </a:t>
            </a:r>
            <a:r>
              <a:rPr lang="en-US" altLang="ko-KR" dirty="0" smtClean="0"/>
              <a:t>LED </a:t>
            </a:r>
            <a:r>
              <a:rPr lang="ko-KR" altLang="en-US" dirty="0" smtClean="0"/>
              <a:t>연결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13884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 smtClean="0"/>
              <a:t>Data Direction Register (x = B, C, D)</a:t>
            </a:r>
          </a:p>
          <a:p>
            <a:r>
              <a:rPr lang="en-US" altLang="ko-KR" sz="2000" dirty="0" smtClean="0"/>
              <a:t>8</a:t>
            </a:r>
            <a:r>
              <a:rPr lang="ko-KR" altLang="en-US" sz="2000" dirty="0" smtClean="0"/>
              <a:t>개의 핀을 묶은 포트 단위의 입출력 설정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비트 별로 각 핀의 입출력 제어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비트 값이 </a:t>
            </a:r>
            <a:r>
              <a:rPr lang="en-US" altLang="ko-KR" sz="2000" dirty="0" smtClean="0"/>
              <a:t>0</a:t>
            </a:r>
            <a:r>
              <a:rPr lang="ko-KR" altLang="en-US" sz="2000" dirty="0" smtClean="0"/>
              <a:t>이면 입력</a:t>
            </a:r>
            <a:r>
              <a:rPr lang="en-US" altLang="ko-KR" sz="2000" dirty="0" smtClean="0"/>
              <a:t>, 1</a:t>
            </a:r>
            <a:r>
              <a:rPr lang="ko-KR" altLang="en-US" sz="2000" dirty="0" smtClean="0"/>
              <a:t>이면 출력으로 설정됨을 의미</a:t>
            </a:r>
            <a:endParaRPr lang="en-US" altLang="ko-KR" sz="2000" dirty="0" smtClean="0"/>
          </a:p>
          <a:p>
            <a:pPr lvl="2"/>
            <a:r>
              <a:rPr lang="ko-KR" altLang="en-US" sz="1800" dirty="0" smtClean="0"/>
              <a:t>입력의 대표적인 예는 스위치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출력의 대표적인 예는 </a:t>
            </a:r>
            <a:r>
              <a:rPr lang="en-US" altLang="ko-KR" sz="1800" dirty="0" smtClean="0"/>
              <a:t>LED</a:t>
            </a:r>
          </a:p>
          <a:p>
            <a:r>
              <a:rPr lang="en-US" altLang="ko-KR" sz="2000" dirty="0" smtClean="0"/>
              <a:t>DDRB, DDRC, DDRD </a:t>
            </a:r>
            <a:r>
              <a:rPr lang="ko-KR" altLang="en-US" sz="2000" dirty="0" smtClean="0"/>
              <a:t>등의 레지스터 이름은 </a:t>
            </a:r>
            <a:r>
              <a:rPr lang="en-US" altLang="ko-KR" sz="2000" dirty="0" err="1" smtClean="0"/>
              <a:t>io.h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파일에 정의되어 있음</a:t>
            </a:r>
            <a:endParaRPr lang="en-US" altLang="ko-KR" sz="2000" dirty="0" smtClean="0"/>
          </a:p>
          <a:p>
            <a:pPr lvl="1"/>
            <a:r>
              <a:rPr lang="ko-KR" altLang="en-US" sz="1800" dirty="0" smtClean="0"/>
              <a:t>미리 정의된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특수 목적용으로 사용되는 변수와 동일</a:t>
            </a:r>
            <a:endParaRPr lang="ko-KR" altLang="en-US" sz="18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DDRx</a:t>
            </a:r>
            <a:r>
              <a:rPr lang="en-US" altLang="ko-KR" dirty="0" smtClean="0"/>
              <a:t> </a:t>
            </a:r>
            <a:r>
              <a:rPr lang="ko-KR" altLang="en-US" dirty="0" smtClean="0"/>
              <a:t>레지스터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입출력</a:t>
            </a:r>
            <a:r>
              <a:rPr lang="en-US" altLang="ko-KR" dirty="0" smtClean="0"/>
              <a:t> </a:t>
            </a:r>
            <a:r>
              <a:rPr lang="ko-KR" altLang="en-US" dirty="0" smtClean="0"/>
              <a:t>설정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4797152"/>
            <a:ext cx="7790000" cy="128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615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 smtClean="0"/>
              <a:t>Port </a:t>
            </a:r>
            <a:r>
              <a:rPr lang="en-US" altLang="ko-KR" sz="2000" dirty="0"/>
              <a:t>Register (x = B, C, D)</a:t>
            </a:r>
          </a:p>
          <a:p>
            <a:r>
              <a:rPr lang="en-US" altLang="ko-KR" sz="2000" dirty="0"/>
              <a:t>8</a:t>
            </a:r>
            <a:r>
              <a:rPr lang="ko-KR" altLang="en-US" sz="2000" dirty="0"/>
              <a:t>개의 핀을 묶은 포트 단위의 </a:t>
            </a:r>
            <a:r>
              <a:rPr lang="ko-KR" altLang="en-US" sz="2000" dirty="0" smtClean="0"/>
              <a:t>데이터 출력</a:t>
            </a:r>
            <a:endParaRPr lang="en-US" altLang="ko-KR" sz="2000" dirty="0"/>
          </a:p>
          <a:p>
            <a:pPr lvl="1"/>
            <a:r>
              <a:rPr lang="ko-KR" altLang="en-US" sz="2000" dirty="0"/>
              <a:t>비트 별로 각 핀의 </a:t>
            </a:r>
            <a:r>
              <a:rPr lang="ko-KR" altLang="en-US" sz="2000" dirty="0" smtClean="0"/>
              <a:t>출력 </a:t>
            </a:r>
            <a:r>
              <a:rPr lang="ko-KR" altLang="en-US" sz="2000" dirty="0"/>
              <a:t>제어</a:t>
            </a:r>
            <a:endParaRPr lang="en-US" altLang="ko-KR" sz="2000" dirty="0"/>
          </a:p>
          <a:p>
            <a:pPr lvl="1"/>
            <a:r>
              <a:rPr lang="ko-KR" altLang="en-US" sz="2000" dirty="0"/>
              <a:t>비트 값이 </a:t>
            </a:r>
            <a:r>
              <a:rPr lang="en-US" altLang="ko-KR" sz="2000" dirty="0"/>
              <a:t>0</a:t>
            </a:r>
            <a:r>
              <a:rPr lang="ko-KR" altLang="en-US" sz="2000" dirty="0"/>
              <a:t>이면 </a:t>
            </a:r>
            <a:r>
              <a:rPr lang="en-US" altLang="ko-KR" sz="2000" dirty="0" smtClean="0"/>
              <a:t>GND, 1</a:t>
            </a:r>
            <a:r>
              <a:rPr lang="ko-KR" altLang="en-US" sz="2000" dirty="0"/>
              <a:t>이면 </a:t>
            </a:r>
            <a:r>
              <a:rPr lang="en-US" altLang="ko-KR" sz="2000" dirty="0" smtClean="0"/>
              <a:t>VCC </a:t>
            </a:r>
            <a:r>
              <a:rPr lang="ko-KR" altLang="en-US" sz="2000" dirty="0" smtClean="0"/>
              <a:t>출력</a:t>
            </a:r>
            <a:endParaRPr lang="en-US" altLang="ko-KR" sz="2000" dirty="0"/>
          </a:p>
          <a:p>
            <a:pPr lvl="2"/>
            <a:r>
              <a:rPr lang="en-US" altLang="ko-KR" sz="1800" dirty="0" smtClean="0"/>
              <a:t>0</a:t>
            </a:r>
            <a:r>
              <a:rPr lang="ko-KR" altLang="en-US" sz="1800" dirty="0" smtClean="0"/>
              <a:t>을</a:t>
            </a:r>
            <a:r>
              <a:rPr lang="en-US" altLang="ko-KR" sz="1800" dirty="0" smtClean="0"/>
              <a:t> </a:t>
            </a:r>
            <a:r>
              <a:rPr lang="ko-KR" altLang="en-US" sz="1800" dirty="0" smtClean="0"/>
              <a:t>출력하면 </a:t>
            </a:r>
            <a:r>
              <a:rPr lang="en-US" altLang="ko-KR" sz="1800" dirty="0" smtClean="0"/>
              <a:t>LED</a:t>
            </a:r>
            <a:r>
              <a:rPr lang="ko-KR" altLang="en-US" sz="1800" dirty="0" smtClean="0"/>
              <a:t>는 꺼지고</a:t>
            </a:r>
            <a:r>
              <a:rPr lang="en-US" altLang="ko-KR" sz="1800" dirty="0" smtClean="0"/>
              <a:t>, 1</a:t>
            </a:r>
            <a:r>
              <a:rPr lang="ko-KR" altLang="en-US" sz="1800" dirty="0" smtClean="0"/>
              <a:t>을 출력하는 </a:t>
            </a:r>
            <a:r>
              <a:rPr lang="en-US" altLang="ko-KR" sz="1800" dirty="0" smtClean="0"/>
              <a:t>LED</a:t>
            </a:r>
            <a:r>
              <a:rPr lang="ko-KR" altLang="en-US" sz="1800" dirty="0" smtClean="0"/>
              <a:t>는 켜짐</a:t>
            </a:r>
            <a:endParaRPr lang="ko-KR" altLang="en-US" sz="1800" dirty="0"/>
          </a:p>
          <a:p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PORTx</a:t>
            </a:r>
            <a:r>
              <a:rPr lang="en-US" altLang="ko-KR" dirty="0" smtClean="0"/>
              <a:t> </a:t>
            </a:r>
            <a:r>
              <a:rPr lang="ko-KR" altLang="en-US" dirty="0"/>
              <a:t>레지스터 </a:t>
            </a:r>
            <a:r>
              <a:rPr lang="en-US" altLang="ko-KR" dirty="0"/>
              <a:t>– </a:t>
            </a:r>
            <a:r>
              <a:rPr lang="ko-KR" altLang="en-US" dirty="0" smtClean="0"/>
              <a:t>데이터 출력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67" y="3717032"/>
            <a:ext cx="7796666" cy="13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921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 smtClean="0"/>
              <a:t>Port Input Register (x = B, C, D)</a:t>
            </a:r>
          </a:p>
          <a:p>
            <a:r>
              <a:rPr lang="ko-KR" altLang="en-US" sz="2000" dirty="0" smtClean="0"/>
              <a:t>해당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핀에 가해지는 값이 저장되는 레지스터</a:t>
            </a:r>
            <a:endParaRPr lang="en-US" altLang="ko-KR" sz="2000" dirty="0" smtClean="0"/>
          </a:p>
          <a:p>
            <a:pPr lvl="1"/>
            <a:r>
              <a:rPr lang="en-US" altLang="ko-KR" sz="2000" dirty="0" smtClean="0"/>
              <a:t>0</a:t>
            </a:r>
            <a:r>
              <a:rPr lang="ko-KR" altLang="en-US" sz="2000" dirty="0" smtClean="0"/>
              <a:t>이면 </a:t>
            </a:r>
            <a:r>
              <a:rPr lang="en-US" altLang="ko-KR" sz="2000" dirty="0" smtClean="0"/>
              <a:t>GND, 1</a:t>
            </a:r>
            <a:r>
              <a:rPr lang="ko-KR" altLang="en-US" sz="2000" dirty="0" smtClean="0"/>
              <a:t>이면 </a:t>
            </a:r>
            <a:r>
              <a:rPr lang="en-US" altLang="ko-KR" sz="2000" dirty="0" smtClean="0"/>
              <a:t>VCC</a:t>
            </a:r>
            <a:r>
              <a:rPr lang="ko-KR" altLang="en-US" sz="2000" dirty="0" smtClean="0"/>
              <a:t>가 가해지는 상태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해당 핀의 </a:t>
            </a:r>
            <a:r>
              <a:rPr lang="en-US" altLang="ko-KR" sz="2000" dirty="0" err="1" smtClean="0"/>
              <a:t>DDRx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레지스터 값이 </a:t>
            </a:r>
            <a:r>
              <a:rPr lang="en-US" altLang="ko-KR" sz="2000" dirty="0" smtClean="0"/>
              <a:t>0(</a:t>
            </a:r>
            <a:r>
              <a:rPr lang="ko-KR" altLang="en-US" sz="2000" dirty="0" smtClean="0"/>
              <a:t>즉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입력</a:t>
            </a:r>
            <a:r>
              <a:rPr lang="en-US" altLang="ko-KR" sz="2000" dirty="0" smtClean="0"/>
              <a:t>)</a:t>
            </a:r>
            <a:r>
              <a:rPr lang="ko-KR" altLang="en-US" sz="2000" dirty="0" smtClean="0"/>
              <a:t>으로</a:t>
            </a:r>
            <a:r>
              <a:rPr lang="en-US" altLang="ko-KR" sz="2000" dirty="0" smtClean="0"/>
              <a:t> </a:t>
            </a:r>
            <a:r>
              <a:rPr lang="ko-KR" altLang="en-US" sz="2000" dirty="0" smtClean="0"/>
              <a:t>설정되어 있어야 함</a:t>
            </a:r>
            <a:endParaRPr lang="en-US" altLang="ko-KR" sz="2000" dirty="0" smtClean="0"/>
          </a:p>
          <a:p>
            <a:pPr lvl="1"/>
            <a:endParaRPr lang="ko-KR" altLang="en-US" sz="20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PINx</a:t>
            </a:r>
            <a:r>
              <a:rPr lang="en-US" altLang="ko-KR" dirty="0" smtClean="0"/>
              <a:t> </a:t>
            </a:r>
            <a:r>
              <a:rPr lang="ko-KR" altLang="en-US" dirty="0" smtClean="0"/>
              <a:t>레지스터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데이터 입력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666" y="3645024"/>
            <a:ext cx="7826667" cy="130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289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0669" y="1916832"/>
            <a:ext cx="6364286" cy="3844286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데이터 입출력 레지스터 구조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237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아두이노</a:t>
            </a:r>
            <a:r>
              <a:rPr lang="ko-KR" altLang="en-US" dirty="0" smtClean="0"/>
              <a:t> 스타일 </a:t>
            </a:r>
            <a:r>
              <a:rPr lang="ko-KR" altLang="en-US" dirty="0" err="1" smtClean="0"/>
              <a:t>블링크</a:t>
            </a:r>
            <a:endParaRPr lang="ko-KR" altLang="en-US" dirty="0"/>
          </a:p>
        </p:txBody>
      </p:sp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z="1400" dirty="0"/>
              <a:t>void setup() {</a:t>
            </a:r>
          </a:p>
          <a:p>
            <a:pPr marL="0" indent="0">
              <a:buNone/>
            </a:pPr>
            <a:r>
              <a:rPr lang="en-US" altLang="ko-KR" sz="1400" dirty="0"/>
              <a:t>  // initialize digital pin LED_BUILTIN as an output.</a:t>
            </a:r>
          </a:p>
          <a:p>
            <a:pPr marL="0" indent="0">
              <a:buNone/>
            </a:pPr>
            <a:r>
              <a:rPr lang="en-US" altLang="ko-KR" sz="1400" dirty="0"/>
              <a:t>  </a:t>
            </a:r>
            <a:r>
              <a:rPr lang="en-US" altLang="ko-KR" sz="1400" dirty="0" err="1"/>
              <a:t>pinMode</a:t>
            </a:r>
            <a:r>
              <a:rPr lang="en-US" altLang="ko-KR" sz="1400" dirty="0"/>
              <a:t>(LED_BUILTIN, OUTPUT);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// the loop function runs over and over again forever</a:t>
            </a:r>
          </a:p>
          <a:p>
            <a:pPr marL="0" indent="0">
              <a:buNone/>
            </a:pPr>
            <a:r>
              <a:rPr lang="en-US" altLang="ko-KR" sz="1400" dirty="0"/>
              <a:t>void loop() {</a:t>
            </a:r>
          </a:p>
          <a:p>
            <a:pPr marL="0" indent="0">
              <a:buNone/>
            </a:pPr>
            <a:r>
              <a:rPr lang="en-US" altLang="ko-KR" sz="1400" dirty="0"/>
              <a:t>  </a:t>
            </a:r>
            <a:r>
              <a:rPr lang="en-US" altLang="ko-KR" sz="1400" dirty="0" err="1"/>
              <a:t>digitalWrite</a:t>
            </a:r>
            <a:r>
              <a:rPr lang="en-US" altLang="ko-KR" sz="1400" dirty="0"/>
              <a:t>(LED_BUILTIN, HIGH);   // turn the LED on (HIGH is the voltage level)</a:t>
            </a:r>
          </a:p>
          <a:p>
            <a:pPr marL="0" indent="0">
              <a:buNone/>
            </a:pPr>
            <a:r>
              <a:rPr lang="en-US" altLang="ko-KR" sz="1400" dirty="0"/>
              <a:t>  delay(1000);                       // wait for a second</a:t>
            </a:r>
          </a:p>
          <a:p>
            <a:pPr marL="0" indent="0">
              <a:buNone/>
            </a:pPr>
            <a:r>
              <a:rPr lang="en-US" altLang="ko-KR" sz="1400" dirty="0"/>
              <a:t>  </a:t>
            </a:r>
            <a:r>
              <a:rPr lang="en-US" altLang="ko-KR" sz="1400" dirty="0" err="1"/>
              <a:t>digitalWrite</a:t>
            </a:r>
            <a:r>
              <a:rPr lang="en-US" altLang="ko-KR" sz="1400" dirty="0"/>
              <a:t>(LED_BUILTIN, LOW);    // turn the LED off by making the voltage LOW</a:t>
            </a:r>
          </a:p>
          <a:p>
            <a:pPr marL="0" indent="0">
              <a:buNone/>
            </a:pPr>
            <a:r>
              <a:rPr lang="en-US" altLang="ko-KR" sz="1400" dirty="0"/>
              <a:t>  delay(1000);                       // wait for a second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99706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457200" y="1556792"/>
            <a:ext cx="8507288" cy="4824536"/>
          </a:xfrm>
        </p:spPr>
        <p:txBody>
          <a:bodyPr/>
          <a:lstStyle/>
          <a:p>
            <a:r>
              <a:rPr lang="en-US" altLang="ko-KR" dirty="0" smtClean="0"/>
              <a:t>setup</a:t>
            </a:r>
            <a:r>
              <a:rPr lang="ko-KR" altLang="en-US" dirty="0" smtClean="0"/>
              <a:t> 함수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초기화 부분</a:t>
            </a:r>
            <a:endParaRPr lang="en-US" altLang="ko-KR" dirty="0" smtClean="0"/>
          </a:p>
          <a:p>
            <a:pPr lvl="1"/>
            <a:r>
              <a:rPr lang="en-US" altLang="ko-KR" dirty="0"/>
              <a:t>C </a:t>
            </a:r>
            <a:r>
              <a:rPr lang="ko-KR" altLang="en-US" dirty="0"/>
              <a:t>스타일에서 </a:t>
            </a:r>
            <a:r>
              <a:rPr lang="en-US" altLang="ko-KR" dirty="0"/>
              <a:t>main </a:t>
            </a:r>
            <a:r>
              <a:rPr lang="ko-KR" altLang="en-US" dirty="0"/>
              <a:t>함수 내</a:t>
            </a:r>
            <a:r>
              <a:rPr lang="en-US" altLang="ko-KR" dirty="0"/>
              <a:t>, while </a:t>
            </a:r>
            <a:r>
              <a:rPr lang="ko-KR" altLang="en-US" dirty="0" smtClean="0"/>
              <a:t>루프 </a:t>
            </a:r>
            <a:r>
              <a:rPr lang="ko-KR" altLang="en-US" dirty="0"/>
              <a:t>이전 부분에 </a:t>
            </a:r>
            <a:r>
              <a:rPr lang="ko-KR" altLang="en-US" dirty="0" smtClean="0"/>
              <a:t>해당</a:t>
            </a:r>
            <a:endParaRPr lang="en-US" altLang="ko-KR" dirty="0" smtClean="0"/>
          </a:p>
          <a:p>
            <a:pPr lvl="2"/>
            <a:r>
              <a:rPr lang="en-US" altLang="ko-KR" dirty="0" err="1" smtClean="0"/>
              <a:t>pinMode</a:t>
            </a:r>
            <a:r>
              <a:rPr lang="en-US" altLang="ko-KR" dirty="0"/>
              <a:t>((</a:t>
            </a:r>
            <a:r>
              <a:rPr lang="en-US" altLang="ko-KR" dirty="0" smtClean="0"/>
              <a:t>LED_BUILTIN, OUTPUT); // </a:t>
            </a:r>
            <a:r>
              <a:rPr lang="ko-KR" altLang="en-US" dirty="0" smtClean="0"/>
              <a:t>출력으로 설정</a:t>
            </a:r>
            <a:r>
              <a:rPr lang="en-US" altLang="ko-KR" dirty="0" smtClean="0"/>
              <a:t>, DDRB</a:t>
            </a:r>
          </a:p>
          <a:p>
            <a:r>
              <a:rPr lang="en-US" altLang="ko-KR" dirty="0" smtClean="0"/>
              <a:t>loop </a:t>
            </a:r>
            <a:r>
              <a:rPr lang="ko-KR" altLang="en-US" dirty="0" smtClean="0"/>
              <a:t>함수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반복 부분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C </a:t>
            </a:r>
            <a:r>
              <a:rPr lang="ko-KR" altLang="en-US" dirty="0" smtClean="0"/>
              <a:t>스타일에서 </a:t>
            </a:r>
            <a:r>
              <a:rPr lang="en-US" altLang="ko-KR" dirty="0" smtClean="0"/>
              <a:t>main </a:t>
            </a:r>
            <a:r>
              <a:rPr lang="ko-KR" altLang="en-US" dirty="0" smtClean="0"/>
              <a:t>함수 내</a:t>
            </a:r>
            <a:r>
              <a:rPr lang="en-US" altLang="ko-KR" dirty="0" smtClean="0"/>
              <a:t>, while </a:t>
            </a:r>
            <a:r>
              <a:rPr lang="ko-KR" altLang="en-US" dirty="0" smtClean="0"/>
              <a:t>루프에 해당</a:t>
            </a:r>
            <a:endParaRPr lang="en-US" altLang="ko-KR" dirty="0" smtClean="0"/>
          </a:p>
          <a:p>
            <a:pPr lvl="2"/>
            <a:r>
              <a:rPr lang="en-US" altLang="ko-KR" dirty="0" err="1" smtClean="0"/>
              <a:t>digitalWrite</a:t>
            </a:r>
            <a:r>
              <a:rPr lang="en-US" altLang="ko-KR" dirty="0"/>
              <a:t>((LED_BUILTIN, </a:t>
            </a:r>
            <a:r>
              <a:rPr lang="en-US" altLang="ko-KR" dirty="0" smtClean="0"/>
              <a:t>HIGH); // VCC </a:t>
            </a:r>
            <a:r>
              <a:rPr lang="ko-KR" altLang="en-US" dirty="0" smtClean="0"/>
              <a:t>출력</a:t>
            </a:r>
            <a:r>
              <a:rPr lang="en-US" altLang="ko-KR" dirty="0" smtClean="0"/>
              <a:t>, PORTB</a:t>
            </a:r>
          </a:p>
          <a:p>
            <a:pPr lvl="2"/>
            <a:r>
              <a:rPr lang="en-US" altLang="ko-KR" dirty="0" smtClean="0"/>
              <a:t>delay(1000); // </a:t>
            </a:r>
            <a:r>
              <a:rPr lang="ko-KR" altLang="en-US" dirty="0" smtClean="0"/>
              <a:t>시간 지연 함수</a:t>
            </a:r>
            <a:r>
              <a:rPr lang="en-US" altLang="ko-KR" dirty="0" smtClean="0"/>
              <a:t>, _</a:t>
            </a:r>
            <a:r>
              <a:rPr lang="en-US" altLang="ko-KR" dirty="0" err="1" smtClean="0"/>
              <a:t>delay_ms</a:t>
            </a:r>
            <a:endParaRPr lang="en-US" altLang="ko-KR" dirty="0" smtClean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Blink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1122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아두이노</a:t>
            </a:r>
            <a:r>
              <a:rPr lang="en-US" altLang="ko-KR" dirty="0" smtClean="0"/>
              <a:t> </a:t>
            </a:r>
            <a:r>
              <a:rPr lang="ko-KR" altLang="en-US" dirty="0" smtClean="0"/>
              <a:t>스타일 프로그램의 구조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989708"/>
            <a:ext cx="3820952" cy="3809524"/>
          </a:xfrm>
          <a:prstGeom prst="rect">
            <a:avLst/>
          </a:prstGeom>
        </p:spPr>
      </p:pic>
      <p:pic>
        <p:nvPicPr>
          <p:cNvPr id="6" name="내용 개체 틀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36389" y="1989708"/>
            <a:ext cx="3673864" cy="380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182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데이터 입출력 함수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628800"/>
            <a:ext cx="6708572" cy="159714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3286412"/>
            <a:ext cx="6697143" cy="159428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4497" y="4941167"/>
            <a:ext cx="6694286" cy="136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440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5656" y="1916832"/>
            <a:ext cx="6317143" cy="3814286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</a:t>
            </a:r>
            <a:r>
              <a:rPr lang="ko-KR" altLang="en-US"/>
              <a:t>입출력 </a:t>
            </a:r>
            <a:r>
              <a:rPr lang="ko-KR" altLang="en-US" smtClean="0"/>
              <a:t>함수 </a:t>
            </a:r>
            <a:r>
              <a:rPr lang="ko-KR" altLang="en-US" dirty="0"/>
              <a:t>구조</a:t>
            </a:r>
          </a:p>
        </p:txBody>
      </p:sp>
    </p:spTree>
    <p:extLst>
      <p:ext uri="{BB962C8B-B14F-4D97-AF65-F5344CB8AC3E}">
        <p14:creationId xmlns:p14="http://schemas.microsoft.com/office/powerpoint/2010/main" val="2274382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32246" y="1197720"/>
            <a:ext cx="5879508" cy="5255616"/>
          </a:xfrm>
          <a:prstGeom prst="rect">
            <a:avLst/>
          </a:prstGeom>
        </p:spPr>
      </p:pic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 </a:t>
            </a:r>
            <a:r>
              <a:rPr lang="ko-KR" altLang="en-US" dirty="0" smtClean="0"/>
              <a:t>스타일 코드와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아두이노</a:t>
            </a:r>
            <a:r>
              <a:rPr lang="ko-KR" altLang="en-US" dirty="0" smtClean="0"/>
              <a:t> 스타일 코드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80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" y="3429000"/>
            <a:ext cx="9105900" cy="283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dirty="0" smtClean="0"/>
              <a:t>직관적으로 사용할 수 있는 추상화된 함수 사용</a:t>
            </a:r>
            <a:endParaRPr lang="en-US" altLang="ko-KR" sz="2000" dirty="0" smtClean="0"/>
          </a:p>
          <a:p>
            <a:r>
              <a:rPr lang="ko-KR" altLang="en-US" sz="2000" dirty="0" smtClean="0"/>
              <a:t>많은 부분을 내부적으로 처리해주므로 간단한 프로그래밍 가능</a:t>
            </a:r>
            <a:endParaRPr lang="en-US" altLang="ko-KR" sz="2000" dirty="0" smtClean="0"/>
          </a:p>
          <a:p>
            <a:r>
              <a:rPr lang="ko-KR" altLang="en-US" sz="2000" dirty="0" err="1" smtClean="0"/>
              <a:t>마이크로컨트롤러의</a:t>
            </a:r>
            <a:r>
              <a:rPr lang="ko-KR" altLang="en-US" sz="2000" dirty="0" smtClean="0"/>
              <a:t> 모든 기능을 사용할 수 없음</a:t>
            </a:r>
            <a:endParaRPr lang="en-US" altLang="ko-KR" sz="2000" dirty="0" smtClean="0"/>
          </a:p>
          <a:p>
            <a:pPr lvl="1"/>
            <a:r>
              <a:rPr lang="ko-KR" altLang="en-US" sz="2000" dirty="0" smtClean="0"/>
              <a:t>레지스터를 통한 </a:t>
            </a:r>
            <a:r>
              <a:rPr lang="en-US" altLang="ko-KR" sz="2000" dirty="0" smtClean="0"/>
              <a:t>C </a:t>
            </a:r>
            <a:r>
              <a:rPr lang="ko-KR" altLang="en-US" sz="2000" dirty="0" smtClean="0"/>
              <a:t>스타일 프로그래밍 필요</a:t>
            </a:r>
            <a:endParaRPr lang="en-US" altLang="ko-KR" sz="2000" dirty="0" smtClean="0"/>
          </a:p>
          <a:p>
            <a:r>
              <a:rPr lang="en-US" altLang="ko-KR" sz="2000" dirty="0" smtClean="0"/>
              <a:t>C </a:t>
            </a:r>
            <a:r>
              <a:rPr lang="ko-KR" altLang="en-US" sz="2000" dirty="0" smtClean="0"/>
              <a:t>스타일 코드에 비해 실행 파일의 크기가 큼</a:t>
            </a:r>
            <a:endParaRPr lang="ko-KR" altLang="en-US" sz="20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아두이노</a:t>
            </a:r>
            <a:r>
              <a:rPr lang="ko-KR" altLang="en-US" dirty="0" smtClean="0"/>
              <a:t> 스타일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2627784" y="4221088"/>
            <a:ext cx="683512" cy="1886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9540" y="5157192"/>
            <a:ext cx="4524375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4609943" y="5517232"/>
            <a:ext cx="621784" cy="1859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5470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555</Words>
  <Application>Microsoft Office PowerPoint</Application>
  <PresentationFormat>화면 슬라이드 쇼(4:3)</PresentationFormat>
  <Paragraphs>83</Paragraphs>
  <Slides>17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18" baseType="lpstr">
      <vt:lpstr>기본 디자인</vt:lpstr>
      <vt:lpstr>PowerPoint 프레젠테이션</vt:lpstr>
      <vt:lpstr>확인 사항</vt:lpstr>
      <vt:lpstr>C 스타일 블링크</vt:lpstr>
      <vt:lpstr>Blink</vt:lpstr>
      <vt:lpstr>C 스타일 프로그램의 구조</vt:lpstr>
      <vt:lpstr>13번(PB5) 핀에 LED 연결</vt:lpstr>
      <vt:lpstr>DDRx 레지스터 – 입출력 설정</vt:lpstr>
      <vt:lpstr>PORTx 레지스터 – 데이터 출력</vt:lpstr>
      <vt:lpstr>PINx 레지스터 – 데이터 입력</vt:lpstr>
      <vt:lpstr>데이터 입출력 레지스터 구조</vt:lpstr>
      <vt:lpstr>아두이노 스타일 블링크</vt:lpstr>
      <vt:lpstr>Blink</vt:lpstr>
      <vt:lpstr>아두이노 스타일 프로그램의 구조</vt:lpstr>
      <vt:lpstr>데이터 입출력 함수</vt:lpstr>
      <vt:lpstr>데이터 입출력 함수 구조</vt:lpstr>
      <vt:lpstr>C 스타일 코드와 아두이노 스타일 코드</vt:lpstr>
      <vt:lpstr>아두이노 스타일</vt:lpstr>
    </vt:vector>
  </TitlesOfParts>
  <Company>mik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김정배</dc:creator>
  <cp:lastModifiedBy>이규원</cp:lastModifiedBy>
  <cp:revision>89</cp:revision>
  <dcterms:created xsi:type="dcterms:W3CDTF">2005-10-10T05:21:17Z</dcterms:created>
  <dcterms:modified xsi:type="dcterms:W3CDTF">2021-03-28T06:24:17Z</dcterms:modified>
</cp:coreProperties>
</file>